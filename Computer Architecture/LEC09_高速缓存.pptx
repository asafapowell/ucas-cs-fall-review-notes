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79"/>
  </p:notesMasterIdLst>
  <p:sldIdLst>
    <p:sldId id="257" r:id="rId4"/>
    <p:sldId id="468" r:id="rId5"/>
    <p:sldId id="464" r:id="rId6"/>
    <p:sldId id="467" r:id="rId7"/>
    <p:sldId id="261" r:id="rId8"/>
    <p:sldId id="367" r:id="rId9"/>
    <p:sldId id="260" r:id="rId10"/>
    <p:sldId id="365" r:id="rId11"/>
    <p:sldId id="262" r:id="rId12"/>
    <p:sldId id="359" r:id="rId13"/>
    <p:sldId id="283" r:id="rId14"/>
    <p:sldId id="259" r:id="rId15"/>
    <p:sldId id="368" r:id="rId16"/>
    <p:sldId id="265" r:id="rId17"/>
    <p:sldId id="264" r:id="rId18"/>
    <p:sldId id="269" r:id="rId19"/>
    <p:sldId id="266" r:id="rId20"/>
    <p:sldId id="267" r:id="rId21"/>
    <p:sldId id="268" r:id="rId22"/>
    <p:sldId id="270" r:id="rId23"/>
    <p:sldId id="272" r:id="rId24"/>
    <p:sldId id="273" r:id="rId25"/>
    <p:sldId id="369" r:id="rId26"/>
    <p:sldId id="276" r:id="rId27"/>
    <p:sldId id="277" r:id="rId28"/>
    <p:sldId id="354" r:id="rId29"/>
    <p:sldId id="371" r:id="rId30"/>
    <p:sldId id="279" r:id="rId31"/>
    <p:sldId id="372" r:id="rId32"/>
    <p:sldId id="284" r:id="rId33"/>
    <p:sldId id="286" r:id="rId34"/>
    <p:sldId id="285" r:id="rId35"/>
    <p:sldId id="287" r:id="rId36"/>
    <p:sldId id="288" r:id="rId37"/>
    <p:sldId id="289" r:id="rId38"/>
    <p:sldId id="290" r:id="rId39"/>
    <p:sldId id="291" r:id="rId40"/>
    <p:sldId id="373" r:id="rId41"/>
    <p:sldId id="295" r:id="rId42"/>
    <p:sldId id="355" r:id="rId43"/>
    <p:sldId id="325" r:id="rId44"/>
    <p:sldId id="298" r:id="rId45"/>
    <p:sldId id="300" r:id="rId46"/>
    <p:sldId id="320" r:id="rId47"/>
    <p:sldId id="303" r:id="rId48"/>
    <p:sldId id="356" r:id="rId49"/>
    <p:sldId id="311" r:id="rId50"/>
    <p:sldId id="313" r:id="rId51"/>
    <p:sldId id="314" r:id="rId52"/>
    <p:sldId id="315" r:id="rId53"/>
    <p:sldId id="330" r:id="rId54"/>
    <p:sldId id="357" r:id="rId55"/>
    <p:sldId id="376" r:id="rId56"/>
    <p:sldId id="321" r:id="rId57"/>
    <p:sldId id="445" r:id="rId58"/>
    <p:sldId id="465" r:id="rId59"/>
    <p:sldId id="446" r:id="rId60"/>
    <p:sldId id="322" r:id="rId61"/>
    <p:sldId id="323" r:id="rId62"/>
    <p:sldId id="329" r:id="rId63"/>
    <p:sldId id="370" r:id="rId64"/>
    <p:sldId id="345" r:id="rId65"/>
    <p:sldId id="346" r:id="rId66"/>
    <p:sldId id="347" r:id="rId67"/>
    <p:sldId id="348" r:id="rId68"/>
    <p:sldId id="349" r:id="rId69"/>
    <p:sldId id="350" r:id="rId70"/>
    <p:sldId id="351" r:id="rId71"/>
    <p:sldId id="352" r:id="rId72"/>
    <p:sldId id="353" r:id="rId73"/>
    <p:sldId id="374" r:id="rId74"/>
    <p:sldId id="375" r:id="rId75"/>
    <p:sldId id="463" r:id="rId76"/>
    <p:sldId id="466" r:id="rId77"/>
    <p:sldId id="542" r:id="rId78"/>
  </p:sldIdLst>
  <p:sldSz cx="12190095" cy="6858000"/>
  <p:notesSz cx="6858000" cy="9144000"/>
  <p:defaultTextStyle>
    <a:defPPr>
      <a:defRPr lang="zh-CN"/>
    </a:defPPr>
    <a:lvl1pPr algn="l" rtl="0" fontAlgn="base">
      <a:spcBef>
        <a:spcPct val="50000"/>
      </a:spcBef>
      <a:spcAft>
        <a:spcPct val="0"/>
      </a:spcAft>
      <a:defRPr sz="1200" kern="1200">
        <a:solidFill>
          <a:schemeClr val="tx1"/>
        </a:solidFill>
        <a:latin typeface="Times New Roman" pitchFamily="18" charset="0"/>
        <a:ea typeface="宋体" panose="02000500000000000000" pitchFamily="2" charset="-122"/>
        <a:cs typeface="+mn-cs"/>
      </a:defRPr>
    </a:lvl1pPr>
    <a:lvl2pPr marL="457200" algn="l" rtl="0" fontAlgn="base">
      <a:spcBef>
        <a:spcPct val="50000"/>
      </a:spcBef>
      <a:spcAft>
        <a:spcPct val="0"/>
      </a:spcAft>
      <a:defRPr sz="1200" kern="1200">
        <a:solidFill>
          <a:schemeClr val="tx1"/>
        </a:solidFill>
        <a:latin typeface="Times New Roman" pitchFamily="18" charset="0"/>
        <a:ea typeface="宋体" panose="02000500000000000000" pitchFamily="2" charset="-122"/>
        <a:cs typeface="+mn-cs"/>
      </a:defRPr>
    </a:lvl2pPr>
    <a:lvl3pPr marL="914400" algn="l" rtl="0" fontAlgn="base">
      <a:spcBef>
        <a:spcPct val="50000"/>
      </a:spcBef>
      <a:spcAft>
        <a:spcPct val="0"/>
      </a:spcAft>
      <a:defRPr sz="1200" kern="1200">
        <a:solidFill>
          <a:schemeClr val="tx1"/>
        </a:solidFill>
        <a:latin typeface="Times New Roman" pitchFamily="18" charset="0"/>
        <a:ea typeface="宋体" panose="02000500000000000000" pitchFamily="2" charset="-122"/>
        <a:cs typeface="+mn-cs"/>
      </a:defRPr>
    </a:lvl3pPr>
    <a:lvl4pPr marL="1371600" algn="l" rtl="0" fontAlgn="base">
      <a:spcBef>
        <a:spcPct val="50000"/>
      </a:spcBef>
      <a:spcAft>
        <a:spcPct val="0"/>
      </a:spcAft>
      <a:defRPr sz="1200" kern="1200">
        <a:solidFill>
          <a:schemeClr val="tx1"/>
        </a:solidFill>
        <a:latin typeface="Times New Roman" pitchFamily="18" charset="0"/>
        <a:ea typeface="宋体" panose="02000500000000000000" pitchFamily="2" charset="-122"/>
        <a:cs typeface="+mn-cs"/>
      </a:defRPr>
    </a:lvl4pPr>
    <a:lvl5pPr marL="1828800" algn="l" rtl="0" fontAlgn="base">
      <a:spcBef>
        <a:spcPct val="50000"/>
      </a:spcBef>
      <a:spcAft>
        <a:spcPct val="0"/>
      </a:spcAft>
      <a:defRPr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Times New Roman" pitchFamily="18" charset="0"/>
        <a:ea typeface="宋体" panose="02000500000000000000" pitchFamily="2" charset="-122"/>
        <a:cs typeface="+mn-cs"/>
      </a:defRPr>
    </a:lvl6pPr>
    <a:lvl7pPr marL="2743200" algn="l" defTabSz="914400" rtl="0" eaLnBrk="1" latinLnBrk="0" hangingPunct="1">
      <a:defRPr sz="1200" kern="1200">
        <a:solidFill>
          <a:schemeClr val="tx1"/>
        </a:solidFill>
        <a:latin typeface="Times New Roman" pitchFamily="18" charset="0"/>
        <a:ea typeface="宋体" panose="02000500000000000000" pitchFamily="2" charset="-122"/>
        <a:cs typeface="+mn-cs"/>
      </a:defRPr>
    </a:lvl7pPr>
    <a:lvl8pPr marL="3200400" algn="l" defTabSz="914400" rtl="0" eaLnBrk="1" latinLnBrk="0" hangingPunct="1">
      <a:defRPr sz="1200" kern="1200">
        <a:solidFill>
          <a:schemeClr val="tx1"/>
        </a:solidFill>
        <a:latin typeface="Times New Roman" pitchFamily="18" charset="0"/>
        <a:ea typeface="宋体" panose="02000500000000000000" pitchFamily="2" charset="-122"/>
        <a:cs typeface="+mn-cs"/>
      </a:defRPr>
    </a:lvl8pPr>
    <a:lvl9pPr marL="3657600" algn="l" defTabSz="914400" rtl="0" eaLnBrk="1" latinLnBrk="0" hangingPunct="1">
      <a:defRPr sz="1200" kern="1200">
        <a:solidFill>
          <a:schemeClr val="tx1"/>
        </a:solidFill>
        <a:latin typeface="Times New Roman" pitchFamily="18"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 id="1" name="wangwx" initials="w" lastIdx="2"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00"/>
    <a:srgbClr val="FF3300"/>
    <a:srgbClr val="FFFFCC"/>
    <a:srgbClr val="FFFF66"/>
    <a:srgbClr val="00CC00"/>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7" autoAdjust="0"/>
    <p:restoredTop sz="94647" autoAdjust="0"/>
  </p:normalViewPr>
  <p:slideViewPr>
    <p:cSldViewPr snapToGrid="0">
      <p:cViewPr>
        <p:scale>
          <a:sx n="60" d="100"/>
          <a:sy n="60" d="100"/>
        </p:scale>
        <p:origin x="-874" y="-149"/>
      </p:cViewPr>
      <p:guideLst>
        <p:guide orient="horz" pos="2160"/>
        <p:guide pos="386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commentAuthors" Target="commentAuthors.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notesMaster" Target="notesMasters/notes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oleObject" Target="/home/wangwenxiang/01WORK/03LA664/&#24615;&#33021;&#35780;&#27979;/&#20108;&#27425;&#21152;&#24037;.xlsx" TargetMode="External"/></Relationships>
</file>

<file path=ppt/charts/_rels/chart2.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oleObject" Target="/home/wangwenxiang/01WORK/03LA664/&#24615;&#33021;&#35780;&#27979;/&#20108;&#27425;&#21152;&#24037;.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home/wangwenxiang/00WORK/03LA664/&#24615;&#33021;&#35780;&#27979;/&#20108;&#27425;&#21152;&#2403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'[二次加工.xlsx]06lasxTMA'!$B$1</c:f>
              <c:strCache>
                <c:ptCount val="1"/>
                <c:pt idx="0">
                  <c:v>退出</c:v>
                </c:pt>
              </c:strCache>
            </c:strRef>
          </c:tx>
          <c:spPr>
            <a:solidFill>
              <a:schemeClr val="accent2"/>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'[二次加工.xlsx]06lasxTMA'!$B$2:$B$32</c:f>
              <c:numCache>
                <c:formatCode>General</c:formatCode>
                <c:ptCount val="31"/>
                <c:pt idx="0">
                  <c:v>0.560505514737611</c:v>
                </c:pt>
                <c:pt idx="1">
                  <c:v>0.387822050984351</c:v>
                </c:pt>
                <c:pt idx="2">
                  <c:v>0.265819685062968</c:v>
                </c:pt>
                <c:pt idx="3">
                  <c:v>0.0847375989379306</c:v>
                </c:pt>
                <c:pt idx="4">
                  <c:v>0.311133531170528</c:v>
                </c:pt>
                <c:pt idx="5">
                  <c:v>0.636465174397566</c:v>
                </c:pt>
                <c:pt idx="6">
                  <c:v>0.348459719523924</c:v>
                </c:pt>
                <c:pt idx="7">
                  <c:v>0.342388047656345</c:v>
                </c:pt>
                <c:pt idx="8">
                  <c:v>0.580002505065775</c:v>
                </c:pt>
                <c:pt idx="9">
                  <c:v>0.200891937699256</c:v>
                </c:pt>
                <c:pt idx="10">
                  <c:v>0.202777848318761</c:v>
                </c:pt>
                <c:pt idx="11">
                  <c:v>0.418959424883167</c:v>
                </c:pt>
                <c:pt idx="13">
                  <c:v>0.46979529739458</c:v>
                </c:pt>
                <c:pt idx="14">
                  <c:v>0.753825058856067</c:v>
                </c:pt>
                <c:pt idx="15">
                  <c:v>0.228198497137758</c:v>
                </c:pt>
                <c:pt idx="16">
                  <c:v>0.315879854850417</c:v>
                </c:pt>
                <c:pt idx="17">
                  <c:v>0.410828723428151</c:v>
                </c:pt>
                <c:pt idx="18">
                  <c:v>0.389757578841208</c:v>
                </c:pt>
                <c:pt idx="19">
                  <c:v>0.229720616965421</c:v>
                </c:pt>
                <c:pt idx="20">
                  <c:v>0.380280656978012</c:v>
                </c:pt>
                <c:pt idx="21">
                  <c:v>0.390361670398869</c:v>
                </c:pt>
                <c:pt idx="22">
                  <c:v>0.1931459190682</c:v>
                </c:pt>
                <c:pt idx="23">
                  <c:v>0.523058659380717</c:v>
                </c:pt>
                <c:pt idx="24">
                  <c:v>0.481584279646781</c:v>
                </c:pt>
                <c:pt idx="25">
                  <c:v>0.222711839373983</c:v>
                </c:pt>
                <c:pt idx="26">
                  <c:v>0.522639992312114</c:v>
                </c:pt>
                <c:pt idx="27">
                  <c:v>0.360952790584618</c:v>
                </c:pt>
                <c:pt idx="28">
                  <c:v>0.426079646123202</c:v>
                </c:pt>
                <c:pt idx="29">
                  <c:v>0.390471182715122</c:v>
                </c:pt>
              </c:numCache>
            </c:numRef>
          </c:val>
        </c:ser>
        <c:ser>
          <c:idx val="1"/>
          <c:order val="1"/>
          <c:tx>
            <c:strRef>
              <c:f>'[二次加工.xlsx]06lasxTMA'!$C$1</c:f>
              <c:strCache>
                <c:ptCount val="1"/>
                <c:pt idx="0">
                  <c:v>错误推测</c:v>
                </c:pt>
              </c:strCache>
            </c:strRef>
          </c:tx>
          <c:spPr>
            <a:gradFill>
              <a:gsLst>
                <a:gs pos="100000">
                  <a:srgbClr val="E30000"/>
                </a:gs>
                <a:gs pos="100000">
                  <a:srgbClr val="760303"/>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'[二次加工.xlsx]06lasxTMA'!$C$2:$C$32</c:f>
              <c:numCache>
                <c:formatCode>General</c:formatCode>
                <c:ptCount val="31"/>
                <c:pt idx="0">
                  <c:v>0.0629611667073884</c:v>
                </c:pt>
                <c:pt idx="1">
                  <c:v>0.243268178027173</c:v>
                </c:pt>
                <c:pt idx="2">
                  <c:v>0.0481401604000418</c:v>
                </c:pt>
                <c:pt idx="3">
                  <c:v>0.154713443616038</c:v>
                </c:pt>
                <c:pt idx="4">
                  <c:v>0.278553566096163</c:v>
                </c:pt>
                <c:pt idx="5">
                  <c:v>0.0312567675609626</c:v>
                </c:pt>
                <c:pt idx="6">
                  <c:v>0.17298484709174</c:v>
                </c:pt>
                <c:pt idx="7">
                  <c:v>0.0025636268285479</c:v>
                </c:pt>
                <c:pt idx="8">
                  <c:v>0.0504842505161621</c:v>
                </c:pt>
                <c:pt idx="9">
                  <c:v>0.110018259926852</c:v>
                </c:pt>
                <c:pt idx="10">
                  <c:v>0.373367612443307</c:v>
                </c:pt>
                <c:pt idx="11">
                  <c:v>0.0322507646019839</c:v>
                </c:pt>
                <c:pt idx="13">
                  <c:v>0.000172273671906887</c:v>
                </c:pt>
                <c:pt idx="14">
                  <c:v>0.0320975783023312</c:v>
                </c:pt>
                <c:pt idx="15">
                  <c:v>0.000626565993367802</c:v>
                </c:pt>
                <c:pt idx="16">
                  <c:v>0.000774448200851051</c:v>
                </c:pt>
                <c:pt idx="17">
                  <c:v>0.0776137531624841</c:v>
                </c:pt>
                <c:pt idx="18">
                  <c:v>0.000643204694557549</c:v>
                </c:pt>
                <c:pt idx="19">
                  <c:v>0.000795893185659685</c:v>
                </c:pt>
                <c:pt idx="20">
                  <c:v>0.124724868920997</c:v>
                </c:pt>
                <c:pt idx="21">
                  <c:v>0.0753776503806676</c:v>
                </c:pt>
                <c:pt idx="22">
                  <c:v>0.163013096544536</c:v>
                </c:pt>
                <c:pt idx="23">
                  <c:v>0.0652038973064953</c:v>
                </c:pt>
                <c:pt idx="24">
                  <c:v>0.0622102833111159</c:v>
                </c:pt>
                <c:pt idx="25">
                  <c:v>0.00350662264164538</c:v>
                </c:pt>
                <c:pt idx="26">
                  <c:v>0.0375164056005947</c:v>
                </c:pt>
                <c:pt idx="27">
                  <c:v>0.00151043750607319</c:v>
                </c:pt>
                <c:pt idx="28">
                  <c:v>0.00356149639955245</c:v>
                </c:pt>
                <c:pt idx="29">
                  <c:v>0.103808304718026</c:v>
                </c:pt>
              </c:numCache>
            </c:numRef>
          </c:val>
        </c:ser>
        <c:ser>
          <c:idx val="2"/>
          <c:order val="2"/>
          <c:tx>
            <c:strRef>
              <c:f>'[二次加工.xlsx]06lasxTMA'!$D$1</c:f>
              <c:strCache>
                <c:ptCount val="1"/>
                <c:pt idx="0">
                  <c:v>后端限制</c:v>
                </c:pt>
              </c:strCache>
            </c:strRef>
          </c:tx>
          <c:spPr>
            <a:gradFill>
              <a:gsLst>
                <a:gs pos="100000">
                  <a:srgbClr val="FBFB11"/>
                </a:gs>
                <a:gs pos="100000">
                  <a:srgbClr val="838309"/>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'[二次加工.xlsx]06lasxTMA'!$D$2:$D$32</c:f>
              <c:numCache>
                <c:formatCode>General</c:formatCode>
                <c:ptCount val="31"/>
                <c:pt idx="0">
                  <c:v>0.041511969250654</c:v>
                </c:pt>
                <c:pt idx="1">
                  <c:v>0.166588477922212</c:v>
                </c:pt>
                <c:pt idx="2">
                  <c:v>0.466029951660782</c:v>
                </c:pt>
                <c:pt idx="3">
                  <c:v>0.620522045806258</c:v>
                </c:pt>
                <c:pt idx="4">
                  <c:v>0.0726949404062208</c:v>
                </c:pt>
                <c:pt idx="5">
                  <c:v>0.321440330027329</c:v>
                </c:pt>
                <c:pt idx="6">
                  <c:v>0.0876817091595506</c:v>
                </c:pt>
                <c:pt idx="7">
                  <c:v>0.442876112280023</c:v>
                </c:pt>
                <c:pt idx="8">
                  <c:v>0.279163727606313</c:v>
                </c:pt>
                <c:pt idx="9">
                  <c:v>0.557355202780285</c:v>
                </c:pt>
                <c:pt idx="10">
                  <c:v>0.119998587202379</c:v>
                </c:pt>
                <c:pt idx="11">
                  <c:v>0.204420655174432</c:v>
                </c:pt>
                <c:pt idx="13">
                  <c:v>0.450641155165737</c:v>
                </c:pt>
                <c:pt idx="14">
                  <c:v>0.127616841766472</c:v>
                </c:pt>
                <c:pt idx="15">
                  <c:v>0.75735052471274</c:v>
                </c:pt>
                <c:pt idx="16">
                  <c:v>0.653768813856276</c:v>
                </c:pt>
                <c:pt idx="17">
                  <c:v>0.410732072377882</c:v>
                </c:pt>
                <c:pt idx="18">
                  <c:v>0.56623531518401</c:v>
                </c:pt>
                <c:pt idx="19">
                  <c:v>0.738476859104193</c:v>
                </c:pt>
                <c:pt idx="20">
                  <c:v>0.39161730152405</c:v>
                </c:pt>
                <c:pt idx="21">
                  <c:v>0.318333916820299</c:v>
                </c:pt>
                <c:pt idx="22">
                  <c:v>0.542046037585678</c:v>
                </c:pt>
                <c:pt idx="23">
                  <c:v>0.213358617271826</c:v>
                </c:pt>
                <c:pt idx="24">
                  <c:v>0.300945746841065</c:v>
                </c:pt>
                <c:pt idx="25">
                  <c:v>0.70467954253107</c:v>
                </c:pt>
                <c:pt idx="26">
                  <c:v>0.375435195539326</c:v>
                </c:pt>
                <c:pt idx="27">
                  <c:v>0.636020604785693</c:v>
                </c:pt>
                <c:pt idx="28">
                  <c:v>0.490216590702875</c:v>
                </c:pt>
                <c:pt idx="29">
                  <c:v>0.409786118324983</c:v>
                </c:pt>
              </c:numCache>
            </c:numRef>
          </c:val>
        </c:ser>
        <c:ser>
          <c:idx val="3"/>
          <c:order val="3"/>
          <c:tx>
            <c:strRef>
              <c:f>'[二次加工.xlsx]06lasxTMA'!$E$1</c:f>
              <c:strCache>
                <c:ptCount val="1"/>
                <c:pt idx="0">
                  <c:v>前端限制</c:v>
                </c:pt>
              </c:strCache>
            </c:strRef>
          </c:tx>
          <c:spPr>
            <a:solidFill>
              <a:schemeClr val="accent1">
                <a:lumMod val="60000"/>
                <a:lumOff val="40000"/>
              </a:schemeClr>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'[二次加工.xlsx]06lasxTMA'!$E$2:$E$32</c:f>
              <c:numCache>
                <c:formatCode>General</c:formatCode>
                <c:ptCount val="31"/>
                <c:pt idx="0">
                  <c:v>0.335021349304348</c:v>
                </c:pt>
                <c:pt idx="1">
                  <c:v>0.202321293066265</c:v>
                </c:pt>
                <c:pt idx="2">
                  <c:v>0.220010202876209</c:v>
                </c:pt>
                <c:pt idx="3">
                  <c:v>0.140026911639771</c:v>
                </c:pt>
                <c:pt idx="4">
                  <c:v>0.337617962327088</c:v>
                </c:pt>
                <c:pt idx="5">
                  <c:v>0.010837728014141</c:v>
                </c:pt>
                <c:pt idx="6">
                  <c:v>0.390873724224787</c:v>
                </c:pt>
                <c:pt idx="7">
                  <c:v>0.212172213235084</c:v>
                </c:pt>
                <c:pt idx="8">
                  <c:v>0.0903495168117471</c:v>
                </c:pt>
                <c:pt idx="9">
                  <c:v>0.131734599593604</c:v>
                </c:pt>
                <c:pt idx="10">
                  <c:v>0.303855952035552</c:v>
                </c:pt>
                <c:pt idx="11">
                  <c:v>0.344369155340417</c:v>
                </c:pt>
                <c:pt idx="13">
                  <c:v>0.0793912737677738</c:v>
                </c:pt>
                <c:pt idx="14">
                  <c:v>0.0864605210751301</c:v>
                </c:pt>
                <c:pt idx="15">
                  <c:v>0.0138244121561337</c:v>
                </c:pt>
                <c:pt idx="16">
                  <c:v>0.0295768830924573</c:v>
                </c:pt>
                <c:pt idx="17">
                  <c:v>0.100825451031483</c:v>
                </c:pt>
                <c:pt idx="18">
                  <c:v>0.0433639012802239</c:v>
                </c:pt>
                <c:pt idx="19">
                  <c:v>0.0310066307447276</c:v>
                </c:pt>
                <c:pt idx="20">
                  <c:v>0.103377172576942</c:v>
                </c:pt>
                <c:pt idx="21">
                  <c:v>0.215926762400165</c:v>
                </c:pt>
                <c:pt idx="22">
                  <c:v>0.101794946801586</c:v>
                </c:pt>
                <c:pt idx="23">
                  <c:v>0.19837882604096</c:v>
                </c:pt>
                <c:pt idx="24">
                  <c:v>0.155259690201039</c:v>
                </c:pt>
                <c:pt idx="25">
                  <c:v>0.0691019954533028</c:v>
                </c:pt>
                <c:pt idx="26">
                  <c:v>0.0644084065479655</c:v>
                </c:pt>
                <c:pt idx="27">
                  <c:v>0.00151616712361813</c:v>
                </c:pt>
                <c:pt idx="28">
                  <c:v>0.0801422667743704</c:v>
                </c:pt>
                <c:pt idx="29">
                  <c:v>0.0959343942418683</c:v>
                </c:pt>
              </c:numCache>
            </c:numRef>
          </c:val>
        </c:ser>
        <c:dLbls>
          <c:showLegendKey val="0"/>
          <c:showVal val="0"/>
          <c:showCatName val="0"/>
          <c:showSerName val="0"/>
          <c:showPercent val="0"/>
          <c:showBubbleSize val="0"/>
        </c:dLbls>
        <c:gapWidth val="150"/>
        <c:overlap val="100"/>
        <c:axId val="96622848"/>
        <c:axId val="96632832"/>
      </c:barChart>
      <c:catAx>
        <c:axId val="96622848"/>
        <c:scaling>
          <c:orientation val="minMax"/>
        </c:scaling>
        <c:delete val="0"/>
        <c:axPos val="b"/>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6632832"/>
        <c:crosses val="autoZero"/>
        <c:auto val="1"/>
        <c:lblAlgn val="ctr"/>
        <c:lblOffset val="100"/>
        <c:noMultiLvlLbl val="0"/>
      </c:catAx>
      <c:valAx>
        <c:axId val="96632832"/>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6622848"/>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'[二次加工.xlsx]06lasxTMA'!$B$1</c:f>
              <c:strCache>
                <c:ptCount val="1"/>
                <c:pt idx="0">
                  <c:v>退出</c:v>
                </c:pt>
              </c:strCache>
            </c:strRef>
          </c:tx>
          <c:spPr>
            <a:solidFill>
              <a:schemeClr val="accent2"/>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'[二次加工.xlsx]06lasxTMA'!$B$2:$B$32</c:f>
              <c:numCache>
                <c:formatCode>General</c:formatCode>
                <c:ptCount val="31"/>
                <c:pt idx="0">
                  <c:v>0.560505514737611</c:v>
                </c:pt>
                <c:pt idx="1">
                  <c:v>0.387822050984351</c:v>
                </c:pt>
                <c:pt idx="2">
                  <c:v>0.265819685062968</c:v>
                </c:pt>
                <c:pt idx="3">
                  <c:v>0.0847375989379305</c:v>
                </c:pt>
                <c:pt idx="4">
                  <c:v>0.311133531170528</c:v>
                </c:pt>
                <c:pt idx="5">
                  <c:v>0.636465174397566</c:v>
                </c:pt>
                <c:pt idx="6">
                  <c:v>0.348459719523924</c:v>
                </c:pt>
                <c:pt idx="7">
                  <c:v>0.342388047656345</c:v>
                </c:pt>
                <c:pt idx="8">
                  <c:v>0.580002505065775</c:v>
                </c:pt>
                <c:pt idx="9">
                  <c:v>0.200891937699256</c:v>
                </c:pt>
                <c:pt idx="10">
                  <c:v>0.202777848318761</c:v>
                </c:pt>
                <c:pt idx="11">
                  <c:v>0.418959424883167</c:v>
                </c:pt>
                <c:pt idx="13">
                  <c:v>0.46979529739458</c:v>
                </c:pt>
                <c:pt idx="14">
                  <c:v>0.753825058856067</c:v>
                </c:pt>
                <c:pt idx="15">
                  <c:v>0.228198497137758</c:v>
                </c:pt>
                <c:pt idx="16">
                  <c:v>0.315879854850417</c:v>
                </c:pt>
                <c:pt idx="17">
                  <c:v>0.410828723428151</c:v>
                </c:pt>
                <c:pt idx="18">
                  <c:v>0.389757578841208</c:v>
                </c:pt>
                <c:pt idx="19">
                  <c:v>0.229720616965421</c:v>
                </c:pt>
                <c:pt idx="20">
                  <c:v>0.380280656978012</c:v>
                </c:pt>
                <c:pt idx="21">
                  <c:v>0.390361670398869</c:v>
                </c:pt>
                <c:pt idx="22">
                  <c:v>0.1931459190682</c:v>
                </c:pt>
                <c:pt idx="23">
                  <c:v>0.523058659380717</c:v>
                </c:pt>
                <c:pt idx="24">
                  <c:v>0.481584279646781</c:v>
                </c:pt>
                <c:pt idx="25">
                  <c:v>0.222711839373983</c:v>
                </c:pt>
                <c:pt idx="26">
                  <c:v>0.522639992312113</c:v>
                </c:pt>
                <c:pt idx="27">
                  <c:v>0.360952790584618</c:v>
                </c:pt>
                <c:pt idx="28">
                  <c:v>0.426079646123202</c:v>
                </c:pt>
                <c:pt idx="29">
                  <c:v>0.390471182715122</c:v>
                </c:pt>
              </c:numCache>
            </c:numRef>
          </c:val>
        </c:ser>
        <c:ser>
          <c:idx val="1"/>
          <c:order val="1"/>
          <c:tx>
            <c:strRef>
              <c:f>'[二次加工.xlsx]06lasxTMA'!$C$1</c:f>
              <c:strCache>
                <c:ptCount val="1"/>
                <c:pt idx="0">
                  <c:v>错误推测</c:v>
                </c:pt>
              </c:strCache>
            </c:strRef>
          </c:tx>
          <c:spPr>
            <a:gradFill>
              <a:gsLst>
                <a:gs pos="100000">
                  <a:srgbClr val="E30000"/>
                </a:gs>
                <a:gs pos="100000">
                  <a:srgbClr val="760303"/>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'[二次加工.xlsx]06lasxTMA'!$C$2:$C$32</c:f>
              <c:numCache>
                <c:formatCode>General</c:formatCode>
                <c:ptCount val="31"/>
                <c:pt idx="0">
                  <c:v>0.0629611667073884</c:v>
                </c:pt>
                <c:pt idx="1">
                  <c:v>0.243268178027173</c:v>
                </c:pt>
                <c:pt idx="2">
                  <c:v>0.0481401604000418</c:v>
                </c:pt>
                <c:pt idx="3">
                  <c:v>0.154713443616038</c:v>
                </c:pt>
                <c:pt idx="4">
                  <c:v>0.278553566096163</c:v>
                </c:pt>
                <c:pt idx="5">
                  <c:v>0.0312567675609626</c:v>
                </c:pt>
                <c:pt idx="6">
                  <c:v>0.17298484709174</c:v>
                </c:pt>
                <c:pt idx="7">
                  <c:v>0.0025636268285479</c:v>
                </c:pt>
                <c:pt idx="8">
                  <c:v>0.0504842505161621</c:v>
                </c:pt>
                <c:pt idx="9">
                  <c:v>0.110018259926852</c:v>
                </c:pt>
                <c:pt idx="10">
                  <c:v>0.373367612443307</c:v>
                </c:pt>
                <c:pt idx="11">
                  <c:v>0.0322507646019839</c:v>
                </c:pt>
                <c:pt idx="13">
                  <c:v>0.000172273671906887</c:v>
                </c:pt>
                <c:pt idx="14">
                  <c:v>0.0320975783023312</c:v>
                </c:pt>
                <c:pt idx="15">
                  <c:v>0.000626565993367801</c:v>
                </c:pt>
                <c:pt idx="16">
                  <c:v>0.000774448200851051</c:v>
                </c:pt>
                <c:pt idx="17">
                  <c:v>0.0776137531624841</c:v>
                </c:pt>
                <c:pt idx="18">
                  <c:v>0.000643204694557549</c:v>
                </c:pt>
                <c:pt idx="19">
                  <c:v>0.000795893185659685</c:v>
                </c:pt>
                <c:pt idx="20">
                  <c:v>0.124724868920997</c:v>
                </c:pt>
                <c:pt idx="21">
                  <c:v>0.0753776503806676</c:v>
                </c:pt>
                <c:pt idx="22">
                  <c:v>0.163013096544536</c:v>
                </c:pt>
                <c:pt idx="23">
                  <c:v>0.0652038973064953</c:v>
                </c:pt>
                <c:pt idx="24">
                  <c:v>0.0622102833111159</c:v>
                </c:pt>
                <c:pt idx="25">
                  <c:v>0.00350662264164538</c:v>
                </c:pt>
                <c:pt idx="26">
                  <c:v>0.0375164056005947</c:v>
                </c:pt>
                <c:pt idx="27">
                  <c:v>0.00151043750607319</c:v>
                </c:pt>
                <c:pt idx="28">
                  <c:v>0.00356149639955245</c:v>
                </c:pt>
                <c:pt idx="29">
                  <c:v>0.103808304718026</c:v>
                </c:pt>
              </c:numCache>
            </c:numRef>
          </c:val>
        </c:ser>
        <c:ser>
          <c:idx val="2"/>
          <c:order val="2"/>
          <c:tx>
            <c:strRef>
              <c:f>'[二次加工.xlsx]06lasxTMA'!$D$1</c:f>
              <c:strCache>
                <c:ptCount val="1"/>
                <c:pt idx="0">
                  <c:v>后端限制</c:v>
                </c:pt>
              </c:strCache>
            </c:strRef>
          </c:tx>
          <c:spPr>
            <a:gradFill>
              <a:gsLst>
                <a:gs pos="100000">
                  <a:srgbClr val="FBFB11"/>
                </a:gs>
                <a:gs pos="100000">
                  <a:srgbClr val="838309"/>
                </a:gs>
              </a:gsLst>
              <a:lin ang="5400000" scaled="0"/>
            </a:gra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'[二次加工.xlsx]06lasxTMA'!$D$2:$D$32</c:f>
              <c:numCache>
                <c:formatCode>General</c:formatCode>
                <c:ptCount val="31"/>
                <c:pt idx="0">
                  <c:v>0.041511969250654</c:v>
                </c:pt>
                <c:pt idx="1">
                  <c:v>0.166588477922212</c:v>
                </c:pt>
                <c:pt idx="2">
                  <c:v>0.466029951660782</c:v>
                </c:pt>
                <c:pt idx="3">
                  <c:v>0.620522045806258</c:v>
                </c:pt>
                <c:pt idx="4">
                  <c:v>0.0726949404062208</c:v>
                </c:pt>
                <c:pt idx="5">
                  <c:v>0.321440330027329</c:v>
                </c:pt>
                <c:pt idx="6">
                  <c:v>0.0876817091595506</c:v>
                </c:pt>
                <c:pt idx="7">
                  <c:v>0.442876112280023</c:v>
                </c:pt>
                <c:pt idx="8">
                  <c:v>0.279163727606313</c:v>
                </c:pt>
                <c:pt idx="9">
                  <c:v>0.557355202780285</c:v>
                </c:pt>
                <c:pt idx="10">
                  <c:v>0.119998587202379</c:v>
                </c:pt>
                <c:pt idx="11">
                  <c:v>0.204420655174432</c:v>
                </c:pt>
                <c:pt idx="13">
                  <c:v>0.450641155165737</c:v>
                </c:pt>
                <c:pt idx="14">
                  <c:v>0.127616841766472</c:v>
                </c:pt>
                <c:pt idx="15">
                  <c:v>0.75735052471274</c:v>
                </c:pt>
                <c:pt idx="16">
                  <c:v>0.653768813856276</c:v>
                </c:pt>
                <c:pt idx="17">
                  <c:v>0.410732072377882</c:v>
                </c:pt>
                <c:pt idx="18">
                  <c:v>0.56623531518401</c:v>
                </c:pt>
                <c:pt idx="19">
                  <c:v>0.738476859104193</c:v>
                </c:pt>
                <c:pt idx="20">
                  <c:v>0.391617301524049</c:v>
                </c:pt>
                <c:pt idx="21">
                  <c:v>0.318333916820299</c:v>
                </c:pt>
                <c:pt idx="22">
                  <c:v>0.542046037585678</c:v>
                </c:pt>
                <c:pt idx="23">
                  <c:v>0.213358617271826</c:v>
                </c:pt>
                <c:pt idx="24">
                  <c:v>0.300945746841065</c:v>
                </c:pt>
                <c:pt idx="25">
                  <c:v>0.704679542531069</c:v>
                </c:pt>
                <c:pt idx="26">
                  <c:v>0.375435195539326</c:v>
                </c:pt>
                <c:pt idx="27">
                  <c:v>0.636020604785692</c:v>
                </c:pt>
                <c:pt idx="28">
                  <c:v>0.490216590702875</c:v>
                </c:pt>
                <c:pt idx="29">
                  <c:v>0.409786118324983</c:v>
                </c:pt>
              </c:numCache>
            </c:numRef>
          </c:val>
        </c:ser>
        <c:ser>
          <c:idx val="3"/>
          <c:order val="3"/>
          <c:tx>
            <c:strRef>
              <c:f>'[二次加工.xlsx]06lasxTMA'!$E$1</c:f>
              <c:strCache>
                <c:ptCount val="1"/>
                <c:pt idx="0">
                  <c:v>前端限制</c:v>
                </c:pt>
              </c:strCache>
            </c:strRef>
          </c:tx>
          <c:spPr>
            <a:solidFill>
              <a:schemeClr val="accent1">
                <a:lumMod val="60000"/>
                <a:lumOff val="40000"/>
              </a:schemeClr>
            </a:solidFill>
            <a:ln>
              <a:noFill/>
            </a:ln>
            <a:effectLst/>
          </c:spPr>
          <c:invertIfNegative val="0"/>
          <c:dLbls>
            <c:delete val="1"/>
          </c:dLbls>
          <c:cat>
            <c:strRef>
              <c:f>'[二次加工.xlsx]06lasxTMA'!$A$2:$A$32</c:f>
              <c:strCache>
                <c:ptCount val="31"/>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c:v>
                </c:pt>
                <c:pt idx="13">
                  <c:v>410.bwaves</c:v>
                </c:pt>
                <c:pt idx="14">
                  <c:v>416.gamess</c:v>
                </c:pt>
                <c:pt idx="15">
                  <c:v>433.milc</c:v>
                </c:pt>
                <c:pt idx="16">
                  <c:v>434.zeusmp</c:v>
                </c:pt>
                <c:pt idx="17">
                  <c:v>435.gromacs</c:v>
                </c:pt>
                <c:pt idx="18">
                  <c:v>436.cactusADM</c:v>
                </c:pt>
                <c:pt idx="19">
                  <c:v>437.leslie3d</c:v>
                </c:pt>
                <c:pt idx="20">
                  <c:v>444.namd</c:v>
                </c:pt>
                <c:pt idx="21">
                  <c:v>447.dealII</c:v>
                </c:pt>
                <c:pt idx="22">
                  <c:v>450.soplex</c:v>
                </c:pt>
                <c:pt idx="23">
                  <c:v>453.povray</c:v>
                </c:pt>
                <c:pt idx="24">
                  <c:v>454.calculix</c:v>
                </c:pt>
                <c:pt idx="25">
                  <c:v>459.GemsFDTD</c:v>
                </c:pt>
                <c:pt idx="26">
                  <c:v>465.tonto</c:v>
                </c:pt>
                <c:pt idx="27">
                  <c:v>470.lbm</c:v>
                </c:pt>
                <c:pt idx="28">
                  <c:v>481.wrf</c:v>
                </c:pt>
                <c:pt idx="29">
                  <c:v>482.sphinx3</c:v>
                </c:pt>
                <c:pt idx="30">
                  <c:v>FP</c:v>
                </c:pt>
              </c:strCache>
            </c:strRef>
          </c:cat>
          <c:val>
            <c:numRef>
              <c:f>'[二次加工.xlsx]06lasxTMA'!$E$2:$E$32</c:f>
              <c:numCache>
                <c:formatCode>General</c:formatCode>
                <c:ptCount val="31"/>
                <c:pt idx="0">
                  <c:v>0.335021349304348</c:v>
                </c:pt>
                <c:pt idx="1">
                  <c:v>0.202321293066265</c:v>
                </c:pt>
                <c:pt idx="2">
                  <c:v>0.220010202876209</c:v>
                </c:pt>
                <c:pt idx="3">
                  <c:v>0.140026911639771</c:v>
                </c:pt>
                <c:pt idx="4">
                  <c:v>0.337617962327088</c:v>
                </c:pt>
                <c:pt idx="5">
                  <c:v>0.010837728014141</c:v>
                </c:pt>
                <c:pt idx="6">
                  <c:v>0.390873724224786</c:v>
                </c:pt>
                <c:pt idx="7">
                  <c:v>0.212172213235084</c:v>
                </c:pt>
                <c:pt idx="8">
                  <c:v>0.0903495168117471</c:v>
                </c:pt>
                <c:pt idx="9">
                  <c:v>0.131734599593604</c:v>
                </c:pt>
                <c:pt idx="10">
                  <c:v>0.303855952035552</c:v>
                </c:pt>
                <c:pt idx="11">
                  <c:v>0.344369155340417</c:v>
                </c:pt>
                <c:pt idx="13">
                  <c:v>0.0793912737677738</c:v>
                </c:pt>
                <c:pt idx="14">
                  <c:v>0.0864605210751301</c:v>
                </c:pt>
                <c:pt idx="15">
                  <c:v>0.0138244121561337</c:v>
                </c:pt>
                <c:pt idx="16">
                  <c:v>0.0295768830924573</c:v>
                </c:pt>
                <c:pt idx="17">
                  <c:v>0.100825451031483</c:v>
                </c:pt>
                <c:pt idx="18">
                  <c:v>0.0433639012802239</c:v>
                </c:pt>
                <c:pt idx="19">
                  <c:v>0.0310066307447276</c:v>
                </c:pt>
                <c:pt idx="20">
                  <c:v>0.103377172576942</c:v>
                </c:pt>
                <c:pt idx="21">
                  <c:v>0.215926762400165</c:v>
                </c:pt>
                <c:pt idx="22">
                  <c:v>0.101794946801586</c:v>
                </c:pt>
                <c:pt idx="23">
                  <c:v>0.19837882604096</c:v>
                </c:pt>
                <c:pt idx="24">
                  <c:v>0.155259690201039</c:v>
                </c:pt>
                <c:pt idx="25">
                  <c:v>0.0691019954533028</c:v>
                </c:pt>
                <c:pt idx="26">
                  <c:v>0.0644084065479655</c:v>
                </c:pt>
                <c:pt idx="27">
                  <c:v>0.00151616712361813</c:v>
                </c:pt>
                <c:pt idx="28">
                  <c:v>0.0801422667743704</c:v>
                </c:pt>
                <c:pt idx="29">
                  <c:v>0.0959343942418683</c:v>
                </c:pt>
              </c:numCache>
            </c:numRef>
          </c:val>
        </c:ser>
        <c:dLbls>
          <c:showLegendKey val="0"/>
          <c:showVal val="0"/>
          <c:showCatName val="0"/>
          <c:showSerName val="0"/>
          <c:showPercent val="0"/>
          <c:showBubbleSize val="0"/>
        </c:dLbls>
        <c:gapWidth val="150"/>
        <c:overlap val="100"/>
        <c:axId val="96880512"/>
        <c:axId val="96882048"/>
      </c:barChart>
      <c:catAx>
        <c:axId val="96880512"/>
        <c:scaling>
          <c:orientation val="minMax"/>
        </c:scaling>
        <c:delete val="0"/>
        <c:axPos val="b"/>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6882048"/>
        <c:crosses val="autoZero"/>
        <c:auto val="1"/>
        <c:lblAlgn val="ctr"/>
        <c:lblOffset val="100"/>
        <c:noMultiLvlLbl val="0"/>
      </c:catAx>
      <c:valAx>
        <c:axId val="9688204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6880512"/>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'[二次加工.xlsx]06lasx后端阻塞'!$T$1</c:f>
              <c:strCache>
                <c:ptCount val="1"/>
                <c:pt idx="0">
                  <c:v>后端限制占比</c:v>
                </c:pt>
              </c:strCache>
            </c:strRef>
          </c:tx>
          <c:spPr>
            <a:solidFill>
              <a:srgbClr val="FFFF00"/>
            </a:solidFill>
            <a:ln>
              <a:noFill/>
            </a:ln>
            <a:effectLst/>
          </c:spPr>
          <c:invertIfNegative val="0"/>
          <c:dLbls>
            <c:delete val="1"/>
          </c:dLbls>
          <c:cat>
            <c:strRef>
              <c:f>'[二次加工.xlsx]06lasx后端阻塞'!$S$2:$S$30</c:f>
              <c:strCache>
                <c:ptCount val="29"/>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410.bwaves</c:v>
                </c:pt>
                <c:pt idx="13">
                  <c:v>416.gamess</c:v>
                </c:pt>
                <c:pt idx="14">
                  <c:v>433.milc</c:v>
                </c:pt>
                <c:pt idx="15">
                  <c:v>434.zeusmp</c:v>
                </c:pt>
                <c:pt idx="16">
                  <c:v>435.gromacs</c:v>
                </c:pt>
                <c:pt idx="17">
                  <c:v>436.cactusADM</c:v>
                </c:pt>
                <c:pt idx="18">
                  <c:v>437.leslie3d</c:v>
                </c:pt>
                <c:pt idx="19">
                  <c:v>444.namd</c:v>
                </c:pt>
                <c:pt idx="20">
                  <c:v>447.dealII</c:v>
                </c:pt>
                <c:pt idx="21">
                  <c:v>450.soplex</c:v>
                </c:pt>
                <c:pt idx="22">
                  <c:v>453.povray</c:v>
                </c:pt>
                <c:pt idx="23">
                  <c:v>454.calculix</c:v>
                </c:pt>
                <c:pt idx="24">
                  <c:v>459.GemsFDTD</c:v>
                </c:pt>
                <c:pt idx="25">
                  <c:v>465.tonto</c:v>
                </c:pt>
                <c:pt idx="26">
                  <c:v>470.lbm</c:v>
                </c:pt>
                <c:pt idx="27">
                  <c:v>481.wrf</c:v>
                </c:pt>
                <c:pt idx="28">
                  <c:v>482.sphinx3</c:v>
                </c:pt>
              </c:strCache>
            </c:strRef>
          </c:cat>
          <c:val>
            <c:numRef>
              <c:f>'[二次加工.xlsx]06lasx后端阻塞'!$T$2:$T$30</c:f>
              <c:numCache>
                <c:formatCode>0.0%</c:formatCode>
                <c:ptCount val="29"/>
                <c:pt idx="0">
                  <c:v>0.041511969250654</c:v>
                </c:pt>
                <c:pt idx="1">
                  <c:v>0.166588477922212</c:v>
                </c:pt>
                <c:pt idx="2">
                  <c:v>0.466029951660782</c:v>
                </c:pt>
                <c:pt idx="3">
                  <c:v>0.620522045806259</c:v>
                </c:pt>
                <c:pt idx="4">
                  <c:v>0.0726949404062208</c:v>
                </c:pt>
                <c:pt idx="5">
                  <c:v>0.321440330027329</c:v>
                </c:pt>
                <c:pt idx="6">
                  <c:v>0.0876817091595506</c:v>
                </c:pt>
                <c:pt idx="7">
                  <c:v>0.442876112280023</c:v>
                </c:pt>
                <c:pt idx="8">
                  <c:v>0.279163727606313</c:v>
                </c:pt>
                <c:pt idx="9">
                  <c:v>0.557355202780285</c:v>
                </c:pt>
                <c:pt idx="10">
                  <c:v>0.119998587202379</c:v>
                </c:pt>
                <c:pt idx="11">
                  <c:v>0.204420655174432</c:v>
                </c:pt>
                <c:pt idx="12">
                  <c:v>0.450641155165738</c:v>
                </c:pt>
                <c:pt idx="13">
                  <c:v>0.127616841766472</c:v>
                </c:pt>
                <c:pt idx="14">
                  <c:v>0.75735052471274</c:v>
                </c:pt>
                <c:pt idx="15">
                  <c:v>0.653768813856275</c:v>
                </c:pt>
                <c:pt idx="16">
                  <c:v>0.410732072377881</c:v>
                </c:pt>
                <c:pt idx="17">
                  <c:v>0.56623531518401</c:v>
                </c:pt>
                <c:pt idx="18">
                  <c:v>0.738476859104192</c:v>
                </c:pt>
                <c:pt idx="19">
                  <c:v>0.391617301524049</c:v>
                </c:pt>
                <c:pt idx="20">
                  <c:v>0.318333916820299</c:v>
                </c:pt>
                <c:pt idx="21">
                  <c:v>0.542046037585677</c:v>
                </c:pt>
                <c:pt idx="22">
                  <c:v>0.213358617271826</c:v>
                </c:pt>
                <c:pt idx="23">
                  <c:v>0.300945746841065</c:v>
                </c:pt>
                <c:pt idx="24">
                  <c:v>0.704679542531069</c:v>
                </c:pt>
                <c:pt idx="25">
                  <c:v>0.375435195539326</c:v>
                </c:pt>
                <c:pt idx="26">
                  <c:v>0.636020604785692</c:v>
                </c:pt>
                <c:pt idx="27">
                  <c:v>0.490216590702875</c:v>
                </c:pt>
                <c:pt idx="28">
                  <c:v>0.409786118324983</c:v>
                </c:pt>
              </c:numCache>
            </c:numRef>
          </c:val>
        </c:ser>
        <c:dLbls>
          <c:showLegendKey val="0"/>
          <c:showVal val="0"/>
          <c:showCatName val="0"/>
          <c:showSerName val="0"/>
          <c:showPercent val="0"/>
          <c:showBubbleSize val="0"/>
        </c:dLbls>
        <c:gapWidth val="150"/>
        <c:axId val="95625216"/>
        <c:axId val="95626752"/>
      </c:barChart>
      <c:lineChart>
        <c:grouping val="standard"/>
        <c:varyColors val="0"/>
        <c:ser>
          <c:idx val="1"/>
          <c:order val="1"/>
          <c:tx>
            <c:strRef>
              <c:f>'[二次加工.xlsx]06lasx后端阻塞'!$U$1</c:f>
              <c:strCache>
                <c:ptCount val="1"/>
                <c:pt idx="0">
                  <c:v>dcache MPKI</c:v>
                </c:pt>
              </c:strCache>
            </c:strRef>
          </c:tx>
          <c:spPr>
            <a:ln w="28575" cap="rnd" cmpd="sng" algn="ctr">
              <a:solidFill>
                <a:schemeClr val="accent2"/>
              </a:solidFill>
              <a:prstDash val="solid"/>
              <a:round/>
            </a:ln>
            <a:effectLst/>
          </c:spPr>
          <c:marker>
            <c:symbol val="none"/>
          </c:marker>
          <c:dLbls>
            <c:delete val="1"/>
          </c:dLbls>
          <c:cat>
            <c:strRef>
              <c:f>'[二次加工.xlsx]06lasx后端阻塞'!$S$2:$S$30</c:f>
              <c:strCache>
                <c:ptCount val="29"/>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410.bwaves</c:v>
                </c:pt>
                <c:pt idx="13">
                  <c:v>416.gamess</c:v>
                </c:pt>
                <c:pt idx="14">
                  <c:v>433.milc</c:v>
                </c:pt>
                <c:pt idx="15">
                  <c:v>434.zeusmp</c:v>
                </c:pt>
                <c:pt idx="16">
                  <c:v>435.gromacs</c:v>
                </c:pt>
                <c:pt idx="17">
                  <c:v>436.cactusADM</c:v>
                </c:pt>
                <c:pt idx="18">
                  <c:v>437.leslie3d</c:v>
                </c:pt>
                <c:pt idx="19">
                  <c:v>444.namd</c:v>
                </c:pt>
                <c:pt idx="20">
                  <c:v>447.dealII</c:v>
                </c:pt>
                <c:pt idx="21">
                  <c:v>450.soplex</c:v>
                </c:pt>
                <c:pt idx="22">
                  <c:v>453.povray</c:v>
                </c:pt>
                <c:pt idx="23">
                  <c:v>454.calculix</c:v>
                </c:pt>
                <c:pt idx="24">
                  <c:v>459.GemsFDTD</c:v>
                </c:pt>
                <c:pt idx="25">
                  <c:v>465.tonto</c:v>
                </c:pt>
                <c:pt idx="26">
                  <c:v>470.lbm</c:v>
                </c:pt>
                <c:pt idx="27">
                  <c:v>481.wrf</c:v>
                </c:pt>
                <c:pt idx="28">
                  <c:v>482.sphinx3</c:v>
                </c:pt>
              </c:strCache>
            </c:strRef>
          </c:cat>
          <c:val>
            <c:numRef>
              <c:f>'[二次加工.xlsx]06lasx后端阻塞'!$U$2:$U$30</c:f>
              <c:numCache>
                <c:formatCode>General</c:formatCode>
                <c:ptCount val="29"/>
                <c:pt idx="0">
                  <c:v>3.95177036831055</c:v>
                </c:pt>
                <c:pt idx="1">
                  <c:v>16.1275095416053</c:v>
                </c:pt>
                <c:pt idx="2">
                  <c:v>34.2857362759155</c:v>
                </c:pt>
                <c:pt idx="3">
                  <c:v>312.660403811784</c:v>
                </c:pt>
                <c:pt idx="4">
                  <c:v>8.29428924072115</c:v>
                </c:pt>
                <c:pt idx="5">
                  <c:v>63.5711436023618</c:v>
                </c:pt>
                <c:pt idx="6">
                  <c:v>2.65398641200921</c:v>
                </c:pt>
                <c:pt idx="7">
                  <c:v>66.4704383284251</c:v>
                </c:pt>
                <c:pt idx="8">
                  <c:v>7.12998957917798</c:v>
                </c:pt>
                <c:pt idx="9">
                  <c:v>70.8790412314003</c:v>
                </c:pt>
                <c:pt idx="10">
                  <c:v>39.2342639456333</c:v>
                </c:pt>
                <c:pt idx="11">
                  <c:v>25.9528181078018</c:v>
                </c:pt>
                <c:pt idx="12">
                  <c:v>14.276923588622</c:v>
                </c:pt>
                <c:pt idx="13">
                  <c:v>2.75932919712832</c:v>
                </c:pt>
                <c:pt idx="14">
                  <c:v>129.229505976047</c:v>
                </c:pt>
                <c:pt idx="15">
                  <c:v>34.5421786283584</c:v>
                </c:pt>
                <c:pt idx="16">
                  <c:v>27.1729824716789</c:v>
                </c:pt>
                <c:pt idx="17">
                  <c:v>34.5813679480435</c:v>
                </c:pt>
                <c:pt idx="18">
                  <c:v>119.380150086022</c:v>
                </c:pt>
                <c:pt idx="19">
                  <c:v>8.41238750011485</c:v>
                </c:pt>
                <c:pt idx="20">
                  <c:v>40.0172229932661</c:v>
                </c:pt>
                <c:pt idx="21">
                  <c:v>121.218789114499</c:v>
                </c:pt>
                <c:pt idx="22">
                  <c:v>14.8151820364796</c:v>
                </c:pt>
                <c:pt idx="23">
                  <c:v>14.9291172708269</c:v>
                </c:pt>
                <c:pt idx="24">
                  <c:v>30.5848015690926</c:v>
                </c:pt>
                <c:pt idx="25">
                  <c:v>27.3397661485806</c:v>
                </c:pt>
                <c:pt idx="26">
                  <c:v>59.0041106447938</c:v>
                </c:pt>
                <c:pt idx="27">
                  <c:v>31.0204276501846</c:v>
                </c:pt>
                <c:pt idx="28">
                  <c:v>24.534506547887</c:v>
                </c:pt>
              </c:numCache>
            </c:numRef>
          </c:val>
          <c:smooth val="0"/>
        </c:ser>
        <c:ser>
          <c:idx val="2"/>
          <c:order val="2"/>
          <c:tx>
            <c:strRef>
              <c:f>'[二次加工.xlsx]06lasx后端阻塞'!$V$1</c:f>
              <c:strCache>
                <c:ptCount val="1"/>
                <c:pt idx="0">
                  <c:v>vcache MPKI</c:v>
                </c:pt>
              </c:strCache>
            </c:strRef>
          </c:tx>
          <c:spPr>
            <a:ln w="28575" cap="rnd" cmpd="sng" algn="ctr">
              <a:solidFill>
                <a:srgbClr val="FF0000"/>
              </a:solidFill>
              <a:prstDash val="solid"/>
              <a:round/>
            </a:ln>
            <a:effectLst/>
          </c:spPr>
          <c:marker>
            <c:symbol val="none"/>
          </c:marker>
          <c:dLbls>
            <c:delete val="1"/>
          </c:dLbls>
          <c:cat>
            <c:strRef>
              <c:f>'[二次加工.xlsx]06lasx后端阻塞'!$S$2:$S$30</c:f>
              <c:strCache>
                <c:ptCount val="29"/>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410.bwaves</c:v>
                </c:pt>
                <c:pt idx="13">
                  <c:v>416.gamess</c:v>
                </c:pt>
                <c:pt idx="14">
                  <c:v>433.milc</c:v>
                </c:pt>
                <c:pt idx="15">
                  <c:v>434.zeusmp</c:v>
                </c:pt>
                <c:pt idx="16">
                  <c:v>435.gromacs</c:v>
                </c:pt>
                <c:pt idx="17">
                  <c:v>436.cactusADM</c:v>
                </c:pt>
                <c:pt idx="18">
                  <c:v>437.leslie3d</c:v>
                </c:pt>
                <c:pt idx="19">
                  <c:v>444.namd</c:v>
                </c:pt>
                <c:pt idx="20">
                  <c:v>447.dealII</c:v>
                </c:pt>
                <c:pt idx="21">
                  <c:v>450.soplex</c:v>
                </c:pt>
                <c:pt idx="22">
                  <c:v>453.povray</c:v>
                </c:pt>
                <c:pt idx="23">
                  <c:v>454.calculix</c:v>
                </c:pt>
                <c:pt idx="24">
                  <c:v>459.GemsFDTD</c:v>
                </c:pt>
                <c:pt idx="25">
                  <c:v>465.tonto</c:v>
                </c:pt>
                <c:pt idx="26">
                  <c:v>470.lbm</c:v>
                </c:pt>
                <c:pt idx="27">
                  <c:v>481.wrf</c:v>
                </c:pt>
                <c:pt idx="28">
                  <c:v>482.sphinx3</c:v>
                </c:pt>
              </c:strCache>
            </c:strRef>
          </c:cat>
          <c:val>
            <c:numRef>
              <c:f>'[二次加工.xlsx]06lasx后端阻塞'!$V$2:$V$30</c:f>
              <c:numCache>
                <c:formatCode>General</c:formatCode>
                <c:ptCount val="29"/>
                <c:pt idx="0">
                  <c:v>0.791419935121531</c:v>
                </c:pt>
                <c:pt idx="1">
                  <c:v>6.13257631636339</c:v>
                </c:pt>
                <c:pt idx="2">
                  <c:v>13.7005200024734</c:v>
                </c:pt>
                <c:pt idx="3">
                  <c:v>80.1993491655964</c:v>
                </c:pt>
                <c:pt idx="4">
                  <c:v>1.7810009768424</c:v>
                </c:pt>
                <c:pt idx="5">
                  <c:v>3.97968220341556</c:v>
                </c:pt>
                <c:pt idx="6">
                  <c:v>0.489766392896424</c:v>
                </c:pt>
                <c:pt idx="7">
                  <c:v>0.567409718339628</c:v>
                </c:pt>
                <c:pt idx="8">
                  <c:v>1.26666802368324</c:v>
                </c:pt>
                <c:pt idx="9">
                  <c:v>26.1952145499308</c:v>
                </c:pt>
                <c:pt idx="10">
                  <c:v>12.2501752098002</c:v>
                </c:pt>
                <c:pt idx="11">
                  <c:v>6.82862768221523</c:v>
                </c:pt>
                <c:pt idx="12">
                  <c:v>24.4680752844585</c:v>
                </c:pt>
                <c:pt idx="13">
                  <c:v>0.185419079857367</c:v>
                </c:pt>
                <c:pt idx="14">
                  <c:v>13.5675706073668</c:v>
                </c:pt>
                <c:pt idx="15">
                  <c:v>10.7557317232104</c:v>
                </c:pt>
                <c:pt idx="16">
                  <c:v>1.00028248836001</c:v>
                </c:pt>
                <c:pt idx="17">
                  <c:v>21.5310387360223</c:v>
                </c:pt>
                <c:pt idx="18">
                  <c:v>66.0953550036112</c:v>
                </c:pt>
                <c:pt idx="19">
                  <c:v>0.115679933664098</c:v>
                </c:pt>
                <c:pt idx="20">
                  <c:v>2.91114830529063</c:v>
                </c:pt>
                <c:pt idx="21">
                  <c:v>32.8566971386192</c:v>
                </c:pt>
                <c:pt idx="22">
                  <c:v>0.0185827832440071</c:v>
                </c:pt>
                <c:pt idx="23">
                  <c:v>3.91494579467049</c:v>
                </c:pt>
                <c:pt idx="24">
                  <c:v>56.8760105431619</c:v>
                </c:pt>
                <c:pt idx="25">
                  <c:v>5.91307555933899</c:v>
                </c:pt>
                <c:pt idx="26">
                  <c:v>31.4941751996918</c:v>
                </c:pt>
                <c:pt idx="27">
                  <c:v>11.6293490873169</c:v>
                </c:pt>
                <c:pt idx="28">
                  <c:v>10.5616021082698</c:v>
                </c:pt>
              </c:numCache>
            </c:numRef>
          </c:val>
          <c:smooth val="0"/>
        </c:ser>
        <c:ser>
          <c:idx val="3"/>
          <c:order val="3"/>
          <c:tx>
            <c:strRef>
              <c:f>'[二次加工.xlsx]06lasx后端阻塞'!$W$1</c:f>
              <c:strCache>
                <c:ptCount val="1"/>
                <c:pt idx="0">
                  <c:v>scache MPKI</c:v>
                </c:pt>
              </c:strCache>
            </c:strRef>
          </c:tx>
          <c:spPr>
            <a:ln w="28575" cap="rnd" cmpd="sng" algn="ctr">
              <a:solidFill>
                <a:schemeClr val="accent4"/>
              </a:solidFill>
              <a:prstDash val="solid"/>
              <a:round/>
            </a:ln>
            <a:effectLst/>
          </c:spPr>
          <c:marker>
            <c:symbol val="none"/>
          </c:marker>
          <c:dLbls>
            <c:delete val="1"/>
          </c:dLbls>
          <c:cat>
            <c:strRef>
              <c:f>'[二次加工.xlsx]06lasx后端阻塞'!$S$2:$S$30</c:f>
              <c:strCache>
                <c:ptCount val="29"/>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410.bwaves</c:v>
                </c:pt>
                <c:pt idx="13">
                  <c:v>416.gamess</c:v>
                </c:pt>
                <c:pt idx="14">
                  <c:v>433.milc</c:v>
                </c:pt>
                <c:pt idx="15">
                  <c:v>434.zeusmp</c:v>
                </c:pt>
                <c:pt idx="16">
                  <c:v>435.gromacs</c:v>
                </c:pt>
                <c:pt idx="17">
                  <c:v>436.cactusADM</c:v>
                </c:pt>
                <c:pt idx="18">
                  <c:v>437.leslie3d</c:v>
                </c:pt>
                <c:pt idx="19">
                  <c:v>444.namd</c:v>
                </c:pt>
                <c:pt idx="20">
                  <c:v>447.dealII</c:v>
                </c:pt>
                <c:pt idx="21">
                  <c:v>450.soplex</c:v>
                </c:pt>
                <c:pt idx="22">
                  <c:v>453.povray</c:v>
                </c:pt>
                <c:pt idx="23">
                  <c:v>454.calculix</c:v>
                </c:pt>
                <c:pt idx="24">
                  <c:v>459.GemsFDTD</c:v>
                </c:pt>
                <c:pt idx="25">
                  <c:v>465.tonto</c:v>
                </c:pt>
                <c:pt idx="26">
                  <c:v>470.lbm</c:v>
                </c:pt>
                <c:pt idx="27">
                  <c:v>481.wrf</c:v>
                </c:pt>
                <c:pt idx="28">
                  <c:v>482.sphinx3</c:v>
                </c:pt>
              </c:strCache>
            </c:strRef>
          </c:cat>
          <c:val>
            <c:numRef>
              <c:f>'[二次加工.xlsx]06lasx后端阻塞'!$W$2:$W$30</c:f>
              <c:numCache>
                <c:formatCode>General</c:formatCode>
                <c:ptCount val="29"/>
                <c:pt idx="0">
                  <c:v>0.0350542655007011</c:v>
                </c:pt>
                <c:pt idx="1">
                  <c:v>0.0719181566014535</c:v>
                </c:pt>
                <c:pt idx="2">
                  <c:v>2.31787964895664</c:v>
                </c:pt>
                <c:pt idx="3">
                  <c:v>41.0248182027414</c:v>
                </c:pt>
                <c:pt idx="4">
                  <c:v>0.408559770230461</c:v>
                </c:pt>
                <c:pt idx="5">
                  <c:v>0.00447856447997294</c:v>
                </c:pt>
                <c:pt idx="6">
                  <c:v>0.302411583062347</c:v>
                </c:pt>
                <c:pt idx="7">
                  <c:v>1.03747662237892</c:v>
                </c:pt>
                <c:pt idx="8">
                  <c:v>0.0384252978171698</c:v>
                </c:pt>
                <c:pt idx="9">
                  <c:v>7.56530200141677</c:v>
                </c:pt>
                <c:pt idx="10">
                  <c:v>0.687292828106309</c:v>
                </c:pt>
                <c:pt idx="11">
                  <c:v>0.590756334312449</c:v>
                </c:pt>
                <c:pt idx="12">
                  <c:v>3.9812344537965</c:v>
                </c:pt>
                <c:pt idx="13">
                  <c:v>0.000324232213845593</c:v>
                </c:pt>
                <c:pt idx="14">
                  <c:v>29.4205674655311</c:v>
                </c:pt>
                <c:pt idx="15">
                  <c:v>8.06636500718688</c:v>
                </c:pt>
                <c:pt idx="16">
                  <c:v>0.000110254090378546</c:v>
                </c:pt>
                <c:pt idx="17">
                  <c:v>4.35472771927535</c:v>
                </c:pt>
                <c:pt idx="18">
                  <c:v>16.4626385770558</c:v>
                </c:pt>
                <c:pt idx="19">
                  <c:v>0.0122392625405173</c:v>
                </c:pt>
                <c:pt idx="20">
                  <c:v>1.01398302742834</c:v>
                </c:pt>
                <c:pt idx="21">
                  <c:v>13.5475563326044</c:v>
                </c:pt>
                <c:pt idx="22">
                  <c:v>5.44637733757732e-5</c:v>
                </c:pt>
                <c:pt idx="23">
                  <c:v>0.207828010513569</c:v>
                </c:pt>
                <c:pt idx="24">
                  <c:v>10.7789636596596</c:v>
                </c:pt>
                <c:pt idx="25">
                  <c:v>0.172177478397038</c:v>
                </c:pt>
                <c:pt idx="26">
                  <c:v>21.5012915256381</c:v>
                </c:pt>
                <c:pt idx="27">
                  <c:v>4.18237362578335</c:v>
                </c:pt>
                <c:pt idx="28">
                  <c:v>0.121614256682394</c:v>
                </c:pt>
              </c:numCache>
            </c:numRef>
          </c:val>
          <c:smooth val="0"/>
        </c:ser>
        <c:dLbls>
          <c:showLegendKey val="0"/>
          <c:showVal val="0"/>
          <c:showCatName val="0"/>
          <c:showSerName val="0"/>
          <c:showPercent val="0"/>
          <c:showBubbleSize val="0"/>
        </c:dLbls>
        <c:marker val="0"/>
        <c:smooth val="0"/>
        <c:axId val="95628288"/>
        <c:axId val="95646464"/>
      </c:lineChart>
      <c:catAx>
        <c:axId val="95625216"/>
        <c:scaling>
          <c:orientation val="minMax"/>
        </c:scaling>
        <c:delete val="0"/>
        <c:axPos val="b"/>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5626752"/>
        <c:crosses val="autoZero"/>
        <c:auto val="1"/>
        <c:lblAlgn val="ctr"/>
        <c:lblOffset val="100"/>
        <c:noMultiLvlLbl val="0"/>
      </c:catAx>
      <c:valAx>
        <c:axId val="95626752"/>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0%"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5625216"/>
        <c:crosses val="autoZero"/>
        <c:crossBetween val="between"/>
      </c:valAx>
      <c:catAx>
        <c:axId val="95628288"/>
        <c:scaling>
          <c:orientation val="minMax"/>
        </c:scaling>
        <c:delete val="1"/>
        <c:axPos val="b"/>
        <c:majorTickMark val="out"/>
        <c:minorTickMark val="none"/>
        <c:tickLblPos val="none"/>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95646464"/>
        <c:crosses val="autoZero"/>
        <c:auto val="1"/>
        <c:lblAlgn val="ctr"/>
        <c:lblOffset val="100"/>
        <c:noMultiLvlLbl val="0"/>
      </c:catAx>
      <c:valAx>
        <c:axId val="95646464"/>
        <c:scaling>
          <c:orientation val="minMax"/>
          <c:max val="140"/>
        </c:scaling>
        <c:delete val="0"/>
        <c:axPos val="r"/>
        <c:numFmt formatCode="General" sourceLinked="1"/>
        <c:majorTickMark val="out"/>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5628288"/>
        <c:crosses val="max"/>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drawings/_rels/vmlDrawing1.vml.rels><?xml version="1.0" encoding="UTF-8" standalone="yes"?>
<Relationships xmlns="http://schemas.openxmlformats.org/package/2006/relationships"><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kumimoji="1"/>
            </a:lvl1pPr>
          </a:lstStyle>
          <a:p>
            <a:pPr>
              <a:defRPr/>
            </a:pPr>
            <a:endParaRPr lang="en-US" altLang="zh-CN"/>
          </a:p>
        </p:txBody>
      </p:sp>
      <p:sp>
        <p:nvSpPr>
          <p:cNvPr id="1105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1"/>
            </a:lvl1pPr>
          </a:lstStyle>
          <a:p>
            <a:pPr>
              <a:defRPr/>
            </a:pPr>
            <a:endParaRPr lang="en-US" altLang="zh-CN"/>
          </a:p>
        </p:txBody>
      </p:sp>
      <p:sp>
        <p:nvSpPr>
          <p:cNvPr id="75780" name="Rectangle 4"/>
          <p:cNvSpPr>
            <a:spLocks noGrp="1" noRot="1" noChangeAspect="1" noChangeArrowheads="1" noTextEdit="1"/>
          </p:cNvSpPr>
          <p:nvPr>
            <p:ph type="sldImg" idx="4294967295"/>
          </p:nvPr>
        </p:nvSpPr>
        <p:spPr bwMode="auto">
          <a:xfrm>
            <a:off x="382588" y="685800"/>
            <a:ext cx="6092825" cy="3429000"/>
          </a:xfrm>
          <a:prstGeom prst="rect">
            <a:avLst/>
          </a:prstGeom>
          <a:noFill/>
          <a:ln w="9525">
            <a:solidFill>
              <a:srgbClr val="000000"/>
            </a:solidFill>
            <a:miter lim="800000"/>
          </a:ln>
        </p:spPr>
      </p:sp>
      <p:sp>
        <p:nvSpPr>
          <p:cNvPr id="1105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105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kumimoji="1"/>
            </a:lvl1pPr>
          </a:lstStyle>
          <a:p>
            <a:pPr>
              <a:defRPr/>
            </a:pPr>
            <a:endParaRPr lang="en-US" altLang="zh-CN"/>
          </a:p>
        </p:txBody>
      </p:sp>
      <p:sp>
        <p:nvSpPr>
          <p:cNvPr id="1105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a:lvl1pPr>
          </a:lstStyle>
          <a:p>
            <a:pPr>
              <a:defRPr/>
            </a:pPr>
            <a:fld id="{4BB55363-7A79-4D20-8508-B7EFCA980BB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016279B-A4CF-4927-9ACA-34AA93B5572B}"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lvl1pPr>
              <a:lnSpc>
                <a:spcPct val="150000"/>
              </a:lnSpc>
              <a:spcBef>
                <a:spcPts val="0"/>
              </a:spcBef>
              <a:defRPr sz="2400"/>
            </a:lvl1pPr>
            <a:lvl2pPr>
              <a:lnSpc>
                <a:spcPct val="150000"/>
              </a:lnSpc>
              <a:spcBef>
                <a:spcPts val="0"/>
              </a:spcBef>
              <a:defRPr sz="2000"/>
            </a:lvl2pPr>
            <a:lvl3pPr>
              <a:lnSpc>
                <a:spcPct val="150000"/>
              </a:lnSpc>
              <a:spcBef>
                <a:spcPts val="0"/>
              </a:spcBef>
              <a:defRPr sz="1800"/>
            </a:lvl3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FA93229-5E47-4594-8D5D-8B398EFD922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962959" y="2906713"/>
            <a:ext cx="1036185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7835DFF-DB5D-4C2D-85EB-A4CBA1D4E4C1}"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14281" y="1981200"/>
            <a:ext cx="5079339"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CEA294C-B04D-4119-BD41-8F75158140D6}"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09521"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09521"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192561"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192561"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63735512-EC40-4876-9DE3-418584BE4BEE}"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0C732B5-C426-470D-904E-589486907DC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C2ED84B-9605-4239-80DF-A06F46294922}"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113" y="273051"/>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521" y="1435101"/>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35FAFB1-BFCF-47A2-AE79-F4B41EEFAF4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2389406" y="612775"/>
            <a:ext cx="731424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13D0BA1-4191-497E-882D-13DBC76CB2B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438512D-8C49-46EE-B2E9-13A01154F6FF}"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5669" y="609600"/>
            <a:ext cx="2590463" cy="5486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914281" y="609600"/>
            <a:ext cx="7568215" cy="54864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F58104E-364F-48EA-8702-5704A28B53B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281" y="609600"/>
            <a:ext cx="10361851" cy="54864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8E38A7C-AEFD-4FC5-935F-BC71527AE980}"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9F35F06-C015-4056-857D-0DB55EC1984B}"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quarter" idx="2"/>
          </p:nvPr>
        </p:nvSpPr>
        <p:spPr>
          <a:xfrm>
            <a:off x="6196793" y="1981200"/>
            <a:ext cx="5079339" cy="1981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内容占位符 4"/>
          <p:cNvSpPr>
            <a:spLocks noGrp="1"/>
          </p:cNvSpPr>
          <p:nvPr>
            <p:ph sz="quarter" idx="3"/>
          </p:nvPr>
        </p:nvSpPr>
        <p:spPr>
          <a:xfrm>
            <a:off x="6196793" y="4114800"/>
            <a:ext cx="5079339" cy="1981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FAE6D7F4-08A9-4F79-BE58-F057ECD98914}"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914281" y="1981200"/>
            <a:ext cx="10361851" cy="4114800"/>
          </a:xfrm>
        </p:spPr>
        <p:txBody>
          <a:bodyPr/>
          <a:lstStyle/>
          <a:p>
            <a:pPr lvl="0"/>
            <a:endParaRPr lang="zh-CN"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37693EB-0011-4C33-B460-4011FF9A7B28}"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C9BD164-DC9E-4189-9E7A-6220A860D078}"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lvl1pPr>
              <a:lnSpc>
                <a:spcPct val="150000"/>
              </a:lnSpc>
              <a:spcBef>
                <a:spcPts val="0"/>
              </a:spcBef>
              <a:defRPr sz="2400"/>
            </a:lvl1pPr>
            <a:lvl2pPr>
              <a:lnSpc>
                <a:spcPct val="150000"/>
              </a:lnSpc>
              <a:spcBef>
                <a:spcPts val="0"/>
              </a:spcBef>
              <a:defRPr sz="2000"/>
            </a:lvl2pPr>
            <a:lvl3pPr>
              <a:lnSpc>
                <a:spcPct val="150000"/>
              </a:lnSpc>
              <a:spcBef>
                <a:spcPts val="0"/>
              </a:spcBef>
              <a:defRPr sz="1800"/>
            </a:lvl3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3532AAB-AAFE-4475-A438-A74304230DB5}"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962959" y="2906713"/>
            <a:ext cx="1036185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1F0E1E4-ACB5-4E52-936F-E12ED39116AC}"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14281" y="1981200"/>
            <a:ext cx="5079339"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BA0A5C0-BF70-4BA8-BBCB-09CF4394C571}"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09521"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09521"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192561"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192561"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AC5DE056-9171-460F-8DA3-AB191308BC16}"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06F91B14-3E11-4128-A46D-E46DE160242B}"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C169E9EA-6CA8-4041-8214-C18EDBFDD3C0}"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113" y="273051"/>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521" y="1435101"/>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F1204C1-0B5F-4EE5-93D1-2DCD0783EC04}" type="slidenum">
              <a:rPr lang="en-US" altLang="zh-CN"/>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2389406" y="612775"/>
            <a:ext cx="731424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E689A09-CDBE-4D94-9D87-4BAB4CC34BCD}" type="slidenum">
              <a:rPr lang="en-US" altLang="zh-CN"/>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85D897F-116C-475D-959D-17205EC2BD2A}" type="slidenum">
              <a:rPr lang="en-US" altLang="zh-CN"/>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5669" y="609600"/>
            <a:ext cx="2590463" cy="5486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914281" y="609600"/>
            <a:ext cx="7568215" cy="54864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EE40F4E-55E1-4C3E-929F-E67984BD6CFC}" type="slidenum">
              <a:rPr lang="en-US" altLang="zh-CN"/>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281" y="609600"/>
            <a:ext cx="10361851" cy="54864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66801C21-4BCE-4FD9-A3C7-7D9B14DADC63}" type="slidenum">
              <a:rPr lang="en-US" altLang="zh-CN"/>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26889ED-1188-4305-87E5-82CCC787B963}" type="slidenum">
              <a:rPr lang="en-US" altLang="zh-CN"/>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quarter" idx="2"/>
          </p:nvPr>
        </p:nvSpPr>
        <p:spPr>
          <a:xfrm>
            <a:off x="6196793" y="1981200"/>
            <a:ext cx="5079339" cy="1981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内容占位符 4"/>
          <p:cNvSpPr>
            <a:spLocks noGrp="1"/>
          </p:cNvSpPr>
          <p:nvPr>
            <p:ph sz="quarter" idx="3"/>
          </p:nvPr>
        </p:nvSpPr>
        <p:spPr>
          <a:xfrm>
            <a:off x="6196793" y="4114800"/>
            <a:ext cx="5079339" cy="1981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688F4F8C-442C-4968-B64D-7461D75ABD6F}" type="slidenum">
              <a:rPr lang="en-US" altLang="zh-CN"/>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914281" y="1981200"/>
            <a:ext cx="10361851" cy="4114800"/>
          </a:xfrm>
        </p:spPr>
        <p:txBody>
          <a:bodyPr/>
          <a:lstStyle/>
          <a:p>
            <a:pPr lvl="0"/>
            <a:endParaRPr lang="zh-CN"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8D8099C-CE73-4459-BA51-05118EA0511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6" Type="http://schemas.openxmlformats.org/officeDocument/2006/relationships/theme" Target="../theme/theme2.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bwMode="auto">
          <a:xfrm>
            <a:off x="914400" y="609600"/>
            <a:ext cx="10361613"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9219" name="Rectangle 3"/>
          <p:cNvSpPr>
            <a:spLocks noGrp="1" noChangeArrowheads="1"/>
          </p:cNvSpPr>
          <p:nvPr>
            <p:ph type="body" idx="9"/>
          </p:nvPr>
        </p:nvSpPr>
        <p:spPr bwMode="auto">
          <a:xfrm>
            <a:off x="914400" y="1981200"/>
            <a:ext cx="10361613"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kumimoji="1"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lgn="ctr">
              <a:spcBef>
                <a:spcPct val="0"/>
              </a:spcBef>
              <a:defRPr kumimoji="1" sz="1400"/>
            </a:lvl1pPr>
          </a:lstStyle>
          <a:p>
            <a:pPr>
              <a:defRPr/>
            </a:pPr>
            <a:endParaRPr lang="en-US" altLang="zh-CN"/>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400"/>
            </a:lvl1pPr>
          </a:lstStyle>
          <a:p>
            <a:pPr>
              <a:defRPr/>
            </a:pPr>
            <a:fld id="{C01224D8-BA04-44AE-900D-C1AF284EC9DB}"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rtl="0" eaLnBrk="0" fontAlgn="base" hangingPunct="0">
        <a:spcBef>
          <a:spcPct val="0"/>
        </a:spcBef>
        <a:spcAft>
          <a:spcPct val="0"/>
        </a:spcAft>
        <a:defRPr sz="3200">
          <a:solidFill>
            <a:srgbClr val="FF0000"/>
          </a:solidFill>
          <a:latin typeface="+mj-lt"/>
          <a:ea typeface="+mj-ea"/>
          <a:cs typeface="+mj-cs"/>
        </a:defRPr>
      </a:lvl1pPr>
      <a:lvl2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10000"/>
        </a:lnSpc>
        <a:spcBef>
          <a:spcPct val="10000"/>
        </a:spcBef>
        <a:spcAft>
          <a:spcPct val="0"/>
        </a:spcAft>
        <a:buChar char="•"/>
        <a:defRPr sz="2800" b="1">
          <a:solidFill>
            <a:schemeClr val="tx1"/>
          </a:solidFill>
          <a:latin typeface="+mn-lt"/>
          <a:ea typeface="+mn-ea"/>
          <a:cs typeface="+mn-cs"/>
        </a:defRPr>
      </a:lvl1pPr>
      <a:lvl2pPr marL="742950" indent="-285750" algn="l" rtl="0" eaLnBrk="0" fontAlgn="base" hangingPunct="0">
        <a:lnSpc>
          <a:spcPct val="110000"/>
        </a:lnSpc>
        <a:spcBef>
          <a:spcPct val="10000"/>
        </a:spcBef>
        <a:spcAft>
          <a:spcPct val="0"/>
        </a:spcAft>
        <a:buChar char="•"/>
        <a:defRPr sz="2400" b="1">
          <a:solidFill>
            <a:schemeClr val="tx1"/>
          </a:solidFill>
          <a:latin typeface="+mn-lt"/>
          <a:ea typeface="+mn-ea"/>
        </a:defRPr>
      </a:lvl2pPr>
      <a:lvl3pPr marL="1143000" indent="-228600" algn="l" rtl="0" eaLnBrk="0" fontAlgn="base" hangingPunct="0">
        <a:lnSpc>
          <a:spcPct val="110000"/>
        </a:lnSpc>
        <a:spcBef>
          <a:spcPct val="10000"/>
        </a:spcBef>
        <a:spcAft>
          <a:spcPct val="0"/>
        </a:spcAft>
        <a:buChar char="•"/>
        <a:defRPr sz="2000" b="1">
          <a:solidFill>
            <a:schemeClr val="tx1"/>
          </a:solidFill>
          <a:latin typeface="+mn-lt"/>
          <a:ea typeface="+mn-ea"/>
        </a:defRPr>
      </a:lvl3pPr>
      <a:lvl4pPr marL="1600200" indent="-228600" algn="l" rtl="0" eaLnBrk="0" fontAlgn="base" hangingPunct="0">
        <a:lnSpc>
          <a:spcPct val="11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10000"/>
        </a:lnSpc>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bwMode="auto">
          <a:xfrm>
            <a:off x="914400" y="609600"/>
            <a:ext cx="10361613"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43" name="Rectangle 3"/>
          <p:cNvSpPr>
            <a:spLocks noGrp="1" noChangeArrowheads="1"/>
          </p:cNvSpPr>
          <p:nvPr>
            <p:ph type="body" idx="9"/>
          </p:nvPr>
        </p:nvSpPr>
        <p:spPr bwMode="auto">
          <a:xfrm>
            <a:off x="914400" y="1981200"/>
            <a:ext cx="10361613"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kumimoji="1"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lgn="ctr">
              <a:spcBef>
                <a:spcPct val="0"/>
              </a:spcBef>
              <a:defRPr kumimoji="1" sz="1400"/>
            </a:lvl1pPr>
          </a:lstStyle>
          <a:p>
            <a:pPr>
              <a:defRPr/>
            </a:pPr>
            <a:endParaRPr lang="en-US" altLang="zh-CN"/>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400"/>
            </a:lvl1pPr>
          </a:lstStyle>
          <a:p>
            <a:pPr>
              <a:defRPr/>
            </a:pPr>
            <a:fld id="{EAD54C28-0C35-402B-9DBC-D22E4133BBB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xStyles>
    <p:titleStyle>
      <a:lvl1pPr algn="ctr" rtl="0" eaLnBrk="0" fontAlgn="base" hangingPunct="0">
        <a:spcBef>
          <a:spcPct val="0"/>
        </a:spcBef>
        <a:spcAft>
          <a:spcPct val="0"/>
        </a:spcAft>
        <a:defRPr sz="3200">
          <a:solidFill>
            <a:srgbClr val="FF0000"/>
          </a:solidFill>
          <a:latin typeface="+mj-lt"/>
          <a:ea typeface="+mj-ea"/>
          <a:cs typeface="+mj-cs"/>
        </a:defRPr>
      </a:lvl1pPr>
      <a:lvl2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sz="32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10000"/>
        </a:lnSpc>
        <a:spcBef>
          <a:spcPct val="10000"/>
        </a:spcBef>
        <a:spcAft>
          <a:spcPct val="0"/>
        </a:spcAft>
        <a:buChar char="•"/>
        <a:defRPr sz="2800" b="1">
          <a:solidFill>
            <a:schemeClr val="tx1"/>
          </a:solidFill>
          <a:latin typeface="+mn-lt"/>
          <a:ea typeface="+mn-ea"/>
          <a:cs typeface="+mn-cs"/>
        </a:defRPr>
      </a:lvl1pPr>
      <a:lvl2pPr marL="742950" indent="-285750" algn="l" rtl="0" eaLnBrk="0" fontAlgn="base" hangingPunct="0">
        <a:lnSpc>
          <a:spcPct val="110000"/>
        </a:lnSpc>
        <a:spcBef>
          <a:spcPct val="10000"/>
        </a:spcBef>
        <a:spcAft>
          <a:spcPct val="0"/>
        </a:spcAft>
        <a:buChar char="•"/>
        <a:defRPr sz="2400" b="1">
          <a:solidFill>
            <a:schemeClr val="tx1"/>
          </a:solidFill>
          <a:latin typeface="+mn-lt"/>
          <a:ea typeface="+mn-ea"/>
        </a:defRPr>
      </a:lvl2pPr>
      <a:lvl3pPr marL="1143000" indent="-228600" algn="l" rtl="0" eaLnBrk="0" fontAlgn="base" hangingPunct="0">
        <a:lnSpc>
          <a:spcPct val="110000"/>
        </a:lnSpc>
        <a:spcBef>
          <a:spcPct val="10000"/>
        </a:spcBef>
        <a:spcAft>
          <a:spcPct val="0"/>
        </a:spcAft>
        <a:buChar char="•"/>
        <a:defRPr sz="2000" b="1">
          <a:solidFill>
            <a:schemeClr val="tx1"/>
          </a:solidFill>
          <a:latin typeface="+mn-lt"/>
          <a:ea typeface="+mn-ea"/>
        </a:defRPr>
      </a:lvl3pPr>
      <a:lvl4pPr marL="1600200" indent="-228600" algn="l" rtl="0" eaLnBrk="0" fontAlgn="base" hangingPunct="0">
        <a:lnSpc>
          <a:spcPct val="11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10000"/>
        </a:lnSpc>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4" Type="http://schemas.openxmlformats.org/officeDocument/2006/relationships/vmlDrawing" Target="../drawings/vmlDrawing1.vml"/><Relationship Id="rId13" Type="http://schemas.openxmlformats.org/officeDocument/2006/relationships/slideLayout" Target="../slideLayouts/slideLayout7.xml"/><Relationship Id="rId12" Type="http://schemas.openxmlformats.org/officeDocument/2006/relationships/image" Target="../media/image9.wmf"/><Relationship Id="rId11" Type="http://schemas.openxmlformats.org/officeDocument/2006/relationships/oleObject" Target="../embeddings/oleObject6.bin"/><Relationship Id="rId10" Type="http://schemas.openxmlformats.org/officeDocument/2006/relationships/image" Target="../media/image8.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Document1.doc"/></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oleObject" Target="../embeddings/Document5.doc"/><Relationship Id="rId6" Type="http://schemas.openxmlformats.org/officeDocument/2006/relationships/image" Target="../media/image13.wmf"/><Relationship Id="rId5" Type="http://schemas.openxmlformats.org/officeDocument/2006/relationships/oleObject" Target="../embeddings/Document4.doc"/><Relationship Id="rId4" Type="http://schemas.openxmlformats.org/officeDocument/2006/relationships/image" Target="../media/image12.wmf"/><Relationship Id="rId3" Type="http://schemas.openxmlformats.org/officeDocument/2006/relationships/oleObject" Target="../embeddings/Document3.doc"/><Relationship Id="rId2" Type="http://schemas.openxmlformats.org/officeDocument/2006/relationships/image" Target="../media/image11.wmf"/><Relationship Id="rId1" Type="http://schemas.openxmlformats.org/officeDocument/2006/relationships/oleObject" Target="../embeddings/Document2.doc"/></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Document6.doc"/></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Document7.doc"/></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7.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chart" Target="../charts/char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noChangeArrowheads="1"/>
          </p:cNvSpPr>
          <p:nvPr>
            <p:ph type="sldNum" sz="quarter" idx="12"/>
          </p:nvPr>
        </p:nvSpPr>
        <p:spPr>
          <a:noFill/>
        </p:spPr>
        <p:txBody>
          <a:bodyPr/>
          <a:lstStyle/>
          <a:p>
            <a:fld id="{F50BE6D4-4682-4C95-887E-9AB9ACCE889A}" type="slidenum">
              <a:rPr lang="en-US" altLang="zh-CN" smtClean="0"/>
            </a:fld>
            <a:endParaRPr lang="en-US" altLang="zh-CN" smtClean="0"/>
          </a:p>
        </p:txBody>
      </p:sp>
      <p:sp>
        <p:nvSpPr>
          <p:cNvPr id="11267" name="Rectangle 2"/>
          <p:cNvSpPr>
            <a:spLocks noChangeArrowheads="1"/>
          </p:cNvSpPr>
          <p:nvPr/>
        </p:nvSpPr>
        <p:spPr bwMode="auto">
          <a:xfrm>
            <a:off x="952500" y="1239838"/>
            <a:ext cx="10361613" cy="1143000"/>
          </a:xfrm>
          <a:prstGeom prst="rect">
            <a:avLst/>
          </a:prstGeom>
          <a:noFill/>
          <a:ln w="9525">
            <a:noFill/>
            <a:miter lim="800000"/>
          </a:ln>
        </p:spPr>
        <p:txBody>
          <a:bodyPr anchor="ctr"/>
          <a:lstStyle/>
          <a:p>
            <a:pPr algn="ctr">
              <a:spcBef>
                <a:spcPct val="0"/>
              </a:spcBef>
            </a:pPr>
            <a:r>
              <a:rPr lang="zh-CN" altLang="en-US" sz="4400">
                <a:solidFill>
                  <a:srgbClr val="FF0000"/>
                </a:solidFill>
                <a:latin typeface="Arial" panose="02080604020202020204" pitchFamily="34" charset="0"/>
                <a:ea typeface="黑体" panose="02000500000000000000" pitchFamily="49" charset="-122"/>
              </a:rPr>
              <a:t>计算机体系结构</a:t>
            </a:r>
            <a:endParaRPr lang="zh-CN" altLang="en-US" sz="3600">
              <a:solidFill>
                <a:srgbClr val="FF0000"/>
              </a:solidFill>
              <a:latin typeface="Arial" panose="02080604020202020204" pitchFamily="34" charset="0"/>
              <a:ea typeface="黑体" panose="02000500000000000000" pitchFamily="49" charset="-122"/>
            </a:endParaRPr>
          </a:p>
        </p:txBody>
      </p:sp>
      <p:sp>
        <p:nvSpPr>
          <p:cNvPr id="11268" name="Rectangle 3"/>
          <p:cNvSpPr>
            <a:spLocks noChangeArrowheads="1"/>
          </p:cNvSpPr>
          <p:nvPr/>
        </p:nvSpPr>
        <p:spPr bwMode="auto">
          <a:xfrm>
            <a:off x="1828800" y="4400550"/>
            <a:ext cx="8532813" cy="838200"/>
          </a:xfrm>
          <a:prstGeom prst="rect">
            <a:avLst/>
          </a:prstGeom>
          <a:noFill/>
          <a:ln w="9525">
            <a:noFill/>
            <a:miter lim="800000"/>
          </a:ln>
        </p:spPr>
        <p:txBody>
          <a:bodyPr/>
          <a:lstStyle/>
          <a:p>
            <a:pPr algn="ctr">
              <a:lnSpc>
                <a:spcPct val="110000"/>
              </a:lnSpc>
              <a:spcBef>
                <a:spcPct val="10000"/>
              </a:spcBef>
            </a:pPr>
            <a:r>
              <a:rPr lang="zh-CN" altLang="en-US" sz="2800" b="1" dirty="0"/>
              <a:t>胡伟</a:t>
            </a:r>
            <a:r>
              <a:rPr lang="zh-CN" altLang="en-US" sz="2800" b="1" dirty="0" smtClean="0"/>
              <a:t>武</a:t>
            </a:r>
            <a:r>
              <a:rPr lang="zh-CN" altLang="en-US" sz="2800" b="1" dirty="0" smtClean="0"/>
              <a:t>、汪文祥</a:t>
            </a:r>
            <a:endParaRPr lang="zh-CN" altLang="en-US" sz="2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vert="horz" wrap="square" lIns="91440" tIns="45720" rIns="91440" bIns="45720" anchor="ctr" anchorCtr="0"/>
          <a:lstStyle/>
          <a:p>
            <a:r>
              <a:rPr lang="zh-CN" altLang="en-US" sz="3600" dirty="0"/>
              <a:t>提高流水线效率的技术</a:t>
            </a:r>
            <a:endParaRPr lang="zh-CN" altLang="en-US" sz="3600" dirty="0"/>
          </a:p>
        </p:txBody>
      </p:sp>
      <p:sp>
        <p:nvSpPr>
          <p:cNvPr id="7171" name="内容占位符 2"/>
          <p:cNvSpPr>
            <a:spLocks noGrp="1"/>
          </p:cNvSpPr>
          <p:nvPr>
            <p:ph idx="1"/>
          </p:nvPr>
        </p:nvSpPr>
        <p:spPr/>
        <p:txBody>
          <a:bodyPr vert="horz" wrap="square" lIns="91440" tIns="45720" rIns="91440" bIns="45720" anchor="t" anchorCtr="0"/>
          <a:lstStyle/>
          <a:p>
            <a:pPr>
              <a:spcBef>
                <a:spcPct val="0"/>
              </a:spcBef>
            </a:pPr>
            <a:r>
              <a:rPr kumimoji="1" lang="zh-CN" altLang="en-US" dirty="0">
                <a:latin typeface="+mn-lt"/>
                <a:ea typeface="+mn-ea"/>
                <a:cs typeface="+mn-cs"/>
              </a:rPr>
              <a:t>指令流水线</a:t>
            </a:r>
            <a:endParaRPr kumimoji="1" lang="en-US" altLang="zh-CN" dirty="0">
              <a:latin typeface="+mn-lt"/>
              <a:ea typeface="+mn-ea"/>
              <a:cs typeface="+mn-cs"/>
            </a:endParaRPr>
          </a:p>
          <a:p>
            <a:pPr lvl="1">
              <a:spcBef>
                <a:spcPct val="0"/>
              </a:spcBef>
            </a:pPr>
            <a:r>
              <a:rPr kumimoji="1" lang="zh-CN" altLang="en-US" dirty="0">
                <a:latin typeface="+mn-lt"/>
                <a:ea typeface="+mn-ea"/>
              </a:rPr>
              <a:t>多发射：多车道</a:t>
            </a:r>
            <a:endParaRPr kumimoji="1" lang="en-US" altLang="zh-CN" dirty="0">
              <a:latin typeface="+mn-lt"/>
              <a:ea typeface="+mn-ea"/>
            </a:endParaRPr>
          </a:p>
          <a:p>
            <a:pPr lvl="1">
              <a:spcBef>
                <a:spcPct val="0"/>
              </a:spcBef>
            </a:pPr>
            <a:r>
              <a:rPr kumimoji="1" lang="zh-CN" altLang="en-US" dirty="0">
                <a:latin typeface="+mn-lt"/>
                <a:ea typeface="+mn-ea"/>
              </a:rPr>
              <a:t>动态调度：允许超车</a:t>
            </a:r>
            <a:endParaRPr kumimoji="1" lang="en-US" altLang="zh-CN" dirty="0">
              <a:latin typeface="+mn-lt"/>
              <a:ea typeface="+mn-ea"/>
            </a:endParaRPr>
          </a:p>
          <a:p>
            <a:pPr>
              <a:spcBef>
                <a:spcPct val="0"/>
              </a:spcBef>
            </a:pPr>
            <a:r>
              <a:rPr kumimoji="1" lang="zh-CN" altLang="en-US" dirty="0">
                <a:latin typeface="+mn-lt"/>
                <a:ea typeface="+mn-ea"/>
                <a:cs typeface="+mn-cs"/>
              </a:rPr>
              <a:t>喂饱“饥饿”的运算器</a:t>
            </a:r>
            <a:endParaRPr kumimoji="1" lang="en-US" altLang="zh-CN" dirty="0">
              <a:latin typeface="+mn-lt"/>
              <a:ea typeface="+mn-ea"/>
              <a:cs typeface="+mn-cs"/>
            </a:endParaRPr>
          </a:p>
          <a:p>
            <a:pPr lvl="1">
              <a:spcBef>
                <a:spcPct val="0"/>
              </a:spcBef>
            </a:pPr>
            <a:r>
              <a:rPr kumimoji="1" lang="zh-CN" altLang="en-US" dirty="0">
                <a:latin typeface="+mn-lt"/>
                <a:ea typeface="+mn-ea"/>
              </a:rPr>
              <a:t>转移猜测：提供足够的指令</a:t>
            </a:r>
            <a:endParaRPr kumimoji="1" lang="en-US" altLang="zh-CN" dirty="0">
              <a:latin typeface="+mn-lt"/>
              <a:ea typeface="+mn-ea"/>
            </a:endParaRPr>
          </a:p>
          <a:p>
            <a:pPr lvl="1">
              <a:spcBef>
                <a:spcPct val="0"/>
              </a:spcBef>
            </a:pPr>
            <a:r>
              <a:rPr kumimoji="1" lang="zh-CN" altLang="en-US" dirty="0">
                <a:solidFill>
                  <a:srgbClr val="FF0000"/>
                </a:solidFill>
                <a:latin typeface="+mn-lt"/>
                <a:ea typeface="+mn-ea"/>
              </a:rPr>
              <a:t>存储管理：提供足够的数据</a:t>
            </a:r>
            <a:endParaRPr kumimoji="1" lang="en-US" altLang="zh-CN" dirty="0">
              <a:solidFill>
                <a:srgbClr val="FF0000"/>
              </a:solidFill>
              <a:latin typeface="+mn-lt"/>
              <a:ea typeface="+mn-ea"/>
            </a:endParaRPr>
          </a:p>
          <a:p>
            <a:pPr lvl="0">
              <a:spcBef>
                <a:spcPct val="0"/>
              </a:spcBef>
            </a:pPr>
            <a:r>
              <a:rPr kumimoji="1" lang="zh-CN" altLang="en-US" dirty="0">
                <a:solidFill>
                  <a:schemeClr val="accent2"/>
                </a:solidFill>
                <a:latin typeface="+mn-lt"/>
                <a:ea typeface="+mn-ea"/>
              </a:rPr>
              <a:t>冯诺依曼结构：存储程序和顺序执行</a:t>
            </a:r>
            <a:endParaRPr kumimoji="1" lang="zh-CN" altLang="en-US" dirty="0">
              <a:solidFill>
                <a:schemeClr val="accent2"/>
              </a:solidFill>
              <a:latin typeface="+mn-lt"/>
              <a:ea typeface="+mn-ea"/>
            </a:endParaRPr>
          </a:p>
        </p:txBody>
      </p:sp>
      <p:sp>
        <p:nvSpPr>
          <p:cNvPr id="717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p>
            <a:fld id="{22A144D5-DD50-43DA-8992-E0A7B18D97E8}" type="slidenum">
              <a:rPr lang="en-US" altLang="zh-CN" smtClean="0"/>
            </a:fld>
            <a:endParaRPr lang="en-US" altLang="zh-CN" smtClean="0"/>
          </a:p>
        </p:txBody>
      </p:sp>
      <p:pic>
        <p:nvPicPr>
          <p:cNvPr id="12291" name="Picture 2" descr="841286100824181"/>
          <p:cNvPicPr>
            <a:picLocks noChangeAspect="1" noChangeArrowheads="1"/>
          </p:cNvPicPr>
          <p:nvPr/>
        </p:nvPicPr>
        <p:blipFill>
          <a:blip r:embed="rId1" cstate="print"/>
          <a:srcRect/>
          <a:stretch>
            <a:fillRect/>
          </a:stretch>
        </p:blipFill>
        <p:spPr bwMode="auto">
          <a:xfrm>
            <a:off x="563563" y="1306513"/>
            <a:ext cx="11123612" cy="5173662"/>
          </a:xfrm>
          <a:prstGeom prst="rect">
            <a:avLst/>
          </a:prstGeom>
          <a:noFill/>
          <a:ln w="9525">
            <a:noFill/>
            <a:miter lim="800000"/>
            <a:headEnd/>
            <a:tailEnd/>
          </a:ln>
        </p:spPr>
      </p:pic>
      <p:sp>
        <p:nvSpPr>
          <p:cNvPr id="12292" name="Rectangle 3"/>
          <p:cNvSpPr>
            <a:spLocks noChangeArrowheads="1"/>
          </p:cNvSpPr>
          <p:nvPr/>
        </p:nvSpPr>
        <p:spPr bwMode="auto">
          <a:xfrm>
            <a:off x="914400" y="95250"/>
            <a:ext cx="10361613" cy="1143000"/>
          </a:xfrm>
          <a:prstGeom prst="rect">
            <a:avLst/>
          </a:prstGeom>
          <a:noFill/>
          <a:ln w="9525">
            <a:noFill/>
            <a:miter lim="800000"/>
          </a:ln>
        </p:spPr>
        <p:txBody>
          <a:bodyPr anchor="ctr"/>
          <a:lstStyle/>
          <a:p>
            <a:pPr algn="ctr"/>
            <a:r>
              <a:rPr lang="zh-CN" altLang="en-US" sz="3600">
                <a:solidFill>
                  <a:srgbClr val="FF3300"/>
                </a:solidFill>
                <a:ea typeface="黑体" panose="02000500000000000000" pitchFamily="49" charset="-122"/>
              </a:rPr>
              <a:t>龙芯</a:t>
            </a:r>
            <a:r>
              <a:rPr lang="en-US" altLang="zh-CN" sz="3600">
                <a:solidFill>
                  <a:srgbClr val="FF3300"/>
                </a:solidFill>
                <a:ea typeface="黑体" panose="02000500000000000000" pitchFamily="49" charset="-122"/>
              </a:rPr>
              <a:t>2</a:t>
            </a:r>
            <a:r>
              <a:rPr lang="zh-CN" altLang="en-US" sz="3600">
                <a:solidFill>
                  <a:srgbClr val="FF3300"/>
                </a:solidFill>
                <a:ea typeface="黑体" panose="02000500000000000000" pitchFamily="49" charset="-122"/>
              </a:rPr>
              <a:t>号处理器核结构图</a:t>
            </a:r>
            <a:endParaRPr lang="zh-CN" altLang="en-US" sz="3600">
              <a:solidFill>
                <a:srgbClr val="FF3300"/>
              </a:solidFill>
              <a:ea typeface="黑体" panose="02000500000000000000" pitchFamily="49" charset="-122"/>
            </a:endParaRPr>
          </a:p>
        </p:txBody>
      </p:sp>
      <p:sp>
        <p:nvSpPr>
          <p:cNvPr id="12293" name="椭圆 4"/>
          <p:cNvSpPr>
            <a:spLocks noChangeArrowheads="1"/>
          </p:cNvSpPr>
          <p:nvPr/>
        </p:nvSpPr>
        <p:spPr bwMode="auto">
          <a:xfrm>
            <a:off x="1263650" y="1411288"/>
            <a:ext cx="2422525" cy="4154487"/>
          </a:xfrm>
          <a:prstGeom prst="ellipse">
            <a:avLst/>
          </a:prstGeom>
          <a:noFill/>
          <a:ln w="38100" algn="ctr">
            <a:solidFill>
              <a:schemeClr val="accent2"/>
            </a:solidFill>
            <a:round/>
          </a:ln>
        </p:spPr>
        <p:txBody>
          <a:bodyPr/>
          <a:lstStyle/>
          <a:p>
            <a:endParaRPr lang="zh-CN" altLang="en-US"/>
          </a:p>
        </p:txBody>
      </p:sp>
      <p:sp>
        <p:nvSpPr>
          <p:cNvPr id="6" name="椭圆 5"/>
          <p:cNvSpPr/>
          <p:nvPr/>
        </p:nvSpPr>
        <p:spPr bwMode="auto">
          <a:xfrm>
            <a:off x="4078288" y="1416050"/>
            <a:ext cx="3482975" cy="4154488"/>
          </a:xfrm>
          <a:prstGeom prst="ellipse">
            <a:avLst/>
          </a:prstGeom>
          <a:noFill/>
          <a:ln w="38100" cap="flat" cmpd="sng" algn="ctr">
            <a:solidFill>
              <a:schemeClr val="accent6"/>
            </a:solidFill>
            <a:prstDash val="solid"/>
            <a:round/>
            <a:headEnd type="none" w="med" len="med"/>
            <a:tailEnd type="none" w="med" len="med"/>
          </a:ln>
          <a:effectLst/>
        </p:spPr>
        <p:txBody>
          <a:bodyPr/>
          <a:lstStyle/>
          <a:p>
            <a:pPr>
              <a:defRPr/>
            </a:pPr>
            <a:endParaRPr lang="zh-CN" altLang="en-US"/>
          </a:p>
        </p:txBody>
      </p:sp>
      <p:sp>
        <p:nvSpPr>
          <p:cNvPr id="12295" name="椭圆 6"/>
          <p:cNvSpPr>
            <a:spLocks noChangeArrowheads="1"/>
          </p:cNvSpPr>
          <p:nvPr/>
        </p:nvSpPr>
        <p:spPr bwMode="auto">
          <a:xfrm>
            <a:off x="7637463" y="1404938"/>
            <a:ext cx="981075" cy="4154487"/>
          </a:xfrm>
          <a:prstGeom prst="ellipse">
            <a:avLst/>
          </a:prstGeom>
          <a:noFill/>
          <a:ln w="38100" algn="ctr">
            <a:solidFill>
              <a:schemeClr val="accent2"/>
            </a:solidFill>
            <a:round/>
          </a:ln>
        </p:spPr>
        <p:txBody>
          <a:bodyPr/>
          <a:lstStyle/>
          <a:p>
            <a:endParaRPr lang="zh-CN" altLang="en-US"/>
          </a:p>
        </p:txBody>
      </p:sp>
      <p:sp>
        <p:nvSpPr>
          <p:cNvPr id="12296" name="椭圆 7"/>
          <p:cNvSpPr>
            <a:spLocks noChangeArrowheads="1"/>
          </p:cNvSpPr>
          <p:nvPr/>
        </p:nvSpPr>
        <p:spPr bwMode="auto">
          <a:xfrm>
            <a:off x="8999538" y="1411288"/>
            <a:ext cx="1671637" cy="4176712"/>
          </a:xfrm>
          <a:prstGeom prst="ellipse">
            <a:avLst/>
          </a:prstGeom>
          <a:noFill/>
          <a:ln w="38100" algn="ctr">
            <a:solidFill>
              <a:srgbClr val="FF0000"/>
            </a:solidFill>
            <a:round/>
          </a:ln>
        </p:spPr>
        <p:txBody>
          <a:bodyPr/>
          <a:lstStyle/>
          <a:p>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920207" y="1455421"/>
          <a:ext cx="10365237" cy="4942205"/>
        </p:xfrm>
        <a:graphic>
          <a:graphicData uri="http://schemas.openxmlformats.org/drawingml/2006/chart">
            <c:chart xmlns:c="http://schemas.openxmlformats.org/drawingml/2006/chart" xmlns:r="http://schemas.openxmlformats.org/officeDocument/2006/relationships" r:id="rId1"/>
          </a:graphicData>
        </a:graphic>
      </p:graphicFrame>
      <p:sp>
        <p:nvSpPr>
          <p:cNvPr id="73731" name="Rectangle 2"/>
          <p:cNvSpPr>
            <a:spLocks noChangeArrowheads="1"/>
          </p:cNvSpPr>
          <p:nvPr/>
        </p:nvSpPr>
        <p:spPr bwMode="auto">
          <a:xfrm>
            <a:off x="528638" y="114300"/>
            <a:ext cx="11345862" cy="685800"/>
          </a:xfrm>
          <a:prstGeom prst="rect">
            <a:avLst/>
          </a:prstGeom>
          <a:noFill/>
          <a:ln w="9525">
            <a:noFill/>
            <a:miter lim="800000"/>
          </a:ln>
        </p:spPr>
        <p:txBody>
          <a:bodyPr anchor="ctr"/>
          <a:lstStyle/>
          <a:p>
            <a:pPr algn="ctr"/>
            <a:r>
              <a:rPr lang="zh-CN" altLang="en-US" sz="3200" dirty="0">
                <a:solidFill>
                  <a:srgbClr val="FF0000"/>
                </a:solidFill>
                <a:latin typeface="Arial" panose="02080604020202020204" pitchFamily="34" charset="0"/>
                <a:ea typeface="黑体" panose="02000500000000000000" pitchFamily="49" charset="-122"/>
              </a:rPr>
              <a:t>龙芯</a:t>
            </a:r>
            <a:r>
              <a:rPr lang="en-US" altLang="zh-CN" sz="3200" dirty="0">
                <a:solidFill>
                  <a:srgbClr val="FF0000"/>
                </a:solidFill>
                <a:latin typeface="Arial" panose="02080604020202020204" pitchFamily="34" charset="0"/>
                <a:ea typeface="黑体" panose="02000500000000000000" pitchFamily="49" charset="-122"/>
              </a:rPr>
              <a:t>3A6000</a:t>
            </a:r>
            <a:r>
              <a:rPr lang="zh-CN" altLang="en-US" sz="3200" dirty="0">
                <a:solidFill>
                  <a:srgbClr val="FF0000"/>
                </a:solidFill>
                <a:latin typeface="Arial" panose="02080604020202020204" pitchFamily="34" charset="0"/>
                <a:ea typeface="黑体" panose="02000500000000000000" pitchFamily="49" charset="-122"/>
              </a:rPr>
              <a:t>运行</a:t>
            </a:r>
            <a:r>
              <a:rPr lang="en-US" altLang="zh-CN" sz="3200" dirty="0">
                <a:solidFill>
                  <a:srgbClr val="FF0000"/>
                </a:solidFill>
                <a:latin typeface="Arial" panose="02080604020202020204" pitchFamily="34" charset="0"/>
                <a:ea typeface="黑体" panose="02000500000000000000" pitchFamily="49" charset="-122"/>
              </a:rPr>
              <a:t>SPEC CPU2006</a:t>
            </a:r>
            <a:r>
              <a:rPr lang="zh-CN" altLang="en-US" sz="3200" dirty="0">
                <a:solidFill>
                  <a:srgbClr val="FF0000"/>
                </a:solidFill>
                <a:latin typeface="Arial" panose="02080604020202020204" pitchFamily="34" charset="0"/>
                <a:ea typeface="黑体" panose="02000500000000000000" pitchFamily="49" charset="-122"/>
              </a:rPr>
              <a:t>的</a:t>
            </a:r>
            <a:r>
              <a:rPr lang="en-US" altLang="zh-CN" sz="3200" dirty="0">
                <a:solidFill>
                  <a:srgbClr val="FF0000"/>
                </a:solidFill>
                <a:latin typeface="Arial" panose="02080604020202020204" pitchFamily="34" charset="0"/>
                <a:ea typeface="黑体" panose="02000500000000000000" pitchFamily="49" charset="-122"/>
              </a:rPr>
              <a:t>IPC</a:t>
            </a:r>
            <a:r>
              <a:rPr lang="zh-CN" altLang="en-US" sz="3200" dirty="0">
                <a:solidFill>
                  <a:srgbClr val="FF0000"/>
                </a:solidFill>
                <a:latin typeface="Arial" panose="02080604020202020204" pitchFamily="34" charset="0"/>
                <a:ea typeface="黑体" panose="02000500000000000000" pitchFamily="49" charset="-122"/>
              </a:rPr>
              <a:t>分解</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noChangeArrowheads="1"/>
          </p:cNvSpPr>
          <p:nvPr>
            <p:ph type="sldNum" sz="quarter" idx="12"/>
          </p:nvPr>
        </p:nvSpPr>
        <p:spPr>
          <a:noFill/>
        </p:spPr>
        <p:txBody>
          <a:bodyPr/>
          <a:lstStyle/>
          <a:p>
            <a:fld id="{48AE9F89-F0A5-4D7F-BEF9-5290F63C65F2}" type="slidenum">
              <a:rPr lang="en-US" altLang="zh-CN" smtClean="0"/>
            </a:fld>
            <a:endParaRPr lang="en-US" altLang="zh-CN" smtClean="0"/>
          </a:p>
        </p:txBody>
      </p:sp>
      <p:sp>
        <p:nvSpPr>
          <p:cNvPr id="13315" name="Rectangle 2"/>
          <p:cNvSpPr>
            <a:spLocks noGrp="1" noChangeArrowheads="1"/>
          </p:cNvSpPr>
          <p:nvPr>
            <p:ph type="title"/>
          </p:nvPr>
        </p:nvSpPr>
        <p:spPr>
          <a:xfrm>
            <a:off x="914400" y="400050"/>
            <a:ext cx="10361613" cy="1143000"/>
          </a:xfrm>
        </p:spPr>
        <p:txBody>
          <a:bodyPr/>
          <a:lstStyle/>
          <a:p>
            <a:pPr eaLnBrk="1" hangingPunct="1"/>
            <a:r>
              <a:rPr lang="zh-CN" altLang="en-US" smtClean="0"/>
              <a:t>高速缓存（</a:t>
            </a:r>
            <a:r>
              <a:rPr lang="en-US" altLang="zh-CN" smtClean="0"/>
              <a:t>Cache</a:t>
            </a:r>
            <a:r>
              <a:rPr lang="zh-CN" altLang="en-US" smtClean="0"/>
              <a:t>）</a:t>
            </a:r>
            <a:endParaRPr lang="zh-CN" altLang="en-US" smtClean="0"/>
          </a:p>
        </p:txBody>
      </p:sp>
      <p:sp>
        <p:nvSpPr>
          <p:cNvPr id="13316" name="Rectangle 3"/>
          <p:cNvSpPr>
            <a:spLocks noGrp="1" noChangeArrowheads="1"/>
          </p:cNvSpPr>
          <p:nvPr>
            <p:ph idx="1"/>
          </p:nvPr>
        </p:nvSpPr>
        <p:spPr/>
        <p:txBody>
          <a:bodyPr/>
          <a:lstStyle/>
          <a:p>
            <a:pPr eaLnBrk="1" hangingPunct="1">
              <a:spcBef>
                <a:spcPct val="0"/>
              </a:spcBef>
            </a:pPr>
            <a:r>
              <a:rPr lang="zh-CN" altLang="en-US" smtClean="0">
                <a:latin typeface="宋体" panose="02000500000000000000" pitchFamily="2" charset="-122"/>
              </a:rPr>
              <a:t>存储层次的基本概念</a:t>
            </a:r>
            <a:endParaRPr lang="zh-CN" altLang="en-US" smtClean="0">
              <a:latin typeface="宋体" panose="02000500000000000000" pitchFamily="2" charset="-122"/>
            </a:endParaRPr>
          </a:p>
          <a:p>
            <a:pPr eaLnBrk="1" hangingPunct="1">
              <a:spcBef>
                <a:spcPct val="0"/>
              </a:spcBef>
            </a:pPr>
            <a:r>
              <a:rPr lang="en-US" altLang="zh-CN" smtClean="0">
                <a:latin typeface="宋体" panose="02000500000000000000" pitchFamily="2" charset="-122"/>
              </a:rPr>
              <a:t>Cache</a:t>
            </a:r>
            <a:r>
              <a:rPr lang="zh-CN" altLang="en-US" smtClean="0">
                <a:latin typeface="宋体" panose="02000500000000000000" pitchFamily="2" charset="-122"/>
              </a:rPr>
              <a:t>结构</a:t>
            </a:r>
            <a:endParaRPr lang="zh-CN" altLang="en-US" smtClean="0">
              <a:latin typeface="宋体" panose="02000500000000000000" pitchFamily="2" charset="-122"/>
            </a:endParaRPr>
          </a:p>
          <a:p>
            <a:pPr eaLnBrk="1" hangingPunct="1">
              <a:spcBef>
                <a:spcPct val="0"/>
              </a:spcBef>
            </a:pPr>
            <a:r>
              <a:rPr lang="en-US" altLang="zh-CN" smtClean="0">
                <a:latin typeface="宋体" panose="02000500000000000000" pitchFamily="2" charset="-122"/>
              </a:rPr>
              <a:t>Cache</a:t>
            </a:r>
            <a:r>
              <a:rPr lang="zh-CN" altLang="en-US" smtClean="0">
                <a:latin typeface="宋体" panose="02000500000000000000" pitchFamily="2" charset="-122"/>
              </a:rPr>
              <a:t>性能优化</a:t>
            </a:r>
            <a:endParaRPr lang="zh-CN" altLang="en-US" smtClean="0">
              <a:latin typeface="宋体" panose="02000500000000000000" pitchFamily="2" charset="-122"/>
            </a:endParaRPr>
          </a:p>
          <a:p>
            <a:pPr eaLnBrk="1" hangingPunct="1">
              <a:spcBef>
                <a:spcPct val="0"/>
              </a:spcBef>
            </a:pPr>
            <a:r>
              <a:rPr lang="zh-CN" altLang="en-US" smtClean="0">
                <a:latin typeface="宋体" panose="02000500000000000000" pitchFamily="2" charset="-122"/>
              </a:rPr>
              <a:t>部分处理器的存储层次</a:t>
            </a:r>
            <a:endParaRPr lang="zh-CN" altLang="en-US"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noChangeArrowheads="1"/>
          </p:cNvSpPr>
          <p:nvPr>
            <p:ph type="sldNum" sz="quarter" idx="12"/>
          </p:nvPr>
        </p:nvSpPr>
        <p:spPr>
          <a:noFill/>
        </p:spPr>
        <p:txBody>
          <a:bodyPr/>
          <a:lstStyle/>
          <a:p>
            <a:fld id="{94A2E5CA-6EFF-435C-8163-CB1EE340320E}" type="slidenum">
              <a:rPr lang="en-US" altLang="zh-CN" smtClean="0"/>
            </a:fld>
            <a:endParaRPr lang="en-US" altLang="zh-CN" smtClean="0"/>
          </a:p>
        </p:txBody>
      </p:sp>
      <p:sp>
        <p:nvSpPr>
          <p:cNvPr id="14339" name="Rectangle 2"/>
          <p:cNvSpPr>
            <a:spLocks noGrp="1" noChangeArrowheads="1"/>
          </p:cNvSpPr>
          <p:nvPr>
            <p:ph type="title"/>
          </p:nvPr>
        </p:nvSpPr>
        <p:spPr>
          <a:xfrm>
            <a:off x="1066800" y="3009900"/>
            <a:ext cx="10361613" cy="1143000"/>
          </a:xfrm>
        </p:spPr>
        <p:txBody>
          <a:bodyPr/>
          <a:lstStyle/>
          <a:p>
            <a:pPr eaLnBrk="1" hangingPunct="1"/>
            <a:r>
              <a:rPr lang="zh-CN" altLang="en-US" sz="4000" smtClean="0"/>
              <a:t>存储层次的基本概念</a:t>
            </a:r>
            <a:endParaRPr lang="zh-CN" altLang="en-US" sz="40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noChangeArrowheads="1"/>
          </p:cNvSpPr>
          <p:nvPr>
            <p:ph type="sldNum" sz="quarter" idx="12"/>
          </p:nvPr>
        </p:nvSpPr>
        <p:spPr>
          <a:noFill/>
        </p:spPr>
        <p:txBody>
          <a:bodyPr/>
          <a:lstStyle/>
          <a:p>
            <a:fld id="{A898F7B5-FC1D-45E2-861C-7400EE05F61D}" type="slidenum">
              <a:rPr lang="en-US" altLang="zh-CN" smtClean="0"/>
            </a:fld>
            <a:endParaRPr lang="en-US" altLang="zh-CN" smtClean="0"/>
          </a:p>
        </p:txBody>
      </p:sp>
      <p:sp>
        <p:nvSpPr>
          <p:cNvPr id="15363" name="Rectangle 2"/>
          <p:cNvSpPr>
            <a:spLocks noChangeArrowheads="1"/>
          </p:cNvSpPr>
          <p:nvPr/>
        </p:nvSpPr>
        <p:spPr bwMode="auto">
          <a:xfrm>
            <a:off x="506413" y="0"/>
            <a:ext cx="10939462" cy="990600"/>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CPU</a:t>
            </a:r>
            <a:r>
              <a:rPr lang="zh-CN" altLang="en-US" sz="3200">
                <a:solidFill>
                  <a:srgbClr val="FF0000"/>
                </a:solidFill>
                <a:latin typeface="Arial" panose="02080604020202020204" pitchFamily="34" charset="0"/>
                <a:ea typeface="黑体" panose="02000500000000000000" pitchFamily="49" charset="-122"/>
              </a:rPr>
              <a:t>与</a:t>
            </a:r>
            <a:r>
              <a:rPr lang="en-US" altLang="zh-CN" sz="3200">
                <a:solidFill>
                  <a:srgbClr val="FF0000"/>
                </a:solidFill>
                <a:latin typeface="Arial" panose="02080604020202020204" pitchFamily="34" charset="0"/>
                <a:ea typeface="黑体" panose="02000500000000000000" pitchFamily="49" charset="-122"/>
              </a:rPr>
              <a:t>RAM</a:t>
            </a:r>
            <a:r>
              <a:rPr lang="zh-CN" altLang="en-US" sz="3200">
                <a:solidFill>
                  <a:srgbClr val="FF0000"/>
                </a:solidFill>
                <a:latin typeface="Arial" panose="02080604020202020204" pitchFamily="34" charset="0"/>
                <a:ea typeface="黑体" panose="02000500000000000000" pitchFamily="49" charset="-122"/>
              </a:rPr>
              <a:t>的速度剪刀差</a:t>
            </a:r>
            <a:endParaRPr lang="zh-CN" altLang="en-US" sz="3200">
              <a:solidFill>
                <a:srgbClr val="FF0000"/>
              </a:solidFill>
              <a:latin typeface="Arial" panose="02080604020202020204" pitchFamily="34" charset="0"/>
              <a:ea typeface="黑体" panose="02000500000000000000" pitchFamily="49" charset="-122"/>
            </a:endParaRPr>
          </a:p>
        </p:txBody>
      </p:sp>
      <p:sp>
        <p:nvSpPr>
          <p:cNvPr id="15364" name="Rectangle 314"/>
          <p:cNvSpPr>
            <a:spLocks noChangeArrowheads="1"/>
          </p:cNvSpPr>
          <p:nvPr/>
        </p:nvSpPr>
        <p:spPr bwMode="auto">
          <a:xfrm>
            <a:off x="296863" y="871538"/>
            <a:ext cx="11893550" cy="2498725"/>
          </a:xfrm>
          <a:prstGeom prst="rect">
            <a:avLst/>
          </a:prstGeom>
          <a:noFill/>
          <a:ln w="12700">
            <a:noFill/>
            <a:miter lim="800000"/>
          </a:ln>
        </p:spPr>
        <p:txBody>
          <a:bodyPr lIns="90488" tIns="44450" rIns="90488" bIns="44450"/>
          <a:lstStyle/>
          <a:p>
            <a:pPr marL="342900" indent="-342900">
              <a:lnSpc>
                <a:spcPct val="150000"/>
              </a:lnSpc>
              <a:spcBef>
                <a:spcPct val="0"/>
              </a:spcBef>
              <a:buFontTx/>
              <a:buChar char="•"/>
            </a:pPr>
            <a:r>
              <a:rPr lang="zh-CN" altLang="en-US" sz="2000" b="1">
                <a:latin typeface="宋体" panose="02000500000000000000" pitchFamily="2" charset="-122"/>
              </a:rPr>
              <a:t>摩尔定律</a:t>
            </a:r>
            <a:endParaRPr lang="zh-CN" altLang="en-US" sz="1600" b="1">
              <a:latin typeface="宋体" panose="02000500000000000000" pitchFamily="2" charset="-122"/>
            </a:endParaRPr>
          </a:p>
          <a:p>
            <a:pPr marL="742950" lvl="1" indent="-285750">
              <a:lnSpc>
                <a:spcPct val="150000"/>
              </a:lnSpc>
              <a:spcBef>
                <a:spcPct val="0"/>
              </a:spcBef>
              <a:buFontTx/>
              <a:buChar char="•"/>
            </a:pPr>
            <a:r>
              <a:rPr lang="en-US" altLang="zh-CN" sz="1800" b="1">
                <a:latin typeface="宋体" panose="02000500000000000000" pitchFamily="2" charset="-122"/>
              </a:rPr>
              <a:t>CPU</a:t>
            </a:r>
            <a:r>
              <a:rPr lang="zh-CN" altLang="zh-CN" sz="1800" b="1">
                <a:latin typeface="宋体" panose="02000500000000000000" pitchFamily="2" charset="-122"/>
              </a:rPr>
              <a:t>的频率和RAM的容量每18个月翻一番</a:t>
            </a:r>
            <a:endParaRPr lang="zh-CN" altLang="en-US" sz="18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但</a:t>
            </a:r>
            <a:r>
              <a:rPr lang="en-US" altLang="zh-CN" sz="1800" b="1">
                <a:latin typeface="宋体" panose="02000500000000000000" pitchFamily="2" charset="-122"/>
              </a:rPr>
              <a:t>RAM</a:t>
            </a:r>
            <a:r>
              <a:rPr lang="zh-CN" altLang="en-US" sz="1800" b="1">
                <a:latin typeface="宋体" panose="02000500000000000000" pitchFamily="2" charset="-122"/>
              </a:rPr>
              <a:t>的速度增加缓慢</a:t>
            </a:r>
            <a:endParaRPr lang="zh-CN" altLang="en-US" sz="1800" b="1">
              <a:latin typeface="宋体" panose="02000500000000000000" pitchFamily="2" charset="-122"/>
            </a:endParaRPr>
          </a:p>
          <a:p>
            <a:pPr marL="342900" indent="-342900">
              <a:lnSpc>
                <a:spcPct val="150000"/>
              </a:lnSpc>
              <a:spcBef>
                <a:spcPct val="0"/>
              </a:spcBef>
              <a:buFontTx/>
              <a:buChar char="•"/>
            </a:pPr>
            <a:r>
              <a:rPr lang="zh-CN" altLang="en-US" sz="2000" b="1">
                <a:latin typeface="宋体" panose="02000500000000000000" pitchFamily="2" charset="-122"/>
              </a:rPr>
              <a:t>通过存储层次来弥补差距</a:t>
            </a:r>
            <a:endParaRPr lang="zh-CN" altLang="en-US" sz="20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寄存器、</a:t>
            </a:r>
            <a:r>
              <a:rPr lang="en-US" altLang="zh-CN" sz="1800" b="1">
                <a:latin typeface="宋体" panose="02000500000000000000" pitchFamily="2" charset="-122"/>
              </a:rPr>
              <a:t>Cache</a:t>
            </a:r>
            <a:r>
              <a:rPr lang="zh-CN" altLang="en-US" sz="1800" b="1">
                <a:latin typeface="宋体" panose="02000500000000000000" pitchFamily="2" charset="-122"/>
              </a:rPr>
              <a:t>、存储器、</a:t>
            </a:r>
            <a:r>
              <a:rPr lang="en-US" altLang="zh-CN" sz="1800" b="1">
                <a:latin typeface="宋体" panose="02000500000000000000" pitchFamily="2" charset="-122"/>
              </a:rPr>
              <a:t>IO</a:t>
            </a:r>
            <a:endParaRPr lang="en-US" altLang="zh-CN" sz="1800" b="1">
              <a:latin typeface="宋体" panose="02000500000000000000" pitchFamily="2" charset="-122"/>
            </a:endParaRPr>
          </a:p>
        </p:txBody>
      </p:sp>
      <p:pic>
        <p:nvPicPr>
          <p:cNvPr id="15365" name="Picture 319" descr="1181286100824181"/>
          <p:cNvPicPr>
            <a:picLocks noChangeAspect="1" noChangeArrowheads="1"/>
          </p:cNvPicPr>
          <p:nvPr/>
        </p:nvPicPr>
        <p:blipFill>
          <a:blip r:embed="rId1" cstate="print"/>
          <a:srcRect/>
          <a:stretch>
            <a:fillRect/>
          </a:stretch>
        </p:blipFill>
        <p:spPr bwMode="auto">
          <a:xfrm>
            <a:off x="2352675" y="3651250"/>
            <a:ext cx="7883525" cy="3121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noChangeArrowheads="1"/>
          </p:cNvSpPr>
          <p:nvPr>
            <p:ph type="sldNum" sz="quarter" idx="12"/>
          </p:nvPr>
        </p:nvSpPr>
        <p:spPr>
          <a:noFill/>
        </p:spPr>
        <p:txBody>
          <a:bodyPr/>
          <a:lstStyle/>
          <a:p>
            <a:fld id="{8B9C4941-25E4-4E03-A5F1-F668746CF7B6}" type="slidenum">
              <a:rPr lang="en-US" altLang="zh-CN" smtClean="0"/>
            </a:fld>
            <a:endParaRPr lang="en-US" altLang="zh-CN" smtClean="0"/>
          </a:p>
        </p:txBody>
      </p:sp>
      <p:sp>
        <p:nvSpPr>
          <p:cNvPr id="16387" name="Rectangle 2"/>
          <p:cNvSpPr>
            <a:spLocks noChangeArrowheads="1"/>
          </p:cNvSpPr>
          <p:nvPr/>
        </p:nvSpPr>
        <p:spPr bwMode="auto">
          <a:xfrm>
            <a:off x="754063" y="0"/>
            <a:ext cx="10939462" cy="1143000"/>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 </a:t>
            </a:r>
            <a:r>
              <a:rPr lang="zh-CN" altLang="en-US" sz="3200">
                <a:solidFill>
                  <a:srgbClr val="FF0000"/>
                </a:solidFill>
                <a:latin typeface="Arial" panose="02080604020202020204" pitchFamily="34" charset="0"/>
                <a:ea typeface="黑体" panose="02000500000000000000" pitchFamily="49" charset="-122"/>
              </a:rPr>
              <a:t>处理器和内存速度剪刀差 </a:t>
            </a:r>
            <a:endParaRPr lang="zh-CN" altLang="en-US" sz="3200">
              <a:solidFill>
                <a:srgbClr val="FF0000"/>
              </a:solidFill>
              <a:latin typeface="Arial" panose="02080604020202020204" pitchFamily="34" charset="0"/>
              <a:ea typeface="黑体" panose="02000500000000000000" pitchFamily="49" charset="-122"/>
            </a:endParaRPr>
          </a:p>
        </p:txBody>
      </p:sp>
      <p:sp>
        <p:nvSpPr>
          <p:cNvPr id="16388" name="Rectangle 3"/>
          <p:cNvSpPr>
            <a:spLocks noChangeArrowheads="1"/>
          </p:cNvSpPr>
          <p:nvPr/>
        </p:nvSpPr>
        <p:spPr bwMode="auto">
          <a:xfrm>
            <a:off x="338138" y="1509713"/>
            <a:ext cx="11115675" cy="4854575"/>
          </a:xfrm>
          <a:prstGeom prst="rect">
            <a:avLst/>
          </a:prstGeom>
          <a:noFill/>
          <a:ln w="12700">
            <a:noFill/>
            <a:miter lim="800000"/>
          </a:ln>
        </p:spPr>
        <p:txBody>
          <a:bodyPr lIns="90488" tIns="44450" rIns="90488" bIns="44450"/>
          <a:lstStyle/>
          <a:p>
            <a:pPr marL="285750" indent="-285750">
              <a:lnSpc>
                <a:spcPct val="150000"/>
              </a:lnSpc>
              <a:spcBef>
                <a:spcPct val="0"/>
              </a:spcBef>
              <a:buFontTx/>
              <a:buChar char="•"/>
              <a:tabLst>
                <a:tab pos="3028950" algn="l"/>
                <a:tab pos="7600950" algn="l"/>
              </a:tabLst>
            </a:pPr>
            <a:r>
              <a:rPr lang="zh-CN" altLang="en-US" sz="2000" b="1" dirty="0">
                <a:latin typeface="宋体" panose="02000500000000000000" pitchFamily="2" charset="-122"/>
              </a:rPr>
              <a:t>早期</a:t>
            </a:r>
            <a:r>
              <a:rPr lang="en-US" altLang="zh-CN" sz="2000" b="1" dirty="0">
                <a:latin typeface="宋体" panose="02000500000000000000" pitchFamily="2" charset="-122"/>
              </a:rPr>
              <a:t>Alpha</a:t>
            </a:r>
            <a:r>
              <a:rPr lang="zh-CN" altLang="en-US" sz="2000" b="1" dirty="0">
                <a:latin typeface="宋体" panose="02000500000000000000" pitchFamily="2" charset="-122"/>
              </a:rPr>
              <a:t>处理器</a:t>
            </a:r>
            <a:r>
              <a:rPr lang="en-US" altLang="zh-CN" sz="2000" b="1" dirty="0">
                <a:latin typeface="宋体" panose="02000500000000000000" pitchFamily="2" charset="-122"/>
              </a:rPr>
              <a:t>Cache</a:t>
            </a:r>
            <a:r>
              <a:rPr lang="zh-CN" altLang="en-US" sz="2000" b="1" dirty="0">
                <a:latin typeface="宋体" panose="02000500000000000000" pitchFamily="2" charset="-122"/>
              </a:rPr>
              <a:t>失效延迟</a:t>
            </a:r>
            <a:endParaRPr lang="zh-CN" altLang="en-US" sz="2000" b="1" dirty="0">
              <a:latin typeface="宋体" panose="02000500000000000000" pitchFamily="2" charset="-122"/>
            </a:endParaRPr>
          </a:p>
          <a:p>
            <a:pPr marL="742950" lvl="1" indent="-285750">
              <a:lnSpc>
                <a:spcPct val="150000"/>
              </a:lnSpc>
              <a:spcBef>
                <a:spcPct val="0"/>
              </a:spcBef>
              <a:buFontTx/>
              <a:buChar char="•"/>
              <a:tabLst>
                <a:tab pos="3028950" algn="l"/>
                <a:tab pos="7600950" algn="l"/>
              </a:tabLst>
            </a:pPr>
            <a:r>
              <a:rPr lang="en-US" altLang="zh-CN" sz="1800" b="1" dirty="0">
                <a:latin typeface="宋体" panose="02000500000000000000" pitchFamily="2" charset="-122"/>
              </a:rPr>
              <a:t>1st  Alpha (7000): 	340 ns/5.0 ns =  68 </a:t>
            </a:r>
            <a:r>
              <a:rPr lang="en-US" altLang="zh-CN" sz="1800" b="1" dirty="0" err="1">
                <a:latin typeface="宋体" panose="02000500000000000000" pitchFamily="2" charset="-122"/>
              </a:rPr>
              <a:t>clks</a:t>
            </a:r>
            <a:r>
              <a:rPr lang="en-US" altLang="zh-CN" sz="1800" b="1" dirty="0">
                <a:latin typeface="宋体" panose="02000500000000000000" pitchFamily="2" charset="-122"/>
              </a:rPr>
              <a:t> x 2 or  136 </a:t>
            </a:r>
            <a:endParaRPr lang="en-US" altLang="zh-CN" sz="1800" b="1" dirty="0">
              <a:latin typeface="宋体" panose="02000500000000000000" pitchFamily="2" charset="-122"/>
            </a:endParaRPr>
          </a:p>
          <a:p>
            <a:pPr marL="742950" lvl="1" indent="-285750">
              <a:lnSpc>
                <a:spcPct val="150000"/>
              </a:lnSpc>
              <a:spcBef>
                <a:spcPct val="0"/>
              </a:spcBef>
              <a:buFontTx/>
              <a:buChar char="•"/>
              <a:tabLst>
                <a:tab pos="3028950" algn="l"/>
                <a:tab pos="7600950" algn="l"/>
              </a:tabLst>
            </a:pPr>
            <a:r>
              <a:rPr lang="en-US" altLang="zh-CN" sz="1800" b="1" dirty="0">
                <a:latin typeface="宋体" panose="02000500000000000000" pitchFamily="2" charset="-122"/>
              </a:rPr>
              <a:t>2nd Alpha (8400):	266 ns/3.3 ns =  80 </a:t>
            </a:r>
            <a:r>
              <a:rPr lang="en-US" altLang="zh-CN" sz="1800" b="1" dirty="0" err="1">
                <a:latin typeface="宋体" panose="02000500000000000000" pitchFamily="2" charset="-122"/>
              </a:rPr>
              <a:t>clks</a:t>
            </a:r>
            <a:r>
              <a:rPr lang="en-US" altLang="zh-CN" sz="1800" b="1" dirty="0">
                <a:latin typeface="宋体" panose="02000500000000000000" pitchFamily="2" charset="-122"/>
              </a:rPr>
              <a:t> x 4 or  320</a:t>
            </a:r>
            <a:endParaRPr lang="en-US" altLang="zh-CN" sz="1800" b="1" dirty="0">
              <a:latin typeface="宋体" panose="02000500000000000000" pitchFamily="2" charset="-122"/>
            </a:endParaRPr>
          </a:p>
          <a:p>
            <a:pPr marL="742950" lvl="1" indent="-285750">
              <a:lnSpc>
                <a:spcPct val="150000"/>
              </a:lnSpc>
              <a:spcBef>
                <a:spcPct val="0"/>
              </a:spcBef>
              <a:buFontTx/>
              <a:buChar char="•"/>
              <a:tabLst>
                <a:tab pos="3028950" algn="l"/>
                <a:tab pos="7600950" algn="l"/>
              </a:tabLst>
            </a:pPr>
            <a:r>
              <a:rPr lang="en-US" altLang="zh-CN" sz="1800" b="1" dirty="0">
                <a:latin typeface="宋体" panose="02000500000000000000" pitchFamily="2" charset="-122"/>
              </a:rPr>
              <a:t>3rd Alpha (</a:t>
            </a:r>
            <a:r>
              <a:rPr lang="en-US" altLang="zh-CN" sz="1800" b="1" dirty="0" err="1">
                <a:latin typeface="宋体" panose="02000500000000000000" pitchFamily="2" charset="-122"/>
              </a:rPr>
              <a:t>t.b.d</a:t>
            </a:r>
            <a:r>
              <a:rPr lang="en-US" altLang="zh-CN" sz="1800" b="1" dirty="0">
                <a:latin typeface="宋体" panose="02000500000000000000" pitchFamily="2" charset="-122"/>
              </a:rPr>
              <a:t>.):	180 ns/1.7 ns =108 </a:t>
            </a:r>
            <a:r>
              <a:rPr lang="en-US" altLang="zh-CN" sz="1800" b="1" dirty="0" err="1">
                <a:latin typeface="宋体" panose="02000500000000000000" pitchFamily="2" charset="-122"/>
              </a:rPr>
              <a:t>clks</a:t>
            </a:r>
            <a:r>
              <a:rPr lang="en-US" altLang="zh-CN" sz="1800" b="1" dirty="0">
                <a:latin typeface="宋体" panose="02000500000000000000" pitchFamily="2" charset="-122"/>
              </a:rPr>
              <a:t> x 6 or  648</a:t>
            </a:r>
            <a:endParaRPr lang="en-US" altLang="zh-CN" sz="1800" b="1" dirty="0">
              <a:latin typeface="宋体" panose="02000500000000000000" pitchFamily="2" charset="-122"/>
            </a:endParaRPr>
          </a:p>
          <a:p>
            <a:pPr marL="285750" indent="-285750">
              <a:lnSpc>
                <a:spcPct val="150000"/>
              </a:lnSpc>
              <a:spcBef>
                <a:spcPct val="0"/>
              </a:spcBef>
              <a:buFontTx/>
              <a:buChar char="•"/>
              <a:tabLst>
                <a:tab pos="3028950" algn="l"/>
                <a:tab pos="7600950" algn="l"/>
              </a:tabLst>
            </a:pPr>
            <a:r>
              <a:rPr lang="zh-CN" altLang="en-US" sz="2000" b="1" dirty="0">
                <a:latin typeface="宋体" panose="02000500000000000000" pitchFamily="2" charset="-122"/>
              </a:rPr>
              <a:t>当前主流处理器主频</a:t>
            </a:r>
            <a:r>
              <a:rPr lang="en-US" altLang="zh-CN" sz="2000" b="1" dirty="0">
                <a:latin typeface="宋体" panose="02000500000000000000" pitchFamily="2" charset="-122"/>
              </a:rPr>
              <a:t>2GHz</a:t>
            </a:r>
            <a:r>
              <a:rPr lang="zh-CN" altLang="en-US" sz="2000" b="1" dirty="0">
                <a:latin typeface="宋体" panose="02000500000000000000" pitchFamily="2" charset="-122"/>
              </a:rPr>
              <a:t>以上</a:t>
            </a:r>
            <a:endParaRPr lang="zh-CN" altLang="en-US" sz="2000" b="1" dirty="0">
              <a:latin typeface="宋体" panose="02000500000000000000" pitchFamily="2" charset="-122"/>
            </a:endParaRPr>
          </a:p>
          <a:p>
            <a:pPr marL="742950" lvl="1" indent="-285750">
              <a:lnSpc>
                <a:spcPct val="150000"/>
              </a:lnSpc>
              <a:spcBef>
                <a:spcPct val="0"/>
              </a:spcBef>
              <a:buFontTx/>
              <a:buChar char="•"/>
              <a:tabLst>
                <a:tab pos="3028950" algn="l"/>
                <a:tab pos="7600950" algn="l"/>
              </a:tabLst>
            </a:pPr>
            <a:r>
              <a:rPr lang="en-US" altLang="zh-CN" sz="1800" b="1" dirty="0">
                <a:latin typeface="宋体" panose="02000500000000000000" pitchFamily="2" charset="-122"/>
              </a:rPr>
              <a:t>IBM Power 6</a:t>
            </a:r>
            <a:r>
              <a:rPr lang="zh-CN" altLang="en-US" sz="1800" b="1" dirty="0">
                <a:latin typeface="宋体" panose="02000500000000000000" pitchFamily="2" charset="-122"/>
              </a:rPr>
              <a:t>主频</a:t>
            </a:r>
            <a:r>
              <a:rPr lang="en-US" altLang="zh-CN" sz="1800" b="1" dirty="0">
                <a:latin typeface="宋体" panose="02000500000000000000" pitchFamily="2" charset="-122"/>
              </a:rPr>
              <a:t>6GHz</a:t>
            </a:r>
            <a:r>
              <a:rPr lang="zh-CN" altLang="en-US" sz="1800" b="1" dirty="0" smtClean="0">
                <a:latin typeface="宋体" panose="02000500000000000000" pitchFamily="2" charset="-122"/>
              </a:rPr>
              <a:t>以上，</a:t>
            </a:r>
            <a:r>
              <a:rPr lang="en-US" altLang="zh-CN" sz="1800" b="1" dirty="0" smtClean="0">
                <a:latin typeface="宋体" panose="02000500000000000000" pitchFamily="2" charset="-122"/>
              </a:rPr>
              <a:t>Intel</a:t>
            </a:r>
            <a:r>
              <a:rPr lang="zh-CN" altLang="en-US" sz="1800" b="1" dirty="0" smtClean="0">
                <a:latin typeface="宋体" panose="02000500000000000000" pitchFamily="2" charset="-122"/>
              </a:rPr>
              <a:t>、</a:t>
            </a:r>
            <a:r>
              <a:rPr lang="en-US" altLang="zh-CN" sz="1800" b="1" dirty="0" smtClean="0">
                <a:latin typeface="宋体" panose="02000500000000000000" pitchFamily="2" charset="-122"/>
              </a:rPr>
              <a:t>AMD</a:t>
            </a:r>
            <a:r>
              <a:rPr lang="zh-CN" altLang="en-US" sz="1800" b="1" dirty="0" smtClean="0">
                <a:latin typeface="宋体" panose="02000500000000000000" pitchFamily="2" charset="-122"/>
              </a:rPr>
              <a:t>高端桌面</a:t>
            </a:r>
            <a:r>
              <a:rPr lang="en-US" altLang="zh-CN" sz="1800" b="1" dirty="0" smtClean="0">
                <a:latin typeface="宋体" panose="02000500000000000000" pitchFamily="2" charset="-122"/>
              </a:rPr>
              <a:t>CPU</a:t>
            </a:r>
            <a:r>
              <a:rPr lang="zh-CN" altLang="en-US" sz="1800" b="1" dirty="0" smtClean="0">
                <a:latin typeface="宋体" panose="02000500000000000000" pitchFamily="2" charset="-122"/>
              </a:rPr>
              <a:t>主频 </a:t>
            </a:r>
            <a:r>
              <a:rPr lang="en-US" altLang="zh-CN" sz="1800" b="1" dirty="0" smtClean="0">
                <a:latin typeface="宋体" panose="02000500000000000000" pitchFamily="2" charset="-122"/>
              </a:rPr>
              <a:t>&gt; 5GHz</a:t>
            </a:r>
            <a:endParaRPr lang="zh-CN" altLang="en-US" sz="1800" b="1" dirty="0">
              <a:latin typeface="宋体" panose="02000500000000000000" pitchFamily="2" charset="-122"/>
            </a:endParaRPr>
          </a:p>
          <a:p>
            <a:pPr marL="742950" lvl="1" indent="-285750">
              <a:lnSpc>
                <a:spcPct val="150000"/>
              </a:lnSpc>
              <a:spcBef>
                <a:spcPct val="0"/>
              </a:spcBef>
              <a:buFontTx/>
              <a:buChar char="•"/>
              <a:tabLst>
                <a:tab pos="3028950" algn="l"/>
                <a:tab pos="7600950" algn="l"/>
              </a:tabLst>
            </a:pPr>
            <a:r>
              <a:rPr lang="zh-CN" altLang="en-US" sz="1800" b="1" dirty="0">
                <a:latin typeface="宋体" panose="02000500000000000000" pitchFamily="2" charset="-122"/>
              </a:rPr>
              <a:t>内存延迟</a:t>
            </a:r>
            <a:r>
              <a:rPr lang="en-US" altLang="zh-CN" sz="1800" b="1" dirty="0" smtClean="0">
                <a:latin typeface="宋体" panose="02000500000000000000" pitchFamily="2" charset="-122"/>
              </a:rPr>
              <a:t>50ns</a:t>
            </a:r>
            <a:r>
              <a:rPr lang="zh-CN" altLang="en-US" sz="1800" b="1" dirty="0" smtClean="0">
                <a:latin typeface="宋体" panose="02000500000000000000" pitchFamily="2" charset="-122"/>
              </a:rPr>
              <a:t>以上，大于</a:t>
            </a:r>
            <a:r>
              <a:rPr lang="en-US" altLang="zh-CN" sz="1800" b="1" dirty="0" smtClean="0">
                <a:latin typeface="宋体" panose="02000500000000000000" pitchFamily="2" charset="-122"/>
              </a:rPr>
              <a:t>100</a:t>
            </a:r>
            <a:r>
              <a:rPr lang="zh-CN" altLang="en-US" sz="1800" b="1" dirty="0">
                <a:latin typeface="宋体" panose="02000500000000000000" pitchFamily="2" charset="-122"/>
              </a:rPr>
              <a:t>拍</a:t>
            </a:r>
            <a:endParaRPr lang="zh-CN" altLang="en-US" sz="1800" b="1" dirty="0">
              <a:latin typeface="宋体" panose="02000500000000000000" pitchFamily="2" charset="-122"/>
            </a:endParaRPr>
          </a:p>
          <a:p>
            <a:pPr marL="285750" indent="-285750">
              <a:lnSpc>
                <a:spcPct val="150000"/>
              </a:lnSpc>
              <a:spcBef>
                <a:spcPct val="0"/>
              </a:spcBef>
              <a:buFontTx/>
              <a:buChar char="•"/>
              <a:tabLst>
                <a:tab pos="3028950" algn="l"/>
                <a:tab pos="7600950" algn="l"/>
              </a:tabLst>
            </a:pPr>
            <a:r>
              <a:rPr lang="zh-CN" altLang="en-US" sz="2000" b="1" dirty="0">
                <a:latin typeface="宋体" panose="02000500000000000000" pitchFamily="2" charset="-122"/>
              </a:rPr>
              <a:t>多发射加剧了访存瓶颈</a:t>
            </a:r>
            <a:endParaRPr lang="zh-CN" altLang="en-US" sz="2000" b="1" dirty="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noChangeArrowheads="1"/>
          </p:cNvSpPr>
          <p:nvPr>
            <p:ph type="sldNum" sz="quarter" idx="12"/>
          </p:nvPr>
        </p:nvSpPr>
        <p:spPr>
          <a:noFill/>
        </p:spPr>
        <p:txBody>
          <a:bodyPr/>
          <a:lstStyle/>
          <a:p>
            <a:fld id="{38C0300F-9729-4538-B0AE-26E48F532E8B}" type="slidenum">
              <a:rPr lang="en-US" altLang="zh-CN" smtClean="0"/>
            </a:fld>
            <a:endParaRPr lang="en-US" altLang="zh-CN" smtClean="0"/>
          </a:p>
        </p:txBody>
      </p:sp>
      <p:sp>
        <p:nvSpPr>
          <p:cNvPr id="17411" name="Rectangle 2"/>
          <p:cNvSpPr>
            <a:spLocks noGrp="1" noChangeArrowheads="1"/>
          </p:cNvSpPr>
          <p:nvPr>
            <p:ph type="title"/>
          </p:nvPr>
        </p:nvSpPr>
        <p:spPr>
          <a:xfrm>
            <a:off x="1016000" y="0"/>
            <a:ext cx="10361613" cy="1143000"/>
          </a:xfrm>
        </p:spPr>
        <p:txBody>
          <a:bodyPr/>
          <a:lstStyle/>
          <a:p>
            <a:pPr eaLnBrk="1" hangingPunct="1"/>
            <a:r>
              <a:rPr lang="zh-CN" altLang="en-US" dirty="0" smtClean="0"/>
              <a:t>摩尔定律使</a:t>
            </a:r>
            <a:r>
              <a:rPr lang="en-US" altLang="zh-CN" dirty="0" smtClean="0"/>
              <a:t>CPU</a:t>
            </a:r>
            <a:r>
              <a:rPr lang="zh-CN" altLang="en-US" dirty="0" smtClean="0"/>
              <a:t>的内容发生了变化</a:t>
            </a:r>
            <a:endParaRPr lang="zh-CN" altLang="en-US" dirty="0" smtClean="0"/>
          </a:p>
        </p:txBody>
      </p:sp>
      <p:sp>
        <p:nvSpPr>
          <p:cNvPr id="17412" name="Rectangle 3"/>
          <p:cNvSpPr>
            <a:spLocks noGrp="1" noChangeArrowheads="1"/>
          </p:cNvSpPr>
          <p:nvPr>
            <p:ph idx="1"/>
          </p:nvPr>
        </p:nvSpPr>
        <p:spPr>
          <a:xfrm>
            <a:off x="914400" y="1625600"/>
            <a:ext cx="10856913" cy="4940300"/>
          </a:xfrm>
        </p:spPr>
        <p:txBody>
          <a:bodyPr/>
          <a:lstStyle/>
          <a:p>
            <a:pPr eaLnBrk="1" hangingPunct="1">
              <a:spcBef>
                <a:spcPts val="600"/>
              </a:spcBef>
            </a:pPr>
            <a:r>
              <a:rPr lang="zh-CN" altLang="en-US" sz="2000" dirty="0" smtClean="0">
                <a:latin typeface="宋体" panose="02000500000000000000" pitchFamily="2" charset="-122"/>
              </a:rPr>
              <a:t>冯诺依曼结构的核心思想</a:t>
            </a:r>
            <a:endParaRPr lang="zh-CN" altLang="en-US" sz="2000" dirty="0" smtClean="0">
              <a:latin typeface="宋体" panose="02000500000000000000" pitchFamily="2" charset="-122"/>
            </a:endParaRPr>
          </a:p>
          <a:p>
            <a:pPr lvl="1" eaLnBrk="1" hangingPunct="1">
              <a:spcBef>
                <a:spcPts val="600"/>
              </a:spcBef>
            </a:pPr>
            <a:r>
              <a:rPr lang="zh-CN" altLang="en-US" sz="1800" dirty="0" smtClean="0">
                <a:latin typeface="宋体" panose="02000500000000000000" pitchFamily="2" charset="-122"/>
              </a:rPr>
              <a:t>存储程序：指令和数据都存放在存储器中</a:t>
            </a:r>
            <a:endParaRPr lang="zh-CN" altLang="en-US" sz="1800" dirty="0" smtClean="0">
              <a:latin typeface="宋体" panose="02000500000000000000" pitchFamily="2" charset="-122"/>
            </a:endParaRPr>
          </a:p>
          <a:p>
            <a:pPr eaLnBrk="1" hangingPunct="1">
              <a:spcBef>
                <a:spcPts val="600"/>
              </a:spcBef>
            </a:pPr>
            <a:r>
              <a:rPr lang="zh-CN" altLang="en-US" sz="2000" dirty="0" smtClean="0">
                <a:latin typeface="宋体" panose="02000500000000000000" pitchFamily="2" charset="-122"/>
              </a:rPr>
              <a:t>计算机的五个组成部分</a:t>
            </a:r>
            <a:endParaRPr lang="zh-CN" altLang="en-US" sz="2000" dirty="0" smtClean="0">
              <a:latin typeface="宋体" panose="02000500000000000000" pitchFamily="2" charset="-122"/>
            </a:endParaRPr>
          </a:p>
          <a:p>
            <a:pPr lvl="1" eaLnBrk="1" hangingPunct="1">
              <a:spcBef>
                <a:spcPts val="600"/>
              </a:spcBef>
            </a:pPr>
            <a:r>
              <a:rPr lang="zh-CN" altLang="en-US" sz="1800" dirty="0" smtClean="0">
                <a:latin typeface="宋体" panose="02000500000000000000" pitchFamily="2" charset="-122"/>
              </a:rPr>
              <a:t>运算器、控制器、存储器、输入、输出</a:t>
            </a:r>
            <a:endParaRPr lang="zh-CN" altLang="en-US" sz="1800" dirty="0" smtClean="0">
              <a:latin typeface="宋体" panose="02000500000000000000" pitchFamily="2" charset="-122"/>
            </a:endParaRPr>
          </a:p>
          <a:p>
            <a:pPr lvl="1" eaLnBrk="1" hangingPunct="1">
              <a:spcBef>
                <a:spcPts val="600"/>
              </a:spcBef>
            </a:pPr>
            <a:r>
              <a:rPr lang="zh-CN" altLang="en-US" sz="1800" dirty="0" smtClean="0">
                <a:latin typeface="宋体" panose="02000500000000000000" pitchFamily="2" charset="-122"/>
              </a:rPr>
              <a:t>运算器和控制器合称中央处理器（</a:t>
            </a:r>
            <a:r>
              <a:rPr lang="en-US" altLang="zh-CN" sz="1800" dirty="0" smtClean="0">
                <a:latin typeface="宋体" panose="02000500000000000000" pitchFamily="2" charset="-122"/>
              </a:rPr>
              <a:t>CPU</a:t>
            </a:r>
            <a:r>
              <a:rPr lang="zh-CN" altLang="en-US" sz="1800" dirty="0" smtClean="0">
                <a:latin typeface="宋体" panose="02000500000000000000" pitchFamily="2" charset="-122"/>
              </a:rPr>
              <a:t>）</a:t>
            </a:r>
            <a:endParaRPr lang="zh-CN" altLang="en-US" sz="1800" dirty="0" smtClean="0">
              <a:latin typeface="宋体" panose="02000500000000000000" pitchFamily="2" charset="-122"/>
            </a:endParaRPr>
          </a:p>
          <a:p>
            <a:pPr eaLnBrk="1" hangingPunct="1">
              <a:spcBef>
                <a:spcPts val="600"/>
              </a:spcBef>
            </a:pPr>
            <a:r>
              <a:rPr lang="zh-CN" altLang="en-US" sz="2000" dirty="0" smtClean="0">
                <a:latin typeface="宋体" panose="02000500000000000000" pitchFamily="2" charset="-122"/>
              </a:rPr>
              <a:t>为了缓解存储瓶颈，把部分存储器做在片内</a:t>
            </a:r>
            <a:endParaRPr lang="zh-CN" altLang="en-US" sz="2000" dirty="0" smtClean="0">
              <a:latin typeface="宋体" panose="02000500000000000000" pitchFamily="2" charset="-122"/>
            </a:endParaRPr>
          </a:p>
          <a:p>
            <a:pPr lvl="1" eaLnBrk="1" hangingPunct="1">
              <a:spcBef>
                <a:spcPts val="600"/>
              </a:spcBef>
            </a:pPr>
            <a:r>
              <a:rPr lang="zh-CN" altLang="en-GB" sz="1800" dirty="0" smtClean="0">
                <a:latin typeface="宋体" panose="02000500000000000000" pitchFamily="2" charset="-122"/>
              </a:rPr>
              <a:t>片内</a:t>
            </a:r>
            <a:r>
              <a:rPr lang="en-GB" altLang="zh-CN" sz="1800" dirty="0" smtClean="0">
                <a:latin typeface="宋体" panose="02000500000000000000" pitchFamily="2" charset="-122"/>
              </a:rPr>
              <a:t>Cache</a:t>
            </a:r>
            <a:r>
              <a:rPr lang="zh-CN" altLang="en-GB" sz="1800" dirty="0" smtClean="0">
                <a:latin typeface="宋体" panose="02000500000000000000" pitchFamily="2" charset="-122"/>
              </a:rPr>
              <a:t>占了整个芯片的很大一部分面积</a:t>
            </a:r>
            <a:r>
              <a:rPr lang="zh-CN" altLang="en-US" sz="1800" dirty="0" smtClean="0">
                <a:latin typeface="宋体" panose="02000500000000000000" pitchFamily="2" charset="-122"/>
              </a:rPr>
              <a:t>（晶体管数</a:t>
            </a:r>
            <a:r>
              <a:rPr lang="en-US" altLang="zh-CN" sz="1800" dirty="0" smtClean="0">
                <a:latin typeface="宋体" panose="02000500000000000000" pitchFamily="2" charset="-122"/>
              </a:rPr>
              <a:t>&gt;70%</a:t>
            </a:r>
            <a:r>
              <a:rPr lang="zh-CN" altLang="en-US" sz="1800" dirty="0" smtClean="0">
                <a:latin typeface="宋体" panose="02000500000000000000" pitchFamily="2" charset="-122"/>
              </a:rPr>
              <a:t>，硅面积</a:t>
            </a:r>
            <a:r>
              <a:rPr lang="en-US" altLang="zh-CN" sz="1800" dirty="0" smtClean="0">
                <a:latin typeface="宋体" panose="02000500000000000000" pitchFamily="2" charset="-122"/>
              </a:rPr>
              <a:t>&gt;30%</a:t>
            </a:r>
            <a:r>
              <a:rPr lang="zh-CN" altLang="en-US" sz="1800" dirty="0" smtClean="0">
                <a:latin typeface="宋体" panose="02000500000000000000" pitchFamily="2" charset="-122"/>
              </a:rPr>
              <a:t>）</a:t>
            </a:r>
            <a:endParaRPr lang="zh-CN" altLang="en-GB" sz="1800" dirty="0" smtClean="0">
              <a:latin typeface="宋体" panose="02000500000000000000" pitchFamily="2" charset="-122"/>
            </a:endParaRPr>
          </a:p>
          <a:p>
            <a:pPr lvl="1" eaLnBrk="1" hangingPunct="1">
              <a:spcBef>
                <a:spcPts val="600"/>
              </a:spcBef>
            </a:pPr>
            <a:r>
              <a:rPr lang="zh-CN" altLang="en-US" sz="1800" dirty="0" smtClean="0">
                <a:solidFill>
                  <a:srgbClr val="FF0000"/>
                </a:solidFill>
                <a:latin typeface="宋体" panose="02000500000000000000" pitchFamily="2" charset="-122"/>
              </a:rPr>
              <a:t>是存储器的一部分？</a:t>
            </a:r>
            <a:r>
              <a:rPr lang="zh-CN" altLang="en-US" sz="1800" dirty="0" smtClean="0">
                <a:latin typeface="宋体" panose="02000500000000000000" pitchFamily="2" charset="-122"/>
              </a:rPr>
              <a:t>高速缓存（多级）</a:t>
            </a:r>
            <a:r>
              <a:rPr lang="en-US" altLang="zh-CN" sz="1800" dirty="0" smtClean="0">
                <a:latin typeface="宋体" panose="02000500000000000000" pitchFamily="2" charset="-122"/>
              </a:rPr>
              <a:t>+ </a:t>
            </a:r>
            <a:r>
              <a:rPr lang="zh-CN" altLang="en-US" sz="1800" dirty="0" smtClean="0">
                <a:latin typeface="宋体" panose="02000500000000000000" pitchFamily="2" charset="-122"/>
              </a:rPr>
              <a:t>片外存储器 </a:t>
            </a:r>
            <a:r>
              <a:rPr lang="en-US" altLang="zh-CN" sz="1800" dirty="0" smtClean="0">
                <a:latin typeface="宋体" panose="02000500000000000000" pitchFamily="2" charset="-122"/>
              </a:rPr>
              <a:t>= </a:t>
            </a:r>
            <a:r>
              <a:rPr lang="zh-CN" altLang="en-US" sz="1800" dirty="0" smtClean="0">
                <a:latin typeface="宋体" panose="02000500000000000000" pitchFamily="2" charset="-122"/>
              </a:rPr>
              <a:t>存储器</a:t>
            </a:r>
            <a:endParaRPr lang="en-US" altLang="zh-CN" sz="1800" dirty="0" smtClean="0">
              <a:latin typeface="宋体" panose="02000500000000000000" pitchFamily="2" charset="-122"/>
            </a:endParaRPr>
          </a:p>
          <a:p>
            <a:pPr lvl="1" eaLnBrk="1" hangingPunct="1">
              <a:spcBef>
                <a:spcPts val="600"/>
              </a:spcBef>
            </a:pPr>
            <a:r>
              <a:rPr lang="zh-CN" altLang="en-US" sz="1800" dirty="0" smtClean="0">
                <a:solidFill>
                  <a:srgbClr val="FF0000"/>
                </a:solidFill>
                <a:latin typeface="宋体" panose="02000500000000000000" pitchFamily="2" charset="-122"/>
              </a:rPr>
              <a:t>是控制器的一部分？</a:t>
            </a:r>
            <a:r>
              <a:rPr lang="zh-CN" altLang="en-GB" sz="1800" dirty="0" smtClean="0">
                <a:latin typeface="宋体" panose="02000500000000000000" pitchFamily="2" charset="-122"/>
              </a:rPr>
              <a:t>控制器</a:t>
            </a:r>
            <a:r>
              <a:rPr lang="zh-CN" altLang="en-US" sz="1800" dirty="0" smtClean="0">
                <a:latin typeface="宋体" panose="02000500000000000000" pitchFamily="2" charset="-122"/>
              </a:rPr>
              <a:t>（含高速缓存）</a:t>
            </a:r>
            <a:r>
              <a:rPr lang="zh-CN" altLang="en-GB" sz="1800" dirty="0" smtClean="0">
                <a:latin typeface="宋体" panose="02000500000000000000" pitchFamily="2" charset="-122"/>
              </a:rPr>
              <a:t>+运算器</a:t>
            </a:r>
            <a:r>
              <a:rPr lang="zh-CN" altLang="en-US" sz="1800" dirty="0" smtClean="0">
                <a:latin typeface="宋体" panose="02000500000000000000" pitchFamily="2" charset="-122"/>
              </a:rPr>
              <a:t>，</a:t>
            </a:r>
            <a:r>
              <a:rPr lang="en-US" altLang="zh-CN" sz="1800" dirty="0" smtClean="0">
                <a:latin typeface="宋体" panose="02000500000000000000" pitchFamily="2" charset="-122"/>
              </a:rPr>
              <a:t>Cache</a:t>
            </a:r>
            <a:r>
              <a:rPr lang="zh-CN" altLang="en-US" sz="1800" dirty="0" smtClean="0">
                <a:latin typeface="宋体" panose="02000500000000000000" pitchFamily="2" charset="-122"/>
              </a:rPr>
              <a:t>没有指令功能的意义</a:t>
            </a:r>
            <a:endParaRPr lang="zh-CN" altLang="en-GB" sz="1800" dirty="0" smtClean="0">
              <a:solidFill>
                <a:srgbClr val="FF0000"/>
              </a:solidFill>
              <a:latin typeface="宋体" panose="02000500000000000000" pitchFamily="2"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02500" y="1174315"/>
            <a:ext cx="3906608" cy="32134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灯片编号占位符 3"/>
          <p:cNvSpPr>
            <a:spLocks noGrp="1" noChangeArrowheads="1"/>
          </p:cNvSpPr>
          <p:nvPr>
            <p:ph type="sldNum" sz="quarter" idx="12"/>
          </p:nvPr>
        </p:nvSpPr>
        <p:spPr>
          <a:noFill/>
        </p:spPr>
        <p:txBody>
          <a:bodyPr/>
          <a:lstStyle/>
          <a:p>
            <a:fld id="{122CF68E-9172-4C4E-8A48-CD9416896321}" type="slidenum">
              <a:rPr lang="en-US" altLang="zh-CN" smtClean="0"/>
            </a:fld>
            <a:endParaRPr lang="en-US" altLang="zh-CN" smtClean="0"/>
          </a:p>
        </p:txBody>
      </p:sp>
      <p:graphicFrame>
        <p:nvGraphicFramePr>
          <p:cNvPr id="1026" name="Object 4"/>
          <p:cNvGraphicFramePr/>
          <p:nvPr/>
        </p:nvGraphicFramePr>
        <p:xfrm>
          <a:off x="5419725" y="2068513"/>
          <a:ext cx="1322388" cy="889000"/>
        </p:xfrm>
        <a:graphic>
          <a:graphicData uri="http://schemas.openxmlformats.org/presentationml/2006/ole">
            <mc:AlternateContent xmlns:mc="http://schemas.openxmlformats.org/markup-compatibility/2006">
              <mc:Choice xmlns:v="urn:schemas-microsoft-com:vml" Requires="v">
                <p:oleObj spid="_x0000_s1025" name="" r:id="rId1" imgW="3057525" imgH="3771900" progId="">
                  <p:embed/>
                </p:oleObj>
              </mc:Choice>
              <mc:Fallback>
                <p:oleObj name="" r:id="rId1" imgW="3057525" imgH="3771900" progId="">
                  <p:embed/>
                  <p:pic>
                    <p:nvPicPr>
                      <p:cNvPr id="0" name="Object 4"/>
                      <p:cNvPicPr/>
                      <p:nvPr/>
                    </p:nvPicPr>
                    <p:blipFill>
                      <a:blip r:embed="rId2"/>
                      <a:stretch>
                        <a:fillRect/>
                      </a:stretch>
                    </p:blipFill>
                    <p:spPr>
                      <a:xfrm>
                        <a:off x="5419725" y="2068513"/>
                        <a:ext cx="1322388" cy="889000"/>
                      </a:xfrm>
                      <a:prstGeom prst="rect">
                        <a:avLst/>
                      </a:prstGeom>
                      <a:noFill/>
                      <a:ln w="38100">
                        <a:noFill/>
                      </a:ln>
                    </p:spPr>
                  </p:pic>
                </p:oleObj>
              </mc:Fallback>
            </mc:AlternateContent>
          </a:graphicData>
        </a:graphic>
      </p:graphicFrame>
      <p:graphicFrame>
        <p:nvGraphicFramePr>
          <p:cNvPr id="1027" name="Object 5"/>
          <p:cNvGraphicFramePr/>
          <p:nvPr/>
        </p:nvGraphicFramePr>
        <p:xfrm>
          <a:off x="5527675" y="3475038"/>
          <a:ext cx="1168400" cy="571500"/>
        </p:xfrm>
        <a:graphic>
          <a:graphicData uri="http://schemas.openxmlformats.org/presentationml/2006/ole">
            <mc:AlternateContent xmlns:mc="http://schemas.openxmlformats.org/markup-compatibility/2006">
              <mc:Choice xmlns:v="urn:schemas-microsoft-com:vml" Requires="v">
                <p:oleObj spid="_x0000_s2" name="" r:id="rId3" imgW="3057525" imgH="3057525" progId="">
                  <p:embed/>
                </p:oleObj>
              </mc:Choice>
              <mc:Fallback>
                <p:oleObj name="" r:id="rId3" imgW="3057525" imgH="3057525" progId="">
                  <p:embed/>
                  <p:pic>
                    <p:nvPicPr>
                      <p:cNvPr id="0" name="Object 5"/>
                      <p:cNvPicPr/>
                      <p:nvPr/>
                    </p:nvPicPr>
                    <p:blipFill>
                      <a:blip r:embed="rId4"/>
                      <a:stretch>
                        <a:fillRect/>
                      </a:stretch>
                    </p:blipFill>
                    <p:spPr>
                      <a:xfrm>
                        <a:off x="5527675" y="3475038"/>
                        <a:ext cx="1168400" cy="571500"/>
                      </a:xfrm>
                      <a:prstGeom prst="rect">
                        <a:avLst/>
                      </a:prstGeom>
                      <a:noFill/>
                      <a:ln w="38100">
                        <a:noFill/>
                      </a:ln>
                    </p:spPr>
                  </p:pic>
                </p:oleObj>
              </mc:Fallback>
            </mc:AlternateContent>
          </a:graphicData>
        </a:graphic>
      </p:graphicFrame>
      <p:graphicFrame>
        <p:nvGraphicFramePr>
          <p:cNvPr id="1028" name="Object 6"/>
          <p:cNvGraphicFramePr/>
          <p:nvPr/>
        </p:nvGraphicFramePr>
        <p:xfrm>
          <a:off x="8543925" y="3421063"/>
          <a:ext cx="1800225" cy="781050"/>
        </p:xfrm>
        <a:graphic>
          <a:graphicData uri="http://schemas.openxmlformats.org/presentationml/2006/ole">
            <mc:AlternateContent xmlns:mc="http://schemas.openxmlformats.org/markup-compatibility/2006">
              <mc:Choice xmlns:v="urn:schemas-microsoft-com:vml" Requires="v">
                <p:oleObj spid="_x0000_s3" name="" r:id="rId5" imgW="4257675" imgH="2466975" progId="">
                  <p:embed/>
                </p:oleObj>
              </mc:Choice>
              <mc:Fallback>
                <p:oleObj name="" r:id="rId5" imgW="4257675" imgH="2466975" progId="">
                  <p:embed/>
                  <p:pic>
                    <p:nvPicPr>
                      <p:cNvPr id="0" name="Object 6"/>
                      <p:cNvPicPr/>
                      <p:nvPr/>
                    </p:nvPicPr>
                    <p:blipFill>
                      <a:blip r:embed="rId6"/>
                      <a:stretch>
                        <a:fillRect/>
                      </a:stretch>
                    </p:blipFill>
                    <p:spPr>
                      <a:xfrm>
                        <a:off x="8543925" y="3421063"/>
                        <a:ext cx="1800225" cy="781050"/>
                      </a:xfrm>
                      <a:prstGeom prst="rect">
                        <a:avLst/>
                      </a:prstGeom>
                      <a:noFill/>
                      <a:ln w="38100">
                        <a:noFill/>
                      </a:ln>
                    </p:spPr>
                  </p:pic>
                </p:oleObj>
              </mc:Fallback>
            </mc:AlternateContent>
          </a:graphicData>
        </a:graphic>
      </p:graphicFrame>
      <p:graphicFrame>
        <p:nvGraphicFramePr>
          <p:cNvPr id="1029" name="Object 7"/>
          <p:cNvGraphicFramePr/>
          <p:nvPr/>
        </p:nvGraphicFramePr>
        <p:xfrm>
          <a:off x="2452688" y="3335338"/>
          <a:ext cx="1274762" cy="866775"/>
        </p:xfrm>
        <a:graphic>
          <a:graphicData uri="http://schemas.openxmlformats.org/presentationml/2006/ole">
            <mc:AlternateContent xmlns:mc="http://schemas.openxmlformats.org/markup-compatibility/2006">
              <mc:Choice xmlns:v="urn:schemas-microsoft-com:vml" Requires="v">
                <p:oleObj spid="_x0000_s4" name="" r:id="rId7" imgW="3305175" imgH="3000375" progId="">
                  <p:embed/>
                </p:oleObj>
              </mc:Choice>
              <mc:Fallback>
                <p:oleObj name="" r:id="rId7" imgW="3305175" imgH="3000375" progId="">
                  <p:embed/>
                  <p:pic>
                    <p:nvPicPr>
                      <p:cNvPr id="0" name="Object 7"/>
                      <p:cNvPicPr/>
                      <p:nvPr/>
                    </p:nvPicPr>
                    <p:blipFill>
                      <a:blip r:embed="rId8"/>
                      <a:stretch>
                        <a:fillRect/>
                      </a:stretch>
                    </p:blipFill>
                    <p:spPr>
                      <a:xfrm>
                        <a:off x="2452688" y="3335338"/>
                        <a:ext cx="1274762" cy="866775"/>
                      </a:xfrm>
                      <a:prstGeom prst="rect">
                        <a:avLst/>
                      </a:prstGeom>
                      <a:noFill/>
                      <a:ln w="38100">
                        <a:noFill/>
                      </a:ln>
                    </p:spPr>
                  </p:pic>
                </p:oleObj>
              </mc:Fallback>
            </mc:AlternateContent>
          </a:graphicData>
        </a:graphic>
      </p:graphicFrame>
      <p:graphicFrame>
        <p:nvGraphicFramePr>
          <p:cNvPr id="1030" name="Object 8"/>
          <p:cNvGraphicFramePr/>
          <p:nvPr/>
        </p:nvGraphicFramePr>
        <p:xfrm>
          <a:off x="6437313" y="5181600"/>
          <a:ext cx="1471612" cy="676275"/>
        </p:xfrm>
        <a:graphic>
          <a:graphicData uri="http://schemas.openxmlformats.org/presentationml/2006/ole">
            <mc:AlternateContent xmlns:mc="http://schemas.openxmlformats.org/markup-compatibility/2006">
              <mc:Choice xmlns:v="urn:schemas-microsoft-com:vml" Requires="v">
                <p:oleObj spid="_x0000_s5" name="" r:id="rId9" imgW="6629400" imgH="4076700" progId="">
                  <p:embed/>
                </p:oleObj>
              </mc:Choice>
              <mc:Fallback>
                <p:oleObj name="" r:id="rId9" imgW="6629400" imgH="4076700" progId="">
                  <p:embed/>
                  <p:pic>
                    <p:nvPicPr>
                      <p:cNvPr id="0" name="Object 8"/>
                      <p:cNvPicPr/>
                      <p:nvPr/>
                    </p:nvPicPr>
                    <p:blipFill>
                      <a:blip r:embed="rId10"/>
                      <a:stretch>
                        <a:fillRect/>
                      </a:stretch>
                    </p:blipFill>
                    <p:spPr>
                      <a:xfrm>
                        <a:off x="6437313" y="5181600"/>
                        <a:ext cx="1471612" cy="676275"/>
                      </a:xfrm>
                      <a:prstGeom prst="rect">
                        <a:avLst/>
                      </a:prstGeom>
                      <a:noFill/>
                      <a:ln w="38100">
                        <a:noFill/>
                      </a:ln>
                    </p:spPr>
                  </p:pic>
                </p:oleObj>
              </mc:Fallback>
            </mc:AlternateContent>
          </a:graphicData>
        </a:graphic>
      </p:graphicFrame>
      <p:graphicFrame>
        <p:nvGraphicFramePr>
          <p:cNvPr id="1031" name="Object 9"/>
          <p:cNvGraphicFramePr/>
          <p:nvPr/>
        </p:nvGraphicFramePr>
        <p:xfrm>
          <a:off x="4314825" y="5129213"/>
          <a:ext cx="1084263" cy="755650"/>
        </p:xfrm>
        <a:graphic>
          <a:graphicData uri="http://schemas.openxmlformats.org/presentationml/2006/ole">
            <mc:AlternateContent xmlns:mc="http://schemas.openxmlformats.org/markup-compatibility/2006">
              <mc:Choice xmlns:v="urn:schemas-microsoft-com:vml" Requires="v">
                <p:oleObj spid="_x0000_s6" name="" r:id="rId11" imgW="3057525" imgH="3771900" progId="">
                  <p:embed/>
                </p:oleObj>
              </mc:Choice>
              <mc:Fallback>
                <p:oleObj name="" r:id="rId11" imgW="3057525" imgH="3771900" progId="">
                  <p:embed/>
                  <p:pic>
                    <p:nvPicPr>
                      <p:cNvPr id="0" name="Object 9"/>
                      <p:cNvPicPr/>
                      <p:nvPr/>
                    </p:nvPicPr>
                    <p:blipFill>
                      <a:blip r:embed="rId12"/>
                      <a:stretch>
                        <a:fillRect/>
                      </a:stretch>
                    </p:blipFill>
                    <p:spPr>
                      <a:xfrm>
                        <a:off x="4314825" y="5129213"/>
                        <a:ext cx="1084263" cy="755650"/>
                      </a:xfrm>
                      <a:prstGeom prst="rect">
                        <a:avLst/>
                      </a:prstGeom>
                      <a:noFill/>
                      <a:ln w="38100">
                        <a:noFill/>
                      </a:ln>
                    </p:spPr>
                  </p:pic>
                </p:oleObj>
              </mc:Fallback>
            </mc:AlternateContent>
          </a:graphicData>
        </a:graphic>
      </p:graphicFrame>
      <p:sp>
        <p:nvSpPr>
          <p:cNvPr id="1033" name="Rectangle 10"/>
          <p:cNvSpPr>
            <a:spLocks noChangeArrowheads="1"/>
          </p:cNvSpPr>
          <p:nvPr/>
        </p:nvSpPr>
        <p:spPr bwMode="auto">
          <a:xfrm>
            <a:off x="5372100" y="1692275"/>
            <a:ext cx="1685925" cy="366713"/>
          </a:xfrm>
          <a:prstGeom prst="rect">
            <a:avLst/>
          </a:prstGeom>
          <a:no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外存储器</a:t>
            </a:r>
            <a:endParaRPr lang="zh-CN" altLang="en-US" sz="1800">
              <a:solidFill>
                <a:schemeClr val="tx2"/>
              </a:solidFill>
              <a:latin typeface="Arial" panose="02080604020202020204" pitchFamily="34" charset="0"/>
              <a:ea typeface="黑体" panose="02000500000000000000" pitchFamily="49" charset="-122"/>
            </a:endParaRPr>
          </a:p>
        </p:txBody>
      </p:sp>
      <p:sp>
        <p:nvSpPr>
          <p:cNvPr id="1034" name="Rectangle 11"/>
          <p:cNvSpPr>
            <a:spLocks noChangeArrowheads="1"/>
          </p:cNvSpPr>
          <p:nvPr/>
        </p:nvSpPr>
        <p:spPr bwMode="auto">
          <a:xfrm>
            <a:off x="2413000" y="2962275"/>
            <a:ext cx="1657350" cy="366713"/>
          </a:xfrm>
          <a:prstGeom prst="rect">
            <a:avLst/>
          </a:prstGeom>
          <a:solidFill>
            <a:schemeClr val="bg1"/>
          </a:solid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输入设备</a:t>
            </a:r>
            <a:endParaRPr lang="zh-CN" altLang="en-US" sz="1800">
              <a:solidFill>
                <a:schemeClr val="tx2"/>
              </a:solidFill>
              <a:latin typeface="Arial" panose="02080604020202020204" pitchFamily="34" charset="0"/>
              <a:ea typeface="黑体" panose="02000500000000000000" pitchFamily="49" charset="-122"/>
            </a:endParaRPr>
          </a:p>
        </p:txBody>
      </p:sp>
      <p:sp>
        <p:nvSpPr>
          <p:cNvPr id="1035" name="Rectangle 12"/>
          <p:cNvSpPr>
            <a:spLocks noChangeArrowheads="1"/>
          </p:cNvSpPr>
          <p:nvPr/>
        </p:nvSpPr>
        <p:spPr bwMode="auto">
          <a:xfrm>
            <a:off x="8634413" y="2971800"/>
            <a:ext cx="1662112" cy="366713"/>
          </a:xfrm>
          <a:prstGeom prst="rect">
            <a:avLst/>
          </a:prstGeom>
          <a:solidFill>
            <a:schemeClr val="bg1"/>
          </a:solid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输出设备</a:t>
            </a:r>
            <a:endParaRPr lang="zh-CN" altLang="en-US" sz="1800">
              <a:solidFill>
                <a:schemeClr val="tx2"/>
              </a:solidFill>
              <a:latin typeface="Arial" panose="02080604020202020204" pitchFamily="34" charset="0"/>
              <a:ea typeface="黑体" panose="02000500000000000000" pitchFamily="49" charset="-122"/>
            </a:endParaRPr>
          </a:p>
        </p:txBody>
      </p:sp>
      <p:sp>
        <p:nvSpPr>
          <p:cNvPr id="1036" name="Rectangle 13"/>
          <p:cNvSpPr>
            <a:spLocks noChangeArrowheads="1"/>
          </p:cNvSpPr>
          <p:nvPr/>
        </p:nvSpPr>
        <p:spPr bwMode="auto">
          <a:xfrm>
            <a:off x="3486150" y="5799138"/>
            <a:ext cx="1341438" cy="366712"/>
          </a:xfrm>
          <a:prstGeom prst="rect">
            <a:avLst/>
          </a:prstGeom>
          <a:no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控制器</a:t>
            </a:r>
            <a:endParaRPr lang="zh-CN" altLang="en-US" sz="1800">
              <a:solidFill>
                <a:schemeClr val="tx2"/>
              </a:solidFill>
              <a:latin typeface="Arial" panose="02080604020202020204" pitchFamily="34" charset="0"/>
              <a:ea typeface="黑体" panose="02000500000000000000" pitchFamily="49" charset="-122"/>
            </a:endParaRPr>
          </a:p>
        </p:txBody>
      </p:sp>
      <p:sp>
        <p:nvSpPr>
          <p:cNvPr id="1037" name="Rectangle 14"/>
          <p:cNvSpPr>
            <a:spLocks noChangeArrowheads="1"/>
          </p:cNvSpPr>
          <p:nvPr/>
        </p:nvSpPr>
        <p:spPr bwMode="auto">
          <a:xfrm>
            <a:off x="6669088" y="5773738"/>
            <a:ext cx="1341437" cy="366712"/>
          </a:xfrm>
          <a:prstGeom prst="rect">
            <a:avLst/>
          </a:prstGeom>
          <a:no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运算器</a:t>
            </a:r>
            <a:endParaRPr lang="zh-CN" altLang="en-US" sz="1800">
              <a:solidFill>
                <a:schemeClr val="tx2"/>
              </a:solidFill>
              <a:latin typeface="Arial" panose="02080604020202020204" pitchFamily="34" charset="0"/>
              <a:ea typeface="黑体" panose="02000500000000000000" pitchFamily="49" charset="-122"/>
            </a:endParaRPr>
          </a:p>
        </p:txBody>
      </p:sp>
      <p:sp>
        <p:nvSpPr>
          <p:cNvPr id="1038" name="Line 15"/>
          <p:cNvSpPr>
            <a:spLocks noChangeShapeType="1"/>
          </p:cNvSpPr>
          <p:nvPr/>
        </p:nvSpPr>
        <p:spPr bwMode="auto">
          <a:xfrm flipV="1">
            <a:off x="3638550" y="3754438"/>
            <a:ext cx="1831975" cy="0"/>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39" name="Line 16"/>
          <p:cNvSpPr>
            <a:spLocks noChangeShapeType="1"/>
          </p:cNvSpPr>
          <p:nvPr/>
        </p:nvSpPr>
        <p:spPr bwMode="auto">
          <a:xfrm>
            <a:off x="6797675" y="3779838"/>
            <a:ext cx="1651000" cy="4762"/>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0" name="Line 17"/>
          <p:cNvSpPr>
            <a:spLocks noChangeShapeType="1"/>
          </p:cNvSpPr>
          <p:nvPr/>
        </p:nvSpPr>
        <p:spPr bwMode="auto">
          <a:xfrm>
            <a:off x="6080125" y="2992438"/>
            <a:ext cx="0" cy="438150"/>
          </a:xfrm>
          <a:prstGeom prst="line">
            <a:avLst/>
          </a:prstGeom>
          <a:noFill/>
          <a:ln w="38100" cmpd="dbl">
            <a:solidFill>
              <a:schemeClr val="tx2"/>
            </a:solidFill>
            <a:round/>
            <a:headEnd type="stealth" w="med" len="med"/>
            <a:tailEnd type="stealth" w="med" len="med"/>
          </a:ln>
        </p:spPr>
        <p:txBody>
          <a:bodyPr/>
          <a:lstStyle/>
          <a:p>
            <a:endParaRPr lang="zh-CN" altLang="en-US"/>
          </a:p>
        </p:txBody>
      </p:sp>
      <p:sp>
        <p:nvSpPr>
          <p:cNvPr id="1041" name="Line 18"/>
          <p:cNvSpPr>
            <a:spLocks noChangeShapeType="1"/>
          </p:cNvSpPr>
          <p:nvPr/>
        </p:nvSpPr>
        <p:spPr bwMode="auto">
          <a:xfrm>
            <a:off x="4851400" y="3935413"/>
            <a:ext cx="593725" cy="0"/>
          </a:xfrm>
          <a:prstGeom prst="line">
            <a:avLst/>
          </a:prstGeom>
          <a:noFill/>
          <a:ln w="38100" cmpd="dbl">
            <a:solidFill>
              <a:schemeClr val="tx2"/>
            </a:solidFill>
            <a:round/>
            <a:headEnd type="none" w="sm" len="sm"/>
            <a:tailEnd type="none" w="sm" len="sm"/>
          </a:ln>
        </p:spPr>
        <p:txBody>
          <a:bodyPr/>
          <a:lstStyle/>
          <a:p>
            <a:endParaRPr lang="zh-CN" altLang="en-US"/>
          </a:p>
        </p:txBody>
      </p:sp>
      <p:sp>
        <p:nvSpPr>
          <p:cNvPr id="1042" name="Line 19"/>
          <p:cNvSpPr>
            <a:spLocks noChangeShapeType="1"/>
          </p:cNvSpPr>
          <p:nvPr/>
        </p:nvSpPr>
        <p:spPr bwMode="auto">
          <a:xfrm>
            <a:off x="4848225" y="3935413"/>
            <a:ext cx="0" cy="1214437"/>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3" name="Line 20"/>
          <p:cNvSpPr>
            <a:spLocks noChangeShapeType="1"/>
          </p:cNvSpPr>
          <p:nvPr/>
        </p:nvSpPr>
        <p:spPr bwMode="auto">
          <a:xfrm flipH="1">
            <a:off x="6759575" y="3973513"/>
            <a:ext cx="598488" cy="0"/>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4" name="Line 21"/>
          <p:cNvSpPr>
            <a:spLocks noChangeShapeType="1"/>
          </p:cNvSpPr>
          <p:nvPr/>
        </p:nvSpPr>
        <p:spPr bwMode="auto">
          <a:xfrm flipH="1">
            <a:off x="7351713" y="3973513"/>
            <a:ext cx="6350" cy="1173162"/>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5" name="Line 22"/>
          <p:cNvSpPr>
            <a:spLocks noChangeShapeType="1"/>
          </p:cNvSpPr>
          <p:nvPr/>
        </p:nvSpPr>
        <p:spPr bwMode="auto">
          <a:xfrm>
            <a:off x="1760538" y="3754438"/>
            <a:ext cx="736600" cy="0"/>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6" name="Line 23"/>
          <p:cNvSpPr>
            <a:spLocks noChangeShapeType="1"/>
          </p:cNvSpPr>
          <p:nvPr/>
        </p:nvSpPr>
        <p:spPr bwMode="auto">
          <a:xfrm>
            <a:off x="10296525" y="3756025"/>
            <a:ext cx="1081088" cy="6350"/>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47" name="Line 24"/>
          <p:cNvSpPr>
            <a:spLocks noChangeShapeType="1"/>
          </p:cNvSpPr>
          <p:nvPr/>
        </p:nvSpPr>
        <p:spPr bwMode="auto">
          <a:xfrm>
            <a:off x="2879725" y="4217988"/>
            <a:ext cx="0" cy="1285875"/>
          </a:xfrm>
          <a:prstGeom prst="line">
            <a:avLst/>
          </a:prstGeom>
          <a:noFill/>
          <a:ln w="12700">
            <a:solidFill>
              <a:srgbClr val="990000"/>
            </a:solidFill>
            <a:round/>
            <a:headEnd type="stealth" w="med" len="med"/>
            <a:tailEnd type="none" w="sm" len="sm"/>
          </a:ln>
        </p:spPr>
        <p:txBody>
          <a:bodyPr/>
          <a:lstStyle/>
          <a:p>
            <a:endParaRPr lang="zh-CN" altLang="en-US"/>
          </a:p>
        </p:txBody>
      </p:sp>
      <p:sp>
        <p:nvSpPr>
          <p:cNvPr id="1048" name="Line 25"/>
          <p:cNvSpPr>
            <a:spLocks noChangeShapeType="1"/>
          </p:cNvSpPr>
          <p:nvPr/>
        </p:nvSpPr>
        <p:spPr bwMode="auto">
          <a:xfrm flipV="1">
            <a:off x="2878138" y="5494338"/>
            <a:ext cx="1401762" cy="4762"/>
          </a:xfrm>
          <a:prstGeom prst="line">
            <a:avLst/>
          </a:prstGeom>
          <a:noFill/>
          <a:ln w="12700">
            <a:solidFill>
              <a:srgbClr val="990000"/>
            </a:solidFill>
            <a:round/>
            <a:headEnd type="none" w="sm" len="sm"/>
            <a:tailEnd type="stealth" w="med" len="med"/>
          </a:ln>
        </p:spPr>
        <p:txBody>
          <a:bodyPr/>
          <a:lstStyle/>
          <a:p>
            <a:endParaRPr lang="zh-CN" altLang="en-US"/>
          </a:p>
        </p:txBody>
      </p:sp>
      <p:sp>
        <p:nvSpPr>
          <p:cNvPr id="1049" name="Line 26"/>
          <p:cNvSpPr>
            <a:spLocks noChangeShapeType="1"/>
          </p:cNvSpPr>
          <p:nvPr/>
        </p:nvSpPr>
        <p:spPr bwMode="auto">
          <a:xfrm>
            <a:off x="5418138" y="5278438"/>
            <a:ext cx="636587" cy="0"/>
          </a:xfrm>
          <a:prstGeom prst="line">
            <a:avLst/>
          </a:prstGeom>
          <a:noFill/>
          <a:ln w="12700">
            <a:solidFill>
              <a:srgbClr val="990000"/>
            </a:solidFill>
            <a:round/>
            <a:headEnd type="stealth" w="med" len="med"/>
            <a:tailEnd type="none" w="sm" len="sm"/>
          </a:ln>
        </p:spPr>
        <p:txBody>
          <a:bodyPr/>
          <a:lstStyle/>
          <a:p>
            <a:endParaRPr lang="zh-CN" altLang="en-US"/>
          </a:p>
        </p:txBody>
      </p:sp>
      <p:sp>
        <p:nvSpPr>
          <p:cNvPr id="1050" name="Line 27"/>
          <p:cNvSpPr>
            <a:spLocks noChangeShapeType="1"/>
          </p:cNvSpPr>
          <p:nvPr/>
        </p:nvSpPr>
        <p:spPr bwMode="auto">
          <a:xfrm>
            <a:off x="9394825" y="4237038"/>
            <a:ext cx="0" cy="1939925"/>
          </a:xfrm>
          <a:prstGeom prst="line">
            <a:avLst/>
          </a:prstGeom>
          <a:noFill/>
          <a:ln w="12700">
            <a:solidFill>
              <a:srgbClr val="990000"/>
            </a:solidFill>
            <a:round/>
            <a:headEnd type="stealth" w="med" len="med"/>
            <a:tailEnd type="none" w="sm" len="sm"/>
          </a:ln>
        </p:spPr>
        <p:txBody>
          <a:bodyPr/>
          <a:lstStyle/>
          <a:p>
            <a:endParaRPr lang="zh-CN" altLang="en-US"/>
          </a:p>
        </p:txBody>
      </p:sp>
      <p:sp>
        <p:nvSpPr>
          <p:cNvPr id="1051" name="Line 28"/>
          <p:cNvSpPr>
            <a:spLocks noChangeShapeType="1"/>
          </p:cNvSpPr>
          <p:nvPr/>
        </p:nvSpPr>
        <p:spPr bwMode="auto">
          <a:xfrm>
            <a:off x="5411788" y="5489575"/>
            <a:ext cx="1017587" cy="4763"/>
          </a:xfrm>
          <a:prstGeom prst="line">
            <a:avLst/>
          </a:prstGeom>
          <a:noFill/>
          <a:ln w="12700">
            <a:solidFill>
              <a:srgbClr val="990000"/>
            </a:solidFill>
            <a:round/>
            <a:headEnd type="stealth" w="med" len="med"/>
            <a:tailEnd type="stealth" w="med" len="med"/>
          </a:ln>
        </p:spPr>
        <p:txBody>
          <a:bodyPr/>
          <a:lstStyle/>
          <a:p>
            <a:endParaRPr lang="zh-CN" altLang="en-US"/>
          </a:p>
        </p:txBody>
      </p:sp>
      <p:sp>
        <p:nvSpPr>
          <p:cNvPr id="1052" name="Line 29"/>
          <p:cNvSpPr>
            <a:spLocks noChangeShapeType="1"/>
          </p:cNvSpPr>
          <p:nvPr/>
        </p:nvSpPr>
        <p:spPr bwMode="auto">
          <a:xfrm>
            <a:off x="1217613" y="2544763"/>
            <a:ext cx="4189412" cy="0"/>
          </a:xfrm>
          <a:prstGeom prst="line">
            <a:avLst/>
          </a:prstGeom>
          <a:noFill/>
          <a:ln w="12700">
            <a:solidFill>
              <a:srgbClr val="990000"/>
            </a:solidFill>
            <a:round/>
            <a:headEnd type="none" w="sm" len="sm"/>
            <a:tailEnd type="stealth" w="med" len="med"/>
          </a:ln>
        </p:spPr>
        <p:txBody>
          <a:bodyPr/>
          <a:lstStyle/>
          <a:p>
            <a:endParaRPr lang="zh-CN" altLang="en-US"/>
          </a:p>
        </p:txBody>
      </p:sp>
      <p:sp>
        <p:nvSpPr>
          <p:cNvPr id="1053" name="Line 30"/>
          <p:cNvSpPr>
            <a:spLocks noChangeShapeType="1"/>
          </p:cNvSpPr>
          <p:nvPr/>
        </p:nvSpPr>
        <p:spPr bwMode="auto">
          <a:xfrm flipH="1">
            <a:off x="1217613" y="2554288"/>
            <a:ext cx="6350" cy="3595687"/>
          </a:xfrm>
          <a:prstGeom prst="line">
            <a:avLst/>
          </a:prstGeom>
          <a:noFill/>
          <a:ln w="12700">
            <a:solidFill>
              <a:srgbClr val="990000"/>
            </a:solidFill>
            <a:round/>
            <a:headEnd type="none" w="sm" len="sm"/>
            <a:tailEnd type="none" w="sm" len="sm"/>
          </a:ln>
        </p:spPr>
        <p:txBody>
          <a:bodyPr/>
          <a:lstStyle/>
          <a:p>
            <a:endParaRPr lang="zh-CN" altLang="en-US"/>
          </a:p>
        </p:txBody>
      </p:sp>
      <p:sp>
        <p:nvSpPr>
          <p:cNvPr id="1054" name="Line 31"/>
          <p:cNvSpPr>
            <a:spLocks noChangeShapeType="1"/>
          </p:cNvSpPr>
          <p:nvPr/>
        </p:nvSpPr>
        <p:spPr bwMode="auto">
          <a:xfrm>
            <a:off x="1217613" y="6151563"/>
            <a:ext cx="3508375" cy="0"/>
          </a:xfrm>
          <a:prstGeom prst="line">
            <a:avLst/>
          </a:prstGeom>
          <a:noFill/>
          <a:ln w="12700">
            <a:solidFill>
              <a:srgbClr val="990000"/>
            </a:solidFill>
            <a:round/>
            <a:headEnd type="none" w="sm" len="sm"/>
            <a:tailEnd type="none" w="sm" len="sm"/>
          </a:ln>
        </p:spPr>
        <p:txBody>
          <a:bodyPr/>
          <a:lstStyle/>
          <a:p>
            <a:endParaRPr lang="zh-CN" altLang="en-US"/>
          </a:p>
        </p:txBody>
      </p:sp>
      <p:sp>
        <p:nvSpPr>
          <p:cNvPr id="1055" name="Line 32"/>
          <p:cNvSpPr>
            <a:spLocks noChangeShapeType="1"/>
          </p:cNvSpPr>
          <p:nvPr/>
        </p:nvSpPr>
        <p:spPr bwMode="auto">
          <a:xfrm>
            <a:off x="4733925" y="5884863"/>
            <a:ext cx="0" cy="257175"/>
          </a:xfrm>
          <a:prstGeom prst="line">
            <a:avLst/>
          </a:prstGeom>
          <a:noFill/>
          <a:ln w="12700">
            <a:solidFill>
              <a:srgbClr val="990000"/>
            </a:solidFill>
            <a:round/>
            <a:headEnd type="stealth" w="med" len="med"/>
            <a:tailEnd type="none" w="sm" len="sm"/>
          </a:ln>
        </p:spPr>
        <p:txBody>
          <a:bodyPr/>
          <a:lstStyle/>
          <a:p>
            <a:endParaRPr lang="zh-CN" altLang="en-US"/>
          </a:p>
        </p:txBody>
      </p:sp>
      <p:sp>
        <p:nvSpPr>
          <p:cNvPr id="1056" name="Line 33"/>
          <p:cNvSpPr>
            <a:spLocks noChangeShapeType="1"/>
          </p:cNvSpPr>
          <p:nvPr/>
        </p:nvSpPr>
        <p:spPr bwMode="auto">
          <a:xfrm>
            <a:off x="6046788" y="4037013"/>
            <a:ext cx="0" cy="1249362"/>
          </a:xfrm>
          <a:prstGeom prst="line">
            <a:avLst/>
          </a:prstGeom>
          <a:noFill/>
          <a:ln w="12700">
            <a:solidFill>
              <a:srgbClr val="990000"/>
            </a:solidFill>
            <a:round/>
            <a:headEnd type="stealth" w="med" len="med"/>
            <a:tailEnd type="none" w="sm" len="sm"/>
          </a:ln>
        </p:spPr>
        <p:txBody>
          <a:bodyPr/>
          <a:lstStyle/>
          <a:p>
            <a:endParaRPr lang="zh-CN" altLang="en-US"/>
          </a:p>
        </p:txBody>
      </p:sp>
      <p:sp>
        <p:nvSpPr>
          <p:cNvPr id="477218" name="Rectangle 34"/>
          <p:cNvSpPr>
            <a:spLocks noChangeArrowheads="1"/>
          </p:cNvSpPr>
          <p:nvPr/>
        </p:nvSpPr>
        <p:spPr bwMode="auto">
          <a:xfrm>
            <a:off x="10337800" y="1362075"/>
            <a:ext cx="960438" cy="400050"/>
          </a:xfrm>
          <a:prstGeom prst="rect">
            <a:avLst/>
          </a:prstGeom>
          <a:noFill/>
          <a:ln w="9525">
            <a:noFill/>
            <a:miter lim="800000"/>
          </a:ln>
          <a:effectLst/>
        </p:spPr>
        <p:txBody>
          <a:bodyPr wrap="none" lIns="92075" tIns="46038" rIns="92075" bIns="46038">
            <a:spAutoFit/>
          </a:bodyPr>
          <a:lstStyle/>
          <a:p>
            <a:pPr eaLnBrk="0" hangingPunct="0">
              <a:spcBef>
                <a:spcPct val="0"/>
              </a:spcBef>
              <a:defRPr/>
            </a:pPr>
            <a:r>
              <a:rPr kumimoji="1" lang="zh-CN" altLang="en-US" sz="2000" b="1">
                <a:effectLst>
                  <a:outerShdw blurRad="38100" dist="38100" dir="2700000" algn="tl">
                    <a:srgbClr val="C0C0C0"/>
                  </a:outerShdw>
                </a:effectLst>
                <a:latin typeface="Arial" panose="02080604020202020204" pitchFamily="34" charset="0"/>
                <a:ea typeface="黑体" panose="02000500000000000000" pitchFamily="49" charset="-122"/>
              </a:rPr>
              <a:t>数据线</a:t>
            </a:r>
            <a:endParaRPr kumimoji="1" lang="zh-CN" altLang="en-US" sz="2000" b="1">
              <a:effectLst>
                <a:outerShdw blurRad="38100" dist="38100" dir="2700000" algn="tl">
                  <a:srgbClr val="C0C0C0"/>
                </a:outerShdw>
              </a:effectLst>
              <a:latin typeface="Arial" panose="02080604020202020204" pitchFamily="34" charset="0"/>
              <a:ea typeface="黑体" panose="02000500000000000000" pitchFamily="49" charset="-122"/>
            </a:endParaRPr>
          </a:p>
        </p:txBody>
      </p:sp>
      <p:grpSp>
        <p:nvGrpSpPr>
          <p:cNvPr id="1058" name="Group 35"/>
          <p:cNvGrpSpPr/>
          <p:nvPr/>
        </p:nvGrpSpPr>
        <p:grpSpPr bwMode="auto">
          <a:xfrm>
            <a:off x="9477375" y="1525588"/>
            <a:ext cx="1835150" cy="841375"/>
            <a:chOff x="4478" y="961"/>
            <a:chExt cx="867" cy="530"/>
          </a:xfrm>
        </p:grpSpPr>
        <p:sp>
          <p:nvSpPr>
            <p:cNvPr id="1067" name="Line 36"/>
            <p:cNvSpPr>
              <a:spLocks noChangeShapeType="1"/>
            </p:cNvSpPr>
            <p:nvPr/>
          </p:nvSpPr>
          <p:spPr bwMode="auto">
            <a:xfrm>
              <a:off x="4478" y="961"/>
              <a:ext cx="348" cy="0"/>
            </a:xfrm>
            <a:prstGeom prst="line">
              <a:avLst/>
            </a:prstGeom>
            <a:noFill/>
            <a:ln w="38100" cmpd="dbl">
              <a:solidFill>
                <a:schemeClr val="tx2"/>
              </a:solidFill>
              <a:round/>
              <a:headEnd type="none" w="sm" len="sm"/>
              <a:tailEnd type="stealth" w="med" len="med"/>
            </a:ln>
          </p:spPr>
          <p:txBody>
            <a:bodyPr/>
            <a:lstStyle/>
            <a:p>
              <a:endParaRPr lang="zh-CN" altLang="en-US"/>
            </a:p>
          </p:txBody>
        </p:sp>
        <p:sp>
          <p:nvSpPr>
            <p:cNvPr id="1068" name="Line 37"/>
            <p:cNvSpPr>
              <a:spLocks noChangeShapeType="1"/>
            </p:cNvSpPr>
            <p:nvPr/>
          </p:nvSpPr>
          <p:spPr bwMode="auto">
            <a:xfrm>
              <a:off x="4478" y="1321"/>
              <a:ext cx="348" cy="0"/>
            </a:xfrm>
            <a:prstGeom prst="line">
              <a:avLst/>
            </a:prstGeom>
            <a:noFill/>
            <a:ln w="12700">
              <a:solidFill>
                <a:srgbClr val="990000"/>
              </a:solidFill>
              <a:round/>
              <a:headEnd type="none" w="sm" len="sm"/>
              <a:tailEnd type="stealth" w="med" len="med"/>
            </a:ln>
          </p:spPr>
          <p:txBody>
            <a:bodyPr/>
            <a:lstStyle/>
            <a:p>
              <a:endParaRPr lang="zh-CN" altLang="en-US"/>
            </a:p>
          </p:txBody>
        </p:sp>
        <p:sp>
          <p:nvSpPr>
            <p:cNvPr id="477222" name="Rectangle 38"/>
            <p:cNvSpPr>
              <a:spLocks noChangeArrowheads="1"/>
            </p:cNvSpPr>
            <p:nvPr/>
          </p:nvSpPr>
          <p:spPr bwMode="auto">
            <a:xfrm>
              <a:off x="4891" y="1239"/>
              <a:ext cx="454" cy="252"/>
            </a:xfrm>
            <a:prstGeom prst="rect">
              <a:avLst/>
            </a:prstGeom>
            <a:noFill/>
            <a:ln w="9525">
              <a:noFill/>
              <a:miter lim="800000"/>
            </a:ln>
            <a:effectLst/>
          </p:spPr>
          <p:txBody>
            <a:bodyPr wrap="none" lIns="92075" tIns="46038" rIns="92075" bIns="46038">
              <a:spAutoFit/>
            </a:bodyPr>
            <a:lstStyle/>
            <a:p>
              <a:pPr eaLnBrk="0" hangingPunct="0">
                <a:spcBef>
                  <a:spcPct val="0"/>
                </a:spcBef>
                <a:defRPr/>
              </a:pPr>
              <a:r>
                <a:rPr kumimoji="1" lang="zh-CN" altLang="en-US" sz="2000" b="1">
                  <a:effectLst>
                    <a:outerShdw blurRad="38100" dist="38100" dir="2700000" algn="tl">
                      <a:srgbClr val="C0C0C0"/>
                    </a:outerShdw>
                  </a:effectLst>
                  <a:latin typeface="Arial" panose="02080604020202020204" pitchFamily="34" charset="0"/>
                  <a:ea typeface="黑体" panose="02000500000000000000" pitchFamily="49" charset="-122"/>
                </a:rPr>
                <a:t>控制线</a:t>
              </a:r>
              <a:endParaRPr kumimoji="1" lang="zh-CN" altLang="en-US" sz="2000" b="1">
                <a:effectLst>
                  <a:outerShdw blurRad="38100" dist="38100" dir="2700000" algn="tl">
                    <a:srgbClr val="C0C0C0"/>
                  </a:outerShdw>
                </a:effectLst>
                <a:latin typeface="Arial" panose="02080604020202020204" pitchFamily="34" charset="0"/>
                <a:ea typeface="黑体" panose="02000500000000000000" pitchFamily="49" charset="-122"/>
              </a:endParaRPr>
            </a:p>
          </p:txBody>
        </p:sp>
      </p:grpSp>
      <p:sp>
        <p:nvSpPr>
          <p:cNvPr id="1059" name="Rectangle 39"/>
          <p:cNvSpPr>
            <a:spLocks noChangeArrowheads="1"/>
          </p:cNvSpPr>
          <p:nvPr/>
        </p:nvSpPr>
        <p:spPr bwMode="auto">
          <a:xfrm>
            <a:off x="3444875" y="4251325"/>
            <a:ext cx="5340350" cy="2041525"/>
          </a:xfrm>
          <a:prstGeom prst="rect">
            <a:avLst/>
          </a:prstGeom>
          <a:noFill/>
          <a:ln w="38100">
            <a:solidFill>
              <a:srgbClr val="FF0000"/>
            </a:solidFill>
            <a:prstDash val="sysDot"/>
            <a:miter lim="800000"/>
          </a:ln>
        </p:spPr>
        <p:txBody>
          <a:bodyPr wrap="none" anchor="ctr"/>
          <a:lstStyle/>
          <a:p>
            <a:endParaRPr lang="zh-CN" altLang="en-US"/>
          </a:p>
        </p:txBody>
      </p:sp>
      <p:sp>
        <p:nvSpPr>
          <p:cNvPr id="477224" name="Rectangle 40"/>
          <p:cNvSpPr>
            <a:spLocks noChangeArrowheads="1"/>
          </p:cNvSpPr>
          <p:nvPr/>
        </p:nvSpPr>
        <p:spPr bwMode="auto">
          <a:xfrm>
            <a:off x="7542213" y="4373563"/>
            <a:ext cx="1198562" cy="461962"/>
          </a:xfrm>
          <a:prstGeom prst="rect">
            <a:avLst/>
          </a:prstGeom>
          <a:noFill/>
          <a:ln w="38100">
            <a:noFill/>
            <a:miter lim="800000"/>
          </a:ln>
          <a:effectLst/>
        </p:spPr>
        <p:txBody>
          <a:bodyPr lIns="92075" tIns="46038" rIns="92075" bIns="46038">
            <a:spAutoFit/>
          </a:bodyPr>
          <a:lstStyle/>
          <a:p>
            <a:pPr eaLnBrk="0" hangingPunct="0">
              <a:spcBef>
                <a:spcPct val="0"/>
              </a:spcBef>
              <a:defRPr/>
            </a:pPr>
            <a:r>
              <a:rPr kumimoji="1" lang="en-US" altLang="zh-CN" sz="2400" b="1">
                <a:solidFill>
                  <a:srgbClr val="FF0033"/>
                </a:solidFill>
                <a:effectLst>
                  <a:outerShdw blurRad="38100" dist="38100" dir="2700000" algn="tl">
                    <a:srgbClr val="C0C0C0"/>
                  </a:outerShdw>
                </a:effectLst>
                <a:latin typeface="Arial" panose="02080604020202020204" pitchFamily="34" charset="0"/>
                <a:ea typeface="黑体" panose="02000500000000000000" pitchFamily="49" charset="-122"/>
              </a:rPr>
              <a:t>CPU</a:t>
            </a:r>
            <a:endParaRPr kumimoji="1" lang="en-US" altLang="zh-CN" sz="2400" b="1">
              <a:solidFill>
                <a:srgbClr val="FF0033"/>
              </a:solidFill>
              <a:effectLst>
                <a:outerShdw blurRad="38100" dist="38100" dir="2700000" algn="tl">
                  <a:srgbClr val="C0C0C0"/>
                </a:outerShdw>
              </a:effectLst>
              <a:latin typeface="Arial" panose="02080604020202020204" pitchFamily="34" charset="0"/>
              <a:ea typeface="黑体" panose="02000500000000000000" pitchFamily="49" charset="-122"/>
            </a:endParaRPr>
          </a:p>
        </p:txBody>
      </p:sp>
      <p:sp>
        <p:nvSpPr>
          <p:cNvPr id="1061" name="Rectangle 41"/>
          <p:cNvSpPr>
            <a:spLocks noChangeArrowheads="1"/>
          </p:cNvSpPr>
          <p:nvPr/>
        </p:nvSpPr>
        <p:spPr bwMode="auto">
          <a:xfrm>
            <a:off x="609600" y="228600"/>
            <a:ext cx="10869613" cy="914400"/>
          </a:xfrm>
          <a:prstGeom prst="rect">
            <a:avLst/>
          </a:prstGeom>
          <a:noFill/>
          <a:ln w="9525">
            <a:noFill/>
            <a:miter lim="800000"/>
          </a:ln>
        </p:spPr>
        <p:txBody>
          <a:bodyPr anchor="b"/>
          <a:lstStyle/>
          <a:p>
            <a:pPr algn="ctr">
              <a:spcBef>
                <a:spcPct val="0"/>
              </a:spcBef>
            </a:pPr>
            <a:r>
              <a:rPr lang="zh-CN" altLang="en-US" sz="3600">
                <a:solidFill>
                  <a:srgbClr val="FF0000"/>
                </a:solidFill>
                <a:latin typeface="Arial" panose="02080604020202020204" pitchFamily="34" charset="0"/>
                <a:ea typeface="黑体" panose="02000500000000000000" pitchFamily="49" charset="-122"/>
              </a:rPr>
              <a:t>计算机硬件系统的组成</a:t>
            </a:r>
            <a:endParaRPr lang="zh-CN" altLang="en-US" sz="3600">
              <a:solidFill>
                <a:srgbClr val="FF0000"/>
              </a:solidFill>
              <a:latin typeface="Arial" panose="02080604020202020204" pitchFamily="34" charset="0"/>
              <a:ea typeface="黑体" panose="02000500000000000000" pitchFamily="49" charset="-122"/>
            </a:endParaRPr>
          </a:p>
        </p:txBody>
      </p:sp>
      <p:sp>
        <p:nvSpPr>
          <p:cNvPr id="1062" name="Rectangle 42"/>
          <p:cNvSpPr>
            <a:spLocks noChangeArrowheads="1"/>
          </p:cNvSpPr>
          <p:nvPr/>
        </p:nvSpPr>
        <p:spPr bwMode="auto">
          <a:xfrm>
            <a:off x="5791200" y="3733800"/>
            <a:ext cx="709613" cy="152400"/>
          </a:xfrm>
          <a:prstGeom prst="rect">
            <a:avLst/>
          </a:prstGeom>
          <a:solidFill>
            <a:schemeClr val="bg1"/>
          </a:solidFill>
          <a:ln w="12700" cap="sq">
            <a:solidFill>
              <a:schemeClr val="bg1"/>
            </a:solidFill>
            <a:miter lim="800000"/>
            <a:headEnd type="none" w="sm" len="sm"/>
            <a:tailEnd type="none" w="sm" len="sm"/>
          </a:ln>
        </p:spPr>
        <p:txBody>
          <a:bodyPr wrap="none" anchor="ctr"/>
          <a:lstStyle/>
          <a:p>
            <a:endParaRPr lang="zh-CN" altLang="en-US"/>
          </a:p>
        </p:txBody>
      </p:sp>
      <p:sp>
        <p:nvSpPr>
          <p:cNvPr id="1063" name="Rectangle 43"/>
          <p:cNvSpPr>
            <a:spLocks noChangeArrowheads="1"/>
          </p:cNvSpPr>
          <p:nvPr/>
        </p:nvSpPr>
        <p:spPr bwMode="auto">
          <a:xfrm>
            <a:off x="5588000" y="3598863"/>
            <a:ext cx="1014413" cy="366712"/>
          </a:xfrm>
          <a:prstGeom prst="rect">
            <a:avLst/>
          </a:prstGeom>
          <a:noFill/>
          <a:ln w="9525">
            <a:noFill/>
            <a:miter lim="800000"/>
          </a:ln>
        </p:spPr>
        <p:txBody>
          <a:bodyPr lIns="92075" tIns="46038" rIns="92075" bIns="46038">
            <a:spAutoFit/>
          </a:bodyPr>
          <a:lstStyle/>
          <a:p>
            <a:pPr eaLnBrk="0" hangingPunct="0">
              <a:spcBef>
                <a:spcPct val="0"/>
              </a:spcBef>
            </a:pPr>
            <a:r>
              <a:rPr lang="zh-CN" altLang="en-US" sz="1800">
                <a:solidFill>
                  <a:schemeClr val="tx2"/>
                </a:solidFill>
                <a:latin typeface="Arial" panose="02080604020202020204" pitchFamily="34" charset="0"/>
                <a:ea typeface="黑体" panose="02000500000000000000" pitchFamily="49" charset="-122"/>
              </a:rPr>
              <a:t>内存</a:t>
            </a:r>
            <a:endParaRPr lang="zh-CN" altLang="en-US" sz="1800">
              <a:solidFill>
                <a:schemeClr val="tx2"/>
              </a:solidFill>
              <a:latin typeface="Arial" panose="02080604020202020204" pitchFamily="34" charset="0"/>
              <a:ea typeface="黑体" panose="02000500000000000000" pitchFamily="49" charset="-122"/>
            </a:endParaRPr>
          </a:p>
        </p:txBody>
      </p:sp>
      <p:sp>
        <p:nvSpPr>
          <p:cNvPr id="477228" name="Text Box 44"/>
          <p:cNvSpPr txBox="1">
            <a:spLocks noChangeArrowheads="1"/>
          </p:cNvSpPr>
          <p:nvPr/>
        </p:nvSpPr>
        <p:spPr bwMode="auto">
          <a:xfrm>
            <a:off x="4635500" y="4391025"/>
            <a:ext cx="2905125" cy="406400"/>
          </a:xfrm>
          <a:prstGeom prst="rect">
            <a:avLst/>
          </a:prstGeom>
          <a:solidFill>
            <a:srgbClr val="FF3300"/>
          </a:solidFill>
          <a:ln w="9525">
            <a:solidFill>
              <a:schemeClr val="accent2"/>
            </a:solidFill>
            <a:miter lim="800000"/>
          </a:ln>
        </p:spPr>
        <p:txBody>
          <a:bodyPr>
            <a:spAutoFit/>
          </a:bodyPr>
          <a:lstStyle/>
          <a:p>
            <a:pPr algn="ctr"/>
            <a:r>
              <a:rPr lang="en-US" altLang="zh-CN" sz="2000">
                <a:solidFill>
                  <a:schemeClr val="bg1"/>
                </a:solidFill>
              </a:rPr>
              <a:t>Cache</a:t>
            </a:r>
            <a:endParaRPr lang="en-US" altLang="zh-CN" sz="2000">
              <a:solidFill>
                <a:schemeClr val="bg1"/>
              </a:solidFill>
            </a:endParaRPr>
          </a:p>
        </p:txBody>
      </p:sp>
      <p:sp>
        <p:nvSpPr>
          <p:cNvPr id="1065" name="Line 45"/>
          <p:cNvSpPr>
            <a:spLocks noChangeShapeType="1"/>
          </p:cNvSpPr>
          <p:nvPr/>
        </p:nvSpPr>
        <p:spPr bwMode="auto">
          <a:xfrm>
            <a:off x="5032375" y="6156325"/>
            <a:ext cx="4367213" cy="0"/>
          </a:xfrm>
          <a:prstGeom prst="line">
            <a:avLst/>
          </a:prstGeom>
          <a:noFill/>
          <a:ln w="12700">
            <a:solidFill>
              <a:srgbClr val="990000"/>
            </a:solidFill>
            <a:round/>
            <a:headEnd type="none" w="sm" len="sm"/>
            <a:tailEnd type="none" w="sm" len="sm"/>
          </a:ln>
        </p:spPr>
        <p:txBody>
          <a:bodyPr/>
          <a:lstStyle/>
          <a:p>
            <a:endParaRPr lang="zh-CN" altLang="en-US"/>
          </a:p>
        </p:txBody>
      </p:sp>
      <p:sp>
        <p:nvSpPr>
          <p:cNvPr id="1066" name="Line 46"/>
          <p:cNvSpPr>
            <a:spLocks noChangeShapeType="1"/>
          </p:cNvSpPr>
          <p:nvPr/>
        </p:nvSpPr>
        <p:spPr bwMode="auto">
          <a:xfrm>
            <a:off x="5037138" y="5888038"/>
            <a:ext cx="0" cy="257175"/>
          </a:xfrm>
          <a:prstGeom prst="line">
            <a:avLst/>
          </a:prstGeom>
          <a:noFill/>
          <a:ln w="12700">
            <a:solidFill>
              <a:srgbClr val="990000"/>
            </a:solidFill>
            <a:round/>
            <a:headEnd type="stealth" w="med" len="med"/>
            <a:tailEnd type="none" w="sm" len="sm"/>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7228">
                                            <p:bg/>
                                          </p:spTgt>
                                        </p:tgtEl>
                                        <p:attrNameLst>
                                          <p:attrName>style.visibility</p:attrName>
                                        </p:attrNameLst>
                                      </p:cBhvr>
                                      <p:to>
                                        <p:strVal val="visible"/>
                                      </p:to>
                                    </p:set>
                                    <p:anim calcmode="lin" valueType="num">
                                      <p:cBhvr additive="base">
                                        <p:cTn id="7" dur="500" fill="hold"/>
                                        <p:tgtEl>
                                          <p:spTgt spid="47722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77228">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7228">
                                            <p:txEl>
                                              <p:pRg st="0" end="0"/>
                                            </p:txEl>
                                          </p:spTgt>
                                        </p:tgtEl>
                                        <p:attrNameLst>
                                          <p:attrName>style.visibility</p:attrName>
                                        </p:attrNameLst>
                                      </p:cBhvr>
                                      <p:to>
                                        <p:strVal val="visible"/>
                                      </p:to>
                                    </p:set>
                                    <p:anim calcmode="lin" valueType="num">
                                      <p:cBhvr additive="base">
                                        <p:cTn id="13" dur="500" fill="hold"/>
                                        <p:tgtEl>
                                          <p:spTgt spid="47722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722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28" grpId="0" animBg="1"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a:spLocks noGrp="1" noChangeArrowheads="1"/>
          </p:cNvSpPr>
          <p:nvPr>
            <p:ph type="sldNum" sz="quarter" idx="12"/>
          </p:nvPr>
        </p:nvSpPr>
        <p:spPr>
          <a:noFill/>
        </p:spPr>
        <p:txBody>
          <a:bodyPr/>
          <a:lstStyle/>
          <a:p>
            <a:fld id="{3DA2B964-EB4C-43FC-9098-49AEE7129BD2}" type="slidenum">
              <a:rPr lang="en-US" altLang="zh-CN" smtClean="0"/>
            </a:fld>
            <a:endParaRPr lang="en-US" altLang="zh-CN" smtClean="0"/>
          </a:p>
        </p:txBody>
      </p:sp>
      <p:sp>
        <p:nvSpPr>
          <p:cNvPr id="18435" name="Rectangle 6"/>
          <p:cNvSpPr>
            <a:spLocks noChangeArrowheads="1"/>
          </p:cNvSpPr>
          <p:nvPr/>
        </p:nvSpPr>
        <p:spPr bwMode="auto">
          <a:xfrm>
            <a:off x="642938" y="401638"/>
            <a:ext cx="10690225" cy="1143000"/>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CPU</a:t>
            </a:r>
            <a:r>
              <a:rPr lang="zh-CN" altLang="en-US" sz="3200">
                <a:solidFill>
                  <a:srgbClr val="FF0000"/>
                </a:solidFill>
                <a:latin typeface="Arial" panose="02080604020202020204" pitchFamily="34" charset="0"/>
                <a:ea typeface="黑体" panose="02000500000000000000" pitchFamily="49" charset="-122"/>
              </a:rPr>
              <a:t>中</a:t>
            </a:r>
            <a:r>
              <a:rPr lang="en-US" altLang="zh-CN" sz="3200">
                <a:solidFill>
                  <a:srgbClr val="FF0000"/>
                </a:solidFill>
                <a:latin typeface="Arial" panose="02080604020202020204" pitchFamily="34" charset="0"/>
                <a:ea typeface="黑体" panose="02000500000000000000" pitchFamily="49" charset="-122"/>
              </a:rPr>
              <a:t>RAM</a:t>
            </a:r>
            <a:r>
              <a:rPr lang="zh-CN" altLang="en-US" sz="3200">
                <a:solidFill>
                  <a:srgbClr val="FF0000"/>
                </a:solidFill>
                <a:latin typeface="Arial" panose="02080604020202020204" pitchFamily="34" charset="0"/>
                <a:ea typeface="黑体" panose="02000500000000000000" pitchFamily="49" charset="-122"/>
              </a:rPr>
              <a:t>的面积和晶体管比例</a:t>
            </a:r>
            <a:endParaRPr lang="zh-CN" altLang="en-US" sz="3200">
              <a:solidFill>
                <a:srgbClr val="FF0000"/>
              </a:solidFill>
              <a:latin typeface="Arial" panose="02080604020202020204" pitchFamily="34" charset="0"/>
              <a:ea typeface="黑体" panose="02000500000000000000" pitchFamily="49" charset="-122"/>
            </a:endParaRPr>
          </a:p>
        </p:txBody>
      </p:sp>
      <p:graphicFrame>
        <p:nvGraphicFramePr>
          <p:cNvPr id="375917" name="Group 109"/>
          <p:cNvGraphicFramePr>
            <a:graphicFrameLocks noGrp="1"/>
          </p:cNvGraphicFramePr>
          <p:nvPr>
            <p:ph idx="4294967295"/>
          </p:nvPr>
        </p:nvGraphicFramePr>
        <p:xfrm>
          <a:off x="939800" y="2266950"/>
          <a:ext cx="10361851" cy="3390902"/>
        </p:xfrm>
        <a:graphic>
          <a:graphicData uri="http://schemas.openxmlformats.org/drawingml/2006/table">
            <a:tbl>
              <a:tblPr/>
              <a:tblGrid>
                <a:gridCol w="3301570"/>
                <a:gridCol w="3403157"/>
                <a:gridCol w="3657124"/>
              </a:tblGrid>
              <a:tr h="6937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CPU</a:t>
                      </a: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名称</a:t>
                      </a:r>
                      <a:endPar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片内</a:t>
                      </a:r>
                      <a:r>
                        <a:rPr kumimoji="1" lang="en-US" altLang="zh-CN"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RAM</a:t>
                      </a: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面积</a:t>
                      </a:r>
                      <a:endPar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片内</a:t>
                      </a:r>
                      <a:r>
                        <a:rPr kumimoji="1" lang="en-US" altLang="zh-CN"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RAM</a:t>
                      </a: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晶体管</a:t>
                      </a:r>
                      <a:endPar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468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21164</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37%</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77%</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31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StrongArm SA110</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61%</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94%</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468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Pro</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64%</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88%</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468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龙芯</a:t>
                      </a: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3A1000</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31%</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80%</a:t>
                      </a:r>
                      <a:endPar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noChangeArrowheads="1"/>
          </p:cNvSpPr>
          <p:nvPr>
            <p:ph type="sldNum" sz="quarter" idx="12"/>
          </p:nvPr>
        </p:nvSpPr>
        <p:spPr>
          <a:noFill/>
        </p:spPr>
        <p:txBody>
          <a:bodyPr/>
          <a:lstStyle/>
          <a:p>
            <a:fld id="{EC12D839-A36D-4BFF-880F-889289AE827B}" type="slidenum">
              <a:rPr lang="en-US" altLang="zh-CN" smtClean="0"/>
            </a:fld>
            <a:endParaRPr lang="en-US" altLang="zh-CN" smtClean="0"/>
          </a:p>
        </p:txBody>
      </p:sp>
      <p:sp>
        <p:nvSpPr>
          <p:cNvPr id="19459" name="Rectangle 2"/>
          <p:cNvSpPr>
            <a:spLocks noGrp="1" noChangeArrowheads="1"/>
          </p:cNvSpPr>
          <p:nvPr>
            <p:ph type="title"/>
          </p:nvPr>
        </p:nvSpPr>
        <p:spPr>
          <a:xfrm>
            <a:off x="795338" y="268288"/>
            <a:ext cx="10361612" cy="558800"/>
          </a:xfrm>
        </p:spPr>
        <p:txBody>
          <a:bodyPr/>
          <a:lstStyle/>
          <a:p>
            <a:pPr eaLnBrk="1" hangingPunct="1"/>
            <a:r>
              <a:rPr lang="zh-CN" altLang="en-US" smtClean="0"/>
              <a:t>存储层次基本原理</a:t>
            </a:r>
            <a:endParaRPr lang="zh-CN" altLang="en-US" smtClean="0"/>
          </a:p>
        </p:txBody>
      </p:sp>
      <p:sp>
        <p:nvSpPr>
          <p:cNvPr id="19460" name="Rectangle 9"/>
          <p:cNvSpPr>
            <a:spLocks noGrp="1" noChangeArrowheads="1"/>
          </p:cNvSpPr>
          <p:nvPr>
            <p:ph idx="1"/>
          </p:nvPr>
        </p:nvSpPr>
        <p:spPr>
          <a:xfrm>
            <a:off x="914400" y="1266825"/>
            <a:ext cx="10464800" cy="2411413"/>
          </a:xfrm>
        </p:spPr>
        <p:txBody>
          <a:bodyPr/>
          <a:lstStyle/>
          <a:p>
            <a:pPr eaLnBrk="1" hangingPunct="1">
              <a:spcBef>
                <a:spcPct val="0"/>
              </a:spcBef>
            </a:pPr>
            <a:r>
              <a:rPr lang="zh-CN" altLang="en-US" sz="2000" dirty="0" smtClean="0"/>
              <a:t>程序访问的局部性：时间局部性和空间局部性</a:t>
            </a:r>
            <a:endParaRPr lang="zh-CN" altLang="en-US" sz="2000" dirty="0" smtClean="0"/>
          </a:p>
          <a:p>
            <a:pPr lvl="1" eaLnBrk="1" hangingPunct="1">
              <a:spcBef>
                <a:spcPct val="0"/>
              </a:spcBef>
            </a:pPr>
            <a:r>
              <a:rPr lang="zh-CN" altLang="en-US" sz="1800" dirty="0" smtClean="0"/>
              <a:t>新型的应用（如媒体）对传统的局部性提出了挑战</a:t>
            </a:r>
            <a:endParaRPr lang="zh-CN" altLang="en-US" sz="1800" dirty="0" smtClean="0"/>
          </a:p>
          <a:p>
            <a:pPr eaLnBrk="1" hangingPunct="1">
              <a:spcBef>
                <a:spcPct val="0"/>
              </a:spcBef>
            </a:pPr>
            <a:r>
              <a:rPr lang="zh-CN" altLang="en-US" sz="2000" dirty="0" smtClean="0"/>
              <a:t>越小越简单的硬件越快</a:t>
            </a:r>
            <a:endParaRPr lang="zh-CN" altLang="en-US" sz="2000" dirty="0" smtClean="0"/>
          </a:p>
          <a:p>
            <a:pPr lvl="1" eaLnBrk="1" hangingPunct="1">
              <a:spcBef>
                <a:spcPct val="0"/>
              </a:spcBef>
            </a:pPr>
            <a:r>
              <a:rPr lang="zh-CN" altLang="en-US" sz="1800" dirty="0" smtClean="0"/>
              <a:t>越快的硬件越昂贵</a:t>
            </a:r>
            <a:endParaRPr lang="en-US" altLang="zh-CN" sz="1800" dirty="0" smtClean="0"/>
          </a:p>
          <a:p>
            <a:pPr eaLnBrk="1" hangingPunct="1">
              <a:spcBef>
                <a:spcPct val="0"/>
              </a:spcBef>
            </a:pPr>
            <a:r>
              <a:rPr lang="zh-CN" altLang="en-US" sz="2000" dirty="0" smtClean="0">
                <a:solidFill>
                  <a:schemeClr val="accent2"/>
                </a:solidFill>
              </a:rPr>
              <a:t>下表为</a:t>
            </a:r>
            <a:r>
              <a:rPr lang="en-US" altLang="zh-CN" sz="2000" dirty="0" smtClean="0">
                <a:solidFill>
                  <a:schemeClr val="accent2"/>
                </a:solidFill>
              </a:rPr>
              <a:t>00</a:t>
            </a:r>
            <a:r>
              <a:rPr lang="zh-CN" altLang="en-US" sz="2000" dirty="0" smtClean="0">
                <a:solidFill>
                  <a:schemeClr val="accent2"/>
                </a:solidFill>
              </a:rPr>
              <a:t>年代数据</a:t>
            </a:r>
            <a:endParaRPr lang="zh-CN" altLang="en-US" sz="2000" dirty="0" smtClean="0">
              <a:solidFill>
                <a:schemeClr val="accent2"/>
              </a:solidFill>
            </a:endParaRPr>
          </a:p>
        </p:txBody>
      </p:sp>
      <p:graphicFrame>
        <p:nvGraphicFramePr>
          <p:cNvPr id="2" name="表格 1"/>
          <p:cNvGraphicFramePr/>
          <p:nvPr/>
        </p:nvGraphicFramePr>
        <p:xfrm>
          <a:off x="928688" y="3678238"/>
          <a:ext cx="10493069" cy="1828800"/>
        </p:xfrm>
        <a:graphic>
          <a:graphicData uri="http://schemas.openxmlformats.org/drawingml/2006/table">
            <a:tbl>
              <a:tblPr firstRow="1" bandRow="1">
                <a:tableStyleId>{5940675A-B579-460E-94D1-54222C63F5DA}</a:tableStyleId>
              </a:tblPr>
              <a:tblGrid>
                <a:gridCol w="1807398"/>
                <a:gridCol w="1523802"/>
                <a:gridCol w="1676182"/>
                <a:gridCol w="1523802"/>
                <a:gridCol w="1523802"/>
                <a:gridCol w="2438083"/>
              </a:tblGrid>
              <a:tr h="274320">
                <a:tc>
                  <a:txBody>
                    <a:bodyPr/>
                    <a:lstStyle/>
                    <a:p>
                      <a:pPr indent="0" algn="ctr" fontAlgn="auto">
                        <a:lnSpc>
                          <a:spcPct val="150000"/>
                        </a:lnSpc>
                        <a:buNone/>
                      </a:pPr>
                      <a:r>
                        <a:rPr lang="en-US" sz="1600" b="1" dirty="0" err="1">
                          <a:solidFill>
                            <a:srgbClr val="FF0000"/>
                          </a:solidFill>
                          <a:latin typeface="宋体" panose="02000500000000000000" pitchFamily="2" charset="-122"/>
                          <a:ea typeface="宋体" panose="02000500000000000000" pitchFamily="2" charset="-122"/>
                        </a:rPr>
                        <a:t>存储层次</a:t>
                      </a:r>
                      <a:endParaRPr lang="en-US" altLang="en-US" sz="1600" b="1" dirty="0">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solidFill>
                            <a:srgbClr val="FF0000"/>
                          </a:solidFill>
                          <a:latin typeface="宋体" panose="02000500000000000000" pitchFamily="2" charset="-122"/>
                          <a:ea typeface="宋体" panose="02000500000000000000" pitchFamily="2" charset="-122"/>
                        </a:rPr>
                        <a:t>大小</a:t>
                      </a:r>
                      <a:endParaRPr lang="en-US" altLang="en-US" sz="1600" b="1">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solidFill>
                            <a:srgbClr val="FF0000"/>
                          </a:solidFill>
                          <a:latin typeface="宋体" panose="02000500000000000000" pitchFamily="2" charset="-122"/>
                          <a:ea typeface="宋体" panose="02000500000000000000" pitchFamily="2" charset="-122"/>
                        </a:rPr>
                        <a:t>访问时间</a:t>
                      </a:r>
                      <a:endParaRPr lang="en-US" altLang="en-US" sz="1600" b="1">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solidFill>
                            <a:srgbClr val="FF0000"/>
                          </a:solidFill>
                          <a:latin typeface="宋体" panose="02000500000000000000" pitchFamily="2" charset="-122"/>
                          <a:ea typeface="宋体" panose="02000500000000000000" pitchFamily="2" charset="-122"/>
                        </a:rPr>
                        <a:t>数据调度</a:t>
                      </a:r>
                      <a:endParaRPr lang="en-US" altLang="en-US" sz="1600" b="1">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solidFill>
                            <a:srgbClr val="FF0000"/>
                          </a:solidFill>
                          <a:latin typeface="宋体" panose="02000500000000000000" pitchFamily="2" charset="-122"/>
                          <a:ea typeface="宋体" panose="02000500000000000000" pitchFamily="2" charset="-122"/>
                        </a:rPr>
                        <a:t>调度单位</a:t>
                      </a:r>
                      <a:endParaRPr lang="en-US" altLang="en-US" sz="1600" b="1">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solidFill>
                            <a:srgbClr val="FF0000"/>
                          </a:solidFill>
                          <a:latin typeface="宋体" panose="02000500000000000000" pitchFamily="2" charset="-122"/>
                          <a:ea typeface="宋体" panose="02000500000000000000" pitchFamily="2" charset="-122"/>
                        </a:rPr>
                        <a:t>实现技术</a:t>
                      </a:r>
                      <a:endParaRPr lang="en-US" altLang="en-US" sz="1600" b="1">
                        <a:solidFill>
                          <a:srgbClr val="FF0000"/>
                        </a:solidFill>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寄存器</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&lt;1KB</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0.25-0.5ns</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编译器</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字</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cs typeface="宋体" panose="02000500000000000000" pitchFamily="2" charset="-122"/>
                        </a:rPr>
                        <a:t>CMOS寄存器堆</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CACHE</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&lt;16MB</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0.5-25ns</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硬件</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块</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dirty="0">
                          <a:latin typeface="宋体" panose="02000500000000000000" pitchFamily="2" charset="-122"/>
                          <a:ea typeface="宋体" panose="02000500000000000000" pitchFamily="2" charset="-122"/>
                        </a:rPr>
                        <a:t>CMOS SRAM</a:t>
                      </a:r>
                      <a:endParaRPr lang="en-US" altLang="en-US" sz="1600" b="1" dirty="0">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存储器</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&lt;16GB</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80-250ns</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操作系统</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页</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CMOS DRAM</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cs typeface="宋体" panose="02000500000000000000" pitchFamily="2" charset="-122"/>
                        </a:rPr>
                        <a:t>IO设备</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&gt;100GB</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5ms</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人工</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文件</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1600" b="1">
                          <a:latin typeface="宋体" panose="02000500000000000000" pitchFamily="2" charset="-122"/>
                          <a:ea typeface="宋体" panose="02000500000000000000" pitchFamily="2" charset="-122"/>
                        </a:rPr>
                        <a:t>磁盘</a:t>
                      </a:r>
                      <a:endParaRPr lang="en-US" altLang="en-US" sz="1600" b="1">
                        <a:latin typeface="宋体" panose="02000500000000000000" pitchFamily="2" charset="-122"/>
                        <a:ea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noChangeArrowheads="1"/>
          </p:cNvSpPr>
          <p:nvPr>
            <p:ph type="sldNum" sz="quarter" idx="12"/>
          </p:nvPr>
        </p:nvSpPr>
        <p:spPr>
          <a:noFill/>
        </p:spPr>
        <p:txBody>
          <a:bodyPr/>
          <a:lstStyle/>
          <a:p>
            <a:fld id="{6D39249A-68A9-4A57-996C-AB2C3D48F6C1}" type="slidenum">
              <a:rPr lang="en-US" altLang="zh-CN" smtClean="0"/>
            </a:fld>
            <a:endParaRPr lang="en-US" altLang="zh-CN" smtClean="0"/>
          </a:p>
        </p:txBody>
      </p:sp>
      <p:sp>
        <p:nvSpPr>
          <p:cNvPr id="20483" name="Rectangle 2"/>
          <p:cNvSpPr>
            <a:spLocks noGrp="1" noChangeArrowheads="1"/>
          </p:cNvSpPr>
          <p:nvPr>
            <p:ph type="title"/>
          </p:nvPr>
        </p:nvSpPr>
        <p:spPr>
          <a:xfrm>
            <a:off x="990600" y="3105150"/>
            <a:ext cx="10361613" cy="1143000"/>
          </a:xfrm>
        </p:spPr>
        <p:txBody>
          <a:bodyPr/>
          <a:lstStyle/>
          <a:p>
            <a:pPr eaLnBrk="1" hangingPunct="1"/>
            <a:r>
              <a:rPr lang="en-US" altLang="zh-CN" sz="4000" smtClean="0"/>
              <a:t>Cache</a:t>
            </a:r>
            <a:r>
              <a:rPr lang="zh-CN" altLang="en-US" sz="4000" smtClean="0"/>
              <a:t>结构</a:t>
            </a:r>
            <a:endParaRPr lang="zh-CN" altLang="en-US" sz="400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5"/>
          <p:cNvSpPr>
            <a:spLocks noGrp="1" noChangeArrowheads="1"/>
          </p:cNvSpPr>
          <p:nvPr>
            <p:ph type="sldNum" sz="quarter" idx="12"/>
          </p:nvPr>
        </p:nvSpPr>
        <p:spPr>
          <a:noFill/>
        </p:spPr>
        <p:txBody>
          <a:bodyPr/>
          <a:lstStyle/>
          <a:p>
            <a:fld id="{29B234B1-2830-4DD6-9934-2B4794DCF8DF}" type="slidenum">
              <a:rPr lang="en-US" altLang="zh-CN" smtClean="0"/>
            </a:fld>
            <a:endParaRPr lang="en-US" altLang="zh-CN" smtClean="0"/>
          </a:p>
        </p:txBody>
      </p:sp>
      <p:sp>
        <p:nvSpPr>
          <p:cNvPr id="2052" name="Rectangle 2"/>
          <p:cNvSpPr>
            <a:spLocks noGrp="1" noChangeArrowheads="1"/>
          </p:cNvSpPr>
          <p:nvPr>
            <p:ph type="title"/>
          </p:nvPr>
        </p:nvSpPr>
        <p:spPr>
          <a:xfrm>
            <a:off x="896938" y="138113"/>
            <a:ext cx="10361612" cy="709612"/>
          </a:xfrm>
        </p:spPr>
        <p:txBody>
          <a:bodyPr/>
          <a:lstStyle/>
          <a:p>
            <a:pPr eaLnBrk="1" hangingPunct="1"/>
            <a:r>
              <a:rPr lang="en-US" altLang="zh-CN" smtClean="0"/>
              <a:t>Cache</a:t>
            </a:r>
            <a:r>
              <a:rPr lang="zh-CN" altLang="zh-CN" smtClean="0"/>
              <a:t>的结构</a:t>
            </a:r>
            <a:endParaRPr lang="zh-CN" altLang="en-US" smtClean="0"/>
          </a:p>
        </p:txBody>
      </p:sp>
      <p:sp>
        <p:nvSpPr>
          <p:cNvPr id="2053" name="Rectangle 3"/>
          <p:cNvSpPr>
            <a:spLocks noGrp="1" noChangeArrowheads="1"/>
          </p:cNvSpPr>
          <p:nvPr>
            <p:ph idx="1"/>
          </p:nvPr>
        </p:nvSpPr>
        <p:spPr>
          <a:xfrm>
            <a:off x="584200" y="765175"/>
            <a:ext cx="10677525" cy="4113213"/>
          </a:xfrm>
        </p:spPr>
        <p:txBody>
          <a:bodyPr/>
          <a:lstStyle/>
          <a:p>
            <a:pPr eaLnBrk="1" hangingPunct="1">
              <a:spcBef>
                <a:spcPct val="0"/>
              </a:spcBef>
            </a:pPr>
            <a:r>
              <a:rPr lang="en-US" altLang="zh-CN" sz="2000" dirty="0" smtClean="0">
                <a:latin typeface="宋体" panose="02000500000000000000" pitchFamily="2" charset="-122"/>
              </a:rPr>
              <a:t>Cache</a:t>
            </a:r>
            <a:r>
              <a:rPr lang="zh-CN" altLang="zh-CN" sz="2000" dirty="0" smtClean="0">
                <a:latin typeface="宋体" panose="02000500000000000000" pitchFamily="2" charset="-122"/>
              </a:rPr>
              <a:t>的特征</a:t>
            </a:r>
            <a:endParaRPr lang="zh-CN" altLang="en-US" sz="2000" dirty="0" smtClean="0">
              <a:latin typeface="宋体" panose="02000500000000000000" pitchFamily="2" charset="-122"/>
            </a:endParaRPr>
          </a:p>
          <a:p>
            <a:pPr lvl="1" eaLnBrk="1" hangingPunct="1">
              <a:spcBef>
                <a:spcPct val="0"/>
              </a:spcBef>
            </a:pPr>
            <a:r>
              <a:rPr lang="en-US" altLang="zh-CN" sz="1800" dirty="0" smtClean="0">
                <a:latin typeface="宋体" panose="02000500000000000000" pitchFamily="2" charset="-122"/>
              </a:rPr>
              <a:t>Cache</a:t>
            </a:r>
            <a:r>
              <a:rPr lang="zh-CN" altLang="zh-CN" sz="1800" dirty="0" smtClean="0">
                <a:latin typeface="宋体" panose="02000500000000000000" pitchFamily="2" charset="-122"/>
              </a:rPr>
              <a:t>的内容是主存储器内容的一个子集</a:t>
            </a:r>
            <a:endParaRPr lang="zh-CN" altLang="zh-CN" sz="1800" dirty="0" smtClean="0">
              <a:latin typeface="宋体" panose="02000500000000000000" pitchFamily="2" charset="-122"/>
            </a:endParaRPr>
          </a:p>
          <a:p>
            <a:pPr lvl="1" eaLnBrk="1" hangingPunct="1">
              <a:spcBef>
                <a:spcPct val="0"/>
              </a:spcBef>
            </a:pPr>
            <a:r>
              <a:rPr lang="en-US" altLang="zh-CN" sz="1800" dirty="0" smtClean="0">
                <a:latin typeface="宋体" panose="02000500000000000000" pitchFamily="2" charset="-122"/>
              </a:rPr>
              <a:t>Cache</a:t>
            </a:r>
            <a:r>
              <a:rPr lang="zh-CN" altLang="en-US" sz="1800" dirty="0" smtClean="0">
                <a:latin typeface="宋体" panose="02000500000000000000" pitchFamily="2" charset="-122"/>
              </a:rPr>
              <a:t>没有指令功能</a:t>
            </a:r>
            <a:r>
              <a:rPr lang="zh-CN" altLang="zh-CN" sz="1800" dirty="0" smtClean="0">
                <a:latin typeface="宋体" panose="02000500000000000000" pitchFamily="2" charset="-122"/>
              </a:rPr>
              <a:t>上的意义</a:t>
            </a:r>
            <a:r>
              <a:rPr lang="zh-CN" altLang="en-US" sz="1800" dirty="0" smtClean="0">
                <a:latin typeface="宋体" panose="02000500000000000000" pitchFamily="2" charset="-122"/>
              </a:rPr>
              <a:t>（指令数据来自立即数、寄存器、存储器）</a:t>
            </a:r>
            <a:r>
              <a:rPr lang="zh-CN" altLang="zh-CN" sz="1800" dirty="0" smtClean="0">
                <a:latin typeface="宋体" panose="02000500000000000000" pitchFamily="2" charset="-122"/>
              </a:rPr>
              <a:t>，只是为了降低访存延迟</a:t>
            </a:r>
            <a:r>
              <a:rPr lang="zh-CN" altLang="en-US" sz="1800" dirty="0" smtClean="0">
                <a:latin typeface="宋体" panose="02000500000000000000" pitchFamily="2" charset="-122"/>
              </a:rPr>
              <a:t>，</a:t>
            </a:r>
            <a:r>
              <a:rPr lang="zh-CN" altLang="zh-CN" sz="1800" dirty="0" smtClean="0">
                <a:solidFill>
                  <a:schemeClr val="accent2"/>
                </a:solidFill>
                <a:latin typeface="宋体" panose="02000500000000000000" pitchFamily="2" charset="-122"/>
              </a:rPr>
              <a:t>处理器访问</a:t>
            </a:r>
            <a:r>
              <a:rPr lang="en-US" altLang="zh-CN" sz="1800" dirty="0" smtClean="0">
                <a:solidFill>
                  <a:schemeClr val="accent2"/>
                </a:solidFill>
                <a:latin typeface="宋体" panose="02000500000000000000" pitchFamily="2" charset="-122"/>
              </a:rPr>
              <a:t>Cache</a:t>
            </a:r>
            <a:r>
              <a:rPr lang="zh-CN" altLang="zh-CN" sz="1800" dirty="0" smtClean="0">
                <a:solidFill>
                  <a:schemeClr val="accent2"/>
                </a:solidFill>
                <a:latin typeface="宋体" panose="02000500000000000000" pitchFamily="2" charset="-122"/>
              </a:rPr>
              <a:t>和访问存储器使用相同的地址</a:t>
            </a:r>
            <a:endParaRPr lang="zh-CN" altLang="zh-CN" sz="1600" dirty="0" smtClean="0">
              <a:solidFill>
                <a:schemeClr val="accent2"/>
              </a:solidFill>
              <a:latin typeface="宋体" panose="02000500000000000000" pitchFamily="2" charset="-122"/>
            </a:endParaRPr>
          </a:p>
          <a:p>
            <a:pPr eaLnBrk="1" hangingPunct="1">
              <a:spcBef>
                <a:spcPct val="0"/>
              </a:spcBef>
            </a:pPr>
            <a:r>
              <a:rPr lang="en-US" altLang="zh-CN" sz="2000" dirty="0" smtClean="0">
                <a:latin typeface="宋体" panose="02000500000000000000" pitchFamily="2" charset="-122"/>
              </a:rPr>
              <a:t>Cache</a:t>
            </a:r>
            <a:r>
              <a:rPr lang="zh-CN" altLang="zh-CN" sz="2000" dirty="0" smtClean="0">
                <a:latin typeface="宋体" panose="02000500000000000000" pitchFamily="2" charset="-122"/>
              </a:rPr>
              <a:t>的结构特点</a:t>
            </a:r>
            <a:endParaRPr lang="zh-CN" altLang="zh-CN" sz="2000" dirty="0" smtClean="0">
              <a:latin typeface="宋体" panose="02000500000000000000" pitchFamily="2" charset="-122"/>
            </a:endParaRPr>
          </a:p>
          <a:p>
            <a:pPr lvl="1" eaLnBrk="1" hangingPunct="1">
              <a:spcBef>
                <a:spcPct val="0"/>
              </a:spcBef>
            </a:pPr>
            <a:r>
              <a:rPr lang="zh-CN" altLang="en-US" sz="1800" dirty="0" smtClean="0">
                <a:latin typeface="宋体" panose="02000500000000000000" pitchFamily="2" charset="-122"/>
              </a:rPr>
              <a:t>同时存储数据和地址：</a:t>
            </a:r>
            <a:r>
              <a:rPr lang="zh-CN" altLang="en-US" sz="1600" dirty="0" smtClean="0">
                <a:latin typeface="宋体" panose="02000500000000000000" pitchFamily="2" charset="-122"/>
              </a:rPr>
              <a:t>通过地址的比较判断相应数据是否在</a:t>
            </a:r>
            <a:r>
              <a:rPr lang="en-US" altLang="en-US" sz="1600" dirty="0" smtClean="0">
                <a:latin typeface="宋体" panose="02000500000000000000" pitchFamily="2" charset="-122"/>
              </a:rPr>
              <a:t>Cache</a:t>
            </a:r>
            <a:r>
              <a:rPr lang="zh-CN" altLang="en-US" sz="1600" dirty="0" smtClean="0">
                <a:latin typeface="宋体" panose="02000500000000000000" pitchFamily="2" charset="-122"/>
              </a:rPr>
              <a:t>中</a:t>
            </a:r>
            <a:endParaRPr lang="zh-CN" altLang="en-US" sz="1600" dirty="0" smtClean="0">
              <a:latin typeface="宋体" panose="02000500000000000000" pitchFamily="2" charset="-122"/>
            </a:endParaRPr>
          </a:p>
          <a:p>
            <a:pPr lvl="1" eaLnBrk="1" hangingPunct="1">
              <a:spcBef>
                <a:spcPct val="0"/>
              </a:spcBef>
            </a:pPr>
            <a:r>
              <a:rPr lang="zh-CN" altLang="en-US" sz="1800" dirty="0" smtClean="0">
                <a:latin typeface="宋体" panose="02000500000000000000" pitchFamily="2" charset="-122"/>
              </a:rPr>
              <a:t>需要考虑所需要的数据不在</a:t>
            </a:r>
            <a:r>
              <a:rPr lang="en-US" altLang="en-US" sz="1800" dirty="0" smtClean="0">
                <a:latin typeface="宋体" panose="02000500000000000000" pitchFamily="2" charset="-122"/>
              </a:rPr>
              <a:t>Cache</a:t>
            </a:r>
            <a:r>
              <a:rPr lang="zh-CN" altLang="en-US" sz="1800" dirty="0" smtClean="0">
                <a:latin typeface="宋体" panose="02000500000000000000" pitchFamily="2" charset="-122"/>
              </a:rPr>
              <a:t>中的情况：</a:t>
            </a:r>
            <a:r>
              <a:rPr lang="zh-CN" altLang="en-US" sz="1600" dirty="0" smtClean="0">
                <a:latin typeface="宋体" panose="02000500000000000000" pitchFamily="2" charset="-122"/>
              </a:rPr>
              <a:t>替换机制，写策略等</a:t>
            </a:r>
            <a:endParaRPr lang="zh-CN" altLang="en-US" sz="1600" dirty="0" smtClean="0">
              <a:latin typeface="宋体" panose="02000500000000000000" pitchFamily="2" charset="-122"/>
            </a:endParaRPr>
          </a:p>
        </p:txBody>
      </p:sp>
      <p:grpSp>
        <p:nvGrpSpPr>
          <p:cNvPr id="2054" name="Group 18"/>
          <p:cNvGrpSpPr/>
          <p:nvPr/>
        </p:nvGrpSpPr>
        <p:grpSpPr bwMode="auto">
          <a:xfrm>
            <a:off x="693738" y="5111750"/>
            <a:ext cx="10968037" cy="1520825"/>
            <a:chOff x="312" y="2875"/>
            <a:chExt cx="5182" cy="958"/>
          </a:xfrm>
        </p:grpSpPr>
        <p:graphicFrame>
          <p:nvGraphicFramePr>
            <p:cNvPr id="2050" name="Object 4"/>
            <p:cNvGraphicFramePr/>
            <p:nvPr/>
          </p:nvGraphicFramePr>
          <p:xfrm>
            <a:off x="1457" y="3070"/>
            <a:ext cx="2579" cy="763"/>
          </p:xfrm>
          <a:graphic>
            <a:graphicData uri="http://schemas.openxmlformats.org/presentationml/2006/ole">
              <mc:AlternateContent xmlns:mc="http://schemas.openxmlformats.org/markup-compatibility/2006">
                <mc:Choice xmlns:v="urn:schemas-microsoft-com:vml" Requires="v">
                  <p:oleObj spid="_x0000_s2049" name="" r:id="rId1" imgW="51215925" imgH="17021175" progId="Word.Document.8">
                    <p:embed/>
                  </p:oleObj>
                </mc:Choice>
                <mc:Fallback>
                  <p:oleObj name="" r:id="rId1" imgW="51215925" imgH="17021175" progId="Word.Document.8">
                    <p:embed/>
                    <p:pic>
                      <p:nvPicPr>
                        <p:cNvPr id="0" name="Object 4"/>
                        <p:cNvPicPr/>
                        <p:nvPr/>
                      </p:nvPicPr>
                      <p:blipFill>
                        <a:blip r:embed="rId2"/>
                        <a:stretch>
                          <a:fillRect/>
                        </a:stretch>
                      </p:blipFill>
                      <p:spPr>
                        <a:xfrm>
                          <a:off x="1457" y="3070"/>
                          <a:ext cx="2579" cy="763"/>
                        </a:xfrm>
                        <a:prstGeom prst="rect">
                          <a:avLst/>
                        </a:prstGeom>
                        <a:noFill/>
                        <a:ln w="38100">
                          <a:noFill/>
                        </a:ln>
                      </p:spPr>
                    </p:pic>
                  </p:oleObj>
                </mc:Fallback>
              </mc:AlternateContent>
            </a:graphicData>
          </a:graphic>
        </p:graphicFrame>
        <p:sp>
          <p:nvSpPr>
            <p:cNvPr id="2055" name="Line 5"/>
            <p:cNvSpPr>
              <a:spLocks noChangeShapeType="1"/>
            </p:cNvSpPr>
            <p:nvPr/>
          </p:nvSpPr>
          <p:spPr bwMode="auto">
            <a:xfrm>
              <a:off x="934" y="3253"/>
              <a:ext cx="702" cy="8"/>
            </a:xfrm>
            <a:prstGeom prst="line">
              <a:avLst/>
            </a:prstGeom>
            <a:noFill/>
            <a:ln w="38100">
              <a:solidFill>
                <a:srgbClr val="000000"/>
              </a:solidFill>
              <a:round/>
              <a:tailEnd type="triangle" w="med" len="med"/>
            </a:ln>
          </p:spPr>
          <p:txBody>
            <a:bodyPr/>
            <a:lstStyle/>
            <a:p>
              <a:endParaRPr lang="zh-CN" altLang="en-US"/>
            </a:p>
          </p:txBody>
        </p:sp>
        <p:sp>
          <p:nvSpPr>
            <p:cNvPr id="2056" name="Line 6"/>
            <p:cNvSpPr>
              <a:spLocks noChangeShapeType="1"/>
            </p:cNvSpPr>
            <p:nvPr/>
          </p:nvSpPr>
          <p:spPr bwMode="auto">
            <a:xfrm flipH="1" flipV="1">
              <a:off x="946" y="3418"/>
              <a:ext cx="693" cy="8"/>
            </a:xfrm>
            <a:prstGeom prst="line">
              <a:avLst/>
            </a:prstGeom>
            <a:noFill/>
            <a:ln w="38100">
              <a:solidFill>
                <a:srgbClr val="000000"/>
              </a:solidFill>
              <a:round/>
              <a:tailEnd type="triangle" w="med" len="med"/>
            </a:ln>
          </p:spPr>
          <p:txBody>
            <a:bodyPr/>
            <a:lstStyle/>
            <a:p>
              <a:endParaRPr lang="zh-CN" altLang="en-US"/>
            </a:p>
          </p:txBody>
        </p:sp>
        <p:sp>
          <p:nvSpPr>
            <p:cNvPr id="2057" name="Text Box 8"/>
            <p:cNvSpPr txBox="1">
              <a:spLocks noChangeArrowheads="1"/>
            </p:cNvSpPr>
            <p:nvPr/>
          </p:nvSpPr>
          <p:spPr bwMode="auto">
            <a:xfrm>
              <a:off x="992" y="3111"/>
              <a:ext cx="599" cy="116"/>
            </a:xfrm>
            <a:prstGeom prst="rect">
              <a:avLst/>
            </a:prstGeom>
            <a:noFill/>
            <a:ln w="9525">
              <a:noFill/>
              <a:miter lim="800000"/>
            </a:ln>
          </p:spPr>
          <p:txBody>
            <a:bodyPr lIns="0" tIns="0" rIns="0" bIns="0">
              <a:spAutoFit/>
            </a:bodyPr>
            <a:lstStyle/>
            <a:p>
              <a:r>
                <a:rPr lang="en-US" altLang="zh-CN"/>
                <a:t>CPU</a:t>
              </a:r>
              <a:r>
                <a:rPr lang="zh-CN" altLang="en-US"/>
                <a:t>读写请求</a:t>
              </a:r>
              <a:endParaRPr lang="zh-CN" altLang="en-US"/>
            </a:p>
          </p:txBody>
        </p:sp>
        <p:sp>
          <p:nvSpPr>
            <p:cNvPr id="2058" name="Text Box 9"/>
            <p:cNvSpPr txBox="1">
              <a:spLocks noChangeArrowheads="1"/>
            </p:cNvSpPr>
            <p:nvPr/>
          </p:nvSpPr>
          <p:spPr bwMode="auto">
            <a:xfrm>
              <a:off x="976" y="3448"/>
              <a:ext cx="669" cy="116"/>
            </a:xfrm>
            <a:prstGeom prst="rect">
              <a:avLst/>
            </a:prstGeom>
            <a:noFill/>
            <a:ln w="9525">
              <a:noFill/>
              <a:miter lim="800000"/>
            </a:ln>
          </p:spPr>
          <p:txBody>
            <a:bodyPr lIns="0" tIns="0" rIns="0" bIns="0">
              <a:spAutoFit/>
            </a:bodyPr>
            <a:lstStyle/>
            <a:p>
              <a:r>
                <a:rPr lang="en-US" altLang="zh-CN"/>
                <a:t>Cache</a:t>
              </a:r>
              <a:r>
                <a:rPr lang="zh-CN" altLang="en-US"/>
                <a:t>返回数据</a:t>
              </a:r>
              <a:endParaRPr lang="zh-CN" altLang="en-US"/>
            </a:p>
          </p:txBody>
        </p:sp>
        <p:sp>
          <p:nvSpPr>
            <p:cNvPr id="2059" name="Line 10"/>
            <p:cNvSpPr>
              <a:spLocks noChangeShapeType="1"/>
            </p:cNvSpPr>
            <p:nvPr/>
          </p:nvSpPr>
          <p:spPr bwMode="auto">
            <a:xfrm>
              <a:off x="3851" y="3240"/>
              <a:ext cx="702" cy="8"/>
            </a:xfrm>
            <a:prstGeom prst="line">
              <a:avLst/>
            </a:prstGeom>
            <a:noFill/>
            <a:ln w="38100">
              <a:solidFill>
                <a:srgbClr val="000000"/>
              </a:solidFill>
              <a:round/>
              <a:tailEnd type="triangle" w="med" len="med"/>
            </a:ln>
          </p:spPr>
          <p:txBody>
            <a:bodyPr/>
            <a:lstStyle/>
            <a:p>
              <a:endParaRPr lang="zh-CN" altLang="en-US"/>
            </a:p>
          </p:txBody>
        </p:sp>
        <p:sp>
          <p:nvSpPr>
            <p:cNvPr id="2060" name="Line 11"/>
            <p:cNvSpPr>
              <a:spLocks noChangeShapeType="1"/>
            </p:cNvSpPr>
            <p:nvPr/>
          </p:nvSpPr>
          <p:spPr bwMode="auto">
            <a:xfrm flipH="1" flipV="1">
              <a:off x="3855" y="3405"/>
              <a:ext cx="693" cy="8"/>
            </a:xfrm>
            <a:prstGeom prst="line">
              <a:avLst/>
            </a:prstGeom>
            <a:noFill/>
            <a:ln w="38100">
              <a:solidFill>
                <a:srgbClr val="000000"/>
              </a:solidFill>
              <a:round/>
              <a:tailEnd type="triangle" w="med" len="med"/>
            </a:ln>
          </p:spPr>
          <p:txBody>
            <a:bodyPr/>
            <a:lstStyle/>
            <a:p>
              <a:endParaRPr lang="zh-CN" altLang="en-US"/>
            </a:p>
          </p:txBody>
        </p:sp>
        <p:sp>
          <p:nvSpPr>
            <p:cNvPr id="2061" name="Text Box 12"/>
            <p:cNvSpPr txBox="1">
              <a:spLocks noChangeArrowheads="1"/>
            </p:cNvSpPr>
            <p:nvPr/>
          </p:nvSpPr>
          <p:spPr bwMode="auto">
            <a:xfrm>
              <a:off x="3905" y="3098"/>
              <a:ext cx="724" cy="116"/>
            </a:xfrm>
            <a:prstGeom prst="rect">
              <a:avLst/>
            </a:prstGeom>
            <a:noFill/>
            <a:ln w="9525">
              <a:noFill/>
              <a:miter lim="800000"/>
            </a:ln>
          </p:spPr>
          <p:txBody>
            <a:bodyPr lIns="0" tIns="0" rIns="0" bIns="0">
              <a:spAutoFit/>
            </a:bodyPr>
            <a:lstStyle/>
            <a:p>
              <a:r>
                <a:rPr lang="en-US" altLang="zh-CN"/>
                <a:t>Cache</a:t>
              </a:r>
              <a:r>
                <a:rPr lang="zh-CN" altLang="en-US"/>
                <a:t>访存请求</a:t>
              </a:r>
              <a:endParaRPr lang="zh-CN" altLang="en-US"/>
            </a:p>
          </p:txBody>
        </p:sp>
        <p:sp>
          <p:nvSpPr>
            <p:cNvPr id="2062" name="Text Box 13"/>
            <p:cNvSpPr txBox="1">
              <a:spLocks noChangeArrowheads="1"/>
            </p:cNvSpPr>
            <p:nvPr/>
          </p:nvSpPr>
          <p:spPr bwMode="auto">
            <a:xfrm>
              <a:off x="3914" y="3443"/>
              <a:ext cx="623" cy="116"/>
            </a:xfrm>
            <a:prstGeom prst="rect">
              <a:avLst/>
            </a:prstGeom>
            <a:noFill/>
            <a:ln w="9525">
              <a:noFill/>
              <a:miter lim="800000"/>
            </a:ln>
          </p:spPr>
          <p:txBody>
            <a:bodyPr lIns="0" tIns="0" rIns="0" bIns="0">
              <a:spAutoFit/>
            </a:bodyPr>
            <a:lstStyle/>
            <a:p>
              <a:r>
                <a:rPr lang="zh-CN" altLang="en-US"/>
                <a:t>内存返回数据</a:t>
              </a:r>
              <a:endParaRPr lang="zh-CN" altLang="en-US"/>
            </a:p>
          </p:txBody>
        </p:sp>
        <p:sp>
          <p:nvSpPr>
            <p:cNvPr id="2063" name="Oval 14"/>
            <p:cNvSpPr>
              <a:spLocks noChangeArrowheads="1"/>
            </p:cNvSpPr>
            <p:nvPr/>
          </p:nvSpPr>
          <p:spPr bwMode="auto">
            <a:xfrm>
              <a:off x="312" y="3039"/>
              <a:ext cx="631" cy="616"/>
            </a:xfrm>
            <a:prstGeom prst="ellipse">
              <a:avLst/>
            </a:prstGeom>
            <a:solidFill>
              <a:srgbClr val="FFFFFF"/>
            </a:solidFill>
            <a:ln w="9525">
              <a:solidFill>
                <a:srgbClr val="000000"/>
              </a:solidFill>
              <a:round/>
            </a:ln>
          </p:spPr>
          <p:txBody>
            <a:bodyPr wrap="none" anchor="ctr"/>
            <a:lstStyle/>
            <a:p>
              <a:endParaRPr lang="zh-CN" altLang="en-US"/>
            </a:p>
          </p:txBody>
        </p:sp>
        <p:sp>
          <p:nvSpPr>
            <p:cNvPr id="2064" name="Text Box 15"/>
            <p:cNvSpPr txBox="1">
              <a:spLocks noChangeArrowheads="1"/>
            </p:cNvSpPr>
            <p:nvPr/>
          </p:nvSpPr>
          <p:spPr bwMode="auto">
            <a:xfrm>
              <a:off x="375" y="3248"/>
              <a:ext cx="546" cy="212"/>
            </a:xfrm>
            <a:prstGeom prst="rect">
              <a:avLst/>
            </a:prstGeom>
            <a:noFill/>
            <a:ln w="9525">
              <a:noFill/>
              <a:miter lim="800000"/>
            </a:ln>
          </p:spPr>
          <p:txBody>
            <a:bodyPr>
              <a:spAutoFit/>
            </a:bodyPr>
            <a:lstStyle/>
            <a:p>
              <a:r>
                <a:rPr lang="zh-CN" altLang="en-US" sz="1600" b="1"/>
                <a:t>处理器</a:t>
              </a:r>
              <a:endParaRPr lang="zh-CN" altLang="en-US" sz="1600" b="1"/>
            </a:p>
          </p:txBody>
        </p:sp>
        <p:sp>
          <p:nvSpPr>
            <p:cNvPr id="2065" name="Rectangle 17"/>
            <p:cNvSpPr>
              <a:spLocks noChangeArrowheads="1"/>
            </p:cNvSpPr>
            <p:nvPr/>
          </p:nvSpPr>
          <p:spPr bwMode="auto">
            <a:xfrm>
              <a:off x="4543" y="2875"/>
              <a:ext cx="951" cy="927"/>
            </a:xfrm>
            <a:prstGeom prst="rect">
              <a:avLst/>
            </a:prstGeom>
            <a:solidFill>
              <a:srgbClr val="FFFFFF"/>
            </a:solidFill>
            <a:ln w="9525">
              <a:solidFill>
                <a:srgbClr val="000000"/>
              </a:solidFill>
              <a:miter lim="800000"/>
            </a:ln>
          </p:spPr>
          <p:txBody>
            <a:bodyPr wrap="none" anchor="ctr"/>
            <a:lstStyle/>
            <a:p>
              <a:endParaRPr lang="zh-CN" altLang="en-US"/>
            </a:p>
          </p:txBody>
        </p:sp>
        <p:sp>
          <p:nvSpPr>
            <p:cNvPr id="2066" name="Text Box 16"/>
            <p:cNvSpPr txBox="1">
              <a:spLocks noChangeArrowheads="1"/>
            </p:cNvSpPr>
            <p:nvPr/>
          </p:nvSpPr>
          <p:spPr bwMode="auto">
            <a:xfrm>
              <a:off x="4754" y="3218"/>
              <a:ext cx="545" cy="212"/>
            </a:xfrm>
            <a:prstGeom prst="rect">
              <a:avLst/>
            </a:prstGeom>
            <a:noFill/>
            <a:ln w="9525">
              <a:noFill/>
              <a:miter lim="800000"/>
            </a:ln>
          </p:spPr>
          <p:txBody>
            <a:bodyPr>
              <a:spAutoFit/>
            </a:bodyPr>
            <a:lstStyle/>
            <a:p>
              <a:r>
                <a:rPr lang="zh-CN" altLang="en-US" sz="1600" b="1"/>
                <a:t>存储器</a:t>
              </a:r>
              <a:endParaRPr lang="zh-CN" altLang="en-US" sz="1600" b="1"/>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noChangeArrowheads="1"/>
          </p:cNvSpPr>
          <p:nvPr>
            <p:ph type="sldNum" sz="quarter" idx="12"/>
          </p:nvPr>
        </p:nvSpPr>
        <p:spPr>
          <a:noFill/>
        </p:spPr>
        <p:txBody>
          <a:bodyPr/>
          <a:lstStyle/>
          <a:p>
            <a:fld id="{47C0AC85-F75D-48AF-8232-A2287BF44769}" type="slidenum">
              <a:rPr lang="en-US" altLang="zh-CN" smtClean="0"/>
            </a:fld>
            <a:endParaRPr lang="en-US" altLang="zh-CN" smtClean="0"/>
          </a:p>
        </p:txBody>
      </p:sp>
      <p:sp>
        <p:nvSpPr>
          <p:cNvPr id="21507" name="Rectangle 2"/>
          <p:cNvSpPr>
            <a:spLocks noChangeArrowheads="1"/>
          </p:cNvSpPr>
          <p:nvPr/>
        </p:nvSpPr>
        <p:spPr bwMode="auto">
          <a:xfrm>
            <a:off x="1320800" y="317500"/>
            <a:ext cx="9548813" cy="784225"/>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Cache</a:t>
            </a:r>
            <a:r>
              <a:rPr lang="zh-CN" altLang="zh-CN" sz="3200">
                <a:solidFill>
                  <a:srgbClr val="FF0000"/>
                </a:solidFill>
                <a:latin typeface="Arial" panose="02080604020202020204" pitchFamily="34" charset="0"/>
                <a:ea typeface="黑体" panose="02000500000000000000" pitchFamily="49" charset="-122"/>
              </a:rPr>
              <a:t>的类型</a:t>
            </a:r>
            <a:endParaRPr lang="zh-CN" altLang="en-US" sz="3200">
              <a:solidFill>
                <a:srgbClr val="FF0000"/>
              </a:solidFill>
              <a:latin typeface="Arial" panose="02080604020202020204" pitchFamily="34" charset="0"/>
              <a:ea typeface="黑体" panose="02000500000000000000" pitchFamily="49" charset="-122"/>
            </a:endParaRPr>
          </a:p>
        </p:txBody>
      </p:sp>
      <p:sp>
        <p:nvSpPr>
          <p:cNvPr id="21508" name="Rectangle 3"/>
          <p:cNvSpPr>
            <a:spLocks noChangeArrowheads="1"/>
          </p:cNvSpPr>
          <p:nvPr/>
        </p:nvSpPr>
        <p:spPr bwMode="auto">
          <a:xfrm>
            <a:off x="392113" y="1346200"/>
            <a:ext cx="11276012" cy="4964113"/>
          </a:xfrm>
          <a:prstGeom prst="rect">
            <a:avLst/>
          </a:prstGeom>
          <a:noFill/>
          <a:ln w="12700">
            <a:noFill/>
            <a:miter lim="800000"/>
          </a:ln>
        </p:spPr>
        <p:txBody>
          <a:bodyPr lIns="90488" tIns="44450" rIns="90488" bIns="44450"/>
          <a:lstStyle/>
          <a:p>
            <a:pPr marL="285750" indent="-285750">
              <a:lnSpc>
                <a:spcPct val="150000"/>
              </a:lnSpc>
              <a:spcBef>
                <a:spcPct val="0"/>
              </a:spcBef>
              <a:buFontTx/>
              <a:buChar char="•"/>
            </a:pPr>
            <a:r>
              <a:rPr lang="en-US" altLang="zh-CN" sz="2000" b="1">
                <a:latin typeface="宋体" panose="02000500000000000000" pitchFamily="2" charset="-122"/>
              </a:rPr>
              <a:t>Cache</a:t>
            </a:r>
            <a:r>
              <a:rPr lang="zh-CN" altLang="en-US" sz="2000" b="1">
                <a:latin typeface="宋体" panose="02000500000000000000" pitchFamily="2" charset="-122"/>
              </a:rPr>
              <a:t>块的位置</a:t>
            </a:r>
            <a:endParaRPr lang="zh-CN" altLang="en-US" sz="2000" b="1" i="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全相联（</a:t>
            </a:r>
            <a:r>
              <a:rPr lang="en-US" altLang="zh-CN" sz="1800" b="1">
                <a:latin typeface="宋体" panose="02000500000000000000" pitchFamily="2" charset="-122"/>
              </a:rPr>
              <a:t>Fully Associative</a:t>
            </a:r>
            <a:r>
              <a:rPr lang="zh-CN" altLang="en-US" sz="1800" b="1">
                <a:latin typeface="宋体" panose="02000500000000000000" pitchFamily="2" charset="-122"/>
              </a:rPr>
              <a:t>）</a:t>
            </a:r>
            <a:endParaRPr lang="zh-CN" altLang="en-US" sz="1800" b="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组相联（ </a:t>
            </a:r>
            <a:r>
              <a:rPr lang="en-US" altLang="zh-CN" sz="1800" b="1">
                <a:latin typeface="宋体" panose="02000500000000000000" pitchFamily="2" charset="-122"/>
              </a:rPr>
              <a:t>Set Associative</a:t>
            </a:r>
            <a:r>
              <a:rPr lang="zh-CN" altLang="en-US" sz="1800" b="1">
                <a:latin typeface="宋体" panose="02000500000000000000" pitchFamily="2" charset="-122"/>
              </a:rPr>
              <a:t>）</a:t>
            </a:r>
            <a:endParaRPr lang="zh-CN" altLang="en-US" sz="1800" b="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直接相联（ </a:t>
            </a:r>
            <a:r>
              <a:rPr lang="en-US" altLang="zh-CN" sz="1800" b="1">
                <a:latin typeface="宋体" panose="02000500000000000000" pitchFamily="2" charset="-122"/>
              </a:rPr>
              <a:t>Direct Mapped</a:t>
            </a:r>
            <a:r>
              <a:rPr lang="zh-CN" altLang="en-US" sz="1800" b="1">
                <a:latin typeface="宋体" panose="02000500000000000000" pitchFamily="2" charset="-122"/>
              </a:rPr>
              <a:t>）</a:t>
            </a:r>
            <a:endParaRPr lang="zh-CN" altLang="en-US" sz="1800" b="1">
              <a:latin typeface="宋体" panose="02000500000000000000" pitchFamily="2" charset="-122"/>
            </a:endParaRPr>
          </a:p>
          <a:p>
            <a:pPr marL="285750" indent="-285750">
              <a:lnSpc>
                <a:spcPct val="150000"/>
              </a:lnSpc>
              <a:spcBef>
                <a:spcPct val="0"/>
              </a:spcBef>
              <a:buFontTx/>
              <a:buChar char="•"/>
            </a:pPr>
            <a:r>
              <a:rPr lang="en-US" altLang="zh-CN" sz="2000" b="1">
                <a:latin typeface="宋体" panose="02000500000000000000" pitchFamily="2" charset="-122"/>
              </a:rPr>
              <a:t>Cache</a:t>
            </a:r>
            <a:r>
              <a:rPr lang="zh-CN" altLang="en-US" sz="2000" b="1">
                <a:latin typeface="宋体" panose="02000500000000000000" pitchFamily="2" charset="-122"/>
              </a:rPr>
              <a:t>失效时的替换机制</a:t>
            </a:r>
            <a:r>
              <a:rPr lang="en-US" altLang="zh-CN" sz="2000" b="1">
                <a:latin typeface="宋体" panose="02000500000000000000" pitchFamily="2" charset="-122"/>
              </a:rPr>
              <a:t>?</a:t>
            </a:r>
            <a:endParaRPr lang="en-US" altLang="zh-CN" sz="2000" b="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随机替换</a:t>
            </a:r>
            <a:r>
              <a:rPr lang="en-US" altLang="zh-CN" sz="1800" b="1">
                <a:latin typeface="宋体" panose="02000500000000000000" pitchFamily="2" charset="-122"/>
              </a:rPr>
              <a:t>, LRU, FIFO</a:t>
            </a:r>
            <a:endParaRPr lang="en-US" altLang="zh-CN" sz="1800" b="1">
              <a:latin typeface="宋体" panose="02000500000000000000" pitchFamily="2" charset="-122"/>
            </a:endParaRPr>
          </a:p>
          <a:p>
            <a:pPr marL="285750" indent="-285750">
              <a:lnSpc>
                <a:spcPct val="150000"/>
              </a:lnSpc>
              <a:spcBef>
                <a:spcPct val="0"/>
              </a:spcBef>
              <a:buFontTx/>
              <a:buChar char="•"/>
            </a:pPr>
            <a:r>
              <a:rPr lang="zh-CN" altLang="en-US" sz="2000" b="1">
                <a:latin typeface="宋体" panose="02000500000000000000" pitchFamily="2" charset="-122"/>
              </a:rPr>
              <a:t>写策略 </a:t>
            </a:r>
            <a:endParaRPr lang="zh-CN" altLang="en-US" sz="2000" b="1" i="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写命中策略：写回（</a:t>
            </a:r>
            <a:r>
              <a:rPr lang="en-US" altLang="zh-CN" sz="1800" b="1">
                <a:latin typeface="宋体" panose="02000500000000000000" pitchFamily="2" charset="-122"/>
              </a:rPr>
              <a:t>Write Back</a:t>
            </a:r>
            <a:r>
              <a:rPr lang="zh-CN" altLang="en-US" sz="1800" b="1">
                <a:latin typeface="宋体" panose="02000500000000000000" pitchFamily="2" charset="-122"/>
              </a:rPr>
              <a:t>）</a:t>
            </a:r>
            <a:r>
              <a:rPr lang="en-US" altLang="zh-CN" sz="1800" b="1">
                <a:latin typeface="宋体" panose="02000500000000000000" pitchFamily="2" charset="-122"/>
              </a:rPr>
              <a:t>vs. </a:t>
            </a:r>
            <a:r>
              <a:rPr lang="zh-CN" altLang="en-US" sz="1800" b="1">
                <a:latin typeface="宋体" panose="02000500000000000000" pitchFamily="2" charset="-122"/>
              </a:rPr>
              <a:t>写穿透（ </a:t>
            </a:r>
            <a:r>
              <a:rPr lang="en-US" altLang="zh-CN" sz="1800" b="1">
                <a:latin typeface="宋体" panose="02000500000000000000" pitchFamily="2" charset="-122"/>
              </a:rPr>
              <a:t>Write Through</a:t>
            </a:r>
            <a:r>
              <a:rPr lang="zh-CN" altLang="en-US" sz="1800" b="1">
                <a:latin typeface="宋体" panose="02000500000000000000" pitchFamily="2" charset="-122"/>
              </a:rPr>
              <a:t>）</a:t>
            </a:r>
            <a:endParaRPr lang="zh-CN" altLang="en-US" sz="1800" b="1" i="1">
              <a:latin typeface="宋体" panose="02000500000000000000" pitchFamily="2" charset="-122"/>
            </a:endParaRPr>
          </a:p>
          <a:p>
            <a:pPr marL="685800" lvl="1" indent="-228600">
              <a:lnSpc>
                <a:spcPct val="150000"/>
              </a:lnSpc>
              <a:spcBef>
                <a:spcPct val="0"/>
              </a:spcBef>
              <a:buFontTx/>
              <a:buChar char="•"/>
            </a:pPr>
            <a:r>
              <a:rPr lang="zh-CN" altLang="en-US" sz="1800" b="1">
                <a:latin typeface="宋体" panose="02000500000000000000" pitchFamily="2" charset="-122"/>
              </a:rPr>
              <a:t>写失效策略：写分配（</a:t>
            </a:r>
            <a:r>
              <a:rPr lang="en-US" altLang="zh-CN" sz="1800" b="1">
                <a:latin typeface="宋体" panose="02000500000000000000" pitchFamily="2" charset="-122"/>
              </a:rPr>
              <a:t>Write Allocate</a:t>
            </a:r>
            <a:r>
              <a:rPr lang="zh-CN" altLang="en-US" sz="1800" b="1">
                <a:latin typeface="宋体" panose="02000500000000000000" pitchFamily="2" charset="-122"/>
              </a:rPr>
              <a:t>）</a:t>
            </a:r>
            <a:r>
              <a:rPr lang="en-US" altLang="zh-CN" sz="1800" b="1">
                <a:latin typeface="宋体" panose="02000500000000000000" pitchFamily="2" charset="-122"/>
              </a:rPr>
              <a:t>vs. </a:t>
            </a:r>
            <a:r>
              <a:rPr lang="zh-CN" altLang="en-US" sz="1800" b="1">
                <a:latin typeface="宋体" panose="02000500000000000000" pitchFamily="2" charset="-122"/>
              </a:rPr>
              <a:t>写不分配（</a:t>
            </a:r>
            <a:r>
              <a:rPr lang="en-US" altLang="zh-CN" sz="1800" b="1">
                <a:latin typeface="宋体" panose="02000500000000000000" pitchFamily="2" charset="-122"/>
              </a:rPr>
              <a:t>Write Non-allocate</a:t>
            </a:r>
            <a:r>
              <a:rPr lang="zh-CN" altLang="en-US" sz="1800" b="1">
                <a:latin typeface="宋体" panose="02000500000000000000" pitchFamily="2" charset="-122"/>
              </a:rPr>
              <a:t>）</a:t>
            </a:r>
            <a:endParaRPr lang="zh-CN" altLang="en-US" sz="18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灯片编号占位符 5"/>
          <p:cNvSpPr>
            <a:spLocks noGrp="1" noChangeArrowheads="1"/>
          </p:cNvSpPr>
          <p:nvPr>
            <p:ph type="sldNum" sz="quarter" idx="12"/>
          </p:nvPr>
        </p:nvSpPr>
        <p:spPr>
          <a:noFill/>
        </p:spPr>
        <p:txBody>
          <a:bodyPr/>
          <a:lstStyle/>
          <a:p>
            <a:fld id="{F4D4E905-007E-4653-8945-DDB820A977BF}" type="slidenum">
              <a:rPr lang="en-US" altLang="zh-CN" smtClean="0"/>
            </a:fld>
            <a:endParaRPr lang="en-US" altLang="zh-CN" smtClean="0"/>
          </a:p>
        </p:txBody>
      </p:sp>
      <p:sp>
        <p:nvSpPr>
          <p:cNvPr id="3079" name="Rectangle 24"/>
          <p:cNvSpPr>
            <a:spLocks noChangeArrowheads="1"/>
          </p:cNvSpPr>
          <p:nvPr/>
        </p:nvSpPr>
        <p:spPr bwMode="auto">
          <a:xfrm>
            <a:off x="4910138" y="3425825"/>
            <a:ext cx="1995487" cy="1201738"/>
          </a:xfrm>
          <a:prstGeom prst="rect">
            <a:avLst/>
          </a:prstGeom>
          <a:solidFill>
            <a:schemeClr val="accent1"/>
          </a:solidFill>
          <a:ln w="9525">
            <a:noFill/>
            <a:miter lim="800000"/>
          </a:ln>
        </p:spPr>
        <p:txBody>
          <a:bodyPr wrap="none" anchor="ctr"/>
          <a:lstStyle/>
          <a:p>
            <a:endParaRPr lang="zh-CN" altLang="en-US"/>
          </a:p>
        </p:txBody>
      </p:sp>
      <p:sp>
        <p:nvSpPr>
          <p:cNvPr id="3080" name="Rectangle 2"/>
          <p:cNvSpPr>
            <a:spLocks noGrp="1" noChangeArrowheads="1"/>
          </p:cNvSpPr>
          <p:nvPr>
            <p:ph type="title"/>
          </p:nvPr>
        </p:nvSpPr>
        <p:spPr>
          <a:xfrm>
            <a:off x="914400" y="300038"/>
            <a:ext cx="10361613" cy="784225"/>
          </a:xfrm>
        </p:spPr>
        <p:txBody>
          <a:bodyPr/>
          <a:lstStyle/>
          <a:p>
            <a:pPr eaLnBrk="1" hangingPunct="1"/>
            <a:r>
              <a:rPr lang="zh-CN" altLang="en-US" smtClean="0"/>
              <a:t>全相联、直接相联、组相联</a:t>
            </a:r>
            <a:endParaRPr lang="zh-CN" altLang="en-US" smtClean="0"/>
          </a:p>
        </p:txBody>
      </p:sp>
      <p:sp>
        <p:nvSpPr>
          <p:cNvPr id="3081" name="Rectangle 3"/>
          <p:cNvSpPr>
            <a:spLocks noGrp="1" noChangeArrowheads="1"/>
          </p:cNvSpPr>
          <p:nvPr>
            <p:ph idx="1"/>
          </p:nvPr>
        </p:nvSpPr>
        <p:spPr>
          <a:xfrm>
            <a:off x="0" y="1573213"/>
            <a:ext cx="4448175" cy="3262312"/>
          </a:xfrm>
        </p:spPr>
        <p:txBody>
          <a:bodyPr/>
          <a:lstStyle/>
          <a:p>
            <a:pPr eaLnBrk="1" hangingPunct="1">
              <a:spcBef>
                <a:spcPct val="0"/>
              </a:spcBef>
            </a:pPr>
            <a:r>
              <a:rPr lang="zh-CN" altLang="en-US" sz="2000" smtClean="0">
                <a:latin typeface="宋体" panose="02000500000000000000" pitchFamily="2" charset="-122"/>
              </a:rPr>
              <a:t>同一单元在不同结构</a:t>
            </a:r>
            <a:r>
              <a:rPr lang="en-US" altLang="zh-CN" sz="2000" smtClean="0">
                <a:latin typeface="宋体" panose="02000500000000000000" pitchFamily="2" charset="-122"/>
              </a:rPr>
              <a:t>Cache</a:t>
            </a:r>
            <a:r>
              <a:rPr lang="zh-CN" altLang="en-US" sz="2000" smtClean="0">
                <a:latin typeface="宋体" panose="02000500000000000000" pitchFamily="2" charset="-122"/>
              </a:rPr>
              <a:t>中的位置</a:t>
            </a:r>
            <a:endParaRPr lang="zh-CN" altLang="en-US"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直接相联</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全相联</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组相联</a:t>
            </a:r>
            <a:endParaRPr lang="zh-CN" altLang="en-US" sz="1800" smtClean="0">
              <a:latin typeface="宋体" panose="02000500000000000000" pitchFamily="2" charset="-122"/>
            </a:endParaRPr>
          </a:p>
        </p:txBody>
      </p:sp>
      <p:graphicFrame>
        <p:nvGraphicFramePr>
          <p:cNvPr id="3074" name="Object 4"/>
          <p:cNvGraphicFramePr/>
          <p:nvPr/>
        </p:nvGraphicFramePr>
        <p:xfrm>
          <a:off x="4311650" y="1652588"/>
          <a:ext cx="2852738" cy="1608137"/>
        </p:xfrm>
        <a:graphic>
          <a:graphicData uri="http://schemas.openxmlformats.org/presentationml/2006/ole">
            <mc:AlternateContent xmlns:mc="http://schemas.openxmlformats.org/markup-compatibility/2006">
              <mc:Choice xmlns:v="urn:schemas-microsoft-com:vml" Requires="v">
                <p:oleObj spid="_x0000_s3073" name="" r:id="rId1" imgW="26717625" imgH="20259675" progId="Word.Document.8">
                  <p:embed/>
                </p:oleObj>
              </mc:Choice>
              <mc:Fallback>
                <p:oleObj name="" r:id="rId1" imgW="26717625" imgH="20259675" progId="Word.Document.8">
                  <p:embed/>
                  <p:pic>
                    <p:nvPicPr>
                      <p:cNvPr id="0" name="Object 4"/>
                      <p:cNvPicPr/>
                      <p:nvPr/>
                    </p:nvPicPr>
                    <p:blipFill>
                      <a:blip r:embed="rId2"/>
                      <a:stretch>
                        <a:fillRect/>
                      </a:stretch>
                    </p:blipFill>
                    <p:spPr>
                      <a:xfrm>
                        <a:off x="4311650" y="1652588"/>
                        <a:ext cx="2852738" cy="1608137"/>
                      </a:xfrm>
                      <a:prstGeom prst="rect">
                        <a:avLst/>
                      </a:prstGeom>
                      <a:noFill/>
                      <a:ln w="38100">
                        <a:noFill/>
                      </a:ln>
                    </p:spPr>
                  </p:pic>
                </p:oleObj>
              </mc:Fallback>
            </mc:AlternateContent>
          </a:graphicData>
        </a:graphic>
      </p:graphicFrame>
      <p:graphicFrame>
        <p:nvGraphicFramePr>
          <p:cNvPr id="3075" name="Object 7"/>
          <p:cNvGraphicFramePr/>
          <p:nvPr/>
        </p:nvGraphicFramePr>
        <p:xfrm>
          <a:off x="7767638" y="1582738"/>
          <a:ext cx="2820987" cy="5270500"/>
        </p:xfrm>
        <a:graphic>
          <a:graphicData uri="http://schemas.openxmlformats.org/presentationml/2006/ole">
            <mc:AlternateContent xmlns:mc="http://schemas.openxmlformats.org/markup-compatibility/2006">
              <mc:Choice xmlns:v="urn:schemas-microsoft-com:vml" Requires="v">
                <p:oleObj spid="_x0000_s2" name="" r:id="rId3" imgW="26479500" imgH="65941575" progId="Word.Document.8">
                  <p:embed/>
                </p:oleObj>
              </mc:Choice>
              <mc:Fallback>
                <p:oleObj name="" r:id="rId3" imgW="26479500" imgH="65941575" progId="Word.Document.8">
                  <p:embed/>
                  <p:pic>
                    <p:nvPicPr>
                      <p:cNvPr id="0" name="Object 7"/>
                      <p:cNvPicPr/>
                      <p:nvPr/>
                    </p:nvPicPr>
                    <p:blipFill>
                      <a:blip r:embed="rId4"/>
                      <a:stretch>
                        <a:fillRect/>
                      </a:stretch>
                    </p:blipFill>
                    <p:spPr>
                      <a:xfrm>
                        <a:off x="7767638" y="1582738"/>
                        <a:ext cx="2820987" cy="5270500"/>
                      </a:xfrm>
                      <a:prstGeom prst="rect">
                        <a:avLst/>
                      </a:prstGeom>
                      <a:noFill/>
                      <a:ln w="38100">
                        <a:noFill/>
                      </a:ln>
                    </p:spPr>
                  </p:pic>
                </p:oleObj>
              </mc:Fallback>
            </mc:AlternateContent>
          </a:graphicData>
        </a:graphic>
      </p:graphicFrame>
      <p:graphicFrame>
        <p:nvGraphicFramePr>
          <p:cNvPr id="3076" name="Object 10"/>
          <p:cNvGraphicFramePr/>
          <p:nvPr/>
        </p:nvGraphicFramePr>
        <p:xfrm>
          <a:off x="4362450" y="3409950"/>
          <a:ext cx="2852738" cy="1608138"/>
        </p:xfrm>
        <a:graphic>
          <a:graphicData uri="http://schemas.openxmlformats.org/presentationml/2006/ole">
            <mc:AlternateContent xmlns:mc="http://schemas.openxmlformats.org/markup-compatibility/2006">
              <mc:Choice xmlns:v="urn:schemas-microsoft-com:vml" Requires="v">
                <p:oleObj spid="_x0000_s3" name="" r:id="rId5" imgW="26717625" imgH="20259675" progId="Word.Document.8">
                  <p:embed/>
                </p:oleObj>
              </mc:Choice>
              <mc:Fallback>
                <p:oleObj name="" r:id="rId5" imgW="26717625" imgH="20259675" progId="Word.Document.8">
                  <p:embed/>
                  <p:pic>
                    <p:nvPicPr>
                      <p:cNvPr id="0" name="Object 10"/>
                      <p:cNvPicPr/>
                      <p:nvPr/>
                    </p:nvPicPr>
                    <p:blipFill>
                      <a:blip r:embed="rId6"/>
                      <a:stretch>
                        <a:fillRect/>
                      </a:stretch>
                    </p:blipFill>
                    <p:spPr>
                      <a:xfrm>
                        <a:off x="4362450" y="3409950"/>
                        <a:ext cx="2852738" cy="1608138"/>
                      </a:xfrm>
                      <a:prstGeom prst="rect">
                        <a:avLst/>
                      </a:prstGeom>
                      <a:noFill/>
                      <a:ln w="38100">
                        <a:noFill/>
                      </a:ln>
                    </p:spPr>
                  </p:pic>
                </p:oleObj>
              </mc:Fallback>
            </mc:AlternateContent>
          </a:graphicData>
        </a:graphic>
      </p:graphicFrame>
      <p:graphicFrame>
        <p:nvGraphicFramePr>
          <p:cNvPr id="3077" name="Object 11"/>
          <p:cNvGraphicFramePr/>
          <p:nvPr/>
        </p:nvGraphicFramePr>
        <p:xfrm>
          <a:off x="4332288" y="5213350"/>
          <a:ext cx="2852737" cy="1608138"/>
        </p:xfrm>
        <a:graphic>
          <a:graphicData uri="http://schemas.openxmlformats.org/presentationml/2006/ole">
            <mc:AlternateContent xmlns:mc="http://schemas.openxmlformats.org/markup-compatibility/2006">
              <mc:Choice xmlns:v="urn:schemas-microsoft-com:vml" Requires="v">
                <p:oleObj spid="_x0000_s4" name="" r:id="rId7" imgW="26717625" imgH="20259675" progId="Word.Document.8">
                  <p:embed/>
                </p:oleObj>
              </mc:Choice>
              <mc:Fallback>
                <p:oleObj name="" r:id="rId7" imgW="26717625" imgH="20259675" progId="Word.Document.8">
                  <p:embed/>
                  <p:pic>
                    <p:nvPicPr>
                      <p:cNvPr id="0" name="Object 11"/>
                      <p:cNvPicPr/>
                      <p:nvPr/>
                    </p:nvPicPr>
                    <p:blipFill>
                      <a:blip r:embed="rId6"/>
                      <a:stretch>
                        <a:fillRect/>
                      </a:stretch>
                    </p:blipFill>
                    <p:spPr>
                      <a:xfrm>
                        <a:off x="4332288" y="5213350"/>
                        <a:ext cx="2852737" cy="1608138"/>
                      </a:xfrm>
                      <a:prstGeom prst="rect">
                        <a:avLst/>
                      </a:prstGeom>
                      <a:noFill/>
                      <a:ln w="38100">
                        <a:noFill/>
                      </a:ln>
                    </p:spPr>
                  </p:pic>
                </p:oleObj>
              </mc:Fallback>
            </mc:AlternateContent>
          </a:graphicData>
        </a:graphic>
      </p:graphicFrame>
      <p:sp>
        <p:nvSpPr>
          <p:cNvPr id="3082" name="Rectangle 12"/>
          <p:cNvSpPr>
            <a:spLocks noChangeArrowheads="1"/>
          </p:cNvSpPr>
          <p:nvPr/>
        </p:nvSpPr>
        <p:spPr bwMode="auto">
          <a:xfrm>
            <a:off x="8313738" y="3427413"/>
            <a:ext cx="1995487" cy="136525"/>
          </a:xfrm>
          <a:prstGeom prst="rect">
            <a:avLst/>
          </a:prstGeom>
          <a:solidFill>
            <a:schemeClr val="accent1"/>
          </a:solidFill>
          <a:ln w="9525">
            <a:noFill/>
            <a:miter lim="800000"/>
          </a:ln>
        </p:spPr>
        <p:txBody>
          <a:bodyPr wrap="none" anchor="ctr"/>
          <a:lstStyle/>
          <a:p>
            <a:endParaRPr lang="zh-CN" altLang="en-US"/>
          </a:p>
        </p:txBody>
      </p:sp>
      <p:sp>
        <p:nvSpPr>
          <p:cNvPr id="3083" name="Rectangle 14"/>
          <p:cNvSpPr>
            <a:spLocks noChangeArrowheads="1"/>
          </p:cNvSpPr>
          <p:nvPr/>
        </p:nvSpPr>
        <p:spPr bwMode="auto">
          <a:xfrm>
            <a:off x="4892675" y="5821363"/>
            <a:ext cx="1995488" cy="136525"/>
          </a:xfrm>
          <a:prstGeom prst="rect">
            <a:avLst/>
          </a:prstGeom>
          <a:solidFill>
            <a:schemeClr val="accent1"/>
          </a:solidFill>
          <a:ln w="9525">
            <a:noFill/>
            <a:miter lim="800000"/>
          </a:ln>
        </p:spPr>
        <p:txBody>
          <a:bodyPr wrap="none" anchor="ctr"/>
          <a:lstStyle/>
          <a:p>
            <a:endParaRPr lang="zh-CN" altLang="en-US"/>
          </a:p>
        </p:txBody>
      </p:sp>
      <p:sp>
        <p:nvSpPr>
          <p:cNvPr id="3084" name="Rectangle 15"/>
          <p:cNvSpPr>
            <a:spLocks noChangeArrowheads="1"/>
          </p:cNvSpPr>
          <p:nvPr/>
        </p:nvSpPr>
        <p:spPr bwMode="auto">
          <a:xfrm>
            <a:off x="4895850" y="5216525"/>
            <a:ext cx="1995488" cy="136525"/>
          </a:xfrm>
          <a:prstGeom prst="rect">
            <a:avLst/>
          </a:prstGeom>
          <a:solidFill>
            <a:schemeClr val="accent1"/>
          </a:solidFill>
          <a:ln w="9525">
            <a:noFill/>
            <a:miter lim="800000"/>
          </a:ln>
        </p:spPr>
        <p:txBody>
          <a:bodyPr wrap="none" anchor="ctr"/>
          <a:lstStyle/>
          <a:p>
            <a:endParaRPr lang="zh-CN" altLang="en-US"/>
          </a:p>
        </p:txBody>
      </p:sp>
      <p:sp>
        <p:nvSpPr>
          <p:cNvPr id="3085" name="Rectangle 23"/>
          <p:cNvSpPr>
            <a:spLocks noChangeArrowheads="1"/>
          </p:cNvSpPr>
          <p:nvPr/>
        </p:nvSpPr>
        <p:spPr bwMode="auto">
          <a:xfrm>
            <a:off x="4872038" y="2270125"/>
            <a:ext cx="1995487" cy="136525"/>
          </a:xfrm>
          <a:prstGeom prst="rect">
            <a:avLst/>
          </a:prstGeom>
          <a:solidFill>
            <a:schemeClr val="accent1"/>
          </a:solidFill>
          <a:ln w="9525">
            <a:noFill/>
            <a:miter lim="800000"/>
          </a:ln>
        </p:spPr>
        <p:txBody>
          <a:bodyPr wrap="none" anchor="ctr"/>
          <a:lstStyle/>
          <a:p>
            <a:endParaRPr lang="zh-CN" altLang="en-US"/>
          </a:p>
        </p:txBody>
      </p:sp>
      <p:sp>
        <p:nvSpPr>
          <p:cNvPr id="3086" name="Text Box 25"/>
          <p:cNvSpPr txBox="1">
            <a:spLocks noChangeArrowheads="1"/>
          </p:cNvSpPr>
          <p:nvPr/>
        </p:nvSpPr>
        <p:spPr bwMode="auto">
          <a:xfrm>
            <a:off x="4914900" y="2841625"/>
            <a:ext cx="1798638" cy="274638"/>
          </a:xfrm>
          <a:prstGeom prst="rect">
            <a:avLst/>
          </a:prstGeom>
          <a:noFill/>
          <a:ln w="9525">
            <a:noFill/>
            <a:miter lim="800000"/>
          </a:ln>
        </p:spPr>
        <p:txBody>
          <a:bodyPr>
            <a:spAutoFit/>
          </a:bodyPr>
          <a:lstStyle/>
          <a:p>
            <a:r>
              <a:rPr lang="zh-CN" altLang="en-US"/>
              <a:t>（</a:t>
            </a:r>
            <a:r>
              <a:rPr lang="en-US" altLang="en-US"/>
              <a:t>a</a:t>
            </a:r>
            <a:r>
              <a:rPr lang="zh-CN" altLang="en-US"/>
              <a:t>）</a:t>
            </a:r>
            <a:r>
              <a:rPr lang="zh-CN" altLang="zh-CN"/>
              <a:t>直接相联</a:t>
            </a:r>
            <a:endParaRPr lang="zh-CN" altLang="en-US"/>
          </a:p>
        </p:txBody>
      </p:sp>
      <p:sp>
        <p:nvSpPr>
          <p:cNvPr id="3087" name="Text Box 26"/>
          <p:cNvSpPr txBox="1">
            <a:spLocks noChangeArrowheads="1"/>
          </p:cNvSpPr>
          <p:nvPr/>
        </p:nvSpPr>
        <p:spPr bwMode="auto">
          <a:xfrm>
            <a:off x="4953000" y="4638675"/>
            <a:ext cx="1798638" cy="274638"/>
          </a:xfrm>
          <a:prstGeom prst="rect">
            <a:avLst/>
          </a:prstGeom>
          <a:noFill/>
          <a:ln w="9525">
            <a:noFill/>
            <a:miter lim="800000"/>
          </a:ln>
        </p:spPr>
        <p:txBody>
          <a:bodyPr>
            <a:spAutoFit/>
          </a:bodyPr>
          <a:lstStyle/>
          <a:p>
            <a:r>
              <a:rPr lang="zh-CN" altLang="en-US"/>
              <a:t>（</a:t>
            </a:r>
            <a:r>
              <a:rPr lang="en-US" altLang="en-US"/>
              <a:t>b</a:t>
            </a:r>
            <a:r>
              <a:rPr lang="zh-CN" altLang="en-US"/>
              <a:t>）</a:t>
            </a:r>
            <a:r>
              <a:rPr lang="zh-CN" altLang="zh-CN"/>
              <a:t>全相联</a:t>
            </a:r>
            <a:endParaRPr lang="zh-CN" altLang="en-US"/>
          </a:p>
        </p:txBody>
      </p:sp>
      <p:sp>
        <p:nvSpPr>
          <p:cNvPr id="3088" name="Text Box 27"/>
          <p:cNvSpPr txBox="1">
            <a:spLocks noChangeArrowheads="1"/>
          </p:cNvSpPr>
          <p:nvPr/>
        </p:nvSpPr>
        <p:spPr bwMode="auto">
          <a:xfrm>
            <a:off x="5003800" y="6408738"/>
            <a:ext cx="1798638" cy="274637"/>
          </a:xfrm>
          <a:prstGeom prst="rect">
            <a:avLst/>
          </a:prstGeom>
          <a:noFill/>
          <a:ln w="9525">
            <a:noFill/>
            <a:miter lim="800000"/>
          </a:ln>
        </p:spPr>
        <p:txBody>
          <a:bodyPr>
            <a:spAutoFit/>
          </a:bodyPr>
          <a:lstStyle/>
          <a:p>
            <a:r>
              <a:rPr lang="zh-CN" altLang="en-US"/>
              <a:t>（</a:t>
            </a:r>
            <a:r>
              <a:rPr lang="en-US" altLang="en-US"/>
              <a:t>c</a:t>
            </a:r>
            <a:r>
              <a:rPr lang="zh-CN" altLang="en-US"/>
              <a:t>）</a:t>
            </a:r>
            <a:r>
              <a:rPr lang="zh-CN" altLang="zh-CN"/>
              <a:t>组相联</a:t>
            </a:r>
            <a:endParaRPr lang="zh-CN" altLang="en-US"/>
          </a:p>
        </p:txBody>
      </p:sp>
      <p:sp>
        <p:nvSpPr>
          <p:cNvPr id="3089" name="Text Box 28"/>
          <p:cNvSpPr txBox="1">
            <a:spLocks noChangeArrowheads="1"/>
          </p:cNvSpPr>
          <p:nvPr/>
        </p:nvSpPr>
        <p:spPr bwMode="auto">
          <a:xfrm>
            <a:off x="9024938" y="6421438"/>
            <a:ext cx="923925" cy="274637"/>
          </a:xfrm>
          <a:prstGeom prst="rect">
            <a:avLst/>
          </a:prstGeom>
          <a:noFill/>
          <a:ln w="9525">
            <a:noFill/>
            <a:miter lim="800000"/>
          </a:ln>
        </p:spPr>
        <p:txBody>
          <a:bodyPr>
            <a:spAutoFit/>
          </a:bodyPr>
          <a:lstStyle/>
          <a:p>
            <a:r>
              <a:rPr lang="zh-CN" altLang="en-US"/>
              <a:t>内存</a:t>
            </a: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灯片编号占位符 5"/>
          <p:cNvSpPr>
            <a:spLocks noGrp="1" noChangeArrowheads="1"/>
          </p:cNvSpPr>
          <p:nvPr>
            <p:ph type="sldNum" sz="quarter" idx="12"/>
          </p:nvPr>
        </p:nvSpPr>
        <p:spPr>
          <a:noFill/>
        </p:spPr>
        <p:txBody>
          <a:bodyPr/>
          <a:lstStyle/>
          <a:p>
            <a:fld id="{DD5AD441-D322-4E8A-829F-B8446D8283E1}" type="slidenum">
              <a:rPr lang="en-US" altLang="zh-CN" smtClean="0"/>
            </a:fld>
            <a:endParaRPr lang="en-US" altLang="zh-CN" smtClean="0"/>
          </a:p>
        </p:txBody>
      </p:sp>
      <p:sp>
        <p:nvSpPr>
          <p:cNvPr id="4100" name="Rectangle 2"/>
          <p:cNvSpPr>
            <a:spLocks noGrp="1" noChangeArrowheads="1"/>
          </p:cNvSpPr>
          <p:nvPr>
            <p:ph type="title"/>
          </p:nvPr>
        </p:nvSpPr>
        <p:spPr>
          <a:xfrm>
            <a:off x="982663" y="288925"/>
            <a:ext cx="10361612" cy="573088"/>
          </a:xfrm>
        </p:spPr>
        <p:txBody>
          <a:bodyPr/>
          <a:lstStyle/>
          <a:p>
            <a:pPr eaLnBrk="1" hangingPunct="1"/>
            <a:r>
              <a:rPr lang="zh-CN" altLang="en-US" smtClean="0"/>
              <a:t>全相联</a:t>
            </a:r>
            <a:endParaRPr lang="zh-CN" altLang="en-US" smtClean="0"/>
          </a:p>
        </p:txBody>
      </p:sp>
      <p:sp>
        <p:nvSpPr>
          <p:cNvPr id="4101" name="Rectangle 3"/>
          <p:cNvSpPr>
            <a:spLocks noGrp="1" noChangeArrowheads="1"/>
          </p:cNvSpPr>
          <p:nvPr>
            <p:ph idx="1"/>
          </p:nvPr>
        </p:nvSpPr>
        <p:spPr>
          <a:xfrm>
            <a:off x="849313" y="1200150"/>
            <a:ext cx="10361612" cy="1344613"/>
          </a:xfrm>
        </p:spPr>
        <p:txBody>
          <a:bodyPr/>
          <a:lstStyle/>
          <a:p>
            <a:pPr eaLnBrk="1" hangingPunct="1">
              <a:spcBef>
                <a:spcPct val="0"/>
              </a:spcBef>
            </a:pPr>
            <a:r>
              <a:rPr lang="zh-CN" altLang="en-US" sz="2000" smtClean="0"/>
              <a:t>命中率高</a:t>
            </a:r>
            <a:endParaRPr lang="zh-CN" altLang="en-US" sz="2000" smtClean="0"/>
          </a:p>
          <a:p>
            <a:pPr eaLnBrk="1" hangingPunct="1">
              <a:spcBef>
                <a:spcPct val="0"/>
              </a:spcBef>
            </a:pPr>
            <a:r>
              <a:rPr lang="zh-CN" altLang="en-US" sz="2000" smtClean="0"/>
              <a:t>硬件复杂、延迟大</a:t>
            </a:r>
            <a:endParaRPr lang="zh-CN" altLang="en-US" sz="2000" smtClean="0"/>
          </a:p>
        </p:txBody>
      </p:sp>
      <p:grpSp>
        <p:nvGrpSpPr>
          <p:cNvPr id="4102" name="Group 78"/>
          <p:cNvGrpSpPr/>
          <p:nvPr/>
        </p:nvGrpSpPr>
        <p:grpSpPr bwMode="auto">
          <a:xfrm>
            <a:off x="3279775" y="3011488"/>
            <a:ext cx="6400800" cy="3516312"/>
            <a:chOff x="1550" y="1897"/>
            <a:chExt cx="3024" cy="2215"/>
          </a:xfrm>
        </p:grpSpPr>
        <p:graphicFrame>
          <p:nvGraphicFramePr>
            <p:cNvPr id="4098" name="Object 5"/>
            <p:cNvGraphicFramePr/>
            <p:nvPr/>
          </p:nvGraphicFramePr>
          <p:xfrm>
            <a:off x="1550" y="2211"/>
            <a:ext cx="3024" cy="1414"/>
          </p:xfrm>
          <a:graphic>
            <a:graphicData uri="http://schemas.openxmlformats.org/presentationml/2006/ole">
              <mc:AlternateContent xmlns:mc="http://schemas.openxmlformats.org/markup-compatibility/2006">
                <mc:Choice xmlns:v="urn:schemas-microsoft-com:vml" Requires="v">
                  <p:oleObj spid="_x0000_s4097" name="" r:id="rId1" imgW="4948555" imgH="2298065" progId="Word.Document.8">
                    <p:embed/>
                  </p:oleObj>
                </mc:Choice>
                <mc:Fallback>
                  <p:oleObj name="" r:id="rId1" imgW="4948555" imgH="2298065" progId="Word.Document.8">
                    <p:embed/>
                    <p:pic>
                      <p:nvPicPr>
                        <p:cNvPr id="0" name="Object 5"/>
                        <p:cNvPicPr/>
                        <p:nvPr/>
                      </p:nvPicPr>
                      <p:blipFill>
                        <a:blip r:embed="rId2"/>
                        <a:stretch>
                          <a:fillRect/>
                        </a:stretch>
                      </p:blipFill>
                      <p:spPr>
                        <a:xfrm>
                          <a:off x="1550" y="2211"/>
                          <a:ext cx="3024" cy="1414"/>
                        </a:xfrm>
                        <a:prstGeom prst="rect">
                          <a:avLst/>
                        </a:prstGeom>
                        <a:noFill/>
                        <a:ln w="38100">
                          <a:noFill/>
                        </a:ln>
                      </p:spPr>
                    </p:pic>
                  </p:oleObj>
                </mc:Fallback>
              </mc:AlternateContent>
            </a:graphicData>
          </a:graphic>
        </p:graphicFrame>
        <p:sp>
          <p:nvSpPr>
            <p:cNvPr id="4114" name="Oval 6"/>
            <p:cNvSpPr>
              <a:spLocks noChangeArrowheads="1"/>
            </p:cNvSpPr>
            <p:nvPr/>
          </p:nvSpPr>
          <p:spPr bwMode="auto">
            <a:xfrm>
              <a:off x="2689" y="2321"/>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15" name="Text Box 7"/>
            <p:cNvSpPr txBox="1">
              <a:spLocks noChangeArrowheads="1"/>
            </p:cNvSpPr>
            <p:nvPr/>
          </p:nvSpPr>
          <p:spPr bwMode="auto">
            <a:xfrm>
              <a:off x="2664" y="2304"/>
              <a:ext cx="170" cy="173"/>
            </a:xfrm>
            <a:prstGeom prst="rect">
              <a:avLst/>
            </a:prstGeom>
            <a:noFill/>
            <a:ln w="9525">
              <a:noFill/>
              <a:miter lim="800000"/>
            </a:ln>
          </p:spPr>
          <p:txBody>
            <a:bodyPr>
              <a:spAutoFit/>
            </a:bodyPr>
            <a:lstStyle/>
            <a:p>
              <a:r>
                <a:rPr lang="en-US" altLang="zh-CN"/>
                <a:t>C</a:t>
              </a:r>
              <a:endParaRPr lang="en-US" altLang="zh-CN"/>
            </a:p>
          </p:txBody>
        </p:sp>
        <p:sp>
          <p:nvSpPr>
            <p:cNvPr id="4116" name="Line 11"/>
            <p:cNvSpPr>
              <a:spLocks noChangeShapeType="1"/>
            </p:cNvSpPr>
            <p:nvPr/>
          </p:nvSpPr>
          <p:spPr bwMode="auto">
            <a:xfrm flipH="1">
              <a:off x="2763" y="2077"/>
              <a:ext cx="1" cy="246"/>
            </a:xfrm>
            <a:prstGeom prst="line">
              <a:avLst/>
            </a:prstGeom>
            <a:noFill/>
            <a:ln w="9525">
              <a:solidFill>
                <a:schemeClr val="accent2"/>
              </a:solidFill>
              <a:round/>
              <a:tailEnd type="triangle" w="med" len="med"/>
            </a:ln>
          </p:spPr>
          <p:txBody>
            <a:bodyPr/>
            <a:lstStyle/>
            <a:p>
              <a:endParaRPr lang="zh-CN" altLang="en-US"/>
            </a:p>
          </p:txBody>
        </p:sp>
        <p:sp>
          <p:nvSpPr>
            <p:cNvPr id="4117" name="Oval 15"/>
            <p:cNvSpPr>
              <a:spLocks noChangeArrowheads="1"/>
            </p:cNvSpPr>
            <p:nvPr/>
          </p:nvSpPr>
          <p:spPr bwMode="auto">
            <a:xfrm>
              <a:off x="2689" y="2465"/>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18" name="Text Box 16"/>
            <p:cNvSpPr txBox="1">
              <a:spLocks noChangeArrowheads="1"/>
            </p:cNvSpPr>
            <p:nvPr/>
          </p:nvSpPr>
          <p:spPr bwMode="auto">
            <a:xfrm>
              <a:off x="2664" y="2448"/>
              <a:ext cx="170" cy="173"/>
            </a:xfrm>
            <a:prstGeom prst="rect">
              <a:avLst/>
            </a:prstGeom>
            <a:noFill/>
            <a:ln w="9525">
              <a:noFill/>
              <a:miter lim="800000"/>
            </a:ln>
          </p:spPr>
          <p:txBody>
            <a:bodyPr>
              <a:spAutoFit/>
            </a:bodyPr>
            <a:lstStyle/>
            <a:p>
              <a:r>
                <a:rPr lang="en-US" altLang="zh-CN"/>
                <a:t>C</a:t>
              </a:r>
              <a:endParaRPr lang="en-US" altLang="zh-CN"/>
            </a:p>
          </p:txBody>
        </p:sp>
        <p:sp>
          <p:nvSpPr>
            <p:cNvPr id="4119" name="Oval 21"/>
            <p:cNvSpPr>
              <a:spLocks noChangeArrowheads="1"/>
            </p:cNvSpPr>
            <p:nvPr/>
          </p:nvSpPr>
          <p:spPr bwMode="auto">
            <a:xfrm>
              <a:off x="2689" y="2593"/>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20" name="Text Box 22"/>
            <p:cNvSpPr txBox="1">
              <a:spLocks noChangeArrowheads="1"/>
            </p:cNvSpPr>
            <p:nvPr/>
          </p:nvSpPr>
          <p:spPr bwMode="auto">
            <a:xfrm>
              <a:off x="2664" y="2576"/>
              <a:ext cx="170" cy="173"/>
            </a:xfrm>
            <a:prstGeom prst="rect">
              <a:avLst/>
            </a:prstGeom>
            <a:noFill/>
            <a:ln w="9525">
              <a:noFill/>
              <a:miter lim="800000"/>
            </a:ln>
          </p:spPr>
          <p:txBody>
            <a:bodyPr>
              <a:spAutoFit/>
            </a:bodyPr>
            <a:lstStyle/>
            <a:p>
              <a:r>
                <a:rPr lang="en-US" altLang="zh-CN"/>
                <a:t>C</a:t>
              </a:r>
              <a:endParaRPr lang="en-US" altLang="zh-CN"/>
            </a:p>
          </p:txBody>
        </p:sp>
        <p:sp>
          <p:nvSpPr>
            <p:cNvPr id="4121" name="Oval 27"/>
            <p:cNvSpPr>
              <a:spLocks noChangeArrowheads="1"/>
            </p:cNvSpPr>
            <p:nvPr/>
          </p:nvSpPr>
          <p:spPr bwMode="auto">
            <a:xfrm>
              <a:off x="2689" y="2729"/>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22" name="Text Box 28"/>
            <p:cNvSpPr txBox="1">
              <a:spLocks noChangeArrowheads="1"/>
            </p:cNvSpPr>
            <p:nvPr/>
          </p:nvSpPr>
          <p:spPr bwMode="auto">
            <a:xfrm>
              <a:off x="2664" y="2712"/>
              <a:ext cx="170" cy="173"/>
            </a:xfrm>
            <a:prstGeom prst="rect">
              <a:avLst/>
            </a:prstGeom>
            <a:noFill/>
            <a:ln w="9525">
              <a:noFill/>
              <a:miter lim="800000"/>
            </a:ln>
          </p:spPr>
          <p:txBody>
            <a:bodyPr>
              <a:spAutoFit/>
            </a:bodyPr>
            <a:lstStyle/>
            <a:p>
              <a:r>
                <a:rPr lang="en-US" altLang="zh-CN"/>
                <a:t>C</a:t>
              </a:r>
              <a:endParaRPr lang="en-US" altLang="zh-CN"/>
            </a:p>
          </p:txBody>
        </p:sp>
        <p:sp>
          <p:nvSpPr>
            <p:cNvPr id="4123" name="Oval 33"/>
            <p:cNvSpPr>
              <a:spLocks noChangeArrowheads="1"/>
            </p:cNvSpPr>
            <p:nvPr/>
          </p:nvSpPr>
          <p:spPr bwMode="auto">
            <a:xfrm>
              <a:off x="2689" y="2865"/>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24" name="Text Box 34"/>
            <p:cNvSpPr txBox="1">
              <a:spLocks noChangeArrowheads="1"/>
            </p:cNvSpPr>
            <p:nvPr/>
          </p:nvSpPr>
          <p:spPr bwMode="auto">
            <a:xfrm>
              <a:off x="2664" y="2848"/>
              <a:ext cx="170" cy="173"/>
            </a:xfrm>
            <a:prstGeom prst="rect">
              <a:avLst/>
            </a:prstGeom>
            <a:noFill/>
            <a:ln w="9525">
              <a:noFill/>
              <a:miter lim="800000"/>
            </a:ln>
          </p:spPr>
          <p:txBody>
            <a:bodyPr>
              <a:spAutoFit/>
            </a:bodyPr>
            <a:lstStyle/>
            <a:p>
              <a:r>
                <a:rPr lang="en-US" altLang="zh-CN"/>
                <a:t>C</a:t>
              </a:r>
              <a:endParaRPr lang="en-US" altLang="zh-CN"/>
            </a:p>
          </p:txBody>
        </p:sp>
        <p:sp>
          <p:nvSpPr>
            <p:cNvPr id="4125" name="Oval 39"/>
            <p:cNvSpPr>
              <a:spLocks noChangeArrowheads="1"/>
            </p:cNvSpPr>
            <p:nvPr/>
          </p:nvSpPr>
          <p:spPr bwMode="auto">
            <a:xfrm>
              <a:off x="2689" y="3001"/>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26" name="Text Box 40"/>
            <p:cNvSpPr txBox="1">
              <a:spLocks noChangeArrowheads="1"/>
            </p:cNvSpPr>
            <p:nvPr/>
          </p:nvSpPr>
          <p:spPr bwMode="auto">
            <a:xfrm>
              <a:off x="2664" y="2984"/>
              <a:ext cx="170" cy="173"/>
            </a:xfrm>
            <a:prstGeom prst="rect">
              <a:avLst/>
            </a:prstGeom>
            <a:noFill/>
            <a:ln w="9525">
              <a:noFill/>
              <a:miter lim="800000"/>
            </a:ln>
          </p:spPr>
          <p:txBody>
            <a:bodyPr>
              <a:spAutoFit/>
            </a:bodyPr>
            <a:lstStyle/>
            <a:p>
              <a:r>
                <a:rPr lang="en-US" altLang="zh-CN"/>
                <a:t>C</a:t>
              </a:r>
              <a:endParaRPr lang="en-US" altLang="zh-CN"/>
            </a:p>
          </p:txBody>
        </p:sp>
        <p:sp>
          <p:nvSpPr>
            <p:cNvPr id="4127" name="Oval 45"/>
            <p:cNvSpPr>
              <a:spLocks noChangeArrowheads="1"/>
            </p:cNvSpPr>
            <p:nvPr/>
          </p:nvSpPr>
          <p:spPr bwMode="auto">
            <a:xfrm>
              <a:off x="2689" y="3137"/>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28" name="Text Box 46"/>
            <p:cNvSpPr txBox="1">
              <a:spLocks noChangeArrowheads="1"/>
            </p:cNvSpPr>
            <p:nvPr/>
          </p:nvSpPr>
          <p:spPr bwMode="auto">
            <a:xfrm>
              <a:off x="2664" y="3120"/>
              <a:ext cx="170" cy="173"/>
            </a:xfrm>
            <a:prstGeom prst="rect">
              <a:avLst/>
            </a:prstGeom>
            <a:noFill/>
            <a:ln w="9525">
              <a:noFill/>
              <a:miter lim="800000"/>
            </a:ln>
          </p:spPr>
          <p:txBody>
            <a:bodyPr>
              <a:spAutoFit/>
            </a:bodyPr>
            <a:lstStyle/>
            <a:p>
              <a:r>
                <a:rPr lang="en-US" altLang="zh-CN"/>
                <a:t>C</a:t>
              </a:r>
              <a:endParaRPr lang="en-US" altLang="zh-CN"/>
            </a:p>
          </p:txBody>
        </p:sp>
        <p:sp>
          <p:nvSpPr>
            <p:cNvPr id="4129" name="Oval 51"/>
            <p:cNvSpPr>
              <a:spLocks noChangeArrowheads="1"/>
            </p:cNvSpPr>
            <p:nvPr/>
          </p:nvSpPr>
          <p:spPr bwMode="auto">
            <a:xfrm>
              <a:off x="2689" y="3273"/>
              <a:ext cx="127" cy="136"/>
            </a:xfrm>
            <a:prstGeom prst="ellipse">
              <a:avLst/>
            </a:prstGeom>
            <a:solidFill>
              <a:schemeClr val="accent1"/>
            </a:solidFill>
            <a:ln w="9525">
              <a:solidFill>
                <a:schemeClr val="tx1"/>
              </a:solidFill>
              <a:round/>
            </a:ln>
          </p:spPr>
          <p:txBody>
            <a:bodyPr wrap="none" anchor="ctr"/>
            <a:lstStyle/>
            <a:p>
              <a:endParaRPr lang="zh-CN" altLang="en-US"/>
            </a:p>
          </p:txBody>
        </p:sp>
        <p:sp>
          <p:nvSpPr>
            <p:cNvPr id="4130" name="Text Box 52"/>
            <p:cNvSpPr txBox="1">
              <a:spLocks noChangeArrowheads="1"/>
            </p:cNvSpPr>
            <p:nvPr/>
          </p:nvSpPr>
          <p:spPr bwMode="auto">
            <a:xfrm>
              <a:off x="2664" y="3256"/>
              <a:ext cx="170" cy="173"/>
            </a:xfrm>
            <a:prstGeom prst="rect">
              <a:avLst/>
            </a:prstGeom>
            <a:noFill/>
            <a:ln w="9525">
              <a:noFill/>
              <a:miter lim="800000"/>
            </a:ln>
          </p:spPr>
          <p:txBody>
            <a:bodyPr>
              <a:spAutoFit/>
            </a:bodyPr>
            <a:lstStyle/>
            <a:p>
              <a:r>
                <a:rPr lang="en-US" altLang="zh-CN"/>
                <a:t>C</a:t>
              </a:r>
              <a:endParaRPr lang="en-US" altLang="zh-CN"/>
            </a:p>
          </p:txBody>
        </p:sp>
        <p:sp>
          <p:nvSpPr>
            <p:cNvPr id="4131" name="Line 10"/>
            <p:cNvSpPr>
              <a:spLocks noChangeShapeType="1"/>
            </p:cNvSpPr>
            <p:nvPr/>
          </p:nvSpPr>
          <p:spPr bwMode="auto">
            <a:xfrm flipH="1">
              <a:off x="1876" y="2372"/>
              <a:ext cx="815" cy="0"/>
            </a:xfrm>
            <a:prstGeom prst="line">
              <a:avLst/>
            </a:prstGeom>
            <a:noFill/>
            <a:ln w="9525">
              <a:solidFill>
                <a:srgbClr val="FF3300"/>
              </a:solidFill>
              <a:round/>
              <a:headEnd type="triangle" w="med" len="med"/>
            </a:ln>
          </p:spPr>
          <p:txBody>
            <a:bodyPr/>
            <a:lstStyle/>
            <a:p>
              <a:endParaRPr lang="zh-CN" altLang="en-US"/>
            </a:p>
          </p:txBody>
        </p:sp>
        <p:sp>
          <p:nvSpPr>
            <p:cNvPr id="4132" name="Line 18"/>
            <p:cNvSpPr>
              <a:spLocks noChangeShapeType="1"/>
            </p:cNvSpPr>
            <p:nvPr/>
          </p:nvSpPr>
          <p:spPr bwMode="auto">
            <a:xfrm flipH="1">
              <a:off x="1882" y="2516"/>
              <a:ext cx="809" cy="0"/>
            </a:xfrm>
            <a:prstGeom prst="line">
              <a:avLst/>
            </a:prstGeom>
            <a:noFill/>
            <a:ln w="9525">
              <a:solidFill>
                <a:srgbClr val="FF3300"/>
              </a:solidFill>
              <a:round/>
              <a:headEnd type="triangle" w="med" len="med"/>
            </a:ln>
          </p:spPr>
          <p:txBody>
            <a:bodyPr/>
            <a:lstStyle/>
            <a:p>
              <a:endParaRPr lang="zh-CN" altLang="en-US"/>
            </a:p>
          </p:txBody>
        </p:sp>
        <p:sp>
          <p:nvSpPr>
            <p:cNvPr id="4133" name="Line 24"/>
            <p:cNvSpPr>
              <a:spLocks noChangeShapeType="1"/>
            </p:cNvSpPr>
            <p:nvPr/>
          </p:nvSpPr>
          <p:spPr bwMode="auto">
            <a:xfrm flipH="1" flipV="1">
              <a:off x="1882" y="2644"/>
              <a:ext cx="809" cy="0"/>
            </a:xfrm>
            <a:prstGeom prst="line">
              <a:avLst/>
            </a:prstGeom>
            <a:noFill/>
            <a:ln w="9525">
              <a:solidFill>
                <a:srgbClr val="FF3300"/>
              </a:solidFill>
              <a:round/>
              <a:headEnd type="triangle" w="med" len="med"/>
            </a:ln>
          </p:spPr>
          <p:txBody>
            <a:bodyPr/>
            <a:lstStyle/>
            <a:p>
              <a:endParaRPr lang="zh-CN" altLang="en-US"/>
            </a:p>
          </p:txBody>
        </p:sp>
        <p:sp>
          <p:nvSpPr>
            <p:cNvPr id="4134" name="Line 30"/>
            <p:cNvSpPr>
              <a:spLocks noChangeShapeType="1"/>
            </p:cNvSpPr>
            <p:nvPr/>
          </p:nvSpPr>
          <p:spPr bwMode="auto">
            <a:xfrm flipH="1" flipV="1">
              <a:off x="1876" y="2780"/>
              <a:ext cx="815" cy="0"/>
            </a:xfrm>
            <a:prstGeom prst="line">
              <a:avLst/>
            </a:prstGeom>
            <a:noFill/>
            <a:ln w="9525">
              <a:solidFill>
                <a:srgbClr val="FF3300"/>
              </a:solidFill>
              <a:round/>
              <a:headEnd type="triangle" w="med" len="med"/>
            </a:ln>
          </p:spPr>
          <p:txBody>
            <a:bodyPr/>
            <a:lstStyle/>
            <a:p>
              <a:endParaRPr lang="zh-CN" altLang="en-US"/>
            </a:p>
          </p:txBody>
        </p:sp>
        <p:sp>
          <p:nvSpPr>
            <p:cNvPr id="4135" name="Line 36"/>
            <p:cNvSpPr>
              <a:spLocks noChangeShapeType="1"/>
            </p:cNvSpPr>
            <p:nvPr/>
          </p:nvSpPr>
          <p:spPr bwMode="auto">
            <a:xfrm flipH="1">
              <a:off x="1882" y="2916"/>
              <a:ext cx="809" cy="0"/>
            </a:xfrm>
            <a:prstGeom prst="line">
              <a:avLst/>
            </a:prstGeom>
            <a:noFill/>
            <a:ln w="9525">
              <a:solidFill>
                <a:srgbClr val="FF3300"/>
              </a:solidFill>
              <a:round/>
              <a:headEnd type="triangle" w="med" len="med"/>
            </a:ln>
          </p:spPr>
          <p:txBody>
            <a:bodyPr/>
            <a:lstStyle/>
            <a:p>
              <a:endParaRPr lang="zh-CN" altLang="en-US"/>
            </a:p>
          </p:txBody>
        </p:sp>
        <p:sp>
          <p:nvSpPr>
            <p:cNvPr id="4136" name="Line 42"/>
            <p:cNvSpPr>
              <a:spLocks noChangeShapeType="1"/>
            </p:cNvSpPr>
            <p:nvPr/>
          </p:nvSpPr>
          <p:spPr bwMode="auto">
            <a:xfrm flipH="1">
              <a:off x="1876" y="3044"/>
              <a:ext cx="815" cy="0"/>
            </a:xfrm>
            <a:prstGeom prst="line">
              <a:avLst/>
            </a:prstGeom>
            <a:noFill/>
            <a:ln w="9525">
              <a:solidFill>
                <a:srgbClr val="FF3300"/>
              </a:solidFill>
              <a:round/>
              <a:headEnd type="triangle" w="med" len="med"/>
            </a:ln>
          </p:spPr>
          <p:txBody>
            <a:bodyPr/>
            <a:lstStyle/>
            <a:p>
              <a:endParaRPr lang="zh-CN" altLang="en-US"/>
            </a:p>
          </p:txBody>
        </p:sp>
        <p:sp>
          <p:nvSpPr>
            <p:cNvPr id="4137" name="Line 48"/>
            <p:cNvSpPr>
              <a:spLocks noChangeShapeType="1"/>
            </p:cNvSpPr>
            <p:nvPr/>
          </p:nvSpPr>
          <p:spPr bwMode="auto">
            <a:xfrm flipH="1" flipV="1">
              <a:off x="1887" y="3172"/>
              <a:ext cx="804" cy="8"/>
            </a:xfrm>
            <a:prstGeom prst="line">
              <a:avLst/>
            </a:prstGeom>
            <a:noFill/>
            <a:ln w="9525">
              <a:solidFill>
                <a:srgbClr val="FF3300"/>
              </a:solidFill>
              <a:round/>
              <a:headEnd type="triangle" w="med" len="med"/>
            </a:ln>
          </p:spPr>
          <p:txBody>
            <a:bodyPr/>
            <a:lstStyle/>
            <a:p>
              <a:endParaRPr lang="zh-CN" altLang="en-US"/>
            </a:p>
          </p:txBody>
        </p:sp>
        <p:grpSp>
          <p:nvGrpSpPr>
            <p:cNvPr id="4138" name="Group 56"/>
            <p:cNvGrpSpPr/>
            <p:nvPr/>
          </p:nvGrpSpPr>
          <p:grpSpPr bwMode="auto">
            <a:xfrm>
              <a:off x="2394" y="2420"/>
              <a:ext cx="298" cy="936"/>
              <a:chOff x="2265" y="2420"/>
              <a:chExt cx="427" cy="936"/>
            </a:xfrm>
          </p:grpSpPr>
          <p:sp>
            <p:nvSpPr>
              <p:cNvPr id="4160" name="Line 9"/>
              <p:cNvSpPr>
                <a:spLocks noChangeShapeType="1"/>
              </p:cNvSpPr>
              <p:nvPr/>
            </p:nvSpPr>
            <p:spPr bwMode="auto">
              <a:xfrm flipH="1">
                <a:off x="2265" y="2420"/>
                <a:ext cx="427" cy="0"/>
              </a:xfrm>
              <a:prstGeom prst="line">
                <a:avLst/>
              </a:prstGeom>
              <a:noFill/>
              <a:ln w="9525">
                <a:solidFill>
                  <a:schemeClr val="accent2"/>
                </a:solidFill>
                <a:round/>
                <a:headEnd type="triangle" w="med" len="med"/>
              </a:ln>
            </p:spPr>
            <p:txBody>
              <a:bodyPr/>
              <a:lstStyle/>
              <a:p>
                <a:endParaRPr lang="zh-CN" altLang="en-US"/>
              </a:p>
            </p:txBody>
          </p:sp>
          <p:sp>
            <p:nvSpPr>
              <p:cNvPr id="4161" name="Line 17"/>
              <p:cNvSpPr>
                <a:spLocks noChangeShapeType="1"/>
              </p:cNvSpPr>
              <p:nvPr/>
            </p:nvSpPr>
            <p:spPr bwMode="auto">
              <a:xfrm flipH="1">
                <a:off x="2265" y="2556"/>
                <a:ext cx="427" cy="0"/>
              </a:xfrm>
              <a:prstGeom prst="line">
                <a:avLst/>
              </a:prstGeom>
              <a:noFill/>
              <a:ln w="9525">
                <a:solidFill>
                  <a:schemeClr val="accent2"/>
                </a:solidFill>
                <a:round/>
                <a:headEnd type="triangle" w="med" len="med"/>
              </a:ln>
            </p:spPr>
            <p:txBody>
              <a:bodyPr/>
              <a:lstStyle/>
              <a:p>
                <a:endParaRPr lang="zh-CN" altLang="en-US"/>
              </a:p>
            </p:txBody>
          </p:sp>
          <p:sp>
            <p:nvSpPr>
              <p:cNvPr id="4162" name="Line 23"/>
              <p:cNvSpPr>
                <a:spLocks noChangeShapeType="1"/>
              </p:cNvSpPr>
              <p:nvPr/>
            </p:nvSpPr>
            <p:spPr bwMode="auto">
              <a:xfrm flipH="1">
                <a:off x="2265" y="2692"/>
                <a:ext cx="427" cy="0"/>
              </a:xfrm>
              <a:prstGeom prst="line">
                <a:avLst/>
              </a:prstGeom>
              <a:noFill/>
              <a:ln w="9525">
                <a:solidFill>
                  <a:schemeClr val="accent2"/>
                </a:solidFill>
                <a:round/>
                <a:headEnd type="triangle" w="med" len="med"/>
              </a:ln>
            </p:spPr>
            <p:txBody>
              <a:bodyPr/>
              <a:lstStyle/>
              <a:p>
                <a:endParaRPr lang="zh-CN" altLang="en-US"/>
              </a:p>
            </p:txBody>
          </p:sp>
          <p:sp>
            <p:nvSpPr>
              <p:cNvPr id="4163" name="Line 29"/>
              <p:cNvSpPr>
                <a:spLocks noChangeShapeType="1"/>
              </p:cNvSpPr>
              <p:nvPr/>
            </p:nvSpPr>
            <p:spPr bwMode="auto">
              <a:xfrm flipH="1">
                <a:off x="2265" y="2820"/>
                <a:ext cx="427" cy="0"/>
              </a:xfrm>
              <a:prstGeom prst="line">
                <a:avLst/>
              </a:prstGeom>
              <a:noFill/>
              <a:ln w="9525">
                <a:solidFill>
                  <a:schemeClr val="accent2"/>
                </a:solidFill>
                <a:round/>
                <a:headEnd type="triangle" w="med" len="med"/>
              </a:ln>
            </p:spPr>
            <p:txBody>
              <a:bodyPr/>
              <a:lstStyle/>
              <a:p>
                <a:endParaRPr lang="zh-CN" altLang="en-US"/>
              </a:p>
            </p:txBody>
          </p:sp>
          <p:sp>
            <p:nvSpPr>
              <p:cNvPr id="4164" name="Line 35"/>
              <p:cNvSpPr>
                <a:spLocks noChangeShapeType="1"/>
              </p:cNvSpPr>
              <p:nvPr/>
            </p:nvSpPr>
            <p:spPr bwMode="auto">
              <a:xfrm flipH="1">
                <a:off x="2265" y="2956"/>
                <a:ext cx="427" cy="0"/>
              </a:xfrm>
              <a:prstGeom prst="line">
                <a:avLst/>
              </a:prstGeom>
              <a:noFill/>
              <a:ln w="9525">
                <a:solidFill>
                  <a:schemeClr val="accent2"/>
                </a:solidFill>
                <a:round/>
                <a:headEnd type="triangle" w="med" len="med"/>
              </a:ln>
            </p:spPr>
            <p:txBody>
              <a:bodyPr/>
              <a:lstStyle/>
              <a:p>
                <a:endParaRPr lang="zh-CN" altLang="en-US"/>
              </a:p>
            </p:txBody>
          </p:sp>
          <p:sp>
            <p:nvSpPr>
              <p:cNvPr id="4165" name="Line 41"/>
              <p:cNvSpPr>
                <a:spLocks noChangeShapeType="1"/>
              </p:cNvSpPr>
              <p:nvPr/>
            </p:nvSpPr>
            <p:spPr bwMode="auto">
              <a:xfrm flipH="1">
                <a:off x="2265" y="3084"/>
                <a:ext cx="427" cy="0"/>
              </a:xfrm>
              <a:prstGeom prst="line">
                <a:avLst/>
              </a:prstGeom>
              <a:noFill/>
              <a:ln w="9525">
                <a:solidFill>
                  <a:schemeClr val="accent2"/>
                </a:solidFill>
                <a:round/>
                <a:headEnd type="triangle" w="med" len="med"/>
              </a:ln>
            </p:spPr>
            <p:txBody>
              <a:bodyPr/>
              <a:lstStyle/>
              <a:p>
                <a:endParaRPr lang="zh-CN" altLang="en-US"/>
              </a:p>
            </p:txBody>
          </p:sp>
          <p:sp>
            <p:nvSpPr>
              <p:cNvPr id="4166" name="Line 47"/>
              <p:cNvSpPr>
                <a:spLocks noChangeShapeType="1"/>
              </p:cNvSpPr>
              <p:nvPr/>
            </p:nvSpPr>
            <p:spPr bwMode="auto">
              <a:xfrm flipH="1">
                <a:off x="2265" y="3228"/>
                <a:ext cx="427" cy="0"/>
              </a:xfrm>
              <a:prstGeom prst="line">
                <a:avLst/>
              </a:prstGeom>
              <a:noFill/>
              <a:ln w="9525">
                <a:solidFill>
                  <a:schemeClr val="accent2"/>
                </a:solidFill>
                <a:round/>
                <a:headEnd type="triangle" w="med" len="med"/>
              </a:ln>
            </p:spPr>
            <p:txBody>
              <a:bodyPr/>
              <a:lstStyle/>
              <a:p>
                <a:endParaRPr lang="zh-CN" altLang="en-US"/>
              </a:p>
            </p:txBody>
          </p:sp>
          <p:sp>
            <p:nvSpPr>
              <p:cNvPr id="4167" name="Line 53"/>
              <p:cNvSpPr>
                <a:spLocks noChangeShapeType="1"/>
              </p:cNvSpPr>
              <p:nvPr/>
            </p:nvSpPr>
            <p:spPr bwMode="auto">
              <a:xfrm flipH="1">
                <a:off x="2265" y="3356"/>
                <a:ext cx="427" cy="0"/>
              </a:xfrm>
              <a:prstGeom prst="line">
                <a:avLst/>
              </a:prstGeom>
              <a:noFill/>
              <a:ln w="9525">
                <a:solidFill>
                  <a:schemeClr val="accent2"/>
                </a:solidFill>
                <a:round/>
                <a:headEnd type="triangle" w="med" len="med"/>
              </a:ln>
            </p:spPr>
            <p:txBody>
              <a:bodyPr/>
              <a:lstStyle/>
              <a:p>
                <a:endParaRPr lang="zh-CN" altLang="en-US"/>
              </a:p>
            </p:txBody>
          </p:sp>
        </p:grpSp>
        <p:sp>
          <p:nvSpPr>
            <p:cNvPr id="4139" name="Line 54"/>
            <p:cNvSpPr>
              <a:spLocks noChangeShapeType="1"/>
            </p:cNvSpPr>
            <p:nvPr/>
          </p:nvSpPr>
          <p:spPr bwMode="auto">
            <a:xfrm flipH="1" flipV="1">
              <a:off x="1882" y="3308"/>
              <a:ext cx="809" cy="8"/>
            </a:xfrm>
            <a:prstGeom prst="line">
              <a:avLst/>
            </a:prstGeom>
            <a:noFill/>
            <a:ln w="9525">
              <a:solidFill>
                <a:srgbClr val="FF3300"/>
              </a:solidFill>
              <a:round/>
              <a:headEnd type="triangle" w="med" len="med"/>
            </a:ln>
          </p:spPr>
          <p:txBody>
            <a:bodyPr/>
            <a:lstStyle/>
            <a:p>
              <a:endParaRPr lang="zh-CN" altLang="en-US"/>
            </a:p>
          </p:txBody>
        </p:sp>
        <p:sp>
          <p:nvSpPr>
            <p:cNvPr id="4140" name="Line 57"/>
            <p:cNvSpPr>
              <a:spLocks noChangeShapeType="1"/>
            </p:cNvSpPr>
            <p:nvPr/>
          </p:nvSpPr>
          <p:spPr bwMode="auto">
            <a:xfrm flipV="1">
              <a:off x="2815" y="2385"/>
              <a:ext cx="284" cy="8"/>
            </a:xfrm>
            <a:prstGeom prst="line">
              <a:avLst/>
            </a:prstGeom>
            <a:noFill/>
            <a:ln w="9525">
              <a:solidFill>
                <a:srgbClr val="FF0000"/>
              </a:solidFill>
              <a:round/>
              <a:tailEnd type="triangle" w="med" len="med"/>
            </a:ln>
          </p:spPr>
          <p:txBody>
            <a:bodyPr/>
            <a:lstStyle/>
            <a:p>
              <a:endParaRPr lang="zh-CN" altLang="en-US"/>
            </a:p>
          </p:txBody>
        </p:sp>
        <p:sp>
          <p:nvSpPr>
            <p:cNvPr id="4141" name="Line 58"/>
            <p:cNvSpPr>
              <a:spLocks noChangeShapeType="1"/>
            </p:cNvSpPr>
            <p:nvPr/>
          </p:nvSpPr>
          <p:spPr bwMode="auto">
            <a:xfrm flipV="1">
              <a:off x="2807" y="2521"/>
              <a:ext cx="284" cy="8"/>
            </a:xfrm>
            <a:prstGeom prst="line">
              <a:avLst/>
            </a:prstGeom>
            <a:noFill/>
            <a:ln w="9525">
              <a:solidFill>
                <a:srgbClr val="FF0000"/>
              </a:solidFill>
              <a:round/>
              <a:tailEnd type="triangle" w="med" len="med"/>
            </a:ln>
          </p:spPr>
          <p:txBody>
            <a:bodyPr/>
            <a:lstStyle/>
            <a:p>
              <a:endParaRPr lang="zh-CN" altLang="en-US"/>
            </a:p>
          </p:txBody>
        </p:sp>
        <p:sp>
          <p:nvSpPr>
            <p:cNvPr id="4142" name="Line 59"/>
            <p:cNvSpPr>
              <a:spLocks noChangeShapeType="1"/>
            </p:cNvSpPr>
            <p:nvPr/>
          </p:nvSpPr>
          <p:spPr bwMode="auto">
            <a:xfrm flipV="1">
              <a:off x="2815" y="2657"/>
              <a:ext cx="284" cy="8"/>
            </a:xfrm>
            <a:prstGeom prst="line">
              <a:avLst/>
            </a:prstGeom>
            <a:noFill/>
            <a:ln w="9525">
              <a:solidFill>
                <a:srgbClr val="FF0000"/>
              </a:solidFill>
              <a:round/>
              <a:tailEnd type="triangle" w="med" len="med"/>
            </a:ln>
          </p:spPr>
          <p:txBody>
            <a:bodyPr/>
            <a:lstStyle/>
            <a:p>
              <a:endParaRPr lang="zh-CN" altLang="en-US"/>
            </a:p>
          </p:txBody>
        </p:sp>
        <p:sp>
          <p:nvSpPr>
            <p:cNvPr id="4143" name="Line 60"/>
            <p:cNvSpPr>
              <a:spLocks noChangeShapeType="1"/>
            </p:cNvSpPr>
            <p:nvPr/>
          </p:nvSpPr>
          <p:spPr bwMode="auto">
            <a:xfrm flipV="1">
              <a:off x="2815" y="2793"/>
              <a:ext cx="284" cy="8"/>
            </a:xfrm>
            <a:prstGeom prst="line">
              <a:avLst/>
            </a:prstGeom>
            <a:noFill/>
            <a:ln w="9525">
              <a:solidFill>
                <a:srgbClr val="FF0000"/>
              </a:solidFill>
              <a:round/>
              <a:tailEnd type="triangle" w="med" len="med"/>
            </a:ln>
          </p:spPr>
          <p:txBody>
            <a:bodyPr/>
            <a:lstStyle/>
            <a:p>
              <a:endParaRPr lang="zh-CN" altLang="en-US"/>
            </a:p>
          </p:txBody>
        </p:sp>
        <p:sp>
          <p:nvSpPr>
            <p:cNvPr id="4144" name="Line 61"/>
            <p:cNvSpPr>
              <a:spLocks noChangeShapeType="1"/>
            </p:cNvSpPr>
            <p:nvPr/>
          </p:nvSpPr>
          <p:spPr bwMode="auto">
            <a:xfrm flipV="1">
              <a:off x="2815" y="2921"/>
              <a:ext cx="284" cy="8"/>
            </a:xfrm>
            <a:prstGeom prst="line">
              <a:avLst/>
            </a:prstGeom>
            <a:noFill/>
            <a:ln w="9525">
              <a:solidFill>
                <a:srgbClr val="FF0000"/>
              </a:solidFill>
              <a:round/>
              <a:tailEnd type="triangle" w="med" len="med"/>
            </a:ln>
          </p:spPr>
          <p:txBody>
            <a:bodyPr/>
            <a:lstStyle/>
            <a:p>
              <a:endParaRPr lang="zh-CN" altLang="en-US"/>
            </a:p>
          </p:txBody>
        </p:sp>
        <p:sp>
          <p:nvSpPr>
            <p:cNvPr id="4145" name="Line 62"/>
            <p:cNvSpPr>
              <a:spLocks noChangeShapeType="1"/>
            </p:cNvSpPr>
            <p:nvPr/>
          </p:nvSpPr>
          <p:spPr bwMode="auto">
            <a:xfrm flipV="1">
              <a:off x="2815" y="3057"/>
              <a:ext cx="284" cy="8"/>
            </a:xfrm>
            <a:prstGeom prst="line">
              <a:avLst/>
            </a:prstGeom>
            <a:noFill/>
            <a:ln w="9525">
              <a:solidFill>
                <a:srgbClr val="FF0000"/>
              </a:solidFill>
              <a:round/>
              <a:tailEnd type="triangle" w="med" len="med"/>
            </a:ln>
          </p:spPr>
          <p:txBody>
            <a:bodyPr/>
            <a:lstStyle/>
            <a:p>
              <a:endParaRPr lang="zh-CN" altLang="en-US"/>
            </a:p>
          </p:txBody>
        </p:sp>
        <p:sp>
          <p:nvSpPr>
            <p:cNvPr id="4146" name="Line 63"/>
            <p:cNvSpPr>
              <a:spLocks noChangeShapeType="1"/>
            </p:cNvSpPr>
            <p:nvPr/>
          </p:nvSpPr>
          <p:spPr bwMode="auto">
            <a:xfrm flipV="1">
              <a:off x="2815" y="3193"/>
              <a:ext cx="284" cy="8"/>
            </a:xfrm>
            <a:prstGeom prst="line">
              <a:avLst/>
            </a:prstGeom>
            <a:noFill/>
            <a:ln w="9525">
              <a:solidFill>
                <a:srgbClr val="FF0000"/>
              </a:solidFill>
              <a:round/>
              <a:tailEnd type="triangle" w="med" len="med"/>
            </a:ln>
          </p:spPr>
          <p:txBody>
            <a:bodyPr/>
            <a:lstStyle/>
            <a:p>
              <a:endParaRPr lang="zh-CN" altLang="en-US"/>
            </a:p>
          </p:txBody>
        </p:sp>
        <p:sp>
          <p:nvSpPr>
            <p:cNvPr id="4147" name="Line 64"/>
            <p:cNvSpPr>
              <a:spLocks noChangeShapeType="1"/>
            </p:cNvSpPr>
            <p:nvPr/>
          </p:nvSpPr>
          <p:spPr bwMode="auto">
            <a:xfrm flipV="1">
              <a:off x="2823" y="3329"/>
              <a:ext cx="284" cy="8"/>
            </a:xfrm>
            <a:prstGeom prst="line">
              <a:avLst/>
            </a:prstGeom>
            <a:noFill/>
            <a:ln w="9525">
              <a:solidFill>
                <a:srgbClr val="FF0000"/>
              </a:solidFill>
              <a:round/>
              <a:tailEnd type="triangle" w="med" len="med"/>
            </a:ln>
          </p:spPr>
          <p:txBody>
            <a:bodyPr/>
            <a:lstStyle/>
            <a:p>
              <a:endParaRPr lang="zh-CN" altLang="en-US"/>
            </a:p>
          </p:txBody>
        </p:sp>
        <p:sp>
          <p:nvSpPr>
            <p:cNvPr id="4148" name="Line 65"/>
            <p:cNvSpPr>
              <a:spLocks noChangeShapeType="1"/>
            </p:cNvSpPr>
            <p:nvPr/>
          </p:nvSpPr>
          <p:spPr bwMode="auto">
            <a:xfrm>
              <a:off x="3658" y="3367"/>
              <a:ext cx="0" cy="325"/>
            </a:xfrm>
            <a:prstGeom prst="line">
              <a:avLst/>
            </a:prstGeom>
            <a:noFill/>
            <a:ln w="76200">
              <a:solidFill>
                <a:schemeClr val="tx1"/>
              </a:solidFill>
              <a:round/>
              <a:tailEnd type="triangle" w="med" len="med"/>
            </a:ln>
          </p:spPr>
          <p:txBody>
            <a:bodyPr/>
            <a:lstStyle/>
            <a:p>
              <a:endParaRPr lang="zh-CN" altLang="en-US"/>
            </a:p>
          </p:txBody>
        </p:sp>
        <p:sp>
          <p:nvSpPr>
            <p:cNvPr id="4149" name="Rectangle 66"/>
            <p:cNvSpPr>
              <a:spLocks noChangeArrowheads="1"/>
            </p:cNvSpPr>
            <p:nvPr/>
          </p:nvSpPr>
          <p:spPr bwMode="auto">
            <a:xfrm>
              <a:off x="2032" y="1897"/>
              <a:ext cx="1777" cy="179"/>
            </a:xfrm>
            <a:prstGeom prst="rect">
              <a:avLst/>
            </a:prstGeom>
            <a:noFill/>
            <a:ln w="12700">
              <a:solidFill>
                <a:schemeClr val="accent2"/>
              </a:solidFill>
              <a:miter lim="800000"/>
            </a:ln>
          </p:spPr>
          <p:txBody>
            <a:bodyPr wrap="none" anchor="ctr"/>
            <a:lstStyle/>
            <a:p>
              <a:endParaRPr lang="zh-CN" altLang="en-US"/>
            </a:p>
          </p:txBody>
        </p:sp>
        <p:sp>
          <p:nvSpPr>
            <p:cNvPr id="4150" name="Line 67"/>
            <p:cNvSpPr>
              <a:spLocks noChangeShapeType="1"/>
            </p:cNvSpPr>
            <p:nvPr/>
          </p:nvSpPr>
          <p:spPr bwMode="auto">
            <a:xfrm>
              <a:off x="3390" y="1899"/>
              <a:ext cx="0" cy="162"/>
            </a:xfrm>
            <a:prstGeom prst="line">
              <a:avLst/>
            </a:prstGeom>
            <a:noFill/>
            <a:ln w="9525">
              <a:solidFill>
                <a:schemeClr val="accent2"/>
              </a:solidFill>
              <a:round/>
            </a:ln>
          </p:spPr>
          <p:txBody>
            <a:bodyPr/>
            <a:lstStyle/>
            <a:p>
              <a:endParaRPr lang="zh-CN" altLang="en-US"/>
            </a:p>
          </p:txBody>
        </p:sp>
        <p:sp>
          <p:nvSpPr>
            <p:cNvPr id="4151" name="Text Box 68"/>
            <p:cNvSpPr txBox="1">
              <a:spLocks noChangeArrowheads="1"/>
            </p:cNvSpPr>
            <p:nvPr/>
          </p:nvSpPr>
          <p:spPr bwMode="auto">
            <a:xfrm>
              <a:off x="2645" y="1915"/>
              <a:ext cx="438" cy="149"/>
            </a:xfrm>
            <a:prstGeom prst="rect">
              <a:avLst/>
            </a:prstGeom>
            <a:noFill/>
            <a:ln w="9525">
              <a:noFill/>
              <a:miter lim="800000"/>
            </a:ln>
          </p:spPr>
          <p:txBody>
            <a:bodyPr lIns="18000" tIns="10800" rIns="18000" bIns="10800">
              <a:spAutoFit/>
            </a:bodyPr>
            <a:lstStyle/>
            <a:p>
              <a:r>
                <a:rPr lang="en-US" altLang="zh-CN" sz="1400" b="1">
                  <a:solidFill>
                    <a:schemeClr val="accent2"/>
                  </a:solidFill>
                </a:rPr>
                <a:t>Tag</a:t>
              </a:r>
              <a:endParaRPr lang="en-US" altLang="zh-CN" sz="1400" b="1">
                <a:solidFill>
                  <a:schemeClr val="accent2"/>
                </a:solidFill>
              </a:endParaRPr>
            </a:p>
          </p:txBody>
        </p:sp>
        <p:sp>
          <p:nvSpPr>
            <p:cNvPr id="4152" name="Text Box 69"/>
            <p:cNvSpPr txBox="1">
              <a:spLocks noChangeArrowheads="1"/>
            </p:cNvSpPr>
            <p:nvPr/>
          </p:nvSpPr>
          <p:spPr bwMode="auto">
            <a:xfrm>
              <a:off x="3434" y="1913"/>
              <a:ext cx="438" cy="149"/>
            </a:xfrm>
            <a:prstGeom prst="rect">
              <a:avLst/>
            </a:prstGeom>
            <a:noFill/>
            <a:ln w="9525">
              <a:noFill/>
              <a:miter lim="800000"/>
            </a:ln>
          </p:spPr>
          <p:txBody>
            <a:bodyPr lIns="18000" tIns="10800" rIns="18000" bIns="10800">
              <a:spAutoFit/>
            </a:bodyPr>
            <a:lstStyle/>
            <a:p>
              <a:r>
                <a:rPr lang="en-US" altLang="zh-CN" sz="1400" b="1">
                  <a:solidFill>
                    <a:schemeClr val="accent2"/>
                  </a:solidFill>
                </a:rPr>
                <a:t>Offset</a:t>
              </a:r>
              <a:endParaRPr lang="en-US" altLang="zh-CN" sz="1400" b="1">
                <a:solidFill>
                  <a:schemeClr val="accent2"/>
                </a:solidFill>
              </a:endParaRPr>
            </a:p>
          </p:txBody>
        </p:sp>
        <p:sp>
          <p:nvSpPr>
            <p:cNvPr id="4153" name="AutoShape 71"/>
            <p:cNvSpPr>
              <a:spLocks noChangeArrowheads="1"/>
            </p:cNvSpPr>
            <p:nvPr/>
          </p:nvSpPr>
          <p:spPr bwMode="auto">
            <a:xfrm>
              <a:off x="3333" y="3692"/>
              <a:ext cx="641" cy="178"/>
            </a:xfrm>
            <a:prstGeom prst="octagon">
              <a:avLst>
                <a:gd name="adj" fmla="val 29287"/>
              </a:avLst>
            </a:prstGeom>
            <a:solidFill>
              <a:schemeClr val="accent1"/>
            </a:solidFill>
            <a:ln w="9525">
              <a:solidFill>
                <a:schemeClr val="tx1"/>
              </a:solidFill>
              <a:miter lim="800000"/>
            </a:ln>
          </p:spPr>
          <p:txBody>
            <a:bodyPr wrap="none" anchor="ctr"/>
            <a:lstStyle/>
            <a:p>
              <a:endParaRPr lang="zh-CN" altLang="en-US"/>
            </a:p>
          </p:txBody>
        </p:sp>
        <p:sp>
          <p:nvSpPr>
            <p:cNvPr id="4154" name="Text Box 72"/>
            <p:cNvSpPr txBox="1">
              <a:spLocks noChangeArrowheads="1"/>
            </p:cNvSpPr>
            <p:nvPr/>
          </p:nvSpPr>
          <p:spPr bwMode="auto">
            <a:xfrm>
              <a:off x="3528" y="3707"/>
              <a:ext cx="333" cy="149"/>
            </a:xfrm>
            <a:prstGeom prst="rect">
              <a:avLst/>
            </a:prstGeom>
            <a:noFill/>
            <a:ln w="9525">
              <a:noFill/>
              <a:miter lim="800000"/>
            </a:ln>
          </p:spPr>
          <p:txBody>
            <a:bodyPr lIns="18000" tIns="10800" rIns="18000" bIns="10800">
              <a:spAutoFit/>
            </a:bodyPr>
            <a:lstStyle/>
            <a:p>
              <a:r>
                <a:rPr lang="en-US" altLang="zh-CN" sz="1400" b="1"/>
                <a:t>Mux</a:t>
              </a:r>
              <a:endParaRPr lang="en-US" altLang="zh-CN" sz="1400" b="1"/>
            </a:p>
          </p:txBody>
        </p:sp>
        <p:sp>
          <p:nvSpPr>
            <p:cNvPr id="4155" name="Line 73"/>
            <p:cNvSpPr>
              <a:spLocks noChangeShapeType="1"/>
            </p:cNvSpPr>
            <p:nvPr/>
          </p:nvSpPr>
          <p:spPr bwMode="auto">
            <a:xfrm>
              <a:off x="3610" y="2069"/>
              <a:ext cx="0" cy="105"/>
            </a:xfrm>
            <a:prstGeom prst="line">
              <a:avLst/>
            </a:prstGeom>
            <a:noFill/>
            <a:ln w="9525">
              <a:solidFill>
                <a:schemeClr val="accent2"/>
              </a:solidFill>
              <a:round/>
            </a:ln>
          </p:spPr>
          <p:txBody>
            <a:bodyPr/>
            <a:lstStyle/>
            <a:p>
              <a:endParaRPr lang="zh-CN" altLang="en-US"/>
            </a:p>
          </p:txBody>
        </p:sp>
        <p:sp>
          <p:nvSpPr>
            <p:cNvPr id="4156" name="Line 74"/>
            <p:cNvSpPr>
              <a:spLocks noChangeShapeType="1"/>
            </p:cNvSpPr>
            <p:nvPr/>
          </p:nvSpPr>
          <p:spPr bwMode="auto">
            <a:xfrm>
              <a:off x="3610" y="2174"/>
              <a:ext cx="844" cy="0"/>
            </a:xfrm>
            <a:prstGeom prst="line">
              <a:avLst/>
            </a:prstGeom>
            <a:noFill/>
            <a:ln w="9525">
              <a:solidFill>
                <a:schemeClr val="accent2"/>
              </a:solidFill>
              <a:round/>
            </a:ln>
          </p:spPr>
          <p:txBody>
            <a:bodyPr/>
            <a:lstStyle/>
            <a:p>
              <a:endParaRPr lang="zh-CN" altLang="en-US"/>
            </a:p>
          </p:txBody>
        </p:sp>
        <p:sp>
          <p:nvSpPr>
            <p:cNvPr id="4157" name="Line 75"/>
            <p:cNvSpPr>
              <a:spLocks noChangeShapeType="1"/>
            </p:cNvSpPr>
            <p:nvPr/>
          </p:nvSpPr>
          <p:spPr bwMode="auto">
            <a:xfrm>
              <a:off x="4454" y="2174"/>
              <a:ext cx="0" cy="1598"/>
            </a:xfrm>
            <a:prstGeom prst="line">
              <a:avLst/>
            </a:prstGeom>
            <a:noFill/>
            <a:ln w="9525">
              <a:solidFill>
                <a:schemeClr val="accent2"/>
              </a:solidFill>
              <a:round/>
            </a:ln>
          </p:spPr>
          <p:txBody>
            <a:bodyPr/>
            <a:lstStyle/>
            <a:p>
              <a:endParaRPr lang="zh-CN" altLang="en-US"/>
            </a:p>
          </p:txBody>
        </p:sp>
        <p:sp>
          <p:nvSpPr>
            <p:cNvPr id="4158" name="Line 76"/>
            <p:cNvSpPr>
              <a:spLocks noChangeShapeType="1"/>
            </p:cNvSpPr>
            <p:nvPr/>
          </p:nvSpPr>
          <p:spPr bwMode="auto">
            <a:xfrm flipH="1">
              <a:off x="3975" y="3780"/>
              <a:ext cx="479" cy="0"/>
            </a:xfrm>
            <a:prstGeom prst="line">
              <a:avLst/>
            </a:prstGeom>
            <a:noFill/>
            <a:ln w="9525">
              <a:solidFill>
                <a:schemeClr val="accent2"/>
              </a:solidFill>
              <a:round/>
              <a:tailEnd type="triangle" w="med" len="med"/>
            </a:ln>
          </p:spPr>
          <p:txBody>
            <a:bodyPr/>
            <a:lstStyle/>
            <a:p>
              <a:endParaRPr lang="zh-CN" altLang="en-US"/>
            </a:p>
          </p:txBody>
        </p:sp>
        <p:sp>
          <p:nvSpPr>
            <p:cNvPr id="4159" name="Line 77"/>
            <p:cNvSpPr>
              <a:spLocks noChangeShapeType="1"/>
            </p:cNvSpPr>
            <p:nvPr/>
          </p:nvSpPr>
          <p:spPr bwMode="auto">
            <a:xfrm>
              <a:off x="3656" y="3876"/>
              <a:ext cx="0" cy="236"/>
            </a:xfrm>
            <a:prstGeom prst="line">
              <a:avLst/>
            </a:prstGeom>
            <a:noFill/>
            <a:ln w="38100">
              <a:solidFill>
                <a:schemeClr val="tx1"/>
              </a:solidFill>
              <a:round/>
              <a:tailEnd type="triangle" w="med" len="med"/>
            </a:ln>
          </p:spPr>
          <p:txBody>
            <a:bodyPr/>
            <a:lstStyle/>
            <a:p>
              <a:endParaRPr lang="zh-CN" altLang="en-US"/>
            </a:p>
          </p:txBody>
        </p:sp>
      </p:grpSp>
      <p:grpSp>
        <p:nvGrpSpPr>
          <p:cNvPr id="4103" name="Group 81"/>
          <p:cNvGrpSpPr/>
          <p:nvPr/>
        </p:nvGrpSpPr>
        <p:grpSpPr bwMode="auto">
          <a:xfrm>
            <a:off x="6010275" y="5834063"/>
            <a:ext cx="446088" cy="338137"/>
            <a:chOff x="1931" y="3740"/>
            <a:chExt cx="211" cy="213"/>
          </a:xfrm>
        </p:grpSpPr>
        <p:sp>
          <p:nvSpPr>
            <p:cNvPr id="4112" name="Oval 79"/>
            <p:cNvSpPr>
              <a:spLocks noChangeArrowheads="1"/>
            </p:cNvSpPr>
            <p:nvPr/>
          </p:nvSpPr>
          <p:spPr bwMode="auto">
            <a:xfrm>
              <a:off x="1931" y="3740"/>
              <a:ext cx="211" cy="211"/>
            </a:xfrm>
            <a:prstGeom prst="ellipse">
              <a:avLst/>
            </a:prstGeom>
            <a:solidFill>
              <a:schemeClr val="accent1"/>
            </a:solidFill>
            <a:ln w="9525">
              <a:solidFill>
                <a:schemeClr val="tx1"/>
              </a:solidFill>
              <a:round/>
            </a:ln>
          </p:spPr>
          <p:txBody>
            <a:bodyPr wrap="none" anchor="ctr"/>
            <a:lstStyle/>
            <a:p>
              <a:endParaRPr lang="zh-CN" altLang="en-US"/>
            </a:p>
          </p:txBody>
        </p:sp>
        <p:sp>
          <p:nvSpPr>
            <p:cNvPr id="4113" name="Text Box 80"/>
            <p:cNvSpPr txBox="1">
              <a:spLocks noChangeArrowheads="1"/>
            </p:cNvSpPr>
            <p:nvPr/>
          </p:nvSpPr>
          <p:spPr bwMode="auto">
            <a:xfrm>
              <a:off x="1979" y="3747"/>
              <a:ext cx="155" cy="206"/>
            </a:xfrm>
            <a:prstGeom prst="rect">
              <a:avLst/>
            </a:prstGeom>
            <a:noFill/>
            <a:ln w="9525">
              <a:noFill/>
              <a:miter lim="800000"/>
            </a:ln>
          </p:spPr>
          <p:txBody>
            <a:bodyPr lIns="18000" tIns="10800" rIns="18000" bIns="10800">
              <a:spAutoFit/>
            </a:bodyPr>
            <a:lstStyle/>
            <a:p>
              <a:r>
                <a:rPr lang="en-US" altLang="zh-CN" sz="2000" b="1"/>
                <a:t>+</a:t>
              </a:r>
              <a:endParaRPr lang="en-US" altLang="zh-CN" sz="2000" b="1"/>
            </a:p>
          </p:txBody>
        </p:sp>
      </p:grpSp>
      <p:sp>
        <p:nvSpPr>
          <p:cNvPr id="4104" name="Line 82"/>
          <p:cNvSpPr>
            <a:spLocks noChangeShapeType="1"/>
          </p:cNvSpPr>
          <p:nvPr/>
        </p:nvSpPr>
        <p:spPr bwMode="auto">
          <a:xfrm>
            <a:off x="6215063" y="6181725"/>
            <a:ext cx="0" cy="296863"/>
          </a:xfrm>
          <a:prstGeom prst="line">
            <a:avLst/>
          </a:prstGeom>
          <a:noFill/>
          <a:ln w="9525">
            <a:solidFill>
              <a:srgbClr val="FF0000"/>
            </a:solidFill>
            <a:round/>
            <a:tailEnd type="triangle" w="med" len="med"/>
          </a:ln>
        </p:spPr>
        <p:txBody>
          <a:bodyPr/>
          <a:lstStyle/>
          <a:p>
            <a:endParaRPr lang="zh-CN" altLang="en-US"/>
          </a:p>
        </p:txBody>
      </p:sp>
      <p:sp>
        <p:nvSpPr>
          <p:cNvPr id="4105" name="Text Box 83"/>
          <p:cNvSpPr txBox="1">
            <a:spLocks noChangeArrowheads="1"/>
          </p:cNvSpPr>
          <p:nvPr/>
        </p:nvSpPr>
        <p:spPr bwMode="auto">
          <a:xfrm>
            <a:off x="6316663" y="6210300"/>
            <a:ext cx="584200" cy="266700"/>
          </a:xfrm>
          <a:prstGeom prst="rect">
            <a:avLst/>
          </a:prstGeom>
          <a:noFill/>
          <a:ln w="9525">
            <a:noFill/>
            <a:miter lim="800000"/>
          </a:ln>
        </p:spPr>
        <p:txBody>
          <a:bodyPr lIns="18000" tIns="10800" rIns="18000" bIns="10800">
            <a:spAutoFit/>
          </a:bodyPr>
          <a:lstStyle/>
          <a:p>
            <a:r>
              <a:rPr lang="en-US" altLang="zh-CN" sz="1600">
                <a:solidFill>
                  <a:srgbClr val="FF0000"/>
                </a:solidFill>
              </a:rPr>
              <a:t>hit</a:t>
            </a:r>
            <a:endParaRPr lang="en-US" altLang="zh-CN" sz="1600">
              <a:solidFill>
                <a:srgbClr val="FF0000"/>
              </a:solidFill>
            </a:endParaRPr>
          </a:p>
        </p:txBody>
      </p:sp>
      <p:sp>
        <p:nvSpPr>
          <p:cNvPr id="4106" name="Text Box 84"/>
          <p:cNvSpPr txBox="1">
            <a:spLocks noChangeArrowheads="1"/>
          </p:cNvSpPr>
          <p:nvPr/>
        </p:nvSpPr>
        <p:spPr bwMode="auto">
          <a:xfrm>
            <a:off x="7891463" y="6219825"/>
            <a:ext cx="584200" cy="266700"/>
          </a:xfrm>
          <a:prstGeom prst="rect">
            <a:avLst/>
          </a:prstGeom>
          <a:noFill/>
          <a:ln w="9525">
            <a:noFill/>
            <a:miter lim="800000"/>
          </a:ln>
        </p:spPr>
        <p:txBody>
          <a:bodyPr lIns="18000" tIns="10800" rIns="18000" bIns="10800">
            <a:spAutoFit/>
          </a:bodyPr>
          <a:lstStyle/>
          <a:p>
            <a:r>
              <a:rPr lang="en-US" altLang="zh-CN" sz="1600"/>
              <a:t>data</a:t>
            </a:r>
            <a:endParaRPr lang="en-US" altLang="zh-CN" sz="1600"/>
          </a:p>
        </p:txBody>
      </p:sp>
      <p:sp>
        <p:nvSpPr>
          <p:cNvPr id="4107" name="Line 85"/>
          <p:cNvSpPr>
            <a:spLocks noChangeShapeType="1"/>
          </p:cNvSpPr>
          <p:nvPr/>
        </p:nvSpPr>
        <p:spPr bwMode="auto">
          <a:xfrm>
            <a:off x="6367463" y="3811588"/>
            <a:ext cx="0" cy="2047875"/>
          </a:xfrm>
          <a:prstGeom prst="line">
            <a:avLst/>
          </a:prstGeom>
          <a:noFill/>
          <a:ln w="9525">
            <a:solidFill>
              <a:srgbClr val="FF0000"/>
            </a:solidFill>
            <a:round/>
            <a:tailEnd type="triangle" w="med" len="med"/>
          </a:ln>
        </p:spPr>
        <p:txBody>
          <a:bodyPr/>
          <a:lstStyle/>
          <a:p>
            <a:endParaRPr lang="zh-CN" altLang="en-US"/>
          </a:p>
        </p:txBody>
      </p:sp>
      <p:sp>
        <p:nvSpPr>
          <p:cNvPr id="4108" name="Oval 86"/>
          <p:cNvSpPr>
            <a:spLocks noChangeArrowheads="1"/>
          </p:cNvSpPr>
          <p:nvPr/>
        </p:nvSpPr>
        <p:spPr bwMode="auto">
          <a:xfrm>
            <a:off x="6326188" y="3770313"/>
            <a:ext cx="57150" cy="50800"/>
          </a:xfrm>
          <a:prstGeom prst="ellipse">
            <a:avLst/>
          </a:prstGeom>
          <a:solidFill>
            <a:srgbClr val="FF0000"/>
          </a:solidFill>
          <a:ln w="9525">
            <a:solidFill>
              <a:srgbClr val="FF0000"/>
            </a:solidFill>
            <a:round/>
          </a:ln>
        </p:spPr>
        <p:txBody>
          <a:bodyPr wrap="none" anchor="ctr"/>
          <a:lstStyle/>
          <a:p>
            <a:endParaRPr lang="zh-CN" altLang="en-US"/>
          </a:p>
        </p:txBody>
      </p:sp>
      <p:sp>
        <p:nvSpPr>
          <p:cNvPr id="4109" name="Line 87"/>
          <p:cNvSpPr>
            <a:spLocks noChangeShapeType="1"/>
          </p:cNvSpPr>
          <p:nvPr/>
        </p:nvSpPr>
        <p:spPr bwMode="auto">
          <a:xfrm>
            <a:off x="6111875" y="5303838"/>
            <a:ext cx="0" cy="555625"/>
          </a:xfrm>
          <a:prstGeom prst="line">
            <a:avLst/>
          </a:prstGeom>
          <a:noFill/>
          <a:ln w="9525">
            <a:solidFill>
              <a:srgbClr val="FF0000"/>
            </a:solidFill>
            <a:round/>
            <a:tailEnd type="triangle" w="med" len="med"/>
          </a:ln>
        </p:spPr>
        <p:txBody>
          <a:bodyPr/>
          <a:lstStyle/>
          <a:p>
            <a:endParaRPr lang="zh-CN" altLang="en-US"/>
          </a:p>
        </p:txBody>
      </p:sp>
      <p:sp>
        <p:nvSpPr>
          <p:cNvPr id="4110" name="Text Box 90"/>
          <p:cNvSpPr txBox="1">
            <a:spLocks noChangeArrowheads="1"/>
          </p:cNvSpPr>
          <p:nvPr/>
        </p:nvSpPr>
        <p:spPr bwMode="auto">
          <a:xfrm>
            <a:off x="6008688" y="5448300"/>
            <a:ext cx="584200" cy="304800"/>
          </a:xfrm>
          <a:prstGeom prst="rect">
            <a:avLst/>
          </a:prstGeom>
          <a:noFill/>
          <a:ln w="9525">
            <a:noFill/>
            <a:miter lim="800000"/>
          </a:ln>
        </p:spPr>
        <p:txBody>
          <a:bodyPr>
            <a:spAutoFit/>
          </a:bodyPr>
          <a:lstStyle/>
          <a:p>
            <a:r>
              <a:rPr lang="en-US" altLang="zh-CN" sz="1400" b="1">
                <a:solidFill>
                  <a:srgbClr val="FF0000"/>
                </a:solidFill>
              </a:rPr>
              <a:t>…</a:t>
            </a:r>
            <a:endParaRPr lang="en-US" altLang="zh-CN" sz="1400" b="1">
              <a:solidFill>
                <a:srgbClr val="FF0000"/>
              </a:solidFill>
            </a:endParaRPr>
          </a:p>
        </p:txBody>
      </p:sp>
      <p:sp>
        <p:nvSpPr>
          <p:cNvPr id="4111" name="Oval 92"/>
          <p:cNvSpPr>
            <a:spLocks noChangeArrowheads="1"/>
          </p:cNvSpPr>
          <p:nvPr/>
        </p:nvSpPr>
        <p:spPr bwMode="auto">
          <a:xfrm>
            <a:off x="6080125" y="5275263"/>
            <a:ext cx="57150" cy="50800"/>
          </a:xfrm>
          <a:prstGeom prst="ellipse">
            <a:avLst/>
          </a:prstGeom>
          <a:solidFill>
            <a:srgbClr val="FF0000"/>
          </a:solidFill>
          <a:ln w="9525">
            <a:solidFill>
              <a:srgbClr val="FF0000"/>
            </a:solidFill>
            <a:roun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灯片编号占位符 5"/>
          <p:cNvSpPr>
            <a:spLocks noGrp="1" noChangeArrowheads="1"/>
          </p:cNvSpPr>
          <p:nvPr>
            <p:ph type="sldNum" sz="quarter" idx="12"/>
          </p:nvPr>
        </p:nvSpPr>
        <p:spPr>
          <a:noFill/>
        </p:spPr>
        <p:txBody>
          <a:bodyPr/>
          <a:lstStyle/>
          <a:p>
            <a:fld id="{B95AFE65-E13D-4723-9C2A-1689F8930850}" type="slidenum">
              <a:rPr lang="en-US" altLang="zh-CN" smtClean="0"/>
            </a:fld>
            <a:endParaRPr lang="en-US" altLang="zh-CN" smtClean="0"/>
          </a:p>
        </p:txBody>
      </p:sp>
      <p:grpSp>
        <p:nvGrpSpPr>
          <p:cNvPr id="5124" name="Group 76"/>
          <p:cNvGrpSpPr/>
          <p:nvPr/>
        </p:nvGrpSpPr>
        <p:grpSpPr bwMode="auto">
          <a:xfrm>
            <a:off x="2578100" y="2733675"/>
            <a:ext cx="5468938" cy="3770313"/>
            <a:chOff x="1218" y="1722"/>
            <a:chExt cx="2584" cy="2375"/>
          </a:xfrm>
        </p:grpSpPr>
        <p:graphicFrame>
          <p:nvGraphicFramePr>
            <p:cNvPr id="5122" name="Object 5"/>
            <p:cNvGraphicFramePr/>
            <p:nvPr/>
          </p:nvGraphicFramePr>
          <p:xfrm>
            <a:off x="1566" y="2211"/>
            <a:ext cx="2236" cy="1381"/>
          </p:xfrm>
          <a:graphic>
            <a:graphicData uri="http://schemas.openxmlformats.org/presentationml/2006/ole">
              <mc:AlternateContent xmlns:mc="http://schemas.openxmlformats.org/markup-compatibility/2006">
                <mc:Choice xmlns:v="urn:schemas-microsoft-com:vml" Requires="v">
                  <p:oleObj spid="_x0000_s5121" name="" r:id="rId1" imgW="3719830" imgH="2289175" progId="Word.Document.8">
                    <p:embed/>
                  </p:oleObj>
                </mc:Choice>
                <mc:Fallback>
                  <p:oleObj name="" r:id="rId1" imgW="3719830" imgH="2289175" progId="Word.Document.8">
                    <p:embed/>
                    <p:pic>
                      <p:nvPicPr>
                        <p:cNvPr id="0" name="Object 5"/>
                        <p:cNvPicPr/>
                        <p:nvPr/>
                      </p:nvPicPr>
                      <p:blipFill>
                        <a:blip r:embed="rId2"/>
                        <a:stretch>
                          <a:fillRect/>
                        </a:stretch>
                      </p:blipFill>
                      <p:spPr>
                        <a:xfrm>
                          <a:off x="1566" y="2211"/>
                          <a:ext cx="2236" cy="1381"/>
                        </a:xfrm>
                        <a:prstGeom prst="rect">
                          <a:avLst/>
                        </a:prstGeom>
                        <a:noFill/>
                        <a:ln w="38100">
                          <a:noFill/>
                        </a:ln>
                      </p:spPr>
                    </p:pic>
                  </p:oleObj>
                </mc:Fallback>
              </mc:AlternateContent>
            </a:graphicData>
          </a:graphic>
        </p:graphicFrame>
        <p:sp>
          <p:nvSpPr>
            <p:cNvPr id="5127" name="Line 8"/>
            <p:cNvSpPr>
              <a:spLocks noChangeShapeType="1"/>
            </p:cNvSpPr>
            <p:nvPr/>
          </p:nvSpPr>
          <p:spPr bwMode="auto">
            <a:xfrm flipH="1">
              <a:off x="2115" y="3359"/>
              <a:ext cx="9" cy="392"/>
            </a:xfrm>
            <a:prstGeom prst="line">
              <a:avLst/>
            </a:prstGeom>
            <a:noFill/>
            <a:ln w="9525">
              <a:solidFill>
                <a:schemeClr val="accent2"/>
              </a:solidFill>
              <a:round/>
            </a:ln>
          </p:spPr>
          <p:txBody>
            <a:bodyPr/>
            <a:lstStyle/>
            <a:p>
              <a:endParaRPr lang="zh-CN" altLang="en-US"/>
            </a:p>
          </p:txBody>
        </p:sp>
        <p:grpSp>
          <p:nvGrpSpPr>
            <p:cNvPr id="5128" name="Group 62"/>
            <p:cNvGrpSpPr/>
            <p:nvPr/>
          </p:nvGrpSpPr>
          <p:grpSpPr bwMode="auto">
            <a:xfrm>
              <a:off x="1646" y="3654"/>
              <a:ext cx="192" cy="193"/>
              <a:chOff x="1926" y="3638"/>
              <a:chExt cx="192" cy="193"/>
            </a:xfrm>
          </p:grpSpPr>
          <p:sp>
            <p:nvSpPr>
              <p:cNvPr id="5156" name="Oval 21"/>
              <p:cNvSpPr>
                <a:spLocks noChangeArrowheads="1"/>
              </p:cNvSpPr>
              <p:nvPr/>
            </p:nvSpPr>
            <p:spPr bwMode="auto">
              <a:xfrm>
                <a:off x="1926" y="3638"/>
                <a:ext cx="192" cy="193"/>
              </a:xfrm>
              <a:prstGeom prst="ellipse">
                <a:avLst/>
              </a:prstGeom>
              <a:solidFill>
                <a:schemeClr val="accent1"/>
              </a:solidFill>
              <a:ln w="9525">
                <a:solidFill>
                  <a:schemeClr val="tx1"/>
                </a:solidFill>
                <a:round/>
              </a:ln>
            </p:spPr>
            <p:txBody>
              <a:bodyPr wrap="none" anchor="ctr"/>
              <a:lstStyle/>
              <a:p>
                <a:endParaRPr lang="zh-CN" altLang="en-US"/>
              </a:p>
            </p:txBody>
          </p:sp>
          <p:sp>
            <p:nvSpPr>
              <p:cNvPr id="5157" name="Text Box 22"/>
              <p:cNvSpPr txBox="1">
                <a:spLocks noChangeArrowheads="1"/>
              </p:cNvSpPr>
              <p:nvPr/>
            </p:nvSpPr>
            <p:spPr bwMode="auto">
              <a:xfrm>
                <a:off x="1926" y="3654"/>
                <a:ext cx="170" cy="173"/>
              </a:xfrm>
              <a:prstGeom prst="rect">
                <a:avLst/>
              </a:prstGeom>
              <a:noFill/>
              <a:ln w="9525">
                <a:noFill/>
                <a:miter lim="800000"/>
              </a:ln>
            </p:spPr>
            <p:txBody>
              <a:bodyPr>
                <a:spAutoFit/>
              </a:bodyPr>
              <a:lstStyle/>
              <a:p>
                <a:r>
                  <a:rPr lang="en-US" altLang="zh-CN"/>
                  <a:t>C</a:t>
                </a:r>
                <a:endParaRPr lang="en-US" altLang="zh-CN"/>
              </a:p>
            </p:txBody>
          </p:sp>
        </p:grpSp>
        <p:sp>
          <p:nvSpPr>
            <p:cNvPr id="5129" name="Line 39"/>
            <p:cNvSpPr>
              <a:spLocks noChangeShapeType="1"/>
            </p:cNvSpPr>
            <p:nvPr/>
          </p:nvSpPr>
          <p:spPr bwMode="auto">
            <a:xfrm flipV="1">
              <a:off x="1742" y="3342"/>
              <a:ext cx="2" cy="316"/>
            </a:xfrm>
            <a:prstGeom prst="line">
              <a:avLst/>
            </a:prstGeom>
            <a:noFill/>
            <a:ln w="9525">
              <a:solidFill>
                <a:srgbClr val="FF3300"/>
              </a:solidFill>
              <a:round/>
              <a:headEnd type="triangle" w="med" len="med"/>
            </a:ln>
          </p:spPr>
          <p:txBody>
            <a:bodyPr/>
            <a:lstStyle/>
            <a:p>
              <a:endParaRPr lang="zh-CN" altLang="en-US"/>
            </a:p>
          </p:txBody>
        </p:sp>
        <p:sp>
          <p:nvSpPr>
            <p:cNvPr id="5130" name="Line 48"/>
            <p:cNvSpPr>
              <a:spLocks noChangeShapeType="1"/>
            </p:cNvSpPr>
            <p:nvPr/>
          </p:nvSpPr>
          <p:spPr bwMode="auto">
            <a:xfrm>
              <a:off x="2912" y="3351"/>
              <a:ext cx="1" cy="325"/>
            </a:xfrm>
            <a:prstGeom prst="line">
              <a:avLst/>
            </a:prstGeom>
            <a:noFill/>
            <a:ln w="76200">
              <a:solidFill>
                <a:schemeClr val="tx1"/>
              </a:solidFill>
              <a:round/>
              <a:tailEnd type="triangle" w="med" len="med"/>
            </a:ln>
          </p:spPr>
          <p:txBody>
            <a:bodyPr/>
            <a:lstStyle/>
            <a:p>
              <a:endParaRPr lang="zh-CN" altLang="en-US"/>
            </a:p>
          </p:txBody>
        </p:sp>
        <p:sp>
          <p:nvSpPr>
            <p:cNvPr id="5131" name="Rectangle 49"/>
            <p:cNvSpPr>
              <a:spLocks noChangeArrowheads="1"/>
            </p:cNvSpPr>
            <p:nvPr/>
          </p:nvSpPr>
          <p:spPr bwMode="auto">
            <a:xfrm>
              <a:off x="1654" y="1729"/>
              <a:ext cx="1777" cy="179"/>
            </a:xfrm>
            <a:prstGeom prst="rect">
              <a:avLst/>
            </a:prstGeom>
            <a:noFill/>
            <a:ln w="12700">
              <a:solidFill>
                <a:schemeClr val="accent2"/>
              </a:solidFill>
              <a:miter lim="800000"/>
            </a:ln>
          </p:spPr>
          <p:txBody>
            <a:bodyPr wrap="none" anchor="ctr"/>
            <a:lstStyle/>
            <a:p>
              <a:endParaRPr lang="zh-CN" altLang="en-US"/>
            </a:p>
          </p:txBody>
        </p:sp>
        <p:sp>
          <p:nvSpPr>
            <p:cNvPr id="5132" name="Line 50"/>
            <p:cNvSpPr>
              <a:spLocks noChangeShapeType="1"/>
            </p:cNvSpPr>
            <p:nvPr/>
          </p:nvSpPr>
          <p:spPr bwMode="auto">
            <a:xfrm>
              <a:off x="3012" y="1731"/>
              <a:ext cx="1" cy="162"/>
            </a:xfrm>
            <a:prstGeom prst="line">
              <a:avLst/>
            </a:prstGeom>
            <a:noFill/>
            <a:ln w="9525">
              <a:solidFill>
                <a:schemeClr val="accent2"/>
              </a:solidFill>
              <a:round/>
            </a:ln>
          </p:spPr>
          <p:txBody>
            <a:bodyPr/>
            <a:lstStyle/>
            <a:p>
              <a:endParaRPr lang="zh-CN" altLang="en-US"/>
            </a:p>
          </p:txBody>
        </p:sp>
        <p:sp>
          <p:nvSpPr>
            <p:cNvPr id="5133" name="Text Box 51"/>
            <p:cNvSpPr txBox="1">
              <a:spLocks noChangeArrowheads="1"/>
            </p:cNvSpPr>
            <p:nvPr/>
          </p:nvSpPr>
          <p:spPr bwMode="auto">
            <a:xfrm>
              <a:off x="1963" y="1747"/>
              <a:ext cx="438" cy="149"/>
            </a:xfrm>
            <a:prstGeom prst="rect">
              <a:avLst/>
            </a:prstGeom>
            <a:noFill/>
            <a:ln w="9525">
              <a:noFill/>
              <a:miter lim="800000"/>
            </a:ln>
          </p:spPr>
          <p:txBody>
            <a:bodyPr lIns="18000" tIns="10800" rIns="18000" bIns="10800">
              <a:spAutoFit/>
            </a:bodyPr>
            <a:lstStyle/>
            <a:p>
              <a:r>
                <a:rPr lang="en-US" altLang="zh-CN" sz="1400" b="1">
                  <a:solidFill>
                    <a:schemeClr val="accent2"/>
                  </a:solidFill>
                </a:rPr>
                <a:t>Tag</a:t>
              </a:r>
              <a:endParaRPr lang="en-US" altLang="zh-CN" sz="1400" b="1">
                <a:solidFill>
                  <a:schemeClr val="accent2"/>
                </a:solidFill>
              </a:endParaRPr>
            </a:p>
          </p:txBody>
        </p:sp>
        <p:sp>
          <p:nvSpPr>
            <p:cNvPr id="5134" name="Text Box 52"/>
            <p:cNvSpPr txBox="1">
              <a:spLocks noChangeArrowheads="1"/>
            </p:cNvSpPr>
            <p:nvPr/>
          </p:nvSpPr>
          <p:spPr bwMode="auto">
            <a:xfrm>
              <a:off x="3056" y="1745"/>
              <a:ext cx="438" cy="149"/>
            </a:xfrm>
            <a:prstGeom prst="rect">
              <a:avLst/>
            </a:prstGeom>
            <a:noFill/>
            <a:ln w="9525">
              <a:noFill/>
              <a:miter lim="800000"/>
            </a:ln>
          </p:spPr>
          <p:txBody>
            <a:bodyPr lIns="18000" tIns="10800" rIns="18000" bIns="10800">
              <a:spAutoFit/>
            </a:bodyPr>
            <a:lstStyle/>
            <a:p>
              <a:r>
                <a:rPr lang="en-US" altLang="zh-CN" sz="1400" b="1">
                  <a:solidFill>
                    <a:schemeClr val="accent2"/>
                  </a:solidFill>
                </a:rPr>
                <a:t>Offset</a:t>
              </a:r>
              <a:endParaRPr lang="en-US" altLang="zh-CN" sz="1400" b="1">
                <a:solidFill>
                  <a:schemeClr val="accent2"/>
                </a:solidFill>
              </a:endParaRPr>
            </a:p>
          </p:txBody>
        </p:sp>
        <p:sp>
          <p:nvSpPr>
            <p:cNvPr id="5135" name="AutoShape 53"/>
            <p:cNvSpPr>
              <a:spLocks noChangeArrowheads="1"/>
            </p:cNvSpPr>
            <p:nvPr/>
          </p:nvSpPr>
          <p:spPr bwMode="auto">
            <a:xfrm>
              <a:off x="2587" y="3682"/>
              <a:ext cx="641" cy="178"/>
            </a:xfrm>
            <a:prstGeom prst="octagon">
              <a:avLst>
                <a:gd name="adj" fmla="val 29287"/>
              </a:avLst>
            </a:prstGeom>
            <a:solidFill>
              <a:schemeClr val="accent1"/>
            </a:solidFill>
            <a:ln w="9525">
              <a:solidFill>
                <a:schemeClr val="tx1"/>
              </a:solidFill>
              <a:miter lim="800000"/>
            </a:ln>
          </p:spPr>
          <p:txBody>
            <a:bodyPr wrap="none" anchor="ctr"/>
            <a:lstStyle/>
            <a:p>
              <a:endParaRPr lang="zh-CN" altLang="en-US"/>
            </a:p>
          </p:txBody>
        </p:sp>
        <p:sp>
          <p:nvSpPr>
            <p:cNvPr id="5136" name="Text Box 54"/>
            <p:cNvSpPr txBox="1">
              <a:spLocks noChangeArrowheads="1"/>
            </p:cNvSpPr>
            <p:nvPr/>
          </p:nvSpPr>
          <p:spPr bwMode="auto">
            <a:xfrm>
              <a:off x="2782" y="3691"/>
              <a:ext cx="333" cy="149"/>
            </a:xfrm>
            <a:prstGeom prst="rect">
              <a:avLst/>
            </a:prstGeom>
            <a:noFill/>
            <a:ln w="9525">
              <a:noFill/>
              <a:miter lim="800000"/>
            </a:ln>
          </p:spPr>
          <p:txBody>
            <a:bodyPr lIns="18000" tIns="10800" rIns="18000" bIns="10800">
              <a:spAutoFit/>
            </a:bodyPr>
            <a:lstStyle/>
            <a:p>
              <a:r>
                <a:rPr lang="en-US" altLang="zh-CN" sz="1400" b="1"/>
                <a:t>Mux</a:t>
              </a:r>
              <a:endParaRPr lang="en-US" altLang="zh-CN" sz="1400" b="1"/>
            </a:p>
          </p:txBody>
        </p:sp>
        <p:sp>
          <p:nvSpPr>
            <p:cNvPr id="5137" name="Line 55"/>
            <p:cNvSpPr>
              <a:spLocks noChangeShapeType="1"/>
            </p:cNvSpPr>
            <p:nvPr/>
          </p:nvSpPr>
          <p:spPr bwMode="auto">
            <a:xfrm>
              <a:off x="3256" y="1907"/>
              <a:ext cx="1" cy="97"/>
            </a:xfrm>
            <a:prstGeom prst="line">
              <a:avLst/>
            </a:prstGeom>
            <a:noFill/>
            <a:ln w="9525">
              <a:solidFill>
                <a:schemeClr val="accent2"/>
              </a:solidFill>
              <a:round/>
            </a:ln>
          </p:spPr>
          <p:txBody>
            <a:bodyPr/>
            <a:lstStyle/>
            <a:p>
              <a:endParaRPr lang="zh-CN" altLang="en-US"/>
            </a:p>
          </p:txBody>
        </p:sp>
        <p:sp>
          <p:nvSpPr>
            <p:cNvPr id="5138" name="Line 56"/>
            <p:cNvSpPr>
              <a:spLocks noChangeShapeType="1"/>
            </p:cNvSpPr>
            <p:nvPr/>
          </p:nvSpPr>
          <p:spPr bwMode="auto">
            <a:xfrm>
              <a:off x="3263" y="1998"/>
              <a:ext cx="455" cy="0"/>
            </a:xfrm>
            <a:prstGeom prst="line">
              <a:avLst/>
            </a:prstGeom>
            <a:noFill/>
            <a:ln w="9525">
              <a:solidFill>
                <a:schemeClr val="accent2"/>
              </a:solidFill>
              <a:round/>
            </a:ln>
          </p:spPr>
          <p:txBody>
            <a:bodyPr/>
            <a:lstStyle/>
            <a:p>
              <a:endParaRPr lang="zh-CN" altLang="en-US"/>
            </a:p>
          </p:txBody>
        </p:sp>
        <p:sp>
          <p:nvSpPr>
            <p:cNvPr id="5139" name="Line 57"/>
            <p:cNvSpPr>
              <a:spLocks noChangeShapeType="1"/>
            </p:cNvSpPr>
            <p:nvPr/>
          </p:nvSpPr>
          <p:spPr bwMode="auto">
            <a:xfrm>
              <a:off x="3718" y="2004"/>
              <a:ext cx="0" cy="1760"/>
            </a:xfrm>
            <a:prstGeom prst="line">
              <a:avLst/>
            </a:prstGeom>
            <a:noFill/>
            <a:ln w="9525">
              <a:solidFill>
                <a:schemeClr val="accent2"/>
              </a:solidFill>
              <a:round/>
            </a:ln>
          </p:spPr>
          <p:txBody>
            <a:bodyPr/>
            <a:lstStyle/>
            <a:p>
              <a:endParaRPr lang="zh-CN" altLang="en-US"/>
            </a:p>
          </p:txBody>
        </p:sp>
        <p:sp>
          <p:nvSpPr>
            <p:cNvPr id="5140" name="Line 58"/>
            <p:cNvSpPr>
              <a:spLocks noChangeShapeType="1"/>
            </p:cNvSpPr>
            <p:nvPr/>
          </p:nvSpPr>
          <p:spPr bwMode="auto">
            <a:xfrm flipH="1">
              <a:off x="3239" y="3772"/>
              <a:ext cx="479" cy="0"/>
            </a:xfrm>
            <a:prstGeom prst="line">
              <a:avLst/>
            </a:prstGeom>
            <a:noFill/>
            <a:ln w="9525">
              <a:solidFill>
                <a:schemeClr val="accent2"/>
              </a:solidFill>
              <a:round/>
              <a:tailEnd type="triangle" w="med" len="med"/>
            </a:ln>
          </p:spPr>
          <p:txBody>
            <a:bodyPr/>
            <a:lstStyle/>
            <a:p>
              <a:endParaRPr lang="zh-CN" altLang="en-US"/>
            </a:p>
          </p:txBody>
        </p:sp>
        <p:sp>
          <p:nvSpPr>
            <p:cNvPr id="5141" name="Line 59"/>
            <p:cNvSpPr>
              <a:spLocks noChangeShapeType="1"/>
            </p:cNvSpPr>
            <p:nvPr/>
          </p:nvSpPr>
          <p:spPr bwMode="auto">
            <a:xfrm>
              <a:off x="2910" y="3860"/>
              <a:ext cx="1" cy="236"/>
            </a:xfrm>
            <a:prstGeom prst="line">
              <a:avLst/>
            </a:prstGeom>
            <a:noFill/>
            <a:ln w="38100">
              <a:solidFill>
                <a:schemeClr val="tx1"/>
              </a:solidFill>
              <a:round/>
              <a:tailEnd type="triangle" w="med" len="med"/>
            </a:ln>
          </p:spPr>
          <p:txBody>
            <a:bodyPr/>
            <a:lstStyle/>
            <a:p>
              <a:endParaRPr lang="zh-CN" altLang="en-US"/>
            </a:p>
          </p:txBody>
        </p:sp>
        <p:sp>
          <p:nvSpPr>
            <p:cNvPr id="5142" name="Line 60"/>
            <p:cNvSpPr>
              <a:spLocks noChangeShapeType="1"/>
            </p:cNvSpPr>
            <p:nvPr/>
          </p:nvSpPr>
          <p:spPr bwMode="auto">
            <a:xfrm>
              <a:off x="2583" y="1722"/>
              <a:ext cx="0" cy="178"/>
            </a:xfrm>
            <a:prstGeom prst="line">
              <a:avLst/>
            </a:prstGeom>
            <a:noFill/>
            <a:ln w="9525">
              <a:solidFill>
                <a:schemeClr val="accent2"/>
              </a:solidFill>
              <a:round/>
            </a:ln>
          </p:spPr>
          <p:txBody>
            <a:bodyPr/>
            <a:lstStyle/>
            <a:p>
              <a:endParaRPr lang="zh-CN" altLang="en-US"/>
            </a:p>
          </p:txBody>
        </p:sp>
        <p:sp>
          <p:nvSpPr>
            <p:cNvPr id="5143" name="Text Box 61"/>
            <p:cNvSpPr txBox="1">
              <a:spLocks noChangeArrowheads="1"/>
            </p:cNvSpPr>
            <p:nvPr/>
          </p:nvSpPr>
          <p:spPr bwMode="auto">
            <a:xfrm>
              <a:off x="2610" y="1737"/>
              <a:ext cx="438" cy="149"/>
            </a:xfrm>
            <a:prstGeom prst="rect">
              <a:avLst/>
            </a:prstGeom>
            <a:noFill/>
            <a:ln w="9525">
              <a:noFill/>
              <a:miter lim="800000"/>
            </a:ln>
          </p:spPr>
          <p:txBody>
            <a:bodyPr lIns="18000" tIns="10800" rIns="18000" bIns="10800">
              <a:spAutoFit/>
            </a:bodyPr>
            <a:lstStyle/>
            <a:p>
              <a:r>
                <a:rPr lang="en-US" altLang="zh-CN" sz="1400" b="1">
                  <a:solidFill>
                    <a:schemeClr val="accent2"/>
                  </a:solidFill>
                </a:rPr>
                <a:t>Index</a:t>
              </a:r>
              <a:endParaRPr lang="en-US" altLang="zh-CN" sz="1400" b="1">
                <a:solidFill>
                  <a:schemeClr val="accent2"/>
                </a:solidFill>
              </a:endParaRPr>
            </a:p>
          </p:txBody>
        </p:sp>
        <p:sp>
          <p:nvSpPr>
            <p:cNvPr id="5144" name="Line 63"/>
            <p:cNvSpPr>
              <a:spLocks noChangeShapeType="1"/>
            </p:cNvSpPr>
            <p:nvPr/>
          </p:nvSpPr>
          <p:spPr bwMode="auto">
            <a:xfrm flipH="1">
              <a:off x="1818" y="3754"/>
              <a:ext cx="300" cy="0"/>
            </a:xfrm>
            <a:prstGeom prst="line">
              <a:avLst/>
            </a:prstGeom>
            <a:noFill/>
            <a:ln w="9525">
              <a:solidFill>
                <a:schemeClr val="accent2"/>
              </a:solidFill>
              <a:round/>
              <a:tailEnd type="triangle" w="med" len="med"/>
            </a:ln>
          </p:spPr>
          <p:txBody>
            <a:bodyPr/>
            <a:lstStyle/>
            <a:p>
              <a:endParaRPr lang="zh-CN" altLang="en-US"/>
            </a:p>
          </p:txBody>
        </p:sp>
        <p:sp>
          <p:nvSpPr>
            <p:cNvPr id="5145" name="Line 64"/>
            <p:cNvSpPr>
              <a:spLocks noChangeShapeType="1"/>
            </p:cNvSpPr>
            <p:nvPr/>
          </p:nvSpPr>
          <p:spPr bwMode="auto">
            <a:xfrm>
              <a:off x="2808" y="1907"/>
              <a:ext cx="1" cy="186"/>
            </a:xfrm>
            <a:prstGeom prst="line">
              <a:avLst/>
            </a:prstGeom>
            <a:noFill/>
            <a:ln w="9525">
              <a:solidFill>
                <a:schemeClr val="accent2"/>
              </a:solidFill>
              <a:round/>
            </a:ln>
          </p:spPr>
          <p:txBody>
            <a:bodyPr/>
            <a:lstStyle/>
            <a:p>
              <a:endParaRPr lang="zh-CN" altLang="en-US"/>
            </a:p>
          </p:txBody>
        </p:sp>
        <p:sp>
          <p:nvSpPr>
            <p:cNvPr id="5146" name="Line 65"/>
            <p:cNvSpPr>
              <a:spLocks noChangeShapeType="1"/>
            </p:cNvSpPr>
            <p:nvPr/>
          </p:nvSpPr>
          <p:spPr bwMode="auto">
            <a:xfrm>
              <a:off x="2807" y="2094"/>
              <a:ext cx="836" cy="0"/>
            </a:xfrm>
            <a:prstGeom prst="line">
              <a:avLst/>
            </a:prstGeom>
            <a:noFill/>
            <a:ln w="9525">
              <a:solidFill>
                <a:schemeClr val="accent2"/>
              </a:solidFill>
              <a:round/>
            </a:ln>
          </p:spPr>
          <p:txBody>
            <a:bodyPr/>
            <a:lstStyle/>
            <a:p>
              <a:endParaRPr lang="zh-CN" altLang="en-US"/>
            </a:p>
          </p:txBody>
        </p:sp>
        <p:sp>
          <p:nvSpPr>
            <p:cNvPr id="5147" name="Line 66"/>
            <p:cNvSpPr>
              <a:spLocks noChangeShapeType="1"/>
            </p:cNvSpPr>
            <p:nvPr/>
          </p:nvSpPr>
          <p:spPr bwMode="auto">
            <a:xfrm>
              <a:off x="3654" y="2100"/>
              <a:ext cx="0" cy="737"/>
            </a:xfrm>
            <a:prstGeom prst="line">
              <a:avLst/>
            </a:prstGeom>
            <a:noFill/>
            <a:ln w="9525">
              <a:solidFill>
                <a:schemeClr val="accent2"/>
              </a:solidFill>
              <a:round/>
            </a:ln>
          </p:spPr>
          <p:txBody>
            <a:bodyPr/>
            <a:lstStyle/>
            <a:p>
              <a:endParaRPr lang="zh-CN" altLang="en-US"/>
            </a:p>
          </p:txBody>
        </p:sp>
        <p:sp>
          <p:nvSpPr>
            <p:cNvPr id="5148" name="Line 67"/>
            <p:cNvSpPr>
              <a:spLocks noChangeShapeType="1"/>
            </p:cNvSpPr>
            <p:nvPr/>
          </p:nvSpPr>
          <p:spPr bwMode="auto">
            <a:xfrm flipH="1">
              <a:off x="3496" y="2837"/>
              <a:ext cx="155" cy="0"/>
            </a:xfrm>
            <a:prstGeom prst="line">
              <a:avLst/>
            </a:prstGeom>
            <a:noFill/>
            <a:ln w="9525">
              <a:solidFill>
                <a:schemeClr val="accent2"/>
              </a:solidFill>
              <a:round/>
              <a:tailEnd type="triangle" w="med" len="med"/>
            </a:ln>
          </p:spPr>
          <p:txBody>
            <a:bodyPr/>
            <a:lstStyle/>
            <a:p>
              <a:endParaRPr lang="zh-CN" altLang="en-US"/>
            </a:p>
          </p:txBody>
        </p:sp>
        <p:sp>
          <p:nvSpPr>
            <p:cNvPr id="5149" name="Line 68"/>
            <p:cNvSpPr>
              <a:spLocks noChangeShapeType="1"/>
            </p:cNvSpPr>
            <p:nvPr/>
          </p:nvSpPr>
          <p:spPr bwMode="auto">
            <a:xfrm>
              <a:off x="2076" y="1905"/>
              <a:ext cx="1" cy="186"/>
            </a:xfrm>
            <a:prstGeom prst="line">
              <a:avLst/>
            </a:prstGeom>
            <a:noFill/>
            <a:ln w="9525">
              <a:solidFill>
                <a:schemeClr val="accent2"/>
              </a:solidFill>
              <a:round/>
            </a:ln>
          </p:spPr>
          <p:txBody>
            <a:bodyPr/>
            <a:lstStyle/>
            <a:p>
              <a:endParaRPr lang="zh-CN" altLang="en-US"/>
            </a:p>
          </p:txBody>
        </p:sp>
        <p:sp>
          <p:nvSpPr>
            <p:cNvPr id="5150" name="Line 69"/>
            <p:cNvSpPr>
              <a:spLocks noChangeShapeType="1"/>
            </p:cNvSpPr>
            <p:nvPr/>
          </p:nvSpPr>
          <p:spPr bwMode="auto">
            <a:xfrm>
              <a:off x="1231" y="2084"/>
              <a:ext cx="836" cy="0"/>
            </a:xfrm>
            <a:prstGeom prst="line">
              <a:avLst/>
            </a:prstGeom>
            <a:noFill/>
            <a:ln w="9525">
              <a:solidFill>
                <a:schemeClr val="accent2"/>
              </a:solidFill>
              <a:round/>
            </a:ln>
          </p:spPr>
          <p:txBody>
            <a:bodyPr/>
            <a:lstStyle/>
            <a:p>
              <a:endParaRPr lang="zh-CN" altLang="en-US"/>
            </a:p>
          </p:txBody>
        </p:sp>
        <p:sp>
          <p:nvSpPr>
            <p:cNvPr id="5151" name="Line 70"/>
            <p:cNvSpPr>
              <a:spLocks noChangeShapeType="1"/>
            </p:cNvSpPr>
            <p:nvPr/>
          </p:nvSpPr>
          <p:spPr bwMode="auto">
            <a:xfrm>
              <a:off x="1218" y="2075"/>
              <a:ext cx="0" cy="1670"/>
            </a:xfrm>
            <a:prstGeom prst="line">
              <a:avLst/>
            </a:prstGeom>
            <a:noFill/>
            <a:ln w="9525">
              <a:solidFill>
                <a:schemeClr val="accent2"/>
              </a:solidFill>
              <a:round/>
            </a:ln>
          </p:spPr>
          <p:txBody>
            <a:bodyPr/>
            <a:lstStyle/>
            <a:p>
              <a:endParaRPr lang="zh-CN" altLang="en-US"/>
            </a:p>
          </p:txBody>
        </p:sp>
        <p:sp>
          <p:nvSpPr>
            <p:cNvPr id="5152" name="Line 71"/>
            <p:cNvSpPr>
              <a:spLocks noChangeShapeType="1"/>
            </p:cNvSpPr>
            <p:nvPr/>
          </p:nvSpPr>
          <p:spPr bwMode="auto">
            <a:xfrm>
              <a:off x="1225" y="3756"/>
              <a:ext cx="414" cy="0"/>
            </a:xfrm>
            <a:prstGeom prst="line">
              <a:avLst/>
            </a:prstGeom>
            <a:noFill/>
            <a:ln w="9525">
              <a:solidFill>
                <a:schemeClr val="accent2"/>
              </a:solidFill>
              <a:round/>
              <a:tailEnd type="triangle" w="med" len="med"/>
            </a:ln>
          </p:spPr>
          <p:txBody>
            <a:bodyPr/>
            <a:lstStyle/>
            <a:p>
              <a:endParaRPr lang="zh-CN" altLang="en-US"/>
            </a:p>
          </p:txBody>
        </p:sp>
        <p:sp>
          <p:nvSpPr>
            <p:cNvPr id="5153" name="Line 72"/>
            <p:cNvSpPr>
              <a:spLocks noChangeShapeType="1"/>
            </p:cNvSpPr>
            <p:nvPr/>
          </p:nvSpPr>
          <p:spPr bwMode="auto">
            <a:xfrm flipH="1">
              <a:off x="1728" y="3854"/>
              <a:ext cx="0" cy="243"/>
            </a:xfrm>
            <a:prstGeom prst="line">
              <a:avLst/>
            </a:prstGeom>
            <a:noFill/>
            <a:ln w="9525">
              <a:solidFill>
                <a:srgbClr val="FF0000"/>
              </a:solidFill>
              <a:round/>
              <a:tailEnd type="triangle" w="med" len="med"/>
            </a:ln>
          </p:spPr>
          <p:txBody>
            <a:bodyPr/>
            <a:lstStyle/>
            <a:p>
              <a:endParaRPr lang="zh-CN" altLang="en-US"/>
            </a:p>
          </p:txBody>
        </p:sp>
        <p:sp>
          <p:nvSpPr>
            <p:cNvPr id="5154" name="Text Box 74"/>
            <p:cNvSpPr txBox="1">
              <a:spLocks noChangeArrowheads="1"/>
            </p:cNvSpPr>
            <p:nvPr/>
          </p:nvSpPr>
          <p:spPr bwMode="auto">
            <a:xfrm>
              <a:off x="1784" y="3896"/>
              <a:ext cx="276" cy="168"/>
            </a:xfrm>
            <a:prstGeom prst="rect">
              <a:avLst/>
            </a:prstGeom>
            <a:noFill/>
            <a:ln w="9525">
              <a:noFill/>
              <a:miter lim="800000"/>
            </a:ln>
          </p:spPr>
          <p:txBody>
            <a:bodyPr lIns="18000" tIns="10800" rIns="18000" bIns="10800">
              <a:spAutoFit/>
            </a:bodyPr>
            <a:lstStyle/>
            <a:p>
              <a:r>
                <a:rPr lang="en-US" altLang="zh-CN" sz="1600">
                  <a:solidFill>
                    <a:srgbClr val="FF0000"/>
                  </a:solidFill>
                </a:rPr>
                <a:t>hit</a:t>
              </a:r>
              <a:endParaRPr lang="en-US" altLang="zh-CN" sz="1600">
                <a:solidFill>
                  <a:srgbClr val="FF0000"/>
                </a:solidFill>
              </a:endParaRPr>
            </a:p>
          </p:txBody>
        </p:sp>
        <p:sp>
          <p:nvSpPr>
            <p:cNvPr id="5155" name="Text Box 75"/>
            <p:cNvSpPr txBox="1">
              <a:spLocks noChangeArrowheads="1"/>
            </p:cNvSpPr>
            <p:nvPr/>
          </p:nvSpPr>
          <p:spPr bwMode="auto">
            <a:xfrm>
              <a:off x="2958" y="3910"/>
              <a:ext cx="276" cy="168"/>
            </a:xfrm>
            <a:prstGeom prst="rect">
              <a:avLst/>
            </a:prstGeom>
            <a:noFill/>
            <a:ln w="9525">
              <a:noFill/>
              <a:miter lim="800000"/>
            </a:ln>
          </p:spPr>
          <p:txBody>
            <a:bodyPr lIns="18000" tIns="10800" rIns="18000" bIns="10800">
              <a:spAutoFit/>
            </a:bodyPr>
            <a:lstStyle/>
            <a:p>
              <a:r>
                <a:rPr lang="en-US" altLang="zh-CN" sz="1600"/>
                <a:t>data</a:t>
              </a:r>
              <a:endParaRPr lang="en-US" altLang="zh-CN" sz="1600"/>
            </a:p>
          </p:txBody>
        </p:sp>
      </p:grpSp>
      <p:sp>
        <p:nvSpPr>
          <p:cNvPr id="5125" name="Rectangle 77"/>
          <p:cNvSpPr>
            <a:spLocks noGrp="1" noChangeArrowheads="1"/>
          </p:cNvSpPr>
          <p:nvPr>
            <p:ph type="title"/>
          </p:nvPr>
        </p:nvSpPr>
        <p:spPr>
          <a:xfrm>
            <a:off x="914400" y="241300"/>
            <a:ext cx="10361613" cy="769938"/>
          </a:xfrm>
        </p:spPr>
        <p:txBody>
          <a:bodyPr/>
          <a:lstStyle/>
          <a:p>
            <a:pPr eaLnBrk="1" hangingPunct="1"/>
            <a:r>
              <a:rPr lang="zh-CN" altLang="en-US" smtClean="0"/>
              <a:t>直接相联</a:t>
            </a:r>
            <a:endParaRPr lang="zh-CN" altLang="en-US" smtClean="0"/>
          </a:p>
        </p:txBody>
      </p:sp>
      <p:sp>
        <p:nvSpPr>
          <p:cNvPr id="5126" name="Rectangle 78"/>
          <p:cNvSpPr>
            <a:spLocks noGrp="1" noChangeArrowheads="1"/>
          </p:cNvSpPr>
          <p:nvPr>
            <p:ph idx="1"/>
          </p:nvPr>
        </p:nvSpPr>
        <p:spPr>
          <a:xfrm>
            <a:off x="914400" y="1104900"/>
            <a:ext cx="10361613" cy="1281113"/>
          </a:xfrm>
        </p:spPr>
        <p:txBody>
          <a:bodyPr/>
          <a:lstStyle/>
          <a:p>
            <a:pPr eaLnBrk="1" hangingPunct="1">
              <a:spcBef>
                <a:spcPct val="0"/>
              </a:spcBef>
            </a:pPr>
            <a:r>
              <a:rPr lang="zh-CN" altLang="en-US" smtClean="0"/>
              <a:t>硬件简单、延迟最小</a:t>
            </a:r>
            <a:endParaRPr lang="zh-CN" altLang="en-US" smtClean="0"/>
          </a:p>
          <a:p>
            <a:pPr eaLnBrk="1" hangingPunct="1">
              <a:spcBef>
                <a:spcPct val="0"/>
              </a:spcBef>
            </a:pPr>
            <a:r>
              <a:rPr lang="zh-CN" altLang="en-US" smtClean="0"/>
              <a:t>命中率低</a:t>
            </a:r>
            <a:endParaRPr lang="zh-CN" altLang="en-US"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1"/>
          <p:cNvSpPr>
            <a:spLocks noChangeArrowheads="1"/>
          </p:cNvSpPr>
          <p:nvPr/>
        </p:nvSpPr>
        <p:spPr bwMode="auto">
          <a:xfrm>
            <a:off x="6708775" y="2695575"/>
            <a:ext cx="4465638" cy="2198688"/>
          </a:xfrm>
          <a:prstGeom prst="rect">
            <a:avLst/>
          </a:prstGeom>
          <a:solidFill>
            <a:srgbClr val="FFFF66"/>
          </a:solidFill>
          <a:ln w="9525">
            <a:noFill/>
            <a:miter lim="800000"/>
          </a:ln>
        </p:spPr>
        <p:txBody>
          <a:bodyPr wrap="none" anchor="ctr"/>
          <a:lstStyle/>
          <a:p>
            <a:endParaRPr lang="zh-CN" altLang="en-US"/>
          </a:p>
        </p:txBody>
      </p:sp>
      <p:sp>
        <p:nvSpPr>
          <p:cNvPr id="22531" name="Rectangle 90"/>
          <p:cNvSpPr>
            <a:spLocks noChangeArrowheads="1"/>
          </p:cNvSpPr>
          <p:nvPr/>
        </p:nvSpPr>
        <p:spPr bwMode="auto">
          <a:xfrm>
            <a:off x="1287463" y="2695575"/>
            <a:ext cx="4465637" cy="2212975"/>
          </a:xfrm>
          <a:prstGeom prst="rect">
            <a:avLst/>
          </a:prstGeom>
          <a:solidFill>
            <a:srgbClr val="FFFF66"/>
          </a:solidFill>
          <a:ln w="9525">
            <a:noFill/>
            <a:miter lim="800000"/>
          </a:ln>
        </p:spPr>
        <p:txBody>
          <a:bodyPr wrap="none" anchor="ctr"/>
          <a:lstStyle/>
          <a:p>
            <a:endParaRPr lang="zh-CN" altLang="en-US"/>
          </a:p>
        </p:txBody>
      </p:sp>
      <p:sp>
        <p:nvSpPr>
          <p:cNvPr id="22532" name="Line 20"/>
          <p:cNvSpPr>
            <a:spLocks noChangeShapeType="1"/>
          </p:cNvSpPr>
          <p:nvPr/>
        </p:nvSpPr>
        <p:spPr bwMode="auto">
          <a:xfrm>
            <a:off x="5943600" y="2495550"/>
            <a:ext cx="9525" cy="534988"/>
          </a:xfrm>
          <a:prstGeom prst="line">
            <a:avLst/>
          </a:prstGeom>
          <a:noFill/>
          <a:ln w="9525">
            <a:solidFill>
              <a:schemeClr val="accent2"/>
            </a:solidFill>
            <a:round/>
          </a:ln>
        </p:spPr>
        <p:txBody>
          <a:bodyPr/>
          <a:lstStyle/>
          <a:p>
            <a:endParaRPr lang="zh-CN" altLang="en-US"/>
          </a:p>
        </p:txBody>
      </p:sp>
      <p:sp>
        <p:nvSpPr>
          <p:cNvPr id="22533" name="Rectangle 12"/>
          <p:cNvSpPr>
            <a:spLocks noChangeArrowheads="1"/>
          </p:cNvSpPr>
          <p:nvPr/>
        </p:nvSpPr>
        <p:spPr bwMode="auto">
          <a:xfrm>
            <a:off x="3379788" y="2211388"/>
            <a:ext cx="3760787" cy="284162"/>
          </a:xfrm>
          <a:prstGeom prst="rect">
            <a:avLst/>
          </a:prstGeom>
          <a:noFill/>
          <a:ln w="12700">
            <a:solidFill>
              <a:schemeClr val="accent2"/>
            </a:solidFill>
            <a:miter lim="800000"/>
          </a:ln>
        </p:spPr>
        <p:txBody>
          <a:bodyPr wrap="none" anchor="ctr"/>
          <a:lstStyle/>
          <a:p>
            <a:endParaRPr lang="zh-CN" altLang="en-US"/>
          </a:p>
        </p:txBody>
      </p:sp>
      <p:sp>
        <p:nvSpPr>
          <p:cNvPr id="22534" name="Line 13"/>
          <p:cNvSpPr>
            <a:spLocks noChangeShapeType="1"/>
          </p:cNvSpPr>
          <p:nvPr/>
        </p:nvSpPr>
        <p:spPr bwMode="auto">
          <a:xfrm>
            <a:off x="6253163" y="2222500"/>
            <a:ext cx="3175" cy="257175"/>
          </a:xfrm>
          <a:prstGeom prst="line">
            <a:avLst/>
          </a:prstGeom>
          <a:noFill/>
          <a:ln w="9525">
            <a:solidFill>
              <a:schemeClr val="accent2"/>
            </a:solidFill>
            <a:round/>
          </a:ln>
        </p:spPr>
        <p:txBody>
          <a:bodyPr/>
          <a:lstStyle/>
          <a:p>
            <a:endParaRPr lang="zh-CN" altLang="en-US"/>
          </a:p>
        </p:txBody>
      </p:sp>
      <p:sp>
        <p:nvSpPr>
          <p:cNvPr id="22535" name="Text Box 14"/>
          <p:cNvSpPr txBox="1">
            <a:spLocks noChangeArrowheads="1"/>
          </p:cNvSpPr>
          <p:nvPr/>
        </p:nvSpPr>
        <p:spPr bwMode="auto">
          <a:xfrm>
            <a:off x="4033838" y="2247900"/>
            <a:ext cx="927100" cy="236538"/>
          </a:xfrm>
          <a:prstGeom prst="rect">
            <a:avLst/>
          </a:prstGeom>
          <a:noFill/>
          <a:ln w="9525">
            <a:noFill/>
            <a:miter lim="800000"/>
          </a:ln>
        </p:spPr>
        <p:txBody>
          <a:bodyPr lIns="18000" tIns="10800" rIns="18000" bIns="10800">
            <a:spAutoFit/>
          </a:bodyPr>
          <a:lstStyle/>
          <a:p>
            <a:r>
              <a:rPr lang="en-US" altLang="zh-CN" sz="1400" b="1">
                <a:solidFill>
                  <a:schemeClr val="accent2"/>
                </a:solidFill>
              </a:rPr>
              <a:t>Tag</a:t>
            </a:r>
            <a:endParaRPr lang="en-US" altLang="zh-CN" sz="1400" b="1">
              <a:solidFill>
                <a:schemeClr val="accent2"/>
              </a:solidFill>
            </a:endParaRPr>
          </a:p>
        </p:txBody>
      </p:sp>
      <p:sp>
        <p:nvSpPr>
          <p:cNvPr id="22536" name="Text Box 15"/>
          <p:cNvSpPr txBox="1">
            <a:spLocks noChangeArrowheads="1"/>
          </p:cNvSpPr>
          <p:nvPr/>
        </p:nvSpPr>
        <p:spPr bwMode="auto">
          <a:xfrm>
            <a:off x="6346825" y="2244725"/>
            <a:ext cx="927100" cy="236538"/>
          </a:xfrm>
          <a:prstGeom prst="rect">
            <a:avLst/>
          </a:prstGeom>
          <a:noFill/>
          <a:ln w="9525">
            <a:noFill/>
            <a:miter lim="800000"/>
          </a:ln>
        </p:spPr>
        <p:txBody>
          <a:bodyPr lIns="18000" tIns="10800" rIns="18000" bIns="10800">
            <a:spAutoFit/>
          </a:bodyPr>
          <a:lstStyle/>
          <a:p>
            <a:r>
              <a:rPr lang="en-US" altLang="zh-CN" sz="1400" b="1">
                <a:solidFill>
                  <a:schemeClr val="accent2"/>
                </a:solidFill>
              </a:rPr>
              <a:t>Offset</a:t>
            </a:r>
            <a:endParaRPr lang="en-US" altLang="zh-CN" sz="1400" b="1">
              <a:solidFill>
                <a:schemeClr val="accent2"/>
              </a:solidFill>
            </a:endParaRPr>
          </a:p>
        </p:txBody>
      </p:sp>
      <p:sp>
        <p:nvSpPr>
          <p:cNvPr id="22537" name="Line 23"/>
          <p:cNvSpPr>
            <a:spLocks noChangeShapeType="1"/>
          </p:cNvSpPr>
          <p:nvPr/>
        </p:nvSpPr>
        <p:spPr bwMode="auto">
          <a:xfrm>
            <a:off x="5346700" y="2208213"/>
            <a:ext cx="0" cy="282575"/>
          </a:xfrm>
          <a:prstGeom prst="line">
            <a:avLst/>
          </a:prstGeom>
          <a:noFill/>
          <a:ln w="9525">
            <a:solidFill>
              <a:schemeClr val="accent2"/>
            </a:solidFill>
            <a:round/>
          </a:ln>
        </p:spPr>
        <p:txBody>
          <a:bodyPr/>
          <a:lstStyle/>
          <a:p>
            <a:endParaRPr lang="zh-CN" altLang="en-US"/>
          </a:p>
        </p:txBody>
      </p:sp>
      <p:sp>
        <p:nvSpPr>
          <p:cNvPr id="22538" name="Text Box 24"/>
          <p:cNvSpPr txBox="1">
            <a:spLocks noChangeArrowheads="1"/>
          </p:cNvSpPr>
          <p:nvPr/>
        </p:nvSpPr>
        <p:spPr bwMode="auto">
          <a:xfrm>
            <a:off x="5403850" y="2232025"/>
            <a:ext cx="925513" cy="236538"/>
          </a:xfrm>
          <a:prstGeom prst="rect">
            <a:avLst/>
          </a:prstGeom>
          <a:noFill/>
          <a:ln w="9525">
            <a:noFill/>
            <a:miter lim="800000"/>
          </a:ln>
        </p:spPr>
        <p:txBody>
          <a:bodyPr lIns="18000" tIns="10800" rIns="18000" bIns="10800">
            <a:spAutoFit/>
          </a:bodyPr>
          <a:lstStyle/>
          <a:p>
            <a:r>
              <a:rPr lang="en-US" altLang="zh-CN" sz="1400" b="1">
                <a:solidFill>
                  <a:schemeClr val="accent2"/>
                </a:solidFill>
              </a:rPr>
              <a:t>Index</a:t>
            </a:r>
            <a:endParaRPr lang="en-US" altLang="zh-CN" sz="1400" b="1">
              <a:solidFill>
                <a:schemeClr val="accent2"/>
              </a:solidFill>
            </a:endParaRPr>
          </a:p>
        </p:txBody>
      </p:sp>
      <p:sp>
        <p:nvSpPr>
          <p:cNvPr id="22539" name="Line 6"/>
          <p:cNvSpPr>
            <a:spLocks noChangeShapeType="1"/>
          </p:cNvSpPr>
          <p:nvPr/>
        </p:nvSpPr>
        <p:spPr bwMode="auto">
          <a:xfrm flipH="1">
            <a:off x="2673350" y="3868738"/>
            <a:ext cx="19050" cy="622300"/>
          </a:xfrm>
          <a:prstGeom prst="line">
            <a:avLst/>
          </a:prstGeom>
          <a:noFill/>
          <a:ln w="9525">
            <a:solidFill>
              <a:schemeClr val="accent2"/>
            </a:solidFill>
            <a:round/>
          </a:ln>
        </p:spPr>
        <p:txBody>
          <a:bodyPr/>
          <a:lstStyle/>
          <a:p>
            <a:endParaRPr lang="zh-CN" altLang="en-US"/>
          </a:p>
        </p:txBody>
      </p:sp>
      <p:sp>
        <p:nvSpPr>
          <p:cNvPr id="22540" name="Oval 8"/>
          <p:cNvSpPr>
            <a:spLocks noChangeArrowheads="1"/>
          </p:cNvSpPr>
          <p:nvPr/>
        </p:nvSpPr>
        <p:spPr bwMode="auto">
          <a:xfrm>
            <a:off x="1681163" y="4337050"/>
            <a:ext cx="404812" cy="306388"/>
          </a:xfrm>
          <a:prstGeom prst="ellipse">
            <a:avLst/>
          </a:prstGeom>
          <a:solidFill>
            <a:schemeClr val="accent1"/>
          </a:solidFill>
          <a:ln w="9525">
            <a:solidFill>
              <a:schemeClr val="tx1"/>
            </a:solidFill>
            <a:round/>
          </a:ln>
        </p:spPr>
        <p:txBody>
          <a:bodyPr wrap="none" anchor="ctr"/>
          <a:lstStyle/>
          <a:p>
            <a:endParaRPr lang="zh-CN" altLang="en-US"/>
          </a:p>
        </p:txBody>
      </p:sp>
      <p:sp>
        <p:nvSpPr>
          <p:cNvPr id="22541" name="Text Box 9"/>
          <p:cNvSpPr txBox="1">
            <a:spLocks noChangeArrowheads="1"/>
          </p:cNvSpPr>
          <p:nvPr/>
        </p:nvSpPr>
        <p:spPr bwMode="auto">
          <a:xfrm>
            <a:off x="1681163" y="4362450"/>
            <a:ext cx="358775" cy="274638"/>
          </a:xfrm>
          <a:prstGeom prst="rect">
            <a:avLst/>
          </a:prstGeom>
          <a:noFill/>
          <a:ln w="9525">
            <a:noFill/>
            <a:miter lim="800000"/>
          </a:ln>
        </p:spPr>
        <p:txBody>
          <a:bodyPr>
            <a:spAutoFit/>
          </a:bodyPr>
          <a:lstStyle/>
          <a:p>
            <a:r>
              <a:rPr lang="en-US" altLang="zh-CN"/>
              <a:t>C</a:t>
            </a:r>
            <a:endParaRPr lang="en-US" altLang="zh-CN"/>
          </a:p>
        </p:txBody>
      </p:sp>
      <p:sp>
        <p:nvSpPr>
          <p:cNvPr id="22542" name="Line 10"/>
          <p:cNvSpPr>
            <a:spLocks noChangeShapeType="1"/>
          </p:cNvSpPr>
          <p:nvPr/>
        </p:nvSpPr>
        <p:spPr bwMode="auto">
          <a:xfrm flipV="1">
            <a:off x="1884363" y="3841750"/>
            <a:ext cx="3175" cy="501650"/>
          </a:xfrm>
          <a:prstGeom prst="line">
            <a:avLst/>
          </a:prstGeom>
          <a:noFill/>
          <a:ln w="9525">
            <a:solidFill>
              <a:srgbClr val="FF3300"/>
            </a:solidFill>
            <a:round/>
            <a:headEnd type="triangle" w="med" len="med"/>
          </a:ln>
        </p:spPr>
        <p:txBody>
          <a:bodyPr/>
          <a:lstStyle/>
          <a:p>
            <a:endParaRPr lang="zh-CN" altLang="en-US"/>
          </a:p>
        </p:txBody>
      </p:sp>
      <p:sp>
        <p:nvSpPr>
          <p:cNvPr id="22543" name="Line 25"/>
          <p:cNvSpPr>
            <a:spLocks noChangeShapeType="1"/>
          </p:cNvSpPr>
          <p:nvPr/>
        </p:nvSpPr>
        <p:spPr bwMode="auto">
          <a:xfrm flipH="1">
            <a:off x="2044700" y="4495800"/>
            <a:ext cx="635000" cy="0"/>
          </a:xfrm>
          <a:prstGeom prst="line">
            <a:avLst/>
          </a:prstGeom>
          <a:noFill/>
          <a:ln w="9525">
            <a:solidFill>
              <a:schemeClr val="accent2"/>
            </a:solidFill>
            <a:round/>
            <a:tailEnd type="triangle" w="med" len="med"/>
          </a:ln>
        </p:spPr>
        <p:txBody>
          <a:bodyPr/>
          <a:lstStyle/>
          <a:p>
            <a:endParaRPr lang="zh-CN" altLang="en-US"/>
          </a:p>
        </p:txBody>
      </p:sp>
      <p:sp>
        <p:nvSpPr>
          <p:cNvPr id="22544" name="Line 33"/>
          <p:cNvSpPr>
            <a:spLocks noChangeShapeType="1"/>
          </p:cNvSpPr>
          <p:nvPr/>
        </p:nvSpPr>
        <p:spPr bwMode="auto">
          <a:xfrm flipV="1">
            <a:off x="1081088" y="4498975"/>
            <a:ext cx="584200" cy="12700"/>
          </a:xfrm>
          <a:prstGeom prst="line">
            <a:avLst/>
          </a:prstGeom>
          <a:noFill/>
          <a:ln w="9525">
            <a:solidFill>
              <a:schemeClr val="accent2"/>
            </a:solidFill>
            <a:round/>
            <a:tailEnd type="triangle" w="med" len="med"/>
          </a:ln>
        </p:spPr>
        <p:txBody>
          <a:bodyPr/>
          <a:lstStyle/>
          <a:p>
            <a:endParaRPr lang="zh-CN" altLang="en-US"/>
          </a:p>
        </p:txBody>
      </p:sp>
      <p:sp>
        <p:nvSpPr>
          <p:cNvPr id="22545" name="Line 34"/>
          <p:cNvSpPr>
            <a:spLocks noChangeShapeType="1"/>
          </p:cNvSpPr>
          <p:nvPr/>
        </p:nvSpPr>
        <p:spPr bwMode="auto">
          <a:xfrm flipH="1">
            <a:off x="4586288" y="5756275"/>
            <a:ext cx="0" cy="198438"/>
          </a:xfrm>
          <a:prstGeom prst="line">
            <a:avLst/>
          </a:prstGeom>
          <a:noFill/>
          <a:ln w="9525">
            <a:solidFill>
              <a:srgbClr val="FF0000"/>
            </a:solidFill>
            <a:round/>
            <a:tailEnd type="triangle" w="med" len="med"/>
          </a:ln>
        </p:spPr>
        <p:txBody>
          <a:bodyPr/>
          <a:lstStyle/>
          <a:p>
            <a:endParaRPr lang="zh-CN" altLang="en-US"/>
          </a:p>
        </p:txBody>
      </p:sp>
      <p:sp>
        <p:nvSpPr>
          <p:cNvPr id="22546" name="Text Box 35"/>
          <p:cNvSpPr txBox="1">
            <a:spLocks noChangeArrowheads="1"/>
          </p:cNvSpPr>
          <p:nvPr/>
        </p:nvSpPr>
        <p:spPr bwMode="auto">
          <a:xfrm>
            <a:off x="4695825" y="5764213"/>
            <a:ext cx="584200" cy="266700"/>
          </a:xfrm>
          <a:prstGeom prst="rect">
            <a:avLst/>
          </a:prstGeom>
          <a:noFill/>
          <a:ln w="9525">
            <a:noFill/>
            <a:miter lim="800000"/>
          </a:ln>
        </p:spPr>
        <p:txBody>
          <a:bodyPr lIns="18000" tIns="10800" rIns="18000" bIns="10800">
            <a:spAutoFit/>
          </a:bodyPr>
          <a:lstStyle/>
          <a:p>
            <a:r>
              <a:rPr lang="en-US" altLang="zh-CN" sz="1600">
                <a:solidFill>
                  <a:srgbClr val="FF0000"/>
                </a:solidFill>
              </a:rPr>
              <a:t>hit</a:t>
            </a:r>
            <a:endParaRPr lang="en-US" altLang="zh-CN" sz="1600">
              <a:solidFill>
                <a:srgbClr val="FF0000"/>
              </a:solidFill>
            </a:endParaRPr>
          </a:p>
        </p:txBody>
      </p:sp>
      <p:sp>
        <p:nvSpPr>
          <p:cNvPr id="22547" name="Line 11"/>
          <p:cNvSpPr>
            <a:spLocks noChangeShapeType="1"/>
          </p:cNvSpPr>
          <p:nvPr/>
        </p:nvSpPr>
        <p:spPr bwMode="auto">
          <a:xfrm>
            <a:off x="4464050" y="3836988"/>
            <a:ext cx="1588" cy="515937"/>
          </a:xfrm>
          <a:prstGeom prst="line">
            <a:avLst/>
          </a:prstGeom>
          <a:noFill/>
          <a:ln w="76200">
            <a:solidFill>
              <a:schemeClr val="tx1"/>
            </a:solidFill>
            <a:round/>
            <a:tailEnd type="triangle" w="med" len="med"/>
          </a:ln>
        </p:spPr>
        <p:txBody>
          <a:bodyPr/>
          <a:lstStyle/>
          <a:p>
            <a:endParaRPr lang="zh-CN" altLang="en-US"/>
          </a:p>
        </p:txBody>
      </p:sp>
      <p:sp>
        <p:nvSpPr>
          <p:cNvPr id="22548" name="AutoShape 16"/>
          <p:cNvSpPr>
            <a:spLocks noChangeArrowheads="1"/>
          </p:cNvSpPr>
          <p:nvPr/>
        </p:nvSpPr>
        <p:spPr bwMode="auto">
          <a:xfrm>
            <a:off x="3775075" y="4362450"/>
            <a:ext cx="1357313" cy="282575"/>
          </a:xfrm>
          <a:prstGeom prst="octagon">
            <a:avLst>
              <a:gd name="adj" fmla="val 29287"/>
            </a:avLst>
          </a:prstGeom>
          <a:solidFill>
            <a:schemeClr val="accent1"/>
          </a:solidFill>
          <a:ln w="9525">
            <a:solidFill>
              <a:schemeClr val="tx1"/>
            </a:solidFill>
            <a:miter lim="800000"/>
          </a:ln>
        </p:spPr>
        <p:txBody>
          <a:bodyPr wrap="none" anchor="ctr"/>
          <a:lstStyle/>
          <a:p>
            <a:endParaRPr lang="zh-CN" altLang="en-US"/>
          </a:p>
        </p:txBody>
      </p:sp>
      <p:sp>
        <p:nvSpPr>
          <p:cNvPr id="22549" name="Text Box 17"/>
          <p:cNvSpPr txBox="1">
            <a:spLocks noChangeArrowheads="1"/>
          </p:cNvSpPr>
          <p:nvPr/>
        </p:nvSpPr>
        <p:spPr bwMode="auto">
          <a:xfrm>
            <a:off x="4187825" y="4376738"/>
            <a:ext cx="704850" cy="236537"/>
          </a:xfrm>
          <a:prstGeom prst="rect">
            <a:avLst/>
          </a:prstGeom>
          <a:noFill/>
          <a:ln w="9525">
            <a:noFill/>
            <a:miter lim="800000"/>
          </a:ln>
        </p:spPr>
        <p:txBody>
          <a:bodyPr lIns="18000" tIns="10800" rIns="18000" bIns="10800">
            <a:spAutoFit/>
          </a:bodyPr>
          <a:lstStyle/>
          <a:p>
            <a:r>
              <a:rPr lang="en-US" altLang="zh-CN" sz="1400" b="1"/>
              <a:t>Mux</a:t>
            </a:r>
            <a:endParaRPr lang="en-US" altLang="zh-CN" sz="1400" b="1"/>
          </a:p>
        </p:txBody>
      </p:sp>
      <p:sp>
        <p:nvSpPr>
          <p:cNvPr id="22550" name="Line 22"/>
          <p:cNvSpPr>
            <a:spLocks noChangeShapeType="1"/>
          </p:cNvSpPr>
          <p:nvPr/>
        </p:nvSpPr>
        <p:spPr bwMode="auto">
          <a:xfrm flipH="1">
            <a:off x="5867400" y="4799013"/>
            <a:ext cx="14288" cy="220662"/>
          </a:xfrm>
          <a:prstGeom prst="line">
            <a:avLst/>
          </a:prstGeom>
          <a:noFill/>
          <a:ln w="38100">
            <a:solidFill>
              <a:schemeClr val="tx1"/>
            </a:solidFill>
            <a:round/>
            <a:tailEnd type="triangle" w="med" len="med"/>
          </a:ln>
        </p:spPr>
        <p:txBody>
          <a:bodyPr/>
          <a:lstStyle/>
          <a:p>
            <a:endParaRPr lang="zh-CN" altLang="en-US"/>
          </a:p>
        </p:txBody>
      </p:sp>
      <p:sp>
        <p:nvSpPr>
          <p:cNvPr id="22551" name="Line 40"/>
          <p:cNvSpPr>
            <a:spLocks noChangeShapeType="1"/>
          </p:cNvSpPr>
          <p:nvPr/>
        </p:nvSpPr>
        <p:spPr bwMode="auto">
          <a:xfrm>
            <a:off x="8139113" y="3833813"/>
            <a:ext cx="3175" cy="515937"/>
          </a:xfrm>
          <a:prstGeom prst="line">
            <a:avLst/>
          </a:prstGeom>
          <a:noFill/>
          <a:ln w="76200">
            <a:solidFill>
              <a:schemeClr val="tx1"/>
            </a:solidFill>
            <a:round/>
            <a:tailEnd type="triangle" w="med" len="med"/>
          </a:ln>
        </p:spPr>
        <p:txBody>
          <a:bodyPr/>
          <a:lstStyle/>
          <a:p>
            <a:endParaRPr lang="zh-CN" altLang="en-US"/>
          </a:p>
        </p:txBody>
      </p:sp>
      <p:sp>
        <p:nvSpPr>
          <p:cNvPr id="22552" name="AutoShape 41"/>
          <p:cNvSpPr>
            <a:spLocks noChangeArrowheads="1"/>
          </p:cNvSpPr>
          <p:nvPr/>
        </p:nvSpPr>
        <p:spPr bwMode="auto">
          <a:xfrm>
            <a:off x="7451725" y="4359275"/>
            <a:ext cx="1357313" cy="282575"/>
          </a:xfrm>
          <a:prstGeom prst="octagon">
            <a:avLst>
              <a:gd name="adj" fmla="val 29287"/>
            </a:avLst>
          </a:prstGeom>
          <a:solidFill>
            <a:schemeClr val="accent1"/>
          </a:solidFill>
          <a:ln w="9525">
            <a:solidFill>
              <a:schemeClr val="tx1"/>
            </a:solidFill>
            <a:miter lim="800000"/>
          </a:ln>
        </p:spPr>
        <p:txBody>
          <a:bodyPr wrap="none" anchor="ctr"/>
          <a:lstStyle/>
          <a:p>
            <a:endParaRPr lang="zh-CN" altLang="en-US"/>
          </a:p>
        </p:txBody>
      </p:sp>
      <p:sp>
        <p:nvSpPr>
          <p:cNvPr id="22553" name="Text Box 42"/>
          <p:cNvSpPr txBox="1">
            <a:spLocks noChangeArrowheads="1"/>
          </p:cNvSpPr>
          <p:nvPr/>
        </p:nvSpPr>
        <p:spPr bwMode="auto">
          <a:xfrm>
            <a:off x="7864475" y="4373563"/>
            <a:ext cx="704850" cy="236537"/>
          </a:xfrm>
          <a:prstGeom prst="rect">
            <a:avLst/>
          </a:prstGeom>
          <a:noFill/>
          <a:ln w="9525">
            <a:noFill/>
            <a:miter lim="800000"/>
          </a:ln>
        </p:spPr>
        <p:txBody>
          <a:bodyPr lIns="18000" tIns="10800" rIns="18000" bIns="10800">
            <a:spAutoFit/>
          </a:bodyPr>
          <a:lstStyle/>
          <a:p>
            <a:r>
              <a:rPr lang="en-US" altLang="zh-CN" sz="1400" b="1"/>
              <a:t>Mux</a:t>
            </a:r>
            <a:endParaRPr lang="en-US" altLang="zh-CN" sz="1400" b="1"/>
          </a:p>
        </p:txBody>
      </p:sp>
      <p:sp>
        <p:nvSpPr>
          <p:cNvPr id="22554" name="Line 43"/>
          <p:cNvSpPr>
            <a:spLocks noChangeShapeType="1"/>
          </p:cNvSpPr>
          <p:nvPr/>
        </p:nvSpPr>
        <p:spPr bwMode="auto">
          <a:xfrm>
            <a:off x="8135938" y="4641850"/>
            <a:ext cx="1587" cy="155575"/>
          </a:xfrm>
          <a:prstGeom prst="line">
            <a:avLst/>
          </a:prstGeom>
          <a:noFill/>
          <a:ln w="38100">
            <a:solidFill>
              <a:schemeClr val="tx1"/>
            </a:solidFill>
            <a:round/>
          </a:ln>
        </p:spPr>
        <p:txBody>
          <a:bodyPr/>
          <a:lstStyle/>
          <a:p>
            <a:endParaRPr lang="zh-CN" altLang="en-US"/>
          </a:p>
        </p:txBody>
      </p:sp>
      <p:sp>
        <p:nvSpPr>
          <p:cNvPr id="22555" name="Line 47"/>
          <p:cNvSpPr>
            <a:spLocks noChangeShapeType="1"/>
          </p:cNvSpPr>
          <p:nvPr/>
        </p:nvSpPr>
        <p:spPr bwMode="auto">
          <a:xfrm flipH="1">
            <a:off x="9793288" y="3840163"/>
            <a:ext cx="19050" cy="622300"/>
          </a:xfrm>
          <a:prstGeom prst="line">
            <a:avLst/>
          </a:prstGeom>
          <a:noFill/>
          <a:ln w="9525">
            <a:solidFill>
              <a:schemeClr val="accent2"/>
            </a:solidFill>
            <a:round/>
          </a:ln>
        </p:spPr>
        <p:txBody>
          <a:bodyPr/>
          <a:lstStyle/>
          <a:p>
            <a:endParaRPr lang="zh-CN" altLang="en-US"/>
          </a:p>
        </p:txBody>
      </p:sp>
      <p:sp>
        <p:nvSpPr>
          <p:cNvPr id="22556" name="Oval 49"/>
          <p:cNvSpPr>
            <a:spLocks noChangeArrowheads="1"/>
          </p:cNvSpPr>
          <p:nvPr/>
        </p:nvSpPr>
        <p:spPr bwMode="auto">
          <a:xfrm>
            <a:off x="10436225" y="4333875"/>
            <a:ext cx="406400" cy="306388"/>
          </a:xfrm>
          <a:prstGeom prst="ellipse">
            <a:avLst/>
          </a:prstGeom>
          <a:solidFill>
            <a:schemeClr val="accent1"/>
          </a:solidFill>
          <a:ln w="9525">
            <a:solidFill>
              <a:schemeClr val="tx1"/>
            </a:solidFill>
            <a:round/>
          </a:ln>
        </p:spPr>
        <p:txBody>
          <a:bodyPr wrap="none" anchor="ctr"/>
          <a:lstStyle/>
          <a:p>
            <a:endParaRPr lang="zh-CN" altLang="en-US"/>
          </a:p>
        </p:txBody>
      </p:sp>
      <p:sp>
        <p:nvSpPr>
          <p:cNvPr id="22557" name="Text Box 50"/>
          <p:cNvSpPr txBox="1">
            <a:spLocks noChangeArrowheads="1"/>
          </p:cNvSpPr>
          <p:nvPr/>
        </p:nvSpPr>
        <p:spPr bwMode="auto">
          <a:xfrm>
            <a:off x="10436225" y="4359275"/>
            <a:ext cx="358775" cy="274638"/>
          </a:xfrm>
          <a:prstGeom prst="rect">
            <a:avLst/>
          </a:prstGeom>
          <a:noFill/>
          <a:ln w="9525">
            <a:noFill/>
            <a:miter lim="800000"/>
          </a:ln>
        </p:spPr>
        <p:txBody>
          <a:bodyPr>
            <a:spAutoFit/>
          </a:bodyPr>
          <a:lstStyle/>
          <a:p>
            <a:r>
              <a:rPr lang="en-US" altLang="zh-CN"/>
              <a:t>C</a:t>
            </a:r>
            <a:endParaRPr lang="en-US" altLang="zh-CN"/>
          </a:p>
        </p:txBody>
      </p:sp>
      <p:sp>
        <p:nvSpPr>
          <p:cNvPr id="22558" name="Line 51"/>
          <p:cNvSpPr>
            <a:spLocks noChangeShapeType="1"/>
          </p:cNvSpPr>
          <p:nvPr/>
        </p:nvSpPr>
        <p:spPr bwMode="auto">
          <a:xfrm flipV="1">
            <a:off x="10634663" y="3838575"/>
            <a:ext cx="4762" cy="501650"/>
          </a:xfrm>
          <a:prstGeom prst="line">
            <a:avLst/>
          </a:prstGeom>
          <a:noFill/>
          <a:ln w="9525">
            <a:solidFill>
              <a:srgbClr val="FF3300"/>
            </a:solidFill>
            <a:round/>
            <a:headEnd type="triangle" w="med" len="med"/>
          </a:ln>
        </p:spPr>
        <p:txBody>
          <a:bodyPr/>
          <a:lstStyle/>
          <a:p>
            <a:endParaRPr lang="zh-CN" altLang="en-US"/>
          </a:p>
        </p:txBody>
      </p:sp>
      <p:sp>
        <p:nvSpPr>
          <p:cNvPr id="22559" name="Line 52"/>
          <p:cNvSpPr>
            <a:spLocks noChangeShapeType="1"/>
          </p:cNvSpPr>
          <p:nvPr/>
        </p:nvSpPr>
        <p:spPr bwMode="auto">
          <a:xfrm flipH="1">
            <a:off x="9799638" y="4481513"/>
            <a:ext cx="633412" cy="0"/>
          </a:xfrm>
          <a:prstGeom prst="line">
            <a:avLst/>
          </a:prstGeom>
          <a:noFill/>
          <a:ln w="9525">
            <a:solidFill>
              <a:schemeClr val="accent2"/>
            </a:solidFill>
            <a:round/>
            <a:headEnd type="triangle" w="med" len="med"/>
          </a:ln>
        </p:spPr>
        <p:txBody>
          <a:bodyPr/>
          <a:lstStyle/>
          <a:p>
            <a:endParaRPr lang="zh-CN" altLang="en-US"/>
          </a:p>
        </p:txBody>
      </p:sp>
      <p:sp>
        <p:nvSpPr>
          <p:cNvPr id="22560" name="Line 53"/>
          <p:cNvSpPr>
            <a:spLocks noChangeShapeType="1"/>
          </p:cNvSpPr>
          <p:nvPr/>
        </p:nvSpPr>
        <p:spPr bwMode="auto">
          <a:xfrm>
            <a:off x="10845800" y="4470400"/>
            <a:ext cx="652463" cy="12700"/>
          </a:xfrm>
          <a:prstGeom prst="line">
            <a:avLst/>
          </a:prstGeom>
          <a:noFill/>
          <a:ln w="9525">
            <a:solidFill>
              <a:schemeClr val="accent2"/>
            </a:solidFill>
            <a:round/>
            <a:headEnd type="triangle" w="med" len="med"/>
          </a:ln>
        </p:spPr>
        <p:txBody>
          <a:bodyPr/>
          <a:lstStyle/>
          <a:p>
            <a:endParaRPr lang="zh-CN" altLang="en-US"/>
          </a:p>
        </p:txBody>
      </p:sp>
      <p:sp>
        <p:nvSpPr>
          <p:cNvPr id="22561" name="AutoShape 56"/>
          <p:cNvSpPr>
            <a:spLocks noChangeArrowheads="1"/>
          </p:cNvSpPr>
          <p:nvPr/>
        </p:nvSpPr>
        <p:spPr bwMode="auto">
          <a:xfrm>
            <a:off x="5589588" y="5002213"/>
            <a:ext cx="1355725" cy="282575"/>
          </a:xfrm>
          <a:prstGeom prst="octagon">
            <a:avLst>
              <a:gd name="adj" fmla="val 29287"/>
            </a:avLst>
          </a:prstGeom>
          <a:solidFill>
            <a:schemeClr val="accent1"/>
          </a:solidFill>
          <a:ln w="9525">
            <a:solidFill>
              <a:schemeClr val="tx1"/>
            </a:solidFill>
            <a:miter lim="800000"/>
          </a:ln>
        </p:spPr>
        <p:txBody>
          <a:bodyPr wrap="none" anchor="ctr"/>
          <a:lstStyle/>
          <a:p>
            <a:endParaRPr lang="zh-CN" altLang="en-US"/>
          </a:p>
        </p:txBody>
      </p:sp>
      <p:sp>
        <p:nvSpPr>
          <p:cNvPr id="22562" name="Text Box 57"/>
          <p:cNvSpPr txBox="1">
            <a:spLocks noChangeArrowheads="1"/>
          </p:cNvSpPr>
          <p:nvPr/>
        </p:nvSpPr>
        <p:spPr bwMode="auto">
          <a:xfrm>
            <a:off x="5981700" y="5027613"/>
            <a:ext cx="706438" cy="236537"/>
          </a:xfrm>
          <a:prstGeom prst="rect">
            <a:avLst/>
          </a:prstGeom>
          <a:noFill/>
          <a:ln w="9525">
            <a:noFill/>
            <a:miter lim="800000"/>
          </a:ln>
        </p:spPr>
        <p:txBody>
          <a:bodyPr lIns="18000" tIns="10800" rIns="18000" bIns="10800">
            <a:spAutoFit/>
          </a:bodyPr>
          <a:lstStyle/>
          <a:p>
            <a:r>
              <a:rPr lang="en-US" altLang="zh-CN" sz="1400" b="1"/>
              <a:t>Mux</a:t>
            </a:r>
            <a:endParaRPr lang="en-US" altLang="zh-CN" sz="1400" b="1"/>
          </a:p>
        </p:txBody>
      </p:sp>
      <p:sp>
        <p:nvSpPr>
          <p:cNvPr id="22563" name="Line 58"/>
          <p:cNvSpPr>
            <a:spLocks noChangeShapeType="1"/>
          </p:cNvSpPr>
          <p:nvPr/>
        </p:nvSpPr>
        <p:spPr bwMode="auto">
          <a:xfrm>
            <a:off x="6270625" y="5284788"/>
            <a:ext cx="1588" cy="708025"/>
          </a:xfrm>
          <a:prstGeom prst="line">
            <a:avLst/>
          </a:prstGeom>
          <a:noFill/>
          <a:ln w="38100">
            <a:solidFill>
              <a:schemeClr val="tx1"/>
            </a:solidFill>
            <a:round/>
            <a:tailEnd type="triangle" w="med" len="med"/>
          </a:ln>
        </p:spPr>
        <p:txBody>
          <a:bodyPr/>
          <a:lstStyle/>
          <a:p>
            <a:endParaRPr lang="zh-CN" altLang="en-US"/>
          </a:p>
        </p:txBody>
      </p:sp>
      <p:sp>
        <p:nvSpPr>
          <p:cNvPr id="22564" name="Text Box 59"/>
          <p:cNvSpPr txBox="1">
            <a:spLocks noChangeArrowheads="1"/>
          </p:cNvSpPr>
          <p:nvPr/>
        </p:nvSpPr>
        <p:spPr bwMode="auto">
          <a:xfrm>
            <a:off x="6338888" y="5735638"/>
            <a:ext cx="584200" cy="266700"/>
          </a:xfrm>
          <a:prstGeom prst="rect">
            <a:avLst/>
          </a:prstGeom>
          <a:noFill/>
          <a:ln w="9525">
            <a:noFill/>
            <a:miter lim="800000"/>
          </a:ln>
        </p:spPr>
        <p:txBody>
          <a:bodyPr lIns="18000" tIns="10800" rIns="18000" bIns="10800">
            <a:spAutoFit/>
          </a:bodyPr>
          <a:lstStyle/>
          <a:p>
            <a:r>
              <a:rPr lang="en-US" altLang="zh-CN" sz="1600"/>
              <a:t>data</a:t>
            </a:r>
            <a:endParaRPr lang="en-US" altLang="zh-CN" sz="1600"/>
          </a:p>
        </p:txBody>
      </p:sp>
      <p:sp>
        <p:nvSpPr>
          <p:cNvPr id="22565" name="Line 60"/>
          <p:cNvSpPr>
            <a:spLocks noChangeShapeType="1"/>
          </p:cNvSpPr>
          <p:nvPr/>
        </p:nvSpPr>
        <p:spPr bwMode="auto">
          <a:xfrm flipV="1">
            <a:off x="4446588" y="4794250"/>
            <a:ext cx="1443037" cy="0"/>
          </a:xfrm>
          <a:prstGeom prst="line">
            <a:avLst/>
          </a:prstGeom>
          <a:noFill/>
          <a:ln w="38100">
            <a:solidFill>
              <a:schemeClr val="tx1"/>
            </a:solidFill>
            <a:round/>
          </a:ln>
        </p:spPr>
        <p:txBody>
          <a:bodyPr/>
          <a:lstStyle/>
          <a:p>
            <a:endParaRPr lang="zh-CN" altLang="en-US"/>
          </a:p>
        </p:txBody>
      </p:sp>
      <p:sp>
        <p:nvSpPr>
          <p:cNvPr id="22566" name="Line 61"/>
          <p:cNvSpPr>
            <a:spLocks noChangeShapeType="1"/>
          </p:cNvSpPr>
          <p:nvPr/>
        </p:nvSpPr>
        <p:spPr bwMode="auto">
          <a:xfrm flipH="1">
            <a:off x="4460875" y="4640263"/>
            <a:ext cx="3175" cy="153987"/>
          </a:xfrm>
          <a:prstGeom prst="line">
            <a:avLst/>
          </a:prstGeom>
          <a:noFill/>
          <a:ln w="38100">
            <a:solidFill>
              <a:schemeClr val="tx1"/>
            </a:solidFill>
            <a:round/>
          </a:ln>
        </p:spPr>
        <p:txBody>
          <a:bodyPr/>
          <a:lstStyle/>
          <a:p>
            <a:endParaRPr lang="zh-CN" altLang="en-US"/>
          </a:p>
        </p:txBody>
      </p:sp>
      <p:sp>
        <p:nvSpPr>
          <p:cNvPr id="22567" name="Oval 63"/>
          <p:cNvSpPr>
            <a:spLocks noChangeArrowheads="1"/>
          </p:cNvSpPr>
          <p:nvPr/>
        </p:nvSpPr>
        <p:spPr bwMode="auto">
          <a:xfrm>
            <a:off x="4364038" y="5411788"/>
            <a:ext cx="446087" cy="334962"/>
          </a:xfrm>
          <a:prstGeom prst="ellipse">
            <a:avLst/>
          </a:prstGeom>
          <a:solidFill>
            <a:schemeClr val="accent1"/>
          </a:solidFill>
          <a:ln w="9525">
            <a:solidFill>
              <a:schemeClr val="tx1"/>
            </a:solidFill>
            <a:round/>
          </a:ln>
        </p:spPr>
        <p:txBody>
          <a:bodyPr wrap="none" anchor="ctr"/>
          <a:lstStyle/>
          <a:p>
            <a:endParaRPr lang="zh-CN" altLang="en-US"/>
          </a:p>
        </p:txBody>
      </p:sp>
      <p:sp>
        <p:nvSpPr>
          <p:cNvPr id="22568" name="Text Box 64"/>
          <p:cNvSpPr txBox="1">
            <a:spLocks noChangeArrowheads="1"/>
          </p:cNvSpPr>
          <p:nvPr/>
        </p:nvSpPr>
        <p:spPr bwMode="auto">
          <a:xfrm>
            <a:off x="4465638" y="5422900"/>
            <a:ext cx="328612" cy="327025"/>
          </a:xfrm>
          <a:prstGeom prst="rect">
            <a:avLst/>
          </a:prstGeom>
          <a:noFill/>
          <a:ln w="9525">
            <a:noFill/>
            <a:miter lim="800000"/>
          </a:ln>
        </p:spPr>
        <p:txBody>
          <a:bodyPr lIns="18000" tIns="10800" rIns="18000" bIns="10800">
            <a:spAutoFit/>
          </a:bodyPr>
          <a:lstStyle/>
          <a:p>
            <a:r>
              <a:rPr lang="en-US" altLang="zh-CN" sz="2000" b="1"/>
              <a:t>+</a:t>
            </a:r>
            <a:endParaRPr lang="en-US" altLang="zh-CN" sz="2000" b="1"/>
          </a:p>
        </p:txBody>
      </p:sp>
      <p:sp>
        <p:nvSpPr>
          <p:cNvPr id="22569" name="Line 65"/>
          <p:cNvSpPr>
            <a:spLocks noChangeShapeType="1"/>
          </p:cNvSpPr>
          <p:nvPr/>
        </p:nvSpPr>
        <p:spPr bwMode="auto">
          <a:xfrm>
            <a:off x="10639425" y="4654550"/>
            <a:ext cx="1588" cy="914400"/>
          </a:xfrm>
          <a:prstGeom prst="line">
            <a:avLst/>
          </a:prstGeom>
          <a:noFill/>
          <a:ln w="9525">
            <a:solidFill>
              <a:srgbClr val="FF0000"/>
            </a:solidFill>
            <a:round/>
          </a:ln>
        </p:spPr>
        <p:txBody>
          <a:bodyPr/>
          <a:lstStyle/>
          <a:p>
            <a:endParaRPr lang="zh-CN" altLang="en-US"/>
          </a:p>
        </p:txBody>
      </p:sp>
      <p:sp>
        <p:nvSpPr>
          <p:cNvPr id="22570" name="Line 66"/>
          <p:cNvSpPr>
            <a:spLocks noChangeShapeType="1"/>
          </p:cNvSpPr>
          <p:nvPr/>
        </p:nvSpPr>
        <p:spPr bwMode="auto">
          <a:xfrm>
            <a:off x="1905000" y="5583238"/>
            <a:ext cx="2490788" cy="0"/>
          </a:xfrm>
          <a:prstGeom prst="line">
            <a:avLst/>
          </a:prstGeom>
          <a:noFill/>
          <a:ln w="9525">
            <a:solidFill>
              <a:srgbClr val="FF0000"/>
            </a:solidFill>
            <a:round/>
            <a:tailEnd type="triangle" w="med" len="med"/>
          </a:ln>
        </p:spPr>
        <p:txBody>
          <a:bodyPr/>
          <a:lstStyle/>
          <a:p>
            <a:endParaRPr lang="zh-CN" altLang="en-US"/>
          </a:p>
        </p:txBody>
      </p:sp>
      <p:sp>
        <p:nvSpPr>
          <p:cNvPr id="22571" name="Line 67"/>
          <p:cNvSpPr>
            <a:spLocks noChangeShapeType="1"/>
          </p:cNvSpPr>
          <p:nvPr/>
        </p:nvSpPr>
        <p:spPr bwMode="auto">
          <a:xfrm flipH="1">
            <a:off x="1871663" y="4652963"/>
            <a:ext cx="15875" cy="927100"/>
          </a:xfrm>
          <a:prstGeom prst="line">
            <a:avLst/>
          </a:prstGeom>
          <a:noFill/>
          <a:ln w="9525">
            <a:solidFill>
              <a:srgbClr val="FF0000"/>
            </a:solidFill>
            <a:round/>
          </a:ln>
        </p:spPr>
        <p:txBody>
          <a:bodyPr/>
          <a:lstStyle/>
          <a:p>
            <a:endParaRPr lang="zh-CN" altLang="en-US"/>
          </a:p>
        </p:txBody>
      </p:sp>
      <p:sp>
        <p:nvSpPr>
          <p:cNvPr id="22572" name="Line 68"/>
          <p:cNvSpPr>
            <a:spLocks noChangeShapeType="1"/>
          </p:cNvSpPr>
          <p:nvPr/>
        </p:nvSpPr>
        <p:spPr bwMode="auto">
          <a:xfrm>
            <a:off x="5527675" y="3030538"/>
            <a:ext cx="1409700" cy="0"/>
          </a:xfrm>
          <a:prstGeom prst="line">
            <a:avLst/>
          </a:prstGeom>
          <a:noFill/>
          <a:ln w="9525">
            <a:solidFill>
              <a:schemeClr val="accent2"/>
            </a:solidFill>
            <a:round/>
            <a:headEnd type="triangle" w="med" len="med"/>
            <a:tailEnd type="triangle" w="med" len="med"/>
          </a:ln>
        </p:spPr>
        <p:txBody>
          <a:bodyPr/>
          <a:lstStyle/>
          <a:p>
            <a:endParaRPr lang="zh-CN" altLang="en-US"/>
          </a:p>
        </p:txBody>
      </p:sp>
      <p:sp>
        <p:nvSpPr>
          <p:cNvPr id="22573" name="Oval 69"/>
          <p:cNvSpPr>
            <a:spLocks noChangeArrowheads="1"/>
          </p:cNvSpPr>
          <p:nvPr/>
        </p:nvSpPr>
        <p:spPr bwMode="auto">
          <a:xfrm>
            <a:off x="5924550" y="3005138"/>
            <a:ext cx="65088" cy="63500"/>
          </a:xfrm>
          <a:prstGeom prst="ellipse">
            <a:avLst/>
          </a:prstGeom>
          <a:solidFill>
            <a:schemeClr val="accent2"/>
          </a:solidFill>
          <a:ln w="9525">
            <a:solidFill>
              <a:schemeClr val="accent2"/>
            </a:solidFill>
            <a:round/>
          </a:ln>
        </p:spPr>
        <p:txBody>
          <a:bodyPr wrap="none" anchor="ctr"/>
          <a:lstStyle/>
          <a:p>
            <a:endParaRPr lang="zh-CN" altLang="en-US"/>
          </a:p>
        </p:txBody>
      </p:sp>
      <p:sp>
        <p:nvSpPr>
          <p:cNvPr id="22574" name="Line 70"/>
          <p:cNvSpPr>
            <a:spLocks noChangeShapeType="1"/>
          </p:cNvSpPr>
          <p:nvPr/>
        </p:nvSpPr>
        <p:spPr bwMode="auto">
          <a:xfrm flipH="1" flipV="1">
            <a:off x="5126038" y="4503738"/>
            <a:ext cx="2336800" cy="0"/>
          </a:xfrm>
          <a:prstGeom prst="line">
            <a:avLst/>
          </a:prstGeom>
          <a:noFill/>
          <a:ln w="9525">
            <a:solidFill>
              <a:schemeClr val="accent2"/>
            </a:solidFill>
            <a:round/>
            <a:headEnd type="triangle" w="med" len="med"/>
            <a:tailEnd type="triangle" w="med" len="med"/>
          </a:ln>
        </p:spPr>
        <p:txBody>
          <a:bodyPr/>
          <a:lstStyle/>
          <a:p>
            <a:endParaRPr lang="zh-CN" altLang="en-US"/>
          </a:p>
        </p:txBody>
      </p:sp>
      <p:sp>
        <p:nvSpPr>
          <p:cNvPr id="22575" name="Line 73"/>
          <p:cNvSpPr>
            <a:spLocks noChangeShapeType="1"/>
          </p:cNvSpPr>
          <p:nvPr/>
        </p:nvSpPr>
        <p:spPr bwMode="auto">
          <a:xfrm flipH="1">
            <a:off x="3892550" y="5118100"/>
            <a:ext cx="1684338" cy="0"/>
          </a:xfrm>
          <a:prstGeom prst="line">
            <a:avLst/>
          </a:prstGeom>
          <a:noFill/>
          <a:ln w="9525">
            <a:solidFill>
              <a:srgbClr val="FF0000"/>
            </a:solidFill>
            <a:round/>
            <a:headEnd type="triangle" w="med" len="med"/>
          </a:ln>
        </p:spPr>
        <p:txBody>
          <a:bodyPr/>
          <a:lstStyle/>
          <a:p>
            <a:endParaRPr lang="zh-CN" altLang="en-US"/>
          </a:p>
        </p:txBody>
      </p:sp>
      <p:sp>
        <p:nvSpPr>
          <p:cNvPr id="22576" name="Text Box 74"/>
          <p:cNvSpPr txBox="1">
            <a:spLocks noChangeArrowheads="1"/>
          </p:cNvSpPr>
          <p:nvPr/>
        </p:nvSpPr>
        <p:spPr bwMode="auto">
          <a:xfrm>
            <a:off x="10880725" y="4198938"/>
            <a:ext cx="841375" cy="266700"/>
          </a:xfrm>
          <a:prstGeom prst="rect">
            <a:avLst/>
          </a:prstGeom>
          <a:noFill/>
          <a:ln w="9525">
            <a:noFill/>
            <a:miter lim="800000"/>
          </a:ln>
        </p:spPr>
        <p:txBody>
          <a:bodyPr lIns="18000" tIns="10800" rIns="18000" bIns="10800">
            <a:spAutoFit/>
          </a:bodyPr>
          <a:lstStyle/>
          <a:p>
            <a:r>
              <a:rPr lang="en-US" altLang="zh-CN" sz="1600">
                <a:solidFill>
                  <a:schemeClr val="accent2"/>
                </a:solidFill>
              </a:rPr>
              <a:t>Tag</a:t>
            </a:r>
            <a:endParaRPr lang="en-US" altLang="zh-CN" sz="1600">
              <a:solidFill>
                <a:schemeClr val="accent2"/>
              </a:solidFill>
            </a:endParaRPr>
          </a:p>
        </p:txBody>
      </p:sp>
      <p:sp>
        <p:nvSpPr>
          <p:cNvPr id="22577" name="Text Box 75"/>
          <p:cNvSpPr txBox="1">
            <a:spLocks noChangeArrowheads="1"/>
          </p:cNvSpPr>
          <p:nvPr/>
        </p:nvSpPr>
        <p:spPr bwMode="auto">
          <a:xfrm>
            <a:off x="1068388" y="4183063"/>
            <a:ext cx="842962" cy="266700"/>
          </a:xfrm>
          <a:prstGeom prst="rect">
            <a:avLst/>
          </a:prstGeom>
          <a:noFill/>
          <a:ln w="9525">
            <a:noFill/>
            <a:miter lim="800000"/>
          </a:ln>
        </p:spPr>
        <p:txBody>
          <a:bodyPr lIns="18000" tIns="10800" rIns="18000" bIns="10800">
            <a:spAutoFit/>
          </a:bodyPr>
          <a:lstStyle/>
          <a:p>
            <a:r>
              <a:rPr lang="en-US" altLang="zh-CN" sz="1600">
                <a:solidFill>
                  <a:schemeClr val="accent2"/>
                </a:solidFill>
              </a:rPr>
              <a:t>Tag</a:t>
            </a:r>
            <a:endParaRPr lang="en-US" altLang="zh-CN" sz="1600">
              <a:solidFill>
                <a:schemeClr val="accent2"/>
              </a:solidFill>
            </a:endParaRPr>
          </a:p>
        </p:txBody>
      </p:sp>
      <p:sp>
        <p:nvSpPr>
          <p:cNvPr id="22578" name="Line 76"/>
          <p:cNvSpPr>
            <a:spLocks noChangeShapeType="1"/>
          </p:cNvSpPr>
          <p:nvPr/>
        </p:nvSpPr>
        <p:spPr bwMode="auto">
          <a:xfrm flipV="1">
            <a:off x="4821238" y="5580063"/>
            <a:ext cx="5840412" cy="12700"/>
          </a:xfrm>
          <a:prstGeom prst="line">
            <a:avLst/>
          </a:prstGeom>
          <a:noFill/>
          <a:ln w="9525">
            <a:solidFill>
              <a:srgbClr val="FF0000"/>
            </a:solidFill>
            <a:round/>
            <a:headEnd type="triangle" w="med" len="med"/>
          </a:ln>
        </p:spPr>
        <p:txBody>
          <a:bodyPr/>
          <a:lstStyle/>
          <a:p>
            <a:endParaRPr lang="zh-CN" altLang="en-US"/>
          </a:p>
        </p:txBody>
      </p:sp>
      <p:sp>
        <p:nvSpPr>
          <p:cNvPr id="22579" name="Text Box 77"/>
          <p:cNvSpPr txBox="1">
            <a:spLocks noChangeArrowheads="1"/>
          </p:cNvSpPr>
          <p:nvPr/>
        </p:nvSpPr>
        <p:spPr bwMode="auto">
          <a:xfrm>
            <a:off x="2149475" y="5341938"/>
            <a:ext cx="584200" cy="266700"/>
          </a:xfrm>
          <a:prstGeom prst="rect">
            <a:avLst/>
          </a:prstGeom>
          <a:noFill/>
          <a:ln w="9525">
            <a:noFill/>
            <a:miter lim="800000"/>
          </a:ln>
        </p:spPr>
        <p:txBody>
          <a:bodyPr lIns="18000" tIns="10800" rIns="18000" bIns="10800">
            <a:spAutoFit/>
          </a:bodyPr>
          <a:lstStyle/>
          <a:p>
            <a:r>
              <a:rPr lang="en-US" altLang="zh-CN" sz="1600">
                <a:solidFill>
                  <a:srgbClr val="FF0000"/>
                </a:solidFill>
              </a:rPr>
              <a:t>hit0</a:t>
            </a:r>
            <a:endParaRPr lang="en-US" altLang="zh-CN" sz="1600">
              <a:solidFill>
                <a:srgbClr val="FF0000"/>
              </a:solidFill>
            </a:endParaRPr>
          </a:p>
        </p:txBody>
      </p:sp>
      <p:sp>
        <p:nvSpPr>
          <p:cNvPr id="22580" name="Text Box 78"/>
          <p:cNvSpPr txBox="1">
            <a:spLocks noChangeArrowheads="1"/>
          </p:cNvSpPr>
          <p:nvPr/>
        </p:nvSpPr>
        <p:spPr bwMode="auto">
          <a:xfrm>
            <a:off x="9996488" y="5346700"/>
            <a:ext cx="582612" cy="266700"/>
          </a:xfrm>
          <a:prstGeom prst="rect">
            <a:avLst/>
          </a:prstGeom>
          <a:noFill/>
          <a:ln w="9525">
            <a:noFill/>
            <a:miter lim="800000"/>
          </a:ln>
        </p:spPr>
        <p:txBody>
          <a:bodyPr lIns="18000" tIns="10800" rIns="18000" bIns="10800">
            <a:spAutoFit/>
          </a:bodyPr>
          <a:lstStyle/>
          <a:p>
            <a:r>
              <a:rPr lang="en-US" altLang="zh-CN" sz="1600">
                <a:solidFill>
                  <a:srgbClr val="FF0000"/>
                </a:solidFill>
              </a:rPr>
              <a:t>hit1</a:t>
            </a:r>
            <a:endParaRPr lang="en-US" altLang="zh-CN" sz="1600">
              <a:solidFill>
                <a:srgbClr val="FF0000"/>
              </a:solidFill>
            </a:endParaRPr>
          </a:p>
        </p:txBody>
      </p:sp>
      <p:sp>
        <p:nvSpPr>
          <p:cNvPr id="22581" name="Text Box 80"/>
          <p:cNvSpPr txBox="1">
            <a:spLocks noChangeArrowheads="1"/>
          </p:cNvSpPr>
          <p:nvPr/>
        </p:nvSpPr>
        <p:spPr bwMode="auto">
          <a:xfrm>
            <a:off x="6564313" y="4524375"/>
            <a:ext cx="652462" cy="266700"/>
          </a:xfrm>
          <a:prstGeom prst="rect">
            <a:avLst/>
          </a:prstGeom>
          <a:noFill/>
          <a:ln w="9525">
            <a:noFill/>
            <a:miter lim="800000"/>
          </a:ln>
        </p:spPr>
        <p:txBody>
          <a:bodyPr lIns="18000" tIns="10800" rIns="18000" bIns="10800">
            <a:spAutoFit/>
          </a:bodyPr>
          <a:lstStyle/>
          <a:p>
            <a:r>
              <a:rPr lang="en-US" altLang="zh-CN" sz="1600"/>
              <a:t>data1</a:t>
            </a:r>
            <a:endParaRPr lang="en-US" altLang="zh-CN" sz="1600"/>
          </a:p>
        </p:txBody>
      </p:sp>
      <p:sp>
        <p:nvSpPr>
          <p:cNvPr id="22582" name="Text Box 81"/>
          <p:cNvSpPr txBox="1">
            <a:spLocks noChangeArrowheads="1"/>
          </p:cNvSpPr>
          <p:nvPr/>
        </p:nvSpPr>
        <p:spPr bwMode="auto">
          <a:xfrm>
            <a:off x="5302250" y="4533900"/>
            <a:ext cx="650875" cy="266700"/>
          </a:xfrm>
          <a:prstGeom prst="rect">
            <a:avLst/>
          </a:prstGeom>
          <a:noFill/>
          <a:ln w="9525">
            <a:noFill/>
            <a:miter lim="800000"/>
          </a:ln>
        </p:spPr>
        <p:txBody>
          <a:bodyPr lIns="18000" tIns="10800" rIns="18000" bIns="10800">
            <a:spAutoFit/>
          </a:bodyPr>
          <a:lstStyle/>
          <a:p>
            <a:r>
              <a:rPr lang="en-US" altLang="zh-CN" sz="1600"/>
              <a:t>data0</a:t>
            </a:r>
            <a:endParaRPr lang="en-US" altLang="zh-CN" sz="1600"/>
          </a:p>
        </p:txBody>
      </p:sp>
      <p:sp>
        <p:nvSpPr>
          <p:cNvPr id="22583" name="Line 82"/>
          <p:cNvSpPr>
            <a:spLocks noChangeShapeType="1"/>
          </p:cNvSpPr>
          <p:nvPr/>
        </p:nvSpPr>
        <p:spPr bwMode="auto">
          <a:xfrm flipH="1">
            <a:off x="6577013" y="4799013"/>
            <a:ext cx="15875" cy="220662"/>
          </a:xfrm>
          <a:prstGeom prst="line">
            <a:avLst/>
          </a:prstGeom>
          <a:noFill/>
          <a:ln w="38100">
            <a:solidFill>
              <a:schemeClr val="tx1"/>
            </a:solidFill>
            <a:round/>
            <a:tailEnd type="triangle" w="med" len="med"/>
          </a:ln>
        </p:spPr>
        <p:txBody>
          <a:bodyPr/>
          <a:lstStyle/>
          <a:p>
            <a:endParaRPr lang="zh-CN" altLang="en-US"/>
          </a:p>
        </p:txBody>
      </p:sp>
      <p:sp>
        <p:nvSpPr>
          <p:cNvPr id="22584" name="Line 83"/>
          <p:cNvSpPr>
            <a:spLocks noChangeShapeType="1"/>
          </p:cNvSpPr>
          <p:nvPr/>
        </p:nvSpPr>
        <p:spPr bwMode="auto">
          <a:xfrm flipV="1">
            <a:off x="6569075" y="4781550"/>
            <a:ext cx="1544638" cy="0"/>
          </a:xfrm>
          <a:prstGeom prst="line">
            <a:avLst/>
          </a:prstGeom>
          <a:noFill/>
          <a:ln w="38100">
            <a:solidFill>
              <a:schemeClr val="tx1"/>
            </a:solidFill>
            <a:round/>
          </a:ln>
        </p:spPr>
        <p:txBody>
          <a:bodyPr/>
          <a:lstStyle/>
          <a:p>
            <a:endParaRPr lang="zh-CN" altLang="en-US"/>
          </a:p>
        </p:txBody>
      </p:sp>
      <p:sp>
        <p:nvSpPr>
          <p:cNvPr id="22585" name="Line 84"/>
          <p:cNvSpPr>
            <a:spLocks noChangeShapeType="1"/>
          </p:cNvSpPr>
          <p:nvPr/>
        </p:nvSpPr>
        <p:spPr bwMode="auto">
          <a:xfrm flipH="1">
            <a:off x="6937375" y="5118100"/>
            <a:ext cx="652463" cy="0"/>
          </a:xfrm>
          <a:prstGeom prst="line">
            <a:avLst/>
          </a:prstGeom>
          <a:noFill/>
          <a:ln w="9525">
            <a:solidFill>
              <a:srgbClr val="FF0000"/>
            </a:solidFill>
            <a:round/>
            <a:tailEnd type="triangle" w="med" len="med"/>
          </a:ln>
        </p:spPr>
        <p:txBody>
          <a:bodyPr/>
          <a:lstStyle/>
          <a:p>
            <a:endParaRPr lang="zh-CN" altLang="en-US"/>
          </a:p>
        </p:txBody>
      </p:sp>
      <p:sp>
        <p:nvSpPr>
          <p:cNvPr id="22586" name="Line 86"/>
          <p:cNvSpPr>
            <a:spLocks noChangeShapeType="1"/>
          </p:cNvSpPr>
          <p:nvPr/>
        </p:nvSpPr>
        <p:spPr bwMode="auto">
          <a:xfrm>
            <a:off x="6538913" y="2495550"/>
            <a:ext cx="25400" cy="2012950"/>
          </a:xfrm>
          <a:prstGeom prst="line">
            <a:avLst/>
          </a:prstGeom>
          <a:noFill/>
          <a:ln w="9525">
            <a:solidFill>
              <a:schemeClr val="accent2"/>
            </a:solidFill>
            <a:round/>
          </a:ln>
        </p:spPr>
        <p:txBody>
          <a:bodyPr/>
          <a:lstStyle/>
          <a:p>
            <a:endParaRPr lang="zh-CN" altLang="en-US"/>
          </a:p>
        </p:txBody>
      </p:sp>
      <p:sp>
        <p:nvSpPr>
          <p:cNvPr id="22587" name="Oval 87"/>
          <p:cNvSpPr>
            <a:spLocks noChangeArrowheads="1"/>
          </p:cNvSpPr>
          <p:nvPr/>
        </p:nvSpPr>
        <p:spPr bwMode="auto">
          <a:xfrm>
            <a:off x="6499225" y="4465638"/>
            <a:ext cx="65088" cy="63500"/>
          </a:xfrm>
          <a:prstGeom prst="ellipse">
            <a:avLst/>
          </a:prstGeom>
          <a:solidFill>
            <a:schemeClr val="accent2"/>
          </a:solidFill>
          <a:ln w="9525">
            <a:solidFill>
              <a:schemeClr val="accent2"/>
            </a:solidFill>
            <a:round/>
          </a:ln>
        </p:spPr>
        <p:txBody>
          <a:bodyPr wrap="none" anchor="ctr"/>
          <a:lstStyle/>
          <a:p>
            <a:endParaRPr lang="zh-CN" altLang="en-US"/>
          </a:p>
        </p:txBody>
      </p:sp>
      <p:sp>
        <p:nvSpPr>
          <p:cNvPr id="22588" name="Line 88"/>
          <p:cNvSpPr>
            <a:spLocks noChangeShapeType="1"/>
          </p:cNvSpPr>
          <p:nvPr/>
        </p:nvSpPr>
        <p:spPr bwMode="auto">
          <a:xfrm>
            <a:off x="3879850" y="5129213"/>
            <a:ext cx="0" cy="463550"/>
          </a:xfrm>
          <a:prstGeom prst="line">
            <a:avLst/>
          </a:prstGeom>
          <a:noFill/>
          <a:ln w="9525">
            <a:solidFill>
              <a:srgbClr val="FF0000"/>
            </a:solidFill>
            <a:round/>
          </a:ln>
        </p:spPr>
        <p:txBody>
          <a:bodyPr/>
          <a:lstStyle/>
          <a:p>
            <a:endParaRPr lang="zh-CN" altLang="en-US"/>
          </a:p>
        </p:txBody>
      </p:sp>
      <p:sp>
        <p:nvSpPr>
          <p:cNvPr id="22589" name="Line 89"/>
          <p:cNvSpPr>
            <a:spLocks noChangeShapeType="1"/>
          </p:cNvSpPr>
          <p:nvPr/>
        </p:nvSpPr>
        <p:spPr bwMode="auto">
          <a:xfrm>
            <a:off x="7618413" y="5126038"/>
            <a:ext cx="0" cy="463550"/>
          </a:xfrm>
          <a:prstGeom prst="line">
            <a:avLst/>
          </a:prstGeom>
          <a:noFill/>
          <a:ln w="9525">
            <a:solidFill>
              <a:srgbClr val="FF0000"/>
            </a:solidFill>
            <a:round/>
          </a:ln>
        </p:spPr>
        <p:txBody>
          <a:bodyPr/>
          <a:lstStyle/>
          <a:p>
            <a:endParaRPr lang="zh-CN" altLang="en-US"/>
          </a:p>
        </p:txBody>
      </p:sp>
      <p:sp>
        <p:nvSpPr>
          <p:cNvPr id="22590" name="Rectangle 93"/>
          <p:cNvSpPr>
            <a:spLocks noGrp="1" noChangeArrowheads="1"/>
          </p:cNvSpPr>
          <p:nvPr>
            <p:ph type="title"/>
          </p:nvPr>
        </p:nvSpPr>
        <p:spPr>
          <a:xfrm>
            <a:off x="914400" y="254000"/>
            <a:ext cx="10361613" cy="782638"/>
          </a:xfrm>
        </p:spPr>
        <p:txBody>
          <a:bodyPr/>
          <a:lstStyle/>
          <a:p>
            <a:pPr eaLnBrk="1" hangingPunct="1"/>
            <a:r>
              <a:rPr lang="zh-CN" altLang="en-US" smtClean="0"/>
              <a:t>组相联</a:t>
            </a:r>
            <a:endParaRPr lang="zh-CN" altLang="en-US" smtClean="0"/>
          </a:p>
        </p:txBody>
      </p:sp>
      <p:sp>
        <p:nvSpPr>
          <p:cNvPr id="22591" name="Rectangle 94"/>
          <p:cNvSpPr>
            <a:spLocks noGrp="1" noChangeArrowheads="1"/>
          </p:cNvSpPr>
          <p:nvPr>
            <p:ph idx="1"/>
          </p:nvPr>
        </p:nvSpPr>
        <p:spPr>
          <a:xfrm>
            <a:off x="914400" y="1143000"/>
            <a:ext cx="10361613" cy="935038"/>
          </a:xfrm>
        </p:spPr>
        <p:txBody>
          <a:bodyPr/>
          <a:lstStyle/>
          <a:p>
            <a:pPr eaLnBrk="1" hangingPunct="1">
              <a:spcBef>
                <a:spcPct val="0"/>
              </a:spcBef>
            </a:pPr>
            <a:r>
              <a:rPr lang="zh-CN" altLang="en-US" smtClean="0"/>
              <a:t>介于全相联和直接相联之间</a:t>
            </a:r>
            <a:endParaRPr lang="zh-CN" altLang="en-US" smtClean="0"/>
          </a:p>
        </p:txBody>
      </p:sp>
      <p:graphicFrame>
        <p:nvGraphicFramePr>
          <p:cNvPr id="2" name="表格 1"/>
          <p:cNvGraphicFramePr/>
          <p:nvPr/>
        </p:nvGraphicFramePr>
        <p:xfrm>
          <a:off x="1358900" y="2767013"/>
          <a:ext cx="4169291" cy="1066800"/>
        </p:xfrm>
        <a:graphic>
          <a:graphicData uri="http://schemas.openxmlformats.org/drawingml/2006/table">
            <a:tbl>
              <a:tblPr firstRow="1" bandRow="1">
                <a:tableStyleId>{5940675A-B579-460E-94D1-54222C63F5DA}</a:tableStyleId>
              </a:tblPr>
              <a:tblGrid>
                <a:gridCol w="579891"/>
                <a:gridCol w="1151317"/>
                <a:gridCol w="2438083"/>
              </a:tblGrid>
              <a:tr h="0">
                <a:tc>
                  <a:txBody>
                    <a:bodyPr/>
                    <a:lstStyle/>
                    <a:p>
                      <a:pPr indent="0" algn="ctr">
                        <a:buNone/>
                      </a:pPr>
                      <a:r>
                        <a:rPr lang="en-US" sz="1400" b="1">
                          <a:solidFill>
                            <a:srgbClr val="FF6600"/>
                          </a:solidFill>
                          <a:latin typeface="Times New Roman" pitchFamily="18" charset="0"/>
                          <a:ea typeface="宋体" panose="02000500000000000000" pitchFamily="2" charset="-122"/>
                        </a:rPr>
                        <a:t>state</a:t>
                      </a:r>
                      <a:endParaRPr lang="en-US" altLang="en-US" sz="1400" b="1">
                        <a:solidFill>
                          <a:srgbClr val="FF6600"/>
                        </a:solidFill>
                        <a:latin typeface="Times New Roman" pitchFamily="18" charset="0"/>
                        <a:ea typeface="宋体" panose="02000500000000000000" pitchFamily="2" charset="-122"/>
                      </a:endParaRPr>
                    </a:p>
                  </a:txBody>
                  <a:tcPr marL="23704" marR="23704" marT="0" marB="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3366FF"/>
                          </a:solidFill>
                          <a:latin typeface="Times New Roman" pitchFamily="18" charset="0"/>
                          <a:ea typeface="宋体" panose="02000500000000000000" pitchFamily="2" charset="-122"/>
                        </a:rPr>
                        <a:t>tag</a:t>
                      </a:r>
                      <a:endParaRPr lang="en-US" altLang="en-US" sz="1400" b="1">
                        <a:solidFill>
                          <a:srgbClr val="3366FF"/>
                        </a:solidFill>
                        <a:latin typeface="Times New Roman" pitchFamily="18" charset="0"/>
                        <a:ea typeface="宋体" panose="02000500000000000000" pitchFamily="2" charset="-122"/>
                      </a:endParaRPr>
                    </a:p>
                  </a:txBody>
                  <a:tcPr marL="23704" marR="23704" marT="0" marB="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latin typeface="Times New Roman" pitchFamily="18" charset="0"/>
                          <a:ea typeface="宋体" panose="02000500000000000000" pitchFamily="2" charset="-122"/>
                        </a:rPr>
                        <a:t>data</a:t>
                      </a:r>
                      <a:endParaRPr lang="en-US" altLang="en-US" sz="1400" b="1">
                        <a:latin typeface="Times New Roman" pitchFamily="18" charset="0"/>
                        <a:ea typeface="宋体" panose="02000500000000000000" pitchFamily="2" charset="-122"/>
                      </a:endParaRPr>
                    </a:p>
                  </a:txBody>
                  <a:tcPr marL="23704" marR="23704" marT="0" marB="0">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nvGraphicFramePr>
        <p:xfrm>
          <a:off x="6945313" y="2767013"/>
          <a:ext cx="4169291" cy="1066800"/>
        </p:xfrm>
        <a:graphic>
          <a:graphicData uri="http://schemas.openxmlformats.org/drawingml/2006/table">
            <a:tbl>
              <a:tblPr firstRow="1" bandRow="1">
                <a:tableStyleId>{5940675A-B579-460E-94D1-54222C63F5DA}</a:tableStyleId>
              </a:tblPr>
              <a:tblGrid>
                <a:gridCol w="579891"/>
                <a:gridCol w="1151317"/>
                <a:gridCol w="2438083"/>
              </a:tblGrid>
              <a:tr h="0">
                <a:tc>
                  <a:txBody>
                    <a:bodyPr/>
                    <a:lstStyle/>
                    <a:p>
                      <a:pPr indent="0" algn="ctr">
                        <a:buNone/>
                      </a:pPr>
                      <a:r>
                        <a:rPr lang="en-US" sz="1400" b="1">
                          <a:solidFill>
                            <a:srgbClr val="FF6600"/>
                          </a:solidFill>
                          <a:latin typeface="Times New Roman" pitchFamily="18" charset="0"/>
                          <a:ea typeface="宋体" panose="02000500000000000000" pitchFamily="2" charset="-122"/>
                        </a:rPr>
                        <a:t>state</a:t>
                      </a:r>
                      <a:endParaRPr lang="en-US" altLang="en-US" sz="1400" b="1">
                        <a:solidFill>
                          <a:srgbClr val="FF6600"/>
                        </a:solidFill>
                        <a:latin typeface="Times New Roman" pitchFamily="18" charset="0"/>
                        <a:ea typeface="宋体" panose="02000500000000000000" pitchFamily="2" charset="-122"/>
                      </a:endParaRPr>
                    </a:p>
                  </a:txBody>
                  <a:tcPr marL="23704" marR="23704" marT="0" marB="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solidFill>
                            <a:srgbClr val="3366FF"/>
                          </a:solidFill>
                          <a:latin typeface="Times New Roman" pitchFamily="18" charset="0"/>
                          <a:ea typeface="宋体" panose="02000500000000000000" pitchFamily="2" charset="-122"/>
                        </a:rPr>
                        <a:t>tag</a:t>
                      </a:r>
                      <a:endParaRPr lang="en-US" altLang="en-US" sz="1400" b="1">
                        <a:solidFill>
                          <a:srgbClr val="3366FF"/>
                        </a:solidFill>
                        <a:latin typeface="Times New Roman" pitchFamily="18" charset="0"/>
                        <a:ea typeface="宋体" panose="02000500000000000000" pitchFamily="2" charset="-122"/>
                      </a:endParaRPr>
                    </a:p>
                  </a:txBody>
                  <a:tcPr marL="23704" marR="23704" marT="0" marB="0">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400" b="1">
                          <a:latin typeface="Times New Roman" pitchFamily="18" charset="0"/>
                          <a:ea typeface="宋体" panose="02000500000000000000" pitchFamily="2" charset="-122"/>
                        </a:rPr>
                        <a:t>data</a:t>
                      </a:r>
                      <a:endParaRPr lang="en-US" altLang="en-US" sz="1400" b="1">
                        <a:latin typeface="Times New Roman" pitchFamily="18" charset="0"/>
                        <a:ea typeface="宋体" panose="02000500000000000000" pitchFamily="2" charset="-122"/>
                      </a:endParaRPr>
                    </a:p>
                  </a:txBody>
                  <a:tcPr marL="23704" marR="23704" marT="0" marB="0">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6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a:latin typeface="Times New Roman" pitchFamily="18" charset="0"/>
                          <a:ea typeface="宋体" panose="02000500000000000000" pitchFamily="2" charset="-122"/>
                        </a:rPr>
                        <a:t> </a:t>
                      </a: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a:latin typeface="Times New Roman" pitchFamily="18" charset="0"/>
                        <a:ea typeface="宋体" panose="02000500000000000000" pitchFamily="2" charset="-122"/>
                      </a:endParaRPr>
                    </a:p>
                  </a:txBody>
                  <a:tcPr marL="23704" marR="2370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6"/>
          <p:cNvSpPr>
            <a:spLocks noGrp="1" noChangeArrowheads="1"/>
          </p:cNvSpPr>
          <p:nvPr>
            <p:ph type="sldNum" sz="quarter" idx="12"/>
          </p:nvPr>
        </p:nvSpPr>
        <p:spPr>
          <a:noFill/>
        </p:spPr>
        <p:txBody>
          <a:bodyPr/>
          <a:lstStyle/>
          <a:p>
            <a:fld id="{4EF10879-AC92-4A92-8238-28A080624D8C}" type="slidenum">
              <a:rPr lang="en-US" altLang="zh-CN" smtClean="0"/>
            </a:fld>
            <a:endParaRPr lang="en-US" altLang="zh-CN" smtClean="0"/>
          </a:p>
        </p:txBody>
      </p:sp>
      <p:sp>
        <p:nvSpPr>
          <p:cNvPr id="23555" name="Rectangle 2"/>
          <p:cNvSpPr>
            <a:spLocks noGrp="1" noChangeArrowheads="1"/>
          </p:cNvSpPr>
          <p:nvPr>
            <p:ph type="title"/>
          </p:nvPr>
        </p:nvSpPr>
        <p:spPr>
          <a:xfrm>
            <a:off x="795338" y="211138"/>
            <a:ext cx="10361612" cy="782637"/>
          </a:xfrm>
        </p:spPr>
        <p:txBody>
          <a:bodyPr/>
          <a:lstStyle/>
          <a:p>
            <a:pPr eaLnBrk="1" hangingPunct="1"/>
            <a:r>
              <a:rPr lang="en-US" altLang="zh-CN" smtClean="0"/>
              <a:t>Cache</a:t>
            </a:r>
            <a:r>
              <a:rPr lang="zh-CN" altLang="en-US" smtClean="0"/>
              <a:t>替换算法</a:t>
            </a:r>
            <a:endParaRPr lang="zh-CN" altLang="en-US" smtClean="0"/>
          </a:p>
        </p:txBody>
      </p:sp>
      <p:sp>
        <p:nvSpPr>
          <p:cNvPr id="23556" name="Rectangle 3"/>
          <p:cNvSpPr>
            <a:spLocks noGrp="1" noChangeArrowheads="1"/>
          </p:cNvSpPr>
          <p:nvPr>
            <p:ph type="body" sz="half" idx="1"/>
          </p:nvPr>
        </p:nvSpPr>
        <p:spPr>
          <a:xfrm>
            <a:off x="725488" y="1001713"/>
            <a:ext cx="10555287" cy="3497262"/>
          </a:xfrm>
        </p:spPr>
        <p:txBody>
          <a:bodyPr/>
          <a:lstStyle/>
          <a:p>
            <a:pPr eaLnBrk="1" hangingPunct="1">
              <a:lnSpc>
                <a:spcPct val="150000"/>
              </a:lnSpc>
              <a:spcBef>
                <a:spcPct val="0"/>
              </a:spcBef>
            </a:pPr>
            <a:r>
              <a:rPr lang="zh-CN" altLang="en-US" sz="2000" dirty="0" smtClean="0">
                <a:latin typeface="宋体" panose="02000500000000000000" pitchFamily="2" charset="-122"/>
              </a:rPr>
              <a:t>对直接相联</a:t>
            </a:r>
            <a:r>
              <a:rPr lang="en-US" altLang="zh-CN" sz="2000" dirty="0" smtClean="0">
                <a:latin typeface="宋体" panose="02000500000000000000" pitchFamily="2" charset="-122"/>
              </a:rPr>
              <a:t>Cache</a:t>
            </a:r>
            <a:r>
              <a:rPr lang="zh-CN" altLang="en-US" sz="2000" dirty="0" smtClean="0">
                <a:latin typeface="宋体" panose="02000500000000000000" pitchFamily="2" charset="-122"/>
              </a:rPr>
              <a:t>不存在替换算法问题</a:t>
            </a:r>
            <a:endParaRPr lang="zh-CN" altLang="en-US" sz="2000" dirty="0" smtClean="0">
              <a:latin typeface="宋体" panose="02000500000000000000" pitchFamily="2" charset="-122"/>
            </a:endParaRPr>
          </a:p>
          <a:p>
            <a:pPr eaLnBrk="1" hangingPunct="1">
              <a:lnSpc>
                <a:spcPct val="150000"/>
              </a:lnSpc>
              <a:spcBef>
                <a:spcPct val="0"/>
              </a:spcBef>
            </a:pPr>
            <a:r>
              <a:rPr lang="zh-CN" altLang="en-US" sz="2000" dirty="0" smtClean="0">
                <a:latin typeface="宋体" panose="02000500000000000000" pitchFamily="2" charset="-122"/>
              </a:rPr>
              <a:t>常见的替换算法</a:t>
            </a:r>
            <a:endParaRPr lang="zh-CN" altLang="en-US" sz="2000" dirty="0" smtClean="0">
              <a:latin typeface="宋体" panose="02000500000000000000" pitchFamily="2" charset="-122"/>
            </a:endParaRPr>
          </a:p>
          <a:p>
            <a:pPr lvl="1" eaLnBrk="1" hangingPunct="1">
              <a:lnSpc>
                <a:spcPct val="150000"/>
              </a:lnSpc>
              <a:spcBef>
                <a:spcPct val="0"/>
              </a:spcBef>
            </a:pPr>
            <a:r>
              <a:rPr lang="zh-CN" altLang="en-US" sz="1800" dirty="0" smtClean="0">
                <a:latin typeface="宋体" panose="02000500000000000000" pitchFamily="2" charset="-122"/>
              </a:rPr>
              <a:t>随机替换、</a:t>
            </a:r>
            <a:r>
              <a:rPr lang="en-US" altLang="zh-CN" sz="1800" dirty="0" smtClean="0">
                <a:latin typeface="宋体" panose="02000500000000000000" pitchFamily="2" charset="-122"/>
              </a:rPr>
              <a:t>LRU</a:t>
            </a:r>
            <a:r>
              <a:rPr lang="zh-CN" altLang="en-US" sz="1800" dirty="0" smtClean="0">
                <a:latin typeface="宋体" panose="02000500000000000000" pitchFamily="2" charset="-122"/>
              </a:rPr>
              <a:t>、</a:t>
            </a:r>
            <a:r>
              <a:rPr lang="en-US" altLang="zh-CN" sz="1800" dirty="0" smtClean="0">
                <a:latin typeface="宋体" panose="02000500000000000000" pitchFamily="2" charset="-122"/>
              </a:rPr>
              <a:t>FIFO</a:t>
            </a:r>
            <a:endParaRPr lang="en-US" altLang="zh-CN" sz="1800" dirty="0" smtClean="0">
              <a:latin typeface="宋体" panose="02000500000000000000" pitchFamily="2" charset="-122"/>
            </a:endParaRPr>
          </a:p>
          <a:p>
            <a:pPr lvl="1" eaLnBrk="1" hangingPunct="1">
              <a:lnSpc>
                <a:spcPct val="150000"/>
              </a:lnSpc>
              <a:spcBef>
                <a:spcPct val="0"/>
              </a:spcBef>
            </a:pPr>
            <a:r>
              <a:rPr lang="zh-CN" altLang="en-US" sz="1800" dirty="0" smtClean="0">
                <a:solidFill>
                  <a:schemeClr val="accent2"/>
                </a:solidFill>
                <a:latin typeface="宋体" panose="02000500000000000000" pitchFamily="2" charset="-122"/>
              </a:rPr>
              <a:t>高级程序员可以利用</a:t>
            </a:r>
            <a:r>
              <a:rPr lang="en-US" altLang="zh-CN" sz="1800" dirty="0" smtClean="0">
                <a:solidFill>
                  <a:schemeClr val="accent2"/>
                </a:solidFill>
                <a:latin typeface="宋体" panose="02000500000000000000" pitchFamily="2" charset="-122"/>
              </a:rPr>
              <a:t>LRU</a:t>
            </a:r>
            <a:r>
              <a:rPr lang="zh-CN" altLang="en-US" sz="1800" dirty="0" smtClean="0">
                <a:solidFill>
                  <a:schemeClr val="accent2"/>
                </a:solidFill>
                <a:latin typeface="宋体" panose="02000500000000000000" pitchFamily="2" charset="-122"/>
              </a:rPr>
              <a:t>算法的确定性控制</a:t>
            </a:r>
            <a:r>
              <a:rPr lang="en-US" altLang="zh-CN" sz="1800" dirty="0" smtClean="0">
                <a:solidFill>
                  <a:schemeClr val="accent2"/>
                </a:solidFill>
                <a:latin typeface="宋体" panose="02000500000000000000" pitchFamily="2" charset="-122"/>
              </a:rPr>
              <a:t>Cache</a:t>
            </a:r>
            <a:r>
              <a:rPr lang="zh-CN" altLang="en-US" sz="1800" dirty="0" smtClean="0">
                <a:solidFill>
                  <a:schemeClr val="accent2"/>
                </a:solidFill>
                <a:latin typeface="宋体" panose="02000500000000000000" pitchFamily="2" charset="-122"/>
              </a:rPr>
              <a:t>替换，随机替换不好控制</a:t>
            </a:r>
            <a:endParaRPr lang="zh-CN" altLang="en-US" sz="1800" dirty="0" smtClean="0">
              <a:solidFill>
                <a:schemeClr val="accent2"/>
              </a:solidFill>
              <a:latin typeface="宋体" panose="02000500000000000000" pitchFamily="2" charset="-122"/>
            </a:endParaRPr>
          </a:p>
          <a:p>
            <a:pPr eaLnBrk="1" hangingPunct="1">
              <a:lnSpc>
                <a:spcPct val="150000"/>
              </a:lnSpc>
              <a:spcBef>
                <a:spcPct val="0"/>
              </a:spcBef>
            </a:pPr>
            <a:r>
              <a:rPr lang="zh-CN" altLang="en-US" sz="2000" dirty="0" smtClean="0">
                <a:latin typeface="宋体" panose="02000500000000000000" pitchFamily="2" charset="-122"/>
              </a:rPr>
              <a:t>每</a:t>
            </a:r>
            <a:r>
              <a:rPr lang="en-US" altLang="zh-CN" sz="2000" dirty="0" smtClean="0">
                <a:latin typeface="宋体" panose="02000500000000000000" pitchFamily="2" charset="-122"/>
              </a:rPr>
              <a:t>1000</a:t>
            </a:r>
            <a:r>
              <a:rPr lang="zh-CN" altLang="en-US" sz="2000" dirty="0" smtClean="0">
                <a:latin typeface="宋体" panose="02000500000000000000" pitchFamily="2" charset="-122"/>
              </a:rPr>
              <a:t>条指令失效次数统计</a:t>
            </a:r>
            <a:endParaRPr lang="zh-CN" altLang="en-US" sz="2000" dirty="0" smtClean="0">
              <a:latin typeface="宋体" panose="02000500000000000000" pitchFamily="2" charset="-122"/>
            </a:endParaRPr>
          </a:p>
          <a:p>
            <a:pPr lvl="1" eaLnBrk="1" hangingPunct="1">
              <a:lnSpc>
                <a:spcPct val="150000"/>
              </a:lnSpc>
              <a:spcBef>
                <a:spcPct val="0"/>
              </a:spcBef>
            </a:pPr>
            <a:r>
              <a:rPr lang="en-US" altLang="zh-CN" sz="1800" dirty="0" smtClean="0">
                <a:latin typeface="宋体" panose="02000500000000000000" pitchFamily="2" charset="-122"/>
              </a:rPr>
              <a:t>SPEC CPU2000</a:t>
            </a:r>
            <a:r>
              <a:rPr lang="zh-CN" altLang="en-US" sz="1800" dirty="0" smtClean="0">
                <a:latin typeface="宋体" panose="02000500000000000000" pitchFamily="2" charset="-122"/>
              </a:rPr>
              <a:t>中的</a:t>
            </a:r>
            <a:r>
              <a:rPr lang="en-US" altLang="zh-CN" sz="1800" dirty="0" smtClean="0">
                <a:latin typeface="宋体" panose="02000500000000000000" pitchFamily="2" charset="-122"/>
              </a:rPr>
              <a:t>gap, </a:t>
            </a:r>
            <a:r>
              <a:rPr lang="en-US" altLang="zh-CN" sz="1800" dirty="0" err="1" smtClean="0">
                <a:latin typeface="宋体" panose="02000500000000000000" pitchFamily="2" charset="-122"/>
              </a:rPr>
              <a:t>gcc</a:t>
            </a:r>
            <a:r>
              <a:rPr lang="en-US" altLang="zh-CN" sz="1800" dirty="0" smtClean="0">
                <a:latin typeface="宋体" panose="02000500000000000000" pitchFamily="2" charset="-122"/>
              </a:rPr>
              <a:t>, </a:t>
            </a:r>
            <a:r>
              <a:rPr lang="en-US" altLang="zh-CN" sz="1800" dirty="0" err="1" smtClean="0">
                <a:latin typeface="宋体" panose="02000500000000000000" pitchFamily="2" charset="-122"/>
              </a:rPr>
              <a:t>gzip</a:t>
            </a:r>
            <a:r>
              <a:rPr lang="en-US" altLang="zh-CN" sz="1800" dirty="0" smtClean="0">
                <a:latin typeface="宋体" panose="02000500000000000000" pitchFamily="2" charset="-122"/>
              </a:rPr>
              <a:t>, </a:t>
            </a:r>
            <a:r>
              <a:rPr lang="en-US" altLang="zh-CN" sz="1800" dirty="0" err="1" smtClean="0">
                <a:latin typeface="宋体" panose="02000500000000000000" pitchFamily="2" charset="-122"/>
              </a:rPr>
              <a:t>mcf</a:t>
            </a:r>
            <a:r>
              <a:rPr lang="en-US" altLang="zh-CN" sz="1800" dirty="0" smtClean="0">
                <a:latin typeface="宋体" panose="02000500000000000000" pitchFamily="2" charset="-122"/>
              </a:rPr>
              <a:t>, </a:t>
            </a:r>
            <a:r>
              <a:rPr lang="en-US" altLang="zh-CN" sz="1800" dirty="0" err="1" smtClean="0">
                <a:latin typeface="宋体" panose="02000500000000000000" pitchFamily="2" charset="-122"/>
              </a:rPr>
              <a:t>perl</a:t>
            </a:r>
            <a:r>
              <a:rPr lang="en-US" altLang="zh-CN" sz="1800" dirty="0" smtClean="0">
                <a:latin typeface="宋体" panose="02000500000000000000" pitchFamily="2" charset="-122"/>
              </a:rPr>
              <a:t>, </a:t>
            </a:r>
            <a:r>
              <a:rPr lang="en-US" altLang="zh-CN" sz="1800" dirty="0" err="1" smtClean="0">
                <a:latin typeface="宋体" panose="02000500000000000000" pitchFamily="2" charset="-122"/>
              </a:rPr>
              <a:t>applu</a:t>
            </a:r>
            <a:r>
              <a:rPr lang="en-US" altLang="zh-CN" sz="1800" dirty="0" smtClean="0">
                <a:latin typeface="宋体" panose="02000500000000000000" pitchFamily="2" charset="-122"/>
              </a:rPr>
              <a:t>, art, </a:t>
            </a:r>
            <a:r>
              <a:rPr lang="en-US" altLang="zh-CN" sz="1800" dirty="0" err="1" smtClean="0">
                <a:latin typeface="宋体" panose="02000500000000000000" pitchFamily="2" charset="-122"/>
              </a:rPr>
              <a:t>equake</a:t>
            </a:r>
            <a:r>
              <a:rPr lang="en-US" altLang="zh-CN" sz="1800" dirty="0" smtClean="0">
                <a:latin typeface="宋体" panose="02000500000000000000" pitchFamily="2" charset="-122"/>
              </a:rPr>
              <a:t>, </a:t>
            </a:r>
            <a:r>
              <a:rPr lang="en-US" altLang="zh-CN" sz="1800" dirty="0" err="1" smtClean="0">
                <a:latin typeface="宋体" panose="02000500000000000000" pitchFamily="2" charset="-122"/>
              </a:rPr>
              <a:t>lucas</a:t>
            </a:r>
            <a:r>
              <a:rPr lang="en-US" altLang="zh-CN" sz="1800" dirty="0" smtClean="0">
                <a:latin typeface="宋体" panose="02000500000000000000" pitchFamily="2" charset="-122"/>
              </a:rPr>
              <a:t>, swim 10</a:t>
            </a:r>
            <a:r>
              <a:rPr lang="zh-CN" altLang="en-US" sz="1800" dirty="0" smtClean="0">
                <a:latin typeface="宋体" panose="02000500000000000000" pitchFamily="2" charset="-122"/>
              </a:rPr>
              <a:t>个程序</a:t>
            </a:r>
            <a:endParaRPr lang="zh-CN" altLang="en-US" sz="1800" dirty="0" smtClean="0">
              <a:latin typeface="宋体" panose="02000500000000000000" pitchFamily="2" charset="-122"/>
            </a:endParaRPr>
          </a:p>
          <a:p>
            <a:pPr lvl="1" eaLnBrk="1" hangingPunct="1">
              <a:lnSpc>
                <a:spcPct val="150000"/>
              </a:lnSpc>
              <a:spcBef>
                <a:spcPct val="0"/>
              </a:spcBef>
            </a:pPr>
            <a:r>
              <a:rPr lang="en-US" altLang="zh-CN" sz="1800" dirty="0" err="1" smtClean="0">
                <a:latin typeface="宋体" panose="02000500000000000000" pitchFamily="2" charset="-122"/>
              </a:rPr>
              <a:t>Aplha</a:t>
            </a:r>
            <a:r>
              <a:rPr lang="zh-CN" altLang="en-US" sz="1800" dirty="0" smtClean="0">
                <a:latin typeface="宋体" panose="02000500000000000000" pitchFamily="2" charset="-122"/>
              </a:rPr>
              <a:t>结构，块大小</a:t>
            </a:r>
            <a:r>
              <a:rPr lang="en-US" altLang="zh-CN" sz="1800" dirty="0" smtClean="0">
                <a:latin typeface="宋体" panose="02000500000000000000" pitchFamily="2" charset="-122"/>
              </a:rPr>
              <a:t>64B</a:t>
            </a:r>
            <a:endParaRPr lang="en-US" altLang="zh-CN" sz="1800" dirty="0" smtClean="0">
              <a:latin typeface="宋体" panose="02000500000000000000" pitchFamily="2" charset="-122"/>
            </a:endParaRPr>
          </a:p>
        </p:txBody>
      </p:sp>
      <p:graphicFrame>
        <p:nvGraphicFramePr>
          <p:cNvPr id="358531" name="Group 131"/>
          <p:cNvGraphicFramePr>
            <a:graphicFrameLocks noGrp="1"/>
          </p:cNvGraphicFramePr>
          <p:nvPr>
            <p:ph sz="half" idx="1"/>
          </p:nvPr>
        </p:nvGraphicFramePr>
        <p:xfrm>
          <a:off x="1066800" y="4445000"/>
          <a:ext cx="10666613" cy="2049145"/>
        </p:xfrm>
        <a:graphic>
          <a:graphicData uri="http://schemas.openxmlformats.org/drawingml/2006/table">
            <a:tbl>
              <a:tblPr/>
              <a:tblGrid>
                <a:gridCol w="1015868"/>
                <a:gridCol w="1118869"/>
                <a:gridCol w="1079150"/>
                <a:gridCol w="1055587"/>
                <a:gridCol w="1015530"/>
                <a:gridCol w="1112137"/>
                <a:gridCol w="1036737"/>
                <a:gridCol w="1098000"/>
                <a:gridCol w="1076793"/>
                <a:gridCol w="1057942"/>
              </a:tblGrid>
              <a:tr h="409829">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2-way</a:t>
                      </a:r>
                      <a:endPar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4-way</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8-way</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409829">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LRU</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Rand</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FIFO</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LRU</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Rand</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FIFO</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LRU</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Rand</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FIFO</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829">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16KB</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114.1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117.3</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115.5</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111.7</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115.1</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113.3</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109.0</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111.8</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110.4</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829">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64KB</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103.4</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104.3</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103.9</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102.4</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102.3</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103.1</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99.7</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100.5</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100.3</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829">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256KB</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92.2</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92.1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92.5</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92.1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92.1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92.5</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92.1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92.1</a:t>
                      </a:r>
                      <a:endParaRPr kumimoji="1"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92.5</a:t>
                      </a:r>
                      <a:endPar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noChangeArrowheads="1"/>
          </p:cNvSpPr>
          <p:nvPr>
            <p:ph type="sldNum" sz="quarter" idx="12"/>
          </p:nvPr>
        </p:nvSpPr>
        <p:spPr>
          <a:noFill/>
        </p:spPr>
        <p:txBody>
          <a:bodyPr/>
          <a:lstStyle/>
          <a:p>
            <a:fld id="{83442821-4868-4B89-8374-EE7F0BF0F14A}" type="slidenum">
              <a:rPr lang="en-US" altLang="zh-CN" smtClean="0"/>
            </a:fld>
            <a:endParaRPr lang="en-US" altLang="zh-CN" smtClean="0"/>
          </a:p>
        </p:txBody>
      </p:sp>
      <p:sp>
        <p:nvSpPr>
          <p:cNvPr id="24579" name="Rectangle 4"/>
          <p:cNvSpPr>
            <a:spLocks noChangeArrowheads="1"/>
          </p:cNvSpPr>
          <p:nvPr/>
        </p:nvSpPr>
        <p:spPr bwMode="auto">
          <a:xfrm>
            <a:off x="1338263" y="0"/>
            <a:ext cx="9548812" cy="949325"/>
          </a:xfrm>
          <a:prstGeom prst="rect">
            <a:avLst/>
          </a:prstGeom>
          <a:noFill/>
          <a:ln w="12700">
            <a:noFill/>
            <a:miter lim="800000"/>
          </a:ln>
        </p:spPr>
        <p:txBody>
          <a:bodyPr lIns="90487" tIns="44450" rIns="90487"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写命中时采取的策略</a:t>
            </a:r>
            <a:endParaRPr lang="en-US" altLang="zh-CN" sz="3600">
              <a:solidFill>
                <a:srgbClr val="FF0000"/>
              </a:solidFill>
              <a:latin typeface="Arial" panose="02080604020202020204" pitchFamily="34" charset="0"/>
              <a:ea typeface="黑体" panose="02000500000000000000" pitchFamily="49" charset="-122"/>
            </a:endParaRPr>
          </a:p>
        </p:txBody>
      </p:sp>
      <p:sp>
        <p:nvSpPr>
          <p:cNvPr id="24580" name="Rectangle 5"/>
          <p:cNvSpPr>
            <a:spLocks noChangeArrowheads="1"/>
          </p:cNvSpPr>
          <p:nvPr/>
        </p:nvSpPr>
        <p:spPr bwMode="auto">
          <a:xfrm>
            <a:off x="749300" y="819150"/>
            <a:ext cx="11288713" cy="5900738"/>
          </a:xfrm>
          <a:prstGeom prst="rect">
            <a:avLst/>
          </a:prstGeom>
          <a:noFill/>
          <a:ln w="12700">
            <a:noFill/>
            <a:miter lim="800000"/>
          </a:ln>
        </p:spPr>
        <p:txBody>
          <a:bodyPr lIns="90487" tIns="44450" rIns="90487" bIns="44450"/>
          <a:lstStyle/>
          <a:p>
            <a:pPr marL="342900" indent="-342900">
              <a:lnSpc>
                <a:spcPct val="150000"/>
              </a:lnSpc>
              <a:spcBef>
                <a:spcPct val="0"/>
              </a:spcBef>
              <a:buFontTx/>
              <a:buChar char="•"/>
            </a:pPr>
            <a:r>
              <a:rPr lang="zh-CN" altLang="en-US" sz="2000" b="1" dirty="0">
                <a:latin typeface="宋体" panose="02000500000000000000" pitchFamily="2" charset="-122"/>
              </a:rPr>
              <a:t>写穿透（</a:t>
            </a:r>
            <a:r>
              <a:rPr lang="en-US" altLang="zh-CN" sz="2000" b="1" dirty="0">
                <a:latin typeface="宋体" panose="02000500000000000000" pitchFamily="2" charset="-122"/>
              </a:rPr>
              <a:t>Write Through</a:t>
            </a:r>
            <a:r>
              <a:rPr lang="zh-CN" altLang="en-US" sz="2000" b="1" dirty="0">
                <a:latin typeface="宋体" panose="02000500000000000000" pitchFamily="2" charset="-122"/>
              </a:rPr>
              <a:t>）</a:t>
            </a:r>
            <a:endParaRPr lang="zh-CN" altLang="en-US" sz="20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写</a:t>
            </a:r>
            <a:r>
              <a:rPr lang="en-US" altLang="zh-CN" sz="1800" b="1" dirty="0">
                <a:latin typeface="宋体" panose="02000500000000000000" pitchFamily="2" charset="-122"/>
              </a:rPr>
              <a:t>Cache</a:t>
            </a:r>
            <a:r>
              <a:rPr lang="zh-CN" altLang="en-US" sz="1800" b="1" dirty="0">
                <a:latin typeface="宋体" panose="02000500000000000000" pitchFamily="2" charset="-122"/>
              </a:rPr>
              <a:t>的同时写内存</a:t>
            </a:r>
            <a:endParaRPr lang="en-US" altLang="zh-CN" sz="18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内存里的数据永远是最新的，</a:t>
            </a:r>
            <a:r>
              <a:rPr lang="en-US" altLang="zh-CN" sz="1800" b="1" dirty="0">
                <a:latin typeface="宋体" panose="02000500000000000000" pitchFamily="2" charset="-122"/>
              </a:rPr>
              <a:t>Cache</a:t>
            </a:r>
            <a:r>
              <a:rPr lang="zh-CN" altLang="en-US" sz="1800" b="1" dirty="0">
                <a:latin typeface="宋体" panose="02000500000000000000" pitchFamily="2" charset="-122"/>
              </a:rPr>
              <a:t>替换时直接扔掉</a:t>
            </a:r>
            <a:r>
              <a:rPr lang="en-US" altLang="zh-CN" sz="1800" b="1" dirty="0">
                <a:latin typeface="宋体" panose="02000500000000000000" pitchFamily="2" charset="-122"/>
              </a:rPr>
              <a:t> </a:t>
            </a:r>
            <a:endParaRPr lang="en-US" altLang="zh-CN" sz="1800" b="1" dirty="0">
              <a:latin typeface="宋体" panose="02000500000000000000" pitchFamily="2" charset="-122"/>
            </a:endParaRPr>
          </a:p>
          <a:p>
            <a:pPr marL="742950" lvl="1" indent="-285750">
              <a:lnSpc>
                <a:spcPct val="150000"/>
              </a:lnSpc>
              <a:spcBef>
                <a:spcPct val="0"/>
              </a:spcBef>
              <a:buFontTx/>
              <a:buChar char="•"/>
            </a:pPr>
            <a:r>
              <a:rPr lang="en-US" altLang="zh-CN" sz="1800" b="1" dirty="0">
                <a:latin typeface="宋体" panose="02000500000000000000" pitchFamily="2" charset="-122"/>
              </a:rPr>
              <a:t>Cache</a:t>
            </a:r>
            <a:r>
              <a:rPr lang="zh-CN" altLang="en-US" sz="1800" b="1" dirty="0">
                <a:latin typeface="宋体" panose="02000500000000000000" pitchFamily="2" charset="-122"/>
              </a:rPr>
              <a:t>块管理简单，只需有效位</a:t>
            </a:r>
            <a:endParaRPr lang="en-US" altLang="zh-CN" sz="1800" b="1" dirty="0">
              <a:latin typeface="宋体" panose="02000500000000000000" pitchFamily="2" charset="-122"/>
            </a:endParaRPr>
          </a:p>
          <a:p>
            <a:pPr marL="342900" indent="-342900">
              <a:lnSpc>
                <a:spcPct val="150000"/>
              </a:lnSpc>
              <a:spcBef>
                <a:spcPct val="0"/>
              </a:spcBef>
              <a:buFontTx/>
              <a:buChar char="•"/>
            </a:pPr>
            <a:r>
              <a:rPr lang="zh-CN" altLang="en-US" sz="2000" b="1" dirty="0">
                <a:latin typeface="宋体" panose="02000500000000000000" pitchFamily="2" charset="-122"/>
              </a:rPr>
              <a:t>写回（</a:t>
            </a:r>
            <a:r>
              <a:rPr lang="en-US" altLang="zh-CN" sz="2000" b="1" dirty="0">
                <a:latin typeface="宋体" panose="02000500000000000000" pitchFamily="2" charset="-122"/>
              </a:rPr>
              <a:t>Write-back</a:t>
            </a:r>
            <a:r>
              <a:rPr lang="zh-CN" altLang="en-US" sz="2000" b="1" dirty="0">
                <a:latin typeface="宋体" panose="02000500000000000000" pitchFamily="2" charset="-122"/>
              </a:rPr>
              <a:t>）</a:t>
            </a:r>
            <a:endParaRPr lang="zh-CN" altLang="en-US" sz="20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只写</a:t>
            </a:r>
            <a:r>
              <a:rPr lang="en-US" altLang="zh-CN" sz="1800" b="1" dirty="0">
                <a:latin typeface="宋体" panose="02000500000000000000" pitchFamily="2" charset="-122"/>
              </a:rPr>
              <a:t>Cache</a:t>
            </a:r>
            <a:r>
              <a:rPr lang="zh-CN" altLang="en-US" sz="1800" b="1" dirty="0">
                <a:latin typeface="宋体" panose="02000500000000000000" pitchFamily="2" charset="-122"/>
              </a:rPr>
              <a:t>不写内存</a:t>
            </a:r>
            <a:endParaRPr lang="en-US" altLang="zh-CN" sz="18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替换时要把</a:t>
            </a:r>
            <a:r>
              <a:rPr lang="en-US" altLang="zh-CN" sz="1800" b="1" dirty="0">
                <a:latin typeface="宋体" panose="02000500000000000000" pitchFamily="2" charset="-122"/>
              </a:rPr>
              <a:t>Cache</a:t>
            </a:r>
            <a:r>
              <a:rPr lang="zh-CN" altLang="en-US" sz="1800" b="1" dirty="0">
                <a:latin typeface="宋体" panose="02000500000000000000" pitchFamily="2" charset="-122"/>
              </a:rPr>
              <a:t>块写回内存</a:t>
            </a:r>
            <a:endParaRPr lang="zh-CN" altLang="en-US" sz="1800" b="1" dirty="0">
              <a:latin typeface="宋体" panose="02000500000000000000" pitchFamily="2" charset="-122"/>
            </a:endParaRPr>
          </a:p>
          <a:p>
            <a:pPr marL="742950" lvl="1" indent="-285750">
              <a:lnSpc>
                <a:spcPct val="150000"/>
              </a:lnSpc>
              <a:spcBef>
                <a:spcPct val="0"/>
              </a:spcBef>
              <a:buFontTx/>
              <a:buChar char="•"/>
            </a:pPr>
            <a:r>
              <a:rPr lang="en-US" altLang="zh-CN" sz="1800" b="1" dirty="0">
                <a:latin typeface="宋体" panose="02000500000000000000" pitchFamily="2" charset="-122"/>
              </a:rPr>
              <a:t>Cache</a:t>
            </a:r>
            <a:r>
              <a:rPr lang="zh-CN" altLang="en-US" sz="1800" b="1" dirty="0">
                <a:latin typeface="宋体" panose="02000500000000000000" pitchFamily="2" charset="-122"/>
              </a:rPr>
              <a:t>块状态复杂一些，需要有效位和脏位</a:t>
            </a:r>
            <a:endParaRPr lang="zh-CN" altLang="en-US" sz="1800" b="1" dirty="0">
              <a:latin typeface="宋体" panose="02000500000000000000" pitchFamily="2" charset="-122"/>
            </a:endParaRPr>
          </a:p>
          <a:p>
            <a:pPr marL="342900" indent="-342900">
              <a:lnSpc>
                <a:spcPct val="150000"/>
              </a:lnSpc>
              <a:spcBef>
                <a:spcPct val="0"/>
              </a:spcBef>
              <a:buFontTx/>
              <a:buChar char="•"/>
            </a:pPr>
            <a:r>
              <a:rPr lang="zh-CN" altLang="en-US" sz="2000" b="1" dirty="0">
                <a:latin typeface="宋体" panose="02000500000000000000" pitchFamily="2" charset="-122"/>
              </a:rPr>
              <a:t>写回</a:t>
            </a:r>
            <a:r>
              <a:rPr lang="en-US" altLang="zh-CN" sz="2000" b="1" dirty="0">
                <a:latin typeface="宋体" panose="02000500000000000000" pitchFamily="2" charset="-122"/>
              </a:rPr>
              <a:t>/</a:t>
            </a:r>
            <a:r>
              <a:rPr lang="zh-CN" altLang="en-US" sz="2000" b="1" dirty="0">
                <a:latin typeface="宋体" panose="02000500000000000000" pitchFamily="2" charset="-122"/>
              </a:rPr>
              <a:t>写穿透的使用</a:t>
            </a:r>
            <a:endParaRPr lang="zh-CN" altLang="en-US" sz="2000" b="1" dirty="0">
              <a:latin typeface="宋体" panose="02000500000000000000" pitchFamily="2" charset="-122"/>
            </a:endParaRPr>
          </a:p>
          <a:p>
            <a:pPr marL="742950" lvl="1" indent="-285750">
              <a:lnSpc>
                <a:spcPct val="150000"/>
              </a:lnSpc>
              <a:spcBef>
                <a:spcPct val="0"/>
              </a:spcBef>
              <a:buFontTx/>
              <a:buChar char="•"/>
            </a:pPr>
            <a:r>
              <a:rPr lang="en-US" altLang="zh-CN" sz="1800" b="1" dirty="0">
                <a:latin typeface="宋体" panose="02000500000000000000" pitchFamily="2" charset="-122"/>
              </a:rPr>
              <a:t>L1</a:t>
            </a:r>
            <a:r>
              <a:rPr lang="zh-CN" altLang="en-US" sz="1800" b="1" dirty="0">
                <a:latin typeface="宋体" panose="02000500000000000000" pitchFamily="2" charset="-122"/>
              </a:rPr>
              <a:t>到</a:t>
            </a:r>
            <a:r>
              <a:rPr lang="en-US" altLang="zh-CN" sz="1800" b="1" dirty="0">
                <a:latin typeface="宋体" panose="02000500000000000000" pitchFamily="2" charset="-122"/>
              </a:rPr>
              <a:t>L2</a:t>
            </a:r>
            <a:r>
              <a:rPr lang="zh-CN" altLang="en-US" sz="1800" b="1" dirty="0">
                <a:latin typeface="宋体" panose="02000500000000000000" pitchFamily="2" charset="-122"/>
              </a:rPr>
              <a:t>用写穿透的多，</a:t>
            </a:r>
            <a:r>
              <a:rPr lang="en-US" altLang="zh-CN" sz="1800" b="1" dirty="0">
                <a:latin typeface="宋体" panose="02000500000000000000" pitchFamily="2" charset="-122"/>
              </a:rPr>
              <a:t>L2</a:t>
            </a:r>
            <a:r>
              <a:rPr lang="zh-CN" altLang="en-US" sz="1800" b="1" dirty="0">
                <a:latin typeface="宋体" panose="02000500000000000000" pitchFamily="2" charset="-122"/>
              </a:rPr>
              <a:t>较快</a:t>
            </a:r>
            <a:endParaRPr lang="zh-CN" altLang="en-US" sz="1800" b="1" dirty="0">
              <a:latin typeface="宋体" panose="02000500000000000000" pitchFamily="2" charset="-122"/>
            </a:endParaRPr>
          </a:p>
          <a:p>
            <a:pPr marL="742950" lvl="1" indent="-285750">
              <a:lnSpc>
                <a:spcPct val="150000"/>
              </a:lnSpc>
              <a:spcBef>
                <a:spcPct val="0"/>
              </a:spcBef>
              <a:buFontTx/>
              <a:buChar char="•"/>
            </a:pPr>
            <a:r>
              <a:rPr lang="en-US" altLang="zh-CN" sz="1800" b="1" dirty="0">
                <a:latin typeface="宋体" panose="02000500000000000000" pitchFamily="2" charset="-122"/>
              </a:rPr>
              <a:t>L2</a:t>
            </a:r>
            <a:r>
              <a:rPr lang="zh-CN" altLang="en-US" sz="1800" b="1" dirty="0">
                <a:latin typeface="宋体" panose="02000500000000000000" pitchFamily="2" charset="-122"/>
              </a:rPr>
              <a:t>到内存用写回的多，内存太慢了</a:t>
            </a:r>
            <a:endParaRPr lang="zh-CN" altLang="en-US" sz="18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龙芯</a:t>
            </a:r>
            <a:r>
              <a:rPr lang="en-US" altLang="zh-CN" sz="1800" b="1" dirty="0">
                <a:latin typeface="宋体" panose="02000500000000000000" pitchFamily="2" charset="-122"/>
              </a:rPr>
              <a:t>2</a:t>
            </a:r>
            <a:r>
              <a:rPr lang="zh-CN" altLang="en-US" sz="1800" b="1" dirty="0">
                <a:latin typeface="宋体" panose="02000500000000000000" pitchFamily="2" charset="-122"/>
              </a:rPr>
              <a:t>号两级都采用写回策略。</a:t>
            </a:r>
            <a:r>
              <a:rPr lang="zh-CN" altLang="en-US" sz="2000" b="1" dirty="0">
                <a:latin typeface="宋体" panose="02000500000000000000" pitchFamily="2" charset="-122"/>
              </a:rPr>
              <a:t> </a:t>
            </a:r>
            <a:endParaRPr lang="zh-CN" altLang="en-US" sz="2000" b="1" dirty="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noChangeArrowheads="1"/>
          </p:cNvSpPr>
          <p:nvPr>
            <p:ph type="sldNum" sz="quarter" idx="12"/>
          </p:nvPr>
        </p:nvSpPr>
        <p:spPr>
          <a:noFill/>
        </p:spPr>
        <p:txBody>
          <a:bodyPr/>
          <a:lstStyle/>
          <a:p>
            <a:fld id="{22AC0170-DFA4-4F36-9032-01D4D69C9B71}" type="slidenum">
              <a:rPr lang="en-US" altLang="zh-CN" smtClean="0"/>
            </a:fld>
            <a:endParaRPr lang="en-US" altLang="zh-CN" smtClean="0"/>
          </a:p>
        </p:txBody>
      </p:sp>
      <p:sp>
        <p:nvSpPr>
          <p:cNvPr id="25603" name="Rectangle 4"/>
          <p:cNvSpPr>
            <a:spLocks noChangeArrowheads="1"/>
          </p:cNvSpPr>
          <p:nvPr/>
        </p:nvSpPr>
        <p:spPr bwMode="auto">
          <a:xfrm>
            <a:off x="508000" y="247650"/>
            <a:ext cx="10971213" cy="1182688"/>
          </a:xfrm>
          <a:prstGeom prst="rect">
            <a:avLst/>
          </a:prstGeom>
          <a:noFill/>
          <a:ln w="12700">
            <a:noFill/>
            <a:miter lim="800000"/>
          </a:ln>
        </p:spPr>
        <p:txBody>
          <a:bodyPr lIns="90487" tIns="44450" rIns="90487"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写失效时采取的策略</a:t>
            </a:r>
            <a:endParaRPr lang="en-US" altLang="zh-CN" sz="3200">
              <a:solidFill>
                <a:srgbClr val="FF0000"/>
              </a:solidFill>
              <a:latin typeface="Arial" panose="02080604020202020204" pitchFamily="34" charset="0"/>
              <a:ea typeface="黑体" panose="02000500000000000000" pitchFamily="49" charset="-122"/>
            </a:endParaRPr>
          </a:p>
        </p:txBody>
      </p:sp>
      <p:sp>
        <p:nvSpPr>
          <p:cNvPr id="25604" name="Rectangle 5"/>
          <p:cNvSpPr>
            <a:spLocks noChangeArrowheads="1"/>
          </p:cNvSpPr>
          <p:nvPr/>
        </p:nvSpPr>
        <p:spPr bwMode="auto">
          <a:xfrm>
            <a:off x="609600" y="1771650"/>
            <a:ext cx="10971213" cy="4851400"/>
          </a:xfrm>
          <a:prstGeom prst="rect">
            <a:avLst/>
          </a:prstGeom>
          <a:noFill/>
          <a:ln w="12700">
            <a:noFill/>
            <a:miter lim="800000"/>
          </a:ln>
        </p:spPr>
        <p:txBody>
          <a:bodyPr lIns="90487" tIns="44450" rIns="90487" bIns="44450"/>
          <a:lstStyle/>
          <a:p>
            <a:pPr marL="342900" indent="-342900">
              <a:lnSpc>
                <a:spcPct val="150000"/>
              </a:lnSpc>
              <a:spcBef>
                <a:spcPts val="600"/>
              </a:spcBef>
              <a:buFontTx/>
              <a:buChar char="•"/>
            </a:pPr>
            <a:r>
              <a:rPr lang="zh-CN" altLang="en-US" sz="2000" b="1">
                <a:latin typeface="宋体" panose="02000500000000000000" pitchFamily="2" charset="-122"/>
              </a:rPr>
              <a:t>写分配（ </a:t>
            </a:r>
            <a:r>
              <a:rPr lang="en-US" altLang="zh-CN" sz="2000" b="1">
                <a:latin typeface="宋体" panose="02000500000000000000" pitchFamily="2" charset="-122"/>
              </a:rPr>
              <a:t>Write Allocate </a:t>
            </a:r>
            <a:r>
              <a:rPr lang="zh-CN" altLang="en-US" sz="2000" b="1">
                <a:latin typeface="宋体" panose="02000500000000000000" pitchFamily="2" charset="-122"/>
              </a:rPr>
              <a:t>）</a:t>
            </a:r>
            <a:endParaRPr lang="zh-CN" altLang="en-US" sz="2000" b="1">
              <a:latin typeface="宋体" panose="02000500000000000000" pitchFamily="2" charset="-122"/>
            </a:endParaRPr>
          </a:p>
          <a:p>
            <a:pPr marL="742950" lvl="1" indent="-285750">
              <a:lnSpc>
                <a:spcPct val="150000"/>
              </a:lnSpc>
              <a:spcBef>
                <a:spcPts val="600"/>
              </a:spcBef>
              <a:buFontTx/>
              <a:buChar char="•"/>
            </a:pPr>
            <a:r>
              <a:rPr lang="zh-CN" altLang="en-US" sz="1800" b="1">
                <a:latin typeface="宋体" panose="02000500000000000000" pitchFamily="2" charset="-122"/>
              </a:rPr>
              <a:t>先把失效块读到</a:t>
            </a:r>
            <a:r>
              <a:rPr lang="en-US" altLang="zh-CN" sz="1800" b="1">
                <a:latin typeface="宋体" panose="02000500000000000000" pitchFamily="2" charset="-122"/>
              </a:rPr>
              <a:t>Cache</a:t>
            </a:r>
            <a:r>
              <a:rPr lang="zh-CN" altLang="en-US" sz="1800" b="1">
                <a:latin typeface="宋体" panose="02000500000000000000" pitchFamily="2" charset="-122"/>
              </a:rPr>
              <a:t>，再在</a:t>
            </a:r>
            <a:r>
              <a:rPr lang="en-US" altLang="zh-CN" sz="1800" b="1">
                <a:latin typeface="宋体" panose="02000500000000000000" pitchFamily="2" charset="-122"/>
              </a:rPr>
              <a:t>Cache</a:t>
            </a:r>
            <a:r>
              <a:rPr lang="zh-CN" altLang="en-US" sz="1800" b="1">
                <a:latin typeface="宋体" panose="02000500000000000000" pitchFamily="2" charset="-122"/>
              </a:rPr>
              <a:t>中写</a:t>
            </a:r>
            <a:endParaRPr lang="zh-CN" altLang="en-US" sz="1800" b="1">
              <a:latin typeface="宋体" panose="02000500000000000000" pitchFamily="2" charset="-122"/>
            </a:endParaRPr>
          </a:p>
          <a:p>
            <a:pPr marL="742950" lvl="1" indent="-285750">
              <a:lnSpc>
                <a:spcPct val="150000"/>
              </a:lnSpc>
              <a:spcBef>
                <a:spcPts val="600"/>
              </a:spcBef>
              <a:buFontTx/>
              <a:buChar char="•"/>
            </a:pPr>
            <a:r>
              <a:rPr lang="zh-CN" altLang="en-US" sz="1800" b="1">
                <a:latin typeface="宋体" panose="02000500000000000000" pitchFamily="2" charset="-122"/>
              </a:rPr>
              <a:t>一般用在写命中时采用写回策略的</a:t>
            </a:r>
            <a:r>
              <a:rPr lang="en-US" altLang="zh-CN" sz="1800" b="1">
                <a:latin typeface="宋体" panose="02000500000000000000" pitchFamily="2" charset="-122"/>
              </a:rPr>
              <a:t>Cache</a:t>
            </a:r>
            <a:r>
              <a:rPr lang="zh-CN" altLang="en-US" sz="1800" b="1">
                <a:latin typeface="宋体" panose="02000500000000000000" pitchFamily="2" charset="-122"/>
              </a:rPr>
              <a:t>中</a:t>
            </a:r>
            <a:r>
              <a:rPr lang="zh-CN" altLang="en-US" sz="2000" b="1">
                <a:latin typeface="宋体" panose="02000500000000000000" pitchFamily="2" charset="-122"/>
              </a:rPr>
              <a:t> </a:t>
            </a:r>
            <a:endParaRPr lang="en-US" altLang="zh-CN" sz="1800" b="1">
              <a:latin typeface="宋体" panose="02000500000000000000" pitchFamily="2" charset="-122"/>
            </a:endParaRPr>
          </a:p>
          <a:p>
            <a:pPr marL="342900" indent="-342900">
              <a:lnSpc>
                <a:spcPct val="150000"/>
              </a:lnSpc>
              <a:spcBef>
                <a:spcPts val="600"/>
              </a:spcBef>
              <a:buFontTx/>
              <a:buChar char="•"/>
            </a:pPr>
            <a:r>
              <a:rPr lang="zh-CN" altLang="en-US" sz="2000" b="1">
                <a:latin typeface="宋体" panose="02000500000000000000" pitchFamily="2" charset="-122"/>
              </a:rPr>
              <a:t>写不分配（</a:t>
            </a:r>
            <a:r>
              <a:rPr lang="en-US" altLang="zh-CN" sz="2000" b="1">
                <a:latin typeface="宋体" panose="02000500000000000000" pitchFamily="2" charset="-122"/>
              </a:rPr>
              <a:t>Write Non-allocate</a:t>
            </a:r>
            <a:r>
              <a:rPr lang="zh-CN" altLang="en-US" sz="2000" b="1">
                <a:latin typeface="宋体" panose="02000500000000000000" pitchFamily="2" charset="-122"/>
              </a:rPr>
              <a:t>）</a:t>
            </a:r>
            <a:endParaRPr lang="zh-CN" altLang="en-US" sz="2000" b="1">
              <a:latin typeface="宋体" panose="02000500000000000000" pitchFamily="2" charset="-122"/>
            </a:endParaRPr>
          </a:p>
          <a:p>
            <a:pPr marL="742950" lvl="1" indent="-285750">
              <a:lnSpc>
                <a:spcPct val="150000"/>
              </a:lnSpc>
              <a:spcBef>
                <a:spcPts val="600"/>
              </a:spcBef>
              <a:buFontTx/>
              <a:buChar char="•"/>
            </a:pPr>
            <a:r>
              <a:rPr lang="zh-CN" altLang="en-US" sz="1800" b="1">
                <a:latin typeface="宋体" panose="02000500000000000000" pitchFamily="2" charset="-122"/>
              </a:rPr>
              <a:t>写</a:t>
            </a:r>
            <a:r>
              <a:rPr lang="en-US" altLang="zh-CN" sz="1800" b="1">
                <a:latin typeface="宋体" panose="02000500000000000000" pitchFamily="2" charset="-122"/>
              </a:rPr>
              <a:t>Cache</a:t>
            </a:r>
            <a:r>
              <a:rPr lang="zh-CN" altLang="en-US" sz="1800" b="1">
                <a:latin typeface="宋体" panose="02000500000000000000" pitchFamily="2" charset="-122"/>
              </a:rPr>
              <a:t>失效时直接写进内存</a:t>
            </a:r>
            <a:r>
              <a:rPr lang="zh-CN" altLang="en-US" sz="2000" b="1">
                <a:latin typeface="宋体" panose="02000500000000000000" pitchFamily="2" charset="-122"/>
              </a:rPr>
              <a:t> </a:t>
            </a:r>
            <a:endParaRPr lang="zh-CN" altLang="en-US" sz="2000" b="1">
              <a:latin typeface="宋体" panose="02000500000000000000" pitchFamily="2" charset="-122"/>
            </a:endParaRPr>
          </a:p>
          <a:p>
            <a:pPr marL="742950" lvl="1" indent="-285750">
              <a:lnSpc>
                <a:spcPct val="150000"/>
              </a:lnSpc>
              <a:spcBef>
                <a:spcPts val="600"/>
              </a:spcBef>
              <a:buFontTx/>
              <a:buChar char="•"/>
            </a:pPr>
            <a:r>
              <a:rPr lang="zh-CN" altLang="en-US" sz="1800" b="1">
                <a:latin typeface="宋体" panose="02000500000000000000" pitchFamily="2" charset="-122"/>
              </a:rPr>
              <a:t>一般用在写命中时采用写穿透的</a:t>
            </a:r>
            <a:r>
              <a:rPr lang="en-US" altLang="zh-CN" sz="1800" b="1">
                <a:latin typeface="宋体" panose="02000500000000000000" pitchFamily="2" charset="-122"/>
              </a:rPr>
              <a:t>Cache</a:t>
            </a:r>
            <a:r>
              <a:rPr lang="zh-CN" altLang="en-US" sz="1800" b="1">
                <a:latin typeface="宋体" panose="02000500000000000000" pitchFamily="2" charset="-122"/>
              </a:rPr>
              <a:t>中</a:t>
            </a:r>
            <a:r>
              <a:rPr lang="zh-CN" altLang="en-US" sz="2000" b="1">
                <a:latin typeface="宋体" panose="02000500000000000000" pitchFamily="2" charset="-122"/>
              </a:rPr>
              <a:t> </a:t>
            </a:r>
            <a:endParaRPr lang="zh-CN" altLang="en-US" sz="20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noChangeArrowheads="1"/>
          </p:cNvSpPr>
          <p:nvPr>
            <p:ph type="sldNum" sz="quarter" idx="12"/>
          </p:nvPr>
        </p:nvSpPr>
        <p:spPr>
          <a:noFill/>
        </p:spPr>
        <p:txBody>
          <a:bodyPr/>
          <a:lstStyle/>
          <a:p>
            <a:fld id="{D5C8EC94-E324-4A0A-84EB-AF289543EDAE}" type="slidenum">
              <a:rPr lang="en-US" altLang="zh-CN" smtClean="0"/>
            </a:fld>
            <a:endParaRPr lang="en-US" altLang="zh-CN" smtClean="0"/>
          </a:p>
        </p:txBody>
      </p:sp>
      <p:sp>
        <p:nvSpPr>
          <p:cNvPr id="26627" name="Rectangle 2"/>
          <p:cNvSpPr>
            <a:spLocks noGrp="1" noChangeArrowheads="1"/>
          </p:cNvSpPr>
          <p:nvPr>
            <p:ph type="title"/>
          </p:nvPr>
        </p:nvSpPr>
        <p:spPr>
          <a:xfrm>
            <a:off x="965200" y="3105150"/>
            <a:ext cx="10361613" cy="1143000"/>
          </a:xfrm>
        </p:spPr>
        <p:txBody>
          <a:bodyPr/>
          <a:lstStyle/>
          <a:p>
            <a:pPr eaLnBrk="1" hangingPunct="1"/>
            <a:r>
              <a:rPr lang="en-US" altLang="zh-CN" sz="4000" smtClean="0"/>
              <a:t>Cache</a:t>
            </a:r>
            <a:r>
              <a:rPr lang="zh-CN" altLang="en-US" sz="4000" smtClean="0"/>
              <a:t>性能优化</a:t>
            </a:r>
            <a:endParaRPr lang="zh-CN" altLang="en-US" sz="400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灯片编号占位符 3"/>
          <p:cNvSpPr>
            <a:spLocks noGrp="1" noChangeArrowheads="1"/>
          </p:cNvSpPr>
          <p:nvPr>
            <p:ph type="sldNum" sz="quarter" idx="12"/>
          </p:nvPr>
        </p:nvSpPr>
        <p:spPr>
          <a:noFill/>
        </p:spPr>
        <p:txBody>
          <a:bodyPr/>
          <a:lstStyle/>
          <a:p>
            <a:fld id="{24879FF3-BFF7-4F33-AD07-0C58A447B81B}" type="slidenum">
              <a:rPr lang="en-US" altLang="zh-CN" smtClean="0"/>
            </a:fld>
            <a:endParaRPr lang="en-US" altLang="zh-CN" smtClean="0"/>
          </a:p>
        </p:txBody>
      </p:sp>
      <p:sp>
        <p:nvSpPr>
          <p:cNvPr id="6150" name="Rectangle 8"/>
          <p:cNvSpPr>
            <a:spLocks noChangeArrowheads="1"/>
          </p:cNvSpPr>
          <p:nvPr/>
        </p:nvSpPr>
        <p:spPr bwMode="auto">
          <a:xfrm>
            <a:off x="1320800" y="0"/>
            <a:ext cx="9548813" cy="914400"/>
          </a:xfrm>
          <a:prstGeom prst="rect">
            <a:avLst/>
          </a:prstGeom>
          <a:noFill/>
          <a:ln w="12700">
            <a:noFill/>
            <a:miter lim="800000"/>
          </a:ln>
        </p:spPr>
        <p:txBody>
          <a:bodyPr lIns="90487" tIns="44450" rIns="90487"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Cache</a:t>
            </a:r>
            <a:r>
              <a:rPr lang="zh-CN" altLang="en-US" sz="3200">
                <a:solidFill>
                  <a:srgbClr val="FF0000"/>
                </a:solidFill>
                <a:latin typeface="Arial" panose="02080604020202020204" pitchFamily="34" charset="0"/>
                <a:ea typeface="黑体" panose="02000500000000000000" pitchFamily="49" charset="-122"/>
              </a:rPr>
              <a:t>性能分析</a:t>
            </a:r>
            <a:endParaRPr lang="zh-CN" altLang="en-US" sz="3200">
              <a:solidFill>
                <a:srgbClr val="FF0000"/>
              </a:solidFill>
              <a:latin typeface="Arial" panose="02080604020202020204" pitchFamily="34" charset="0"/>
              <a:ea typeface="黑体" panose="02000500000000000000" pitchFamily="49" charset="-122"/>
            </a:endParaRPr>
          </a:p>
        </p:txBody>
      </p:sp>
      <p:sp>
        <p:nvSpPr>
          <p:cNvPr id="6151" name="Rectangle 10"/>
          <p:cNvSpPr>
            <a:spLocks noChangeArrowheads="1"/>
          </p:cNvSpPr>
          <p:nvPr/>
        </p:nvSpPr>
        <p:spPr bwMode="auto">
          <a:xfrm>
            <a:off x="914400" y="1289050"/>
            <a:ext cx="10082213" cy="1854200"/>
          </a:xfrm>
          <a:prstGeom prst="rect">
            <a:avLst/>
          </a:prstGeom>
          <a:noFill/>
          <a:ln w="12700">
            <a:noFill/>
            <a:miter lim="800000"/>
          </a:ln>
        </p:spPr>
        <p:txBody>
          <a:bodyPr lIns="90488" tIns="44450" rIns="90488" bIns="44450"/>
          <a:lstStyle/>
          <a:p>
            <a:pPr marL="342900" indent="-342900">
              <a:lnSpc>
                <a:spcPct val="150000"/>
              </a:lnSpc>
              <a:spcBef>
                <a:spcPct val="10000"/>
              </a:spcBef>
              <a:buFontTx/>
              <a:buChar char="•"/>
            </a:pPr>
            <a:r>
              <a:rPr lang="en-US" altLang="zh-CN" sz="2000" b="1">
                <a:latin typeface="宋体" panose="02000500000000000000" pitchFamily="2" charset="-122"/>
              </a:rPr>
              <a:t>CPU</a:t>
            </a:r>
            <a:r>
              <a:rPr lang="zh-CN" altLang="en-US" sz="2000" b="1">
                <a:latin typeface="宋体" panose="02000500000000000000" pitchFamily="2" charset="-122"/>
              </a:rPr>
              <a:t>执行时间与访存延迟的关系</a:t>
            </a:r>
            <a:endParaRPr lang="en-US" altLang="zh-CN" sz="2000" b="1">
              <a:latin typeface="宋体" panose="02000500000000000000" pitchFamily="2" charset="-122"/>
            </a:endParaRPr>
          </a:p>
          <a:p>
            <a:pPr marL="742950" lvl="1" indent="-285750">
              <a:lnSpc>
                <a:spcPct val="150000"/>
              </a:lnSpc>
              <a:spcBef>
                <a:spcPct val="10000"/>
              </a:spcBef>
              <a:buFontTx/>
              <a:buChar char="•"/>
            </a:pPr>
            <a:r>
              <a:rPr lang="en-US" altLang="zh-CN" sz="1800" b="1">
                <a:latin typeface="宋体" panose="02000500000000000000" pitchFamily="2" charset="-122"/>
              </a:rPr>
              <a:t>AMAT = Average Memory Access Time</a:t>
            </a:r>
            <a:r>
              <a:rPr lang="zh-CN" altLang="en-US" sz="1800" b="1">
                <a:latin typeface="宋体" panose="02000500000000000000" pitchFamily="2" charset="-122"/>
              </a:rPr>
              <a:t>，</a:t>
            </a:r>
            <a:r>
              <a:rPr lang="zh-CN" altLang="en-US" sz="1800" b="1">
                <a:solidFill>
                  <a:schemeClr val="accent2"/>
                </a:solidFill>
                <a:latin typeface="宋体" panose="02000500000000000000" pitchFamily="2" charset="-122"/>
              </a:rPr>
              <a:t>访存指令的平均</a:t>
            </a:r>
            <a:r>
              <a:rPr lang="en-US" altLang="zh-CN" sz="1800" b="1">
                <a:solidFill>
                  <a:schemeClr val="accent2"/>
                </a:solidFill>
                <a:latin typeface="宋体" panose="02000500000000000000" pitchFamily="2" charset="-122"/>
              </a:rPr>
              <a:t>CPI</a:t>
            </a:r>
            <a:endParaRPr lang="en-US" altLang="zh-CN" sz="1800" b="1">
              <a:solidFill>
                <a:schemeClr val="accent2"/>
              </a:solidFill>
              <a:latin typeface="宋体" panose="02000500000000000000" pitchFamily="2" charset="-122"/>
            </a:endParaRPr>
          </a:p>
          <a:p>
            <a:pPr marL="742950" lvl="1" indent="-285750">
              <a:lnSpc>
                <a:spcPct val="150000"/>
              </a:lnSpc>
              <a:spcBef>
                <a:spcPct val="10000"/>
              </a:spcBef>
              <a:buFontTx/>
              <a:buChar char="•"/>
            </a:pPr>
            <a:r>
              <a:rPr lang="en-US" altLang="zh-CN" sz="1800" b="1">
                <a:solidFill>
                  <a:srgbClr val="FF0000"/>
                </a:solidFill>
                <a:latin typeface="宋体" panose="02000500000000000000" pitchFamily="2" charset="-122"/>
              </a:rPr>
              <a:t>CPI</a:t>
            </a:r>
            <a:r>
              <a:rPr lang="en-US" altLang="zh-CN" sz="1800" b="1" baseline="-25000">
                <a:solidFill>
                  <a:srgbClr val="FF0000"/>
                </a:solidFill>
                <a:latin typeface="宋体" panose="02000500000000000000" pitchFamily="2" charset="-122"/>
              </a:rPr>
              <a:t>ALUOps</a:t>
            </a:r>
            <a:r>
              <a:rPr lang="en-US" altLang="zh-CN" sz="1800" b="1">
                <a:solidFill>
                  <a:srgbClr val="FF0000"/>
                </a:solidFill>
                <a:latin typeface="宋体" panose="02000500000000000000" pitchFamily="2" charset="-122"/>
              </a:rPr>
              <a:t> </a:t>
            </a:r>
            <a:r>
              <a:rPr lang="zh-CN" altLang="en-US" sz="1800" b="1">
                <a:solidFill>
                  <a:srgbClr val="FF0000"/>
                </a:solidFill>
                <a:latin typeface="宋体" panose="02000500000000000000" pitchFamily="2" charset="-122"/>
              </a:rPr>
              <a:t>不包括访存指令</a:t>
            </a:r>
            <a:endParaRPr lang="zh-CN" altLang="en-US" sz="1800" b="1">
              <a:solidFill>
                <a:srgbClr val="FF0000"/>
              </a:solidFill>
              <a:latin typeface="宋体" panose="02000500000000000000" pitchFamily="2" charset="-122"/>
            </a:endParaRPr>
          </a:p>
        </p:txBody>
      </p:sp>
      <p:pic>
        <p:nvPicPr>
          <p:cNvPr id="2" name="Picture 5"/>
          <p:cNvPicPr>
            <a:picLocks noChangeAspect="1" noChangeArrowheads="1"/>
          </p:cNvPicPr>
          <p:nvPr/>
        </p:nvPicPr>
        <p:blipFill>
          <a:blip r:embed="rId1" cstate="print"/>
          <a:srcRect/>
          <a:stretch>
            <a:fillRect/>
          </a:stretch>
        </p:blipFill>
        <p:spPr bwMode="auto">
          <a:xfrm>
            <a:off x="1841500" y="3296209"/>
            <a:ext cx="8928100" cy="270136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灯片编号占位符 6"/>
          <p:cNvSpPr>
            <a:spLocks noGrp="1" noChangeArrowheads="1"/>
          </p:cNvSpPr>
          <p:nvPr>
            <p:ph type="sldNum" sz="quarter" idx="12"/>
          </p:nvPr>
        </p:nvSpPr>
        <p:spPr>
          <a:noFill/>
        </p:spPr>
        <p:txBody>
          <a:bodyPr/>
          <a:lstStyle/>
          <a:p>
            <a:fld id="{C919CCB2-2CDE-443C-90E2-335904079369}" type="slidenum">
              <a:rPr lang="en-US" altLang="zh-CN" smtClean="0"/>
            </a:fld>
            <a:endParaRPr lang="en-US" altLang="zh-CN" smtClean="0"/>
          </a:p>
        </p:txBody>
      </p:sp>
      <p:sp>
        <p:nvSpPr>
          <p:cNvPr id="7173" name="Rectangle 2"/>
          <p:cNvSpPr>
            <a:spLocks noGrp="1" noChangeArrowheads="1"/>
          </p:cNvSpPr>
          <p:nvPr>
            <p:ph type="title"/>
          </p:nvPr>
        </p:nvSpPr>
        <p:spPr>
          <a:xfrm>
            <a:off x="914400" y="171450"/>
            <a:ext cx="10361613" cy="846138"/>
          </a:xfrm>
        </p:spPr>
        <p:txBody>
          <a:bodyPr/>
          <a:lstStyle/>
          <a:p>
            <a:pPr eaLnBrk="1" hangingPunct="1"/>
            <a:r>
              <a:rPr lang="en-US" altLang="zh-CN" smtClean="0"/>
              <a:t>Cache</a:t>
            </a:r>
            <a:r>
              <a:rPr lang="zh-CN" altLang="en-US" smtClean="0"/>
              <a:t>性能优化</a:t>
            </a:r>
            <a:endParaRPr lang="zh-CN" altLang="en-US" smtClean="0"/>
          </a:p>
        </p:txBody>
      </p:sp>
      <p:sp>
        <p:nvSpPr>
          <p:cNvPr id="7174" name="Rectangle 6"/>
          <p:cNvSpPr>
            <a:spLocks noGrp="1" noChangeArrowheads="1"/>
          </p:cNvSpPr>
          <p:nvPr>
            <p:ph type="body" sz="half" idx="1"/>
          </p:nvPr>
        </p:nvSpPr>
        <p:spPr>
          <a:xfrm>
            <a:off x="674688" y="2935288"/>
            <a:ext cx="10969625" cy="3684587"/>
          </a:xfrm>
        </p:spPr>
        <p:txBody>
          <a:bodyPr/>
          <a:lstStyle/>
          <a:p>
            <a:pPr eaLnBrk="1" hangingPunct="1">
              <a:lnSpc>
                <a:spcPct val="150000"/>
              </a:lnSpc>
            </a:pPr>
            <a:r>
              <a:rPr lang="zh-CN" altLang="en-US" sz="2000" dirty="0" smtClean="0">
                <a:latin typeface="宋体" panose="02000500000000000000" pitchFamily="2" charset="-122"/>
              </a:rPr>
              <a:t>降低失效率（</a:t>
            </a:r>
            <a:r>
              <a:rPr lang="en-US" altLang="zh-CN" sz="2000" dirty="0" err="1" smtClean="0">
                <a:latin typeface="宋体" panose="02000500000000000000" pitchFamily="2" charset="-122"/>
              </a:rPr>
              <a:t>MissRate</a:t>
            </a:r>
            <a:r>
              <a:rPr lang="zh-CN" altLang="en-US" sz="2000" dirty="0" smtClean="0">
                <a:latin typeface="宋体" panose="02000500000000000000" pitchFamily="2" charset="-122"/>
              </a:rPr>
              <a:t>）</a:t>
            </a:r>
            <a:endParaRPr lang="zh-CN" altLang="en-US" sz="2000" dirty="0" smtClean="0">
              <a:latin typeface="宋体" panose="02000500000000000000" pitchFamily="2" charset="-122"/>
            </a:endParaRPr>
          </a:p>
          <a:p>
            <a:pPr eaLnBrk="1" hangingPunct="1">
              <a:lnSpc>
                <a:spcPct val="150000"/>
              </a:lnSpc>
            </a:pPr>
            <a:r>
              <a:rPr lang="zh-CN" altLang="en-US" sz="2000" dirty="0" smtClean="0">
                <a:latin typeface="宋体" panose="02000500000000000000" pitchFamily="2" charset="-122"/>
              </a:rPr>
              <a:t>降低失效延迟（</a:t>
            </a:r>
            <a:r>
              <a:rPr lang="en-US" altLang="zh-CN" sz="2000" dirty="0" err="1" smtClean="0">
                <a:latin typeface="宋体" panose="02000500000000000000" pitchFamily="2" charset="-122"/>
              </a:rPr>
              <a:t>MissPenalty</a:t>
            </a:r>
            <a:r>
              <a:rPr lang="zh-CN" altLang="en-US" sz="2000" dirty="0" smtClean="0">
                <a:latin typeface="宋体" panose="02000500000000000000" pitchFamily="2" charset="-122"/>
              </a:rPr>
              <a:t>）</a:t>
            </a:r>
            <a:endParaRPr lang="zh-CN" altLang="en-US" sz="2000" dirty="0" smtClean="0">
              <a:latin typeface="宋体" panose="02000500000000000000" pitchFamily="2" charset="-122"/>
            </a:endParaRPr>
          </a:p>
          <a:p>
            <a:pPr eaLnBrk="1" hangingPunct="1">
              <a:lnSpc>
                <a:spcPct val="150000"/>
              </a:lnSpc>
            </a:pPr>
            <a:r>
              <a:rPr lang="zh-CN" altLang="en-US" sz="2000" dirty="0" smtClean="0">
                <a:latin typeface="宋体" panose="02000500000000000000" pitchFamily="2" charset="-122"/>
              </a:rPr>
              <a:t>降低命中延迟（</a:t>
            </a:r>
            <a:r>
              <a:rPr lang="en-US" altLang="zh-CN" sz="2000" dirty="0" err="1" smtClean="0">
                <a:latin typeface="宋体" panose="02000500000000000000" pitchFamily="2" charset="-122"/>
              </a:rPr>
              <a:t>HitTime</a:t>
            </a:r>
            <a:r>
              <a:rPr lang="zh-CN" altLang="en-US" sz="2000" dirty="0" smtClean="0">
                <a:latin typeface="宋体" panose="02000500000000000000" pitchFamily="2" charset="-122"/>
              </a:rPr>
              <a:t>）</a:t>
            </a:r>
            <a:endParaRPr lang="zh-CN" altLang="en-US" sz="2000" dirty="0" smtClean="0">
              <a:latin typeface="宋体" panose="02000500000000000000" pitchFamily="2" charset="-122"/>
            </a:endParaRPr>
          </a:p>
          <a:p>
            <a:pPr eaLnBrk="1" hangingPunct="1">
              <a:lnSpc>
                <a:spcPct val="150000"/>
              </a:lnSpc>
            </a:pPr>
            <a:r>
              <a:rPr lang="zh-CN" altLang="en-US" sz="2000" dirty="0" smtClean="0">
                <a:latin typeface="宋体" panose="02000500000000000000" pitchFamily="2" charset="-122"/>
              </a:rPr>
              <a:t>提高</a:t>
            </a:r>
            <a:r>
              <a:rPr lang="en-US" altLang="zh-CN" sz="2000" dirty="0" smtClean="0">
                <a:latin typeface="宋体" panose="02000500000000000000" pitchFamily="2" charset="-122"/>
              </a:rPr>
              <a:t>Cache</a:t>
            </a:r>
            <a:r>
              <a:rPr lang="zh-CN" altLang="en-US" sz="2000" dirty="0" smtClean="0">
                <a:latin typeface="宋体" panose="02000500000000000000" pitchFamily="2" charset="-122"/>
              </a:rPr>
              <a:t>访问并行性</a:t>
            </a:r>
            <a:endParaRPr lang="zh-CN" altLang="en-US" sz="2000" dirty="0" smtClean="0">
              <a:latin typeface="宋体" panose="02000500000000000000" pitchFamily="2" charset="-122"/>
            </a:endParaRPr>
          </a:p>
        </p:txBody>
      </p:sp>
      <p:pic>
        <p:nvPicPr>
          <p:cNvPr id="2" name="Picture 4"/>
          <p:cNvPicPr>
            <a:picLocks noChangeAspect="1" noChangeArrowheads="1"/>
          </p:cNvPicPr>
          <p:nvPr/>
        </p:nvPicPr>
        <p:blipFill>
          <a:blip r:embed="rId1" cstate="print"/>
          <a:srcRect/>
          <a:stretch>
            <a:fillRect/>
          </a:stretch>
        </p:blipFill>
        <p:spPr bwMode="auto">
          <a:xfrm>
            <a:off x="1058863" y="1254125"/>
            <a:ext cx="9258300"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noChangeArrowheads="1"/>
          </p:cNvSpPr>
          <p:nvPr>
            <p:ph type="sldNum" sz="quarter" idx="12"/>
          </p:nvPr>
        </p:nvSpPr>
        <p:spPr>
          <a:noFill/>
        </p:spPr>
        <p:txBody>
          <a:bodyPr/>
          <a:lstStyle/>
          <a:p>
            <a:fld id="{5DEFCC9C-EC50-44D6-8FAF-950CA4DF778B}" type="slidenum">
              <a:rPr lang="en-US" altLang="zh-CN" smtClean="0"/>
            </a:fld>
            <a:endParaRPr lang="en-US" altLang="zh-CN" smtClean="0"/>
          </a:p>
        </p:txBody>
      </p:sp>
      <p:sp>
        <p:nvSpPr>
          <p:cNvPr id="27651" name="Rectangle 4"/>
          <p:cNvSpPr>
            <a:spLocks noChangeArrowheads="1"/>
          </p:cNvSpPr>
          <p:nvPr/>
        </p:nvSpPr>
        <p:spPr bwMode="auto">
          <a:xfrm>
            <a:off x="825500" y="501650"/>
            <a:ext cx="10361613" cy="846138"/>
          </a:xfrm>
          <a:prstGeom prst="rect">
            <a:avLst/>
          </a:prstGeom>
          <a:noFill/>
          <a:ln w="9525">
            <a:noFill/>
            <a:miter lim="800000"/>
          </a:ln>
        </p:spPr>
        <p:txBody>
          <a:bodyPr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降低失效率（</a:t>
            </a:r>
            <a:r>
              <a:rPr lang="en-US" altLang="zh-CN" sz="3200">
                <a:solidFill>
                  <a:srgbClr val="FF0000"/>
                </a:solidFill>
                <a:latin typeface="Arial" panose="02080604020202020204" pitchFamily="34" charset="0"/>
                <a:ea typeface="黑体" panose="02000500000000000000" pitchFamily="49" charset="-122"/>
              </a:rPr>
              <a:t>MissRate</a:t>
            </a:r>
            <a:r>
              <a:rPr lang="zh-CN" altLang="en-US" sz="3200">
                <a:solidFill>
                  <a:srgbClr val="FF0000"/>
                </a:solidFill>
                <a:latin typeface="Arial" panose="02080604020202020204" pitchFamily="34" charset="0"/>
                <a:ea typeface="黑体" panose="02000500000000000000" pitchFamily="49" charset="-122"/>
              </a:rPr>
              <a:t>）</a:t>
            </a:r>
            <a:endParaRPr lang="zh-CN" altLang="en-US" sz="3200">
              <a:solidFill>
                <a:srgbClr val="FF0000"/>
              </a:solidFill>
              <a:latin typeface="Arial" panose="02080604020202020204" pitchFamily="34" charset="0"/>
              <a:ea typeface="黑体" panose="02000500000000000000" pitchFamily="49" charset="-122"/>
            </a:endParaRPr>
          </a:p>
        </p:txBody>
      </p:sp>
      <p:sp>
        <p:nvSpPr>
          <p:cNvPr id="27652" name="Rectangle 5"/>
          <p:cNvSpPr>
            <a:spLocks noChangeArrowheads="1"/>
          </p:cNvSpPr>
          <p:nvPr/>
        </p:nvSpPr>
        <p:spPr bwMode="auto">
          <a:xfrm>
            <a:off x="395288" y="1698625"/>
            <a:ext cx="11249025" cy="4921250"/>
          </a:xfrm>
          <a:prstGeom prst="rect">
            <a:avLst/>
          </a:prstGeom>
          <a:noFill/>
          <a:ln w="9525">
            <a:noFill/>
            <a:miter lim="800000"/>
          </a:ln>
        </p:spPr>
        <p:txBody>
          <a:bodyPr/>
          <a:lstStyle/>
          <a:p>
            <a:pPr marL="342900" indent="-342900">
              <a:lnSpc>
                <a:spcPct val="150000"/>
              </a:lnSpc>
              <a:spcBef>
                <a:spcPct val="0"/>
              </a:spcBef>
              <a:buFontTx/>
              <a:buChar char="•"/>
            </a:pPr>
            <a:r>
              <a:rPr lang="zh-CN" altLang="en-US" sz="2400" b="1">
                <a:latin typeface="宋体" panose="02000500000000000000" pitchFamily="2" charset="-122"/>
              </a:rPr>
              <a:t>增加块大小</a:t>
            </a:r>
            <a:endParaRPr lang="zh-CN" altLang="en-US"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增加</a:t>
            </a:r>
            <a:r>
              <a:rPr lang="en-US" altLang="zh-CN" sz="2400" b="1">
                <a:latin typeface="宋体" panose="02000500000000000000" pitchFamily="2" charset="-122"/>
              </a:rPr>
              <a:t>Cache</a:t>
            </a:r>
            <a:r>
              <a:rPr lang="zh-CN" altLang="en-US" sz="2400" b="1">
                <a:latin typeface="宋体" panose="02000500000000000000" pitchFamily="2" charset="-122"/>
              </a:rPr>
              <a:t>容量</a:t>
            </a:r>
            <a:endParaRPr lang="zh-CN" altLang="en-US"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增加相联数目</a:t>
            </a:r>
            <a:endParaRPr lang="zh-CN" altLang="en-US"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路预测（</a:t>
            </a:r>
            <a:r>
              <a:rPr lang="en-US" altLang="zh-CN" sz="2400" b="1">
                <a:latin typeface="宋体" panose="02000500000000000000" pitchFamily="2" charset="-122"/>
              </a:rPr>
              <a:t>Way Prediction</a:t>
            </a:r>
            <a:r>
              <a:rPr lang="zh-CN" altLang="en-US" sz="2400" b="1">
                <a:latin typeface="宋体" panose="02000500000000000000" pitchFamily="2" charset="-122"/>
              </a:rPr>
              <a:t>）</a:t>
            </a:r>
            <a:endParaRPr lang="zh-CN" altLang="en-US"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软件优化</a:t>
            </a:r>
            <a:endParaRPr lang="zh-CN" altLang="en-US" sz="24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noChangeArrowheads="1"/>
          </p:cNvSpPr>
          <p:nvPr>
            <p:ph type="sldNum" sz="quarter" idx="12"/>
          </p:nvPr>
        </p:nvSpPr>
        <p:spPr>
          <a:noFill/>
        </p:spPr>
        <p:txBody>
          <a:bodyPr/>
          <a:lstStyle/>
          <a:p>
            <a:fld id="{FCE8E30E-5AF4-496F-A3A0-B61E07C62DCB}" type="slidenum">
              <a:rPr lang="en-US" altLang="zh-CN" smtClean="0"/>
            </a:fld>
            <a:endParaRPr lang="en-US" altLang="zh-CN" smtClean="0"/>
          </a:p>
        </p:txBody>
      </p:sp>
      <p:sp>
        <p:nvSpPr>
          <p:cNvPr id="28675" name="Rectangle 2"/>
          <p:cNvSpPr>
            <a:spLocks noGrp="1" noChangeArrowheads="1"/>
          </p:cNvSpPr>
          <p:nvPr>
            <p:ph type="title"/>
          </p:nvPr>
        </p:nvSpPr>
        <p:spPr>
          <a:xfrm>
            <a:off x="1016000" y="0"/>
            <a:ext cx="10361613" cy="1143000"/>
          </a:xfrm>
        </p:spPr>
        <p:txBody>
          <a:bodyPr/>
          <a:lstStyle/>
          <a:p>
            <a:pPr eaLnBrk="1" hangingPunct="1"/>
            <a:r>
              <a:rPr lang="zh-CN" altLang="en-US" smtClean="0"/>
              <a:t>引起</a:t>
            </a:r>
            <a:r>
              <a:rPr lang="en-US" altLang="zh-CN" smtClean="0"/>
              <a:t>Cache</a:t>
            </a:r>
            <a:r>
              <a:rPr lang="zh-CN" altLang="en-US" smtClean="0"/>
              <a:t>失效的因素（</a:t>
            </a:r>
            <a:r>
              <a:rPr lang="en-US" altLang="zh-CN" smtClean="0"/>
              <a:t>3C/4C</a:t>
            </a:r>
            <a:r>
              <a:rPr lang="zh-CN" altLang="en-US" smtClean="0"/>
              <a:t>）</a:t>
            </a:r>
            <a:endParaRPr lang="zh-CN" altLang="en-US" smtClean="0"/>
          </a:p>
        </p:txBody>
      </p:sp>
      <p:sp>
        <p:nvSpPr>
          <p:cNvPr id="28676" name="Rectangle 3"/>
          <p:cNvSpPr>
            <a:spLocks noGrp="1" noChangeArrowheads="1"/>
          </p:cNvSpPr>
          <p:nvPr>
            <p:ph idx="1"/>
          </p:nvPr>
        </p:nvSpPr>
        <p:spPr>
          <a:xfrm>
            <a:off x="330200" y="1306513"/>
            <a:ext cx="11682413" cy="5475287"/>
          </a:xfrm>
        </p:spPr>
        <p:txBody>
          <a:bodyPr/>
          <a:lstStyle/>
          <a:p>
            <a:pPr eaLnBrk="1" hangingPunct="1">
              <a:spcBef>
                <a:spcPct val="0"/>
              </a:spcBef>
            </a:pPr>
            <a:r>
              <a:rPr lang="zh-CN" altLang="en-US" sz="2000" smtClean="0">
                <a:latin typeface="宋体" panose="02000500000000000000" pitchFamily="2" charset="-122"/>
              </a:rPr>
              <a:t>冷失效（</a:t>
            </a:r>
            <a:r>
              <a:rPr lang="en-US" altLang="zh-CN" sz="2000" smtClean="0">
                <a:latin typeface="宋体" panose="02000500000000000000" pitchFamily="2" charset="-122"/>
              </a:rPr>
              <a:t>Cold Miss</a:t>
            </a:r>
            <a:r>
              <a:rPr lang="zh-CN" altLang="en-US" sz="2000" smtClean="0">
                <a:latin typeface="宋体" panose="02000500000000000000" pitchFamily="2" charset="-122"/>
              </a:rPr>
              <a:t>或</a:t>
            </a:r>
            <a:r>
              <a:rPr lang="en-US" altLang="zh-CN" sz="2000" smtClean="0">
                <a:latin typeface="宋体" panose="02000500000000000000" pitchFamily="2" charset="-122"/>
              </a:rPr>
              <a:t>Compulsory Miss</a:t>
            </a:r>
            <a:r>
              <a:rPr lang="zh-CN" altLang="en-US" sz="2000" smtClean="0">
                <a:latin typeface="宋体" panose="02000500000000000000" pitchFamily="2" charset="-122"/>
              </a:rPr>
              <a:t>）</a:t>
            </a:r>
            <a:endParaRPr lang="zh-CN" altLang="en-US" sz="2000" smtClean="0">
              <a:latin typeface="宋体" panose="02000500000000000000" pitchFamily="2" charset="-122"/>
            </a:endParaRPr>
          </a:p>
          <a:p>
            <a:pPr lvl="1" eaLnBrk="1" hangingPunct="1">
              <a:spcBef>
                <a:spcPct val="0"/>
              </a:spcBef>
            </a:pPr>
            <a:r>
              <a:rPr lang="en-US" altLang="zh-CN" sz="1600" smtClean="0">
                <a:latin typeface="宋体" panose="02000500000000000000" pitchFamily="2" charset="-122"/>
              </a:rPr>
              <a:t>CPU</a:t>
            </a:r>
            <a:r>
              <a:rPr lang="zh-CN" altLang="en-US" sz="1600" smtClean="0">
                <a:latin typeface="宋体" panose="02000500000000000000" pitchFamily="2" charset="-122"/>
              </a:rPr>
              <a:t>第一次访问</a:t>
            </a:r>
            <a:r>
              <a:rPr lang="en-US" altLang="zh-CN" sz="1600" smtClean="0">
                <a:latin typeface="宋体" panose="02000500000000000000" pitchFamily="2" charset="-122"/>
              </a:rPr>
              <a:t>Cache</a:t>
            </a:r>
            <a:r>
              <a:rPr lang="zh-CN" altLang="en-US" sz="1600" smtClean="0">
                <a:latin typeface="宋体" panose="02000500000000000000" pitchFamily="2" charset="-122"/>
              </a:rPr>
              <a:t>块时</a:t>
            </a:r>
            <a:r>
              <a:rPr lang="en-US" altLang="zh-CN" sz="1600" smtClean="0">
                <a:latin typeface="宋体" panose="02000500000000000000" pitchFamily="2" charset="-122"/>
              </a:rPr>
              <a:t>Cache</a:t>
            </a:r>
            <a:r>
              <a:rPr lang="zh-CN" altLang="en-US" sz="1600" smtClean="0">
                <a:latin typeface="宋体" panose="02000500000000000000" pitchFamily="2" charset="-122"/>
              </a:rPr>
              <a:t>中还没有该</a:t>
            </a:r>
            <a:r>
              <a:rPr lang="en-US" altLang="zh-CN" sz="1600" smtClean="0">
                <a:latin typeface="宋体" panose="02000500000000000000" pitchFamily="2" charset="-122"/>
              </a:rPr>
              <a:t>Cache</a:t>
            </a:r>
            <a:r>
              <a:rPr lang="zh-CN" altLang="en-US" sz="1600" smtClean="0">
                <a:latin typeface="宋体" panose="02000500000000000000" pitchFamily="2" charset="-122"/>
              </a:rPr>
              <a:t>块引起的失效</a:t>
            </a:r>
            <a:endParaRPr lang="zh-CN" altLang="en-US" sz="16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冷失效是不可避免的，即使</a:t>
            </a:r>
            <a:r>
              <a:rPr lang="en-US" altLang="zh-CN" sz="1600" smtClean="0">
                <a:latin typeface="宋体" panose="02000500000000000000" pitchFamily="2" charset="-122"/>
              </a:rPr>
              <a:t>Cache</a:t>
            </a:r>
            <a:r>
              <a:rPr lang="zh-CN" altLang="en-US" sz="1600" smtClean="0">
                <a:latin typeface="宋体" panose="02000500000000000000" pitchFamily="2" charset="-122"/>
              </a:rPr>
              <a:t>容量再大也会有</a:t>
            </a:r>
            <a:endParaRPr lang="zh-CN" altLang="en-US" sz="16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容量失效（</a:t>
            </a:r>
            <a:r>
              <a:rPr lang="en-US" altLang="zh-CN" sz="2000" smtClean="0">
                <a:latin typeface="宋体" panose="02000500000000000000" pitchFamily="2" charset="-122"/>
              </a:rPr>
              <a:t>Capacity Miss</a:t>
            </a:r>
            <a:r>
              <a:rPr lang="zh-CN" altLang="en-US" sz="2000" smtClean="0">
                <a:latin typeface="宋体" panose="02000500000000000000" pitchFamily="2" charset="-122"/>
              </a:rPr>
              <a:t>）</a:t>
            </a:r>
            <a:endParaRPr lang="zh-CN" altLang="en-US" sz="20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程序执行过程中，有限的</a:t>
            </a:r>
            <a:r>
              <a:rPr lang="en-US" altLang="zh-CN" sz="1600" smtClean="0">
                <a:latin typeface="宋体" panose="02000500000000000000" pitchFamily="2" charset="-122"/>
              </a:rPr>
              <a:t>Cache</a:t>
            </a:r>
            <a:r>
              <a:rPr lang="zh-CN" altLang="en-US" sz="1600" smtClean="0">
                <a:latin typeface="宋体" panose="02000500000000000000" pitchFamily="2" charset="-122"/>
              </a:rPr>
              <a:t>容量导致</a:t>
            </a:r>
            <a:r>
              <a:rPr lang="en-US" altLang="zh-CN" sz="1600" smtClean="0">
                <a:latin typeface="宋体" panose="02000500000000000000" pitchFamily="2" charset="-122"/>
              </a:rPr>
              <a:t>Cache</a:t>
            </a:r>
            <a:r>
              <a:rPr lang="zh-CN" altLang="en-US" sz="1600" smtClean="0">
                <a:latin typeface="宋体" panose="02000500000000000000" pitchFamily="2" charset="-122"/>
              </a:rPr>
              <a:t>放不下时替换出部分</a:t>
            </a:r>
            <a:r>
              <a:rPr lang="en-US" altLang="zh-CN" sz="1600" smtClean="0">
                <a:latin typeface="宋体" panose="02000500000000000000" pitchFamily="2" charset="-122"/>
              </a:rPr>
              <a:t>Cache</a:t>
            </a:r>
            <a:r>
              <a:rPr lang="zh-CN" altLang="en-US" sz="1600" smtClean="0">
                <a:latin typeface="宋体" panose="02000500000000000000" pitchFamily="2" charset="-122"/>
              </a:rPr>
              <a:t>块，被替换的</a:t>
            </a:r>
            <a:r>
              <a:rPr lang="en-US" altLang="zh-CN" sz="1600" smtClean="0">
                <a:latin typeface="宋体" panose="02000500000000000000" pitchFamily="2" charset="-122"/>
              </a:rPr>
              <a:t>Cache</a:t>
            </a:r>
            <a:r>
              <a:rPr lang="zh-CN" altLang="en-US" sz="1600" smtClean="0">
                <a:latin typeface="宋体" panose="02000500000000000000" pitchFamily="2" charset="-122"/>
              </a:rPr>
              <a:t>块再被访问时引起失效</a:t>
            </a:r>
            <a:endParaRPr lang="zh-CN" altLang="en-US" sz="16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一定容量下全相联</a:t>
            </a:r>
            <a:r>
              <a:rPr lang="en-US" altLang="zh-CN" sz="1600" smtClean="0">
                <a:latin typeface="宋体" panose="02000500000000000000" pitchFamily="2" charset="-122"/>
              </a:rPr>
              <a:t>Cache</a:t>
            </a:r>
            <a:r>
              <a:rPr lang="zh-CN" altLang="en-US" sz="1600" smtClean="0">
                <a:latin typeface="宋体" panose="02000500000000000000" pitchFamily="2" charset="-122"/>
              </a:rPr>
              <a:t>中的失效</a:t>
            </a:r>
            <a:endParaRPr lang="zh-CN" altLang="en-US" sz="16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冲突失效（</a:t>
            </a:r>
            <a:r>
              <a:rPr lang="en-US" altLang="zh-CN" sz="2000" smtClean="0">
                <a:latin typeface="宋体" panose="02000500000000000000" pitchFamily="2" charset="-122"/>
              </a:rPr>
              <a:t>Conflict Miss</a:t>
            </a:r>
            <a:r>
              <a:rPr lang="zh-CN" altLang="en-US" sz="2000" smtClean="0">
                <a:latin typeface="宋体" panose="02000500000000000000" pitchFamily="2" charset="-122"/>
              </a:rPr>
              <a:t>）</a:t>
            </a:r>
            <a:endParaRPr lang="zh-CN" altLang="en-US" sz="20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直接相联或组相联</a:t>
            </a:r>
            <a:r>
              <a:rPr lang="en-US" altLang="zh-CN" sz="1600" smtClean="0">
                <a:latin typeface="宋体" panose="02000500000000000000" pitchFamily="2" charset="-122"/>
              </a:rPr>
              <a:t>Cache</a:t>
            </a:r>
            <a:r>
              <a:rPr lang="zh-CN" altLang="en-US" sz="1600" smtClean="0">
                <a:latin typeface="宋体" panose="02000500000000000000" pitchFamily="2" charset="-122"/>
              </a:rPr>
              <a:t>中，不同</a:t>
            </a:r>
            <a:r>
              <a:rPr lang="en-US" altLang="zh-CN" sz="1600" smtClean="0">
                <a:latin typeface="宋体" panose="02000500000000000000" pitchFamily="2" charset="-122"/>
              </a:rPr>
              <a:t>Cache</a:t>
            </a:r>
            <a:r>
              <a:rPr lang="zh-CN" altLang="en-US" sz="1600" smtClean="0">
                <a:latin typeface="宋体" panose="02000500000000000000" pitchFamily="2" charset="-122"/>
              </a:rPr>
              <a:t>块由于</a:t>
            </a:r>
            <a:r>
              <a:rPr lang="en-US" altLang="zh-CN" sz="1600" smtClean="0">
                <a:latin typeface="宋体" panose="02000500000000000000" pitchFamily="2" charset="-122"/>
              </a:rPr>
              <a:t>index</a:t>
            </a:r>
            <a:r>
              <a:rPr lang="zh-CN" altLang="en-US" sz="1600" smtClean="0">
                <a:latin typeface="宋体" panose="02000500000000000000" pitchFamily="2" charset="-122"/>
              </a:rPr>
              <a:t>相同引起冲突</a:t>
            </a:r>
            <a:endParaRPr lang="zh-CN" altLang="en-US" sz="16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在全相联</a:t>
            </a:r>
            <a:r>
              <a:rPr lang="en-US" altLang="zh-CN" sz="1600" smtClean="0">
                <a:latin typeface="宋体" panose="02000500000000000000" pitchFamily="2" charset="-122"/>
              </a:rPr>
              <a:t>Cache</a:t>
            </a:r>
            <a:r>
              <a:rPr lang="zh-CN" altLang="en-US" sz="1600" smtClean="0">
                <a:latin typeface="宋体" panose="02000500000000000000" pitchFamily="2" charset="-122"/>
              </a:rPr>
              <a:t>不存在</a:t>
            </a:r>
            <a:endParaRPr lang="zh-CN" altLang="en-US" sz="16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一致性失效（</a:t>
            </a:r>
            <a:r>
              <a:rPr lang="en-US" altLang="zh-CN" sz="2000" smtClean="0">
                <a:latin typeface="宋体" panose="02000500000000000000" pitchFamily="2" charset="-122"/>
              </a:rPr>
              <a:t>Coherence Miss</a:t>
            </a:r>
            <a:r>
              <a:rPr lang="zh-CN" altLang="en-US" sz="2000" smtClean="0">
                <a:latin typeface="宋体" panose="02000500000000000000" pitchFamily="2" charset="-122"/>
              </a:rPr>
              <a:t>）</a:t>
            </a:r>
            <a:endParaRPr lang="zh-CN" altLang="en-US" sz="20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由于维护</a:t>
            </a:r>
            <a:r>
              <a:rPr lang="en-US" altLang="zh-CN" sz="1600" smtClean="0">
                <a:latin typeface="宋体" panose="02000500000000000000" pitchFamily="2" charset="-122"/>
              </a:rPr>
              <a:t>Cache</a:t>
            </a:r>
            <a:r>
              <a:rPr lang="zh-CN" altLang="en-US" sz="1600" smtClean="0">
                <a:latin typeface="宋体" panose="02000500000000000000" pitchFamily="2" charset="-122"/>
              </a:rPr>
              <a:t>一致性引起的失效 </a:t>
            </a:r>
            <a:endParaRPr lang="zh-CN" altLang="en-US" sz="16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noChangeArrowheads="1"/>
          </p:cNvSpPr>
          <p:nvPr>
            <p:ph type="sldNum" sz="quarter" idx="12"/>
          </p:nvPr>
        </p:nvSpPr>
        <p:spPr>
          <a:noFill/>
        </p:spPr>
        <p:txBody>
          <a:bodyPr/>
          <a:lstStyle/>
          <a:p>
            <a:fld id="{6B9894B7-D15D-4465-8FE9-D8DF6258472A}" type="slidenum">
              <a:rPr lang="en-US" altLang="zh-CN" smtClean="0"/>
            </a:fld>
            <a:endParaRPr lang="en-US" altLang="zh-CN" smtClean="0"/>
          </a:p>
        </p:txBody>
      </p:sp>
      <p:grpSp>
        <p:nvGrpSpPr>
          <p:cNvPr id="29699" name="Group 11"/>
          <p:cNvGrpSpPr>
            <a:grpSpLocks noChangeAspect="1"/>
          </p:cNvGrpSpPr>
          <p:nvPr/>
        </p:nvGrpSpPr>
        <p:grpSpPr bwMode="auto">
          <a:xfrm>
            <a:off x="990600" y="1473200"/>
            <a:ext cx="9921875" cy="5105400"/>
            <a:chOff x="564" y="952"/>
            <a:chExt cx="4688" cy="3216"/>
          </a:xfrm>
        </p:grpSpPr>
        <p:sp>
          <p:nvSpPr>
            <p:cNvPr id="29704" name="AutoShape 10"/>
            <p:cNvSpPr>
              <a:spLocks noChangeAspect="1" noChangeArrowheads="1" noTextEdit="1"/>
            </p:cNvSpPr>
            <p:nvPr/>
          </p:nvSpPr>
          <p:spPr bwMode="auto">
            <a:xfrm>
              <a:off x="564" y="952"/>
              <a:ext cx="4688" cy="3216"/>
            </a:xfrm>
            <a:prstGeom prst="rect">
              <a:avLst/>
            </a:prstGeom>
            <a:noFill/>
            <a:ln w="9525">
              <a:noFill/>
              <a:miter lim="800000"/>
            </a:ln>
          </p:spPr>
          <p:txBody>
            <a:bodyPr/>
            <a:lstStyle/>
            <a:p>
              <a:endParaRPr lang="zh-CN" altLang="en-US"/>
            </a:p>
          </p:txBody>
        </p:sp>
        <p:sp>
          <p:nvSpPr>
            <p:cNvPr id="29705" name="Line 12"/>
            <p:cNvSpPr>
              <a:spLocks noChangeShapeType="1"/>
            </p:cNvSpPr>
            <p:nvPr/>
          </p:nvSpPr>
          <p:spPr bwMode="auto">
            <a:xfrm flipV="1">
              <a:off x="1498" y="1303"/>
              <a:ext cx="1" cy="2003"/>
            </a:xfrm>
            <a:prstGeom prst="line">
              <a:avLst/>
            </a:prstGeom>
            <a:noFill/>
            <a:ln w="12700">
              <a:solidFill>
                <a:srgbClr val="000000"/>
              </a:solidFill>
              <a:round/>
            </a:ln>
          </p:spPr>
          <p:txBody>
            <a:bodyPr/>
            <a:lstStyle/>
            <a:p>
              <a:endParaRPr lang="zh-CN" altLang="en-US"/>
            </a:p>
          </p:txBody>
        </p:sp>
        <p:sp>
          <p:nvSpPr>
            <p:cNvPr id="29706" name="Line 13"/>
            <p:cNvSpPr>
              <a:spLocks noChangeShapeType="1"/>
            </p:cNvSpPr>
            <p:nvPr/>
          </p:nvSpPr>
          <p:spPr bwMode="auto">
            <a:xfrm>
              <a:off x="1466" y="3306"/>
              <a:ext cx="64" cy="1"/>
            </a:xfrm>
            <a:prstGeom prst="line">
              <a:avLst/>
            </a:prstGeom>
            <a:noFill/>
            <a:ln w="12700">
              <a:solidFill>
                <a:srgbClr val="000000"/>
              </a:solidFill>
              <a:round/>
            </a:ln>
          </p:spPr>
          <p:txBody>
            <a:bodyPr/>
            <a:lstStyle/>
            <a:p>
              <a:endParaRPr lang="zh-CN" altLang="en-US"/>
            </a:p>
          </p:txBody>
        </p:sp>
        <p:sp>
          <p:nvSpPr>
            <p:cNvPr id="29707" name="Line 14"/>
            <p:cNvSpPr>
              <a:spLocks noChangeShapeType="1"/>
            </p:cNvSpPr>
            <p:nvPr/>
          </p:nvSpPr>
          <p:spPr bwMode="auto">
            <a:xfrm>
              <a:off x="1466" y="3019"/>
              <a:ext cx="64" cy="1"/>
            </a:xfrm>
            <a:prstGeom prst="line">
              <a:avLst/>
            </a:prstGeom>
            <a:noFill/>
            <a:ln w="12700">
              <a:solidFill>
                <a:srgbClr val="000000"/>
              </a:solidFill>
              <a:round/>
            </a:ln>
          </p:spPr>
          <p:txBody>
            <a:bodyPr/>
            <a:lstStyle/>
            <a:p>
              <a:endParaRPr lang="zh-CN" altLang="en-US"/>
            </a:p>
          </p:txBody>
        </p:sp>
        <p:sp>
          <p:nvSpPr>
            <p:cNvPr id="29708" name="Line 15"/>
            <p:cNvSpPr>
              <a:spLocks noChangeShapeType="1"/>
            </p:cNvSpPr>
            <p:nvPr/>
          </p:nvSpPr>
          <p:spPr bwMode="auto">
            <a:xfrm>
              <a:off x="1466" y="2732"/>
              <a:ext cx="64" cy="1"/>
            </a:xfrm>
            <a:prstGeom prst="line">
              <a:avLst/>
            </a:prstGeom>
            <a:noFill/>
            <a:ln w="12700">
              <a:solidFill>
                <a:srgbClr val="000000"/>
              </a:solidFill>
              <a:round/>
            </a:ln>
          </p:spPr>
          <p:txBody>
            <a:bodyPr/>
            <a:lstStyle/>
            <a:p>
              <a:endParaRPr lang="zh-CN" altLang="en-US"/>
            </a:p>
          </p:txBody>
        </p:sp>
        <p:sp>
          <p:nvSpPr>
            <p:cNvPr id="29709" name="Line 16"/>
            <p:cNvSpPr>
              <a:spLocks noChangeShapeType="1"/>
            </p:cNvSpPr>
            <p:nvPr/>
          </p:nvSpPr>
          <p:spPr bwMode="auto">
            <a:xfrm>
              <a:off x="1466" y="2452"/>
              <a:ext cx="64" cy="1"/>
            </a:xfrm>
            <a:prstGeom prst="line">
              <a:avLst/>
            </a:prstGeom>
            <a:noFill/>
            <a:ln w="12700">
              <a:solidFill>
                <a:srgbClr val="000000"/>
              </a:solidFill>
              <a:round/>
            </a:ln>
          </p:spPr>
          <p:txBody>
            <a:bodyPr/>
            <a:lstStyle/>
            <a:p>
              <a:endParaRPr lang="zh-CN" altLang="en-US"/>
            </a:p>
          </p:txBody>
        </p:sp>
        <p:sp>
          <p:nvSpPr>
            <p:cNvPr id="29710" name="Line 17"/>
            <p:cNvSpPr>
              <a:spLocks noChangeShapeType="1"/>
            </p:cNvSpPr>
            <p:nvPr/>
          </p:nvSpPr>
          <p:spPr bwMode="auto">
            <a:xfrm>
              <a:off x="1466" y="2165"/>
              <a:ext cx="64" cy="1"/>
            </a:xfrm>
            <a:prstGeom prst="line">
              <a:avLst/>
            </a:prstGeom>
            <a:noFill/>
            <a:ln w="12700">
              <a:solidFill>
                <a:srgbClr val="000000"/>
              </a:solidFill>
              <a:round/>
            </a:ln>
          </p:spPr>
          <p:txBody>
            <a:bodyPr/>
            <a:lstStyle/>
            <a:p>
              <a:endParaRPr lang="zh-CN" altLang="en-US"/>
            </a:p>
          </p:txBody>
        </p:sp>
        <p:sp>
          <p:nvSpPr>
            <p:cNvPr id="29711" name="Line 18"/>
            <p:cNvSpPr>
              <a:spLocks noChangeShapeType="1"/>
            </p:cNvSpPr>
            <p:nvPr/>
          </p:nvSpPr>
          <p:spPr bwMode="auto">
            <a:xfrm>
              <a:off x="1466" y="1878"/>
              <a:ext cx="64" cy="1"/>
            </a:xfrm>
            <a:prstGeom prst="line">
              <a:avLst/>
            </a:prstGeom>
            <a:noFill/>
            <a:ln w="12700">
              <a:solidFill>
                <a:srgbClr val="000000"/>
              </a:solidFill>
              <a:round/>
            </a:ln>
          </p:spPr>
          <p:txBody>
            <a:bodyPr/>
            <a:lstStyle/>
            <a:p>
              <a:endParaRPr lang="zh-CN" altLang="en-US"/>
            </a:p>
          </p:txBody>
        </p:sp>
        <p:sp>
          <p:nvSpPr>
            <p:cNvPr id="29712" name="Line 19"/>
            <p:cNvSpPr>
              <a:spLocks noChangeShapeType="1"/>
            </p:cNvSpPr>
            <p:nvPr/>
          </p:nvSpPr>
          <p:spPr bwMode="auto">
            <a:xfrm>
              <a:off x="1466" y="1590"/>
              <a:ext cx="64" cy="1"/>
            </a:xfrm>
            <a:prstGeom prst="line">
              <a:avLst/>
            </a:prstGeom>
            <a:noFill/>
            <a:ln w="12700">
              <a:solidFill>
                <a:srgbClr val="000000"/>
              </a:solidFill>
              <a:round/>
            </a:ln>
          </p:spPr>
          <p:txBody>
            <a:bodyPr/>
            <a:lstStyle/>
            <a:p>
              <a:endParaRPr lang="zh-CN" altLang="en-US"/>
            </a:p>
          </p:txBody>
        </p:sp>
        <p:sp>
          <p:nvSpPr>
            <p:cNvPr id="29713" name="Line 20"/>
            <p:cNvSpPr>
              <a:spLocks noChangeShapeType="1"/>
            </p:cNvSpPr>
            <p:nvPr/>
          </p:nvSpPr>
          <p:spPr bwMode="auto">
            <a:xfrm>
              <a:off x="1466" y="1303"/>
              <a:ext cx="64" cy="1"/>
            </a:xfrm>
            <a:prstGeom prst="line">
              <a:avLst/>
            </a:prstGeom>
            <a:noFill/>
            <a:ln w="12700">
              <a:solidFill>
                <a:srgbClr val="000000"/>
              </a:solidFill>
              <a:round/>
            </a:ln>
          </p:spPr>
          <p:txBody>
            <a:bodyPr/>
            <a:lstStyle/>
            <a:p>
              <a:endParaRPr lang="zh-CN" altLang="en-US"/>
            </a:p>
          </p:txBody>
        </p:sp>
        <p:sp>
          <p:nvSpPr>
            <p:cNvPr id="29714" name="Line 21"/>
            <p:cNvSpPr>
              <a:spLocks noChangeShapeType="1"/>
            </p:cNvSpPr>
            <p:nvPr/>
          </p:nvSpPr>
          <p:spPr bwMode="auto">
            <a:xfrm>
              <a:off x="1498" y="3306"/>
              <a:ext cx="3379" cy="1"/>
            </a:xfrm>
            <a:prstGeom prst="line">
              <a:avLst/>
            </a:prstGeom>
            <a:noFill/>
            <a:ln w="12700">
              <a:solidFill>
                <a:srgbClr val="000000"/>
              </a:solidFill>
              <a:round/>
            </a:ln>
          </p:spPr>
          <p:txBody>
            <a:bodyPr/>
            <a:lstStyle/>
            <a:p>
              <a:endParaRPr lang="zh-CN" altLang="en-US"/>
            </a:p>
          </p:txBody>
        </p:sp>
        <p:sp>
          <p:nvSpPr>
            <p:cNvPr id="29715" name="Line 22"/>
            <p:cNvSpPr>
              <a:spLocks noChangeShapeType="1"/>
            </p:cNvSpPr>
            <p:nvPr/>
          </p:nvSpPr>
          <p:spPr bwMode="auto">
            <a:xfrm flipV="1">
              <a:off x="1498" y="3274"/>
              <a:ext cx="1" cy="64"/>
            </a:xfrm>
            <a:prstGeom prst="line">
              <a:avLst/>
            </a:prstGeom>
            <a:noFill/>
            <a:ln w="12700">
              <a:solidFill>
                <a:srgbClr val="000000"/>
              </a:solidFill>
              <a:round/>
            </a:ln>
          </p:spPr>
          <p:txBody>
            <a:bodyPr/>
            <a:lstStyle/>
            <a:p>
              <a:endParaRPr lang="zh-CN" altLang="en-US"/>
            </a:p>
          </p:txBody>
        </p:sp>
        <p:sp>
          <p:nvSpPr>
            <p:cNvPr id="29716" name="Line 23"/>
            <p:cNvSpPr>
              <a:spLocks noChangeShapeType="1"/>
            </p:cNvSpPr>
            <p:nvPr/>
          </p:nvSpPr>
          <p:spPr bwMode="auto">
            <a:xfrm flipV="1">
              <a:off x="1978" y="3274"/>
              <a:ext cx="1" cy="64"/>
            </a:xfrm>
            <a:prstGeom prst="line">
              <a:avLst/>
            </a:prstGeom>
            <a:noFill/>
            <a:ln w="12700">
              <a:solidFill>
                <a:srgbClr val="000000"/>
              </a:solidFill>
              <a:round/>
            </a:ln>
          </p:spPr>
          <p:txBody>
            <a:bodyPr/>
            <a:lstStyle/>
            <a:p>
              <a:endParaRPr lang="zh-CN" altLang="en-US"/>
            </a:p>
          </p:txBody>
        </p:sp>
        <p:sp>
          <p:nvSpPr>
            <p:cNvPr id="29717" name="Line 24"/>
            <p:cNvSpPr>
              <a:spLocks noChangeShapeType="1"/>
            </p:cNvSpPr>
            <p:nvPr/>
          </p:nvSpPr>
          <p:spPr bwMode="auto">
            <a:xfrm flipV="1">
              <a:off x="2465" y="3274"/>
              <a:ext cx="1" cy="64"/>
            </a:xfrm>
            <a:prstGeom prst="line">
              <a:avLst/>
            </a:prstGeom>
            <a:noFill/>
            <a:ln w="12700">
              <a:solidFill>
                <a:srgbClr val="000000"/>
              </a:solidFill>
              <a:round/>
            </a:ln>
          </p:spPr>
          <p:txBody>
            <a:bodyPr/>
            <a:lstStyle/>
            <a:p>
              <a:endParaRPr lang="zh-CN" altLang="en-US"/>
            </a:p>
          </p:txBody>
        </p:sp>
        <p:sp>
          <p:nvSpPr>
            <p:cNvPr id="29718" name="Line 25"/>
            <p:cNvSpPr>
              <a:spLocks noChangeShapeType="1"/>
            </p:cNvSpPr>
            <p:nvPr/>
          </p:nvSpPr>
          <p:spPr bwMode="auto">
            <a:xfrm flipV="1">
              <a:off x="2944" y="3274"/>
              <a:ext cx="1" cy="64"/>
            </a:xfrm>
            <a:prstGeom prst="line">
              <a:avLst/>
            </a:prstGeom>
            <a:noFill/>
            <a:ln w="12700">
              <a:solidFill>
                <a:srgbClr val="000000"/>
              </a:solidFill>
              <a:round/>
            </a:ln>
          </p:spPr>
          <p:txBody>
            <a:bodyPr/>
            <a:lstStyle/>
            <a:p>
              <a:endParaRPr lang="zh-CN" altLang="en-US"/>
            </a:p>
          </p:txBody>
        </p:sp>
        <p:sp>
          <p:nvSpPr>
            <p:cNvPr id="29719" name="Line 26"/>
            <p:cNvSpPr>
              <a:spLocks noChangeShapeType="1"/>
            </p:cNvSpPr>
            <p:nvPr/>
          </p:nvSpPr>
          <p:spPr bwMode="auto">
            <a:xfrm flipV="1">
              <a:off x="3431" y="3274"/>
              <a:ext cx="1" cy="64"/>
            </a:xfrm>
            <a:prstGeom prst="line">
              <a:avLst/>
            </a:prstGeom>
            <a:noFill/>
            <a:ln w="12700">
              <a:solidFill>
                <a:srgbClr val="000000"/>
              </a:solidFill>
              <a:round/>
            </a:ln>
          </p:spPr>
          <p:txBody>
            <a:bodyPr/>
            <a:lstStyle/>
            <a:p>
              <a:endParaRPr lang="zh-CN" altLang="en-US"/>
            </a:p>
          </p:txBody>
        </p:sp>
        <p:sp>
          <p:nvSpPr>
            <p:cNvPr id="29720" name="Line 27"/>
            <p:cNvSpPr>
              <a:spLocks noChangeShapeType="1"/>
            </p:cNvSpPr>
            <p:nvPr/>
          </p:nvSpPr>
          <p:spPr bwMode="auto">
            <a:xfrm flipV="1">
              <a:off x="3910" y="3274"/>
              <a:ext cx="1" cy="64"/>
            </a:xfrm>
            <a:prstGeom prst="line">
              <a:avLst/>
            </a:prstGeom>
            <a:noFill/>
            <a:ln w="12700">
              <a:solidFill>
                <a:srgbClr val="000000"/>
              </a:solidFill>
              <a:round/>
            </a:ln>
          </p:spPr>
          <p:txBody>
            <a:bodyPr/>
            <a:lstStyle/>
            <a:p>
              <a:endParaRPr lang="zh-CN" altLang="en-US"/>
            </a:p>
          </p:txBody>
        </p:sp>
        <p:sp>
          <p:nvSpPr>
            <p:cNvPr id="29721" name="Line 28"/>
            <p:cNvSpPr>
              <a:spLocks noChangeShapeType="1"/>
            </p:cNvSpPr>
            <p:nvPr/>
          </p:nvSpPr>
          <p:spPr bwMode="auto">
            <a:xfrm flipV="1">
              <a:off x="4397" y="3274"/>
              <a:ext cx="1" cy="64"/>
            </a:xfrm>
            <a:prstGeom prst="line">
              <a:avLst/>
            </a:prstGeom>
            <a:noFill/>
            <a:ln w="12700">
              <a:solidFill>
                <a:srgbClr val="000000"/>
              </a:solidFill>
              <a:round/>
            </a:ln>
          </p:spPr>
          <p:txBody>
            <a:bodyPr/>
            <a:lstStyle/>
            <a:p>
              <a:endParaRPr lang="zh-CN" altLang="en-US"/>
            </a:p>
          </p:txBody>
        </p:sp>
        <p:sp>
          <p:nvSpPr>
            <p:cNvPr id="29722" name="Line 29"/>
            <p:cNvSpPr>
              <a:spLocks noChangeShapeType="1"/>
            </p:cNvSpPr>
            <p:nvPr/>
          </p:nvSpPr>
          <p:spPr bwMode="auto">
            <a:xfrm flipV="1">
              <a:off x="4877" y="3274"/>
              <a:ext cx="1" cy="64"/>
            </a:xfrm>
            <a:prstGeom prst="line">
              <a:avLst/>
            </a:prstGeom>
            <a:noFill/>
            <a:ln w="12700">
              <a:solidFill>
                <a:srgbClr val="000000"/>
              </a:solidFill>
              <a:round/>
            </a:ln>
          </p:spPr>
          <p:txBody>
            <a:bodyPr/>
            <a:lstStyle/>
            <a:p>
              <a:endParaRPr lang="zh-CN" altLang="en-US"/>
            </a:p>
          </p:txBody>
        </p:sp>
        <p:sp>
          <p:nvSpPr>
            <p:cNvPr id="29723" name="Freeform 30"/>
            <p:cNvSpPr>
              <a:spLocks noChangeArrowheads="1"/>
            </p:cNvSpPr>
            <p:nvPr/>
          </p:nvSpPr>
          <p:spPr bwMode="auto">
            <a:xfrm>
              <a:off x="1498" y="3282"/>
              <a:ext cx="3379" cy="16"/>
            </a:xfrm>
            <a:custGeom>
              <a:avLst/>
              <a:gdLst>
                <a:gd name="T0" fmla="*/ 0 w 3379"/>
                <a:gd name="T1" fmla="*/ 0 h 16"/>
                <a:gd name="T2" fmla="*/ 480 w 3379"/>
                <a:gd name="T3" fmla="*/ 0 h 16"/>
                <a:gd name="T4" fmla="*/ 967 w 3379"/>
                <a:gd name="T5" fmla="*/ 0 h 16"/>
                <a:gd name="T6" fmla="*/ 1446 w 3379"/>
                <a:gd name="T7" fmla="*/ 0 h 16"/>
                <a:gd name="T8" fmla="*/ 1933 w 3379"/>
                <a:gd name="T9" fmla="*/ 0 h 16"/>
                <a:gd name="T10" fmla="*/ 2412 w 3379"/>
                <a:gd name="T11" fmla="*/ 0 h 16"/>
                <a:gd name="T12" fmla="*/ 2899 w 3379"/>
                <a:gd name="T13" fmla="*/ 0 h 16"/>
                <a:gd name="T14" fmla="*/ 3379 w 3379"/>
                <a:gd name="T15" fmla="*/ 0 h 16"/>
                <a:gd name="T16" fmla="*/ 3379 w 3379"/>
                <a:gd name="T17" fmla="*/ 16 h 16"/>
                <a:gd name="T18" fmla="*/ 2899 w 3379"/>
                <a:gd name="T19" fmla="*/ 16 h 16"/>
                <a:gd name="T20" fmla="*/ 2412 w 3379"/>
                <a:gd name="T21" fmla="*/ 16 h 16"/>
                <a:gd name="T22" fmla="*/ 1933 w 3379"/>
                <a:gd name="T23" fmla="*/ 16 h 16"/>
                <a:gd name="T24" fmla="*/ 1446 w 3379"/>
                <a:gd name="T25" fmla="*/ 16 h 16"/>
                <a:gd name="T26" fmla="*/ 967 w 3379"/>
                <a:gd name="T27" fmla="*/ 16 h 16"/>
                <a:gd name="T28" fmla="*/ 480 w 3379"/>
                <a:gd name="T29" fmla="*/ 16 h 16"/>
                <a:gd name="T30" fmla="*/ 0 w 3379"/>
                <a:gd name="T31" fmla="*/ 16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9"/>
                <a:gd name="T52" fmla="*/ 0 h 16"/>
                <a:gd name="T53" fmla="*/ 3379 w 3379"/>
                <a:gd name="T54" fmla="*/ 16 h 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round/>
            </a:ln>
          </p:spPr>
          <p:txBody>
            <a:bodyPr/>
            <a:lstStyle/>
            <a:p>
              <a:endParaRPr lang="zh-CN" altLang="en-US"/>
            </a:p>
          </p:txBody>
        </p:sp>
        <p:sp>
          <p:nvSpPr>
            <p:cNvPr id="29724" name="Freeform 31"/>
            <p:cNvSpPr>
              <a:spLocks noChangeArrowheads="1"/>
            </p:cNvSpPr>
            <p:nvPr/>
          </p:nvSpPr>
          <p:spPr bwMode="auto">
            <a:xfrm>
              <a:off x="1498" y="2141"/>
              <a:ext cx="3379" cy="1141"/>
            </a:xfrm>
            <a:custGeom>
              <a:avLst/>
              <a:gdLst>
                <a:gd name="T0" fmla="*/ 0 w 3379"/>
                <a:gd name="T1" fmla="*/ 0 h 1141"/>
                <a:gd name="T2" fmla="*/ 480 w 3379"/>
                <a:gd name="T3" fmla="*/ 503 h 1141"/>
                <a:gd name="T4" fmla="*/ 967 w 3379"/>
                <a:gd name="T5" fmla="*/ 694 h 1141"/>
                <a:gd name="T6" fmla="*/ 1446 w 3379"/>
                <a:gd name="T7" fmla="*/ 806 h 1141"/>
                <a:gd name="T8" fmla="*/ 1933 w 3379"/>
                <a:gd name="T9" fmla="*/ 926 h 1141"/>
                <a:gd name="T10" fmla="*/ 2412 w 3379"/>
                <a:gd name="T11" fmla="*/ 990 h 1141"/>
                <a:gd name="T12" fmla="*/ 2899 w 3379"/>
                <a:gd name="T13" fmla="*/ 1045 h 1141"/>
                <a:gd name="T14" fmla="*/ 3379 w 3379"/>
                <a:gd name="T15" fmla="*/ 1085 h 1141"/>
                <a:gd name="T16" fmla="*/ 3379 w 3379"/>
                <a:gd name="T17" fmla="*/ 1141 h 1141"/>
                <a:gd name="T18" fmla="*/ 2899 w 3379"/>
                <a:gd name="T19" fmla="*/ 1141 h 1141"/>
                <a:gd name="T20" fmla="*/ 2412 w 3379"/>
                <a:gd name="T21" fmla="*/ 1141 h 1141"/>
                <a:gd name="T22" fmla="*/ 1933 w 3379"/>
                <a:gd name="T23" fmla="*/ 1141 h 1141"/>
                <a:gd name="T24" fmla="*/ 1446 w 3379"/>
                <a:gd name="T25" fmla="*/ 1141 h 1141"/>
                <a:gd name="T26" fmla="*/ 967 w 3379"/>
                <a:gd name="T27" fmla="*/ 1141 h 1141"/>
                <a:gd name="T28" fmla="*/ 480 w 3379"/>
                <a:gd name="T29" fmla="*/ 1141 h 1141"/>
                <a:gd name="T30" fmla="*/ 0 w 3379"/>
                <a:gd name="T31" fmla="*/ 1141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9"/>
                <a:gd name="T52" fmla="*/ 0 h 1141"/>
                <a:gd name="T53" fmla="*/ 3379 w 3379"/>
                <a:gd name="T54" fmla="*/ 1141 h 11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round/>
            </a:ln>
          </p:spPr>
          <p:txBody>
            <a:bodyPr/>
            <a:lstStyle/>
            <a:p>
              <a:endParaRPr lang="zh-CN" altLang="en-US"/>
            </a:p>
          </p:txBody>
        </p:sp>
        <p:sp>
          <p:nvSpPr>
            <p:cNvPr id="29725" name="Freeform 32"/>
            <p:cNvSpPr>
              <a:spLocks noChangeArrowheads="1"/>
            </p:cNvSpPr>
            <p:nvPr/>
          </p:nvSpPr>
          <p:spPr bwMode="auto">
            <a:xfrm>
              <a:off x="1498" y="2061"/>
              <a:ext cx="3379" cy="1165"/>
            </a:xfrm>
            <a:custGeom>
              <a:avLst/>
              <a:gdLst>
                <a:gd name="T0" fmla="*/ 0 w 3379"/>
                <a:gd name="T1" fmla="*/ 0 h 1165"/>
                <a:gd name="T2" fmla="*/ 480 w 3379"/>
                <a:gd name="T3" fmla="*/ 471 h 1165"/>
                <a:gd name="T4" fmla="*/ 967 w 3379"/>
                <a:gd name="T5" fmla="*/ 687 h 1165"/>
                <a:gd name="T6" fmla="*/ 1446 w 3379"/>
                <a:gd name="T7" fmla="*/ 830 h 1165"/>
                <a:gd name="T8" fmla="*/ 1933 w 3379"/>
                <a:gd name="T9" fmla="*/ 982 h 1165"/>
                <a:gd name="T10" fmla="*/ 2412 w 3379"/>
                <a:gd name="T11" fmla="*/ 1062 h 1165"/>
                <a:gd name="T12" fmla="*/ 2899 w 3379"/>
                <a:gd name="T13" fmla="*/ 1125 h 1165"/>
                <a:gd name="T14" fmla="*/ 3379 w 3379"/>
                <a:gd name="T15" fmla="*/ 1157 h 1165"/>
                <a:gd name="T16" fmla="*/ 3379 w 3379"/>
                <a:gd name="T17" fmla="*/ 1165 h 1165"/>
                <a:gd name="T18" fmla="*/ 2899 w 3379"/>
                <a:gd name="T19" fmla="*/ 1125 h 1165"/>
                <a:gd name="T20" fmla="*/ 2412 w 3379"/>
                <a:gd name="T21" fmla="*/ 1070 h 1165"/>
                <a:gd name="T22" fmla="*/ 1933 w 3379"/>
                <a:gd name="T23" fmla="*/ 1006 h 1165"/>
                <a:gd name="T24" fmla="*/ 1446 w 3379"/>
                <a:gd name="T25" fmla="*/ 886 h 1165"/>
                <a:gd name="T26" fmla="*/ 967 w 3379"/>
                <a:gd name="T27" fmla="*/ 774 h 1165"/>
                <a:gd name="T28" fmla="*/ 480 w 3379"/>
                <a:gd name="T29" fmla="*/ 583 h 1165"/>
                <a:gd name="T30" fmla="*/ 0 w 3379"/>
                <a:gd name="T31" fmla="*/ 80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9"/>
                <a:gd name="T52" fmla="*/ 0 h 1165"/>
                <a:gd name="T53" fmla="*/ 3379 w 3379"/>
                <a:gd name="T54" fmla="*/ 1165 h 11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round/>
            </a:ln>
          </p:spPr>
          <p:txBody>
            <a:bodyPr/>
            <a:lstStyle/>
            <a:p>
              <a:endParaRPr lang="zh-CN" altLang="en-US"/>
            </a:p>
          </p:txBody>
        </p:sp>
        <p:sp>
          <p:nvSpPr>
            <p:cNvPr id="29726" name="Freeform 33"/>
            <p:cNvSpPr>
              <a:spLocks noChangeArrowheads="1"/>
            </p:cNvSpPr>
            <p:nvPr/>
          </p:nvSpPr>
          <p:spPr bwMode="auto">
            <a:xfrm>
              <a:off x="1498" y="1950"/>
              <a:ext cx="3379" cy="1268"/>
            </a:xfrm>
            <a:custGeom>
              <a:avLst/>
              <a:gdLst>
                <a:gd name="T0" fmla="*/ 0 w 3379"/>
                <a:gd name="T1" fmla="*/ 0 h 1268"/>
                <a:gd name="T2" fmla="*/ 480 w 3379"/>
                <a:gd name="T3" fmla="*/ 446 h 1268"/>
                <a:gd name="T4" fmla="*/ 967 w 3379"/>
                <a:gd name="T5" fmla="*/ 654 h 1268"/>
                <a:gd name="T6" fmla="*/ 1446 w 3379"/>
                <a:gd name="T7" fmla="*/ 861 h 1268"/>
                <a:gd name="T8" fmla="*/ 1933 w 3379"/>
                <a:gd name="T9" fmla="*/ 1069 h 1268"/>
                <a:gd name="T10" fmla="*/ 2412 w 3379"/>
                <a:gd name="T11" fmla="*/ 1173 h 1268"/>
                <a:gd name="T12" fmla="*/ 2899 w 3379"/>
                <a:gd name="T13" fmla="*/ 1228 h 1268"/>
                <a:gd name="T14" fmla="*/ 3379 w 3379"/>
                <a:gd name="T15" fmla="*/ 1268 h 1268"/>
                <a:gd name="T16" fmla="*/ 2899 w 3379"/>
                <a:gd name="T17" fmla="*/ 1236 h 1268"/>
                <a:gd name="T18" fmla="*/ 2412 w 3379"/>
                <a:gd name="T19" fmla="*/ 1173 h 1268"/>
                <a:gd name="T20" fmla="*/ 1933 w 3379"/>
                <a:gd name="T21" fmla="*/ 1093 h 1268"/>
                <a:gd name="T22" fmla="*/ 1446 w 3379"/>
                <a:gd name="T23" fmla="*/ 941 h 1268"/>
                <a:gd name="T24" fmla="*/ 967 w 3379"/>
                <a:gd name="T25" fmla="*/ 798 h 1268"/>
                <a:gd name="T26" fmla="*/ 480 w 3379"/>
                <a:gd name="T27" fmla="*/ 582 h 1268"/>
                <a:gd name="T28" fmla="*/ 0 w 3379"/>
                <a:gd name="T29" fmla="*/ 111 h 1268"/>
                <a:gd name="T30" fmla="*/ 0 w 3379"/>
                <a:gd name="T31" fmla="*/ 0 h 12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79"/>
                <a:gd name="T49" fmla="*/ 0 h 1268"/>
                <a:gd name="T50" fmla="*/ 3379 w 3379"/>
                <a:gd name="T51" fmla="*/ 1268 h 12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round/>
            </a:ln>
          </p:spPr>
          <p:txBody>
            <a:bodyPr/>
            <a:lstStyle/>
            <a:p>
              <a:endParaRPr lang="zh-CN" altLang="en-US"/>
            </a:p>
          </p:txBody>
        </p:sp>
        <p:sp>
          <p:nvSpPr>
            <p:cNvPr id="29727" name="Freeform 34"/>
            <p:cNvSpPr>
              <a:spLocks noChangeArrowheads="1"/>
            </p:cNvSpPr>
            <p:nvPr/>
          </p:nvSpPr>
          <p:spPr bwMode="auto">
            <a:xfrm>
              <a:off x="1498" y="1806"/>
              <a:ext cx="3379" cy="1412"/>
            </a:xfrm>
            <a:custGeom>
              <a:avLst/>
              <a:gdLst>
                <a:gd name="T0" fmla="*/ 0 w 3379"/>
                <a:gd name="T1" fmla="*/ 0 h 1412"/>
                <a:gd name="T2" fmla="*/ 480 w 3379"/>
                <a:gd name="T3" fmla="*/ 407 h 1412"/>
                <a:gd name="T4" fmla="*/ 967 w 3379"/>
                <a:gd name="T5" fmla="*/ 686 h 1412"/>
                <a:gd name="T6" fmla="*/ 1446 w 3379"/>
                <a:gd name="T7" fmla="*/ 965 h 1412"/>
                <a:gd name="T8" fmla="*/ 1933 w 3379"/>
                <a:gd name="T9" fmla="*/ 1189 h 1412"/>
                <a:gd name="T10" fmla="*/ 2412 w 3379"/>
                <a:gd name="T11" fmla="*/ 1301 h 1412"/>
                <a:gd name="T12" fmla="*/ 2899 w 3379"/>
                <a:gd name="T13" fmla="*/ 1364 h 1412"/>
                <a:gd name="T14" fmla="*/ 3379 w 3379"/>
                <a:gd name="T15" fmla="*/ 1404 h 1412"/>
                <a:gd name="T16" fmla="*/ 3379 w 3379"/>
                <a:gd name="T17" fmla="*/ 1412 h 1412"/>
                <a:gd name="T18" fmla="*/ 2899 w 3379"/>
                <a:gd name="T19" fmla="*/ 1372 h 1412"/>
                <a:gd name="T20" fmla="*/ 2412 w 3379"/>
                <a:gd name="T21" fmla="*/ 1317 h 1412"/>
                <a:gd name="T22" fmla="*/ 1933 w 3379"/>
                <a:gd name="T23" fmla="*/ 1213 h 1412"/>
                <a:gd name="T24" fmla="*/ 1446 w 3379"/>
                <a:gd name="T25" fmla="*/ 1005 h 1412"/>
                <a:gd name="T26" fmla="*/ 967 w 3379"/>
                <a:gd name="T27" fmla="*/ 798 h 1412"/>
                <a:gd name="T28" fmla="*/ 480 w 3379"/>
                <a:gd name="T29" fmla="*/ 590 h 1412"/>
                <a:gd name="T30" fmla="*/ 0 w 3379"/>
                <a:gd name="T31" fmla="*/ 144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9"/>
                <a:gd name="T52" fmla="*/ 0 h 1412"/>
                <a:gd name="T53" fmla="*/ 3379 w 3379"/>
                <a:gd name="T54" fmla="*/ 1412 h 14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round/>
            </a:ln>
          </p:spPr>
          <p:txBody>
            <a:bodyPr/>
            <a:lstStyle/>
            <a:p>
              <a:endParaRPr lang="zh-CN" altLang="en-US"/>
            </a:p>
          </p:txBody>
        </p:sp>
        <p:sp>
          <p:nvSpPr>
            <p:cNvPr id="29728" name="Freeform 35"/>
            <p:cNvSpPr>
              <a:spLocks noChangeArrowheads="1"/>
            </p:cNvSpPr>
            <p:nvPr/>
          </p:nvSpPr>
          <p:spPr bwMode="auto">
            <a:xfrm>
              <a:off x="1498" y="1399"/>
              <a:ext cx="3379" cy="1811"/>
            </a:xfrm>
            <a:custGeom>
              <a:avLst/>
              <a:gdLst>
                <a:gd name="T0" fmla="*/ 0 w 3379"/>
                <a:gd name="T1" fmla="*/ 0 h 1811"/>
                <a:gd name="T2" fmla="*/ 480 w 3379"/>
                <a:gd name="T3" fmla="*/ 511 h 1811"/>
                <a:gd name="T4" fmla="*/ 967 w 3379"/>
                <a:gd name="T5" fmla="*/ 870 h 1811"/>
                <a:gd name="T6" fmla="*/ 1446 w 3379"/>
                <a:gd name="T7" fmla="*/ 1253 h 1811"/>
                <a:gd name="T8" fmla="*/ 1933 w 3379"/>
                <a:gd name="T9" fmla="*/ 1500 h 1811"/>
                <a:gd name="T10" fmla="*/ 2412 w 3379"/>
                <a:gd name="T11" fmla="*/ 1628 h 1811"/>
                <a:gd name="T12" fmla="*/ 2899 w 3379"/>
                <a:gd name="T13" fmla="*/ 1716 h 1811"/>
                <a:gd name="T14" fmla="*/ 3379 w 3379"/>
                <a:gd name="T15" fmla="*/ 1771 h 1811"/>
                <a:gd name="T16" fmla="*/ 3379 w 3379"/>
                <a:gd name="T17" fmla="*/ 1811 h 1811"/>
                <a:gd name="T18" fmla="*/ 2899 w 3379"/>
                <a:gd name="T19" fmla="*/ 1771 h 1811"/>
                <a:gd name="T20" fmla="*/ 2412 w 3379"/>
                <a:gd name="T21" fmla="*/ 1708 h 1811"/>
                <a:gd name="T22" fmla="*/ 1933 w 3379"/>
                <a:gd name="T23" fmla="*/ 1596 h 1811"/>
                <a:gd name="T24" fmla="*/ 1446 w 3379"/>
                <a:gd name="T25" fmla="*/ 1372 h 1811"/>
                <a:gd name="T26" fmla="*/ 967 w 3379"/>
                <a:gd name="T27" fmla="*/ 1093 h 1811"/>
                <a:gd name="T28" fmla="*/ 480 w 3379"/>
                <a:gd name="T29" fmla="*/ 814 h 1811"/>
                <a:gd name="T30" fmla="*/ 0 w 3379"/>
                <a:gd name="T31" fmla="*/ 40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9"/>
                <a:gd name="T52" fmla="*/ 0 h 1811"/>
                <a:gd name="T53" fmla="*/ 3379 w 3379"/>
                <a:gd name="T54" fmla="*/ 1811 h 18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round/>
            </a:ln>
          </p:spPr>
          <p:txBody>
            <a:bodyPr/>
            <a:lstStyle/>
            <a:p>
              <a:endParaRPr lang="zh-CN" altLang="en-US"/>
            </a:p>
          </p:txBody>
        </p:sp>
        <p:sp>
          <p:nvSpPr>
            <p:cNvPr id="29729" name="Rectangle 36"/>
            <p:cNvSpPr>
              <a:spLocks noChangeArrowheads="1"/>
            </p:cNvSpPr>
            <p:nvPr/>
          </p:nvSpPr>
          <p:spPr bwMode="auto">
            <a:xfrm>
              <a:off x="2489" y="3809"/>
              <a:ext cx="927"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Cache Size (KB)   </a:t>
              </a:r>
              <a:endParaRPr lang="en-US" altLang="zh-CN"/>
            </a:p>
          </p:txBody>
        </p:sp>
        <p:sp>
          <p:nvSpPr>
            <p:cNvPr id="29730" name="Rectangle 37"/>
            <p:cNvSpPr>
              <a:spLocks noChangeArrowheads="1"/>
            </p:cNvSpPr>
            <p:nvPr/>
          </p:nvSpPr>
          <p:spPr bwMode="auto">
            <a:xfrm rot="-5400000">
              <a:off x="187" y="2340"/>
              <a:ext cx="1314"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Miss Rate per Type</a:t>
              </a:r>
              <a:endParaRPr lang="en-US" altLang="zh-CN"/>
            </a:p>
          </p:txBody>
        </p:sp>
        <p:sp>
          <p:nvSpPr>
            <p:cNvPr id="29731" name="Rectangle 38"/>
            <p:cNvSpPr>
              <a:spLocks noChangeArrowheads="1"/>
            </p:cNvSpPr>
            <p:nvPr/>
          </p:nvSpPr>
          <p:spPr bwMode="auto">
            <a:xfrm>
              <a:off x="1283" y="3218"/>
              <a:ext cx="61"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a:t>
              </a:r>
              <a:endParaRPr lang="en-US" altLang="zh-CN"/>
            </a:p>
          </p:txBody>
        </p:sp>
        <p:sp>
          <p:nvSpPr>
            <p:cNvPr id="29732" name="Rectangle 39"/>
            <p:cNvSpPr>
              <a:spLocks noChangeArrowheads="1"/>
            </p:cNvSpPr>
            <p:nvPr/>
          </p:nvSpPr>
          <p:spPr bwMode="auto">
            <a:xfrm>
              <a:off x="1019" y="2939"/>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0.02</a:t>
              </a:r>
              <a:endParaRPr lang="en-US" altLang="zh-CN"/>
            </a:p>
          </p:txBody>
        </p:sp>
        <p:sp>
          <p:nvSpPr>
            <p:cNvPr id="29733" name="Rectangle 40"/>
            <p:cNvSpPr>
              <a:spLocks noChangeArrowheads="1"/>
            </p:cNvSpPr>
            <p:nvPr/>
          </p:nvSpPr>
          <p:spPr bwMode="auto">
            <a:xfrm>
              <a:off x="1019" y="2651"/>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0.04</a:t>
              </a:r>
              <a:endParaRPr lang="en-US" altLang="zh-CN"/>
            </a:p>
          </p:txBody>
        </p:sp>
        <p:sp>
          <p:nvSpPr>
            <p:cNvPr id="29734" name="Rectangle 41"/>
            <p:cNvSpPr>
              <a:spLocks noChangeArrowheads="1"/>
            </p:cNvSpPr>
            <p:nvPr/>
          </p:nvSpPr>
          <p:spPr bwMode="auto">
            <a:xfrm>
              <a:off x="1019" y="2364"/>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0.06</a:t>
              </a:r>
              <a:endParaRPr lang="en-US" altLang="zh-CN"/>
            </a:p>
          </p:txBody>
        </p:sp>
        <p:sp>
          <p:nvSpPr>
            <p:cNvPr id="29735" name="Rectangle 42"/>
            <p:cNvSpPr>
              <a:spLocks noChangeArrowheads="1"/>
            </p:cNvSpPr>
            <p:nvPr/>
          </p:nvSpPr>
          <p:spPr bwMode="auto">
            <a:xfrm>
              <a:off x="1019" y="2077"/>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0.08</a:t>
              </a:r>
              <a:endParaRPr lang="en-US" altLang="zh-CN"/>
            </a:p>
          </p:txBody>
        </p:sp>
        <p:sp>
          <p:nvSpPr>
            <p:cNvPr id="29736" name="Rectangle 43"/>
            <p:cNvSpPr>
              <a:spLocks noChangeArrowheads="1"/>
            </p:cNvSpPr>
            <p:nvPr/>
          </p:nvSpPr>
          <p:spPr bwMode="auto">
            <a:xfrm>
              <a:off x="1123" y="1790"/>
              <a:ext cx="151"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0.1</a:t>
              </a:r>
              <a:endParaRPr lang="en-US" altLang="zh-CN"/>
            </a:p>
          </p:txBody>
        </p:sp>
        <p:sp>
          <p:nvSpPr>
            <p:cNvPr id="29737" name="Rectangle 44"/>
            <p:cNvSpPr>
              <a:spLocks noChangeArrowheads="1"/>
            </p:cNvSpPr>
            <p:nvPr/>
          </p:nvSpPr>
          <p:spPr bwMode="auto">
            <a:xfrm>
              <a:off x="1019" y="1510"/>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0.12</a:t>
              </a:r>
              <a:endParaRPr lang="en-US" altLang="zh-CN"/>
            </a:p>
          </p:txBody>
        </p:sp>
        <p:sp>
          <p:nvSpPr>
            <p:cNvPr id="29738" name="Rectangle 45"/>
            <p:cNvSpPr>
              <a:spLocks noChangeArrowheads="1"/>
            </p:cNvSpPr>
            <p:nvPr/>
          </p:nvSpPr>
          <p:spPr bwMode="auto">
            <a:xfrm>
              <a:off x="1019" y="1223"/>
              <a:ext cx="212"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0.14</a:t>
              </a:r>
              <a:endParaRPr lang="en-US" altLang="zh-CN"/>
            </a:p>
          </p:txBody>
        </p:sp>
        <p:sp>
          <p:nvSpPr>
            <p:cNvPr id="29739" name="Rectangle 46"/>
            <p:cNvSpPr>
              <a:spLocks noChangeArrowheads="1"/>
            </p:cNvSpPr>
            <p:nvPr/>
          </p:nvSpPr>
          <p:spPr bwMode="auto">
            <a:xfrm rot="-5400000">
              <a:off x="1452" y="3411"/>
              <a:ext cx="81"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1</a:t>
              </a:r>
              <a:endParaRPr lang="en-US" altLang="zh-CN"/>
            </a:p>
          </p:txBody>
        </p:sp>
        <p:sp>
          <p:nvSpPr>
            <p:cNvPr id="29740" name="Rectangle 47"/>
            <p:cNvSpPr>
              <a:spLocks noChangeArrowheads="1"/>
            </p:cNvSpPr>
            <p:nvPr/>
          </p:nvSpPr>
          <p:spPr bwMode="auto">
            <a:xfrm rot="-5400000">
              <a:off x="1932" y="3411"/>
              <a:ext cx="81"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2</a:t>
              </a:r>
              <a:endParaRPr lang="en-US" altLang="zh-CN"/>
            </a:p>
          </p:txBody>
        </p:sp>
        <p:sp>
          <p:nvSpPr>
            <p:cNvPr id="29741" name="Rectangle 48"/>
            <p:cNvSpPr>
              <a:spLocks noChangeArrowheads="1"/>
            </p:cNvSpPr>
            <p:nvPr/>
          </p:nvSpPr>
          <p:spPr bwMode="auto">
            <a:xfrm rot="-5400000">
              <a:off x="2411" y="3409"/>
              <a:ext cx="81"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4</a:t>
              </a:r>
              <a:endParaRPr lang="en-US" altLang="zh-CN"/>
            </a:p>
          </p:txBody>
        </p:sp>
        <p:sp>
          <p:nvSpPr>
            <p:cNvPr id="29742" name="Rectangle 49"/>
            <p:cNvSpPr>
              <a:spLocks noChangeArrowheads="1"/>
            </p:cNvSpPr>
            <p:nvPr/>
          </p:nvSpPr>
          <p:spPr bwMode="auto">
            <a:xfrm rot="-5400000">
              <a:off x="2898" y="3409"/>
              <a:ext cx="81"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8</a:t>
              </a:r>
              <a:endParaRPr lang="en-US" altLang="zh-CN"/>
            </a:p>
          </p:txBody>
        </p:sp>
        <p:sp>
          <p:nvSpPr>
            <p:cNvPr id="29743" name="Rectangle 50"/>
            <p:cNvSpPr>
              <a:spLocks noChangeArrowheads="1"/>
            </p:cNvSpPr>
            <p:nvPr/>
          </p:nvSpPr>
          <p:spPr bwMode="auto">
            <a:xfrm rot="-5400000">
              <a:off x="3336" y="3472"/>
              <a:ext cx="162"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16</a:t>
              </a:r>
              <a:endParaRPr lang="en-US" altLang="zh-CN"/>
            </a:p>
          </p:txBody>
        </p:sp>
        <p:sp>
          <p:nvSpPr>
            <p:cNvPr id="29744" name="Rectangle 51"/>
            <p:cNvSpPr>
              <a:spLocks noChangeArrowheads="1"/>
            </p:cNvSpPr>
            <p:nvPr/>
          </p:nvSpPr>
          <p:spPr bwMode="auto">
            <a:xfrm rot="-5400000">
              <a:off x="3823" y="3472"/>
              <a:ext cx="162"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32</a:t>
              </a:r>
              <a:endParaRPr lang="en-US" altLang="zh-CN"/>
            </a:p>
          </p:txBody>
        </p:sp>
        <p:sp>
          <p:nvSpPr>
            <p:cNvPr id="29745" name="Rectangle 52"/>
            <p:cNvSpPr>
              <a:spLocks noChangeArrowheads="1"/>
            </p:cNvSpPr>
            <p:nvPr/>
          </p:nvSpPr>
          <p:spPr bwMode="auto">
            <a:xfrm rot="-5400000">
              <a:off x="4302" y="3474"/>
              <a:ext cx="162"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64</a:t>
              </a:r>
              <a:endParaRPr lang="en-US" altLang="zh-CN"/>
            </a:p>
          </p:txBody>
        </p:sp>
        <p:sp>
          <p:nvSpPr>
            <p:cNvPr id="29746" name="Rectangle 53"/>
            <p:cNvSpPr>
              <a:spLocks noChangeArrowheads="1"/>
            </p:cNvSpPr>
            <p:nvPr/>
          </p:nvSpPr>
          <p:spPr bwMode="auto">
            <a:xfrm rot="-5400000">
              <a:off x="4750" y="3535"/>
              <a:ext cx="242" cy="131"/>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128</a:t>
              </a:r>
              <a:endParaRPr lang="en-US" altLang="zh-CN"/>
            </a:p>
          </p:txBody>
        </p:sp>
        <p:sp>
          <p:nvSpPr>
            <p:cNvPr id="29747" name="Rectangle 54"/>
            <p:cNvSpPr>
              <a:spLocks noChangeArrowheads="1"/>
            </p:cNvSpPr>
            <p:nvPr/>
          </p:nvSpPr>
          <p:spPr bwMode="auto">
            <a:xfrm>
              <a:off x="1882" y="1319"/>
              <a:ext cx="303"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1-way</a:t>
              </a:r>
              <a:endParaRPr lang="en-US" altLang="zh-CN"/>
            </a:p>
          </p:txBody>
        </p:sp>
        <p:sp>
          <p:nvSpPr>
            <p:cNvPr id="29748" name="Line 55"/>
            <p:cNvSpPr>
              <a:spLocks noChangeShapeType="1"/>
            </p:cNvSpPr>
            <p:nvPr/>
          </p:nvSpPr>
          <p:spPr bwMode="auto">
            <a:xfrm flipH="1">
              <a:off x="1786" y="1543"/>
              <a:ext cx="263" cy="215"/>
            </a:xfrm>
            <a:prstGeom prst="line">
              <a:avLst/>
            </a:prstGeom>
            <a:noFill/>
            <a:ln w="12700">
              <a:solidFill>
                <a:srgbClr val="000000"/>
              </a:solidFill>
              <a:round/>
            </a:ln>
          </p:spPr>
          <p:txBody>
            <a:bodyPr/>
            <a:lstStyle/>
            <a:p>
              <a:endParaRPr lang="zh-CN" altLang="en-US"/>
            </a:p>
          </p:txBody>
        </p:sp>
        <p:sp>
          <p:nvSpPr>
            <p:cNvPr id="29749" name="Freeform 56"/>
            <p:cNvSpPr>
              <a:spLocks noChangeArrowheads="1"/>
            </p:cNvSpPr>
            <p:nvPr/>
          </p:nvSpPr>
          <p:spPr bwMode="auto">
            <a:xfrm>
              <a:off x="1754" y="1702"/>
              <a:ext cx="88" cy="80"/>
            </a:xfrm>
            <a:custGeom>
              <a:avLst/>
              <a:gdLst>
                <a:gd name="T0" fmla="*/ 32 w 88"/>
                <a:gd name="T1" fmla="*/ 0 h 80"/>
                <a:gd name="T2" fmla="*/ 0 w 88"/>
                <a:gd name="T3" fmla="*/ 80 h 80"/>
                <a:gd name="T4" fmla="*/ 88 w 88"/>
                <a:gd name="T5" fmla="*/ 64 h 80"/>
                <a:gd name="T6" fmla="*/ 32 w 88"/>
                <a:gd name="T7" fmla="*/ 0 h 80"/>
                <a:gd name="T8" fmla="*/ 0 60000 65536"/>
                <a:gd name="T9" fmla="*/ 0 60000 65536"/>
                <a:gd name="T10" fmla="*/ 0 60000 65536"/>
                <a:gd name="T11" fmla="*/ 0 60000 65536"/>
                <a:gd name="T12" fmla="*/ 0 w 88"/>
                <a:gd name="T13" fmla="*/ 0 h 80"/>
                <a:gd name="T14" fmla="*/ 88 w 88"/>
                <a:gd name="T15" fmla="*/ 80 h 80"/>
              </a:gdLst>
              <a:ahLst/>
              <a:cxnLst>
                <a:cxn ang="T8">
                  <a:pos x="T0" y="T1"/>
                </a:cxn>
                <a:cxn ang="T9">
                  <a:pos x="T2" y="T3"/>
                </a:cxn>
                <a:cxn ang="T10">
                  <a:pos x="T4" y="T5"/>
                </a:cxn>
                <a:cxn ang="T11">
                  <a:pos x="T6" y="T7"/>
                </a:cxn>
              </a:cxnLst>
              <a:rect l="T12" t="T13" r="T14" b="T15"/>
              <a:pathLst>
                <a:path w="88" h="80">
                  <a:moveTo>
                    <a:pt x="32" y="0"/>
                  </a:moveTo>
                  <a:lnTo>
                    <a:pt x="0" y="80"/>
                  </a:lnTo>
                  <a:lnTo>
                    <a:pt x="88" y="64"/>
                  </a:lnTo>
                  <a:lnTo>
                    <a:pt x="32" y="0"/>
                  </a:lnTo>
                  <a:close/>
                </a:path>
              </a:pathLst>
            </a:custGeom>
            <a:solidFill>
              <a:srgbClr val="000000"/>
            </a:solidFill>
            <a:ln w="12700">
              <a:solidFill>
                <a:srgbClr val="000000"/>
              </a:solidFill>
              <a:round/>
            </a:ln>
          </p:spPr>
          <p:txBody>
            <a:bodyPr/>
            <a:lstStyle/>
            <a:p>
              <a:endParaRPr lang="zh-CN" altLang="en-US"/>
            </a:p>
          </p:txBody>
        </p:sp>
        <p:sp>
          <p:nvSpPr>
            <p:cNvPr id="29750" name="Rectangle 57"/>
            <p:cNvSpPr>
              <a:spLocks noChangeArrowheads="1"/>
            </p:cNvSpPr>
            <p:nvPr/>
          </p:nvSpPr>
          <p:spPr bwMode="auto">
            <a:xfrm>
              <a:off x="2217" y="1646"/>
              <a:ext cx="303"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2-way</a:t>
              </a:r>
              <a:endParaRPr lang="en-US" altLang="zh-CN"/>
            </a:p>
          </p:txBody>
        </p:sp>
        <p:sp>
          <p:nvSpPr>
            <p:cNvPr id="29751" name="Line 58"/>
            <p:cNvSpPr>
              <a:spLocks noChangeShapeType="1"/>
            </p:cNvSpPr>
            <p:nvPr/>
          </p:nvSpPr>
          <p:spPr bwMode="auto">
            <a:xfrm flipH="1">
              <a:off x="1882" y="1862"/>
              <a:ext cx="439" cy="311"/>
            </a:xfrm>
            <a:prstGeom prst="line">
              <a:avLst/>
            </a:prstGeom>
            <a:noFill/>
            <a:ln w="12700">
              <a:solidFill>
                <a:srgbClr val="000000"/>
              </a:solidFill>
              <a:round/>
            </a:ln>
          </p:spPr>
          <p:txBody>
            <a:bodyPr/>
            <a:lstStyle/>
            <a:p>
              <a:endParaRPr lang="zh-CN" altLang="en-US"/>
            </a:p>
          </p:txBody>
        </p:sp>
        <p:sp>
          <p:nvSpPr>
            <p:cNvPr id="29752" name="Freeform 59"/>
            <p:cNvSpPr>
              <a:spLocks noChangeArrowheads="1"/>
            </p:cNvSpPr>
            <p:nvPr/>
          </p:nvSpPr>
          <p:spPr bwMode="auto">
            <a:xfrm>
              <a:off x="1850" y="2117"/>
              <a:ext cx="88" cy="80"/>
            </a:xfrm>
            <a:custGeom>
              <a:avLst/>
              <a:gdLst>
                <a:gd name="T0" fmla="*/ 40 w 88"/>
                <a:gd name="T1" fmla="*/ 0 h 80"/>
                <a:gd name="T2" fmla="*/ 0 w 88"/>
                <a:gd name="T3" fmla="*/ 80 h 80"/>
                <a:gd name="T4" fmla="*/ 88 w 88"/>
                <a:gd name="T5" fmla="*/ 72 h 80"/>
                <a:gd name="T6" fmla="*/ 40 w 88"/>
                <a:gd name="T7" fmla="*/ 0 h 80"/>
                <a:gd name="T8" fmla="*/ 0 60000 65536"/>
                <a:gd name="T9" fmla="*/ 0 60000 65536"/>
                <a:gd name="T10" fmla="*/ 0 60000 65536"/>
                <a:gd name="T11" fmla="*/ 0 60000 65536"/>
                <a:gd name="T12" fmla="*/ 0 w 88"/>
                <a:gd name="T13" fmla="*/ 0 h 80"/>
                <a:gd name="T14" fmla="*/ 88 w 88"/>
                <a:gd name="T15" fmla="*/ 80 h 80"/>
              </a:gdLst>
              <a:ahLst/>
              <a:cxnLst>
                <a:cxn ang="T8">
                  <a:pos x="T0" y="T1"/>
                </a:cxn>
                <a:cxn ang="T9">
                  <a:pos x="T2" y="T3"/>
                </a:cxn>
                <a:cxn ang="T10">
                  <a:pos x="T4" y="T5"/>
                </a:cxn>
                <a:cxn ang="T11">
                  <a:pos x="T6" y="T7"/>
                </a:cxn>
              </a:cxnLst>
              <a:rect l="T12" t="T13" r="T14" b="T15"/>
              <a:pathLst>
                <a:path w="88" h="80">
                  <a:moveTo>
                    <a:pt x="40" y="0"/>
                  </a:moveTo>
                  <a:lnTo>
                    <a:pt x="0" y="80"/>
                  </a:lnTo>
                  <a:lnTo>
                    <a:pt x="88" y="72"/>
                  </a:lnTo>
                  <a:lnTo>
                    <a:pt x="40" y="0"/>
                  </a:lnTo>
                  <a:close/>
                </a:path>
              </a:pathLst>
            </a:custGeom>
            <a:solidFill>
              <a:srgbClr val="000000"/>
            </a:solidFill>
            <a:ln w="12700">
              <a:solidFill>
                <a:srgbClr val="000000"/>
              </a:solidFill>
              <a:round/>
            </a:ln>
          </p:spPr>
          <p:txBody>
            <a:bodyPr/>
            <a:lstStyle/>
            <a:p>
              <a:endParaRPr lang="zh-CN" altLang="en-US"/>
            </a:p>
          </p:txBody>
        </p:sp>
        <p:sp>
          <p:nvSpPr>
            <p:cNvPr id="29753" name="Rectangle 60"/>
            <p:cNvSpPr>
              <a:spLocks noChangeArrowheads="1"/>
            </p:cNvSpPr>
            <p:nvPr/>
          </p:nvSpPr>
          <p:spPr bwMode="auto">
            <a:xfrm>
              <a:off x="2585" y="1925"/>
              <a:ext cx="303"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4-way</a:t>
              </a:r>
              <a:endParaRPr lang="en-US" altLang="zh-CN"/>
            </a:p>
          </p:txBody>
        </p:sp>
        <p:sp>
          <p:nvSpPr>
            <p:cNvPr id="29754" name="Line 61"/>
            <p:cNvSpPr>
              <a:spLocks noChangeShapeType="1"/>
            </p:cNvSpPr>
            <p:nvPr/>
          </p:nvSpPr>
          <p:spPr bwMode="auto">
            <a:xfrm flipH="1">
              <a:off x="2129" y="2101"/>
              <a:ext cx="559" cy="367"/>
            </a:xfrm>
            <a:prstGeom prst="line">
              <a:avLst/>
            </a:prstGeom>
            <a:noFill/>
            <a:ln w="12700">
              <a:solidFill>
                <a:srgbClr val="000000"/>
              </a:solidFill>
              <a:round/>
            </a:ln>
          </p:spPr>
          <p:txBody>
            <a:bodyPr/>
            <a:lstStyle/>
            <a:p>
              <a:endParaRPr lang="zh-CN" altLang="en-US"/>
            </a:p>
          </p:txBody>
        </p:sp>
        <p:sp>
          <p:nvSpPr>
            <p:cNvPr id="29755" name="Freeform 62"/>
            <p:cNvSpPr>
              <a:spLocks noChangeArrowheads="1"/>
            </p:cNvSpPr>
            <p:nvPr/>
          </p:nvSpPr>
          <p:spPr bwMode="auto">
            <a:xfrm>
              <a:off x="2097" y="2412"/>
              <a:ext cx="88" cy="80"/>
            </a:xfrm>
            <a:custGeom>
              <a:avLst/>
              <a:gdLst>
                <a:gd name="T0" fmla="*/ 40 w 88"/>
                <a:gd name="T1" fmla="*/ 0 h 80"/>
                <a:gd name="T2" fmla="*/ 0 w 88"/>
                <a:gd name="T3" fmla="*/ 80 h 80"/>
                <a:gd name="T4" fmla="*/ 88 w 88"/>
                <a:gd name="T5" fmla="*/ 64 h 80"/>
                <a:gd name="T6" fmla="*/ 40 w 88"/>
                <a:gd name="T7" fmla="*/ 0 h 80"/>
                <a:gd name="T8" fmla="*/ 0 60000 65536"/>
                <a:gd name="T9" fmla="*/ 0 60000 65536"/>
                <a:gd name="T10" fmla="*/ 0 60000 65536"/>
                <a:gd name="T11" fmla="*/ 0 60000 65536"/>
                <a:gd name="T12" fmla="*/ 0 w 88"/>
                <a:gd name="T13" fmla="*/ 0 h 80"/>
                <a:gd name="T14" fmla="*/ 88 w 88"/>
                <a:gd name="T15" fmla="*/ 80 h 80"/>
              </a:gdLst>
              <a:ahLst/>
              <a:cxnLst>
                <a:cxn ang="T8">
                  <a:pos x="T0" y="T1"/>
                </a:cxn>
                <a:cxn ang="T9">
                  <a:pos x="T2" y="T3"/>
                </a:cxn>
                <a:cxn ang="T10">
                  <a:pos x="T4" y="T5"/>
                </a:cxn>
                <a:cxn ang="T11">
                  <a:pos x="T6" y="T7"/>
                </a:cxn>
              </a:cxnLst>
              <a:rect l="T12" t="T13" r="T14" b="T15"/>
              <a:pathLst>
                <a:path w="88" h="80">
                  <a:moveTo>
                    <a:pt x="40" y="0"/>
                  </a:moveTo>
                  <a:lnTo>
                    <a:pt x="0" y="80"/>
                  </a:lnTo>
                  <a:lnTo>
                    <a:pt x="88" y="64"/>
                  </a:lnTo>
                  <a:lnTo>
                    <a:pt x="40" y="0"/>
                  </a:lnTo>
                  <a:close/>
                </a:path>
              </a:pathLst>
            </a:custGeom>
            <a:solidFill>
              <a:srgbClr val="000000"/>
            </a:solidFill>
            <a:ln w="12700">
              <a:solidFill>
                <a:srgbClr val="000000"/>
              </a:solidFill>
              <a:round/>
            </a:ln>
          </p:spPr>
          <p:txBody>
            <a:bodyPr/>
            <a:lstStyle/>
            <a:p>
              <a:endParaRPr lang="zh-CN" altLang="en-US"/>
            </a:p>
          </p:txBody>
        </p:sp>
        <p:sp>
          <p:nvSpPr>
            <p:cNvPr id="29756" name="Rectangle 63"/>
            <p:cNvSpPr>
              <a:spLocks noChangeArrowheads="1"/>
            </p:cNvSpPr>
            <p:nvPr/>
          </p:nvSpPr>
          <p:spPr bwMode="auto">
            <a:xfrm>
              <a:off x="2928" y="2221"/>
              <a:ext cx="303" cy="174"/>
            </a:xfrm>
            <a:prstGeom prst="rect">
              <a:avLst/>
            </a:prstGeom>
            <a:noFill/>
            <a:ln w="9525">
              <a:noFill/>
              <a:miter lim="800000"/>
            </a:ln>
          </p:spPr>
          <p:txBody>
            <a:bodyPr wrap="none" lIns="0" tIns="0" rIns="0" bIns="0">
              <a:spAutoFit/>
            </a:bodyPr>
            <a:lstStyle/>
            <a:p>
              <a:r>
                <a:rPr lang="en-US" altLang="zh-CN" sz="1800" b="1">
                  <a:solidFill>
                    <a:srgbClr val="000000"/>
                  </a:solidFill>
                  <a:latin typeface="Geneva" charset="0"/>
                </a:rPr>
                <a:t>8-way</a:t>
              </a:r>
              <a:endParaRPr lang="en-US" altLang="zh-CN"/>
            </a:p>
          </p:txBody>
        </p:sp>
        <p:sp>
          <p:nvSpPr>
            <p:cNvPr id="29757" name="Line 64"/>
            <p:cNvSpPr>
              <a:spLocks noChangeShapeType="1"/>
            </p:cNvSpPr>
            <p:nvPr/>
          </p:nvSpPr>
          <p:spPr bwMode="auto">
            <a:xfrm flipH="1">
              <a:off x="2529" y="2428"/>
              <a:ext cx="519" cy="328"/>
            </a:xfrm>
            <a:prstGeom prst="line">
              <a:avLst/>
            </a:prstGeom>
            <a:noFill/>
            <a:ln w="12700">
              <a:solidFill>
                <a:srgbClr val="000000"/>
              </a:solidFill>
              <a:round/>
            </a:ln>
          </p:spPr>
          <p:txBody>
            <a:bodyPr/>
            <a:lstStyle/>
            <a:p>
              <a:endParaRPr lang="zh-CN" altLang="en-US"/>
            </a:p>
          </p:txBody>
        </p:sp>
        <p:sp>
          <p:nvSpPr>
            <p:cNvPr id="29758" name="Freeform 65"/>
            <p:cNvSpPr>
              <a:spLocks noChangeArrowheads="1"/>
            </p:cNvSpPr>
            <p:nvPr/>
          </p:nvSpPr>
          <p:spPr bwMode="auto">
            <a:xfrm>
              <a:off x="2489" y="2700"/>
              <a:ext cx="96" cy="79"/>
            </a:xfrm>
            <a:custGeom>
              <a:avLst/>
              <a:gdLst>
                <a:gd name="T0" fmla="*/ 48 w 96"/>
                <a:gd name="T1" fmla="*/ 0 h 79"/>
                <a:gd name="T2" fmla="*/ 0 w 96"/>
                <a:gd name="T3" fmla="*/ 79 h 79"/>
                <a:gd name="T4" fmla="*/ 96 w 96"/>
                <a:gd name="T5" fmla="*/ 71 h 79"/>
                <a:gd name="T6" fmla="*/ 48 w 96"/>
                <a:gd name="T7" fmla="*/ 0 h 79"/>
                <a:gd name="T8" fmla="*/ 0 60000 65536"/>
                <a:gd name="T9" fmla="*/ 0 60000 65536"/>
                <a:gd name="T10" fmla="*/ 0 60000 65536"/>
                <a:gd name="T11" fmla="*/ 0 60000 65536"/>
                <a:gd name="T12" fmla="*/ 0 w 96"/>
                <a:gd name="T13" fmla="*/ 0 h 79"/>
                <a:gd name="T14" fmla="*/ 96 w 96"/>
                <a:gd name="T15" fmla="*/ 79 h 79"/>
              </a:gdLst>
              <a:ahLst/>
              <a:cxnLst>
                <a:cxn ang="T8">
                  <a:pos x="T0" y="T1"/>
                </a:cxn>
                <a:cxn ang="T9">
                  <a:pos x="T2" y="T3"/>
                </a:cxn>
                <a:cxn ang="T10">
                  <a:pos x="T4" y="T5"/>
                </a:cxn>
                <a:cxn ang="T11">
                  <a:pos x="T6" y="T7"/>
                </a:cxn>
              </a:cxnLst>
              <a:rect l="T12" t="T13" r="T14" b="T15"/>
              <a:pathLst>
                <a:path w="96" h="79">
                  <a:moveTo>
                    <a:pt x="48" y="0"/>
                  </a:moveTo>
                  <a:lnTo>
                    <a:pt x="0" y="79"/>
                  </a:lnTo>
                  <a:lnTo>
                    <a:pt x="96" y="71"/>
                  </a:lnTo>
                  <a:lnTo>
                    <a:pt x="48" y="0"/>
                  </a:lnTo>
                  <a:close/>
                </a:path>
              </a:pathLst>
            </a:custGeom>
            <a:solidFill>
              <a:srgbClr val="000000"/>
            </a:solidFill>
            <a:ln w="12700">
              <a:solidFill>
                <a:srgbClr val="000000"/>
              </a:solidFill>
              <a:round/>
            </a:ln>
          </p:spPr>
          <p:txBody>
            <a:bodyPr/>
            <a:lstStyle/>
            <a:p>
              <a:endParaRPr lang="zh-CN" altLang="en-US"/>
            </a:p>
          </p:txBody>
        </p:sp>
        <p:sp>
          <p:nvSpPr>
            <p:cNvPr id="29759" name="Rectangle 66"/>
            <p:cNvSpPr>
              <a:spLocks noChangeArrowheads="1"/>
            </p:cNvSpPr>
            <p:nvPr/>
          </p:nvSpPr>
          <p:spPr bwMode="auto">
            <a:xfrm>
              <a:off x="3359" y="2476"/>
              <a:ext cx="635" cy="194"/>
            </a:xfrm>
            <a:prstGeom prst="rect">
              <a:avLst/>
            </a:prstGeom>
            <a:noFill/>
            <a:ln w="9525">
              <a:noFill/>
              <a:miter lim="800000"/>
            </a:ln>
          </p:spPr>
          <p:txBody>
            <a:bodyPr wrap="none" lIns="0" tIns="0" rIns="0" bIns="0">
              <a:spAutoFit/>
            </a:bodyPr>
            <a:lstStyle/>
            <a:p>
              <a:r>
                <a:rPr lang="en-US" altLang="zh-CN" sz="2000" b="1">
                  <a:solidFill>
                    <a:srgbClr val="FF0000"/>
                  </a:solidFill>
                  <a:latin typeface="Geneva" charset="0"/>
                </a:rPr>
                <a:t>Capacity   </a:t>
              </a:r>
              <a:r>
                <a:rPr lang="en-US" altLang="zh-CN" sz="1800" b="1">
                  <a:solidFill>
                    <a:srgbClr val="000000"/>
                  </a:solidFill>
                  <a:latin typeface="Geneva" charset="0"/>
                </a:rPr>
                <a:t> </a:t>
              </a:r>
              <a:endParaRPr lang="en-US" altLang="zh-CN"/>
            </a:p>
          </p:txBody>
        </p:sp>
        <p:sp>
          <p:nvSpPr>
            <p:cNvPr id="29760" name="Line 67"/>
            <p:cNvSpPr>
              <a:spLocks noChangeShapeType="1"/>
            </p:cNvSpPr>
            <p:nvPr/>
          </p:nvSpPr>
          <p:spPr bwMode="auto">
            <a:xfrm flipH="1">
              <a:off x="2952" y="2692"/>
              <a:ext cx="575" cy="399"/>
            </a:xfrm>
            <a:prstGeom prst="line">
              <a:avLst/>
            </a:prstGeom>
            <a:noFill/>
            <a:ln w="12700">
              <a:solidFill>
                <a:srgbClr val="000000"/>
              </a:solidFill>
              <a:round/>
            </a:ln>
          </p:spPr>
          <p:txBody>
            <a:bodyPr/>
            <a:lstStyle/>
            <a:p>
              <a:endParaRPr lang="zh-CN" altLang="en-US"/>
            </a:p>
          </p:txBody>
        </p:sp>
        <p:sp>
          <p:nvSpPr>
            <p:cNvPr id="29761" name="Freeform 68"/>
            <p:cNvSpPr>
              <a:spLocks noChangeArrowheads="1"/>
            </p:cNvSpPr>
            <p:nvPr/>
          </p:nvSpPr>
          <p:spPr bwMode="auto">
            <a:xfrm>
              <a:off x="2920" y="3035"/>
              <a:ext cx="88" cy="80"/>
            </a:xfrm>
            <a:custGeom>
              <a:avLst/>
              <a:gdLst>
                <a:gd name="T0" fmla="*/ 40 w 88"/>
                <a:gd name="T1" fmla="*/ 0 h 80"/>
                <a:gd name="T2" fmla="*/ 0 w 88"/>
                <a:gd name="T3" fmla="*/ 80 h 80"/>
                <a:gd name="T4" fmla="*/ 88 w 88"/>
                <a:gd name="T5" fmla="*/ 64 h 80"/>
                <a:gd name="T6" fmla="*/ 40 w 88"/>
                <a:gd name="T7" fmla="*/ 0 h 80"/>
                <a:gd name="T8" fmla="*/ 0 60000 65536"/>
                <a:gd name="T9" fmla="*/ 0 60000 65536"/>
                <a:gd name="T10" fmla="*/ 0 60000 65536"/>
                <a:gd name="T11" fmla="*/ 0 60000 65536"/>
                <a:gd name="T12" fmla="*/ 0 w 88"/>
                <a:gd name="T13" fmla="*/ 0 h 80"/>
                <a:gd name="T14" fmla="*/ 88 w 88"/>
                <a:gd name="T15" fmla="*/ 80 h 80"/>
              </a:gdLst>
              <a:ahLst/>
              <a:cxnLst>
                <a:cxn ang="T8">
                  <a:pos x="T0" y="T1"/>
                </a:cxn>
                <a:cxn ang="T9">
                  <a:pos x="T2" y="T3"/>
                </a:cxn>
                <a:cxn ang="T10">
                  <a:pos x="T4" y="T5"/>
                </a:cxn>
                <a:cxn ang="T11">
                  <a:pos x="T6" y="T7"/>
                </a:cxn>
              </a:cxnLst>
              <a:rect l="T12" t="T13" r="T14" b="T15"/>
              <a:pathLst>
                <a:path w="88" h="80">
                  <a:moveTo>
                    <a:pt x="40" y="0"/>
                  </a:moveTo>
                  <a:lnTo>
                    <a:pt x="0" y="80"/>
                  </a:lnTo>
                  <a:lnTo>
                    <a:pt x="88" y="64"/>
                  </a:lnTo>
                  <a:lnTo>
                    <a:pt x="40" y="0"/>
                  </a:lnTo>
                  <a:close/>
                </a:path>
              </a:pathLst>
            </a:custGeom>
            <a:solidFill>
              <a:srgbClr val="000000"/>
            </a:solidFill>
            <a:ln w="12700">
              <a:solidFill>
                <a:srgbClr val="000000"/>
              </a:solidFill>
              <a:round/>
            </a:ln>
          </p:spPr>
          <p:txBody>
            <a:bodyPr/>
            <a:lstStyle/>
            <a:p>
              <a:endParaRPr lang="zh-CN" altLang="en-US"/>
            </a:p>
          </p:txBody>
        </p:sp>
        <p:sp>
          <p:nvSpPr>
            <p:cNvPr id="29762" name="Rectangle 69"/>
            <p:cNvSpPr>
              <a:spLocks noChangeArrowheads="1"/>
            </p:cNvSpPr>
            <p:nvPr/>
          </p:nvSpPr>
          <p:spPr bwMode="auto">
            <a:xfrm>
              <a:off x="4334" y="3769"/>
              <a:ext cx="838" cy="194"/>
            </a:xfrm>
            <a:prstGeom prst="rect">
              <a:avLst/>
            </a:prstGeom>
            <a:noFill/>
            <a:ln w="9525">
              <a:noFill/>
              <a:miter lim="800000"/>
            </a:ln>
          </p:spPr>
          <p:txBody>
            <a:bodyPr wrap="none" lIns="0" tIns="0" rIns="0" bIns="0">
              <a:spAutoFit/>
            </a:bodyPr>
            <a:lstStyle/>
            <a:p>
              <a:r>
                <a:rPr lang="en-US" altLang="zh-CN" sz="2000" b="1">
                  <a:solidFill>
                    <a:srgbClr val="FF0000"/>
                  </a:solidFill>
                  <a:latin typeface="Geneva" charset="0"/>
                </a:rPr>
                <a:t>Compulsory   </a:t>
              </a:r>
              <a:r>
                <a:rPr lang="en-US" altLang="zh-CN" sz="1800" b="1">
                  <a:solidFill>
                    <a:srgbClr val="000000"/>
                  </a:solidFill>
                  <a:latin typeface="Geneva" charset="0"/>
                </a:rPr>
                <a:t> </a:t>
              </a:r>
              <a:endParaRPr lang="en-US" altLang="zh-CN"/>
            </a:p>
          </p:txBody>
        </p:sp>
        <p:sp>
          <p:nvSpPr>
            <p:cNvPr id="29763" name="Line 70"/>
            <p:cNvSpPr>
              <a:spLocks noChangeShapeType="1"/>
            </p:cNvSpPr>
            <p:nvPr/>
          </p:nvSpPr>
          <p:spPr bwMode="auto">
            <a:xfrm flipH="1" flipV="1">
              <a:off x="4581" y="3322"/>
              <a:ext cx="56" cy="391"/>
            </a:xfrm>
            <a:prstGeom prst="line">
              <a:avLst/>
            </a:prstGeom>
            <a:noFill/>
            <a:ln w="12700">
              <a:solidFill>
                <a:srgbClr val="000000"/>
              </a:solidFill>
              <a:round/>
            </a:ln>
          </p:spPr>
          <p:txBody>
            <a:bodyPr/>
            <a:lstStyle/>
            <a:p>
              <a:endParaRPr lang="zh-CN" altLang="en-US"/>
            </a:p>
          </p:txBody>
        </p:sp>
        <p:sp>
          <p:nvSpPr>
            <p:cNvPr id="29764" name="Freeform 71"/>
            <p:cNvSpPr>
              <a:spLocks noChangeArrowheads="1"/>
            </p:cNvSpPr>
            <p:nvPr/>
          </p:nvSpPr>
          <p:spPr bwMode="auto">
            <a:xfrm>
              <a:off x="4549" y="3282"/>
              <a:ext cx="80" cy="88"/>
            </a:xfrm>
            <a:custGeom>
              <a:avLst/>
              <a:gdLst>
                <a:gd name="T0" fmla="*/ 80 w 80"/>
                <a:gd name="T1" fmla="*/ 72 h 88"/>
                <a:gd name="T2" fmla="*/ 32 w 80"/>
                <a:gd name="T3" fmla="*/ 0 h 88"/>
                <a:gd name="T4" fmla="*/ 0 w 80"/>
                <a:gd name="T5" fmla="*/ 88 h 88"/>
                <a:gd name="T6" fmla="*/ 80 w 80"/>
                <a:gd name="T7" fmla="*/ 72 h 88"/>
                <a:gd name="T8" fmla="*/ 0 60000 65536"/>
                <a:gd name="T9" fmla="*/ 0 60000 65536"/>
                <a:gd name="T10" fmla="*/ 0 60000 65536"/>
                <a:gd name="T11" fmla="*/ 0 60000 65536"/>
                <a:gd name="T12" fmla="*/ 0 w 80"/>
                <a:gd name="T13" fmla="*/ 0 h 88"/>
                <a:gd name="T14" fmla="*/ 80 w 80"/>
                <a:gd name="T15" fmla="*/ 88 h 88"/>
              </a:gdLst>
              <a:ahLst/>
              <a:cxnLst>
                <a:cxn ang="T8">
                  <a:pos x="T0" y="T1"/>
                </a:cxn>
                <a:cxn ang="T9">
                  <a:pos x="T2" y="T3"/>
                </a:cxn>
                <a:cxn ang="T10">
                  <a:pos x="T4" y="T5"/>
                </a:cxn>
                <a:cxn ang="T11">
                  <a:pos x="T6" y="T7"/>
                </a:cxn>
              </a:cxnLst>
              <a:rect l="T12" t="T13" r="T14" b="T15"/>
              <a:pathLst>
                <a:path w="80" h="88">
                  <a:moveTo>
                    <a:pt x="80" y="72"/>
                  </a:moveTo>
                  <a:lnTo>
                    <a:pt x="32" y="0"/>
                  </a:lnTo>
                  <a:lnTo>
                    <a:pt x="0" y="88"/>
                  </a:lnTo>
                  <a:lnTo>
                    <a:pt x="80" y="72"/>
                  </a:lnTo>
                  <a:close/>
                </a:path>
              </a:pathLst>
            </a:custGeom>
            <a:solidFill>
              <a:srgbClr val="000000"/>
            </a:solidFill>
            <a:ln w="12700">
              <a:solidFill>
                <a:srgbClr val="000000"/>
              </a:solidFill>
              <a:round/>
            </a:ln>
          </p:spPr>
          <p:txBody>
            <a:bodyPr/>
            <a:lstStyle/>
            <a:p>
              <a:endParaRPr lang="zh-CN" altLang="en-US"/>
            </a:p>
          </p:txBody>
        </p:sp>
      </p:grpSp>
      <p:sp>
        <p:nvSpPr>
          <p:cNvPr id="29700" name="Rectangle 5"/>
          <p:cNvSpPr>
            <a:spLocks noChangeArrowheads="1"/>
          </p:cNvSpPr>
          <p:nvPr/>
        </p:nvSpPr>
        <p:spPr bwMode="auto">
          <a:xfrm>
            <a:off x="1233488" y="300038"/>
            <a:ext cx="9548812" cy="782637"/>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3C</a:t>
            </a:r>
            <a:r>
              <a:rPr lang="zh-CN" altLang="en-US" sz="3200">
                <a:solidFill>
                  <a:srgbClr val="FF0000"/>
                </a:solidFill>
                <a:latin typeface="Arial" panose="02080604020202020204" pitchFamily="34" charset="0"/>
                <a:ea typeface="黑体" panose="02000500000000000000" pitchFamily="49" charset="-122"/>
              </a:rPr>
              <a:t>失效率分析（</a:t>
            </a:r>
            <a:r>
              <a:rPr lang="en-US" altLang="zh-CN" sz="3200">
                <a:solidFill>
                  <a:srgbClr val="FF0000"/>
                </a:solidFill>
                <a:latin typeface="Arial" panose="02080604020202020204" pitchFamily="34" charset="0"/>
                <a:ea typeface="黑体" panose="02000500000000000000" pitchFamily="49" charset="-122"/>
              </a:rPr>
              <a:t>SPEC92</a:t>
            </a:r>
            <a:r>
              <a:rPr lang="zh-CN" altLang="en-US" sz="3200">
                <a:solidFill>
                  <a:srgbClr val="FF0000"/>
                </a:solidFill>
                <a:latin typeface="Arial" panose="02080604020202020204" pitchFamily="34" charset="0"/>
                <a:ea typeface="黑体" panose="02000500000000000000" pitchFamily="49" charset="-122"/>
              </a:rPr>
              <a:t>）</a:t>
            </a:r>
            <a:endParaRPr lang="zh-CN" altLang="en-US" sz="3200">
              <a:solidFill>
                <a:srgbClr val="FF0000"/>
              </a:solidFill>
              <a:latin typeface="Arial" panose="02080604020202020204" pitchFamily="34" charset="0"/>
              <a:ea typeface="黑体" panose="02000500000000000000" pitchFamily="49" charset="-122"/>
            </a:endParaRPr>
          </a:p>
        </p:txBody>
      </p:sp>
      <p:sp>
        <p:nvSpPr>
          <p:cNvPr id="29701" name="Rectangle 6"/>
          <p:cNvSpPr>
            <a:spLocks noChangeArrowheads="1"/>
          </p:cNvSpPr>
          <p:nvPr/>
        </p:nvSpPr>
        <p:spPr bwMode="auto">
          <a:xfrm>
            <a:off x="6734175" y="2327275"/>
            <a:ext cx="1136650" cy="3968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2000" b="1">
                <a:solidFill>
                  <a:srgbClr val="FF0000"/>
                </a:solidFill>
                <a:latin typeface="Arial" panose="02080604020202020204" pitchFamily="34" charset="0"/>
              </a:rPr>
              <a:t>Conflict</a:t>
            </a:r>
            <a:endParaRPr lang="en-US" altLang="zh-CN" sz="2000" b="1">
              <a:solidFill>
                <a:srgbClr val="FF0000"/>
              </a:solidFill>
              <a:latin typeface="Arial" panose="02080604020202020204" pitchFamily="34" charset="0"/>
            </a:endParaRPr>
          </a:p>
        </p:txBody>
      </p:sp>
      <p:sp>
        <p:nvSpPr>
          <p:cNvPr id="29702" name="Line 7"/>
          <p:cNvSpPr>
            <a:spLocks noChangeShapeType="1"/>
          </p:cNvSpPr>
          <p:nvPr/>
        </p:nvSpPr>
        <p:spPr bwMode="auto">
          <a:xfrm>
            <a:off x="5283200" y="2247900"/>
            <a:ext cx="1522413" cy="228600"/>
          </a:xfrm>
          <a:prstGeom prst="line">
            <a:avLst/>
          </a:prstGeom>
          <a:noFill/>
          <a:ln w="12700">
            <a:solidFill>
              <a:schemeClr val="tx1"/>
            </a:solidFill>
            <a:round/>
          </a:ln>
        </p:spPr>
        <p:txBody>
          <a:bodyPr/>
          <a:lstStyle/>
          <a:p>
            <a:endParaRPr lang="zh-CN" altLang="en-US"/>
          </a:p>
        </p:txBody>
      </p:sp>
      <p:sp>
        <p:nvSpPr>
          <p:cNvPr id="29703" name="Line 8"/>
          <p:cNvSpPr>
            <a:spLocks noChangeShapeType="1"/>
          </p:cNvSpPr>
          <p:nvPr/>
        </p:nvSpPr>
        <p:spPr bwMode="auto">
          <a:xfrm>
            <a:off x="6983413" y="2686050"/>
            <a:ext cx="431800" cy="895350"/>
          </a:xfrm>
          <a:prstGeom prst="line">
            <a:avLst/>
          </a:prstGeom>
          <a:noFill/>
          <a:ln w="12700">
            <a:solidFill>
              <a:schemeClr val="tx1"/>
            </a:solidFill>
            <a:round/>
          </a:ln>
        </p:spPr>
        <p:txBody>
          <a:bodyPr/>
          <a:lstStyle/>
          <a:p>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noChangeArrowheads="1"/>
          </p:cNvSpPr>
          <p:nvPr>
            <p:ph type="sldNum" sz="quarter" idx="12"/>
          </p:nvPr>
        </p:nvSpPr>
        <p:spPr>
          <a:xfrm>
            <a:off x="8736013" y="6118225"/>
            <a:ext cx="2540000" cy="457200"/>
          </a:xfrm>
          <a:noFill/>
        </p:spPr>
        <p:txBody>
          <a:bodyPr/>
          <a:lstStyle/>
          <a:p>
            <a:fld id="{96AE0CD8-85A3-4321-875F-D184100956D1}" type="slidenum">
              <a:rPr lang="en-US" altLang="zh-CN" smtClean="0"/>
            </a:fld>
            <a:endParaRPr lang="en-US" altLang="zh-CN" smtClean="0"/>
          </a:p>
        </p:txBody>
      </p:sp>
      <p:graphicFrame>
        <p:nvGraphicFramePr>
          <p:cNvPr id="29699" name="表格 29698"/>
          <p:cNvGraphicFramePr>
            <a:graphicFrameLocks noGrp="1"/>
          </p:cNvGraphicFramePr>
          <p:nvPr/>
        </p:nvGraphicFramePr>
        <p:xfrm>
          <a:off x="1087438" y="65088"/>
          <a:ext cx="10232751" cy="6759897"/>
        </p:xfrm>
        <a:graphic>
          <a:graphicData uri="http://schemas.openxmlformats.org/drawingml/2006/table">
            <a:tbl>
              <a:tblPr/>
              <a:tblGrid>
                <a:gridCol w="931212"/>
                <a:gridCol w="1358723"/>
                <a:gridCol w="1005286"/>
                <a:gridCol w="1183062"/>
                <a:gridCol w="1166132"/>
                <a:gridCol w="1219041"/>
                <a:gridCol w="1183062"/>
                <a:gridCol w="1075127"/>
                <a:gridCol w="1111106"/>
              </a:tblGrid>
              <a:tr h="512763">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大小（</a:t>
                      </a:r>
                      <a:r>
                        <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rPr>
                        <a:t>KB</a:t>
                      </a: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相联度</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失效率</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冷失效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容量失效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冲突失效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冷失效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百分比</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容量失效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百分比</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冲突失效</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rPr>
                        <a:t>百分比</a:t>
                      </a:r>
                      <a:endParaRPr kumimoji="0" lang="zh-CN" altLang="en-US" sz="1400" b="1"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23997" marR="23997" marT="10800" marB="1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0.098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72%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0.070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0.068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65%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35%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82%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32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0.042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89%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32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32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32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64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77%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64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64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0.030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64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97%</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0.021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128</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256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1-way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0.013</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94%</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256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256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4-way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256</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8-way</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0.0001</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0.012</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0.000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0.5%</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99%</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rPr>
                        <a:t> 0%</a:t>
                      </a:r>
                      <a:endParaRPr kumimoji="0" lang="en-US" altLang="zh-CN" sz="12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0800" marB="108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1026" name="Text Box 310"/>
          <p:cNvSpPr txBox="1">
            <a:spLocks noChangeArrowheads="1"/>
          </p:cNvSpPr>
          <p:nvPr/>
        </p:nvSpPr>
        <p:spPr bwMode="auto">
          <a:xfrm>
            <a:off x="1204913" y="6521450"/>
            <a:ext cx="3916362" cy="336550"/>
          </a:xfrm>
          <a:prstGeom prst="rect">
            <a:avLst/>
          </a:prstGeom>
          <a:noFill/>
          <a:ln w="9525">
            <a:noFill/>
            <a:miter lim="800000"/>
          </a:ln>
        </p:spPr>
        <p:txBody>
          <a:bodyPr>
            <a:spAutoFit/>
          </a:bodyPr>
          <a:lstStyle/>
          <a:p>
            <a:r>
              <a:rPr lang="en-US" altLang="zh-CN" sz="1600" b="1">
                <a:solidFill>
                  <a:srgbClr val="FF0000"/>
                </a:solidFill>
              </a:rPr>
              <a:t>SPEC CPU2000, Alpha</a:t>
            </a:r>
            <a:r>
              <a:rPr lang="zh-CN" altLang="en-US" sz="1600" b="1">
                <a:solidFill>
                  <a:srgbClr val="FF0000"/>
                </a:solidFill>
              </a:rPr>
              <a:t>结构</a:t>
            </a:r>
            <a:endParaRPr lang="zh-CN" altLang="en-US" sz="1600" b="1">
              <a:solidFill>
                <a:srgbClr val="FF0000"/>
              </a:solidFill>
            </a:endParaRPr>
          </a:p>
        </p:txBody>
      </p:sp>
      <p:sp>
        <p:nvSpPr>
          <p:cNvPr id="31027" name="Arc 312"/>
          <p:cNvSpPr>
            <a:spLocks noChangeArrowheads="1"/>
          </p:cNvSpPr>
          <p:nvPr/>
        </p:nvSpPr>
        <p:spPr bwMode="auto">
          <a:xfrm rot="3767354">
            <a:off x="3492332" y="1709141"/>
            <a:ext cx="614756" cy="1167494"/>
          </a:xfrm>
          <a:custGeom>
            <a:avLst/>
            <a:gdLst>
              <a:gd name="T0" fmla="*/ -1511 w 16230"/>
              <a:gd name="T1" fmla="*/ 0 h 21600"/>
              <a:gd name="T2" fmla="*/ 24348513 w 16230"/>
              <a:gd name="T3" fmla="*/ 17553232 h 21600"/>
              <a:gd name="T4" fmla="*/ -1511 w 16230"/>
              <a:gd name="T5" fmla="*/ 0 h 21600"/>
              <a:gd name="T6" fmla="*/ 24348513 w 16230"/>
              <a:gd name="T7" fmla="*/ 17553232 h 21600"/>
              <a:gd name="T8" fmla="*/ 0 w 16230"/>
              <a:gd name="T9" fmla="*/ 51606064 h 21600"/>
              <a:gd name="T10" fmla="*/ 0 60000 65536"/>
              <a:gd name="T11" fmla="*/ 0 60000 65536"/>
              <a:gd name="T12" fmla="*/ 0 60000 65536"/>
              <a:gd name="T13" fmla="*/ 0 60000 65536"/>
              <a:gd name="T14" fmla="*/ 0 60000 65536"/>
              <a:gd name="T15" fmla="*/ 0 w 16230"/>
              <a:gd name="T16" fmla="*/ 0 h 21600"/>
              <a:gd name="T17" fmla="*/ 16230 w 16230"/>
              <a:gd name="T18" fmla="*/ 21600 h 21600"/>
            </a:gdLst>
            <a:ahLst/>
            <a:cxnLst>
              <a:cxn ang="T10">
                <a:pos x="T0" y="T1"/>
              </a:cxn>
              <a:cxn ang="T11">
                <a:pos x="T2" y="T3"/>
              </a:cxn>
              <a:cxn ang="T12">
                <a:pos x="T4" y="T5"/>
              </a:cxn>
              <a:cxn ang="T13">
                <a:pos x="T6" y="T7"/>
              </a:cxn>
              <a:cxn ang="T14">
                <a:pos x="T8" y="T9"/>
              </a:cxn>
            </a:cxnLst>
            <a:rect l="T15" t="T16" r="T17" b="T18"/>
            <a:pathLst>
              <a:path w="16230" h="21600" fill="none">
                <a:moveTo>
                  <a:pt x="-1" y="0"/>
                </a:moveTo>
                <a:cubicBezTo>
                  <a:pt x="6215" y="0"/>
                  <a:pt x="12128" y="2677"/>
                  <a:pt x="16229" y="7347"/>
                </a:cubicBezTo>
              </a:path>
              <a:path w="16230" h="21600" stroke="0">
                <a:moveTo>
                  <a:pt x="-1" y="0"/>
                </a:moveTo>
                <a:cubicBezTo>
                  <a:pt x="6215" y="0"/>
                  <a:pt x="12128" y="2677"/>
                  <a:pt x="16229" y="7347"/>
                </a:cubicBezTo>
                <a:lnTo>
                  <a:pt x="0" y="21600"/>
                </a:lnTo>
                <a:close/>
              </a:path>
            </a:pathLst>
          </a:custGeom>
          <a:noFill/>
          <a:ln w="9525">
            <a:solidFill>
              <a:srgbClr val="FF0000"/>
            </a:solidFill>
            <a:round/>
          </a:ln>
        </p:spPr>
        <p:txBody>
          <a:bodyPr/>
          <a:lstStyle/>
          <a:p>
            <a:endParaRPr lang="zh-CN" altLang="en-US"/>
          </a:p>
        </p:txBody>
      </p:sp>
      <p:sp>
        <p:nvSpPr>
          <p:cNvPr id="31028" name="Arc 313"/>
          <p:cNvSpPr>
            <a:spLocks noChangeArrowheads="1"/>
          </p:cNvSpPr>
          <p:nvPr/>
        </p:nvSpPr>
        <p:spPr bwMode="auto">
          <a:xfrm rot="3767354">
            <a:off x="3441700" y="2614613"/>
            <a:ext cx="628650" cy="1219200"/>
          </a:xfrm>
          <a:custGeom>
            <a:avLst/>
            <a:gdLst>
              <a:gd name="T0" fmla="*/ -1511 w 16230"/>
              <a:gd name="T1" fmla="*/ 0 h 21600"/>
              <a:gd name="T2" fmla="*/ 24348513 w 16230"/>
              <a:gd name="T3" fmla="*/ 17553232 h 21600"/>
              <a:gd name="T4" fmla="*/ -1511 w 16230"/>
              <a:gd name="T5" fmla="*/ 0 h 21600"/>
              <a:gd name="T6" fmla="*/ 24348513 w 16230"/>
              <a:gd name="T7" fmla="*/ 17553232 h 21600"/>
              <a:gd name="T8" fmla="*/ 0 w 16230"/>
              <a:gd name="T9" fmla="*/ 51606064 h 21600"/>
              <a:gd name="T10" fmla="*/ 0 60000 65536"/>
              <a:gd name="T11" fmla="*/ 0 60000 65536"/>
              <a:gd name="T12" fmla="*/ 0 60000 65536"/>
              <a:gd name="T13" fmla="*/ 0 60000 65536"/>
              <a:gd name="T14" fmla="*/ 0 60000 65536"/>
              <a:gd name="T15" fmla="*/ 0 w 16230"/>
              <a:gd name="T16" fmla="*/ 0 h 21600"/>
              <a:gd name="T17" fmla="*/ 16230 w 16230"/>
              <a:gd name="T18" fmla="*/ 21600 h 21600"/>
            </a:gdLst>
            <a:ahLst/>
            <a:cxnLst>
              <a:cxn ang="T10">
                <a:pos x="T0" y="T1"/>
              </a:cxn>
              <a:cxn ang="T11">
                <a:pos x="T2" y="T3"/>
              </a:cxn>
              <a:cxn ang="T12">
                <a:pos x="T4" y="T5"/>
              </a:cxn>
              <a:cxn ang="T13">
                <a:pos x="T6" y="T7"/>
              </a:cxn>
              <a:cxn ang="T14">
                <a:pos x="T8" y="T9"/>
              </a:cxn>
            </a:cxnLst>
            <a:rect l="T15" t="T16" r="T17" b="T18"/>
            <a:pathLst>
              <a:path w="16230" h="21600" fill="none">
                <a:moveTo>
                  <a:pt x="-1" y="0"/>
                </a:moveTo>
                <a:cubicBezTo>
                  <a:pt x="6215" y="0"/>
                  <a:pt x="12128" y="2677"/>
                  <a:pt x="16229" y="7347"/>
                </a:cubicBezTo>
              </a:path>
              <a:path w="16230" h="21600" stroke="0">
                <a:moveTo>
                  <a:pt x="-1" y="0"/>
                </a:moveTo>
                <a:cubicBezTo>
                  <a:pt x="6215" y="0"/>
                  <a:pt x="12128" y="2677"/>
                  <a:pt x="16229" y="7347"/>
                </a:cubicBezTo>
                <a:lnTo>
                  <a:pt x="0" y="21600"/>
                </a:lnTo>
                <a:close/>
              </a:path>
            </a:pathLst>
          </a:custGeom>
          <a:noFill/>
          <a:ln w="9525">
            <a:solidFill>
              <a:srgbClr val="FF0000"/>
            </a:solidFill>
            <a:round/>
          </a:ln>
        </p:spPr>
        <p:txBody>
          <a:bodyPr/>
          <a:lstStyle/>
          <a:p>
            <a:endParaRPr lang="zh-CN" altLang="en-US"/>
          </a:p>
        </p:txBody>
      </p:sp>
      <p:sp>
        <p:nvSpPr>
          <p:cNvPr id="31029" name="Arc 314"/>
          <p:cNvSpPr>
            <a:spLocks noChangeArrowheads="1"/>
          </p:cNvSpPr>
          <p:nvPr/>
        </p:nvSpPr>
        <p:spPr bwMode="auto">
          <a:xfrm rot="3767354">
            <a:off x="3435350" y="3495676"/>
            <a:ext cx="625475" cy="1219200"/>
          </a:xfrm>
          <a:custGeom>
            <a:avLst/>
            <a:gdLst>
              <a:gd name="T0" fmla="*/ -1503 w 16230"/>
              <a:gd name="T1" fmla="*/ 0 h 21600"/>
              <a:gd name="T2" fmla="*/ 24103182 w 16230"/>
              <a:gd name="T3" fmla="*/ 17553232 h 21600"/>
              <a:gd name="T4" fmla="*/ -1503 w 16230"/>
              <a:gd name="T5" fmla="*/ 0 h 21600"/>
              <a:gd name="T6" fmla="*/ 24103182 w 16230"/>
              <a:gd name="T7" fmla="*/ 17553232 h 21600"/>
              <a:gd name="T8" fmla="*/ 0 w 16230"/>
              <a:gd name="T9" fmla="*/ 51606064 h 21600"/>
              <a:gd name="T10" fmla="*/ 0 60000 65536"/>
              <a:gd name="T11" fmla="*/ 0 60000 65536"/>
              <a:gd name="T12" fmla="*/ 0 60000 65536"/>
              <a:gd name="T13" fmla="*/ 0 60000 65536"/>
              <a:gd name="T14" fmla="*/ 0 60000 65536"/>
              <a:gd name="T15" fmla="*/ 0 w 16230"/>
              <a:gd name="T16" fmla="*/ 0 h 21600"/>
              <a:gd name="T17" fmla="*/ 16230 w 16230"/>
              <a:gd name="T18" fmla="*/ 21600 h 21600"/>
            </a:gdLst>
            <a:ahLst/>
            <a:cxnLst>
              <a:cxn ang="T10">
                <a:pos x="T0" y="T1"/>
              </a:cxn>
              <a:cxn ang="T11">
                <a:pos x="T2" y="T3"/>
              </a:cxn>
              <a:cxn ang="T12">
                <a:pos x="T4" y="T5"/>
              </a:cxn>
              <a:cxn ang="T13">
                <a:pos x="T6" y="T7"/>
              </a:cxn>
              <a:cxn ang="T14">
                <a:pos x="T8" y="T9"/>
              </a:cxn>
            </a:cxnLst>
            <a:rect l="T15" t="T16" r="T17" b="T18"/>
            <a:pathLst>
              <a:path w="16230" h="21600" fill="none">
                <a:moveTo>
                  <a:pt x="-1" y="0"/>
                </a:moveTo>
                <a:cubicBezTo>
                  <a:pt x="6215" y="0"/>
                  <a:pt x="12128" y="2677"/>
                  <a:pt x="16229" y="7347"/>
                </a:cubicBezTo>
              </a:path>
              <a:path w="16230" h="21600" stroke="0">
                <a:moveTo>
                  <a:pt x="-1" y="0"/>
                </a:moveTo>
                <a:cubicBezTo>
                  <a:pt x="6215" y="0"/>
                  <a:pt x="12128" y="2677"/>
                  <a:pt x="16229" y="7347"/>
                </a:cubicBezTo>
                <a:lnTo>
                  <a:pt x="0" y="21600"/>
                </a:lnTo>
                <a:close/>
              </a:path>
            </a:pathLst>
          </a:custGeom>
          <a:noFill/>
          <a:ln w="9525">
            <a:solidFill>
              <a:srgbClr val="FF0000"/>
            </a:solidFill>
            <a:round/>
          </a:ln>
        </p:spPr>
        <p:txBody>
          <a:bodyPr/>
          <a:lstStyle/>
          <a:p>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noChangeArrowheads="1"/>
          </p:cNvSpPr>
          <p:nvPr>
            <p:ph type="sldNum" sz="quarter" idx="12"/>
          </p:nvPr>
        </p:nvSpPr>
        <p:spPr>
          <a:noFill/>
        </p:spPr>
        <p:txBody>
          <a:bodyPr/>
          <a:lstStyle/>
          <a:p>
            <a:fld id="{BE5F5286-BB24-4C6E-8FF1-F24326A90752}" type="slidenum">
              <a:rPr lang="en-US" altLang="zh-CN" smtClean="0"/>
            </a:fld>
            <a:endParaRPr lang="en-US" altLang="zh-CN" smtClean="0"/>
          </a:p>
        </p:txBody>
      </p:sp>
      <p:pic>
        <p:nvPicPr>
          <p:cNvPr id="31747" name="Picture 4"/>
          <p:cNvPicPr>
            <a:picLocks noChangeArrowheads="1"/>
          </p:cNvPicPr>
          <p:nvPr/>
        </p:nvPicPr>
        <p:blipFill>
          <a:blip r:embed="rId1" cstate="print"/>
          <a:srcRect/>
          <a:stretch>
            <a:fillRect/>
          </a:stretch>
        </p:blipFill>
        <p:spPr bwMode="auto">
          <a:xfrm>
            <a:off x="1703388" y="2974975"/>
            <a:ext cx="8135937" cy="3470275"/>
          </a:xfrm>
          <a:prstGeom prst="rect">
            <a:avLst/>
          </a:prstGeom>
          <a:noFill/>
          <a:ln w="25400">
            <a:noFill/>
            <a:miter lim="800000"/>
            <a:headEnd/>
            <a:tailEnd/>
          </a:ln>
        </p:spPr>
      </p:pic>
      <p:sp>
        <p:nvSpPr>
          <p:cNvPr id="31748" name="Rectangle 5"/>
          <p:cNvSpPr>
            <a:spLocks noChangeArrowheads="1"/>
          </p:cNvSpPr>
          <p:nvPr/>
        </p:nvSpPr>
        <p:spPr bwMode="auto">
          <a:xfrm>
            <a:off x="1357313" y="0"/>
            <a:ext cx="9548812" cy="987425"/>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通过增加块大小降低失效率</a:t>
            </a:r>
            <a:endParaRPr lang="zh-CN" altLang="en-US" sz="3200">
              <a:solidFill>
                <a:srgbClr val="FF0000"/>
              </a:solidFill>
              <a:latin typeface="Arial" panose="02080604020202020204" pitchFamily="34" charset="0"/>
              <a:ea typeface="黑体" panose="02000500000000000000" pitchFamily="49" charset="-122"/>
            </a:endParaRPr>
          </a:p>
        </p:txBody>
      </p:sp>
      <p:sp>
        <p:nvSpPr>
          <p:cNvPr id="31749" name="Rectangle 7"/>
          <p:cNvSpPr>
            <a:spLocks noGrp="1" noChangeArrowheads="1"/>
          </p:cNvSpPr>
          <p:nvPr>
            <p:ph idx="1"/>
          </p:nvPr>
        </p:nvSpPr>
        <p:spPr>
          <a:xfrm>
            <a:off x="914400" y="1092200"/>
            <a:ext cx="10361613" cy="1976438"/>
          </a:xfrm>
        </p:spPr>
        <p:txBody>
          <a:bodyPr/>
          <a:lstStyle/>
          <a:p>
            <a:pPr eaLnBrk="1" hangingPunct="1">
              <a:spcBef>
                <a:spcPct val="0"/>
              </a:spcBef>
            </a:pPr>
            <a:r>
              <a:rPr lang="zh-CN" altLang="en-US" sz="2000" smtClean="0">
                <a:latin typeface="宋体" panose="02000500000000000000" pitchFamily="2" charset="-122"/>
              </a:rPr>
              <a:t>利用空间局部性</a:t>
            </a:r>
            <a:endParaRPr lang="zh-CN" altLang="en-US"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降低冷失效，增加冲突失效以及容量失效</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SPEC92</a:t>
            </a:r>
            <a:r>
              <a:rPr lang="zh-CN" altLang="en-US" sz="2000" smtClean="0">
                <a:latin typeface="宋体" panose="02000500000000000000" pitchFamily="2" charset="-122"/>
              </a:rPr>
              <a:t>，</a:t>
            </a:r>
            <a:r>
              <a:rPr lang="en-US" altLang="zh-CN" sz="2000" smtClean="0">
                <a:latin typeface="宋体" panose="02000500000000000000" pitchFamily="2" charset="-122"/>
              </a:rPr>
              <a:t>DECstation 5000</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小容量</a:t>
            </a:r>
            <a:r>
              <a:rPr lang="en-US" altLang="zh-CN" sz="1800" smtClean="0">
                <a:latin typeface="宋体" panose="02000500000000000000" pitchFamily="2" charset="-122"/>
              </a:rPr>
              <a:t>Cache</a:t>
            </a:r>
            <a:r>
              <a:rPr lang="zh-CN" altLang="en-US" sz="1800" smtClean="0">
                <a:latin typeface="宋体" panose="02000500000000000000" pitchFamily="2" charset="-122"/>
              </a:rPr>
              <a:t>块较小</a:t>
            </a:r>
            <a:endParaRPr lang="zh-CN" altLang="en-US" sz="18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noChangeArrowheads="1"/>
          </p:cNvSpPr>
          <p:nvPr>
            <p:ph type="sldNum" sz="quarter" idx="12"/>
          </p:nvPr>
        </p:nvSpPr>
        <p:spPr>
          <a:noFill/>
        </p:spPr>
        <p:txBody>
          <a:bodyPr/>
          <a:lstStyle/>
          <a:p>
            <a:fld id="{5D172486-075A-437C-A8A8-5E1A69513E3A}" type="slidenum">
              <a:rPr lang="en-US" altLang="zh-CN" smtClean="0"/>
            </a:fld>
            <a:endParaRPr lang="en-US" altLang="zh-CN" smtClean="0"/>
          </a:p>
        </p:txBody>
      </p:sp>
      <p:sp>
        <p:nvSpPr>
          <p:cNvPr id="32771" name="Rectangle 2"/>
          <p:cNvSpPr>
            <a:spLocks noGrp="1" noChangeArrowheads="1"/>
          </p:cNvSpPr>
          <p:nvPr>
            <p:ph type="title"/>
          </p:nvPr>
        </p:nvSpPr>
        <p:spPr>
          <a:xfrm>
            <a:off x="881063" y="0"/>
            <a:ext cx="10361612" cy="973138"/>
          </a:xfrm>
        </p:spPr>
        <p:txBody>
          <a:bodyPr/>
          <a:lstStyle/>
          <a:p>
            <a:pPr eaLnBrk="1" hangingPunct="1"/>
            <a:r>
              <a:rPr lang="zh-CN" altLang="en-US" smtClean="0"/>
              <a:t>通过增加</a:t>
            </a:r>
            <a:r>
              <a:rPr lang="en-US" altLang="zh-CN" smtClean="0"/>
              <a:t>Cache</a:t>
            </a:r>
            <a:r>
              <a:rPr lang="zh-CN" altLang="en-US" smtClean="0"/>
              <a:t>大小提高命中率</a:t>
            </a:r>
            <a:endParaRPr lang="zh-CN" altLang="en-US" smtClean="0"/>
          </a:p>
        </p:txBody>
      </p:sp>
      <p:sp>
        <p:nvSpPr>
          <p:cNvPr id="32772" name="Rectangle 3"/>
          <p:cNvSpPr>
            <a:spLocks noGrp="1" noChangeArrowheads="1"/>
          </p:cNvSpPr>
          <p:nvPr>
            <p:ph idx="1"/>
          </p:nvPr>
        </p:nvSpPr>
        <p:spPr>
          <a:xfrm>
            <a:off x="458788" y="1042988"/>
            <a:ext cx="11509375" cy="5719762"/>
          </a:xfrm>
        </p:spPr>
        <p:txBody>
          <a:bodyPr/>
          <a:lstStyle/>
          <a:p>
            <a:pPr eaLnBrk="1" hangingPunct="1">
              <a:spcBef>
                <a:spcPts val="600"/>
              </a:spcBef>
            </a:pPr>
            <a:r>
              <a:rPr lang="zh-CN" altLang="en-US" sz="2000" smtClean="0">
                <a:latin typeface="宋体" panose="02000500000000000000" pitchFamily="2" charset="-122"/>
              </a:rPr>
              <a:t>一级</a:t>
            </a:r>
            <a:r>
              <a:rPr lang="en-US" altLang="zh-CN" sz="2000" smtClean="0">
                <a:latin typeface="宋体" panose="02000500000000000000" pitchFamily="2" charset="-122"/>
              </a:rPr>
              <a:t>Cache</a:t>
            </a:r>
            <a:r>
              <a:rPr lang="zh-CN" altLang="en-US" sz="2000" smtClean="0">
                <a:latin typeface="宋体" panose="02000500000000000000" pitchFamily="2" charset="-122"/>
              </a:rPr>
              <a:t>访问直接决定时钟周期</a:t>
            </a:r>
            <a:endParaRPr lang="zh-CN" altLang="en-US" sz="20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尤其是在纳米级工艺，连线延迟很大</a:t>
            </a:r>
            <a:endParaRPr lang="zh-CN" altLang="en-US" sz="1600" smtClean="0">
              <a:latin typeface="宋体" panose="02000500000000000000" pitchFamily="2" charset="-122"/>
            </a:endParaRPr>
          </a:p>
          <a:p>
            <a:pPr lvl="1" eaLnBrk="1" hangingPunct="1">
              <a:spcBef>
                <a:spcPts val="600"/>
              </a:spcBef>
            </a:pPr>
            <a:r>
              <a:rPr lang="en-US" altLang="zh-CN" sz="1600" smtClean="0">
                <a:latin typeface="宋体" panose="02000500000000000000" pitchFamily="2" charset="-122"/>
              </a:rPr>
              <a:t>PIII</a:t>
            </a:r>
            <a:r>
              <a:rPr lang="zh-CN" altLang="en-US" sz="1600" smtClean="0">
                <a:latin typeface="宋体" panose="02000500000000000000" pitchFamily="2" charset="-122"/>
              </a:rPr>
              <a:t>一级</a:t>
            </a:r>
            <a:r>
              <a:rPr lang="en-US" altLang="zh-CN" sz="1600" smtClean="0">
                <a:latin typeface="宋体" panose="02000500000000000000" pitchFamily="2" charset="-122"/>
              </a:rPr>
              <a:t>Cache</a:t>
            </a:r>
            <a:r>
              <a:rPr lang="zh-CN" altLang="en-US" sz="1600" smtClean="0">
                <a:latin typeface="宋体" panose="02000500000000000000" pitchFamily="2" charset="-122"/>
              </a:rPr>
              <a:t>为</a:t>
            </a:r>
            <a:r>
              <a:rPr lang="en-US" altLang="zh-CN" sz="1600" smtClean="0">
                <a:latin typeface="宋体" panose="02000500000000000000" pitchFamily="2" charset="-122"/>
              </a:rPr>
              <a:t>16KB</a:t>
            </a:r>
            <a:r>
              <a:rPr lang="zh-CN" altLang="en-US" sz="1600" smtClean="0">
                <a:latin typeface="宋体" panose="02000500000000000000" pitchFamily="2" charset="-122"/>
              </a:rPr>
              <a:t>，</a:t>
            </a:r>
            <a:r>
              <a:rPr lang="en-US" altLang="zh-CN" sz="1600" smtClean="0">
                <a:latin typeface="宋体" panose="02000500000000000000" pitchFamily="2" charset="-122"/>
              </a:rPr>
              <a:t>PIV</a:t>
            </a:r>
            <a:r>
              <a:rPr lang="zh-CN" altLang="en-US" sz="1600" smtClean="0">
                <a:latin typeface="宋体" panose="02000500000000000000" pitchFamily="2" charset="-122"/>
              </a:rPr>
              <a:t>一级</a:t>
            </a:r>
            <a:r>
              <a:rPr lang="en-US" altLang="zh-CN" sz="1600" smtClean="0">
                <a:latin typeface="宋体" panose="02000500000000000000" pitchFamily="2" charset="-122"/>
              </a:rPr>
              <a:t>Cache</a:t>
            </a:r>
            <a:r>
              <a:rPr lang="zh-CN" altLang="en-US" sz="1600" smtClean="0">
                <a:latin typeface="宋体" panose="02000500000000000000" pitchFamily="2" charset="-122"/>
              </a:rPr>
              <a:t>为</a:t>
            </a:r>
            <a:r>
              <a:rPr lang="en-US" altLang="zh-CN" sz="1600" smtClean="0">
                <a:latin typeface="宋体" panose="02000500000000000000" pitchFamily="2" charset="-122"/>
              </a:rPr>
              <a:t>8KB</a:t>
            </a:r>
            <a:r>
              <a:rPr lang="zh-CN" altLang="en-US" sz="1600" smtClean="0">
                <a:latin typeface="宋体" panose="02000500000000000000" pitchFamily="2" charset="-122"/>
              </a:rPr>
              <a:t>。</a:t>
            </a:r>
            <a:endParaRPr lang="zh-CN" altLang="en-US" sz="1600" smtClean="0">
              <a:latin typeface="宋体" panose="02000500000000000000" pitchFamily="2" charset="-122"/>
            </a:endParaRPr>
          </a:p>
          <a:p>
            <a:pPr eaLnBrk="1" hangingPunct="1">
              <a:spcBef>
                <a:spcPts val="600"/>
              </a:spcBef>
            </a:pPr>
            <a:r>
              <a:rPr lang="zh-CN" altLang="en-US" sz="2000" smtClean="0">
                <a:latin typeface="宋体" panose="02000500000000000000" pitchFamily="2" charset="-122"/>
              </a:rPr>
              <a:t>增加片内</a:t>
            </a:r>
            <a:r>
              <a:rPr lang="en-US" altLang="zh-CN" sz="2000" smtClean="0">
                <a:latin typeface="宋体" panose="02000500000000000000" pitchFamily="2" charset="-122"/>
              </a:rPr>
              <a:t>Cache</a:t>
            </a:r>
            <a:r>
              <a:rPr lang="zh-CN" altLang="en-US" sz="2000" smtClean="0">
                <a:latin typeface="宋体" panose="02000500000000000000" pitchFamily="2" charset="-122"/>
              </a:rPr>
              <a:t>大小增加芯片面积</a:t>
            </a:r>
            <a:endParaRPr lang="zh-CN" altLang="en-US" sz="20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有的处理器片内</a:t>
            </a:r>
            <a:r>
              <a:rPr lang="en-US" altLang="zh-CN" sz="1600" smtClean="0">
                <a:latin typeface="宋体" panose="02000500000000000000" pitchFamily="2" charset="-122"/>
              </a:rPr>
              <a:t>Cache</a:t>
            </a:r>
            <a:r>
              <a:rPr lang="zh-CN" altLang="en-US" sz="1600" smtClean="0">
                <a:latin typeface="宋体" panose="02000500000000000000" pitchFamily="2" charset="-122"/>
              </a:rPr>
              <a:t>晶体管占整个芯片晶体管的</a:t>
            </a:r>
            <a:r>
              <a:rPr lang="en-US" altLang="zh-CN" sz="1600" smtClean="0">
                <a:latin typeface="宋体" panose="02000500000000000000" pitchFamily="2" charset="-122"/>
              </a:rPr>
              <a:t>80%</a:t>
            </a:r>
            <a:r>
              <a:rPr lang="zh-CN" altLang="en-US" sz="1600" smtClean="0">
                <a:latin typeface="宋体" panose="02000500000000000000" pitchFamily="2" charset="-122"/>
              </a:rPr>
              <a:t>以上</a:t>
            </a:r>
            <a:endParaRPr lang="zh-CN" altLang="en-US" sz="16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现代处理器二级或三级</a:t>
            </a:r>
            <a:r>
              <a:rPr lang="en-US" altLang="zh-CN" sz="1600" smtClean="0">
                <a:latin typeface="宋体" panose="02000500000000000000" pitchFamily="2" charset="-122"/>
              </a:rPr>
              <a:t>Cache</a:t>
            </a:r>
            <a:r>
              <a:rPr lang="zh-CN" altLang="en-US" sz="1600" smtClean="0">
                <a:latin typeface="宋体" panose="02000500000000000000" pitchFamily="2" charset="-122"/>
              </a:rPr>
              <a:t>大小已经达到几</a:t>
            </a:r>
            <a:r>
              <a:rPr lang="en-US" altLang="zh-CN" sz="1600" smtClean="0">
                <a:latin typeface="宋体" panose="02000500000000000000" pitchFamily="2" charset="-122"/>
              </a:rPr>
              <a:t>MB</a:t>
            </a:r>
            <a:r>
              <a:rPr lang="zh-CN" altLang="en-US" sz="1600" smtClean="0">
                <a:latin typeface="宋体" panose="02000500000000000000" pitchFamily="2" charset="-122"/>
              </a:rPr>
              <a:t>甚至几十</a:t>
            </a:r>
            <a:r>
              <a:rPr lang="en-US" altLang="zh-CN" sz="1600" smtClean="0">
                <a:latin typeface="宋体" panose="02000500000000000000" pitchFamily="2" charset="-122"/>
              </a:rPr>
              <a:t>MB</a:t>
            </a:r>
            <a:r>
              <a:rPr lang="zh-CN" altLang="en-US" sz="1600" smtClean="0">
                <a:latin typeface="宋体" panose="02000500000000000000" pitchFamily="2" charset="-122"/>
              </a:rPr>
              <a:t>。</a:t>
            </a:r>
            <a:endParaRPr lang="zh-CN" altLang="en-US" sz="1600" smtClean="0">
              <a:latin typeface="宋体" panose="02000500000000000000" pitchFamily="2" charset="-122"/>
            </a:endParaRPr>
          </a:p>
          <a:p>
            <a:pPr eaLnBrk="1" hangingPunct="1">
              <a:spcBef>
                <a:spcPts val="600"/>
              </a:spcBef>
            </a:pPr>
            <a:r>
              <a:rPr lang="zh-CN" altLang="en-US" sz="2000" smtClean="0">
                <a:latin typeface="宋体" panose="02000500000000000000" pitchFamily="2" charset="-122"/>
              </a:rPr>
              <a:t>现代通用处理器的一级</a:t>
            </a:r>
            <a:r>
              <a:rPr lang="en-US" altLang="zh-CN" sz="2000" smtClean="0">
                <a:latin typeface="宋体" panose="02000500000000000000" pitchFamily="2" charset="-122"/>
              </a:rPr>
              <a:t>Cache</a:t>
            </a:r>
            <a:r>
              <a:rPr lang="zh-CN" altLang="en-US" sz="2000" smtClean="0">
                <a:latin typeface="宋体" panose="02000500000000000000" pitchFamily="2" charset="-122"/>
              </a:rPr>
              <a:t>大小</a:t>
            </a:r>
            <a:endParaRPr lang="zh-CN" altLang="en-US" sz="2000" smtClean="0">
              <a:latin typeface="宋体" panose="02000500000000000000" pitchFamily="2" charset="-122"/>
            </a:endParaRPr>
          </a:p>
          <a:p>
            <a:pPr lvl="1" eaLnBrk="1" hangingPunct="1">
              <a:spcBef>
                <a:spcPts val="600"/>
              </a:spcBef>
            </a:pPr>
            <a:r>
              <a:rPr lang="en-US" altLang="zh-CN" sz="1800" smtClean="0">
                <a:latin typeface="宋体" panose="02000500000000000000" pitchFamily="2" charset="-122"/>
              </a:rPr>
              <a:t>HP PA8700</a:t>
            </a:r>
            <a:r>
              <a:rPr lang="zh-CN" altLang="en-US" sz="1800" smtClean="0">
                <a:latin typeface="宋体" panose="02000500000000000000" pitchFamily="2" charset="-122"/>
              </a:rPr>
              <a:t>：一级</a:t>
            </a:r>
            <a:r>
              <a:rPr lang="en-US" altLang="zh-CN" sz="1800" smtClean="0">
                <a:latin typeface="宋体" panose="02000500000000000000" pitchFamily="2" charset="-122"/>
              </a:rPr>
              <a:t>Cache</a:t>
            </a:r>
            <a:r>
              <a:rPr lang="zh-CN" altLang="en-US" sz="1800" smtClean="0">
                <a:latin typeface="宋体" panose="02000500000000000000" pitchFamily="2" charset="-122"/>
              </a:rPr>
              <a:t>为</a:t>
            </a:r>
            <a:r>
              <a:rPr lang="en-US" altLang="zh-CN" sz="1800" smtClean="0">
                <a:latin typeface="宋体" panose="02000500000000000000" pitchFamily="2" charset="-122"/>
              </a:rPr>
              <a:t>1MB+1.5MB</a:t>
            </a:r>
            <a:r>
              <a:rPr lang="zh-CN" altLang="en-US" sz="1800" smtClean="0">
                <a:latin typeface="宋体" panose="02000500000000000000" pitchFamily="2" charset="-122"/>
              </a:rPr>
              <a:t>，没有二级</a:t>
            </a:r>
            <a:r>
              <a:rPr lang="en-US" altLang="zh-CN" sz="1800" smtClean="0">
                <a:latin typeface="宋体" panose="02000500000000000000" pitchFamily="2" charset="-122"/>
              </a:rPr>
              <a:t>Cache</a:t>
            </a:r>
            <a:endParaRPr lang="en-US" altLang="zh-CN" sz="1800" smtClean="0">
              <a:latin typeface="宋体" panose="02000500000000000000" pitchFamily="2" charset="-122"/>
            </a:endParaRPr>
          </a:p>
          <a:p>
            <a:pPr lvl="1" eaLnBrk="1" hangingPunct="1">
              <a:spcBef>
                <a:spcPts val="600"/>
              </a:spcBef>
            </a:pPr>
            <a:r>
              <a:rPr lang="zh-CN" altLang="en-US" sz="1800" smtClean="0">
                <a:latin typeface="宋体" panose="02000500000000000000" pitchFamily="2" charset="-122"/>
              </a:rPr>
              <a:t>其他</a:t>
            </a:r>
            <a:r>
              <a:rPr lang="en-US" altLang="zh-CN" sz="1800" smtClean="0">
                <a:latin typeface="宋体" panose="02000500000000000000" pitchFamily="2" charset="-122"/>
              </a:rPr>
              <a:t>RISC</a:t>
            </a:r>
            <a:r>
              <a:rPr lang="zh-CN" altLang="en-US" sz="1800" smtClean="0">
                <a:latin typeface="宋体" panose="02000500000000000000" pitchFamily="2" charset="-122"/>
              </a:rPr>
              <a:t>处理器（ </a:t>
            </a:r>
            <a:r>
              <a:rPr lang="en-US" altLang="zh-CN" sz="1800" smtClean="0">
                <a:latin typeface="宋体" panose="02000500000000000000" pitchFamily="2" charset="-122"/>
              </a:rPr>
              <a:t>Alpha, Power, MIPS, Ultra SPARC</a:t>
            </a:r>
            <a:r>
              <a:rPr lang="zh-CN" altLang="en-US" sz="1800" smtClean="0">
                <a:latin typeface="宋体" panose="02000500000000000000" pitchFamily="2" charset="-122"/>
              </a:rPr>
              <a:t>） </a:t>
            </a:r>
            <a:r>
              <a:rPr lang="en-US" altLang="zh-CN" sz="1800" smtClean="0">
                <a:latin typeface="宋体" panose="02000500000000000000" pitchFamily="2" charset="-122"/>
              </a:rPr>
              <a:t>32/64KB+32/64KB</a:t>
            </a:r>
            <a:endParaRPr lang="en-US" altLang="zh-CN" sz="1800" smtClean="0">
              <a:latin typeface="宋体" panose="02000500000000000000" pitchFamily="2" charset="-122"/>
            </a:endParaRPr>
          </a:p>
          <a:p>
            <a:pPr lvl="1" eaLnBrk="1" hangingPunct="1">
              <a:spcBef>
                <a:spcPts val="600"/>
              </a:spcBef>
            </a:pPr>
            <a:r>
              <a:rPr lang="en-US" altLang="zh-CN" sz="1800" smtClean="0">
                <a:latin typeface="宋体" panose="02000500000000000000" pitchFamily="2" charset="-122"/>
              </a:rPr>
              <a:t>PIV 12Kop Trace cache+8KB</a:t>
            </a:r>
            <a:r>
              <a:rPr lang="zh-CN" altLang="en-US" sz="1800" smtClean="0">
                <a:latin typeface="宋体" panose="02000500000000000000" pitchFamily="2" charset="-122"/>
              </a:rPr>
              <a:t>数据</a:t>
            </a:r>
            <a:r>
              <a:rPr lang="en-US" altLang="zh-CN" sz="1800" smtClean="0">
                <a:latin typeface="宋体" panose="02000500000000000000" pitchFamily="2" charset="-122"/>
              </a:rPr>
              <a:t>Cache</a:t>
            </a:r>
            <a:r>
              <a:rPr lang="zh-CN" altLang="en-US" sz="1800" smtClean="0">
                <a:latin typeface="宋体" panose="02000500000000000000" pitchFamily="2" charset="-122"/>
              </a:rPr>
              <a:t>（</a:t>
            </a:r>
            <a:r>
              <a:rPr lang="en-US" altLang="zh-CN" sz="1800" smtClean="0">
                <a:latin typeface="宋体" panose="02000500000000000000" pitchFamily="2" charset="-122"/>
              </a:rPr>
              <a:t>PIII: 16KB+16KB</a:t>
            </a:r>
            <a:r>
              <a:rPr lang="zh-CN" altLang="en-US" sz="1800" smtClean="0">
                <a:latin typeface="宋体" panose="02000500000000000000" pitchFamily="2" charset="-122"/>
              </a:rPr>
              <a:t>）</a:t>
            </a:r>
            <a:endParaRPr lang="zh-CN" altLang="en-US" sz="1800" smtClean="0">
              <a:latin typeface="宋体" panose="02000500000000000000" pitchFamily="2" charset="-122"/>
            </a:endParaRPr>
          </a:p>
          <a:p>
            <a:pPr lvl="1" eaLnBrk="1" hangingPunct="1">
              <a:spcBef>
                <a:spcPts val="600"/>
              </a:spcBef>
            </a:pPr>
            <a:r>
              <a:rPr lang="zh-CN" altLang="en-US" sz="1800" smtClean="0">
                <a:latin typeface="宋体" panose="02000500000000000000" pitchFamily="2" charset="-122"/>
              </a:rPr>
              <a:t>反映出设计人员的不同取舍</a:t>
            </a:r>
            <a:endParaRPr lang="zh-CN" altLang="en-US" sz="18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noChangeArrowheads="1"/>
          </p:cNvSpPr>
          <p:nvPr>
            <p:ph type="sldNum" sz="quarter" idx="12"/>
          </p:nvPr>
        </p:nvSpPr>
        <p:spPr>
          <a:noFill/>
        </p:spPr>
        <p:txBody>
          <a:bodyPr/>
          <a:lstStyle/>
          <a:p>
            <a:fld id="{BD9EB397-4CEE-4B72-84A2-B900DB74B9F2}" type="slidenum">
              <a:rPr lang="en-US" altLang="zh-CN" smtClean="0"/>
            </a:fld>
            <a:endParaRPr lang="en-US" altLang="zh-CN" smtClean="0"/>
          </a:p>
        </p:txBody>
      </p:sp>
      <p:sp>
        <p:nvSpPr>
          <p:cNvPr id="33795" name="Rectangle 4"/>
          <p:cNvSpPr>
            <a:spLocks noChangeArrowheads="1"/>
          </p:cNvSpPr>
          <p:nvPr/>
        </p:nvSpPr>
        <p:spPr bwMode="auto">
          <a:xfrm>
            <a:off x="1320800" y="166688"/>
            <a:ext cx="9548813" cy="717550"/>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通过增加相联度降低失效率</a:t>
            </a:r>
            <a:endParaRPr lang="zh-CN" altLang="en-US" sz="3200">
              <a:solidFill>
                <a:srgbClr val="FF0000"/>
              </a:solidFill>
              <a:latin typeface="Arial" panose="02080604020202020204" pitchFamily="34" charset="0"/>
              <a:ea typeface="黑体" panose="02000500000000000000" pitchFamily="49" charset="-122"/>
            </a:endParaRPr>
          </a:p>
        </p:txBody>
      </p:sp>
      <p:sp>
        <p:nvSpPr>
          <p:cNvPr id="33796" name="Rectangle 5"/>
          <p:cNvSpPr>
            <a:spLocks noChangeArrowheads="1"/>
          </p:cNvSpPr>
          <p:nvPr/>
        </p:nvSpPr>
        <p:spPr bwMode="auto">
          <a:xfrm>
            <a:off x="184150" y="901700"/>
            <a:ext cx="11726863" cy="3421063"/>
          </a:xfrm>
          <a:prstGeom prst="rect">
            <a:avLst/>
          </a:prstGeom>
          <a:noFill/>
          <a:ln w="12700">
            <a:noFill/>
            <a:miter lim="800000"/>
          </a:ln>
        </p:spPr>
        <p:txBody>
          <a:bodyPr lIns="90488" tIns="44450" rIns="90488" bIns="44450"/>
          <a:lstStyle/>
          <a:p>
            <a:pPr marL="228600" indent="-228600">
              <a:lnSpc>
                <a:spcPct val="150000"/>
              </a:lnSpc>
              <a:spcBef>
                <a:spcPct val="0"/>
              </a:spcBef>
              <a:buFontTx/>
              <a:buChar char="•"/>
              <a:tabLst>
                <a:tab pos="1828800" algn="r"/>
                <a:tab pos="3200400" algn="r"/>
                <a:tab pos="4572000" algn="r"/>
                <a:tab pos="5943600" algn="r"/>
              </a:tabLst>
            </a:pPr>
            <a:r>
              <a:rPr lang="zh-CN" altLang="en-US" sz="2000" b="1">
                <a:latin typeface="宋体" panose="02000500000000000000" pitchFamily="2" charset="-122"/>
              </a:rPr>
              <a:t>增加相联度</a:t>
            </a:r>
            <a:endParaRPr lang="zh-CN" altLang="en-US" sz="2000" b="1">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en-US" altLang="zh-CN" sz="1600" b="1">
                <a:solidFill>
                  <a:schemeClr val="accent2"/>
                </a:solidFill>
                <a:latin typeface="宋体" panose="02000500000000000000" pitchFamily="2" charset="-122"/>
              </a:rPr>
              <a:t>2:1</a:t>
            </a:r>
            <a:r>
              <a:rPr lang="zh-CN" altLang="en-US" sz="1600" b="1">
                <a:solidFill>
                  <a:schemeClr val="accent2"/>
                </a:solidFill>
                <a:latin typeface="宋体" panose="02000500000000000000" pitchFamily="2" charset="-122"/>
              </a:rPr>
              <a:t>规则：大小为</a:t>
            </a:r>
            <a:r>
              <a:rPr lang="en-US" altLang="zh-CN" sz="1600" b="1">
                <a:solidFill>
                  <a:schemeClr val="accent2"/>
                </a:solidFill>
                <a:latin typeface="宋体" panose="02000500000000000000" pitchFamily="2" charset="-122"/>
              </a:rPr>
              <a:t>N</a:t>
            </a:r>
            <a:r>
              <a:rPr lang="zh-CN" altLang="en-US" sz="1600" b="1">
                <a:solidFill>
                  <a:schemeClr val="accent2"/>
                </a:solidFill>
                <a:latin typeface="宋体" panose="02000500000000000000" pitchFamily="2" charset="-122"/>
              </a:rPr>
              <a:t>的直接相联</a:t>
            </a:r>
            <a:r>
              <a:rPr lang="en-US" altLang="zh-CN" sz="1600" b="1">
                <a:solidFill>
                  <a:schemeClr val="accent2"/>
                </a:solidFill>
                <a:latin typeface="宋体" panose="02000500000000000000" pitchFamily="2" charset="-122"/>
              </a:rPr>
              <a:t>Cache</a:t>
            </a:r>
            <a:r>
              <a:rPr lang="zh-CN" altLang="en-US" sz="1600" b="1">
                <a:solidFill>
                  <a:schemeClr val="accent2"/>
                </a:solidFill>
                <a:latin typeface="宋体" panose="02000500000000000000" pitchFamily="2" charset="-122"/>
              </a:rPr>
              <a:t>命中率与大小为</a:t>
            </a:r>
            <a:r>
              <a:rPr lang="en-US" altLang="zh-CN" sz="1600" b="1">
                <a:solidFill>
                  <a:schemeClr val="accent2"/>
                </a:solidFill>
                <a:latin typeface="宋体" panose="02000500000000000000" pitchFamily="2" charset="-122"/>
              </a:rPr>
              <a:t>N/2</a:t>
            </a:r>
            <a:r>
              <a:rPr lang="zh-CN" altLang="en-US" sz="1600" b="1">
                <a:solidFill>
                  <a:schemeClr val="accent2"/>
                </a:solidFill>
                <a:latin typeface="宋体" panose="02000500000000000000" pitchFamily="2" charset="-122"/>
              </a:rPr>
              <a:t>的二路组相联</a:t>
            </a:r>
            <a:r>
              <a:rPr lang="en-US" altLang="zh-CN" sz="1600" b="1">
                <a:solidFill>
                  <a:schemeClr val="accent2"/>
                </a:solidFill>
                <a:latin typeface="宋体" panose="02000500000000000000" pitchFamily="2" charset="-122"/>
              </a:rPr>
              <a:t>Cache</a:t>
            </a:r>
            <a:r>
              <a:rPr lang="zh-CN" altLang="en-US" sz="1600" b="1">
                <a:solidFill>
                  <a:schemeClr val="accent2"/>
                </a:solidFill>
                <a:latin typeface="宋体" panose="02000500000000000000" pitchFamily="2" charset="-122"/>
              </a:rPr>
              <a:t>命中率相当</a:t>
            </a:r>
            <a:endParaRPr lang="zh-CN" altLang="en-US" sz="1600" b="1">
              <a:solidFill>
                <a:schemeClr val="accent2"/>
              </a:solidFill>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600" b="1">
                <a:latin typeface="宋体" panose="02000500000000000000" pitchFamily="2" charset="-122"/>
              </a:rPr>
              <a:t>八路组相联的效果已经与全相联的失效率相差很小</a:t>
            </a:r>
            <a:endParaRPr lang="zh-CN" altLang="en-US" sz="1600" b="1">
              <a:latin typeface="宋体" panose="02000500000000000000" pitchFamily="2" charset="-122"/>
            </a:endParaRPr>
          </a:p>
          <a:p>
            <a:pPr marL="228600" indent="-228600">
              <a:lnSpc>
                <a:spcPct val="150000"/>
              </a:lnSpc>
              <a:spcBef>
                <a:spcPct val="0"/>
              </a:spcBef>
              <a:buFontTx/>
              <a:buChar char="•"/>
              <a:tabLst>
                <a:tab pos="1828800" algn="r"/>
                <a:tab pos="3200400" algn="r"/>
                <a:tab pos="4572000" algn="r"/>
                <a:tab pos="5943600" algn="r"/>
              </a:tabLst>
            </a:pPr>
            <a:r>
              <a:rPr lang="zh-CN" altLang="en-US" sz="2000" b="1">
                <a:latin typeface="宋体" panose="02000500000000000000" pitchFamily="2" charset="-122"/>
              </a:rPr>
              <a:t>增加相联度会增加时钟周期延迟</a:t>
            </a:r>
            <a:endParaRPr lang="zh-CN" altLang="en-US" sz="2000" b="1">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600" b="1">
                <a:latin typeface="宋体" panose="02000500000000000000" pitchFamily="2" charset="-122"/>
              </a:rPr>
              <a:t>例如，直接相连时钟周期为</a:t>
            </a:r>
            <a:r>
              <a:rPr lang="en-US" altLang="zh-CN" sz="1600" b="1">
                <a:latin typeface="宋体" panose="02000500000000000000" pitchFamily="2" charset="-122"/>
              </a:rPr>
              <a:t>1ns</a:t>
            </a:r>
            <a:r>
              <a:rPr lang="zh-CN" altLang="en-US" sz="1600" b="1">
                <a:latin typeface="宋体" panose="02000500000000000000" pitchFamily="2" charset="-122"/>
              </a:rPr>
              <a:t>，</a:t>
            </a:r>
            <a:r>
              <a:rPr lang="en-US" altLang="zh-CN" sz="1600" b="1">
                <a:latin typeface="宋体" panose="02000500000000000000" pitchFamily="2" charset="-122"/>
              </a:rPr>
              <a:t>2</a:t>
            </a:r>
            <a:r>
              <a:rPr lang="zh-CN" altLang="en-US" sz="1600" b="1">
                <a:latin typeface="宋体" panose="02000500000000000000" pitchFamily="2" charset="-122"/>
              </a:rPr>
              <a:t>路组相联为</a:t>
            </a:r>
            <a:r>
              <a:rPr lang="en-US" altLang="zh-CN" sz="1600" b="1">
                <a:latin typeface="宋体" panose="02000500000000000000" pitchFamily="2" charset="-122"/>
              </a:rPr>
              <a:t>1.36ns</a:t>
            </a:r>
            <a:r>
              <a:rPr lang="zh-CN" altLang="en-US" sz="1600" b="1">
                <a:latin typeface="宋体" panose="02000500000000000000" pitchFamily="2" charset="-122"/>
              </a:rPr>
              <a:t>，</a:t>
            </a:r>
            <a:r>
              <a:rPr lang="en-US" altLang="zh-CN" sz="1600" b="1">
                <a:latin typeface="宋体" panose="02000500000000000000" pitchFamily="2" charset="-122"/>
              </a:rPr>
              <a:t>4</a:t>
            </a:r>
            <a:r>
              <a:rPr lang="zh-CN" altLang="en-US" sz="1600" b="1">
                <a:latin typeface="宋体" panose="02000500000000000000" pitchFamily="2" charset="-122"/>
              </a:rPr>
              <a:t>路组相联为</a:t>
            </a:r>
            <a:r>
              <a:rPr lang="en-US" altLang="zh-CN" sz="1600" b="1">
                <a:latin typeface="宋体" panose="02000500000000000000" pitchFamily="2" charset="-122"/>
              </a:rPr>
              <a:t>1.44ns</a:t>
            </a:r>
            <a:r>
              <a:rPr lang="zh-CN" altLang="en-US" sz="1600" b="1">
                <a:latin typeface="宋体" panose="02000500000000000000" pitchFamily="2" charset="-122"/>
              </a:rPr>
              <a:t>，</a:t>
            </a:r>
            <a:r>
              <a:rPr lang="en-US" altLang="zh-CN" sz="1600" b="1">
                <a:latin typeface="宋体" panose="02000500000000000000" pitchFamily="2" charset="-122"/>
              </a:rPr>
              <a:t>8</a:t>
            </a:r>
            <a:r>
              <a:rPr lang="zh-CN" altLang="en-US" sz="1600" b="1">
                <a:latin typeface="宋体" panose="02000500000000000000" pitchFamily="2" charset="-122"/>
              </a:rPr>
              <a:t>路组相联为</a:t>
            </a:r>
            <a:r>
              <a:rPr lang="en-US" altLang="zh-CN" sz="1600" b="1">
                <a:latin typeface="宋体" panose="02000500000000000000" pitchFamily="2" charset="-122"/>
              </a:rPr>
              <a:t>1.52ns</a:t>
            </a:r>
            <a:r>
              <a:rPr lang="zh-CN" altLang="en-US" sz="1600" b="1">
                <a:latin typeface="宋体" panose="02000500000000000000" pitchFamily="2" charset="-122"/>
              </a:rPr>
              <a:t>，失效延迟为</a:t>
            </a:r>
            <a:r>
              <a:rPr lang="en-US" altLang="zh-CN" sz="1600" b="1">
                <a:latin typeface="宋体" panose="02000500000000000000" pitchFamily="2" charset="-122"/>
              </a:rPr>
              <a:t>25</a:t>
            </a:r>
            <a:r>
              <a:rPr lang="zh-CN" altLang="en-US" sz="1600" b="1">
                <a:latin typeface="宋体" panose="02000500000000000000" pitchFamily="2" charset="-122"/>
              </a:rPr>
              <a:t>时钟周期</a:t>
            </a:r>
            <a:endParaRPr lang="zh-CN" altLang="en-US" sz="1600" b="1">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en-US" altLang="zh-CN" sz="1600" b="1">
                <a:latin typeface="宋体" panose="02000500000000000000" pitchFamily="2" charset="-122"/>
              </a:rPr>
              <a:t>Cache</a:t>
            </a:r>
            <a:r>
              <a:rPr lang="zh-CN" altLang="en-US" sz="1600" b="1">
                <a:latin typeface="宋体" panose="02000500000000000000" pitchFamily="2" charset="-122"/>
              </a:rPr>
              <a:t>访问可能是整个处理器的关键路径</a:t>
            </a:r>
            <a:endParaRPr lang="zh-CN" altLang="en-US" sz="1600" b="1">
              <a:latin typeface="宋体" panose="02000500000000000000" pitchFamily="2" charset="-122"/>
            </a:endParaRPr>
          </a:p>
        </p:txBody>
      </p:sp>
      <p:graphicFrame>
        <p:nvGraphicFramePr>
          <p:cNvPr id="32773" name="表格 32772"/>
          <p:cNvGraphicFramePr>
            <a:graphicFrameLocks noGrp="1"/>
          </p:cNvGraphicFramePr>
          <p:nvPr/>
        </p:nvGraphicFramePr>
        <p:xfrm>
          <a:off x="1874838" y="4362450"/>
          <a:ext cx="8380910" cy="2440099"/>
        </p:xfrm>
        <a:graphic>
          <a:graphicData uri="http://schemas.openxmlformats.org/drawingml/2006/table">
            <a:tbl>
              <a:tblPr/>
              <a:tblGrid>
                <a:gridCol w="1676182"/>
                <a:gridCol w="1678299"/>
                <a:gridCol w="1671949"/>
                <a:gridCol w="1678298"/>
                <a:gridCol w="1676182"/>
              </a:tblGrid>
              <a:tr h="271463">
                <a:tc rowSpan="2">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Cache</a:t>
                      </a:r>
                      <a:r>
                        <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rPr>
                        <a:t>容量</a:t>
                      </a:r>
                      <a:endPar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rPr>
                        <a:t>（</a:t>
                      </a: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KB</a:t>
                      </a:r>
                      <a:r>
                        <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rPr>
                        <a:t>）</a:t>
                      </a:r>
                      <a:endPar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rPr>
                        <a:t>相联度</a:t>
                      </a:r>
                      <a:endParaRPr kumimoji="0"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r h="269875">
                <a:tc vMerge="1">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2</a:t>
                      </a:r>
                      <a:endPar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4</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3.44</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3.25</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3.22</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3.28</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8</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2.69</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2.58</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2.55</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2.62</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16</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2.23</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2.40</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2.46</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2.53</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32</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2.06</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2.30</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2.37</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2.45</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64</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1.92</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2.14</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2.18</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2.25</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128</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1.52</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1.84</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1.92</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2.00</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256</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1.32</a:t>
                      </a:r>
                      <a:endPar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1.66</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1.74</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1.82</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endParaRPr>
                    </a:p>
                  </a:txBody>
                  <a:tcPr marL="47994" marR="47994"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noChangeArrowheads="1"/>
          </p:cNvSpPr>
          <p:nvPr>
            <p:ph type="sldNum" sz="quarter" idx="12"/>
          </p:nvPr>
        </p:nvSpPr>
        <p:spPr>
          <a:noFill/>
        </p:spPr>
        <p:txBody>
          <a:bodyPr/>
          <a:lstStyle/>
          <a:p>
            <a:fld id="{98DEE5B8-A655-409E-B616-31A6E0307FF0}" type="slidenum">
              <a:rPr lang="en-US" altLang="zh-CN" smtClean="0">
                <a:latin typeface="宋体" panose="02000500000000000000" pitchFamily="2" charset="-122"/>
              </a:rPr>
            </a:fld>
            <a:endParaRPr lang="en-US" altLang="zh-CN" smtClean="0">
              <a:latin typeface="宋体" panose="02000500000000000000" pitchFamily="2" charset="-122"/>
            </a:endParaRPr>
          </a:p>
        </p:txBody>
      </p:sp>
      <p:sp>
        <p:nvSpPr>
          <p:cNvPr id="34819" name="Rectangle 4"/>
          <p:cNvSpPr>
            <a:spLocks noChangeArrowheads="1"/>
          </p:cNvSpPr>
          <p:nvPr/>
        </p:nvSpPr>
        <p:spPr bwMode="auto">
          <a:xfrm>
            <a:off x="804863" y="98425"/>
            <a:ext cx="10439400" cy="719138"/>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通过“路猜测”和“伪相联”提高命中率</a:t>
            </a:r>
            <a:endParaRPr lang="zh-CN" altLang="en-US" sz="3200">
              <a:solidFill>
                <a:srgbClr val="FF0000"/>
              </a:solidFill>
              <a:latin typeface="Arial" panose="02080604020202020204" pitchFamily="34" charset="0"/>
              <a:ea typeface="黑体" panose="02000500000000000000" pitchFamily="49" charset="-122"/>
            </a:endParaRPr>
          </a:p>
        </p:txBody>
      </p:sp>
      <p:sp>
        <p:nvSpPr>
          <p:cNvPr id="34820" name="Rectangle 5"/>
          <p:cNvSpPr>
            <a:spLocks noChangeArrowheads="1"/>
          </p:cNvSpPr>
          <p:nvPr/>
        </p:nvSpPr>
        <p:spPr bwMode="auto">
          <a:xfrm>
            <a:off x="444500" y="962025"/>
            <a:ext cx="11682413" cy="3894138"/>
          </a:xfrm>
          <a:prstGeom prst="rect">
            <a:avLst/>
          </a:prstGeom>
          <a:noFill/>
          <a:ln w="12700">
            <a:noFill/>
            <a:miter lim="800000"/>
          </a:ln>
        </p:spPr>
        <p:txBody>
          <a:bodyPr lIns="90488" tIns="44450" rIns="90488" bIns="44450"/>
          <a:lstStyle/>
          <a:p>
            <a:pPr marL="228600" indent="-228600">
              <a:lnSpc>
                <a:spcPct val="150000"/>
              </a:lnSpc>
              <a:spcBef>
                <a:spcPct val="0"/>
              </a:spcBef>
              <a:buFontTx/>
              <a:buChar char="•"/>
              <a:tabLst>
                <a:tab pos="1828800" algn="r"/>
                <a:tab pos="3200400" algn="r"/>
                <a:tab pos="4572000" algn="r"/>
                <a:tab pos="5943600" algn="r"/>
              </a:tabLst>
            </a:pPr>
            <a:r>
              <a:rPr lang="zh-CN" altLang="en-US" sz="2000" b="1" dirty="0">
                <a:solidFill>
                  <a:srgbClr val="FF0000"/>
                </a:solidFill>
                <a:latin typeface="宋体" panose="02000500000000000000" pitchFamily="2" charset="-122"/>
              </a:rPr>
              <a:t>结合直接相联访问时间短和组相联命中率高的优点</a:t>
            </a:r>
            <a:endParaRPr lang="zh-CN" altLang="en-US" sz="2000" b="1" dirty="0">
              <a:solidFill>
                <a:srgbClr val="FF0000"/>
              </a:solidFill>
              <a:latin typeface="宋体" panose="02000500000000000000" pitchFamily="2" charset="-122"/>
            </a:endParaRPr>
          </a:p>
          <a:p>
            <a:pPr marL="228600" indent="-228600">
              <a:lnSpc>
                <a:spcPct val="150000"/>
              </a:lnSpc>
              <a:spcBef>
                <a:spcPct val="0"/>
              </a:spcBef>
              <a:buFontTx/>
              <a:buChar char="•"/>
              <a:tabLst>
                <a:tab pos="1828800" algn="r"/>
                <a:tab pos="3200400" algn="r"/>
                <a:tab pos="4572000" algn="r"/>
                <a:tab pos="5943600" algn="r"/>
              </a:tabLst>
            </a:pPr>
            <a:r>
              <a:rPr lang="zh-CN" altLang="en-US" sz="2000" b="1" dirty="0">
                <a:latin typeface="宋体" panose="02000500000000000000" pitchFamily="2" charset="-122"/>
              </a:rPr>
              <a:t>在多路相联的结构中，每次</a:t>
            </a:r>
            <a:r>
              <a:rPr lang="en-US" altLang="zh-CN" sz="2000" b="1" dirty="0">
                <a:latin typeface="宋体" panose="02000500000000000000" pitchFamily="2" charset="-122"/>
              </a:rPr>
              <a:t>Cache</a:t>
            </a:r>
            <a:r>
              <a:rPr lang="zh-CN" altLang="en-US" sz="2000" b="1" dirty="0">
                <a:latin typeface="宋体" panose="02000500000000000000" pitchFamily="2" charset="-122"/>
              </a:rPr>
              <a:t>访问只检查一路，如果不命中再检查其他路</a:t>
            </a:r>
            <a:endParaRPr lang="zh-CN" altLang="en-US" sz="2000" b="1" dirty="0">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800" b="1" dirty="0">
                <a:latin typeface="宋体" panose="02000500000000000000" pitchFamily="2" charset="-122"/>
              </a:rPr>
              <a:t>两种命中：</a:t>
            </a:r>
            <a:r>
              <a:rPr lang="en-US" altLang="zh-CN" sz="1800" b="1" dirty="0">
                <a:latin typeface="宋体" panose="02000500000000000000" pitchFamily="2" charset="-122"/>
              </a:rPr>
              <a:t>hit</a:t>
            </a:r>
            <a:r>
              <a:rPr lang="zh-CN" altLang="en-US" sz="1800" b="1" dirty="0">
                <a:latin typeface="宋体" panose="02000500000000000000" pitchFamily="2" charset="-122"/>
              </a:rPr>
              <a:t>和</a:t>
            </a:r>
            <a:r>
              <a:rPr lang="en-US" altLang="zh-CN" sz="1800" b="1" dirty="0" err="1">
                <a:latin typeface="宋体" panose="02000500000000000000" pitchFamily="2" charset="-122"/>
              </a:rPr>
              <a:t>pseudohit</a:t>
            </a:r>
            <a:endParaRPr lang="en-US" altLang="zh-CN" sz="1800" b="1" dirty="0">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800" b="1" dirty="0">
                <a:latin typeface="宋体" panose="02000500000000000000" pitchFamily="2" charset="-122"/>
              </a:rPr>
              <a:t>直接判断第</a:t>
            </a:r>
            <a:r>
              <a:rPr lang="en-US" altLang="zh-CN" sz="1800" b="1" dirty="0">
                <a:latin typeface="宋体" panose="02000500000000000000" pitchFamily="2" charset="-122"/>
              </a:rPr>
              <a:t>0</a:t>
            </a:r>
            <a:r>
              <a:rPr lang="zh-CN" altLang="en-US" sz="1800" b="1" dirty="0">
                <a:latin typeface="宋体" panose="02000500000000000000" pitchFamily="2" charset="-122"/>
              </a:rPr>
              <a:t>路，或进行</a:t>
            </a:r>
            <a:r>
              <a:rPr lang="en-US" altLang="zh-CN" sz="1800" b="1" dirty="0">
                <a:latin typeface="宋体" panose="02000500000000000000" pitchFamily="2" charset="-122"/>
              </a:rPr>
              <a:t>Way-Prediction</a:t>
            </a:r>
            <a:r>
              <a:rPr lang="zh-CN" altLang="en-US" sz="1800" b="1" dirty="0">
                <a:latin typeface="宋体" panose="02000500000000000000" pitchFamily="2" charset="-122"/>
              </a:rPr>
              <a:t>：</a:t>
            </a:r>
            <a:r>
              <a:rPr lang="en-US" altLang="zh-CN" sz="1800" b="1" dirty="0">
                <a:latin typeface="宋体" panose="02000500000000000000" pitchFamily="2" charset="-122"/>
              </a:rPr>
              <a:t>Alpha 21264 </a:t>
            </a:r>
            <a:r>
              <a:rPr lang="en-US" altLang="zh-CN" sz="1800" b="1" dirty="0" err="1">
                <a:latin typeface="宋体" panose="02000500000000000000" pitchFamily="2" charset="-122"/>
              </a:rPr>
              <a:t>ICache</a:t>
            </a:r>
            <a:r>
              <a:rPr lang="zh-CN" altLang="en-US" sz="1800" b="1" dirty="0">
                <a:latin typeface="宋体" panose="02000500000000000000" pitchFamily="2" charset="-122"/>
              </a:rPr>
              <a:t>路猜测命中率</a:t>
            </a:r>
            <a:r>
              <a:rPr lang="en-US" altLang="zh-CN" sz="1800" b="1" dirty="0">
                <a:latin typeface="宋体" panose="02000500000000000000" pitchFamily="2" charset="-122"/>
              </a:rPr>
              <a:t>85%</a:t>
            </a:r>
            <a:r>
              <a:rPr lang="zh-CN" altLang="en-US" sz="1800" b="1" dirty="0">
                <a:latin typeface="宋体" panose="02000500000000000000" pitchFamily="2" charset="-122"/>
              </a:rPr>
              <a:t>，</a:t>
            </a:r>
            <a:r>
              <a:rPr lang="en-US" altLang="zh-CN" sz="1800" b="1" dirty="0">
                <a:latin typeface="宋体" panose="02000500000000000000" pitchFamily="2" charset="-122"/>
              </a:rPr>
              <a:t>hit</a:t>
            </a:r>
            <a:r>
              <a:rPr lang="zh-CN" altLang="en-US" sz="1800" b="1" dirty="0">
                <a:latin typeface="宋体" panose="02000500000000000000" pitchFamily="2" charset="-122"/>
              </a:rPr>
              <a:t>时间为</a:t>
            </a:r>
            <a:r>
              <a:rPr lang="en-US" altLang="zh-CN" sz="1800" b="1" dirty="0">
                <a:latin typeface="宋体" panose="02000500000000000000" pitchFamily="2" charset="-122"/>
              </a:rPr>
              <a:t>1</a:t>
            </a:r>
            <a:r>
              <a:rPr lang="zh-CN" altLang="en-US" sz="1800" b="1" dirty="0">
                <a:latin typeface="宋体" panose="02000500000000000000" pitchFamily="2" charset="-122"/>
              </a:rPr>
              <a:t>拍，</a:t>
            </a:r>
            <a:r>
              <a:rPr lang="en-US" altLang="zh-CN" sz="1800" b="1" dirty="0" err="1">
                <a:latin typeface="宋体" panose="02000500000000000000" pitchFamily="2" charset="-122"/>
              </a:rPr>
              <a:t>pseudohit</a:t>
            </a:r>
            <a:r>
              <a:rPr lang="zh-CN" altLang="en-US" sz="1800" b="1" dirty="0">
                <a:latin typeface="宋体" panose="02000500000000000000" pitchFamily="2" charset="-122"/>
              </a:rPr>
              <a:t>时间</a:t>
            </a:r>
            <a:r>
              <a:rPr lang="en-US" altLang="zh-CN" sz="1800" b="1" dirty="0">
                <a:latin typeface="宋体" panose="02000500000000000000" pitchFamily="2" charset="-122"/>
              </a:rPr>
              <a:t>3</a:t>
            </a:r>
            <a:r>
              <a:rPr lang="zh-CN" altLang="en-US" sz="1800" b="1" dirty="0">
                <a:latin typeface="宋体" panose="02000500000000000000" pitchFamily="2" charset="-122"/>
              </a:rPr>
              <a:t>拍</a:t>
            </a:r>
            <a:endParaRPr lang="zh-CN" altLang="en-US" sz="1800" b="1" dirty="0">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800" b="1" dirty="0">
                <a:latin typeface="宋体" panose="02000500000000000000" pitchFamily="2" charset="-122"/>
              </a:rPr>
              <a:t>不用并行访问每一路，可以大幅度降低功耗</a:t>
            </a:r>
            <a:endParaRPr lang="zh-CN" altLang="en-US" sz="1400" b="1" dirty="0">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zh-CN" altLang="en-US" sz="1800" b="1" dirty="0">
                <a:latin typeface="宋体" panose="02000500000000000000" pitchFamily="2" charset="-122"/>
              </a:rPr>
              <a:t>在片外或</a:t>
            </a:r>
            <a:r>
              <a:rPr lang="en-US" altLang="zh-CN" sz="1800" b="1" dirty="0">
                <a:latin typeface="宋体" panose="02000500000000000000" pitchFamily="2" charset="-122"/>
              </a:rPr>
              <a:t>L2</a:t>
            </a:r>
            <a:r>
              <a:rPr lang="zh-CN" altLang="en-US" sz="1800" b="1" dirty="0">
                <a:latin typeface="宋体" panose="02000500000000000000" pitchFamily="2" charset="-122"/>
              </a:rPr>
              <a:t>以下</a:t>
            </a:r>
            <a:r>
              <a:rPr lang="en-US" altLang="zh-CN" sz="1800" b="1" dirty="0">
                <a:latin typeface="宋体" panose="02000500000000000000" pitchFamily="2" charset="-122"/>
              </a:rPr>
              <a:t>cache</a:t>
            </a:r>
            <a:r>
              <a:rPr lang="zh-CN" altLang="en-US" sz="1800" b="1" dirty="0">
                <a:latin typeface="宋体" panose="02000500000000000000" pitchFamily="2" charset="-122"/>
              </a:rPr>
              <a:t>中用得较多，如 </a:t>
            </a:r>
            <a:r>
              <a:rPr lang="en-US" altLang="zh-CN" sz="1800" b="1" dirty="0">
                <a:latin typeface="宋体" panose="02000500000000000000" pitchFamily="2" charset="-122"/>
              </a:rPr>
              <a:t>MIPS R10000</a:t>
            </a:r>
            <a:r>
              <a:rPr lang="zh-CN" altLang="en-US" sz="1800" b="1" dirty="0">
                <a:latin typeface="宋体" panose="02000500000000000000" pitchFamily="2" charset="-122"/>
              </a:rPr>
              <a:t>、</a:t>
            </a:r>
            <a:r>
              <a:rPr lang="en-US" altLang="zh-CN" sz="1800" b="1" dirty="0" err="1">
                <a:latin typeface="宋体" panose="02000500000000000000" pitchFamily="2" charset="-122"/>
              </a:rPr>
              <a:t>UltraSPARC</a:t>
            </a:r>
            <a:r>
              <a:rPr lang="zh-CN" altLang="en-US" sz="1800" b="1" dirty="0">
                <a:latin typeface="宋体" panose="02000500000000000000" pitchFamily="2" charset="-122"/>
              </a:rPr>
              <a:t>的</a:t>
            </a:r>
            <a:r>
              <a:rPr lang="en-US" altLang="zh-CN" sz="1800" b="1" dirty="0">
                <a:latin typeface="宋体" panose="02000500000000000000" pitchFamily="2" charset="-122"/>
              </a:rPr>
              <a:t>L2</a:t>
            </a:r>
            <a:endParaRPr lang="en-US" altLang="zh-CN" sz="1800" b="1" dirty="0">
              <a:latin typeface="宋体" panose="02000500000000000000" pitchFamily="2" charset="-122"/>
            </a:endParaRPr>
          </a:p>
        </p:txBody>
      </p:sp>
      <p:sp>
        <p:nvSpPr>
          <p:cNvPr id="34821" name="Rectangle 6"/>
          <p:cNvSpPr>
            <a:spLocks noChangeArrowheads="1"/>
          </p:cNvSpPr>
          <p:nvPr/>
        </p:nvSpPr>
        <p:spPr bwMode="auto">
          <a:xfrm>
            <a:off x="1604963" y="4999038"/>
            <a:ext cx="1117600"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a:latin typeface="宋体" panose="02000500000000000000" pitchFamily="2" charset="-122"/>
              </a:rPr>
              <a:t>Hit Time</a:t>
            </a:r>
            <a:endParaRPr lang="en-US" altLang="zh-CN" sz="1800" b="1">
              <a:latin typeface="宋体" panose="02000500000000000000" pitchFamily="2" charset="-122"/>
            </a:endParaRPr>
          </a:p>
        </p:txBody>
      </p:sp>
      <p:sp>
        <p:nvSpPr>
          <p:cNvPr id="34822" name="Rectangle 7"/>
          <p:cNvSpPr>
            <a:spLocks noChangeArrowheads="1"/>
          </p:cNvSpPr>
          <p:nvPr/>
        </p:nvSpPr>
        <p:spPr bwMode="auto">
          <a:xfrm>
            <a:off x="1528763" y="5551488"/>
            <a:ext cx="1936750"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a:latin typeface="宋体" panose="02000500000000000000" pitchFamily="2" charset="-122"/>
              </a:rPr>
              <a:t>Pseudo Hit Time</a:t>
            </a:r>
            <a:endParaRPr lang="en-US" altLang="zh-CN" sz="1800" b="1">
              <a:latin typeface="宋体" panose="02000500000000000000" pitchFamily="2" charset="-122"/>
            </a:endParaRPr>
          </a:p>
        </p:txBody>
      </p:sp>
      <p:sp>
        <p:nvSpPr>
          <p:cNvPr id="34823" name="Rectangle 8"/>
          <p:cNvSpPr>
            <a:spLocks noChangeArrowheads="1"/>
          </p:cNvSpPr>
          <p:nvPr/>
        </p:nvSpPr>
        <p:spPr bwMode="auto">
          <a:xfrm>
            <a:off x="6251575" y="5513388"/>
            <a:ext cx="1587500"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a:latin typeface="宋体" panose="02000500000000000000" pitchFamily="2" charset="-122"/>
              </a:rPr>
              <a:t>Miss Penalty</a:t>
            </a:r>
            <a:endParaRPr lang="en-US" altLang="zh-CN" sz="1800" b="1">
              <a:latin typeface="宋体" panose="02000500000000000000" pitchFamily="2" charset="-122"/>
            </a:endParaRPr>
          </a:p>
        </p:txBody>
      </p:sp>
      <p:sp>
        <p:nvSpPr>
          <p:cNvPr id="34824" name="Rectangle 9"/>
          <p:cNvSpPr>
            <a:spLocks noChangeArrowheads="1"/>
          </p:cNvSpPr>
          <p:nvPr/>
        </p:nvSpPr>
        <p:spPr bwMode="auto">
          <a:xfrm>
            <a:off x="5667375" y="6408738"/>
            <a:ext cx="650875"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a:latin typeface="宋体" panose="02000500000000000000" pitchFamily="2" charset="-122"/>
              </a:rPr>
              <a:t>Time</a:t>
            </a:r>
            <a:endParaRPr lang="en-US" altLang="zh-CN" sz="1800" b="1">
              <a:latin typeface="宋体" panose="02000500000000000000" pitchFamily="2" charset="-122"/>
            </a:endParaRPr>
          </a:p>
        </p:txBody>
      </p:sp>
      <p:sp>
        <p:nvSpPr>
          <p:cNvPr id="34825" name="Line 10"/>
          <p:cNvSpPr>
            <a:spLocks noChangeShapeType="1"/>
          </p:cNvSpPr>
          <p:nvPr/>
        </p:nvSpPr>
        <p:spPr bwMode="auto">
          <a:xfrm>
            <a:off x="1473200" y="5461000"/>
            <a:ext cx="1651000" cy="0"/>
          </a:xfrm>
          <a:prstGeom prst="line">
            <a:avLst/>
          </a:prstGeom>
          <a:noFill/>
          <a:ln w="25400">
            <a:solidFill>
              <a:schemeClr val="tx1"/>
            </a:solidFill>
            <a:round/>
            <a:headEnd type="triangle" w="med" len="med"/>
            <a:tailEnd type="triangle" w="med" len="med"/>
          </a:ln>
        </p:spPr>
        <p:txBody>
          <a:bodyPr/>
          <a:lstStyle/>
          <a:p>
            <a:endParaRPr lang="zh-CN" altLang="en-US"/>
          </a:p>
        </p:txBody>
      </p:sp>
      <p:sp>
        <p:nvSpPr>
          <p:cNvPr id="34826" name="Line 11"/>
          <p:cNvSpPr>
            <a:spLocks noChangeShapeType="1"/>
          </p:cNvSpPr>
          <p:nvPr/>
        </p:nvSpPr>
        <p:spPr bwMode="auto">
          <a:xfrm>
            <a:off x="1422400" y="5937250"/>
            <a:ext cx="2895600" cy="0"/>
          </a:xfrm>
          <a:prstGeom prst="line">
            <a:avLst/>
          </a:prstGeom>
          <a:noFill/>
          <a:ln w="25400">
            <a:solidFill>
              <a:srgbClr val="FF0000"/>
            </a:solidFill>
            <a:round/>
            <a:headEnd type="triangle" w="med" len="med"/>
            <a:tailEnd type="triangle" w="med" len="med"/>
          </a:ln>
        </p:spPr>
        <p:txBody>
          <a:bodyPr/>
          <a:lstStyle/>
          <a:p>
            <a:endParaRPr lang="zh-CN" altLang="en-US"/>
          </a:p>
        </p:txBody>
      </p:sp>
      <p:sp>
        <p:nvSpPr>
          <p:cNvPr id="34827" name="Line 12"/>
          <p:cNvSpPr>
            <a:spLocks noChangeShapeType="1"/>
          </p:cNvSpPr>
          <p:nvPr/>
        </p:nvSpPr>
        <p:spPr bwMode="auto">
          <a:xfrm>
            <a:off x="4267200" y="5937250"/>
            <a:ext cx="6424613" cy="0"/>
          </a:xfrm>
          <a:prstGeom prst="line">
            <a:avLst/>
          </a:prstGeom>
          <a:noFill/>
          <a:ln w="25400">
            <a:solidFill>
              <a:schemeClr val="tx1"/>
            </a:solidFill>
            <a:round/>
            <a:headEnd type="triangle" w="med" len="med"/>
            <a:tailEnd type="triangle" w="med" len="med"/>
          </a:ln>
        </p:spPr>
        <p:txBody>
          <a:bodyPr/>
          <a:lstStyle/>
          <a:p>
            <a:endParaRPr lang="zh-CN" altLang="en-US"/>
          </a:p>
        </p:txBody>
      </p:sp>
      <p:sp>
        <p:nvSpPr>
          <p:cNvPr id="34828" name="Line 13"/>
          <p:cNvSpPr>
            <a:spLocks noChangeShapeType="1"/>
          </p:cNvSpPr>
          <p:nvPr/>
        </p:nvSpPr>
        <p:spPr bwMode="auto">
          <a:xfrm>
            <a:off x="1422400" y="6318250"/>
            <a:ext cx="9802813" cy="0"/>
          </a:xfrm>
          <a:prstGeom prst="line">
            <a:avLst/>
          </a:prstGeom>
          <a:noFill/>
          <a:ln w="25400">
            <a:solidFill>
              <a:schemeClr val="tx1"/>
            </a:solidFill>
            <a:round/>
            <a:headEnd type="triangle" w="med" len="med"/>
            <a:tailEnd type="triangle" w="med" len="med"/>
          </a:ln>
        </p:spPr>
        <p:txBody>
          <a:bodyPr/>
          <a:lstStyle/>
          <a:p>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noChangeArrowheads="1"/>
          </p:cNvSpPr>
          <p:nvPr>
            <p:ph type="sldNum" sz="quarter" idx="12"/>
          </p:nvPr>
        </p:nvSpPr>
        <p:spPr>
          <a:noFill/>
        </p:spPr>
        <p:txBody>
          <a:bodyPr/>
          <a:lstStyle/>
          <a:p>
            <a:fld id="{FCA50948-2BDF-4A2D-8987-0A68069D31FA}" type="slidenum">
              <a:rPr lang="en-US" altLang="zh-CN" smtClean="0"/>
            </a:fld>
            <a:endParaRPr lang="en-US" altLang="zh-CN" smtClean="0"/>
          </a:p>
        </p:txBody>
      </p:sp>
      <p:sp>
        <p:nvSpPr>
          <p:cNvPr id="35843" name="Rectangle 4"/>
          <p:cNvSpPr>
            <a:spLocks noChangeArrowheads="1"/>
          </p:cNvSpPr>
          <p:nvPr/>
        </p:nvSpPr>
        <p:spPr bwMode="auto">
          <a:xfrm>
            <a:off x="1250950" y="158750"/>
            <a:ext cx="9548813" cy="665163"/>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通过软件优化降低失效率</a:t>
            </a:r>
            <a:endParaRPr lang="zh-CN" altLang="en-US" sz="3200">
              <a:solidFill>
                <a:srgbClr val="FF0000"/>
              </a:solidFill>
              <a:latin typeface="Arial" panose="02080604020202020204" pitchFamily="34" charset="0"/>
              <a:ea typeface="黑体" panose="02000500000000000000" pitchFamily="49" charset="-122"/>
            </a:endParaRPr>
          </a:p>
        </p:txBody>
      </p:sp>
      <p:sp>
        <p:nvSpPr>
          <p:cNvPr id="35844" name="Rectangle 5"/>
          <p:cNvSpPr>
            <a:spLocks noChangeArrowheads="1"/>
          </p:cNvSpPr>
          <p:nvPr/>
        </p:nvSpPr>
        <p:spPr bwMode="auto">
          <a:xfrm>
            <a:off x="692150" y="1379538"/>
            <a:ext cx="11034713" cy="4983162"/>
          </a:xfrm>
          <a:prstGeom prst="rect">
            <a:avLst/>
          </a:prstGeom>
          <a:noFill/>
          <a:ln w="12700">
            <a:noFill/>
            <a:miter lim="800000"/>
          </a:ln>
        </p:spPr>
        <p:txBody>
          <a:bodyPr lIns="90488" tIns="44450" rIns="90488" bIns="44450"/>
          <a:lstStyle/>
          <a:p>
            <a:pPr marL="342900" indent="-342900">
              <a:lnSpc>
                <a:spcPct val="150000"/>
              </a:lnSpc>
              <a:spcBef>
                <a:spcPct val="0"/>
              </a:spcBef>
              <a:buFontTx/>
              <a:buChar char="•"/>
            </a:pPr>
            <a:r>
              <a:rPr lang="en-US" altLang="zh-CN" sz="2000" b="1">
                <a:latin typeface="宋体" panose="02000500000000000000" pitchFamily="2" charset="-122"/>
              </a:rPr>
              <a:t>McFarling [1989]</a:t>
            </a:r>
            <a:r>
              <a:rPr lang="zh-CN" altLang="en-US" sz="2000" b="1">
                <a:latin typeface="宋体" panose="02000500000000000000" pitchFamily="2" charset="-122"/>
              </a:rPr>
              <a:t>在</a:t>
            </a:r>
            <a:r>
              <a:rPr lang="en-US" altLang="zh-CN" sz="2000" b="1">
                <a:latin typeface="宋体" panose="02000500000000000000" pitchFamily="2" charset="-122"/>
              </a:rPr>
              <a:t>8KB</a:t>
            </a:r>
            <a:r>
              <a:rPr lang="zh-CN" altLang="en-US" sz="2000" b="1">
                <a:latin typeface="宋体" panose="02000500000000000000" pitchFamily="2" charset="-122"/>
              </a:rPr>
              <a:t>直接相联的</a:t>
            </a:r>
            <a:r>
              <a:rPr lang="en-US" altLang="zh-CN" sz="2000" b="1">
                <a:latin typeface="宋体" panose="02000500000000000000" pitchFamily="2" charset="-122"/>
              </a:rPr>
              <a:t>Cache</a:t>
            </a:r>
            <a:r>
              <a:rPr lang="zh-CN" altLang="en-US" sz="2000" b="1">
                <a:latin typeface="宋体" panose="02000500000000000000" pitchFamily="2" charset="-122"/>
              </a:rPr>
              <a:t>上通过软件优化降低失效率</a:t>
            </a:r>
            <a:r>
              <a:rPr lang="en-US" altLang="zh-CN" sz="2000" b="1">
                <a:latin typeface="宋体" panose="02000500000000000000" pitchFamily="2" charset="-122"/>
              </a:rPr>
              <a:t>75% </a:t>
            </a:r>
            <a:endParaRPr lang="en-US" altLang="zh-CN" sz="2000" b="1">
              <a:latin typeface="宋体" panose="02000500000000000000" pitchFamily="2" charset="-122"/>
            </a:endParaRPr>
          </a:p>
          <a:p>
            <a:pPr marL="342900" indent="-342900">
              <a:lnSpc>
                <a:spcPct val="150000"/>
              </a:lnSpc>
              <a:spcBef>
                <a:spcPct val="0"/>
              </a:spcBef>
              <a:buFontTx/>
              <a:buChar char="•"/>
            </a:pPr>
            <a:r>
              <a:rPr lang="zh-CN" altLang="en-US" sz="2000" b="1">
                <a:latin typeface="宋体" panose="02000500000000000000" pitchFamily="2" charset="-122"/>
              </a:rPr>
              <a:t>常见软件优化技术</a:t>
            </a:r>
            <a:endParaRPr lang="zh-CN" altLang="en-US" sz="2000" b="1">
              <a:solidFill>
                <a:srgbClr val="FF0000"/>
              </a:solidFill>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数组合并（</a:t>
            </a:r>
            <a:r>
              <a:rPr lang="en-US" altLang="zh-CN" sz="1800" b="1">
                <a:latin typeface="宋体" panose="02000500000000000000" pitchFamily="2" charset="-122"/>
              </a:rPr>
              <a:t>Merging Arrays</a:t>
            </a:r>
            <a:r>
              <a:rPr lang="zh-CN" altLang="en-US" sz="1800" b="1">
                <a:latin typeface="宋体" panose="02000500000000000000" pitchFamily="2" charset="-122"/>
              </a:rPr>
              <a:t>）</a:t>
            </a:r>
            <a:endParaRPr lang="zh-CN" altLang="en-US" sz="18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循环交换（</a:t>
            </a:r>
            <a:r>
              <a:rPr lang="en-US" altLang="zh-CN" sz="1800" b="1">
                <a:latin typeface="宋体" panose="02000500000000000000" pitchFamily="2" charset="-122"/>
              </a:rPr>
              <a:t>Loop Interchange</a:t>
            </a:r>
            <a:r>
              <a:rPr lang="zh-CN" altLang="en-US" sz="1800" b="1">
                <a:latin typeface="宋体" panose="02000500000000000000" pitchFamily="2" charset="-122"/>
              </a:rPr>
              <a:t>）</a:t>
            </a:r>
            <a:endParaRPr lang="zh-CN" altLang="en-US" sz="18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循环合并（</a:t>
            </a:r>
            <a:r>
              <a:rPr lang="en-US" altLang="zh-CN" sz="1800" b="1">
                <a:latin typeface="宋体" panose="02000500000000000000" pitchFamily="2" charset="-122"/>
              </a:rPr>
              <a:t>Loop Fusion</a:t>
            </a:r>
            <a:r>
              <a:rPr lang="zh-CN" altLang="en-US" sz="1800" b="1">
                <a:latin typeface="宋体" panose="02000500000000000000" pitchFamily="2" charset="-122"/>
              </a:rPr>
              <a:t>）</a:t>
            </a:r>
            <a:endParaRPr lang="zh-CN" altLang="en-US" sz="18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数组分块（</a:t>
            </a:r>
            <a:r>
              <a:rPr lang="en-US" altLang="zh-CN" sz="1800" b="1">
                <a:latin typeface="宋体" panose="02000500000000000000" pitchFamily="2" charset="-122"/>
              </a:rPr>
              <a:t>Array Blocking</a:t>
            </a:r>
            <a:r>
              <a:rPr lang="zh-CN" altLang="en-US" sz="1800" b="1">
                <a:latin typeface="宋体" panose="02000500000000000000" pitchFamily="2" charset="-122"/>
              </a:rPr>
              <a:t>）</a:t>
            </a:r>
            <a:endParaRPr lang="zh-CN" altLang="en-US" sz="18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noChangeArrowheads="1"/>
          </p:cNvSpPr>
          <p:nvPr>
            <p:ph type="sldNum" sz="quarter" idx="12"/>
          </p:nvPr>
        </p:nvSpPr>
        <p:spPr>
          <a:noFill/>
        </p:spPr>
        <p:txBody>
          <a:bodyPr/>
          <a:lstStyle/>
          <a:p>
            <a:fld id="{A387012D-A0CD-4662-B524-63C01922DF23}" type="slidenum">
              <a:rPr lang="en-US" altLang="zh-CN" smtClean="0"/>
            </a:fld>
            <a:endParaRPr lang="en-US" altLang="zh-CN" smtClean="0"/>
          </a:p>
        </p:txBody>
      </p:sp>
      <p:sp>
        <p:nvSpPr>
          <p:cNvPr id="36867" name="Rectangle 4"/>
          <p:cNvSpPr>
            <a:spLocks noChangeArrowheads="1"/>
          </p:cNvSpPr>
          <p:nvPr/>
        </p:nvSpPr>
        <p:spPr bwMode="auto">
          <a:xfrm>
            <a:off x="1320800" y="234950"/>
            <a:ext cx="9548813" cy="987425"/>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数组合并</a:t>
            </a:r>
            <a:endParaRPr lang="zh-CN" altLang="en-US" sz="3200">
              <a:solidFill>
                <a:srgbClr val="FF0000"/>
              </a:solidFill>
              <a:latin typeface="Arial" panose="02080604020202020204" pitchFamily="34" charset="0"/>
              <a:ea typeface="黑体" panose="02000500000000000000" pitchFamily="49" charset="-122"/>
            </a:endParaRPr>
          </a:p>
        </p:txBody>
      </p:sp>
      <p:sp>
        <p:nvSpPr>
          <p:cNvPr id="36868" name="Rectangle 5"/>
          <p:cNvSpPr>
            <a:spLocks noChangeArrowheads="1"/>
          </p:cNvSpPr>
          <p:nvPr/>
        </p:nvSpPr>
        <p:spPr bwMode="auto">
          <a:xfrm>
            <a:off x="684213" y="1593850"/>
            <a:ext cx="10869612" cy="4587875"/>
          </a:xfrm>
          <a:prstGeom prst="rect">
            <a:avLst/>
          </a:prstGeom>
          <a:noFill/>
          <a:ln w="12700">
            <a:noFill/>
            <a:miter lim="800000"/>
          </a:ln>
        </p:spPr>
        <p:txBody>
          <a:bodyPr lIns="90488" tIns="44450" rIns="90488" bIns="44450"/>
          <a:lstStyle/>
          <a:p>
            <a:pPr marL="342900" indent="-342900">
              <a:lnSpc>
                <a:spcPct val="110000"/>
              </a:lnSpc>
              <a:spcBef>
                <a:spcPct val="10000"/>
              </a:spcBef>
              <a:buFontTx/>
              <a:buChar char="•"/>
            </a:pPr>
            <a:r>
              <a:rPr lang="zh-CN" altLang="en-US" sz="2000" b="1">
                <a:latin typeface="宋体" panose="02000500000000000000" pitchFamily="2" charset="-122"/>
              </a:rPr>
              <a:t>通过数组合并降低数组</a:t>
            </a:r>
            <a:r>
              <a:rPr lang="en-US" altLang="zh-CN" sz="2000" b="1">
                <a:latin typeface="宋体" panose="02000500000000000000" pitchFamily="2" charset="-122"/>
              </a:rPr>
              <a:t>val</a:t>
            </a:r>
            <a:r>
              <a:rPr lang="zh-CN" altLang="en-US" sz="2000" b="1">
                <a:latin typeface="宋体" panose="02000500000000000000" pitchFamily="2" charset="-122"/>
              </a:rPr>
              <a:t>和</a:t>
            </a:r>
            <a:r>
              <a:rPr lang="en-US" altLang="zh-CN" sz="2000" b="1">
                <a:latin typeface="宋体" panose="02000500000000000000" pitchFamily="2" charset="-122"/>
              </a:rPr>
              <a:t>key</a:t>
            </a:r>
            <a:r>
              <a:rPr lang="zh-CN" altLang="en-US" sz="2000" b="1">
                <a:latin typeface="宋体" panose="02000500000000000000" pitchFamily="2" charset="-122"/>
              </a:rPr>
              <a:t>的冲突，增加空间局部性</a:t>
            </a:r>
            <a:endParaRPr lang="zh-CN" altLang="en-US" sz="2000" b="1">
              <a:latin typeface="宋体" panose="02000500000000000000" pitchFamily="2" charset="-122"/>
            </a:endParaRPr>
          </a:p>
          <a:p>
            <a:pPr marL="342900" indent="-342900">
              <a:lnSpc>
                <a:spcPct val="110000"/>
              </a:lnSpc>
              <a:spcBef>
                <a:spcPct val="10000"/>
              </a:spcBef>
              <a:buFontTx/>
              <a:buChar char="•"/>
            </a:pPr>
            <a:endParaRPr lang="zh-CN" altLang="en-US" sz="2000" b="1">
              <a:latin typeface="宋体" panose="02000500000000000000" pitchFamily="2" charset="-122"/>
            </a:endParaRPr>
          </a:p>
          <a:p>
            <a:pPr marL="800100" lvl="1" indent="-342900">
              <a:lnSpc>
                <a:spcPct val="110000"/>
              </a:lnSpc>
              <a:spcBef>
                <a:spcPct val="10000"/>
              </a:spcBef>
            </a:pPr>
            <a:r>
              <a:rPr lang="en-US" altLang="zh-CN" sz="1400" b="1">
                <a:solidFill>
                  <a:schemeClr val="accent2"/>
                </a:solidFill>
                <a:latin typeface="宋体" panose="02000500000000000000" pitchFamily="2" charset="-122"/>
              </a:rPr>
              <a:t>/* Before: 2 sequential arrays */</a:t>
            </a: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r>
              <a:rPr lang="en-US" altLang="zh-CN" sz="1400" b="1">
                <a:solidFill>
                  <a:schemeClr val="accent2"/>
                </a:solidFill>
                <a:latin typeface="宋体" panose="02000500000000000000" pitchFamily="2" charset="-122"/>
              </a:rPr>
              <a:t>int val[SIZE];</a:t>
            </a: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r>
              <a:rPr lang="en-US" altLang="zh-CN" sz="1400" b="1">
                <a:solidFill>
                  <a:schemeClr val="accent2"/>
                </a:solidFill>
                <a:latin typeface="宋体" panose="02000500000000000000" pitchFamily="2" charset="-122"/>
              </a:rPr>
              <a:t>int key[SIZE];</a:t>
            </a: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 After: 1 array of stuctures */</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struct merge {</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	int val;</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	int key;</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struct merge merged_array[SIZE];</a:t>
            </a:r>
            <a:endParaRPr lang="en-US" altLang="zh-CN" sz="1400" b="1">
              <a:solidFill>
                <a:srgbClr val="FF0000"/>
              </a:solidFill>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noChangeArrowheads="1"/>
          </p:cNvSpPr>
          <p:nvPr>
            <p:ph type="sldNum" sz="quarter" idx="12"/>
          </p:nvPr>
        </p:nvSpPr>
        <p:spPr>
          <a:noFill/>
        </p:spPr>
        <p:txBody>
          <a:bodyPr/>
          <a:lstStyle/>
          <a:p>
            <a:fld id="{72157995-6EA3-4C9C-9255-1ACD34CDFB78}" type="slidenum">
              <a:rPr lang="en-US" altLang="zh-CN" smtClean="0"/>
            </a:fld>
            <a:endParaRPr lang="en-US" altLang="zh-CN" smtClean="0"/>
          </a:p>
        </p:txBody>
      </p:sp>
      <p:sp>
        <p:nvSpPr>
          <p:cNvPr id="37891" name="Rectangle 4"/>
          <p:cNvSpPr>
            <a:spLocks noChangeArrowheads="1"/>
          </p:cNvSpPr>
          <p:nvPr/>
        </p:nvSpPr>
        <p:spPr bwMode="auto">
          <a:xfrm>
            <a:off x="1233488" y="171450"/>
            <a:ext cx="9548812" cy="808038"/>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循环交换</a:t>
            </a:r>
            <a:endParaRPr lang="zh-CN" altLang="en-US" sz="3200">
              <a:solidFill>
                <a:srgbClr val="FF0000"/>
              </a:solidFill>
              <a:latin typeface="Arial" panose="02080604020202020204" pitchFamily="34" charset="0"/>
              <a:ea typeface="黑体" panose="02000500000000000000" pitchFamily="49" charset="-122"/>
            </a:endParaRPr>
          </a:p>
        </p:txBody>
      </p:sp>
      <p:sp>
        <p:nvSpPr>
          <p:cNvPr id="37892" name="Rectangle 5"/>
          <p:cNvSpPr>
            <a:spLocks noChangeArrowheads="1"/>
          </p:cNvSpPr>
          <p:nvPr/>
        </p:nvSpPr>
        <p:spPr bwMode="auto">
          <a:xfrm>
            <a:off x="1125538" y="1130300"/>
            <a:ext cx="10741025" cy="5370513"/>
          </a:xfrm>
          <a:prstGeom prst="rect">
            <a:avLst/>
          </a:prstGeom>
          <a:noFill/>
          <a:ln w="12700">
            <a:noFill/>
            <a:miter lim="800000"/>
          </a:ln>
        </p:spPr>
        <p:txBody>
          <a:bodyPr lIns="90488" tIns="44450" rIns="90488" bIns="44450"/>
          <a:lstStyle/>
          <a:p>
            <a:pPr marL="342900" indent="-342900">
              <a:lnSpc>
                <a:spcPct val="110000"/>
              </a:lnSpc>
              <a:spcBef>
                <a:spcPct val="10000"/>
              </a:spcBef>
              <a:buFontTx/>
              <a:buChar char="•"/>
            </a:pPr>
            <a:r>
              <a:rPr lang="zh-CN" altLang="en-US" sz="2000" b="1">
                <a:latin typeface="宋体" panose="02000500000000000000" pitchFamily="2" charset="-122"/>
              </a:rPr>
              <a:t>通过循环交换提高空间局部性，把非连续访问变换成连续访问</a:t>
            </a:r>
            <a:endParaRPr lang="zh-CN" altLang="en-US" sz="2000" b="1">
              <a:latin typeface="宋体" panose="02000500000000000000" pitchFamily="2" charset="-122"/>
            </a:endParaRPr>
          </a:p>
          <a:p>
            <a:pPr marL="342900" indent="-342900">
              <a:lnSpc>
                <a:spcPct val="110000"/>
              </a:lnSpc>
              <a:spcBef>
                <a:spcPct val="10000"/>
              </a:spcBef>
            </a:pPr>
            <a:endParaRPr lang="zh-CN" altLang="en-US" sz="16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Before */</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for (k = 0; k &lt; 100; k = k+1)</a:t>
            </a:r>
            <a:endParaRPr lang="en-US" altLang="zh-CN" sz="1400" b="1">
              <a:solidFill>
                <a:schemeClr val="accent1"/>
              </a:solidFill>
              <a:latin typeface="宋体" panose="02000500000000000000" pitchFamily="2" charset="-122"/>
            </a:endParaRPr>
          </a:p>
          <a:p>
            <a:pPr marL="800100" lvl="1" indent="-342900">
              <a:lnSpc>
                <a:spcPct val="110000"/>
              </a:lnSpc>
              <a:spcBef>
                <a:spcPct val="10000"/>
              </a:spcBef>
            </a:pPr>
            <a:r>
              <a:rPr lang="en-US" altLang="zh-CN" sz="1400" b="1">
                <a:solidFill>
                  <a:schemeClr val="accent1"/>
                </a:solidFill>
                <a:latin typeface="宋体" panose="02000500000000000000" pitchFamily="2" charset="-122"/>
              </a:rPr>
              <a:t>	</a:t>
            </a:r>
            <a:r>
              <a:rPr lang="en-US" altLang="zh-CN" sz="1400" b="1">
                <a:solidFill>
                  <a:schemeClr val="accent2"/>
                </a:solidFill>
                <a:latin typeface="宋体" panose="02000500000000000000" pitchFamily="2" charset="-122"/>
              </a:rPr>
              <a:t>for (j = 0; j &lt; 100; j = j+1)</a:t>
            </a: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r>
              <a:rPr lang="en-US" altLang="zh-CN" sz="1400" b="1">
                <a:solidFill>
                  <a:schemeClr val="accent2"/>
                </a:solidFill>
                <a:latin typeface="宋体" panose="02000500000000000000" pitchFamily="2" charset="-122"/>
              </a:rPr>
              <a:t>		for (i = 0; i &lt; 5000; i = i+1)</a:t>
            </a:r>
            <a:endParaRPr lang="en-US" altLang="zh-CN" sz="1400" b="1">
              <a:solidFill>
                <a:schemeClr val="accent2"/>
              </a:solidFill>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x[i][j] = 2 * x[i][j];</a:t>
            </a:r>
            <a:endParaRPr lang="en-US" altLang="zh-CN" sz="1400" b="1">
              <a:latin typeface="宋体" panose="02000500000000000000" pitchFamily="2" charset="-122"/>
            </a:endParaRPr>
          </a:p>
          <a:p>
            <a:pPr marL="800100" lvl="1" indent="-342900">
              <a:lnSpc>
                <a:spcPct val="110000"/>
              </a:lnSpc>
              <a:spcBef>
                <a:spcPct val="10000"/>
              </a:spcBef>
            </a:pP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After */</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for (k = 0; k &lt; 100; k = k+1)</a:t>
            </a:r>
            <a:endParaRPr lang="en-US" altLang="zh-CN" sz="1400" b="1">
              <a:solidFill>
                <a:schemeClr val="hlink"/>
              </a:solidFill>
              <a:latin typeface="宋体" panose="02000500000000000000" pitchFamily="2" charset="-122"/>
            </a:endParaRPr>
          </a:p>
          <a:p>
            <a:pPr marL="800100" lvl="1" indent="-342900">
              <a:lnSpc>
                <a:spcPct val="110000"/>
              </a:lnSpc>
              <a:spcBef>
                <a:spcPct val="10000"/>
              </a:spcBef>
            </a:pPr>
            <a:r>
              <a:rPr lang="en-US" altLang="zh-CN" sz="1400" b="1">
                <a:solidFill>
                  <a:schemeClr val="hlink"/>
                </a:solidFill>
                <a:latin typeface="宋体" panose="02000500000000000000" pitchFamily="2" charset="-122"/>
              </a:rPr>
              <a:t>	</a:t>
            </a:r>
            <a:r>
              <a:rPr lang="en-US" altLang="zh-CN" sz="1400" b="1" u="sng">
                <a:solidFill>
                  <a:srgbClr val="FF0000"/>
                </a:solidFill>
                <a:latin typeface="宋体" panose="02000500000000000000" pitchFamily="2" charset="-122"/>
              </a:rPr>
              <a:t>for (i = 0; i &lt; 5000; i = i+1)</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		</a:t>
            </a:r>
            <a:r>
              <a:rPr lang="en-US" altLang="zh-CN" sz="1400" b="1" u="sng">
                <a:solidFill>
                  <a:srgbClr val="FF0000"/>
                </a:solidFill>
                <a:latin typeface="宋体" panose="02000500000000000000" pitchFamily="2" charset="-122"/>
              </a:rPr>
              <a:t>for (j = 0; j &lt; 100; j = j+1)</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x[i][j] = 2 * x[i][j];</a:t>
            </a:r>
            <a:endParaRPr lang="en-US" altLang="zh-CN" sz="14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noChangeArrowheads="1"/>
          </p:cNvSpPr>
          <p:nvPr>
            <p:ph type="sldNum" sz="quarter" idx="12"/>
          </p:nvPr>
        </p:nvSpPr>
        <p:spPr>
          <a:noFill/>
        </p:spPr>
        <p:txBody>
          <a:bodyPr/>
          <a:lstStyle/>
          <a:p>
            <a:fld id="{5B24F447-10D9-4733-B141-BE9A80F080A6}" type="slidenum">
              <a:rPr lang="en-US" altLang="zh-CN" smtClean="0"/>
            </a:fld>
            <a:endParaRPr lang="en-US" altLang="zh-CN" smtClean="0"/>
          </a:p>
        </p:txBody>
      </p:sp>
      <p:sp>
        <p:nvSpPr>
          <p:cNvPr id="38915" name="Rectangle 4"/>
          <p:cNvSpPr>
            <a:spLocks noChangeArrowheads="1"/>
          </p:cNvSpPr>
          <p:nvPr/>
        </p:nvSpPr>
        <p:spPr bwMode="auto">
          <a:xfrm>
            <a:off x="1270000" y="220663"/>
            <a:ext cx="9548813" cy="820737"/>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循环合并</a:t>
            </a:r>
            <a:endParaRPr lang="zh-CN" altLang="en-US" sz="3200">
              <a:solidFill>
                <a:srgbClr val="FF0000"/>
              </a:solidFill>
              <a:latin typeface="Arial" panose="02080604020202020204" pitchFamily="34" charset="0"/>
              <a:ea typeface="黑体" panose="02000500000000000000" pitchFamily="49" charset="-122"/>
            </a:endParaRPr>
          </a:p>
        </p:txBody>
      </p:sp>
      <p:sp>
        <p:nvSpPr>
          <p:cNvPr id="38916" name="Rectangle 5"/>
          <p:cNvSpPr>
            <a:spLocks noChangeArrowheads="1"/>
          </p:cNvSpPr>
          <p:nvPr/>
        </p:nvSpPr>
        <p:spPr bwMode="auto">
          <a:xfrm>
            <a:off x="1573213" y="1127125"/>
            <a:ext cx="9879012" cy="5426075"/>
          </a:xfrm>
          <a:prstGeom prst="rect">
            <a:avLst/>
          </a:prstGeom>
          <a:noFill/>
          <a:ln w="12700">
            <a:noFill/>
            <a:miter lim="800000"/>
          </a:ln>
        </p:spPr>
        <p:txBody>
          <a:bodyPr lIns="90488" tIns="44450" rIns="90488" bIns="44450"/>
          <a:lstStyle/>
          <a:p>
            <a:pPr marL="342900" indent="-342900">
              <a:lnSpc>
                <a:spcPct val="110000"/>
              </a:lnSpc>
              <a:spcBef>
                <a:spcPct val="10000"/>
              </a:spcBef>
              <a:buFontTx/>
              <a:buChar char="•"/>
            </a:pPr>
            <a:r>
              <a:rPr lang="zh-CN" altLang="en-US" sz="2000" b="1">
                <a:latin typeface="宋体" panose="02000500000000000000" pitchFamily="2" charset="-122"/>
              </a:rPr>
              <a:t>通过循环合并提高空间局部性，数组</a:t>
            </a:r>
            <a:r>
              <a:rPr lang="en-US" altLang="zh-CN" sz="2000" b="1">
                <a:latin typeface="宋体" panose="02000500000000000000" pitchFamily="2" charset="-122"/>
              </a:rPr>
              <a:t>a &amp; c</a:t>
            </a:r>
            <a:r>
              <a:rPr lang="zh-CN" altLang="en-US" sz="2000" b="1">
                <a:latin typeface="宋体" panose="02000500000000000000" pitchFamily="2" charset="-122"/>
              </a:rPr>
              <a:t>的失效次数从</a:t>
            </a:r>
            <a:r>
              <a:rPr lang="en-US" altLang="zh-CN" sz="2000" b="1">
                <a:latin typeface="宋体" panose="02000500000000000000" pitchFamily="2" charset="-122"/>
              </a:rPr>
              <a:t>2</a:t>
            </a:r>
            <a:r>
              <a:rPr lang="zh-CN" altLang="en-US" sz="2000" b="1">
                <a:latin typeface="宋体" panose="02000500000000000000" pitchFamily="2" charset="-122"/>
              </a:rPr>
              <a:t>次降低到</a:t>
            </a:r>
            <a:r>
              <a:rPr lang="en-US" altLang="zh-CN" sz="2000" b="1">
                <a:latin typeface="宋体" panose="02000500000000000000" pitchFamily="2" charset="-122"/>
              </a:rPr>
              <a:t>1</a:t>
            </a:r>
            <a:r>
              <a:rPr lang="zh-CN" altLang="en-US" sz="2000" b="1">
                <a:latin typeface="宋体" panose="02000500000000000000" pitchFamily="2" charset="-122"/>
              </a:rPr>
              <a:t>次</a:t>
            </a:r>
            <a:endParaRPr lang="zh-CN" altLang="en-US" sz="2000" b="1">
              <a:latin typeface="宋体" panose="02000500000000000000" pitchFamily="2" charset="-122"/>
            </a:endParaRPr>
          </a:p>
          <a:p>
            <a:pPr marL="342900" indent="-342900">
              <a:lnSpc>
                <a:spcPct val="110000"/>
              </a:lnSpc>
              <a:spcBef>
                <a:spcPct val="10000"/>
              </a:spcBef>
            </a:pPr>
            <a:endParaRPr lang="zh-CN" altLang="en-US" sz="20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Before */</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for (i = 0; i &lt; N; i = i+1)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for (j = 0; j &lt; N; j = j+1)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a:t>
            </a:r>
            <a:r>
              <a:rPr lang="en-US" altLang="zh-CN" sz="1400" b="1" u="sng">
                <a:solidFill>
                  <a:schemeClr val="accent2"/>
                </a:solidFill>
                <a:latin typeface="宋体" panose="02000500000000000000" pitchFamily="2" charset="-122"/>
              </a:rPr>
              <a:t>a[i][j]</a:t>
            </a:r>
            <a:r>
              <a:rPr lang="en-US" altLang="zh-CN" sz="1400" b="1" u="sng">
                <a:latin typeface="宋体" panose="02000500000000000000" pitchFamily="2" charset="-122"/>
              </a:rPr>
              <a:t> </a:t>
            </a:r>
            <a:r>
              <a:rPr lang="en-US" altLang="zh-CN" sz="1400" b="1">
                <a:latin typeface="宋体" panose="02000500000000000000" pitchFamily="2" charset="-122"/>
              </a:rPr>
              <a:t>= 1/b[i][j] * </a:t>
            </a:r>
            <a:r>
              <a:rPr lang="en-US" altLang="zh-CN" sz="1400" b="1" u="sng">
                <a:solidFill>
                  <a:schemeClr val="accent2"/>
                </a:solidFill>
                <a:latin typeface="宋体" panose="02000500000000000000" pitchFamily="2" charset="-122"/>
              </a:rPr>
              <a:t>c[i][j]</a:t>
            </a:r>
            <a:r>
              <a:rPr lang="en-US" altLang="zh-CN" sz="1400" b="1">
                <a:latin typeface="宋体" panose="02000500000000000000" pitchFamily="2" charset="-122"/>
              </a:rPr>
              <a:t>;</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for (i = 0; i &lt; N; i = i+1)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for (j = 0; j &lt; N; j = j+1)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d[i][j] = </a:t>
            </a:r>
            <a:r>
              <a:rPr lang="en-US" altLang="zh-CN" sz="1400" b="1" u="sng">
                <a:solidFill>
                  <a:schemeClr val="accent2"/>
                </a:solidFill>
                <a:latin typeface="宋体" panose="02000500000000000000" pitchFamily="2" charset="-122"/>
              </a:rPr>
              <a:t>a[i][j]</a:t>
            </a:r>
            <a:r>
              <a:rPr lang="en-US" altLang="zh-CN" sz="1400" b="1" u="sng">
                <a:latin typeface="宋体" panose="02000500000000000000" pitchFamily="2" charset="-122"/>
              </a:rPr>
              <a:t> </a:t>
            </a:r>
            <a:r>
              <a:rPr lang="en-US" altLang="zh-CN" sz="1400" b="1">
                <a:latin typeface="宋体" panose="02000500000000000000" pitchFamily="2" charset="-122"/>
              </a:rPr>
              <a:t>+ </a:t>
            </a:r>
            <a:r>
              <a:rPr lang="en-US" altLang="zh-CN" sz="1400" b="1" u="sng">
                <a:solidFill>
                  <a:schemeClr val="accent2"/>
                </a:solidFill>
                <a:latin typeface="宋体" panose="02000500000000000000" pitchFamily="2" charset="-122"/>
              </a:rPr>
              <a:t>c[i][j]</a:t>
            </a:r>
            <a:r>
              <a:rPr lang="en-US" altLang="zh-CN" sz="1400" b="1">
                <a:latin typeface="宋体" panose="02000500000000000000" pitchFamily="2" charset="-122"/>
              </a:rPr>
              <a:t>;</a:t>
            </a:r>
            <a:endParaRPr lang="en-US" altLang="zh-CN" sz="1400" b="1">
              <a:latin typeface="宋体" panose="02000500000000000000" pitchFamily="2" charset="-122"/>
            </a:endParaRPr>
          </a:p>
          <a:p>
            <a:pPr marL="800100" lvl="1" indent="-342900">
              <a:lnSpc>
                <a:spcPct val="110000"/>
              </a:lnSpc>
              <a:spcBef>
                <a:spcPct val="10000"/>
              </a:spcBef>
            </a:pP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After */</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for (i = 0; i &lt; N; i = i+1)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for (j = 0; j &lt; N; j = j+1)</a:t>
            </a:r>
            <a:endParaRPr lang="en-US" altLang="zh-CN" sz="1400" b="1">
              <a:latin typeface="宋体" panose="02000500000000000000" pitchFamily="2" charset="-122"/>
            </a:endParaRPr>
          </a:p>
          <a:p>
            <a:pPr marL="800100" lvl="1" indent="-342900">
              <a:lnSpc>
                <a:spcPct val="110000"/>
              </a:lnSpc>
              <a:spcBef>
                <a:spcPct val="10000"/>
              </a:spcBef>
            </a:pPr>
            <a:r>
              <a:rPr lang="en-US" altLang="zh-CN" sz="1400" b="1">
                <a:latin typeface="宋体" panose="02000500000000000000" pitchFamily="2" charset="-122"/>
              </a:rPr>
              <a:t>	</a:t>
            </a:r>
            <a:r>
              <a:rPr lang="en-US" altLang="zh-CN" sz="1400" b="1">
                <a:solidFill>
                  <a:srgbClr val="FF0000"/>
                </a:solidFill>
                <a:latin typeface="宋体" panose="02000500000000000000" pitchFamily="2" charset="-122"/>
              </a:rPr>
              <a:t>{	</a:t>
            </a:r>
            <a:r>
              <a:rPr lang="en-US" altLang="zh-CN" sz="1400" b="1" u="sng">
                <a:solidFill>
                  <a:srgbClr val="FF0000"/>
                </a:solidFill>
                <a:latin typeface="宋体" panose="02000500000000000000" pitchFamily="2" charset="-122"/>
              </a:rPr>
              <a:t>a[i][j] = 1/b[i][j] * c[i][j]</a:t>
            </a:r>
            <a:r>
              <a:rPr lang="en-US" altLang="zh-CN" sz="1400" b="1">
                <a:solidFill>
                  <a:srgbClr val="FF0000"/>
                </a:solidFill>
                <a:latin typeface="宋体" panose="02000500000000000000" pitchFamily="2" charset="-122"/>
              </a:rPr>
              <a:t>;</a:t>
            </a:r>
            <a:endParaRPr lang="en-US" altLang="zh-CN" sz="1400" b="1">
              <a:solidFill>
                <a:srgbClr val="FF0000"/>
              </a:solidFill>
              <a:latin typeface="宋体" panose="02000500000000000000" pitchFamily="2" charset="-122"/>
            </a:endParaRPr>
          </a:p>
          <a:p>
            <a:pPr marL="800100" lvl="1" indent="-342900">
              <a:lnSpc>
                <a:spcPct val="110000"/>
              </a:lnSpc>
              <a:spcBef>
                <a:spcPct val="10000"/>
              </a:spcBef>
            </a:pPr>
            <a:r>
              <a:rPr lang="en-US" altLang="zh-CN" sz="1400" b="1">
                <a:solidFill>
                  <a:srgbClr val="FF0000"/>
                </a:solidFill>
                <a:latin typeface="宋体" panose="02000500000000000000" pitchFamily="2" charset="-122"/>
              </a:rPr>
              <a:t>		</a:t>
            </a:r>
            <a:r>
              <a:rPr lang="en-US" altLang="zh-CN" sz="1400" b="1" u="sng">
                <a:solidFill>
                  <a:srgbClr val="FF0000"/>
                </a:solidFill>
                <a:latin typeface="宋体" panose="02000500000000000000" pitchFamily="2" charset="-122"/>
              </a:rPr>
              <a:t>d[i][j] = a[i][j] + c[i][j]</a:t>
            </a:r>
            <a:r>
              <a:rPr lang="en-US" altLang="zh-CN" sz="1400" b="1">
                <a:solidFill>
                  <a:srgbClr val="FF0000"/>
                </a:solidFill>
                <a:latin typeface="宋体" panose="02000500000000000000" pitchFamily="2" charset="-122"/>
              </a:rPr>
              <a:t>;}</a:t>
            </a:r>
            <a:endParaRPr lang="en-US" altLang="zh-CN" sz="1400" b="1">
              <a:solidFill>
                <a:srgbClr val="FF0000"/>
              </a:solidFill>
              <a:latin typeface="宋体" panose="02000500000000000000" pitchFamily="2"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noChangeArrowheads="1"/>
          </p:cNvSpPr>
          <p:nvPr>
            <p:ph type="sldNum" sz="quarter" idx="12"/>
          </p:nvPr>
        </p:nvSpPr>
        <p:spPr>
          <a:noFill/>
        </p:spPr>
        <p:txBody>
          <a:bodyPr/>
          <a:lstStyle/>
          <a:p>
            <a:fld id="{D619B959-3B75-4A67-912A-D4C81CF38795}" type="slidenum">
              <a:rPr lang="en-US" altLang="zh-CN" smtClean="0"/>
            </a:fld>
            <a:endParaRPr lang="en-US" altLang="zh-CN" smtClean="0"/>
          </a:p>
        </p:txBody>
      </p:sp>
      <p:sp>
        <p:nvSpPr>
          <p:cNvPr id="39939" name="Rectangle 2"/>
          <p:cNvSpPr>
            <a:spLocks noGrp="1" noChangeArrowheads="1"/>
          </p:cNvSpPr>
          <p:nvPr>
            <p:ph type="title"/>
          </p:nvPr>
        </p:nvSpPr>
        <p:spPr>
          <a:xfrm>
            <a:off x="889000" y="0"/>
            <a:ext cx="10361613" cy="838200"/>
          </a:xfrm>
        </p:spPr>
        <p:txBody>
          <a:bodyPr/>
          <a:lstStyle/>
          <a:p>
            <a:pPr eaLnBrk="1" hangingPunct="1"/>
            <a:r>
              <a:rPr lang="zh-CN" altLang="en-US" dirty="0" smtClean="0"/>
              <a:t>数组分块</a:t>
            </a:r>
            <a:endParaRPr lang="zh-CN" altLang="en-US" dirty="0" smtClean="0"/>
          </a:p>
        </p:txBody>
      </p:sp>
      <p:sp>
        <p:nvSpPr>
          <p:cNvPr id="39940" name="Rectangle 3"/>
          <p:cNvSpPr>
            <a:spLocks noGrp="1" noChangeArrowheads="1"/>
          </p:cNvSpPr>
          <p:nvPr>
            <p:ph idx="1"/>
          </p:nvPr>
        </p:nvSpPr>
        <p:spPr>
          <a:xfrm>
            <a:off x="381000" y="771525"/>
            <a:ext cx="10869613" cy="6015038"/>
          </a:xfrm>
        </p:spPr>
        <p:txBody>
          <a:bodyPr/>
          <a:lstStyle/>
          <a:p>
            <a:pPr eaLnBrk="1" hangingPunct="1">
              <a:spcBef>
                <a:spcPct val="0"/>
              </a:spcBef>
            </a:pPr>
            <a:r>
              <a:rPr lang="zh-CN" altLang="en-US" sz="2000" dirty="0" smtClean="0">
                <a:latin typeface="宋体" panose="02000500000000000000" pitchFamily="2" charset="-122"/>
              </a:rPr>
              <a:t>分块前，</a:t>
            </a:r>
            <a:r>
              <a:rPr lang="en-US" altLang="zh-CN" sz="2000" dirty="0" smtClean="0">
                <a:latin typeface="宋体" panose="02000500000000000000" pitchFamily="2" charset="-122"/>
              </a:rPr>
              <a:t>y</a:t>
            </a:r>
            <a:r>
              <a:rPr lang="zh-CN" altLang="en-US" sz="2000" dirty="0" smtClean="0">
                <a:latin typeface="宋体" panose="02000500000000000000" pitchFamily="2" charset="-122"/>
              </a:rPr>
              <a:t>和</a:t>
            </a:r>
            <a:r>
              <a:rPr lang="en-US" altLang="zh-CN" sz="2000" dirty="0" smtClean="0">
                <a:latin typeface="宋体" panose="02000500000000000000" pitchFamily="2" charset="-122"/>
              </a:rPr>
              <a:t>z</a:t>
            </a:r>
            <a:r>
              <a:rPr lang="zh-CN" altLang="en-US" sz="2000" dirty="0" smtClean="0">
                <a:latin typeface="宋体" panose="02000500000000000000" pitchFamily="2" charset="-122"/>
              </a:rPr>
              <a:t>失效</a:t>
            </a:r>
            <a:r>
              <a:rPr lang="en-US" altLang="zh-CN" sz="2000" dirty="0" smtClean="0">
                <a:latin typeface="宋体" panose="02000500000000000000" pitchFamily="2" charset="-122"/>
              </a:rPr>
              <a:t>N</a:t>
            </a:r>
            <a:r>
              <a:rPr lang="en-US" altLang="zh-CN" sz="2000" baseline="30000" dirty="0" smtClean="0">
                <a:latin typeface="宋体" panose="02000500000000000000" pitchFamily="2" charset="-122"/>
              </a:rPr>
              <a:t>3</a:t>
            </a:r>
            <a:r>
              <a:rPr lang="zh-CN" altLang="en-US" sz="2000" dirty="0" smtClean="0">
                <a:latin typeface="宋体" panose="02000500000000000000" pitchFamily="2" charset="-122"/>
              </a:rPr>
              <a:t>次，</a:t>
            </a:r>
            <a:r>
              <a:rPr lang="en-US" altLang="zh-CN" sz="2000" dirty="0" smtClean="0">
                <a:latin typeface="宋体" panose="02000500000000000000" pitchFamily="2" charset="-122"/>
              </a:rPr>
              <a:t>x</a:t>
            </a:r>
            <a:r>
              <a:rPr lang="zh-CN" altLang="en-US" sz="2000" dirty="0" smtClean="0">
                <a:latin typeface="宋体" panose="02000500000000000000" pitchFamily="2" charset="-122"/>
              </a:rPr>
              <a:t>失效</a:t>
            </a:r>
            <a:r>
              <a:rPr lang="en-US" altLang="zh-CN" sz="2000" dirty="0" smtClean="0">
                <a:latin typeface="宋体" panose="02000500000000000000" pitchFamily="2" charset="-122"/>
              </a:rPr>
              <a:t>N</a:t>
            </a:r>
            <a:r>
              <a:rPr lang="en-US" altLang="zh-CN" sz="2000" baseline="30000" dirty="0" smtClean="0">
                <a:latin typeface="宋体" panose="02000500000000000000" pitchFamily="2" charset="-122"/>
              </a:rPr>
              <a:t>2</a:t>
            </a:r>
            <a:r>
              <a:rPr lang="zh-CN" altLang="en-US" sz="2000" dirty="0" smtClean="0">
                <a:latin typeface="宋体" panose="02000500000000000000" pitchFamily="2" charset="-122"/>
              </a:rPr>
              <a:t>次，总失效次数从</a:t>
            </a:r>
            <a:r>
              <a:rPr lang="en-US" altLang="zh-CN" sz="2000" dirty="0" smtClean="0">
                <a:latin typeface="宋体" panose="02000500000000000000" pitchFamily="2" charset="-122"/>
              </a:rPr>
              <a:t>2N</a:t>
            </a:r>
            <a:r>
              <a:rPr lang="en-US" altLang="zh-CN" sz="2000" baseline="30000" dirty="0" smtClean="0">
                <a:latin typeface="宋体" panose="02000500000000000000" pitchFamily="2" charset="-122"/>
              </a:rPr>
              <a:t>3</a:t>
            </a:r>
            <a:r>
              <a:rPr lang="en-US" altLang="zh-CN" sz="2000" dirty="0" smtClean="0">
                <a:latin typeface="宋体" panose="02000500000000000000" pitchFamily="2" charset="-122"/>
              </a:rPr>
              <a:t> + N</a:t>
            </a:r>
            <a:r>
              <a:rPr lang="en-US" altLang="zh-CN" sz="2000" baseline="30000" dirty="0" smtClean="0">
                <a:latin typeface="宋体" panose="02000500000000000000" pitchFamily="2" charset="-122"/>
              </a:rPr>
              <a:t>2</a:t>
            </a:r>
            <a:r>
              <a:rPr lang="en-US" altLang="zh-CN" sz="2000" dirty="0" smtClean="0">
                <a:latin typeface="宋体" panose="02000500000000000000" pitchFamily="2" charset="-122"/>
              </a:rPr>
              <a:t> </a:t>
            </a:r>
            <a:r>
              <a:rPr lang="zh-CN" altLang="en-US" sz="2000" dirty="0" smtClean="0">
                <a:solidFill>
                  <a:schemeClr val="accent2"/>
                </a:solidFill>
                <a:latin typeface="宋体" panose="02000500000000000000" pitchFamily="2" charset="-122"/>
              </a:rPr>
              <a:t>（</a:t>
            </a:r>
            <a:r>
              <a:rPr lang="en-US" altLang="zh-CN" sz="2000" dirty="0" smtClean="0">
                <a:solidFill>
                  <a:schemeClr val="accent2"/>
                </a:solidFill>
                <a:latin typeface="宋体" panose="02000500000000000000" pitchFamily="2" charset="-122"/>
              </a:rPr>
              <a:t>N</a:t>
            </a:r>
            <a:r>
              <a:rPr lang="zh-CN" altLang="en-US" sz="2000" dirty="0" smtClean="0">
                <a:solidFill>
                  <a:schemeClr val="accent2"/>
                </a:solidFill>
                <a:latin typeface="宋体" panose="02000500000000000000" pitchFamily="2" charset="-122"/>
              </a:rPr>
              <a:t>很大时）</a:t>
            </a:r>
            <a:endParaRPr lang="en-US" altLang="zh-CN" sz="1600" dirty="0" smtClean="0">
              <a:solidFill>
                <a:schemeClr val="accent2"/>
              </a:solidFill>
              <a:latin typeface="宋体" panose="02000500000000000000" pitchFamily="2" charset="-122"/>
            </a:endParaRPr>
          </a:p>
          <a:p>
            <a:pPr eaLnBrk="1" hangingPunct="1">
              <a:spcBef>
                <a:spcPct val="0"/>
              </a:spcBef>
            </a:pPr>
            <a:r>
              <a:rPr lang="zh-CN" altLang="en-US" sz="2000" dirty="0" smtClean="0">
                <a:latin typeface="宋体" panose="02000500000000000000" pitchFamily="2" charset="-122"/>
              </a:rPr>
              <a:t>分块后，由于可以在</a:t>
            </a:r>
            <a:r>
              <a:rPr lang="en-US" altLang="zh-CN" sz="2000" dirty="0" smtClean="0">
                <a:latin typeface="宋体" panose="02000500000000000000" pitchFamily="2" charset="-122"/>
              </a:rPr>
              <a:t>cache</a:t>
            </a:r>
            <a:r>
              <a:rPr lang="zh-CN" altLang="en-US" sz="2000" dirty="0" smtClean="0">
                <a:latin typeface="宋体" panose="02000500000000000000" pitchFamily="2" charset="-122"/>
              </a:rPr>
              <a:t>中放下</a:t>
            </a:r>
            <a:r>
              <a:rPr lang="en-US" altLang="zh-CN" sz="2000" dirty="0" err="1" smtClean="0">
                <a:latin typeface="宋体" panose="02000500000000000000" pitchFamily="2" charset="-122"/>
              </a:rPr>
              <a:t>BxB</a:t>
            </a:r>
            <a:r>
              <a:rPr lang="zh-CN" altLang="en-US" sz="2000" dirty="0" smtClean="0">
                <a:latin typeface="宋体" panose="02000500000000000000" pitchFamily="2" charset="-122"/>
              </a:rPr>
              <a:t>的小矩阵，</a:t>
            </a:r>
            <a:r>
              <a:rPr lang="en-US" altLang="zh-CN" sz="2000" dirty="0" smtClean="0">
                <a:latin typeface="宋体" panose="02000500000000000000" pitchFamily="2" charset="-122"/>
              </a:rPr>
              <a:t>y</a:t>
            </a:r>
            <a:r>
              <a:rPr lang="zh-CN" altLang="en-US" sz="2000" dirty="0" smtClean="0">
                <a:latin typeface="宋体" panose="02000500000000000000" pitchFamily="2" charset="-122"/>
              </a:rPr>
              <a:t>和</a:t>
            </a:r>
            <a:r>
              <a:rPr lang="en-US" altLang="zh-CN" sz="2000" dirty="0" smtClean="0">
                <a:latin typeface="宋体" panose="02000500000000000000" pitchFamily="2" charset="-122"/>
              </a:rPr>
              <a:t>z</a:t>
            </a:r>
            <a:r>
              <a:rPr lang="zh-CN" altLang="en-US" sz="2000" dirty="0" smtClean="0">
                <a:latin typeface="宋体" panose="02000500000000000000" pitchFamily="2" charset="-122"/>
              </a:rPr>
              <a:t>失效</a:t>
            </a:r>
            <a:r>
              <a:rPr lang="en-US" altLang="zh-CN" sz="2000" dirty="0" smtClean="0">
                <a:latin typeface="宋体" panose="02000500000000000000" pitchFamily="2" charset="-122"/>
              </a:rPr>
              <a:t>1</a:t>
            </a:r>
            <a:r>
              <a:rPr lang="zh-CN" altLang="en-US" sz="2000" dirty="0" smtClean="0">
                <a:latin typeface="宋体" panose="02000500000000000000" pitchFamily="2" charset="-122"/>
              </a:rPr>
              <a:t>次可以用</a:t>
            </a:r>
            <a:r>
              <a:rPr lang="en-US" altLang="zh-CN" sz="2000" dirty="0" smtClean="0">
                <a:latin typeface="宋体" panose="02000500000000000000" pitchFamily="2" charset="-122"/>
              </a:rPr>
              <a:t>B</a:t>
            </a:r>
            <a:r>
              <a:rPr lang="zh-CN" altLang="en-US" sz="2000" dirty="0" smtClean="0">
                <a:latin typeface="宋体" panose="02000500000000000000" pitchFamily="2" charset="-122"/>
              </a:rPr>
              <a:t>次，因此失效次数从</a:t>
            </a:r>
            <a:r>
              <a:rPr lang="en-US" altLang="zh-CN" sz="2000" dirty="0" smtClean="0">
                <a:latin typeface="宋体" panose="02000500000000000000" pitchFamily="2" charset="-122"/>
              </a:rPr>
              <a:t>2N</a:t>
            </a:r>
            <a:r>
              <a:rPr lang="en-US" altLang="zh-CN" sz="2000" baseline="30000" dirty="0" smtClean="0">
                <a:latin typeface="宋体" panose="02000500000000000000" pitchFamily="2" charset="-122"/>
              </a:rPr>
              <a:t>3</a:t>
            </a:r>
            <a:r>
              <a:rPr lang="en-US" altLang="zh-CN" sz="2000" dirty="0" smtClean="0">
                <a:latin typeface="宋体" panose="02000500000000000000" pitchFamily="2" charset="-122"/>
              </a:rPr>
              <a:t> + N</a:t>
            </a:r>
            <a:r>
              <a:rPr lang="en-US" altLang="zh-CN" sz="2000" baseline="30000" dirty="0" smtClean="0">
                <a:latin typeface="宋体" panose="02000500000000000000" pitchFamily="2" charset="-122"/>
              </a:rPr>
              <a:t>2</a:t>
            </a:r>
            <a:r>
              <a:rPr lang="en-US" altLang="zh-CN" sz="2000" dirty="0" smtClean="0">
                <a:latin typeface="宋体" panose="02000500000000000000" pitchFamily="2" charset="-122"/>
              </a:rPr>
              <a:t> </a:t>
            </a:r>
            <a:r>
              <a:rPr lang="zh-CN" altLang="en-US" sz="2000" dirty="0" smtClean="0">
                <a:latin typeface="宋体" panose="02000500000000000000" pitchFamily="2" charset="-122"/>
              </a:rPr>
              <a:t>降为 </a:t>
            </a:r>
            <a:r>
              <a:rPr lang="en-US" altLang="zh-CN" sz="2000" dirty="0" smtClean="0">
                <a:latin typeface="宋体" panose="02000500000000000000" pitchFamily="2" charset="-122"/>
              </a:rPr>
              <a:t>2N</a:t>
            </a:r>
            <a:r>
              <a:rPr lang="en-US" altLang="zh-CN" sz="2000" baseline="30000" dirty="0" smtClean="0">
                <a:latin typeface="宋体" panose="02000500000000000000" pitchFamily="2" charset="-122"/>
              </a:rPr>
              <a:t>3</a:t>
            </a:r>
            <a:r>
              <a:rPr lang="en-US" altLang="zh-CN" sz="2000" dirty="0" smtClean="0">
                <a:latin typeface="宋体" panose="02000500000000000000" pitchFamily="2" charset="-122"/>
              </a:rPr>
              <a:t>/B +N</a:t>
            </a:r>
            <a:r>
              <a:rPr lang="en-US" altLang="zh-CN" sz="2000" baseline="30000" dirty="0" smtClean="0">
                <a:latin typeface="宋体" panose="02000500000000000000" pitchFamily="2" charset="-122"/>
              </a:rPr>
              <a:t>2</a:t>
            </a:r>
            <a:endParaRPr lang="en-US" altLang="zh-CN" sz="2000" baseline="30000" dirty="0" smtClean="0">
              <a:latin typeface="宋体" panose="02000500000000000000" pitchFamily="2" charset="-122"/>
            </a:endParaRPr>
          </a:p>
          <a:p>
            <a:pPr eaLnBrk="1" hangingPunct="1">
              <a:lnSpc>
                <a:spcPct val="100000"/>
              </a:lnSpc>
              <a:spcBef>
                <a:spcPct val="0"/>
              </a:spcBef>
              <a:buFontTx/>
              <a:buNone/>
            </a:pPr>
            <a:endParaRPr lang="en-US" altLang="zh-CN" sz="16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Before */</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for (</a:t>
            </a:r>
            <a:r>
              <a:rPr lang="en-US" altLang="zh-CN" sz="1400" u="sng"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 = 0; </a:t>
            </a:r>
            <a:r>
              <a:rPr lang="en-US" altLang="zh-CN" sz="1400" dirty="0" err="1" smtClean="0">
                <a:latin typeface="宋体" panose="02000500000000000000" pitchFamily="2" charset="-122"/>
              </a:rPr>
              <a:t>i</a:t>
            </a:r>
            <a:r>
              <a:rPr lang="en-US" altLang="zh-CN" sz="1400" dirty="0" smtClean="0">
                <a:latin typeface="宋体" panose="02000500000000000000" pitchFamily="2" charset="-122"/>
              </a:rPr>
              <a:t> &lt; N; </a:t>
            </a:r>
            <a:r>
              <a:rPr lang="en-US" altLang="zh-CN" sz="1400" dirty="0" err="1" smtClean="0">
                <a:latin typeface="宋体" panose="02000500000000000000" pitchFamily="2" charset="-122"/>
              </a:rPr>
              <a:t>i</a:t>
            </a:r>
            <a:r>
              <a:rPr lang="en-US" altLang="zh-CN" sz="1400" dirty="0" smtClean="0">
                <a:latin typeface="宋体" panose="02000500000000000000" pitchFamily="2" charset="-122"/>
              </a:rPr>
              <a:t> = i+1)</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for (</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0; j &lt; N; j = j+1)</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{r = 0;</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for (</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 = 0; k &lt; N; k = k+1){</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r = r + y[</a:t>
            </a:r>
            <a:r>
              <a:rPr lang="en-US" altLang="zh-CN" sz="1400" u="sng"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]*z[</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x[</a:t>
            </a:r>
            <a:r>
              <a:rPr lang="en-US" altLang="zh-CN" sz="1400" u="sng"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r;</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a:t>
            </a:r>
            <a:endParaRPr lang="en-US" altLang="zh-CN" sz="1400" dirty="0" smtClean="0">
              <a:latin typeface="宋体" panose="02000500000000000000" pitchFamily="2" charset="-122"/>
            </a:endParaRPr>
          </a:p>
          <a:p>
            <a:pPr lvl="1" eaLnBrk="1" hangingPunct="1">
              <a:lnSpc>
                <a:spcPct val="100000"/>
              </a:lnSpc>
              <a:spcBef>
                <a:spcPct val="0"/>
              </a:spcBef>
              <a:buFontTx/>
              <a:buNone/>
            </a:pP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After */</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for (</a:t>
            </a:r>
            <a:r>
              <a:rPr lang="en-US" altLang="zh-CN" sz="1400" dirty="0" err="1" smtClean="0">
                <a:solidFill>
                  <a:schemeClr val="accent1"/>
                </a:solidFill>
                <a:latin typeface="宋体" panose="02000500000000000000" pitchFamily="2" charset="-122"/>
              </a:rPr>
              <a:t>jj</a:t>
            </a:r>
            <a:r>
              <a:rPr lang="en-US" altLang="zh-CN" sz="1400" dirty="0" smtClean="0">
                <a:latin typeface="宋体" panose="02000500000000000000" pitchFamily="2" charset="-122"/>
              </a:rPr>
              <a:t> = 0; </a:t>
            </a:r>
            <a:r>
              <a:rPr lang="en-US" altLang="zh-CN" sz="1400" dirty="0" err="1" smtClean="0">
                <a:solidFill>
                  <a:schemeClr val="accent1"/>
                </a:solidFill>
                <a:latin typeface="宋体" panose="02000500000000000000" pitchFamily="2" charset="-122"/>
              </a:rPr>
              <a:t>jj</a:t>
            </a:r>
            <a:r>
              <a:rPr lang="en-US" altLang="zh-CN" sz="1400" dirty="0" smtClean="0">
                <a:latin typeface="宋体" panose="02000500000000000000" pitchFamily="2" charset="-122"/>
              </a:rPr>
              <a:t> &lt; N; </a:t>
            </a:r>
            <a:r>
              <a:rPr lang="en-US" altLang="zh-CN" sz="1400" dirty="0" err="1" smtClean="0">
                <a:solidFill>
                  <a:schemeClr val="accent1"/>
                </a:solidFill>
                <a:latin typeface="宋体" panose="02000500000000000000" pitchFamily="2" charset="-122"/>
              </a:rPr>
              <a:t>jj</a:t>
            </a:r>
            <a:r>
              <a:rPr lang="en-US" altLang="zh-CN" sz="1400" dirty="0" smtClean="0">
                <a:latin typeface="宋体" panose="02000500000000000000" pitchFamily="2" charset="-122"/>
              </a:rPr>
              <a:t> = </a:t>
            </a:r>
            <a:r>
              <a:rPr lang="en-US" altLang="zh-CN" sz="1400" dirty="0" err="1" smtClean="0">
                <a:solidFill>
                  <a:schemeClr val="accent1"/>
                </a:solidFill>
                <a:latin typeface="宋体" panose="02000500000000000000" pitchFamily="2" charset="-122"/>
              </a:rPr>
              <a:t>jj</a:t>
            </a:r>
            <a:r>
              <a:rPr lang="en-US" altLang="zh-CN" sz="1400" dirty="0" err="1" smtClean="0">
                <a:latin typeface="宋体" panose="02000500000000000000" pitchFamily="2" charset="-122"/>
              </a:rPr>
              <a:t>+B</a:t>
            </a:r>
            <a:r>
              <a:rPr lang="en-US" altLang="zh-CN" sz="1400" dirty="0" smtClean="0">
                <a:latin typeface="宋体" panose="02000500000000000000" pitchFamily="2" charset="-122"/>
              </a:rPr>
              <a:t>)</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for (</a:t>
            </a:r>
            <a:r>
              <a:rPr lang="en-US" altLang="zh-CN" sz="1400" dirty="0" err="1" smtClean="0">
                <a:solidFill>
                  <a:srgbClr val="FF0000"/>
                </a:solidFill>
                <a:latin typeface="宋体" panose="02000500000000000000" pitchFamily="2" charset="-122"/>
              </a:rPr>
              <a:t>kk</a:t>
            </a:r>
            <a:r>
              <a:rPr lang="en-US" altLang="zh-CN" sz="1400" dirty="0" smtClean="0">
                <a:latin typeface="宋体" panose="02000500000000000000" pitchFamily="2" charset="-122"/>
              </a:rPr>
              <a:t> = 0; </a:t>
            </a:r>
            <a:r>
              <a:rPr lang="en-US" altLang="zh-CN" sz="1400" dirty="0" err="1" smtClean="0">
                <a:solidFill>
                  <a:srgbClr val="FF0000"/>
                </a:solidFill>
                <a:latin typeface="宋体" panose="02000500000000000000" pitchFamily="2" charset="-122"/>
              </a:rPr>
              <a:t>kk</a:t>
            </a:r>
            <a:r>
              <a:rPr lang="en-US" altLang="zh-CN" sz="1400" dirty="0" smtClean="0">
                <a:latin typeface="宋体" panose="02000500000000000000" pitchFamily="2" charset="-122"/>
              </a:rPr>
              <a:t> &lt; N; </a:t>
            </a:r>
            <a:r>
              <a:rPr lang="en-US" altLang="zh-CN" sz="1400" dirty="0" err="1" smtClean="0">
                <a:solidFill>
                  <a:srgbClr val="FF0000"/>
                </a:solidFill>
                <a:latin typeface="宋体" panose="02000500000000000000" pitchFamily="2" charset="-122"/>
              </a:rPr>
              <a:t>kk</a:t>
            </a:r>
            <a:r>
              <a:rPr lang="en-US" altLang="zh-CN" sz="1400" dirty="0" smtClean="0">
                <a:latin typeface="宋体" panose="02000500000000000000" pitchFamily="2" charset="-122"/>
              </a:rPr>
              <a:t> = </a:t>
            </a:r>
            <a:r>
              <a:rPr lang="en-US" altLang="zh-CN" sz="1400" dirty="0" err="1" smtClean="0">
                <a:solidFill>
                  <a:srgbClr val="FF0000"/>
                </a:solidFill>
                <a:latin typeface="宋体" panose="02000500000000000000" pitchFamily="2" charset="-122"/>
              </a:rPr>
              <a:t>kk</a:t>
            </a:r>
            <a:r>
              <a:rPr lang="en-US" altLang="zh-CN" sz="1400" dirty="0" err="1" smtClean="0">
                <a:latin typeface="宋体" panose="02000500000000000000" pitchFamily="2" charset="-122"/>
              </a:rPr>
              <a:t>+B</a:t>
            </a:r>
            <a:r>
              <a:rPr lang="en-US" altLang="zh-CN" sz="1400" dirty="0" smtClean="0">
                <a:latin typeface="宋体" panose="02000500000000000000" pitchFamily="2" charset="-122"/>
              </a:rPr>
              <a:t>)</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for (</a:t>
            </a:r>
            <a:r>
              <a:rPr lang="en-US" altLang="zh-CN" sz="1400"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 = 0; </a:t>
            </a:r>
            <a:r>
              <a:rPr lang="en-US" altLang="zh-CN" sz="1400" dirty="0" err="1" smtClean="0">
                <a:latin typeface="宋体" panose="02000500000000000000" pitchFamily="2" charset="-122"/>
              </a:rPr>
              <a:t>i</a:t>
            </a:r>
            <a:r>
              <a:rPr lang="en-US" altLang="zh-CN" sz="1400" dirty="0" smtClean="0">
                <a:latin typeface="宋体" panose="02000500000000000000" pitchFamily="2" charset="-122"/>
              </a:rPr>
              <a:t> &lt; N; </a:t>
            </a:r>
            <a:r>
              <a:rPr lang="en-US" altLang="zh-CN" sz="1400" dirty="0" err="1" smtClean="0">
                <a:latin typeface="宋体" panose="02000500000000000000" pitchFamily="2" charset="-122"/>
              </a:rPr>
              <a:t>i</a:t>
            </a:r>
            <a:r>
              <a:rPr lang="en-US" altLang="zh-CN" sz="1400" dirty="0" smtClean="0">
                <a:latin typeface="宋体" panose="02000500000000000000" pitchFamily="2" charset="-122"/>
              </a:rPr>
              <a:t> = i+1)</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for (</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a:t>
            </a:r>
            <a:r>
              <a:rPr lang="en-US" altLang="zh-CN" sz="1400" dirty="0" err="1" smtClean="0">
                <a:solidFill>
                  <a:schemeClr val="accent1"/>
                </a:solidFill>
                <a:latin typeface="宋体" panose="02000500000000000000" pitchFamily="2" charset="-122"/>
              </a:rPr>
              <a:t>jj</a:t>
            </a:r>
            <a:r>
              <a:rPr lang="en-US" altLang="zh-CN" sz="1400" dirty="0" smtClean="0">
                <a:latin typeface="宋体" panose="02000500000000000000" pitchFamily="2" charset="-122"/>
              </a:rPr>
              <a:t>; </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&lt; min(</a:t>
            </a:r>
            <a:r>
              <a:rPr lang="en-US" altLang="zh-CN" sz="1400" dirty="0" smtClean="0">
                <a:solidFill>
                  <a:schemeClr val="accent1"/>
                </a:solidFill>
                <a:latin typeface="宋体" panose="02000500000000000000" pitchFamily="2" charset="-122"/>
              </a:rPr>
              <a:t>jj</a:t>
            </a:r>
            <a:r>
              <a:rPr lang="en-US" altLang="zh-CN" sz="1400" dirty="0" smtClean="0">
                <a:latin typeface="宋体" panose="02000500000000000000" pitchFamily="2" charset="-122"/>
              </a:rPr>
              <a:t>+B-1,N); </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+1)</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{r = 0;</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for (</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 = </a:t>
            </a:r>
            <a:r>
              <a:rPr lang="en-US" altLang="zh-CN" sz="1400" dirty="0" err="1" smtClean="0">
                <a:solidFill>
                  <a:srgbClr val="FF0000"/>
                </a:solidFill>
                <a:latin typeface="宋体" panose="02000500000000000000" pitchFamily="2" charset="-122"/>
              </a:rPr>
              <a:t>kk</a:t>
            </a:r>
            <a:r>
              <a:rPr lang="en-US" altLang="zh-CN" sz="1400" dirty="0" smtClean="0">
                <a:latin typeface="宋体" panose="02000500000000000000" pitchFamily="2" charset="-122"/>
              </a:rPr>
              <a:t>; </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 &lt; min(</a:t>
            </a:r>
            <a:r>
              <a:rPr lang="en-US" altLang="zh-CN" sz="1400" dirty="0" smtClean="0">
                <a:solidFill>
                  <a:srgbClr val="FF0000"/>
                </a:solidFill>
                <a:latin typeface="宋体" panose="02000500000000000000" pitchFamily="2" charset="-122"/>
              </a:rPr>
              <a:t>kk</a:t>
            </a:r>
            <a:r>
              <a:rPr lang="en-US" altLang="zh-CN" sz="1400" dirty="0" smtClean="0">
                <a:latin typeface="宋体" panose="02000500000000000000" pitchFamily="2" charset="-122"/>
              </a:rPr>
              <a:t>+B-1,N); </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 = </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+1) {</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r = r + y[</a:t>
            </a:r>
            <a:r>
              <a:rPr lang="en-US" altLang="zh-CN" sz="1400"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]*z[</a:t>
            </a:r>
            <a:r>
              <a:rPr lang="en-US" altLang="zh-CN" sz="1400" dirty="0" smtClean="0">
                <a:solidFill>
                  <a:srgbClr val="FF0000"/>
                </a:solidFill>
                <a:latin typeface="宋体" panose="02000500000000000000" pitchFamily="2" charset="-122"/>
              </a:rPr>
              <a:t>k</a:t>
            </a:r>
            <a:r>
              <a:rPr lang="en-US" altLang="zh-CN" sz="1400" dirty="0" smtClean="0">
                <a:latin typeface="宋体" panose="02000500000000000000" pitchFamily="2" charset="-122"/>
              </a:rPr>
              <a:t>][</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x[</a:t>
            </a:r>
            <a:r>
              <a:rPr lang="en-US" altLang="zh-CN" sz="1400"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x[</a:t>
            </a:r>
            <a:r>
              <a:rPr lang="en-US" altLang="zh-CN" sz="1400" dirty="0" err="1" smtClean="0">
                <a:solidFill>
                  <a:schemeClr val="accent2"/>
                </a:solidFill>
                <a:latin typeface="宋体" panose="02000500000000000000" pitchFamily="2" charset="-122"/>
              </a:rPr>
              <a:t>i</a:t>
            </a:r>
            <a:r>
              <a:rPr lang="en-US" altLang="zh-CN" sz="1400" dirty="0" smtClean="0">
                <a:latin typeface="宋体" panose="02000500000000000000" pitchFamily="2" charset="-122"/>
              </a:rPr>
              <a:t>][</a:t>
            </a:r>
            <a:r>
              <a:rPr lang="en-US" altLang="zh-CN" sz="1400" dirty="0" smtClean="0">
                <a:solidFill>
                  <a:schemeClr val="accent1"/>
                </a:solidFill>
                <a:latin typeface="宋体" panose="02000500000000000000" pitchFamily="2" charset="-122"/>
              </a:rPr>
              <a:t>j</a:t>
            </a:r>
            <a:r>
              <a:rPr lang="en-US" altLang="zh-CN" sz="1400" dirty="0" smtClean="0">
                <a:latin typeface="宋体" panose="02000500000000000000" pitchFamily="2" charset="-122"/>
              </a:rPr>
              <a:t>] + r;</a:t>
            </a:r>
            <a:endParaRPr lang="en-US" altLang="zh-CN" sz="1400" dirty="0" smtClean="0">
              <a:latin typeface="宋体" panose="02000500000000000000" pitchFamily="2" charset="-122"/>
            </a:endParaRPr>
          </a:p>
          <a:p>
            <a:pPr lvl="1" eaLnBrk="1" hangingPunct="1">
              <a:lnSpc>
                <a:spcPct val="100000"/>
              </a:lnSpc>
              <a:spcBef>
                <a:spcPct val="0"/>
              </a:spcBef>
              <a:buFontTx/>
              <a:buNone/>
            </a:pPr>
            <a:r>
              <a:rPr lang="en-US" altLang="zh-CN" sz="1400" dirty="0" smtClean="0">
                <a:latin typeface="宋体" panose="02000500000000000000" pitchFamily="2" charset="-122"/>
              </a:rPr>
              <a:t>		};</a:t>
            </a:r>
            <a:endParaRPr lang="en-US" altLang="zh-CN" sz="1400" dirty="0" smtClean="0">
              <a:latin typeface="宋体" panose="02000500000000000000" pitchFamily="2" charset="-122"/>
            </a:endParaRPr>
          </a:p>
        </p:txBody>
      </p:sp>
      <p:grpSp>
        <p:nvGrpSpPr>
          <p:cNvPr id="39941" name="Group 4"/>
          <p:cNvGrpSpPr/>
          <p:nvPr/>
        </p:nvGrpSpPr>
        <p:grpSpPr bwMode="auto">
          <a:xfrm>
            <a:off x="7978775" y="2547938"/>
            <a:ext cx="2886075" cy="298450"/>
            <a:chOff x="4004" y="1040"/>
            <a:chExt cx="1568" cy="176"/>
          </a:xfrm>
        </p:grpSpPr>
        <p:sp>
          <p:nvSpPr>
            <p:cNvPr id="39951" name="Rectangle 5"/>
            <p:cNvSpPr>
              <a:spLocks noChangeArrowheads="1"/>
            </p:cNvSpPr>
            <p:nvPr/>
          </p:nvSpPr>
          <p:spPr bwMode="auto">
            <a:xfrm>
              <a:off x="4004" y="1040"/>
              <a:ext cx="1568" cy="176"/>
            </a:xfrm>
            <a:prstGeom prst="rect">
              <a:avLst/>
            </a:prstGeom>
            <a:solidFill>
              <a:schemeClr val="bg1"/>
            </a:solidFill>
            <a:ln w="25400">
              <a:solidFill>
                <a:schemeClr val="tx1"/>
              </a:solidFill>
              <a:miter lim="800000"/>
            </a:ln>
          </p:spPr>
          <p:txBody>
            <a:bodyPr wrap="none" anchor="ctr"/>
            <a:lstStyle/>
            <a:p>
              <a:endParaRPr lang="zh-CN" altLang="en-US"/>
            </a:p>
          </p:txBody>
        </p:sp>
        <p:sp>
          <p:nvSpPr>
            <p:cNvPr id="39952" name="Line 6"/>
            <p:cNvSpPr>
              <a:spLocks noChangeShapeType="1"/>
            </p:cNvSpPr>
            <p:nvPr/>
          </p:nvSpPr>
          <p:spPr bwMode="auto">
            <a:xfrm>
              <a:off x="4044" y="1140"/>
              <a:ext cx="1488" cy="0"/>
            </a:xfrm>
            <a:prstGeom prst="line">
              <a:avLst/>
            </a:prstGeom>
            <a:noFill/>
            <a:ln w="25400">
              <a:solidFill>
                <a:srgbClr val="FF0000"/>
              </a:solidFill>
              <a:round/>
              <a:tailEnd type="triangle" w="med" len="med"/>
            </a:ln>
          </p:spPr>
          <p:txBody>
            <a:bodyPr/>
            <a:lstStyle/>
            <a:p>
              <a:endParaRPr lang="zh-CN" altLang="en-US"/>
            </a:p>
          </p:txBody>
        </p:sp>
      </p:grpSp>
      <p:grpSp>
        <p:nvGrpSpPr>
          <p:cNvPr id="39942" name="Group 7"/>
          <p:cNvGrpSpPr/>
          <p:nvPr/>
        </p:nvGrpSpPr>
        <p:grpSpPr bwMode="auto">
          <a:xfrm>
            <a:off x="10979150" y="2538413"/>
            <a:ext cx="373063" cy="2203450"/>
            <a:chOff x="3740" y="824"/>
            <a:chExt cx="176" cy="1568"/>
          </a:xfrm>
        </p:grpSpPr>
        <p:sp>
          <p:nvSpPr>
            <p:cNvPr id="39949" name="Rectangle 8"/>
            <p:cNvSpPr>
              <a:spLocks noChangeArrowheads="1"/>
            </p:cNvSpPr>
            <p:nvPr/>
          </p:nvSpPr>
          <p:spPr bwMode="auto">
            <a:xfrm>
              <a:off x="3740" y="824"/>
              <a:ext cx="176" cy="1568"/>
            </a:xfrm>
            <a:prstGeom prst="rect">
              <a:avLst/>
            </a:prstGeom>
            <a:solidFill>
              <a:schemeClr val="bg1"/>
            </a:solidFill>
            <a:ln w="25400">
              <a:solidFill>
                <a:schemeClr val="tx1"/>
              </a:solidFill>
              <a:miter lim="800000"/>
            </a:ln>
          </p:spPr>
          <p:txBody>
            <a:bodyPr wrap="none" anchor="ctr"/>
            <a:lstStyle/>
            <a:p>
              <a:endParaRPr lang="zh-CN" altLang="en-US"/>
            </a:p>
          </p:txBody>
        </p:sp>
        <p:sp>
          <p:nvSpPr>
            <p:cNvPr id="39950" name="Line 9"/>
            <p:cNvSpPr>
              <a:spLocks noChangeShapeType="1"/>
            </p:cNvSpPr>
            <p:nvPr/>
          </p:nvSpPr>
          <p:spPr bwMode="auto">
            <a:xfrm>
              <a:off x="3840" y="840"/>
              <a:ext cx="0" cy="1488"/>
            </a:xfrm>
            <a:prstGeom prst="line">
              <a:avLst/>
            </a:prstGeom>
            <a:noFill/>
            <a:ln w="25400">
              <a:solidFill>
                <a:srgbClr val="FF0000"/>
              </a:solidFill>
              <a:round/>
              <a:tailEnd type="triangle" w="med" len="med"/>
            </a:ln>
          </p:spPr>
          <p:txBody>
            <a:bodyPr/>
            <a:lstStyle/>
            <a:p>
              <a:endParaRPr lang="zh-CN" altLang="en-US"/>
            </a:p>
          </p:txBody>
        </p:sp>
      </p:grpSp>
      <p:grpSp>
        <p:nvGrpSpPr>
          <p:cNvPr id="39943" name="Group 10"/>
          <p:cNvGrpSpPr/>
          <p:nvPr/>
        </p:nvGrpSpPr>
        <p:grpSpPr bwMode="auto">
          <a:xfrm>
            <a:off x="9247188" y="5870575"/>
            <a:ext cx="1031875" cy="660400"/>
            <a:chOff x="5132" y="2504"/>
            <a:chExt cx="524" cy="464"/>
          </a:xfrm>
        </p:grpSpPr>
        <p:sp>
          <p:nvSpPr>
            <p:cNvPr id="39947" name="Rectangle 11"/>
            <p:cNvSpPr>
              <a:spLocks noChangeArrowheads="1"/>
            </p:cNvSpPr>
            <p:nvPr/>
          </p:nvSpPr>
          <p:spPr bwMode="auto">
            <a:xfrm>
              <a:off x="5132" y="2504"/>
              <a:ext cx="524" cy="464"/>
            </a:xfrm>
            <a:prstGeom prst="rect">
              <a:avLst/>
            </a:prstGeom>
            <a:solidFill>
              <a:schemeClr val="bg1"/>
            </a:solidFill>
            <a:ln w="25400">
              <a:solidFill>
                <a:schemeClr val="tx1"/>
              </a:solidFill>
              <a:miter lim="800000"/>
            </a:ln>
          </p:spPr>
          <p:txBody>
            <a:bodyPr wrap="none" anchor="ctr"/>
            <a:lstStyle/>
            <a:p>
              <a:endParaRPr lang="zh-CN" altLang="en-US"/>
            </a:p>
          </p:txBody>
        </p:sp>
        <p:sp>
          <p:nvSpPr>
            <p:cNvPr id="39948" name="Line 12"/>
            <p:cNvSpPr>
              <a:spLocks noChangeShapeType="1"/>
            </p:cNvSpPr>
            <p:nvPr/>
          </p:nvSpPr>
          <p:spPr bwMode="auto">
            <a:xfrm flipV="1">
              <a:off x="5184" y="2616"/>
              <a:ext cx="420" cy="4"/>
            </a:xfrm>
            <a:prstGeom prst="line">
              <a:avLst/>
            </a:prstGeom>
            <a:noFill/>
            <a:ln w="25400">
              <a:solidFill>
                <a:srgbClr val="FF0000"/>
              </a:solidFill>
              <a:round/>
              <a:tailEnd type="triangle" w="med" len="med"/>
            </a:ln>
          </p:spPr>
          <p:txBody>
            <a:bodyPr/>
            <a:lstStyle/>
            <a:p>
              <a:endParaRPr lang="zh-CN" altLang="en-US"/>
            </a:p>
          </p:txBody>
        </p:sp>
      </p:grpSp>
      <p:grpSp>
        <p:nvGrpSpPr>
          <p:cNvPr id="39944" name="Group 13"/>
          <p:cNvGrpSpPr/>
          <p:nvPr/>
        </p:nvGrpSpPr>
        <p:grpSpPr bwMode="auto">
          <a:xfrm>
            <a:off x="10566400" y="5829300"/>
            <a:ext cx="982663" cy="698500"/>
            <a:chOff x="4580" y="2996"/>
            <a:chExt cx="464" cy="440"/>
          </a:xfrm>
        </p:grpSpPr>
        <p:sp>
          <p:nvSpPr>
            <p:cNvPr id="39945" name="Rectangle 14"/>
            <p:cNvSpPr>
              <a:spLocks noChangeArrowheads="1"/>
            </p:cNvSpPr>
            <p:nvPr/>
          </p:nvSpPr>
          <p:spPr bwMode="auto">
            <a:xfrm>
              <a:off x="4580" y="2996"/>
              <a:ext cx="464" cy="440"/>
            </a:xfrm>
            <a:prstGeom prst="rect">
              <a:avLst/>
            </a:prstGeom>
            <a:solidFill>
              <a:schemeClr val="bg1"/>
            </a:solidFill>
            <a:ln w="25400">
              <a:solidFill>
                <a:schemeClr val="tx1"/>
              </a:solidFill>
              <a:miter lim="800000"/>
            </a:ln>
          </p:spPr>
          <p:txBody>
            <a:bodyPr wrap="none" anchor="ctr"/>
            <a:lstStyle/>
            <a:p>
              <a:endParaRPr lang="zh-CN" altLang="en-US"/>
            </a:p>
          </p:txBody>
        </p:sp>
        <p:sp>
          <p:nvSpPr>
            <p:cNvPr id="39946" name="Line 15"/>
            <p:cNvSpPr>
              <a:spLocks noChangeShapeType="1"/>
            </p:cNvSpPr>
            <p:nvPr/>
          </p:nvSpPr>
          <p:spPr bwMode="auto">
            <a:xfrm flipH="1">
              <a:off x="4668" y="3066"/>
              <a:ext cx="6" cy="318"/>
            </a:xfrm>
            <a:prstGeom prst="line">
              <a:avLst/>
            </a:prstGeom>
            <a:noFill/>
            <a:ln w="25400">
              <a:solidFill>
                <a:srgbClr val="FF0000"/>
              </a:solidFill>
              <a:round/>
              <a:tailEnd type="triangle" w="med" len="med"/>
            </a:ln>
          </p:spPr>
          <p:txBody>
            <a:bodyPr/>
            <a:lstStyle/>
            <a:p>
              <a:endParaRPr lang="zh-CN" altLang="en-US"/>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灯片编号占位符 3"/>
          <p:cNvSpPr>
            <a:spLocks noGrp="1" noChangeArrowheads="1"/>
          </p:cNvSpPr>
          <p:nvPr>
            <p:ph type="sldNum" sz="quarter" idx="12"/>
          </p:nvPr>
        </p:nvSpPr>
        <p:spPr>
          <a:noFill/>
        </p:spPr>
        <p:txBody>
          <a:bodyPr/>
          <a:lstStyle/>
          <a:p>
            <a:fld id="{3E05EEF2-5A7A-4A08-871E-9A087641B78C}" type="slidenum">
              <a:rPr lang="en-US" altLang="zh-CN" smtClean="0"/>
            </a:fld>
            <a:endParaRPr lang="en-US" altLang="zh-CN" smtClean="0"/>
          </a:p>
        </p:txBody>
      </p:sp>
      <p:graphicFrame>
        <p:nvGraphicFramePr>
          <p:cNvPr id="8194" name="Object 4"/>
          <p:cNvGraphicFramePr/>
          <p:nvPr/>
        </p:nvGraphicFramePr>
        <p:xfrm>
          <a:off x="576263" y="1368425"/>
          <a:ext cx="10942637" cy="5311775"/>
        </p:xfrm>
        <a:graphic>
          <a:graphicData uri="http://schemas.openxmlformats.org/presentationml/2006/ole">
            <mc:AlternateContent xmlns:mc="http://schemas.openxmlformats.org/markup-compatibility/2006">
              <mc:Choice xmlns:v="urn:schemas-microsoft-com:vml" Requires="v">
                <p:oleObj spid="_x0000_s6145" name="" r:id="rId1" imgW="6524625" imgH="4514850" progId="Excel.Chart.8">
                  <p:embed/>
                </p:oleObj>
              </mc:Choice>
              <mc:Fallback>
                <p:oleObj name="" r:id="rId1" imgW="6524625" imgH="4514850" progId="Excel.Chart.8">
                  <p:embed/>
                  <p:pic>
                    <p:nvPicPr>
                      <p:cNvPr id="0" name="Object 4"/>
                      <p:cNvPicPr/>
                      <p:nvPr/>
                    </p:nvPicPr>
                    <p:blipFill>
                      <a:blip r:embed="rId2"/>
                      <a:stretch>
                        <a:fillRect/>
                      </a:stretch>
                    </p:blipFill>
                    <p:spPr>
                      <a:xfrm>
                        <a:off x="576263" y="1368425"/>
                        <a:ext cx="10942637" cy="5311775"/>
                      </a:xfrm>
                      <a:prstGeom prst="rect">
                        <a:avLst/>
                      </a:prstGeom>
                      <a:noFill/>
                      <a:ln w="38100">
                        <a:noFill/>
                      </a:ln>
                    </p:spPr>
                  </p:pic>
                </p:oleObj>
              </mc:Fallback>
            </mc:AlternateContent>
          </a:graphicData>
        </a:graphic>
      </p:graphicFrame>
      <p:sp>
        <p:nvSpPr>
          <p:cNvPr id="8196" name="Rectangle 5"/>
          <p:cNvSpPr>
            <a:spLocks noChangeArrowheads="1"/>
          </p:cNvSpPr>
          <p:nvPr/>
        </p:nvSpPr>
        <p:spPr bwMode="auto">
          <a:xfrm>
            <a:off x="355600" y="352425"/>
            <a:ext cx="11657013" cy="885825"/>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软件优化的效果</a:t>
            </a:r>
            <a:endParaRPr lang="zh-CN" altLang="en-US" sz="3200">
              <a:solidFill>
                <a:srgbClr val="FF0000"/>
              </a:solidFill>
              <a:latin typeface="Arial" panose="02080604020202020204" pitchFamily="34" charset="0"/>
              <a:ea typeface="黑体" panose="02000500000000000000"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noChangeArrowheads="1"/>
          </p:cNvSpPr>
          <p:nvPr>
            <p:ph type="sldNum" sz="quarter" idx="12"/>
          </p:nvPr>
        </p:nvSpPr>
        <p:spPr>
          <a:noFill/>
        </p:spPr>
        <p:txBody>
          <a:bodyPr/>
          <a:lstStyle/>
          <a:p>
            <a:fld id="{736CF9BF-EDDA-47ED-8F1F-BAD6710F149D}" type="slidenum">
              <a:rPr lang="en-US" altLang="zh-CN" smtClean="0"/>
            </a:fld>
            <a:endParaRPr lang="en-US" altLang="zh-CN" smtClean="0"/>
          </a:p>
        </p:txBody>
      </p:sp>
      <p:sp>
        <p:nvSpPr>
          <p:cNvPr id="40963" name="Rectangle 4"/>
          <p:cNvSpPr>
            <a:spLocks noChangeArrowheads="1"/>
          </p:cNvSpPr>
          <p:nvPr/>
        </p:nvSpPr>
        <p:spPr bwMode="auto">
          <a:xfrm>
            <a:off x="825500" y="501650"/>
            <a:ext cx="10361613" cy="846138"/>
          </a:xfrm>
          <a:prstGeom prst="rect">
            <a:avLst/>
          </a:prstGeom>
          <a:noFill/>
          <a:ln w="9525">
            <a:noFill/>
            <a:miter lim="800000"/>
          </a:ln>
        </p:spPr>
        <p:txBody>
          <a:bodyPr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降低失效开销（</a:t>
            </a:r>
            <a:r>
              <a:rPr lang="en-US" altLang="zh-CN" sz="3200">
                <a:solidFill>
                  <a:srgbClr val="FF0000"/>
                </a:solidFill>
                <a:latin typeface="Arial" panose="02080604020202020204" pitchFamily="34" charset="0"/>
                <a:ea typeface="黑体" panose="02000500000000000000" pitchFamily="49" charset="-122"/>
              </a:rPr>
              <a:t>MissPenalty</a:t>
            </a:r>
            <a:r>
              <a:rPr lang="zh-CN" altLang="en-US" sz="3200">
                <a:solidFill>
                  <a:srgbClr val="FF0000"/>
                </a:solidFill>
                <a:latin typeface="Arial" panose="02080604020202020204" pitchFamily="34" charset="0"/>
                <a:ea typeface="黑体" panose="02000500000000000000" pitchFamily="49" charset="-122"/>
              </a:rPr>
              <a:t>）</a:t>
            </a:r>
            <a:endParaRPr lang="zh-CN" altLang="en-US" sz="3200">
              <a:solidFill>
                <a:srgbClr val="FF0000"/>
              </a:solidFill>
              <a:latin typeface="Arial" panose="02080604020202020204" pitchFamily="34" charset="0"/>
              <a:ea typeface="黑体" panose="02000500000000000000" pitchFamily="49" charset="-122"/>
            </a:endParaRPr>
          </a:p>
        </p:txBody>
      </p:sp>
      <p:sp>
        <p:nvSpPr>
          <p:cNvPr id="40964" name="Rectangle 5"/>
          <p:cNvSpPr>
            <a:spLocks noChangeArrowheads="1"/>
          </p:cNvSpPr>
          <p:nvPr/>
        </p:nvSpPr>
        <p:spPr bwMode="auto">
          <a:xfrm>
            <a:off x="611188" y="1690688"/>
            <a:ext cx="10969625" cy="4921250"/>
          </a:xfrm>
          <a:prstGeom prst="rect">
            <a:avLst/>
          </a:prstGeom>
          <a:noFill/>
          <a:ln w="9525">
            <a:noFill/>
            <a:miter lim="800000"/>
          </a:ln>
        </p:spPr>
        <p:txBody>
          <a:bodyPr/>
          <a:lstStyle/>
          <a:p>
            <a:pPr marL="342900" indent="-342900">
              <a:lnSpc>
                <a:spcPct val="150000"/>
              </a:lnSpc>
              <a:spcBef>
                <a:spcPct val="0"/>
              </a:spcBef>
              <a:buFontTx/>
              <a:buChar char="•"/>
            </a:pPr>
            <a:r>
              <a:rPr lang="zh-CN" altLang="en-US" sz="2000" b="1">
                <a:latin typeface="宋体" panose="02000500000000000000" pitchFamily="2" charset="-122"/>
              </a:rPr>
              <a:t>关键字优先</a:t>
            </a:r>
            <a:endParaRPr lang="zh-CN" altLang="en-US" sz="2000" b="1">
              <a:latin typeface="宋体" panose="02000500000000000000" pitchFamily="2" charset="-122"/>
            </a:endParaRPr>
          </a:p>
          <a:p>
            <a:pPr marL="342900" indent="-342900">
              <a:lnSpc>
                <a:spcPct val="150000"/>
              </a:lnSpc>
              <a:spcBef>
                <a:spcPct val="0"/>
              </a:spcBef>
              <a:buFontTx/>
              <a:buChar char="•"/>
            </a:pPr>
            <a:r>
              <a:rPr lang="zh-CN" altLang="en-US" sz="2000" b="1">
                <a:latin typeface="宋体" panose="02000500000000000000" pitchFamily="2" charset="-122"/>
              </a:rPr>
              <a:t>读失效优先</a:t>
            </a:r>
            <a:endParaRPr lang="zh-CN" altLang="en-US" sz="2000" b="1">
              <a:latin typeface="宋体" panose="02000500000000000000" pitchFamily="2" charset="-122"/>
            </a:endParaRPr>
          </a:p>
          <a:p>
            <a:pPr marL="342900" indent="-342900">
              <a:lnSpc>
                <a:spcPct val="150000"/>
              </a:lnSpc>
              <a:spcBef>
                <a:spcPct val="0"/>
              </a:spcBef>
              <a:buFontTx/>
              <a:buChar char="•"/>
            </a:pPr>
            <a:r>
              <a:rPr lang="en-US" altLang="zh-CN" sz="2000" b="1">
                <a:latin typeface="宋体" panose="02000500000000000000" pitchFamily="2" charset="-122"/>
              </a:rPr>
              <a:t>Victim Cache</a:t>
            </a:r>
            <a:endParaRPr lang="en-US" altLang="zh-CN" sz="2000" b="1">
              <a:latin typeface="宋体" panose="02000500000000000000" pitchFamily="2" charset="-122"/>
            </a:endParaRPr>
          </a:p>
          <a:p>
            <a:pPr marL="342900" indent="-342900">
              <a:lnSpc>
                <a:spcPct val="150000"/>
              </a:lnSpc>
              <a:spcBef>
                <a:spcPct val="0"/>
              </a:spcBef>
              <a:buFontTx/>
              <a:buChar char="•"/>
            </a:pPr>
            <a:r>
              <a:rPr lang="zh-CN" altLang="en-US" sz="2000" b="1">
                <a:latin typeface="宋体" panose="02000500000000000000" pitchFamily="2" charset="-122"/>
              </a:rPr>
              <a:t>写合并</a:t>
            </a:r>
            <a:endParaRPr lang="zh-CN" altLang="en-US" sz="2000" b="1">
              <a:latin typeface="宋体" panose="02000500000000000000" pitchFamily="2" charset="-122"/>
            </a:endParaRPr>
          </a:p>
          <a:p>
            <a:pPr marL="342900" indent="-342900">
              <a:lnSpc>
                <a:spcPct val="150000"/>
              </a:lnSpc>
              <a:spcBef>
                <a:spcPct val="0"/>
              </a:spcBef>
              <a:buFontTx/>
              <a:buChar char="•"/>
            </a:pPr>
            <a:r>
              <a:rPr lang="zh-CN" altLang="en-US" sz="2000" b="1">
                <a:latin typeface="宋体" panose="02000500000000000000" pitchFamily="2" charset="-122"/>
              </a:rPr>
              <a:t>多级</a:t>
            </a:r>
            <a:r>
              <a:rPr lang="en-US" altLang="zh-CN" sz="2000" b="1">
                <a:latin typeface="宋体" panose="02000500000000000000" pitchFamily="2" charset="-122"/>
              </a:rPr>
              <a:t>Cache</a:t>
            </a:r>
            <a:endParaRPr lang="en-US" altLang="zh-CN" sz="20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noChangeArrowheads="1"/>
          </p:cNvSpPr>
          <p:nvPr>
            <p:ph type="sldNum" sz="quarter" idx="12"/>
          </p:nvPr>
        </p:nvSpPr>
        <p:spPr>
          <a:noFill/>
        </p:spPr>
        <p:txBody>
          <a:bodyPr/>
          <a:lstStyle/>
          <a:p>
            <a:fld id="{490EC2A0-E312-4BEC-BC7F-9BBF96D1CACE}" type="slidenum">
              <a:rPr lang="en-US" altLang="zh-CN" smtClean="0"/>
            </a:fld>
            <a:endParaRPr lang="en-US" altLang="zh-CN" smtClean="0"/>
          </a:p>
        </p:txBody>
      </p:sp>
      <p:sp>
        <p:nvSpPr>
          <p:cNvPr id="41987" name="Rectangle 4"/>
          <p:cNvSpPr>
            <a:spLocks noChangeArrowheads="1"/>
          </p:cNvSpPr>
          <p:nvPr/>
        </p:nvSpPr>
        <p:spPr bwMode="auto">
          <a:xfrm>
            <a:off x="836613" y="158750"/>
            <a:ext cx="10895012" cy="1143000"/>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通过关键字优先降低失效延迟 </a:t>
            </a:r>
            <a:endParaRPr lang="zh-CN" altLang="en-US" sz="3200">
              <a:solidFill>
                <a:srgbClr val="FF0000"/>
              </a:solidFill>
              <a:latin typeface="Arial" panose="02080604020202020204" pitchFamily="34" charset="0"/>
              <a:ea typeface="黑体" panose="02000500000000000000" pitchFamily="49" charset="-122"/>
            </a:endParaRPr>
          </a:p>
        </p:txBody>
      </p:sp>
      <p:sp>
        <p:nvSpPr>
          <p:cNvPr id="41988" name="Rectangle 5"/>
          <p:cNvSpPr>
            <a:spLocks noChangeArrowheads="1"/>
          </p:cNvSpPr>
          <p:nvPr/>
        </p:nvSpPr>
        <p:spPr bwMode="auto">
          <a:xfrm>
            <a:off x="228600" y="1343025"/>
            <a:ext cx="11623675" cy="3763963"/>
          </a:xfrm>
          <a:prstGeom prst="rect">
            <a:avLst/>
          </a:prstGeom>
          <a:noFill/>
          <a:ln w="12700">
            <a:noFill/>
            <a:miter lim="800000"/>
          </a:ln>
        </p:spPr>
        <p:txBody>
          <a:bodyPr lIns="90488" tIns="44450" rIns="90488" bIns="44450"/>
          <a:lstStyle/>
          <a:p>
            <a:pPr marL="342900" indent="-342900">
              <a:lnSpc>
                <a:spcPct val="150000"/>
              </a:lnSpc>
              <a:spcBef>
                <a:spcPct val="0"/>
              </a:spcBef>
              <a:buFontTx/>
              <a:buChar char="•"/>
            </a:pPr>
            <a:r>
              <a:rPr lang="zh-CN" altLang="en-US" sz="2400" b="1" dirty="0">
                <a:latin typeface="宋体" panose="02000500000000000000" pitchFamily="2" charset="-122"/>
              </a:rPr>
              <a:t>在</a:t>
            </a:r>
            <a:r>
              <a:rPr lang="en-US" altLang="zh-CN" sz="2400" b="1" dirty="0">
                <a:latin typeface="宋体" panose="02000500000000000000" pitchFamily="2" charset="-122"/>
              </a:rPr>
              <a:t>Cache</a:t>
            </a:r>
            <a:r>
              <a:rPr lang="zh-CN" altLang="en-US" sz="2400" b="1" dirty="0">
                <a:latin typeface="宋体" panose="02000500000000000000" pitchFamily="2" charset="-122"/>
              </a:rPr>
              <a:t>访问失效时，优先访问读访问需要的字</a:t>
            </a:r>
            <a:endParaRPr lang="zh-CN" altLang="en-US" sz="24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例如，</a:t>
            </a:r>
            <a:r>
              <a:rPr lang="en-US" altLang="zh-CN" sz="1800" b="1" dirty="0">
                <a:latin typeface="宋体" panose="02000500000000000000" pitchFamily="2" charset="-122"/>
              </a:rPr>
              <a:t>Cache</a:t>
            </a:r>
            <a:r>
              <a:rPr lang="zh-CN" altLang="en-US" sz="1800" b="1" dirty="0">
                <a:latin typeface="宋体" panose="02000500000000000000" pitchFamily="2" charset="-122"/>
              </a:rPr>
              <a:t>块大小为</a:t>
            </a:r>
            <a:r>
              <a:rPr lang="en-US" altLang="zh-CN" sz="1800" b="1" dirty="0">
                <a:latin typeface="宋体" panose="02000500000000000000" pitchFamily="2" charset="-122"/>
              </a:rPr>
              <a:t>64</a:t>
            </a:r>
            <a:r>
              <a:rPr lang="zh-CN" altLang="en-US" sz="1800" b="1" dirty="0">
                <a:latin typeface="宋体" panose="02000500000000000000" pitchFamily="2" charset="-122"/>
              </a:rPr>
              <a:t>字节，分为</a:t>
            </a:r>
            <a:r>
              <a:rPr lang="en-US" altLang="zh-CN" sz="1800" b="1" dirty="0">
                <a:latin typeface="宋体" panose="02000500000000000000" pitchFamily="2" charset="-122"/>
              </a:rPr>
              <a:t>8</a:t>
            </a:r>
            <a:r>
              <a:rPr lang="zh-CN" altLang="en-US" sz="1800" b="1" dirty="0">
                <a:latin typeface="宋体" panose="02000500000000000000" pitchFamily="2" charset="-122"/>
              </a:rPr>
              <a:t>个</a:t>
            </a:r>
            <a:r>
              <a:rPr lang="en-US" altLang="zh-CN" sz="1800" b="1" dirty="0">
                <a:latin typeface="宋体" panose="02000500000000000000" pitchFamily="2" charset="-122"/>
              </a:rPr>
              <a:t>8</a:t>
            </a:r>
            <a:r>
              <a:rPr lang="zh-CN" altLang="en-US" sz="1800" b="1" dirty="0">
                <a:latin typeface="宋体" panose="02000500000000000000" pitchFamily="2" charset="-122"/>
              </a:rPr>
              <a:t>字节的双字，如果取数指令访问其中的第</a:t>
            </a:r>
            <a:r>
              <a:rPr lang="en-US" altLang="zh-CN" sz="1800" b="1" dirty="0">
                <a:latin typeface="宋体" panose="02000500000000000000" pitchFamily="2" charset="-122"/>
              </a:rPr>
              <a:t>6</a:t>
            </a:r>
            <a:r>
              <a:rPr lang="zh-CN" altLang="en-US" sz="1800" b="1" dirty="0">
                <a:latin typeface="宋体" panose="02000500000000000000" pitchFamily="2" charset="-122"/>
              </a:rPr>
              <a:t>个双字引起</a:t>
            </a:r>
            <a:r>
              <a:rPr lang="en-US" altLang="zh-CN" sz="1800" b="1" dirty="0">
                <a:latin typeface="宋体" panose="02000500000000000000" pitchFamily="2" charset="-122"/>
              </a:rPr>
              <a:t>Cache</a:t>
            </a:r>
            <a:r>
              <a:rPr lang="zh-CN" altLang="en-US" sz="1800" b="1" dirty="0">
                <a:latin typeface="宋体" panose="02000500000000000000" pitchFamily="2" charset="-122"/>
              </a:rPr>
              <a:t>失效，就按</a:t>
            </a:r>
            <a:r>
              <a:rPr lang="en-US" altLang="zh-CN" sz="1800" b="1" dirty="0">
                <a:latin typeface="宋体" panose="02000500000000000000" pitchFamily="2" charset="-122"/>
              </a:rPr>
              <a:t>6</a:t>
            </a:r>
            <a:r>
              <a:rPr lang="zh-CN" altLang="en-US" sz="1800" b="1" dirty="0">
                <a:latin typeface="宋体" panose="02000500000000000000" pitchFamily="2" charset="-122"/>
              </a:rPr>
              <a:t>、</a:t>
            </a:r>
            <a:r>
              <a:rPr lang="en-US" altLang="zh-CN" sz="1800" b="1" dirty="0">
                <a:latin typeface="宋体" panose="02000500000000000000" pitchFamily="2" charset="-122"/>
              </a:rPr>
              <a:t>7</a:t>
            </a:r>
            <a:r>
              <a:rPr lang="zh-CN" altLang="en-US" sz="1800" b="1" dirty="0">
                <a:latin typeface="宋体" panose="02000500000000000000" pitchFamily="2" charset="-122"/>
              </a:rPr>
              <a:t>、</a:t>
            </a:r>
            <a:r>
              <a:rPr lang="en-US" altLang="zh-CN" sz="1800" b="1" dirty="0">
                <a:latin typeface="宋体" panose="02000500000000000000" pitchFamily="2" charset="-122"/>
              </a:rPr>
              <a:t>0</a:t>
            </a:r>
            <a:r>
              <a:rPr lang="zh-CN" altLang="en-US" sz="1800" b="1" dirty="0">
                <a:latin typeface="宋体" panose="02000500000000000000" pitchFamily="2" charset="-122"/>
              </a:rPr>
              <a:t>、</a:t>
            </a:r>
            <a:r>
              <a:rPr lang="en-US" altLang="zh-CN" sz="1800" b="1" dirty="0">
                <a:latin typeface="宋体" panose="02000500000000000000" pitchFamily="2" charset="-122"/>
              </a:rPr>
              <a:t>1</a:t>
            </a:r>
            <a:r>
              <a:rPr lang="zh-CN" altLang="en-US" sz="1800" b="1" dirty="0">
                <a:latin typeface="宋体" panose="02000500000000000000" pitchFamily="2" charset="-122"/>
              </a:rPr>
              <a:t>、</a:t>
            </a:r>
            <a:r>
              <a:rPr lang="en-US" altLang="zh-CN" sz="1800" b="1" dirty="0">
                <a:latin typeface="宋体" panose="02000500000000000000" pitchFamily="2" charset="-122"/>
              </a:rPr>
              <a:t>2</a:t>
            </a:r>
            <a:r>
              <a:rPr lang="zh-CN" altLang="en-US" sz="1800" b="1" dirty="0">
                <a:latin typeface="宋体" panose="02000500000000000000" pitchFamily="2" charset="-122"/>
              </a:rPr>
              <a:t>、</a:t>
            </a:r>
            <a:r>
              <a:rPr lang="en-US" altLang="zh-CN" sz="1800" b="1" dirty="0">
                <a:latin typeface="宋体" panose="02000500000000000000" pitchFamily="2" charset="-122"/>
              </a:rPr>
              <a:t>3</a:t>
            </a:r>
            <a:r>
              <a:rPr lang="zh-CN" altLang="en-US" sz="1800" b="1" dirty="0">
                <a:latin typeface="宋体" panose="02000500000000000000" pitchFamily="2" charset="-122"/>
              </a:rPr>
              <a:t>、</a:t>
            </a:r>
            <a:r>
              <a:rPr lang="en-US" altLang="zh-CN" sz="1800" b="1" dirty="0">
                <a:latin typeface="宋体" panose="02000500000000000000" pitchFamily="2" charset="-122"/>
              </a:rPr>
              <a:t>4</a:t>
            </a:r>
            <a:r>
              <a:rPr lang="zh-CN" altLang="en-US" sz="1800" b="1" dirty="0">
                <a:latin typeface="宋体" panose="02000500000000000000" pitchFamily="2" charset="-122"/>
              </a:rPr>
              <a:t>、</a:t>
            </a:r>
            <a:r>
              <a:rPr lang="en-US" altLang="zh-CN" sz="1800" b="1" dirty="0">
                <a:latin typeface="宋体" panose="02000500000000000000" pitchFamily="2" charset="-122"/>
              </a:rPr>
              <a:t>5</a:t>
            </a:r>
            <a:r>
              <a:rPr lang="zh-CN" altLang="en-US" sz="1800" b="1" dirty="0">
                <a:latin typeface="宋体" panose="02000500000000000000" pitchFamily="2" charset="-122"/>
              </a:rPr>
              <a:t>的次序，而不是按</a:t>
            </a:r>
            <a:r>
              <a:rPr lang="en-US" altLang="zh-CN" sz="1800" b="1" dirty="0">
                <a:latin typeface="宋体" panose="02000500000000000000" pitchFamily="2" charset="-122"/>
              </a:rPr>
              <a:t>0</a:t>
            </a:r>
            <a:r>
              <a:rPr lang="zh-CN" altLang="en-US" sz="1800" b="1" dirty="0">
                <a:latin typeface="宋体" panose="02000500000000000000" pitchFamily="2" charset="-122"/>
              </a:rPr>
              <a:t>、</a:t>
            </a:r>
            <a:r>
              <a:rPr lang="en-US" altLang="zh-CN" sz="1800" b="1" dirty="0">
                <a:latin typeface="宋体" panose="02000500000000000000" pitchFamily="2" charset="-122"/>
              </a:rPr>
              <a:t>1</a:t>
            </a:r>
            <a:r>
              <a:rPr lang="zh-CN" altLang="en-US" sz="1800" b="1" dirty="0">
                <a:latin typeface="宋体" panose="02000500000000000000" pitchFamily="2" charset="-122"/>
              </a:rPr>
              <a:t>、</a:t>
            </a:r>
            <a:r>
              <a:rPr lang="en-US" altLang="zh-CN" sz="1800" b="1" dirty="0">
                <a:latin typeface="宋体" panose="02000500000000000000" pitchFamily="2" charset="-122"/>
              </a:rPr>
              <a:t>2</a:t>
            </a:r>
            <a:r>
              <a:rPr lang="zh-CN" altLang="en-US" sz="1800" b="1" dirty="0">
                <a:latin typeface="宋体" panose="02000500000000000000" pitchFamily="2" charset="-122"/>
              </a:rPr>
              <a:t>、</a:t>
            </a:r>
            <a:r>
              <a:rPr lang="en-US" altLang="zh-CN" sz="1800" b="1" dirty="0">
                <a:latin typeface="宋体" panose="02000500000000000000" pitchFamily="2" charset="-122"/>
              </a:rPr>
              <a:t>3</a:t>
            </a:r>
            <a:r>
              <a:rPr lang="zh-CN" altLang="en-US" sz="1800" b="1" dirty="0">
                <a:latin typeface="宋体" panose="02000500000000000000" pitchFamily="2" charset="-122"/>
              </a:rPr>
              <a:t>、</a:t>
            </a:r>
            <a:r>
              <a:rPr lang="en-US" altLang="zh-CN" sz="1800" b="1" dirty="0">
                <a:latin typeface="宋体" panose="02000500000000000000" pitchFamily="2" charset="-122"/>
              </a:rPr>
              <a:t>4</a:t>
            </a:r>
            <a:r>
              <a:rPr lang="zh-CN" altLang="en-US" sz="1800" b="1" dirty="0">
                <a:latin typeface="宋体" panose="02000500000000000000" pitchFamily="2" charset="-122"/>
              </a:rPr>
              <a:t>、</a:t>
            </a:r>
            <a:r>
              <a:rPr lang="en-US" altLang="zh-CN" sz="1800" b="1" dirty="0">
                <a:latin typeface="宋体" panose="02000500000000000000" pitchFamily="2" charset="-122"/>
              </a:rPr>
              <a:t>5</a:t>
            </a:r>
            <a:r>
              <a:rPr lang="zh-CN" altLang="en-US" sz="1800" b="1" dirty="0">
                <a:latin typeface="宋体" panose="02000500000000000000" pitchFamily="2" charset="-122"/>
              </a:rPr>
              <a:t>、</a:t>
            </a:r>
            <a:r>
              <a:rPr lang="en-US" altLang="zh-CN" sz="1800" b="1" dirty="0">
                <a:latin typeface="宋体" panose="02000500000000000000" pitchFamily="2" charset="-122"/>
              </a:rPr>
              <a:t>6</a:t>
            </a:r>
            <a:r>
              <a:rPr lang="zh-CN" altLang="en-US" sz="1800" b="1" dirty="0">
                <a:latin typeface="宋体" panose="02000500000000000000" pitchFamily="2" charset="-122"/>
              </a:rPr>
              <a:t>、</a:t>
            </a:r>
            <a:r>
              <a:rPr lang="en-US" altLang="zh-CN" sz="1800" b="1" dirty="0">
                <a:latin typeface="宋体" panose="02000500000000000000" pitchFamily="2" charset="-122"/>
              </a:rPr>
              <a:t>7</a:t>
            </a:r>
            <a:r>
              <a:rPr lang="zh-CN" altLang="en-US" sz="1800" b="1" dirty="0">
                <a:latin typeface="宋体" panose="02000500000000000000" pitchFamily="2" charset="-122"/>
              </a:rPr>
              <a:t>的次序访问内存</a:t>
            </a:r>
            <a:endParaRPr lang="zh-CN" altLang="en-US" sz="18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关键字优先的实现只需要对访问地址进行简单</a:t>
            </a:r>
            <a:r>
              <a:rPr lang="zh-CN" altLang="en-US" sz="1800" b="1" dirty="0" smtClean="0">
                <a:latin typeface="宋体" panose="02000500000000000000" pitchFamily="2" charset="-122"/>
              </a:rPr>
              <a:t>变换</a:t>
            </a:r>
            <a:endParaRPr lang="zh-CN" altLang="en-US" sz="1800" b="1" dirty="0">
              <a:latin typeface="宋体" panose="02000500000000000000" pitchFamily="2" charset="-122"/>
            </a:endParaRPr>
          </a:p>
          <a:p>
            <a:pPr marL="742950" lvl="1" indent="-285750">
              <a:lnSpc>
                <a:spcPct val="150000"/>
              </a:lnSpc>
              <a:spcBef>
                <a:spcPct val="0"/>
              </a:spcBef>
              <a:buFontTx/>
              <a:buChar char="•"/>
            </a:pPr>
            <a:r>
              <a:rPr lang="zh-CN" altLang="en-US" sz="1800" b="1" dirty="0">
                <a:latin typeface="宋体" panose="02000500000000000000" pitchFamily="2" charset="-122"/>
              </a:rPr>
              <a:t>在失效的数据从内存取回之后，往</a:t>
            </a:r>
            <a:r>
              <a:rPr lang="en-US" altLang="zh-CN" sz="1800" b="1" dirty="0">
                <a:latin typeface="宋体" panose="02000500000000000000" pitchFamily="2" charset="-122"/>
              </a:rPr>
              <a:t>Cache</a:t>
            </a:r>
            <a:r>
              <a:rPr lang="zh-CN" altLang="en-US" sz="1800" b="1" dirty="0">
                <a:latin typeface="宋体" panose="02000500000000000000" pitchFamily="2" charset="-122"/>
              </a:rPr>
              <a:t>送的同时直接送回到寄存器也可以降低失效</a:t>
            </a:r>
            <a:r>
              <a:rPr lang="zh-CN" altLang="en-US" sz="1800" b="1" dirty="0" smtClean="0">
                <a:latin typeface="宋体" panose="02000500000000000000" pitchFamily="2" charset="-122"/>
              </a:rPr>
              <a:t>延迟（需注意一致性）</a:t>
            </a:r>
            <a:endParaRPr lang="zh-CN" altLang="en-US" sz="1800" b="1" dirty="0">
              <a:latin typeface="宋体" panose="02000500000000000000" pitchFamily="2" charset="-122"/>
            </a:endParaRPr>
          </a:p>
        </p:txBody>
      </p:sp>
      <p:grpSp>
        <p:nvGrpSpPr>
          <p:cNvPr id="41989" name="Group 9"/>
          <p:cNvGrpSpPr/>
          <p:nvPr/>
        </p:nvGrpSpPr>
        <p:grpSpPr bwMode="auto">
          <a:xfrm>
            <a:off x="2446338" y="5545138"/>
            <a:ext cx="6046787" cy="622300"/>
            <a:chOff x="740" y="3800"/>
            <a:chExt cx="2857" cy="392"/>
          </a:xfrm>
        </p:grpSpPr>
        <p:sp>
          <p:nvSpPr>
            <p:cNvPr id="41990" name="Rectangle 6"/>
            <p:cNvSpPr>
              <a:spLocks noChangeArrowheads="1"/>
            </p:cNvSpPr>
            <p:nvPr/>
          </p:nvSpPr>
          <p:spPr bwMode="auto">
            <a:xfrm>
              <a:off x="740" y="3800"/>
              <a:ext cx="2312" cy="392"/>
            </a:xfrm>
            <a:prstGeom prst="rect">
              <a:avLst/>
            </a:prstGeom>
            <a:solidFill>
              <a:schemeClr val="bg1"/>
            </a:solidFill>
            <a:ln w="25400">
              <a:solidFill>
                <a:schemeClr val="tx1"/>
              </a:solidFill>
              <a:miter lim="800000"/>
            </a:ln>
          </p:spPr>
          <p:txBody>
            <a:bodyPr wrap="none" anchor="ctr"/>
            <a:lstStyle/>
            <a:p>
              <a:endParaRPr lang="zh-CN" altLang="en-US"/>
            </a:p>
          </p:txBody>
        </p:sp>
        <p:sp>
          <p:nvSpPr>
            <p:cNvPr id="41991" name="Rectangle 7"/>
            <p:cNvSpPr>
              <a:spLocks noChangeArrowheads="1"/>
            </p:cNvSpPr>
            <p:nvPr/>
          </p:nvSpPr>
          <p:spPr bwMode="auto">
            <a:xfrm>
              <a:off x="1808" y="3800"/>
              <a:ext cx="512" cy="392"/>
            </a:xfrm>
            <a:prstGeom prst="rect">
              <a:avLst/>
            </a:prstGeom>
            <a:solidFill>
              <a:schemeClr val="bg2"/>
            </a:solidFill>
            <a:ln w="25400">
              <a:solidFill>
                <a:schemeClr val="tx1"/>
              </a:solidFill>
              <a:miter lim="800000"/>
            </a:ln>
          </p:spPr>
          <p:txBody>
            <a:bodyPr wrap="none" anchor="ctr"/>
            <a:lstStyle/>
            <a:p>
              <a:endParaRPr lang="zh-CN" altLang="en-US"/>
            </a:p>
          </p:txBody>
        </p:sp>
        <p:sp>
          <p:nvSpPr>
            <p:cNvPr id="41992" name="Rectangle 8"/>
            <p:cNvSpPr>
              <a:spLocks noChangeArrowheads="1"/>
            </p:cNvSpPr>
            <p:nvPr/>
          </p:nvSpPr>
          <p:spPr bwMode="auto">
            <a:xfrm>
              <a:off x="3194" y="3859"/>
              <a:ext cx="403" cy="250"/>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2000" b="1">
                  <a:latin typeface="Arial" panose="02080604020202020204" pitchFamily="34" charset="0"/>
                </a:rPr>
                <a:t>block</a:t>
              </a:r>
              <a:endParaRPr lang="en-US" altLang="zh-CN" sz="2000" b="1">
                <a:latin typeface="Arial" panose="02080604020202020204" pitchFamily="34" charset="0"/>
              </a:endParaRP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灯片编号占位符 5"/>
          <p:cNvSpPr>
            <a:spLocks noGrp="1" noChangeArrowheads="1"/>
          </p:cNvSpPr>
          <p:nvPr>
            <p:ph type="sldNum" sz="quarter" idx="12"/>
          </p:nvPr>
        </p:nvSpPr>
        <p:spPr>
          <a:noFill/>
        </p:spPr>
        <p:txBody>
          <a:bodyPr/>
          <a:lstStyle/>
          <a:p>
            <a:fld id="{EE37973A-9E1B-4F69-A07A-6F8EA53793B4}" type="slidenum">
              <a:rPr lang="en-US" altLang="zh-CN" smtClean="0"/>
            </a:fld>
            <a:endParaRPr lang="en-US" altLang="zh-CN" smtClean="0"/>
          </a:p>
        </p:txBody>
      </p:sp>
      <p:sp>
        <p:nvSpPr>
          <p:cNvPr id="43011" name="Rectangle 2"/>
          <p:cNvSpPr>
            <a:spLocks noGrp="1" noChangeArrowheads="1"/>
          </p:cNvSpPr>
          <p:nvPr>
            <p:ph type="title"/>
          </p:nvPr>
        </p:nvSpPr>
        <p:spPr>
          <a:xfrm>
            <a:off x="1003300" y="198438"/>
            <a:ext cx="10310813" cy="852487"/>
          </a:xfrm>
        </p:spPr>
        <p:txBody>
          <a:bodyPr lIns="90488" tIns="44450" rIns="90488" bIns="44450"/>
          <a:lstStyle/>
          <a:p>
            <a:pPr eaLnBrk="1" hangingPunct="1"/>
            <a:r>
              <a:rPr lang="zh-CN" altLang="en-US" smtClean="0"/>
              <a:t>通过读优先降低失效延迟</a:t>
            </a:r>
            <a:endParaRPr lang="zh-CN" altLang="en-US" smtClean="0"/>
          </a:p>
        </p:txBody>
      </p:sp>
      <p:sp>
        <p:nvSpPr>
          <p:cNvPr id="43012" name="Rectangle 3"/>
          <p:cNvSpPr>
            <a:spLocks noGrp="1" noChangeArrowheads="1"/>
          </p:cNvSpPr>
          <p:nvPr>
            <p:ph idx="1"/>
          </p:nvPr>
        </p:nvSpPr>
        <p:spPr>
          <a:xfrm>
            <a:off x="230188" y="1163638"/>
            <a:ext cx="11272837" cy="5283200"/>
          </a:xfrm>
        </p:spPr>
        <p:txBody>
          <a:bodyPr lIns="90488" tIns="44450" rIns="90488" bIns="44450"/>
          <a:lstStyle/>
          <a:p>
            <a:pPr eaLnBrk="1" hangingPunct="1">
              <a:spcBef>
                <a:spcPts val="600"/>
              </a:spcBef>
            </a:pPr>
            <a:r>
              <a:rPr lang="zh-CN" altLang="en-US" sz="2000" smtClean="0">
                <a:latin typeface="宋体" panose="02000500000000000000" pitchFamily="2" charset="-122"/>
              </a:rPr>
              <a:t>读</a:t>
            </a:r>
            <a:r>
              <a:rPr lang="en-US" altLang="zh-CN" sz="2000" smtClean="0">
                <a:latin typeface="宋体" panose="02000500000000000000" pitchFamily="2" charset="-122"/>
              </a:rPr>
              <a:t>Cache</a:t>
            </a:r>
            <a:r>
              <a:rPr lang="zh-CN" altLang="en-US" sz="2000" smtClean="0">
                <a:latin typeface="宋体" panose="02000500000000000000" pitchFamily="2" charset="-122"/>
              </a:rPr>
              <a:t>失效对指令流水线效率的影响比写失效大</a:t>
            </a:r>
            <a:endParaRPr lang="zh-CN" altLang="en-US" sz="20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在处理器中一般都有写缓存（</a:t>
            </a:r>
            <a:r>
              <a:rPr lang="en-US" altLang="zh-CN" sz="1600" smtClean="0">
                <a:latin typeface="宋体" panose="02000500000000000000" pitchFamily="2" charset="-122"/>
              </a:rPr>
              <a:t>Write Buffer</a:t>
            </a:r>
            <a:r>
              <a:rPr lang="zh-CN" altLang="en-US" sz="1600" smtClean="0">
                <a:latin typeface="宋体" panose="02000500000000000000" pitchFamily="2" charset="-122"/>
              </a:rPr>
              <a:t>），写指令只要把要写的数据写到写缓存就可以提交，再由写缓存写到</a:t>
            </a:r>
            <a:r>
              <a:rPr lang="en-US" altLang="zh-CN" sz="1600" smtClean="0">
                <a:latin typeface="宋体" panose="02000500000000000000" pitchFamily="2" charset="-122"/>
              </a:rPr>
              <a:t>Cache</a:t>
            </a:r>
            <a:r>
              <a:rPr lang="zh-CN" altLang="en-US" sz="1600" smtClean="0">
                <a:latin typeface="宋体" panose="02000500000000000000" pitchFamily="2" charset="-122"/>
              </a:rPr>
              <a:t>或内存</a:t>
            </a:r>
            <a:endParaRPr lang="zh-CN" altLang="en-US" sz="16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取数在数据读回来回前取数指令不能提交，与取数指令存在数据相关的后续指令要等待取数操作读回来的数据才能执行，可见读</a:t>
            </a:r>
            <a:r>
              <a:rPr lang="en-US" altLang="zh-CN" sz="1600" smtClean="0">
                <a:latin typeface="宋体" panose="02000500000000000000" pitchFamily="2" charset="-122"/>
              </a:rPr>
              <a:t>Cache</a:t>
            </a:r>
            <a:r>
              <a:rPr lang="zh-CN" altLang="en-US" sz="1600" smtClean="0">
                <a:latin typeface="宋体" panose="02000500000000000000" pitchFamily="2" charset="-122"/>
              </a:rPr>
              <a:t>失效容易堵塞指令流水线</a:t>
            </a:r>
            <a:endParaRPr lang="zh-CN" altLang="en-US" sz="1600" smtClean="0">
              <a:latin typeface="宋体" panose="02000500000000000000" pitchFamily="2" charset="-122"/>
            </a:endParaRPr>
          </a:p>
          <a:p>
            <a:pPr eaLnBrk="1" hangingPunct="1">
              <a:spcBef>
                <a:spcPts val="600"/>
              </a:spcBef>
            </a:pPr>
            <a:r>
              <a:rPr lang="zh-CN" altLang="en-US" sz="2000" smtClean="0">
                <a:latin typeface="宋体" panose="02000500000000000000" pitchFamily="2" charset="-122"/>
              </a:rPr>
              <a:t>在进行</a:t>
            </a:r>
            <a:r>
              <a:rPr lang="en-US" altLang="zh-CN" sz="2000" smtClean="0">
                <a:latin typeface="宋体" panose="02000500000000000000" pitchFamily="2" charset="-122"/>
              </a:rPr>
              <a:t>Cache</a:t>
            </a:r>
            <a:r>
              <a:rPr lang="zh-CN" altLang="en-US" sz="2000" smtClean="0">
                <a:latin typeface="宋体" panose="02000500000000000000" pitchFamily="2" charset="-122"/>
              </a:rPr>
              <a:t>失效处理时，优先处理读失效以减小堵塞 </a:t>
            </a:r>
            <a:endParaRPr lang="zh-CN" altLang="en-US" sz="20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读失效时要注意与</a:t>
            </a:r>
            <a:r>
              <a:rPr lang="en-US" altLang="zh-CN" sz="1600" smtClean="0">
                <a:latin typeface="宋体" panose="02000500000000000000" pitchFamily="2" charset="-122"/>
              </a:rPr>
              <a:t>Write Buffer</a:t>
            </a:r>
            <a:r>
              <a:rPr lang="zh-CN" altLang="en-US" sz="1600" smtClean="0">
                <a:latin typeface="宋体" panose="02000500000000000000" pitchFamily="2" charset="-122"/>
              </a:rPr>
              <a:t>的</a:t>
            </a:r>
            <a:r>
              <a:rPr lang="en-US" altLang="zh-CN" sz="1600" smtClean="0">
                <a:latin typeface="宋体" panose="02000500000000000000" pitchFamily="2" charset="-122"/>
              </a:rPr>
              <a:t>RAW</a:t>
            </a:r>
            <a:r>
              <a:rPr lang="zh-CN" altLang="en-US" sz="1600" smtClean="0">
                <a:latin typeface="宋体" panose="02000500000000000000" pitchFamily="2" charset="-122"/>
              </a:rPr>
              <a:t>相关，不能等写缓存为空，要动态检查写缓存</a:t>
            </a:r>
            <a:endParaRPr lang="zh-CN" altLang="en-US" sz="1600" smtClean="0">
              <a:latin typeface="宋体" panose="02000500000000000000" pitchFamily="2" charset="-122"/>
            </a:endParaRPr>
          </a:p>
          <a:p>
            <a:pPr lvl="1" eaLnBrk="1" hangingPunct="1">
              <a:spcBef>
                <a:spcPts val="600"/>
              </a:spcBef>
            </a:pPr>
            <a:r>
              <a:rPr lang="zh-CN" altLang="en-US" sz="1600" smtClean="0">
                <a:latin typeface="宋体" panose="02000500000000000000" pitchFamily="2" charset="-122"/>
              </a:rPr>
              <a:t>读失效可能需要替换</a:t>
            </a:r>
            <a:r>
              <a:rPr lang="en-US" altLang="zh-CN" sz="1600" smtClean="0">
                <a:latin typeface="宋体" panose="02000500000000000000" pitchFamily="2" charset="-122"/>
              </a:rPr>
              <a:t>dirty</a:t>
            </a:r>
            <a:r>
              <a:rPr lang="zh-CN" altLang="en-US" sz="1600" smtClean="0">
                <a:latin typeface="宋体" panose="02000500000000000000" pitchFamily="2" charset="-122"/>
              </a:rPr>
              <a:t>块，不要把替换块写回到内存再读，可以把替换块写到写缓存，然后先读，后把写缓存的内容写回内存</a:t>
            </a:r>
            <a:endParaRPr lang="zh-CN" altLang="en-US" sz="1600" smtClean="0">
              <a:latin typeface="宋体"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7"/>
          <p:cNvSpPr>
            <a:spLocks noGrp="1" noChangeArrowheads="1"/>
          </p:cNvSpPr>
          <p:nvPr>
            <p:ph type="sldNum" sz="quarter" idx="12"/>
          </p:nvPr>
        </p:nvSpPr>
        <p:spPr>
          <a:noFill/>
        </p:spPr>
        <p:txBody>
          <a:bodyPr/>
          <a:lstStyle/>
          <a:p>
            <a:fld id="{1337C25E-284D-4522-8BF0-A95F9115D68D}" type="slidenum">
              <a:rPr lang="en-US" altLang="zh-CN" smtClean="0"/>
            </a:fld>
            <a:endParaRPr lang="en-US" altLang="zh-CN" smtClean="0"/>
          </a:p>
        </p:txBody>
      </p:sp>
      <p:sp>
        <p:nvSpPr>
          <p:cNvPr id="44035" name="Rectangle 2"/>
          <p:cNvSpPr>
            <a:spLocks noGrp="1" noChangeArrowheads="1"/>
          </p:cNvSpPr>
          <p:nvPr>
            <p:ph type="title"/>
          </p:nvPr>
        </p:nvSpPr>
        <p:spPr>
          <a:xfrm>
            <a:off x="931863" y="266700"/>
            <a:ext cx="10361612" cy="890588"/>
          </a:xfrm>
        </p:spPr>
        <p:txBody>
          <a:bodyPr lIns="90488" tIns="44450" rIns="90488" bIns="44450"/>
          <a:lstStyle/>
          <a:p>
            <a:pPr eaLnBrk="1" hangingPunct="1"/>
            <a:r>
              <a:rPr lang="zh-CN" altLang="en-US" smtClean="0"/>
              <a:t>通过写合并降低失效延迟 </a:t>
            </a:r>
            <a:endParaRPr lang="zh-CN" altLang="en-US" smtClean="0"/>
          </a:p>
        </p:txBody>
      </p:sp>
      <p:sp>
        <p:nvSpPr>
          <p:cNvPr id="44036" name="Rectangle 3"/>
          <p:cNvSpPr>
            <a:spLocks noGrp="1" noChangeArrowheads="1"/>
          </p:cNvSpPr>
          <p:nvPr>
            <p:ph type="body" sz="half" idx="1"/>
          </p:nvPr>
        </p:nvSpPr>
        <p:spPr>
          <a:xfrm>
            <a:off x="242888" y="1176338"/>
            <a:ext cx="6262687" cy="5532437"/>
          </a:xfrm>
        </p:spPr>
        <p:txBody>
          <a:bodyPr lIns="90488" tIns="44450" rIns="90488" bIns="44450"/>
          <a:lstStyle/>
          <a:p>
            <a:pPr eaLnBrk="1" hangingPunct="1">
              <a:lnSpc>
                <a:spcPct val="150000"/>
              </a:lnSpc>
              <a:spcBef>
                <a:spcPct val="0"/>
              </a:spcBef>
            </a:pPr>
            <a:r>
              <a:rPr lang="zh-CN" altLang="en-US" sz="2000" smtClean="0">
                <a:latin typeface="宋体" panose="02000500000000000000" pitchFamily="2" charset="-122"/>
              </a:rPr>
              <a:t>写缓存（</a:t>
            </a:r>
            <a:r>
              <a:rPr lang="en-US" altLang="zh-CN" sz="2000" smtClean="0">
                <a:latin typeface="宋体" panose="02000500000000000000" pitchFamily="2" charset="-122"/>
              </a:rPr>
              <a:t>Write Buffer</a:t>
            </a:r>
            <a:r>
              <a:rPr lang="zh-CN" altLang="en-US" sz="2000" smtClean="0">
                <a:latin typeface="宋体" panose="02000500000000000000" pitchFamily="2" charset="-122"/>
              </a:rPr>
              <a:t>）的作用</a:t>
            </a:r>
            <a:endParaRPr lang="zh-CN" altLang="en-US" sz="2000" smtClean="0">
              <a:latin typeface="宋体" panose="02000500000000000000" pitchFamily="2" charset="-122"/>
            </a:endParaRPr>
          </a:p>
          <a:p>
            <a:pPr lvl="1" eaLnBrk="1" hangingPunct="1">
              <a:lnSpc>
                <a:spcPct val="150000"/>
              </a:lnSpc>
              <a:spcBef>
                <a:spcPct val="0"/>
              </a:spcBef>
            </a:pPr>
            <a:r>
              <a:rPr lang="zh-CN" altLang="en-US" sz="1600" smtClean="0">
                <a:latin typeface="宋体" panose="02000500000000000000" pitchFamily="2" charset="-122"/>
              </a:rPr>
              <a:t>处理器写到</a:t>
            </a:r>
            <a:r>
              <a:rPr lang="en-US" altLang="zh-CN" sz="1600" smtClean="0">
                <a:latin typeface="宋体" panose="02000500000000000000" pitchFamily="2" charset="-122"/>
              </a:rPr>
              <a:t>WB</a:t>
            </a:r>
            <a:r>
              <a:rPr lang="zh-CN" altLang="en-US" sz="1600" smtClean="0">
                <a:latin typeface="宋体" panose="02000500000000000000" pitchFamily="2" charset="-122"/>
              </a:rPr>
              <a:t>就算完成写操作，由</a:t>
            </a:r>
            <a:r>
              <a:rPr lang="en-US" altLang="zh-CN" sz="1600" smtClean="0">
                <a:latin typeface="宋体" panose="02000500000000000000" pitchFamily="2" charset="-122"/>
              </a:rPr>
              <a:t>WB</a:t>
            </a:r>
            <a:r>
              <a:rPr lang="zh-CN" altLang="en-US" sz="1600" smtClean="0">
                <a:latin typeface="宋体" panose="02000500000000000000" pitchFamily="2" charset="-122"/>
              </a:rPr>
              <a:t>写到下一级存储器</a:t>
            </a:r>
            <a:endParaRPr lang="zh-CN" altLang="en-US" sz="1600" smtClean="0">
              <a:latin typeface="宋体" panose="02000500000000000000" pitchFamily="2" charset="-122"/>
            </a:endParaRPr>
          </a:p>
          <a:p>
            <a:pPr lvl="1" eaLnBrk="1" hangingPunct="1">
              <a:lnSpc>
                <a:spcPct val="150000"/>
              </a:lnSpc>
              <a:spcBef>
                <a:spcPct val="0"/>
              </a:spcBef>
            </a:pPr>
            <a:r>
              <a:rPr lang="zh-CN" altLang="en-US" sz="1600" smtClean="0">
                <a:latin typeface="宋体" panose="02000500000000000000" pitchFamily="2" charset="-122"/>
              </a:rPr>
              <a:t>注意一致性问题：处理器后续的读操作、外设的</a:t>
            </a:r>
            <a:r>
              <a:rPr lang="en-US" altLang="zh-CN" sz="1600" smtClean="0">
                <a:latin typeface="宋体" panose="02000500000000000000" pitchFamily="2" charset="-122"/>
              </a:rPr>
              <a:t>DMA</a:t>
            </a:r>
            <a:r>
              <a:rPr lang="zh-CN" altLang="en-US" sz="1600" smtClean="0">
                <a:latin typeface="宋体" panose="02000500000000000000" pitchFamily="2" charset="-122"/>
              </a:rPr>
              <a:t>操作等</a:t>
            </a:r>
            <a:endParaRPr lang="zh-CN" altLang="en-US" sz="1600" smtClean="0">
              <a:latin typeface="宋体" panose="02000500000000000000" pitchFamily="2" charset="-122"/>
            </a:endParaRPr>
          </a:p>
          <a:p>
            <a:pPr eaLnBrk="1" hangingPunct="1">
              <a:lnSpc>
                <a:spcPct val="150000"/>
              </a:lnSpc>
              <a:spcBef>
                <a:spcPct val="0"/>
              </a:spcBef>
            </a:pPr>
            <a:r>
              <a:rPr lang="zh-CN" altLang="en-US" sz="2000" smtClean="0">
                <a:latin typeface="宋体" panose="02000500000000000000" pitchFamily="2" charset="-122"/>
              </a:rPr>
              <a:t>通过把写缓存中对同一</a:t>
            </a:r>
            <a:r>
              <a:rPr lang="en-US" altLang="zh-CN" sz="2000" smtClean="0">
                <a:latin typeface="宋体" panose="02000500000000000000" pitchFamily="2" charset="-122"/>
              </a:rPr>
              <a:t>Cache</a:t>
            </a:r>
            <a:r>
              <a:rPr lang="zh-CN" altLang="en-US" sz="2000" smtClean="0">
                <a:latin typeface="宋体" panose="02000500000000000000" pitchFamily="2" charset="-122"/>
              </a:rPr>
              <a:t>块的写操作进行合并来提高写缓存使用率，减少处理器等待</a:t>
            </a:r>
            <a:endParaRPr lang="zh-CN" altLang="en-US" sz="2000" smtClean="0">
              <a:latin typeface="宋体" panose="02000500000000000000" pitchFamily="2" charset="-122"/>
            </a:endParaRPr>
          </a:p>
          <a:p>
            <a:pPr lvl="1" eaLnBrk="1" hangingPunct="1">
              <a:lnSpc>
                <a:spcPct val="150000"/>
              </a:lnSpc>
              <a:spcBef>
                <a:spcPct val="0"/>
              </a:spcBef>
            </a:pPr>
            <a:r>
              <a:rPr lang="zh-CN" altLang="en-US" sz="1600" smtClean="0">
                <a:latin typeface="宋体" panose="02000500000000000000" pitchFamily="2" charset="-122"/>
              </a:rPr>
              <a:t>注意</a:t>
            </a:r>
            <a:r>
              <a:rPr lang="en-US" altLang="zh-CN" sz="1600" smtClean="0">
                <a:latin typeface="宋体" panose="02000500000000000000" pitchFamily="2" charset="-122"/>
              </a:rPr>
              <a:t>IO</a:t>
            </a:r>
            <a:r>
              <a:rPr lang="zh-CN" altLang="en-US" sz="1600" smtClean="0">
                <a:latin typeface="宋体" panose="02000500000000000000" pitchFamily="2" charset="-122"/>
              </a:rPr>
              <a:t>操作不能合并</a:t>
            </a:r>
            <a:endParaRPr lang="en-US" altLang="zh-CN" sz="1600" smtClean="0">
              <a:latin typeface="宋体" panose="02000500000000000000" pitchFamily="2" charset="-122"/>
            </a:endParaRPr>
          </a:p>
          <a:p>
            <a:pPr lvl="1" eaLnBrk="1" hangingPunct="1">
              <a:lnSpc>
                <a:spcPct val="150000"/>
              </a:lnSpc>
              <a:spcBef>
                <a:spcPct val="0"/>
              </a:spcBef>
            </a:pPr>
            <a:r>
              <a:rPr lang="en-US" altLang="zh-CN" sz="1600" smtClean="0">
                <a:latin typeface="宋体" panose="02000500000000000000" pitchFamily="2" charset="-122"/>
              </a:rPr>
              <a:t>Store Fill Buffer</a:t>
            </a:r>
            <a:r>
              <a:rPr lang="zh-CN" altLang="en-US" sz="1600" smtClean="0">
                <a:latin typeface="宋体" panose="02000500000000000000" pitchFamily="2" charset="-122"/>
              </a:rPr>
              <a:t>：连续的写操作拼满一个</a:t>
            </a:r>
            <a:r>
              <a:rPr lang="en-US" altLang="zh-CN" sz="1600" smtClean="0">
                <a:latin typeface="宋体" panose="02000500000000000000" pitchFamily="2" charset="-122"/>
              </a:rPr>
              <a:t>Cache</a:t>
            </a:r>
            <a:r>
              <a:rPr lang="zh-CN" altLang="en-US" sz="1600" smtClean="0">
                <a:latin typeface="宋体" panose="02000500000000000000" pitchFamily="2" charset="-122"/>
              </a:rPr>
              <a:t>块，写失效时不用到下一级存储器取数</a:t>
            </a:r>
            <a:endParaRPr lang="zh-CN" altLang="en-US" sz="1600" smtClean="0">
              <a:latin typeface="宋体" panose="02000500000000000000" pitchFamily="2" charset="-122"/>
            </a:endParaRPr>
          </a:p>
        </p:txBody>
      </p:sp>
      <p:graphicFrame>
        <p:nvGraphicFramePr>
          <p:cNvPr id="43013" name="内容占位符 43012"/>
          <p:cNvGraphicFramePr>
            <a:graphicFrameLocks noGrp="1"/>
          </p:cNvGraphicFramePr>
          <p:nvPr>
            <p:ph sz="quarter" idx="2"/>
          </p:nvPr>
        </p:nvGraphicFramePr>
        <p:xfrm>
          <a:off x="6732588" y="1454150"/>
          <a:ext cx="5079339" cy="1981201"/>
        </p:xfrm>
        <a:graphic>
          <a:graphicData uri="http://schemas.openxmlformats.org/drawingml/2006/table">
            <a:tbl>
              <a:tblPr/>
              <a:tblGrid>
                <a:gridCol w="1015868"/>
                <a:gridCol w="207406"/>
                <a:gridCol w="808461"/>
                <a:gridCol w="190475"/>
                <a:gridCol w="825393"/>
                <a:gridCol w="190475"/>
                <a:gridCol w="825393"/>
                <a:gridCol w="190475"/>
                <a:gridCol w="825393"/>
              </a:tblGrid>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itchFamily="18" charset="0"/>
                          <a:ea typeface="宋体" panose="02000500000000000000" pitchFamily="2" charset="-122"/>
                        </a:rPr>
                        <a:t>块地址</a:t>
                      </a:r>
                      <a:endParaRPr kumimoji="0" lang="zh-CN" altLang="en-US"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39528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word0</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108</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528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116</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word2</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124</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word3</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43074" name="内容占位符 43073"/>
          <p:cNvGraphicFramePr>
            <a:graphicFrameLocks noGrp="1"/>
          </p:cNvGraphicFramePr>
          <p:nvPr>
            <p:ph sz="quarter" idx="3"/>
          </p:nvPr>
        </p:nvGraphicFramePr>
        <p:xfrm>
          <a:off x="6786563" y="3822700"/>
          <a:ext cx="5079339" cy="1981201"/>
        </p:xfrm>
        <a:graphic>
          <a:graphicData uri="http://schemas.openxmlformats.org/drawingml/2006/table">
            <a:tbl>
              <a:tblPr/>
              <a:tblGrid>
                <a:gridCol w="1015868"/>
                <a:gridCol w="207406"/>
                <a:gridCol w="808461"/>
                <a:gridCol w="190475"/>
                <a:gridCol w="825393"/>
                <a:gridCol w="190475"/>
                <a:gridCol w="825393"/>
                <a:gridCol w="190475"/>
                <a:gridCol w="825393"/>
              </a:tblGrid>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itchFamily="18" charset="0"/>
                          <a:ea typeface="宋体" panose="02000500000000000000" pitchFamily="2" charset="-122"/>
                        </a:rPr>
                        <a:t>块地址</a:t>
                      </a:r>
                      <a:endParaRPr kumimoji="0" lang="zh-CN" altLang="en-US"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v</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r h="39528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100</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word0</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word2</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rPr>
                        <a:t>word3</a:t>
                      </a:r>
                      <a:endParaRPr kumimoji="0" lang="en-US"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5288">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23997" marR="23997" marT="18000" marB="18000"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noChangeArrowheads="1"/>
          </p:cNvSpPr>
          <p:nvPr>
            <p:ph type="sldNum" sz="quarter" idx="12"/>
          </p:nvPr>
        </p:nvSpPr>
        <p:spPr>
          <a:noFill/>
        </p:spPr>
        <p:txBody>
          <a:bodyPr/>
          <a:lstStyle/>
          <a:p>
            <a:fld id="{AD5975A0-40D3-40DF-8A3B-E65B07535DBD}" type="slidenum">
              <a:rPr lang="en-US" altLang="zh-CN" smtClean="0"/>
            </a:fld>
            <a:endParaRPr lang="en-US" altLang="zh-CN" smtClean="0"/>
          </a:p>
        </p:txBody>
      </p:sp>
      <p:sp>
        <p:nvSpPr>
          <p:cNvPr id="45059" name="Rectangle 4"/>
          <p:cNvSpPr>
            <a:spLocks noChangeArrowheads="1"/>
          </p:cNvSpPr>
          <p:nvPr/>
        </p:nvSpPr>
        <p:spPr bwMode="auto">
          <a:xfrm>
            <a:off x="1179513" y="136525"/>
            <a:ext cx="9548812" cy="873125"/>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a:t>
            </a:r>
            <a:r>
              <a:rPr lang="en-US" altLang="zh-CN" sz="3200">
                <a:solidFill>
                  <a:srgbClr val="FF0000"/>
                </a:solidFill>
                <a:latin typeface="Arial" panose="02080604020202020204" pitchFamily="34" charset="0"/>
                <a:ea typeface="黑体" panose="02000500000000000000" pitchFamily="49" charset="-122"/>
              </a:rPr>
              <a:t>Victim Cache</a:t>
            </a:r>
            <a:r>
              <a:rPr lang="zh-CN" altLang="en-US" sz="3200">
                <a:solidFill>
                  <a:srgbClr val="FF0000"/>
                </a:solidFill>
                <a:latin typeface="Arial" panose="02080604020202020204" pitchFamily="34" charset="0"/>
                <a:ea typeface="黑体" panose="02000500000000000000" pitchFamily="49" charset="-122"/>
              </a:rPr>
              <a:t>降低失效延迟</a:t>
            </a:r>
            <a:endParaRPr lang="zh-CN" altLang="en-US" sz="3200">
              <a:solidFill>
                <a:srgbClr val="FF0000"/>
              </a:solidFill>
              <a:latin typeface="Arial" panose="02080604020202020204" pitchFamily="34" charset="0"/>
              <a:ea typeface="黑体" panose="02000500000000000000" pitchFamily="49" charset="-122"/>
            </a:endParaRPr>
          </a:p>
        </p:txBody>
      </p:sp>
      <p:sp>
        <p:nvSpPr>
          <p:cNvPr id="45060" name="Rectangle 5"/>
          <p:cNvSpPr>
            <a:spLocks noChangeArrowheads="1"/>
          </p:cNvSpPr>
          <p:nvPr/>
        </p:nvSpPr>
        <p:spPr bwMode="auto">
          <a:xfrm>
            <a:off x="762001" y="1057275"/>
            <a:ext cx="11074400" cy="2638425"/>
          </a:xfrm>
          <a:prstGeom prst="rect">
            <a:avLst/>
          </a:prstGeom>
          <a:noFill/>
          <a:ln w="12700">
            <a:noFill/>
            <a:miter lim="800000"/>
          </a:ln>
        </p:spPr>
        <p:txBody>
          <a:bodyPr lIns="90488" tIns="44450" rIns="90488" bIns="44450"/>
          <a:lstStyle/>
          <a:p>
            <a:pPr marL="228600" indent="-228600">
              <a:lnSpc>
                <a:spcPct val="150000"/>
              </a:lnSpc>
              <a:spcBef>
                <a:spcPct val="0"/>
              </a:spcBef>
              <a:buFontTx/>
              <a:buChar char="•"/>
              <a:tabLst>
                <a:tab pos="1828800" algn="r"/>
                <a:tab pos="3200400" algn="r"/>
                <a:tab pos="4572000" algn="r"/>
                <a:tab pos="5943600" algn="r"/>
              </a:tabLst>
            </a:pPr>
            <a:r>
              <a:rPr lang="zh-CN" altLang="en-US" sz="2000" b="1" dirty="0">
                <a:solidFill>
                  <a:srgbClr val="FF0000"/>
                </a:solidFill>
                <a:latin typeface="宋体" panose="02000500000000000000" pitchFamily="2" charset="-122"/>
              </a:rPr>
              <a:t>在直接相联的</a:t>
            </a:r>
            <a:r>
              <a:rPr lang="en-US" altLang="zh-CN" sz="2000" b="1" dirty="0">
                <a:solidFill>
                  <a:srgbClr val="FF0000"/>
                </a:solidFill>
                <a:latin typeface="宋体" panose="02000500000000000000" pitchFamily="2" charset="-122"/>
              </a:rPr>
              <a:t>Cache</a:t>
            </a:r>
            <a:r>
              <a:rPr lang="zh-CN" altLang="en-US" sz="2000" b="1" dirty="0">
                <a:solidFill>
                  <a:srgbClr val="FF0000"/>
                </a:solidFill>
                <a:latin typeface="宋体" panose="02000500000000000000" pitchFamily="2" charset="-122"/>
              </a:rPr>
              <a:t>中避免冲突失效 </a:t>
            </a:r>
            <a:endParaRPr lang="zh-CN" altLang="en-US" sz="2000" b="1" dirty="0">
              <a:solidFill>
                <a:srgbClr val="FF0000"/>
              </a:solidFill>
              <a:latin typeface="宋体" panose="02000500000000000000" pitchFamily="2" charset="-122"/>
            </a:endParaRPr>
          </a:p>
          <a:p>
            <a:pPr marL="228600" indent="-228600">
              <a:lnSpc>
                <a:spcPct val="150000"/>
              </a:lnSpc>
              <a:spcBef>
                <a:spcPct val="0"/>
              </a:spcBef>
              <a:buFontTx/>
              <a:buChar char="•"/>
              <a:tabLst>
                <a:tab pos="1828800" algn="r"/>
                <a:tab pos="3200400" algn="r"/>
                <a:tab pos="4572000" algn="r"/>
                <a:tab pos="5943600" algn="r"/>
              </a:tabLst>
            </a:pPr>
            <a:r>
              <a:rPr lang="zh-CN" altLang="en-US" sz="2000" b="1" dirty="0">
                <a:latin typeface="宋体" panose="02000500000000000000" pitchFamily="2" charset="-122"/>
              </a:rPr>
              <a:t>增加缓存（</a:t>
            </a:r>
            <a:r>
              <a:rPr lang="en-US" altLang="zh-CN" sz="2000" b="1" dirty="0">
                <a:latin typeface="宋体" panose="02000500000000000000" pitchFamily="2" charset="-122"/>
              </a:rPr>
              <a:t>Victim Cache</a:t>
            </a:r>
            <a:r>
              <a:rPr lang="zh-CN" altLang="en-US" sz="2000" b="1" dirty="0">
                <a:latin typeface="宋体" panose="02000500000000000000" pitchFamily="2" charset="-122"/>
              </a:rPr>
              <a:t>）保存从</a:t>
            </a:r>
            <a:r>
              <a:rPr lang="en-US" altLang="zh-CN" sz="2000" b="1" dirty="0">
                <a:latin typeface="宋体" panose="02000500000000000000" pitchFamily="2" charset="-122"/>
              </a:rPr>
              <a:t>Cache</a:t>
            </a:r>
            <a:r>
              <a:rPr lang="zh-CN" altLang="en-US" sz="2000" b="1" dirty="0">
                <a:latin typeface="宋体" panose="02000500000000000000" pitchFamily="2" charset="-122"/>
              </a:rPr>
              <a:t>中替换出来的数据</a:t>
            </a:r>
            <a:endParaRPr lang="zh-CN" altLang="en-US" sz="2000" b="1" dirty="0">
              <a:latin typeface="宋体" panose="02000500000000000000" pitchFamily="2" charset="-122"/>
            </a:endParaRPr>
          </a:p>
          <a:p>
            <a:pPr marL="685800" lvl="1" indent="-228600">
              <a:lnSpc>
                <a:spcPct val="150000"/>
              </a:lnSpc>
              <a:spcBef>
                <a:spcPct val="0"/>
              </a:spcBef>
              <a:buFontTx/>
              <a:buChar char="•"/>
              <a:tabLst>
                <a:tab pos="1828800" algn="r"/>
                <a:tab pos="3200400" algn="r"/>
                <a:tab pos="4572000" algn="r"/>
                <a:tab pos="5943600" algn="r"/>
              </a:tabLst>
            </a:pPr>
            <a:r>
              <a:rPr lang="en-US" altLang="zh-CN" sz="1600" b="1" dirty="0" err="1">
                <a:latin typeface="宋体" panose="02000500000000000000" pitchFamily="2" charset="-122"/>
              </a:rPr>
              <a:t>Jouppi</a:t>
            </a:r>
            <a:r>
              <a:rPr lang="en-US" altLang="zh-CN" sz="1600" b="1" dirty="0">
                <a:latin typeface="宋体" panose="02000500000000000000" pitchFamily="2" charset="-122"/>
              </a:rPr>
              <a:t> [1990]</a:t>
            </a:r>
            <a:r>
              <a:rPr lang="zh-CN" altLang="en-US" sz="1600" b="1" dirty="0">
                <a:latin typeface="宋体" panose="02000500000000000000" pitchFamily="2" charset="-122"/>
              </a:rPr>
              <a:t>：</a:t>
            </a:r>
            <a:r>
              <a:rPr lang="en-US" altLang="zh-CN" sz="1600" b="1" dirty="0">
                <a:latin typeface="宋体" panose="02000500000000000000" pitchFamily="2" charset="-122"/>
              </a:rPr>
              <a:t>4</a:t>
            </a:r>
            <a:r>
              <a:rPr lang="zh-CN" altLang="en-US" sz="1600" b="1" dirty="0">
                <a:latin typeface="宋体" panose="02000500000000000000" pitchFamily="2" charset="-122"/>
              </a:rPr>
              <a:t>项</a:t>
            </a:r>
            <a:r>
              <a:rPr lang="en-US" altLang="zh-CN" sz="1600" b="1" dirty="0">
                <a:latin typeface="宋体" panose="02000500000000000000" pitchFamily="2" charset="-122"/>
              </a:rPr>
              <a:t>VC</a:t>
            </a:r>
            <a:r>
              <a:rPr lang="zh-CN" altLang="en-US" sz="1600" b="1" dirty="0">
                <a:latin typeface="宋体" panose="02000500000000000000" pitchFamily="2" charset="-122"/>
              </a:rPr>
              <a:t>可消除直接相联</a:t>
            </a:r>
            <a:r>
              <a:rPr lang="en-US" altLang="zh-CN" sz="1600" b="1" dirty="0">
                <a:latin typeface="宋体" panose="02000500000000000000" pitchFamily="2" charset="-122"/>
              </a:rPr>
              <a:t>4KB Cache</a:t>
            </a:r>
            <a:r>
              <a:rPr lang="zh-CN" altLang="en-US" sz="1600" b="1" dirty="0">
                <a:latin typeface="宋体" panose="02000500000000000000" pitchFamily="2" charset="-122"/>
              </a:rPr>
              <a:t>中</a:t>
            </a:r>
            <a:r>
              <a:rPr lang="en-US" altLang="zh-CN" sz="1600" b="1" dirty="0">
                <a:latin typeface="宋体" panose="02000500000000000000" pitchFamily="2" charset="-122"/>
              </a:rPr>
              <a:t>20%-95%</a:t>
            </a:r>
            <a:r>
              <a:rPr lang="zh-CN" altLang="en-US" sz="1600" b="1" dirty="0">
                <a:latin typeface="宋体" panose="02000500000000000000" pitchFamily="2" charset="-122"/>
              </a:rPr>
              <a:t>的冲突访问</a:t>
            </a:r>
            <a:endParaRPr lang="zh-CN" altLang="en-US" sz="1600" b="1" dirty="0">
              <a:latin typeface="宋体" panose="02000500000000000000" pitchFamily="2" charset="-122"/>
            </a:endParaRPr>
          </a:p>
          <a:p>
            <a:pPr marL="228600" indent="-228600">
              <a:lnSpc>
                <a:spcPct val="150000"/>
              </a:lnSpc>
              <a:spcBef>
                <a:spcPct val="0"/>
              </a:spcBef>
              <a:buFontTx/>
              <a:buChar char="•"/>
              <a:tabLst>
                <a:tab pos="1828800" algn="r"/>
                <a:tab pos="3200400" algn="r"/>
                <a:tab pos="4572000" algn="r"/>
                <a:tab pos="5943600" algn="r"/>
              </a:tabLst>
            </a:pPr>
            <a:r>
              <a:rPr lang="zh-CN" altLang="en-US" sz="2000" b="1" dirty="0">
                <a:latin typeface="宋体" panose="02000500000000000000" pitchFamily="2" charset="-122"/>
              </a:rPr>
              <a:t>在</a:t>
            </a:r>
            <a:r>
              <a:rPr lang="en-US" altLang="zh-CN" sz="2000" b="1" dirty="0">
                <a:latin typeface="宋体" panose="02000500000000000000" pitchFamily="2" charset="-122"/>
              </a:rPr>
              <a:t>Alpha, HP</a:t>
            </a:r>
            <a:r>
              <a:rPr lang="zh-CN" altLang="en-US" sz="2000" b="1" dirty="0">
                <a:latin typeface="宋体" panose="02000500000000000000" pitchFamily="2" charset="-122"/>
              </a:rPr>
              <a:t>等处理器中应用，</a:t>
            </a:r>
            <a:r>
              <a:rPr lang="zh-CN" altLang="en-US" sz="2000" b="1" dirty="0">
                <a:solidFill>
                  <a:srgbClr val="FF0000"/>
                </a:solidFill>
                <a:latin typeface="宋体" panose="02000500000000000000" pitchFamily="2" charset="-122"/>
              </a:rPr>
              <a:t>现代服务器处理的</a:t>
            </a:r>
            <a:r>
              <a:rPr lang="en-US" altLang="zh-CN" sz="2000" b="1" dirty="0">
                <a:solidFill>
                  <a:srgbClr val="FF0000"/>
                </a:solidFill>
                <a:latin typeface="宋体" panose="02000500000000000000" pitchFamily="2" charset="-122"/>
              </a:rPr>
              <a:t>LLC</a:t>
            </a:r>
            <a:r>
              <a:rPr lang="zh-CN" altLang="en-US" sz="2000" b="1" dirty="0">
                <a:solidFill>
                  <a:srgbClr val="FF0000"/>
                </a:solidFill>
                <a:latin typeface="宋体" panose="02000500000000000000" pitchFamily="2" charset="-122"/>
              </a:rPr>
              <a:t>多为非包含</a:t>
            </a:r>
            <a:r>
              <a:rPr lang="en-US" altLang="zh-CN" sz="2000" b="1" dirty="0">
                <a:solidFill>
                  <a:srgbClr val="FF0000"/>
                </a:solidFill>
                <a:latin typeface="宋体" panose="02000500000000000000" pitchFamily="2" charset="-122"/>
              </a:rPr>
              <a:t>Cache</a:t>
            </a:r>
            <a:endParaRPr lang="en-US" altLang="zh-CN" sz="2000" b="1" dirty="0">
              <a:solidFill>
                <a:srgbClr val="FF0000"/>
              </a:solidFill>
              <a:latin typeface="宋体" panose="02000500000000000000" pitchFamily="2" charset="-122"/>
            </a:endParaRPr>
          </a:p>
        </p:txBody>
      </p:sp>
      <p:pic>
        <p:nvPicPr>
          <p:cNvPr id="45061" name="Picture 7"/>
          <p:cNvPicPr>
            <a:picLocks noChangeAspect="1" noChangeArrowheads="1"/>
          </p:cNvPicPr>
          <p:nvPr/>
        </p:nvPicPr>
        <p:blipFill>
          <a:blip r:embed="rId1" cstate="print"/>
          <a:srcRect/>
          <a:stretch>
            <a:fillRect/>
          </a:stretch>
        </p:blipFill>
        <p:spPr bwMode="auto">
          <a:xfrm>
            <a:off x="3386138" y="3717925"/>
            <a:ext cx="4994275" cy="310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灯片编号占位符 5"/>
          <p:cNvSpPr>
            <a:spLocks noGrp="1" noChangeArrowheads="1"/>
          </p:cNvSpPr>
          <p:nvPr>
            <p:ph type="sldNum" sz="quarter" idx="12"/>
          </p:nvPr>
        </p:nvSpPr>
        <p:spPr>
          <a:noFill/>
        </p:spPr>
        <p:txBody>
          <a:bodyPr/>
          <a:lstStyle/>
          <a:p>
            <a:fld id="{DE0403FA-8A48-4817-A705-1C39608D5F45}" type="slidenum">
              <a:rPr lang="en-US" altLang="zh-CN" smtClean="0"/>
            </a:fld>
            <a:endParaRPr lang="en-US" altLang="zh-CN" smtClean="0"/>
          </a:p>
        </p:txBody>
      </p:sp>
      <p:sp>
        <p:nvSpPr>
          <p:cNvPr id="46083" name="Rectangle 2"/>
          <p:cNvSpPr>
            <a:spLocks noGrp="1" noChangeArrowheads="1"/>
          </p:cNvSpPr>
          <p:nvPr>
            <p:ph type="title"/>
          </p:nvPr>
        </p:nvSpPr>
        <p:spPr>
          <a:xfrm>
            <a:off x="1339850" y="38100"/>
            <a:ext cx="9548813" cy="1023938"/>
          </a:xfrm>
        </p:spPr>
        <p:txBody>
          <a:bodyPr lIns="90488" tIns="44450" rIns="90488" bIns="44450"/>
          <a:lstStyle/>
          <a:p>
            <a:pPr eaLnBrk="1" hangingPunct="1"/>
            <a:r>
              <a:rPr lang="zh-CN" altLang="en-US" smtClean="0"/>
              <a:t>通过二级</a:t>
            </a:r>
            <a:r>
              <a:rPr lang="en-US" altLang="zh-CN" smtClean="0"/>
              <a:t>Cache</a:t>
            </a:r>
            <a:r>
              <a:rPr lang="zh-CN" altLang="en-US" smtClean="0"/>
              <a:t>降低失效延迟</a:t>
            </a:r>
            <a:endParaRPr lang="zh-CN" altLang="en-US" smtClean="0"/>
          </a:p>
        </p:txBody>
      </p:sp>
      <p:sp>
        <p:nvSpPr>
          <p:cNvPr id="46084" name="Rectangle 3"/>
          <p:cNvSpPr>
            <a:spLocks noGrp="1" noChangeArrowheads="1"/>
          </p:cNvSpPr>
          <p:nvPr>
            <p:ph idx="1"/>
          </p:nvPr>
        </p:nvSpPr>
        <p:spPr>
          <a:xfrm>
            <a:off x="496888" y="1092200"/>
            <a:ext cx="11107737" cy="5483225"/>
          </a:xfrm>
        </p:spPr>
        <p:txBody>
          <a:bodyPr lIns="90488" tIns="44450" rIns="90488" bIns="44450"/>
          <a:lstStyle/>
          <a:p>
            <a:pPr eaLnBrk="1" hangingPunct="1">
              <a:spcBef>
                <a:spcPct val="0"/>
              </a:spcBef>
            </a:pPr>
            <a:r>
              <a:rPr lang="zh-CN" altLang="en-US" sz="2000" smtClean="0">
                <a:latin typeface="宋体" panose="02000500000000000000" pitchFamily="2" charset="-122"/>
              </a:rPr>
              <a:t>通过</a:t>
            </a:r>
            <a:r>
              <a:rPr lang="en-US" altLang="zh-CN" sz="2000" smtClean="0">
                <a:latin typeface="宋体" panose="02000500000000000000" pitchFamily="2" charset="-122"/>
              </a:rPr>
              <a:t>L2</a:t>
            </a:r>
            <a:r>
              <a:rPr lang="zh-CN" altLang="en-US" sz="2000" smtClean="0">
                <a:latin typeface="宋体" panose="02000500000000000000" pitchFamily="2" charset="-122"/>
              </a:rPr>
              <a:t>降低失效延迟</a:t>
            </a:r>
            <a:endParaRPr lang="zh-CN" altLang="en-US" sz="1600" smtClean="0">
              <a:latin typeface="宋体" panose="02000500000000000000" pitchFamily="2" charset="-122"/>
            </a:endParaRPr>
          </a:p>
          <a:p>
            <a:pPr eaLnBrk="1" hangingPunct="1">
              <a:spcBef>
                <a:spcPct val="0"/>
              </a:spcBef>
              <a:buFontTx/>
              <a:buNone/>
            </a:pPr>
            <a:r>
              <a:rPr lang="zh-CN" altLang="en-US" sz="1600" smtClean="0">
                <a:latin typeface="宋体" panose="02000500000000000000" pitchFamily="2" charset="-122"/>
              </a:rPr>
              <a:t>	</a:t>
            </a:r>
            <a:endParaRPr lang="zh-CN" altLang="en-US" sz="1600" smtClean="0">
              <a:latin typeface="宋体" panose="02000500000000000000" pitchFamily="2" charset="-122"/>
            </a:endParaRPr>
          </a:p>
          <a:p>
            <a:pPr eaLnBrk="1" hangingPunct="1">
              <a:spcBef>
                <a:spcPct val="0"/>
              </a:spcBef>
              <a:buFontTx/>
              <a:buNone/>
            </a:pPr>
            <a:r>
              <a:rPr lang="zh-CN" altLang="en-US" sz="1600" smtClean="0">
                <a:latin typeface="宋体" panose="02000500000000000000" pitchFamily="2" charset="-122"/>
              </a:rPr>
              <a:t>   </a:t>
            </a:r>
            <a:r>
              <a:rPr lang="en-US" altLang="zh-CN" sz="1600" smtClean="0">
                <a:latin typeface="宋体" panose="02000500000000000000" pitchFamily="2" charset="-122"/>
              </a:rPr>
              <a:t>AMAT = Hit Time</a:t>
            </a:r>
            <a:r>
              <a:rPr lang="en-US" altLang="zh-CN" sz="1600" baseline="-25000" smtClean="0">
                <a:latin typeface="宋体" panose="02000500000000000000" pitchFamily="2" charset="-122"/>
              </a:rPr>
              <a:t>L1</a:t>
            </a:r>
            <a:r>
              <a:rPr lang="en-US" altLang="zh-CN" sz="1600" smtClean="0">
                <a:latin typeface="宋体" panose="02000500000000000000" pitchFamily="2" charset="-122"/>
              </a:rPr>
              <a:t> + Miss Rate</a:t>
            </a:r>
            <a:r>
              <a:rPr lang="en-US" altLang="zh-CN" sz="1600" baseline="-25000" smtClean="0">
                <a:latin typeface="宋体" panose="02000500000000000000" pitchFamily="2" charset="-122"/>
              </a:rPr>
              <a:t>L1</a:t>
            </a:r>
            <a:r>
              <a:rPr lang="en-US" altLang="zh-CN" sz="1600" smtClean="0">
                <a:latin typeface="宋体" panose="02000500000000000000" pitchFamily="2" charset="-122"/>
              </a:rPr>
              <a:t> x Miss Penalty</a:t>
            </a:r>
            <a:r>
              <a:rPr lang="en-US" altLang="zh-CN" sz="1600" baseline="-25000" smtClean="0">
                <a:latin typeface="宋体" panose="02000500000000000000" pitchFamily="2" charset="-122"/>
              </a:rPr>
              <a:t>L1</a:t>
            </a:r>
            <a:br>
              <a:rPr lang="en-US" altLang="zh-CN" sz="1600" baseline="-25000" smtClean="0">
                <a:latin typeface="宋体" panose="02000500000000000000" pitchFamily="2" charset="-122"/>
              </a:rPr>
            </a:br>
            <a:r>
              <a:rPr lang="en-US" altLang="zh-CN" sz="1600" smtClean="0">
                <a:latin typeface="宋体" panose="02000500000000000000" pitchFamily="2" charset="-122"/>
              </a:rPr>
              <a:t>Miss Penalty</a:t>
            </a:r>
            <a:r>
              <a:rPr lang="en-US" altLang="zh-CN" sz="1600" baseline="-25000" smtClean="0">
                <a:latin typeface="宋体" panose="02000500000000000000" pitchFamily="2" charset="-122"/>
              </a:rPr>
              <a:t>L1</a:t>
            </a:r>
            <a:r>
              <a:rPr lang="en-US" altLang="zh-CN" sz="1600" smtClean="0">
                <a:latin typeface="宋体" panose="02000500000000000000" pitchFamily="2" charset="-122"/>
              </a:rPr>
              <a:t> = Hit Time</a:t>
            </a:r>
            <a:r>
              <a:rPr lang="en-US" altLang="zh-CN" sz="1600" baseline="-25000" smtClean="0">
                <a:latin typeface="宋体" panose="02000500000000000000" pitchFamily="2" charset="-122"/>
              </a:rPr>
              <a:t>L2</a:t>
            </a:r>
            <a:r>
              <a:rPr lang="en-US" altLang="zh-CN" sz="1600" smtClean="0">
                <a:latin typeface="宋体" panose="02000500000000000000" pitchFamily="2" charset="-122"/>
              </a:rPr>
              <a:t> + Miss Rate</a:t>
            </a:r>
            <a:r>
              <a:rPr lang="en-US" altLang="zh-CN" sz="1600" baseline="-25000" smtClean="0">
                <a:latin typeface="宋体" panose="02000500000000000000" pitchFamily="2" charset="-122"/>
              </a:rPr>
              <a:t>L2</a:t>
            </a:r>
            <a:r>
              <a:rPr lang="en-US" altLang="zh-CN" sz="1600" smtClean="0">
                <a:latin typeface="宋体" panose="02000500000000000000" pitchFamily="2" charset="-122"/>
              </a:rPr>
              <a:t> x Miss Penalty</a:t>
            </a:r>
            <a:r>
              <a:rPr lang="en-US" altLang="zh-CN" sz="1600" baseline="-25000" smtClean="0">
                <a:latin typeface="宋体" panose="02000500000000000000" pitchFamily="2" charset="-122"/>
              </a:rPr>
              <a:t>L2</a:t>
            </a:r>
            <a:endParaRPr lang="en-US" altLang="zh-CN" sz="1600" baseline="-25000" smtClean="0">
              <a:latin typeface="宋体" panose="02000500000000000000" pitchFamily="2" charset="-122"/>
            </a:endParaRPr>
          </a:p>
          <a:p>
            <a:pPr eaLnBrk="1" hangingPunct="1">
              <a:spcBef>
                <a:spcPct val="0"/>
              </a:spcBef>
              <a:buFontTx/>
              <a:buNone/>
            </a:pPr>
            <a:r>
              <a:rPr lang="en-US" altLang="zh-CN" sz="1600" smtClean="0">
                <a:latin typeface="宋体" panose="02000500000000000000" pitchFamily="2" charset="-122"/>
              </a:rPr>
              <a:t>	AMAT = Hit Time</a:t>
            </a:r>
            <a:r>
              <a:rPr lang="en-US" altLang="zh-CN" sz="1600" baseline="-25000" smtClean="0">
                <a:latin typeface="宋体" panose="02000500000000000000" pitchFamily="2" charset="-122"/>
              </a:rPr>
              <a:t>L1</a:t>
            </a:r>
            <a:r>
              <a:rPr lang="en-US" altLang="zh-CN" sz="1600" smtClean="0">
                <a:latin typeface="宋体" panose="02000500000000000000" pitchFamily="2" charset="-122"/>
              </a:rPr>
              <a:t> +</a:t>
            </a:r>
            <a:r>
              <a:rPr lang="en-US" altLang="zh-CN" sz="1600" u="sng" smtClean="0">
                <a:solidFill>
                  <a:schemeClr val="hlink"/>
                </a:solidFill>
                <a:latin typeface="宋体" panose="02000500000000000000" pitchFamily="2" charset="-122"/>
              </a:rPr>
              <a:t> </a:t>
            </a:r>
            <a:r>
              <a:rPr lang="en-US" altLang="zh-CN" sz="1600" u="sng" smtClean="0">
                <a:solidFill>
                  <a:srgbClr val="FF0000"/>
                </a:solidFill>
                <a:latin typeface="宋体" panose="02000500000000000000" pitchFamily="2" charset="-122"/>
              </a:rPr>
              <a:t>Miss Rate</a:t>
            </a:r>
            <a:r>
              <a:rPr lang="en-US" altLang="zh-CN" sz="1600" u="sng" baseline="-25000" smtClean="0">
                <a:solidFill>
                  <a:srgbClr val="FF0000"/>
                </a:solidFill>
                <a:latin typeface="宋体" panose="02000500000000000000" pitchFamily="2" charset="-122"/>
              </a:rPr>
              <a:t>L1</a:t>
            </a:r>
            <a:r>
              <a:rPr lang="en-US" altLang="zh-CN" sz="1600" u="sng" smtClean="0">
                <a:solidFill>
                  <a:schemeClr val="hlink"/>
                </a:solidFill>
                <a:latin typeface="宋体" panose="02000500000000000000" pitchFamily="2" charset="-122"/>
              </a:rPr>
              <a:t> </a:t>
            </a:r>
            <a:r>
              <a:rPr lang="en-US" altLang="zh-CN" sz="1600" smtClean="0">
                <a:latin typeface="宋体" panose="02000500000000000000" pitchFamily="2" charset="-122"/>
              </a:rPr>
              <a:t>x (Hit Time</a:t>
            </a:r>
            <a:r>
              <a:rPr lang="en-US" altLang="zh-CN" sz="1600" baseline="-25000" smtClean="0">
                <a:latin typeface="宋体" panose="02000500000000000000" pitchFamily="2" charset="-122"/>
              </a:rPr>
              <a:t>L2</a:t>
            </a:r>
            <a:r>
              <a:rPr lang="en-US" altLang="zh-CN" sz="1600" smtClean="0">
                <a:latin typeface="宋体" panose="02000500000000000000" pitchFamily="2" charset="-122"/>
              </a:rPr>
              <a:t> +</a:t>
            </a:r>
            <a:r>
              <a:rPr lang="en-US" altLang="zh-CN" sz="1600" u="sng" smtClean="0">
                <a:solidFill>
                  <a:schemeClr val="hlink"/>
                </a:solidFill>
                <a:latin typeface="宋体" panose="02000500000000000000" pitchFamily="2" charset="-122"/>
              </a:rPr>
              <a:t> </a:t>
            </a:r>
            <a:r>
              <a:rPr lang="en-US" altLang="zh-CN" sz="1600" u="sng" smtClean="0">
                <a:solidFill>
                  <a:srgbClr val="FF0000"/>
                </a:solidFill>
                <a:latin typeface="宋体" panose="02000500000000000000" pitchFamily="2" charset="-122"/>
              </a:rPr>
              <a:t>Miss Rate</a:t>
            </a:r>
            <a:r>
              <a:rPr lang="en-US" altLang="zh-CN" sz="1600" u="sng" baseline="-25000" smtClean="0">
                <a:solidFill>
                  <a:srgbClr val="FF0000"/>
                </a:solidFill>
                <a:latin typeface="宋体" panose="02000500000000000000" pitchFamily="2" charset="-122"/>
              </a:rPr>
              <a:t>L2</a:t>
            </a:r>
            <a:r>
              <a:rPr lang="en-US" altLang="zh-CN" sz="1600" u="sng" smtClean="0">
                <a:solidFill>
                  <a:schemeClr val="hlink"/>
                </a:solidFill>
                <a:latin typeface="宋体" panose="02000500000000000000" pitchFamily="2" charset="-122"/>
              </a:rPr>
              <a:t> </a:t>
            </a:r>
            <a:r>
              <a:rPr lang="en-US" altLang="zh-CN" sz="1600" smtClean="0">
                <a:latin typeface="宋体" panose="02000500000000000000" pitchFamily="2" charset="-122"/>
              </a:rPr>
              <a:t>x  Miss Penalty</a:t>
            </a:r>
            <a:r>
              <a:rPr lang="en-US" altLang="zh-CN" sz="1600" baseline="-25000" smtClean="0">
                <a:latin typeface="宋体" panose="02000500000000000000" pitchFamily="2" charset="-122"/>
              </a:rPr>
              <a:t>L2</a:t>
            </a:r>
            <a:r>
              <a:rPr lang="en-US" altLang="zh-CN" sz="1600" smtClean="0">
                <a:latin typeface="宋体" panose="02000500000000000000" pitchFamily="2" charset="-122"/>
              </a:rPr>
              <a:t>)</a:t>
            </a:r>
            <a:endParaRPr lang="en-US" altLang="zh-CN" sz="1600" smtClean="0">
              <a:latin typeface="宋体" panose="02000500000000000000" pitchFamily="2" charset="-122"/>
            </a:endParaRPr>
          </a:p>
          <a:p>
            <a:pPr eaLnBrk="1" hangingPunct="1">
              <a:spcBef>
                <a:spcPct val="0"/>
              </a:spcBef>
              <a:buFontTx/>
              <a:buNone/>
            </a:pPr>
            <a:endParaRPr lang="en-US" altLang="zh-CN" sz="16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r>
              <a:rPr lang="zh-CN" altLang="en-US" sz="2000" smtClean="0">
                <a:latin typeface="宋体" panose="02000500000000000000" pitchFamily="2" charset="-122"/>
              </a:rPr>
              <a:t>的失效率</a:t>
            </a:r>
            <a:endParaRPr lang="zh-CN" altLang="en-US" sz="2000" smtClean="0">
              <a:latin typeface="宋体" panose="02000500000000000000" pitchFamily="2" charset="-122"/>
            </a:endParaRPr>
          </a:p>
          <a:p>
            <a:pPr lvl="1" eaLnBrk="1" hangingPunct="1">
              <a:spcBef>
                <a:spcPct val="0"/>
              </a:spcBef>
            </a:pPr>
            <a:r>
              <a:rPr lang="zh-CN" altLang="en-US" sz="1600" smtClean="0">
                <a:solidFill>
                  <a:srgbClr val="FF0000"/>
                </a:solidFill>
                <a:latin typeface="宋体" panose="02000500000000000000" pitchFamily="2" charset="-122"/>
              </a:rPr>
              <a:t>局部失效率（</a:t>
            </a:r>
            <a:r>
              <a:rPr lang="en-US" altLang="zh-CN" sz="1600" smtClean="0">
                <a:solidFill>
                  <a:srgbClr val="FF0000"/>
                </a:solidFill>
                <a:latin typeface="宋体" panose="02000500000000000000" pitchFamily="2" charset="-122"/>
              </a:rPr>
              <a:t>Local miss rate</a:t>
            </a:r>
            <a:r>
              <a:rPr lang="zh-CN" altLang="en-US" sz="1600" smtClean="0">
                <a:solidFill>
                  <a:srgbClr val="FF0000"/>
                </a:solidFill>
                <a:latin typeface="宋体" panose="02000500000000000000" pitchFamily="2" charset="-122"/>
              </a:rPr>
              <a:t>）</a:t>
            </a:r>
            <a:r>
              <a:rPr lang="en-US" altLang="zh-CN" sz="1600" smtClean="0">
                <a:latin typeface="宋体" panose="02000500000000000000" pitchFamily="2" charset="-122"/>
              </a:rPr>
              <a:t>— L2</a:t>
            </a:r>
            <a:r>
              <a:rPr lang="zh-CN" altLang="en-US" sz="1600" smtClean="0">
                <a:latin typeface="宋体" panose="02000500000000000000" pitchFamily="2" charset="-122"/>
              </a:rPr>
              <a:t>失效次数除以</a:t>
            </a:r>
            <a:r>
              <a:rPr lang="en-US" altLang="zh-CN" sz="1600" smtClean="0">
                <a:latin typeface="宋体" panose="02000500000000000000" pitchFamily="2" charset="-122"/>
              </a:rPr>
              <a:t>L2</a:t>
            </a:r>
            <a:r>
              <a:rPr lang="zh-CN" altLang="en-US" sz="1600" smtClean="0">
                <a:latin typeface="宋体" panose="02000500000000000000" pitchFamily="2" charset="-122"/>
              </a:rPr>
              <a:t>访问次数</a:t>
            </a:r>
            <a:endParaRPr lang="zh-CN" altLang="en-US" sz="1600" smtClean="0">
              <a:latin typeface="宋体" panose="02000500000000000000" pitchFamily="2" charset="-122"/>
            </a:endParaRPr>
          </a:p>
          <a:p>
            <a:pPr lvl="1" eaLnBrk="1" hangingPunct="1">
              <a:spcBef>
                <a:spcPct val="0"/>
              </a:spcBef>
            </a:pPr>
            <a:r>
              <a:rPr lang="zh-CN" altLang="en-US" sz="1600" smtClean="0">
                <a:solidFill>
                  <a:srgbClr val="FF0000"/>
                </a:solidFill>
                <a:latin typeface="宋体" panose="02000500000000000000" pitchFamily="2" charset="-122"/>
              </a:rPr>
              <a:t>全局失效率（</a:t>
            </a:r>
            <a:r>
              <a:rPr lang="en-US" altLang="zh-CN" sz="1600" smtClean="0">
                <a:solidFill>
                  <a:srgbClr val="FF0000"/>
                </a:solidFill>
                <a:latin typeface="宋体" panose="02000500000000000000" pitchFamily="2" charset="-122"/>
              </a:rPr>
              <a:t>Global miss rate</a:t>
            </a:r>
            <a:r>
              <a:rPr lang="zh-CN" altLang="en-US" sz="1600" smtClean="0">
                <a:solidFill>
                  <a:srgbClr val="FF0000"/>
                </a:solidFill>
                <a:latin typeface="宋体" panose="02000500000000000000" pitchFamily="2" charset="-122"/>
              </a:rPr>
              <a:t>）</a:t>
            </a:r>
            <a:r>
              <a:rPr lang="zh-CN" altLang="en-US" sz="1600" i="1" smtClean="0">
                <a:solidFill>
                  <a:schemeClr val="hlink"/>
                </a:solidFill>
                <a:latin typeface="宋体" panose="02000500000000000000" pitchFamily="2" charset="-122"/>
              </a:rPr>
              <a:t> </a:t>
            </a:r>
            <a:r>
              <a:rPr lang="en-US" altLang="zh-CN" sz="1600" smtClean="0">
                <a:latin typeface="宋体" panose="02000500000000000000" pitchFamily="2" charset="-122"/>
              </a:rPr>
              <a:t>— L2</a:t>
            </a:r>
            <a:r>
              <a:rPr lang="zh-CN" altLang="en-US" sz="1600" smtClean="0">
                <a:latin typeface="宋体" panose="02000500000000000000" pitchFamily="2" charset="-122"/>
              </a:rPr>
              <a:t>失效次数除以所有访存次数（</a:t>
            </a:r>
            <a:r>
              <a:rPr lang="en-US" altLang="zh-CN" sz="1600" smtClean="0">
                <a:latin typeface="宋体" panose="02000500000000000000" pitchFamily="2" charset="-122"/>
              </a:rPr>
              <a:t>Miss Rate</a:t>
            </a:r>
            <a:r>
              <a:rPr lang="en-US" altLang="zh-CN" sz="1600" baseline="-25000" smtClean="0">
                <a:latin typeface="宋体" panose="02000500000000000000" pitchFamily="2" charset="-122"/>
              </a:rPr>
              <a:t>L1</a:t>
            </a:r>
            <a:r>
              <a:rPr lang="en-US" altLang="zh-CN" sz="1600" smtClean="0">
                <a:latin typeface="宋体" panose="02000500000000000000" pitchFamily="2" charset="-122"/>
              </a:rPr>
              <a:t> x Miss Rate</a:t>
            </a:r>
            <a:r>
              <a:rPr lang="en-US" altLang="zh-CN" sz="1600" baseline="-25000" smtClean="0">
                <a:latin typeface="宋体" panose="02000500000000000000" pitchFamily="2" charset="-122"/>
              </a:rPr>
              <a:t>L2</a:t>
            </a:r>
            <a:r>
              <a:rPr lang="zh-CN" altLang="en-US" sz="1600" smtClean="0">
                <a:latin typeface="宋体" panose="02000500000000000000" pitchFamily="2" charset="-122"/>
              </a:rPr>
              <a:t>） </a:t>
            </a:r>
            <a:endParaRPr lang="zh-CN" altLang="en-US" sz="1600" smtClean="0">
              <a:latin typeface="宋体" panose="02000500000000000000" pitchFamily="2" charset="-122"/>
            </a:endParaRPr>
          </a:p>
          <a:p>
            <a:pPr lvl="1" eaLnBrk="1" hangingPunct="1">
              <a:spcBef>
                <a:spcPct val="0"/>
              </a:spcBef>
            </a:pPr>
            <a:r>
              <a:rPr lang="zh-CN" altLang="en-US" sz="1600" smtClean="0">
                <a:latin typeface="宋体" panose="02000500000000000000" pitchFamily="2" charset="-122"/>
              </a:rPr>
              <a:t>局部失效率较高（</a:t>
            </a:r>
            <a:r>
              <a:rPr lang="en-US" altLang="zh-CN" sz="1600" smtClean="0">
                <a:latin typeface="宋体" panose="02000500000000000000" pitchFamily="2" charset="-122"/>
              </a:rPr>
              <a:t>10%-20%</a:t>
            </a:r>
            <a:r>
              <a:rPr lang="zh-CN" altLang="en-US" sz="1600" smtClean="0">
                <a:latin typeface="宋体" panose="02000500000000000000" pitchFamily="2" charset="-122"/>
              </a:rPr>
              <a:t>），全局失效率很低（</a:t>
            </a:r>
            <a:r>
              <a:rPr lang="en-US" altLang="zh-CN" sz="1600" smtClean="0">
                <a:latin typeface="宋体" panose="02000500000000000000" pitchFamily="2" charset="-122"/>
              </a:rPr>
              <a:t>&lt;1%</a:t>
            </a:r>
            <a:r>
              <a:rPr lang="zh-CN" altLang="en-US" sz="1600" smtClean="0">
                <a:latin typeface="宋体" panose="02000500000000000000" pitchFamily="2" charset="-122"/>
              </a:rPr>
              <a:t>）</a:t>
            </a:r>
            <a:endParaRPr lang="zh-CN" altLang="en-US" sz="1600" smtClean="0">
              <a:latin typeface="宋体"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noChangeArrowheads="1"/>
          </p:cNvSpPr>
          <p:nvPr>
            <p:ph type="sldNum" sz="quarter" idx="12"/>
          </p:nvPr>
        </p:nvSpPr>
        <p:spPr>
          <a:noFill/>
        </p:spPr>
        <p:txBody>
          <a:bodyPr/>
          <a:lstStyle/>
          <a:p>
            <a:fld id="{EA51FEA1-A5F8-4350-8A8C-2E91D1F03914}" type="slidenum">
              <a:rPr lang="en-US" altLang="zh-CN" smtClean="0"/>
            </a:fld>
            <a:endParaRPr lang="en-US" altLang="zh-CN" smtClean="0"/>
          </a:p>
        </p:txBody>
      </p:sp>
      <p:sp>
        <p:nvSpPr>
          <p:cNvPr id="47107" name="Rectangle 4"/>
          <p:cNvSpPr>
            <a:spLocks noChangeArrowheads="1"/>
          </p:cNvSpPr>
          <p:nvPr/>
        </p:nvSpPr>
        <p:spPr bwMode="auto">
          <a:xfrm>
            <a:off x="825500" y="501650"/>
            <a:ext cx="10361613" cy="846138"/>
          </a:xfrm>
          <a:prstGeom prst="rect">
            <a:avLst/>
          </a:prstGeom>
          <a:noFill/>
          <a:ln w="9525">
            <a:noFill/>
            <a:miter lim="800000"/>
          </a:ln>
        </p:spPr>
        <p:txBody>
          <a:bodyPr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降低命中延迟（</a:t>
            </a:r>
            <a:r>
              <a:rPr lang="en-US" altLang="zh-CN" sz="3200">
                <a:solidFill>
                  <a:srgbClr val="FF0000"/>
                </a:solidFill>
                <a:latin typeface="Arial" panose="02080604020202020204" pitchFamily="34" charset="0"/>
                <a:ea typeface="黑体" panose="02000500000000000000" pitchFamily="49" charset="-122"/>
              </a:rPr>
              <a:t>HitTime</a:t>
            </a:r>
            <a:r>
              <a:rPr lang="zh-CN" altLang="en-US" sz="3200">
                <a:solidFill>
                  <a:srgbClr val="FF0000"/>
                </a:solidFill>
                <a:latin typeface="Arial" panose="02080604020202020204" pitchFamily="34" charset="0"/>
                <a:ea typeface="黑体" panose="02000500000000000000" pitchFamily="49" charset="-122"/>
              </a:rPr>
              <a:t>）</a:t>
            </a:r>
            <a:endParaRPr lang="zh-CN" altLang="en-US" sz="3200">
              <a:solidFill>
                <a:srgbClr val="FF0000"/>
              </a:solidFill>
              <a:latin typeface="Arial" panose="02080604020202020204" pitchFamily="34" charset="0"/>
              <a:ea typeface="黑体" panose="02000500000000000000" pitchFamily="49" charset="-122"/>
            </a:endParaRPr>
          </a:p>
        </p:txBody>
      </p:sp>
      <p:sp>
        <p:nvSpPr>
          <p:cNvPr id="47108" name="Rectangle 5"/>
          <p:cNvSpPr>
            <a:spLocks noChangeArrowheads="1"/>
          </p:cNvSpPr>
          <p:nvPr/>
        </p:nvSpPr>
        <p:spPr bwMode="auto">
          <a:xfrm>
            <a:off x="674688" y="1698625"/>
            <a:ext cx="10969625" cy="4921250"/>
          </a:xfrm>
          <a:prstGeom prst="rect">
            <a:avLst/>
          </a:prstGeom>
          <a:noFill/>
          <a:ln w="9525">
            <a:noFill/>
            <a:miter lim="800000"/>
          </a:ln>
        </p:spPr>
        <p:txBody>
          <a:bodyPr/>
          <a:lstStyle/>
          <a:p>
            <a:pPr marL="342900" indent="-342900">
              <a:lnSpc>
                <a:spcPct val="150000"/>
              </a:lnSpc>
              <a:spcBef>
                <a:spcPct val="0"/>
              </a:spcBef>
              <a:buFontTx/>
              <a:buChar char="•"/>
            </a:pPr>
            <a:r>
              <a:rPr lang="zh-CN" altLang="en-US" sz="2400" b="1">
                <a:latin typeface="宋体" panose="02000500000000000000" pitchFamily="2" charset="-122"/>
              </a:rPr>
              <a:t>简化</a:t>
            </a:r>
            <a:r>
              <a:rPr lang="en-US" altLang="zh-CN" sz="2400" b="1">
                <a:latin typeface="宋体" panose="02000500000000000000" pitchFamily="2" charset="-122"/>
              </a:rPr>
              <a:t>Cache</a:t>
            </a:r>
            <a:r>
              <a:rPr lang="zh-CN" altLang="en-US" sz="2400" b="1">
                <a:latin typeface="宋体" panose="02000500000000000000" pitchFamily="2" charset="-122"/>
              </a:rPr>
              <a:t>设计</a:t>
            </a:r>
            <a:endParaRPr lang="zh-CN" altLang="en-US"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并行访问</a:t>
            </a:r>
            <a:r>
              <a:rPr lang="en-US" altLang="zh-CN" sz="2400" b="1">
                <a:latin typeface="宋体" panose="02000500000000000000" pitchFamily="2" charset="-122"/>
              </a:rPr>
              <a:t>Cache</a:t>
            </a:r>
            <a:r>
              <a:rPr lang="zh-CN" altLang="en-US" sz="2400" b="1">
                <a:latin typeface="宋体" panose="02000500000000000000" pitchFamily="2" charset="-122"/>
              </a:rPr>
              <a:t>与</a:t>
            </a:r>
            <a:r>
              <a:rPr lang="en-US" altLang="zh-CN" sz="2400" b="1">
                <a:latin typeface="宋体" panose="02000500000000000000" pitchFamily="2" charset="-122"/>
              </a:rPr>
              <a:t>TLB</a:t>
            </a:r>
            <a:endParaRPr lang="en-US" altLang="zh-CN"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增加</a:t>
            </a:r>
            <a:r>
              <a:rPr lang="en-US" altLang="zh-CN" sz="2400" b="1">
                <a:latin typeface="宋体" panose="02000500000000000000" pitchFamily="2" charset="-122"/>
              </a:rPr>
              <a:t>Cache</a:t>
            </a:r>
            <a:r>
              <a:rPr lang="zh-CN" altLang="en-US" sz="2400" b="1">
                <a:latin typeface="宋体" panose="02000500000000000000" pitchFamily="2" charset="-122"/>
              </a:rPr>
              <a:t>访问流水级</a:t>
            </a:r>
            <a:endParaRPr lang="zh-CN" altLang="en-US" sz="24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灯片编号占位符 5"/>
          <p:cNvSpPr>
            <a:spLocks noGrp="1" noChangeArrowheads="1"/>
          </p:cNvSpPr>
          <p:nvPr>
            <p:ph type="sldNum" sz="quarter" idx="12"/>
          </p:nvPr>
        </p:nvSpPr>
        <p:spPr>
          <a:noFill/>
        </p:spPr>
        <p:txBody>
          <a:bodyPr/>
          <a:lstStyle/>
          <a:p>
            <a:fld id="{CBDFE114-06A5-4953-8D2A-1B628F8A62BF}" type="slidenum">
              <a:rPr lang="en-US" altLang="zh-CN" smtClean="0"/>
            </a:fld>
            <a:endParaRPr lang="en-US" altLang="zh-CN" smtClean="0"/>
          </a:p>
        </p:txBody>
      </p:sp>
      <p:sp>
        <p:nvSpPr>
          <p:cNvPr id="48131" name="Rectangle 2"/>
          <p:cNvSpPr>
            <a:spLocks noGrp="1" noChangeArrowheads="1"/>
          </p:cNvSpPr>
          <p:nvPr>
            <p:ph type="title"/>
          </p:nvPr>
        </p:nvSpPr>
        <p:spPr>
          <a:xfrm>
            <a:off x="965200" y="114300"/>
            <a:ext cx="10361613" cy="1143000"/>
          </a:xfrm>
        </p:spPr>
        <p:txBody>
          <a:bodyPr lIns="90488" tIns="44450" rIns="90488" bIns="44450"/>
          <a:lstStyle/>
          <a:p>
            <a:pPr eaLnBrk="1" hangingPunct="1"/>
            <a:r>
              <a:rPr lang="zh-CN" altLang="en-US" smtClean="0"/>
              <a:t>简化</a:t>
            </a:r>
            <a:r>
              <a:rPr lang="en-US" altLang="zh-CN" smtClean="0"/>
              <a:t>Cache</a:t>
            </a:r>
            <a:r>
              <a:rPr lang="zh-CN" altLang="en-US" smtClean="0"/>
              <a:t>设计 </a:t>
            </a:r>
            <a:endParaRPr lang="zh-CN" altLang="en-US" smtClean="0"/>
          </a:p>
        </p:txBody>
      </p:sp>
      <p:sp>
        <p:nvSpPr>
          <p:cNvPr id="48132" name="Rectangle 3"/>
          <p:cNvSpPr>
            <a:spLocks noGrp="1" noChangeArrowheads="1"/>
          </p:cNvSpPr>
          <p:nvPr>
            <p:ph idx="1"/>
          </p:nvPr>
        </p:nvSpPr>
        <p:spPr>
          <a:xfrm>
            <a:off x="914400" y="1447800"/>
            <a:ext cx="10361613" cy="4648200"/>
          </a:xfrm>
        </p:spPr>
        <p:txBody>
          <a:bodyPr lIns="90488" tIns="44450" rIns="90488" bIns="44450"/>
          <a:lstStyle/>
          <a:p>
            <a:pPr eaLnBrk="1" hangingPunct="1">
              <a:spcBef>
                <a:spcPct val="0"/>
              </a:spcBef>
            </a:pPr>
            <a:r>
              <a:rPr lang="zh-CN" altLang="en-US" sz="2000" smtClean="0">
                <a:latin typeface="宋体" panose="02000500000000000000" pitchFamily="2" charset="-122"/>
              </a:rPr>
              <a:t>访问</a:t>
            </a:r>
            <a:r>
              <a:rPr lang="en-US" altLang="zh-CN" sz="2000" smtClean="0">
                <a:latin typeface="宋体" panose="02000500000000000000" pitchFamily="2" charset="-122"/>
              </a:rPr>
              <a:t>Cache</a:t>
            </a:r>
            <a:r>
              <a:rPr lang="zh-CN" altLang="en-US" sz="2000" smtClean="0">
                <a:latin typeface="宋体" panose="02000500000000000000" pitchFamily="2" charset="-122"/>
              </a:rPr>
              <a:t>常常是整个</a:t>
            </a:r>
            <a:r>
              <a:rPr lang="en-US" altLang="zh-CN" sz="2000" smtClean="0">
                <a:latin typeface="宋体" panose="02000500000000000000" pitchFamily="2" charset="-122"/>
              </a:rPr>
              <a:t>CPU</a:t>
            </a:r>
            <a:r>
              <a:rPr lang="zh-CN" altLang="en-US" sz="2000" smtClean="0">
                <a:latin typeface="宋体" panose="02000500000000000000" pitchFamily="2" charset="-122"/>
              </a:rPr>
              <a:t>的时钟关键路径</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Cache</a:t>
            </a:r>
            <a:r>
              <a:rPr lang="zh-CN" altLang="en-US" sz="1800" smtClean="0">
                <a:latin typeface="宋体" panose="02000500000000000000" pitchFamily="2" charset="-122"/>
              </a:rPr>
              <a:t>越小，延迟越小</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直接相联的</a:t>
            </a:r>
            <a:r>
              <a:rPr lang="en-US" altLang="zh-CN" sz="1800" smtClean="0">
                <a:latin typeface="宋体" panose="02000500000000000000" pitchFamily="2" charset="-122"/>
              </a:rPr>
              <a:t>Cache</a:t>
            </a:r>
            <a:r>
              <a:rPr lang="zh-CN" altLang="en-US" sz="1800" smtClean="0">
                <a:latin typeface="宋体" panose="02000500000000000000" pitchFamily="2" charset="-122"/>
              </a:rPr>
              <a:t>延迟小</a:t>
            </a:r>
            <a:endParaRPr lang="zh-CN" altLang="en-US"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简化一级</a:t>
            </a:r>
            <a:r>
              <a:rPr lang="en-US" altLang="zh-CN" sz="2000" smtClean="0">
                <a:latin typeface="宋体" panose="02000500000000000000" pitchFamily="2" charset="-122"/>
              </a:rPr>
              <a:t>Cache</a:t>
            </a:r>
            <a:r>
              <a:rPr lang="zh-CN" altLang="en-US" sz="2000" smtClean="0">
                <a:latin typeface="宋体" panose="02000500000000000000" pitchFamily="2" charset="-122"/>
              </a:rPr>
              <a:t>设计需要统筹考虑</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PIV</a:t>
            </a:r>
            <a:r>
              <a:rPr lang="zh-CN" altLang="en-US" sz="1800" smtClean="0">
                <a:latin typeface="宋体" panose="02000500000000000000" pitchFamily="2" charset="-122"/>
              </a:rPr>
              <a:t>数据</a:t>
            </a:r>
            <a:r>
              <a:rPr lang="en-US" altLang="zh-CN" sz="1800" smtClean="0">
                <a:latin typeface="宋体" panose="02000500000000000000" pitchFamily="2" charset="-122"/>
              </a:rPr>
              <a:t>Cache</a:t>
            </a:r>
            <a:r>
              <a:rPr lang="zh-CN" altLang="en-US" sz="1800" smtClean="0">
                <a:latin typeface="宋体" panose="02000500000000000000" pitchFamily="2" charset="-122"/>
              </a:rPr>
              <a:t>从</a:t>
            </a:r>
            <a:r>
              <a:rPr lang="en-US" altLang="zh-CN" sz="1800" smtClean="0">
                <a:latin typeface="宋体" panose="02000500000000000000" pitchFamily="2" charset="-122"/>
              </a:rPr>
              <a:t>PIII</a:t>
            </a:r>
            <a:r>
              <a:rPr lang="zh-CN" altLang="en-US" sz="1800" smtClean="0">
                <a:latin typeface="宋体" panose="02000500000000000000" pitchFamily="2" charset="-122"/>
              </a:rPr>
              <a:t>的</a:t>
            </a:r>
            <a:r>
              <a:rPr lang="en-US" altLang="zh-CN" sz="1800" smtClean="0">
                <a:latin typeface="宋体" panose="02000500000000000000" pitchFamily="2" charset="-122"/>
              </a:rPr>
              <a:t>16KB</a:t>
            </a:r>
            <a:r>
              <a:rPr lang="zh-CN" altLang="en-US" sz="1800" smtClean="0">
                <a:latin typeface="宋体" panose="02000500000000000000" pitchFamily="2" charset="-122"/>
              </a:rPr>
              <a:t>降低为</a:t>
            </a:r>
            <a:r>
              <a:rPr lang="en-US" altLang="zh-CN" sz="1800" smtClean="0">
                <a:latin typeface="宋体" panose="02000500000000000000" pitchFamily="2" charset="-122"/>
              </a:rPr>
              <a:t>8KB</a:t>
            </a:r>
            <a:r>
              <a:rPr lang="zh-CN" altLang="en-US" sz="1800" smtClean="0">
                <a:latin typeface="宋体" panose="02000500000000000000" pitchFamily="2" charset="-122"/>
              </a:rPr>
              <a:t>，而且只有定点可以访问，从而达到高主频</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但</a:t>
            </a:r>
            <a:r>
              <a:rPr lang="en-US" altLang="zh-CN" sz="1800" smtClean="0">
                <a:latin typeface="宋体" panose="02000500000000000000" pitchFamily="2" charset="-122"/>
              </a:rPr>
              <a:t>PIV</a:t>
            </a:r>
            <a:r>
              <a:rPr lang="zh-CN" altLang="en-US" sz="1800" smtClean="0">
                <a:latin typeface="宋体" panose="02000500000000000000" pitchFamily="2" charset="-122"/>
              </a:rPr>
              <a:t>的二级</a:t>
            </a:r>
            <a:r>
              <a:rPr lang="en-US" altLang="zh-CN" sz="1800" smtClean="0">
                <a:latin typeface="宋体" panose="02000500000000000000" pitchFamily="2" charset="-122"/>
              </a:rPr>
              <a:t>Cache</a:t>
            </a:r>
            <a:r>
              <a:rPr lang="zh-CN" altLang="en-US" sz="1800" smtClean="0">
                <a:latin typeface="宋体" panose="02000500000000000000" pitchFamily="2" charset="-122"/>
              </a:rPr>
              <a:t>只有</a:t>
            </a:r>
            <a:r>
              <a:rPr lang="en-US" altLang="zh-CN" sz="1800" smtClean="0">
                <a:latin typeface="宋体" panose="02000500000000000000" pitchFamily="2" charset="-122"/>
              </a:rPr>
              <a:t>6</a:t>
            </a:r>
            <a:r>
              <a:rPr lang="zh-CN" altLang="en-US" sz="1800" smtClean="0">
                <a:latin typeface="宋体" panose="02000500000000000000" pitchFamily="2" charset="-122"/>
              </a:rPr>
              <a:t>拍的访问延迟</a:t>
            </a:r>
            <a:endParaRPr lang="zh-CN" altLang="en-US" sz="1800" smtClean="0">
              <a:latin typeface="宋体" panose="02000500000000000000" pitchFamily="2" charset="-122"/>
            </a:endParaRPr>
          </a:p>
          <a:p>
            <a:pPr eaLnBrk="1" hangingPunct="1">
              <a:spcBef>
                <a:spcPct val="0"/>
              </a:spcBef>
              <a:buFontTx/>
              <a:buNone/>
            </a:pPr>
            <a:endParaRPr lang="zh-CN" altLang="en-US" sz="1800" smtClean="0">
              <a:latin typeface="宋体"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noChangeArrowheads="1"/>
          </p:cNvSpPr>
          <p:nvPr>
            <p:ph type="sldNum" sz="quarter" idx="12"/>
          </p:nvPr>
        </p:nvSpPr>
        <p:spPr>
          <a:noFill/>
        </p:spPr>
        <p:txBody>
          <a:bodyPr/>
          <a:lstStyle/>
          <a:p>
            <a:fld id="{37A2AB85-34E9-4CE3-9604-486AC23493A6}" type="slidenum">
              <a:rPr lang="en-US" altLang="zh-CN" smtClean="0"/>
            </a:fld>
            <a:endParaRPr lang="en-US" altLang="zh-CN" smtClean="0"/>
          </a:p>
        </p:txBody>
      </p:sp>
      <p:sp>
        <p:nvSpPr>
          <p:cNvPr id="49155" name="Rectangle 2"/>
          <p:cNvSpPr>
            <a:spLocks noGrp="1" noChangeArrowheads="1"/>
          </p:cNvSpPr>
          <p:nvPr>
            <p:ph type="title"/>
          </p:nvPr>
        </p:nvSpPr>
        <p:spPr>
          <a:xfrm>
            <a:off x="979488" y="0"/>
            <a:ext cx="10361612" cy="865188"/>
          </a:xfrm>
        </p:spPr>
        <p:txBody>
          <a:bodyPr lIns="90488" tIns="44450" rIns="90488" bIns="44450"/>
          <a:lstStyle/>
          <a:p>
            <a:pPr eaLnBrk="1" hangingPunct="1"/>
            <a:r>
              <a:rPr lang="zh-CN" altLang="en-US" smtClean="0"/>
              <a:t>避免地址转换延迟：虚地址</a:t>
            </a:r>
            <a:r>
              <a:rPr lang="en-US" altLang="zh-CN" smtClean="0"/>
              <a:t>Cache</a:t>
            </a:r>
            <a:endParaRPr lang="en-US" altLang="zh-CN" smtClean="0"/>
          </a:p>
        </p:txBody>
      </p:sp>
      <p:grpSp>
        <p:nvGrpSpPr>
          <p:cNvPr id="49156" name="Group 47"/>
          <p:cNvGrpSpPr/>
          <p:nvPr/>
        </p:nvGrpSpPr>
        <p:grpSpPr bwMode="auto">
          <a:xfrm>
            <a:off x="3822700" y="3527425"/>
            <a:ext cx="1285875" cy="3063875"/>
            <a:chOff x="5058" y="1972"/>
            <a:chExt cx="608" cy="2294"/>
          </a:xfrm>
        </p:grpSpPr>
        <p:sp>
          <p:nvSpPr>
            <p:cNvPr id="49174" name="Rectangle 3"/>
            <p:cNvSpPr>
              <a:spLocks noChangeArrowheads="1"/>
            </p:cNvSpPr>
            <p:nvPr/>
          </p:nvSpPr>
          <p:spPr bwMode="auto">
            <a:xfrm>
              <a:off x="5064" y="1972"/>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Addr</a:t>
              </a:r>
              <a:endParaRPr lang="en-US" altLang="zh-CN" sz="1800">
                <a:latin typeface="Arial" panose="02080604020202020204" pitchFamily="34" charset="0"/>
              </a:endParaRPr>
            </a:p>
          </p:txBody>
        </p:sp>
        <p:sp>
          <p:nvSpPr>
            <p:cNvPr id="49175" name="Rectangle 4"/>
            <p:cNvSpPr>
              <a:spLocks noChangeArrowheads="1"/>
            </p:cNvSpPr>
            <p:nvPr/>
          </p:nvSpPr>
          <p:spPr bwMode="auto">
            <a:xfrm>
              <a:off x="5064" y="2620"/>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TLB</a:t>
              </a:r>
              <a:endParaRPr lang="en-US" altLang="zh-CN" sz="1800">
                <a:latin typeface="Arial" panose="02080604020202020204" pitchFamily="34" charset="0"/>
              </a:endParaRPr>
            </a:p>
          </p:txBody>
        </p:sp>
        <p:sp>
          <p:nvSpPr>
            <p:cNvPr id="49176" name="Rectangle 5"/>
            <p:cNvSpPr>
              <a:spLocks noChangeArrowheads="1"/>
            </p:cNvSpPr>
            <p:nvPr/>
          </p:nvSpPr>
          <p:spPr bwMode="auto">
            <a:xfrm>
              <a:off x="5058" y="3268"/>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L1</a:t>
              </a:r>
              <a:endParaRPr lang="en-US" altLang="zh-CN" sz="1800">
                <a:latin typeface="Arial" panose="02080604020202020204" pitchFamily="34" charset="0"/>
              </a:endParaRPr>
            </a:p>
          </p:txBody>
        </p:sp>
        <p:sp>
          <p:nvSpPr>
            <p:cNvPr id="49177" name="Rectangle 6"/>
            <p:cNvSpPr>
              <a:spLocks noChangeArrowheads="1"/>
            </p:cNvSpPr>
            <p:nvPr/>
          </p:nvSpPr>
          <p:spPr bwMode="auto">
            <a:xfrm>
              <a:off x="5058" y="3922"/>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MEM</a:t>
              </a:r>
              <a:endParaRPr lang="en-US" altLang="zh-CN" sz="1800">
                <a:latin typeface="Arial" panose="02080604020202020204" pitchFamily="34" charset="0"/>
              </a:endParaRPr>
            </a:p>
          </p:txBody>
        </p:sp>
        <p:sp>
          <p:nvSpPr>
            <p:cNvPr id="49178" name="Line 7"/>
            <p:cNvSpPr>
              <a:spLocks noChangeShapeType="1"/>
            </p:cNvSpPr>
            <p:nvPr/>
          </p:nvSpPr>
          <p:spPr bwMode="auto">
            <a:xfrm>
              <a:off x="5332" y="2318"/>
              <a:ext cx="0" cy="300"/>
            </a:xfrm>
            <a:prstGeom prst="line">
              <a:avLst/>
            </a:prstGeom>
            <a:noFill/>
            <a:ln w="25400">
              <a:solidFill>
                <a:schemeClr val="tx1"/>
              </a:solidFill>
              <a:round/>
              <a:tailEnd type="triangle" w="med" len="med"/>
            </a:ln>
          </p:spPr>
          <p:txBody>
            <a:bodyPr/>
            <a:lstStyle/>
            <a:p>
              <a:endParaRPr lang="zh-CN" altLang="en-US"/>
            </a:p>
          </p:txBody>
        </p:sp>
        <p:sp>
          <p:nvSpPr>
            <p:cNvPr id="49179" name="Line 8"/>
            <p:cNvSpPr>
              <a:spLocks noChangeShapeType="1"/>
            </p:cNvSpPr>
            <p:nvPr/>
          </p:nvSpPr>
          <p:spPr bwMode="auto">
            <a:xfrm>
              <a:off x="5326" y="2966"/>
              <a:ext cx="0" cy="300"/>
            </a:xfrm>
            <a:prstGeom prst="line">
              <a:avLst/>
            </a:prstGeom>
            <a:noFill/>
            <a:ln w="25400">
              <a:solidFill>
                <a:schemeClr val="tx1"/>
              </a:solidFill>
              <a:round/>
              <a:tailEnd type="triangle" w="med" len="med"/>
            </a:ln>
          </p:spPr>
          <p:txBody>
            <a:bodyPr/>
            <a:lstStyle/>
            <a:p>
              <a:endParaRPr lang="zh-CN" altLang="en-US"/>
            </a:p>
          </p:txBody>
        </p:sp>
        <p:sp>
          <p:nvSpPr>
            <p:cNvPr id="49180" name="Line 9"/>
            <p:cNvSpPr>
              <a:spLocks noChangeShapeType="1"/>
            </p:cNvSpPr>
            <p:nvPr/>
          </p:nvSpPr>
          <p:spPr bwMode="auto">
            <a:xfrm>
              <a:off x="5326" y="3614"/>
              <a:ext cx="0" cy="300"/>
            </a:xfrm>
            <a:prstGeom prst="line">
              <a:avLst/>
            </a:prstGeom>
            <a:noFill/>
            <a:ln w="25400">
              <a:solidFill>
                <a:schemeClr val="tx1"/>
              </a:solidFill>
              <a:round/>
              <a:tailEnd type="triangle" w="med" len="med"/>
            </a:ln>
          </p:spPr>
          <p:txBody>
            <a:bodyPr/>
            <a:lstStyle/>
            <a:p>
              <a:endParaRPr lang="zh-CN" altLang="en-US"/>
            </a:p>
          </p:txBody>
        </p:sp>
        <p:sp>
          <p:nvSpPr>
            <p:cNvPr id="49181" name="Rectangle 10"/>
            <p:cNvSpPr>
              <a:spLocks noChangeArrowheads="1"/>
            </p:cNvSpPr>
            <p:nvPr/>
          </p:nvSpPr>
          <p:spPr bwMode="auto">
            <a:xfrm>
              <a:off x="5430" y="2393"/>
              <a:ext cx="224" cy="2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a:latin typeface="Arial" panose="02080604020202020204" pitchFamily="34" charset="0"/>
                </a:rPr>
                <a:t>VA</a:t>
              </a:r>
              <a:endParaRPr lang="en-US" altLang="zh-CN" sz="1800">
                <a:latin typeface="Arial" panose="02080604020202020204" pitchFamily="34" charset="0"/>
              </a:endParaRPr>
            </a:p>
          </p:txBody>
        </p:sp>
        <p:sp>
          <p:nvSpPr>
            <p:cNvPr id="49182" name="Rectangle 11"/>
            <p:cNvSpPr>
              <a:spLocks noChangeArrowheads="1"/>
            </p:cNvSpPr>
            <p:nvPr/>
          </p:nvSpPr>
          <p:spPr bwMode="auto">
            <a:xfrm>
              <a:off x="5430" y="3017"/>
              <a:ext cx="224" cy="2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a:latin typeface="Arial" panose="02080604020202020204" pitchFamily="34" charset="0"/>
                </a:rPr>
                <a:t>PA</a:t>
              </a:r>
              <a:endParaRPr lang="en-US" altLang="zh-CN" sz="1800">
                <a:latin typeface="Arial" panose="02080604020202020204" pitchFamily="34" charset="0"/>
              </a:endParaRPr>
            </a:p>
          </p:txBody>
        </p:sp>
        <p:sp>
          <p:nvSpPr>
            <p:cNvPr id="49183" name="Rectangle 12"/>
            <p:cNvSpPr>
              <a:spLocks noChangeArrowheads="1"/>
            </p:cNvSpPr>
            <p:nvPr/>
          </p:nvSpPr>
          <p:spPr bwMode="auto">
            <a:xfrm>
              <a:off x="5442" y="3677"/>
              <a:ext cx="224" cy="2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a:latin typeface="Arial" panose="02080604020202020204" pitchFamily="34" charset="0"/>
                </a:rPr>
                <a:t>PA</a:t>
              </a:r>
              <a:endParaRPr lang="en-US" altLang="zh-CN" sz="1800">
                <a:latin typeface="Arial" panose="02080604020202020204" pitchFamily="34" charset="0"/>
              </a:endParaRPr>
            </a:p>
          </p:txBody>
        </p:sp>
      </p:grpSp>
      <p:sp>
        <p:nvSpPr>
          <p:cNvPr id="49157" name="Rectangle 44"/>
          <p:cNvSpPr>
            <a:spLocks noGrp="1" noChangeArrowheads="1"/>
          </p:cNvSpPr>
          <p:nvPr>
            <p:ph idx="1"/>
          </p:nvPr>
        </p:nvSpPr>
        <p:spPr>
          <a:xfrm>
            <a:off x="457200" y="787400"/>
            <a:ext cx="11352213" cy="2736850"/>
          </a:xfrm>
        </p:spPr>
        <p:txBody>
          <a:bodyPr lIns="90488" tIns="44450" rIns="90488" bIns="44450"/>
          <a:lstStyle/>
          <a:p>
            <a:pPr eaLnBrk="1" hangingPunct="1">
              <a:spcBef>
                <a:spcPct val="0"/>
              </a:spcBef>
            </a:pPr>
            <a:r>
              <a:rPr lang="zh-CN" altLang="en-US" sz="2000" smtClean="0">
                <a:latin typeface="宋体" panose="02000500000000000000" pitchFamily="2" charset="-122"/>
              </a:rPr>
              <a:t>通过虚地址直接访问</a:t>
            </a:r>
            <a:r>
              <a:rPr lang="en-US" altLang="zh-CN" sz="2000" smtClean="0">
                <a:latin typeface="宋体" panose="02000500000000000000" pitchFamily="2" charset="-122"/>
              </a:rPr>
              <a:t>Cache</a:t>
            </a:r>
            <a:r>
              <a:rPr lang="zh-CN" altLang="en-US" sz="2000" smtClean="0">
                <a:latin typeface="宋体" panose="02000500000000000000" pitchFamily="2" charset="-122"/>
              </a:rPr>
              <a:t>减少虚实地址转换时间</a:t>
            </a:r>
            <a:endParaRPr lang="zh-CN" altLang="en-US"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区分进程问题：不同进程的虚地址空间是一样的，需要在进程切换时候刷</a:t>
            </a:r>
            <a:r>
              <a:rPr lang="en-US" altLang="zh-CN" sz="1800" smtClean="0">
                <a:latin typeface="宋体" panose="02000500000000000000" pitchFamily="2" charset="-122"/>
              </a:rPr>
              <a:t>Cache</a:t>
            </a:r>
            <a:r>
              <a:rPr lang="zh-CN" altLang="en-US" sz="1800" smtClean="0">
                <a:latin typeface="宋体" panose="02000500000000000000" pitchFamily="2" charset="-122"/>
              </a:rPr>
              <a:t>以维护一致性，增加了冷失效</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别名（</a:t>
            </a:r>
            <a:r>
              <a:rPr lang="en-US" altLang="zh-CN" sz="1800" smtClean="0">
                <a:latin typeface="宋体" panose="02000500000000000000" pitchFamily="2" charset="-122"/>
              </a:rPr>
              <a:t>aliases</a:t>
            </a:r>
            <a:r>
              <a:rPr lang="zh-CN" altLang="en-US" sz="1800" smtClean="0">
                <a:latin typeface="宋体" panose="02000500000000000000" pitchFamily="2" charset="-122"/>
              </a:rPr>
              <a:t>）问题：操作系统有时候（如为了进程间共享）需要不同的虚地址对应同一物理地址</a:t>
            </a:r>
            <a:endParaRPr lang="zh-CN" altLang="en-US" sz="1800" smtClean="0">
              <a:latin typeface="宋体" panose="02000500000000000000" pitchFamily="2" charset="-122"/>
            </a:endParaRPr>
          </a:p>
        </p:txBody>
      </p:sp>
      <p:grpSp>
        <p:nvGrpSpPr>
          <p:cNvPr id="49158" name="Group 50"/>
          <p:cNvGrpSpPr/>
          <p:nvPr/>
        </p:nvGrpSpPr>
        <p:grpSpPr bwMode="auto">
          <a:xfrm>
            <a:off x="6364288" y="3514725"/>
            <a:ext cx="3000375" cy="2320925"/>
            <a:chOff x="3319" y="2006"/>
            <a:chExt cx="1418" cy="1741"/>
          </a:xfrm>
        </p:grpSpPr>
        <p:sp>
          <p:nvSpPr>
            <p:cNvPr id="49159" name="Rectangle 25"/>
            <p:cNvSpPr>
              <a:spLocks noChangeArrowheads="1"/>
            </p:cNvSpPr>
            <p:nvPr/>
          </p:nvSpPr>
          <p:spPr bwMode="auto">
            <a:xfrm>
              <a:off x="3811" y="2006"/>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Addr</a:t>
              </a:r>
              <a:endParaRPr lang="en-US" altLang="zh-CN" sz="1800">
                <a:latin typeface="Arial" panose="02080604020202020204" pitchFamily="34" charset="0"/>
              </a:endParaRPr>
            </a:p>
          </p:txBody>
        </p:sp>
        <p:sp>
          <p:nvSpPr>
            <p:cNvPr id="49160" name="Rectangle 26"/>
            <p:cNvSpPr>
              <a:spLocks noChangeArrowheads="1"/>
            </p:cNvSpPr>
            <p:nvPr/>
          </p:nvSpPr>
          <p:spPr bwMode="auto">
            <a:xfrm>
              <a:off x="3457" y="2672"/>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L1</a:t>
              </a:r>
              <a:endParaRPr lang="en-US" altLang="zh-CN" sz="1800">
                <a:latin typeface="Arial" panose="02080604020202020204" pitchFamily="34" charset="0"/>
              </a:endParaRPr>
            </a:p>
          </p:txBody>
        </p:sp>
        <p:sp>
          <p:nvSpPr>
            <p:cNvPr id="49161" name="Rectangle 27"/>
            <p:cNvSpPr>
              <a:spLocks noChangeArrowheads="1"/>
            </p:cNvSpPr>
            <p:nvPr/>
          </p:nvSpPr>
          <p:spPr bwMode="auto">
            <a:xfrm>
              <a:off x="4201" y="2672"/>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800">
                  <a:latin typeface="Arial" panose="02080604020202020204" pitchFamily="34" charset="0"/>
                </a:rPr>
                <a:t>TLB</a:t>
              </a:r>
              <a:endParaRPr lang="en-US" altLang="zh-CN" sz="1800">
                <a:latin typeface="Arial" panose="02080604020202020204" pitchFamily="34" charset="0"/>
              </a:endParaRPr>
            </a:p>
          </p:txBody>
        </p:sp>
        <p:sp>
          <p:nvSpPr>
            <p:cNvPr id="49162" name="Rectangle 28"/>
            <p:cNvSpPr>
              <a:spLocks noChangeArrowheads="1"/>
            </p:cNvSpPr>
            <p:nvPr/>
          </p:nvSpPr>
          <p:spPr bwMode="auto">
            <a:xfrm>
              <a:off x="3835" y="3332"/>
              <a:ext cx="536" cy="344"/>
            </a:xfrm>
            <a:prstGeom prst="rect">
              <a:avLst/>
            </a:prstGeom>
            <a:solidFill>
              <a:schemeClr val="bg1"/>
            </a:solidFill>
            <a:ln w="25400">
              <a:solidFill>
                <a:schemeClr val="tx1"/>
              </a:solidFill>
              <a:miter lim="800000"/>
            </a:ln>
          </p:spPr>
          <p:txBody>
            <a:bodyPr wrap="none" lIns="90488" tIns="44450" rIns="90488" bIns="44450" anchor="ctr"/>
            <a:lstStyle/>
            <a:p>
              <a:pPr algn="ctr" eaLnBrk="0" hangingPunct="0">
                <a:spcBef>
                  <a:spcPct val="0"/>
                </a:spcBef>
              </a:pPr>
              <a:r>
                <a:rPr lang="en-US" altLang="zh-CN" sz="1400">
                  <a:latin typeface="Arial" panose="02080604020202020204" pitchFamily="34" charset="0"/>
                </a:rPr>
                <a:t>Tag Cmp</a:t>
              </a:r>
              <a:endParaRPr lang="en-US" altLang="zh-CN" sz="1400">
                <a:latin typeface="Arial" panose="02080604020202020204" pitchFamily="34" charset="0"/>
              </a:endParaRPr>
            </a:p>
          </p:txBody>
        </p:sp>
        <p:sp>
          <p:nvSpPr>
            <p:cNvPr id="49163" name="Line 29"/>
            <p:cNvSpPr>
              <a:spLocks noChangeShapeType="1"/>
            </p:cNvSpPr>
            <p:nvPr/>
          </p:nvSpPr>
          <p:spPr bwMode="auto">
            <a:xfrm flipH="1">
              <a:off x="3707" y="2526"/>
              <a:ext cx="6" cy="132"/>
            </a:xfrm>
            <a:prstGeom prst="line">
              <a:avLst/>
            </a:prstGeom>
            <a:noFill/>
            <a:ln w="25400">
              <a:solidFill>
                <a:schemeClr val="tx1"/>
              </a:solidFill>
              <a:round/>
              <a:tailEnd type="triangle" w="med" len="med"/>
            </a:ln>
          </p:spPr>
          <p:txBody>
            <a:bodyPr/>
            <a:lstStyle/>
            <a:p>
              <a:endParaRPr lang="zh-CN" altLang="en-US"/>
            </a:p>
          </p:txBody>
        </p:sp>
        <p:sp>
          <p:nvSpPr>
            <p:cNvPr id="49164" name="Line 30"/>
            <p:cNvSpPr>
              <a:spLocks noChangeShapeType="1"/>
            </p:cNvSpPr>
            <p:nvPr/>
          </p:nvSpPr>
          <p:spPr bwMode="auto">
            <a:xfrm flipH="1">
              <a:off x="3707" y="3024"/>
              <a:ext cx="6" cy="120"/>
            </a:xfrm>
            <a:prstGeom prst="line">
              <a:avLst/>
            </a:prstGeom>
            <a:noFill/>
            <a:ln w="25400">
              <a:solidFill>
                <a:schemeClr val="tx1"/>
              </a:solidFill>
              <a:round/>
              <a:tailEnd type="triangle" w="med" len="med"/>
            </a:ln>
          </p:spPr>
          <p:txBody>
            <a:bodyPr/>
            <a:lstStyle/>
            <a:p>
              <a:endParaRPr lang="zh-CN" altLang="en-US"/>
            </a:p>
          </p:txBody>
        </p:sp>
        <p:sp>
          <p:nvSpPr>
            <p:cNvPr id="49165" name="Line 31"/>
            <p:cNvSpPr>
              <a:spLocks noChangeShapeType="1"/>
            </p:cNvSpPr>
            <p:nvPr/>
          </p:nvSpPr>
          <p:spPr bwMode="auto">
            <a:xfrm flipH="1">
              <a:off x="4091" y="3132"/>
              <a:ext cx="6" cy="204"/>
            </a:xfrm>
            <a:prstGeom prst="line">
              <a:avLst/>
            </a:prstGeom>
            <a:noFill/>
            <a:ln w="25400">
              <a:solidFill>
                <a:schemeClr val="tx1"/>
              </a:solidFill>
              <a:round/>
              <a:tailEnd type="triangle" w="med" len="med"/>
            </a:ln>
          </p:spPr>
          <p:txBody>
            <a:bodyPr/>
            <a:lstStyle/>
            <a:p>
              <a:endParaRPr lang="zh-CN" altLang="en-US"/>
            </a:p>
          </p:txBody>
        </p:sp>
        <p:sp>
          <p:nvSpPr>
            <p:cNvPr id="49166" name="Rectangle 32"/>
            <p:cNvSpPr>
              <a:spLocks noChangeArrowheads="1"/>
            </p:cNvSpPr>
            <p:nvPr/>
          </p:nvSpPr>
          <p:spPr bwMode="auto">
            <a:xfrm>
              <a:off x="3319" y="2397"/>
              <a:ext cx="224" cy="2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a:latin typeface="Arial" panose="02080604020202020204" pitchFamily="34" charset="0"/>
                </a:rPr>
                <a:t>VA</a:t>
              </a:r>
              <a:endParaRPr lang="en-US" altLang="zh-CN" sz="1800">
                <a:latin typeface="Arial" panose="02080604020202020204" pitchFamily="34" charset="0"/>
              </a:endParaRPr>
            </a:p>
          </p:txBody>
        </p:sp>
        <p:sp>
          <p:nvSpPr>
            <p:cNvPr id="49167" name="Rectangle 33"/>
            <p:cNvSpPr>
              <a:spLocks noChangeArrowheads="1"/>
            </p:cNvSpPr>
            <p:nvPr/>
          </p:nvSpPr>
          <p:spPr bwMode="auto">
            <a:xfrm>
              <a:off x="4386" y="3357"/>
              <a:ext cx="265" cy="390"/>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400">
                  <a:latin typeface="Arial" panose="02080604020202020204" pitchFamily="34" charset="0"/>
                </a:rPr>
                <a:t>PA</a:t>
              </a:r>
              <a:endParaRPr lang="en-US" altLang="zh-CN" sz="1400">
                <a:latin typeface="Arial" panose="02080604020202020204" pitchFamily="34" charset="0"/>
              </a:endParaRPr>
            </a:p>
            <a:p>
              <a:pPr eaLnBrk="0" hangingPunct="0">
                <a:spcBef>
                  <a:spcPct val="0"/>
                </a:spcBef>
              </a:pPr>
              <a:r>
                <a:rPr lang="en-US" altLang="zh-CN" sz="1400">
                  <a:latin typeface="Arial" panose="02080604020202020204" pitchFamily="34" charset="0"/>
                </a:rPr>
                <a:t>Tags</a:t>
              </a:r>
              <a:endParaRPr lang="en-US" altLang="zh-CN" sz="1400">
                <a:latin typeface="Arial" panose="02080604020202020204" pitchFamily="34" charset="0"/>
              </a:endParaRPr>
            </a:p>
          </p:txBody>
        </p:sp>
        <p:sp>
          <p:nvSpPr>
            <p:cNvPr id="49168" name="Rectangle 34"/>
            <p:cNvSpPr>
              <a:spLocks noChangeArrowheads="1"/>
            </p:cNvSpPr>
            <p:nvPr/>
          </p:nvSpPr>
          <p:spPr bwMode="auto">
            <a:xfrm>
              <a:off x="4507" y="3045"/>
              <a:ext cx="224" cy="275"/>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a:latin typeface="Arial" panose="02080604020202020204" pitchFamily="34" charset="0"/>
                </a:rPr>
                <a:t>PA</a:t>
              </a:r>
              <a:endParaRPr lang="en-US" altLang="zh-CN" sz="1800">
                <a:latin typeface="Arial" panose="02080604020202020204" pitchFamily="34" charset="0"/>
              </a:endParaRPr>
            </a:p>
          </p:txBody>
        </p:sp>
        <p:sp>
          <p:nvSpPr>
            <p:cNvPr id="49169" name="Line 35"/>
            <p:cNvSpPr>
              <a:spLocks noChangeShapeType="1"/>
            </p:cNvSpPr>
            <p:nvPr/>
          </p:nvSpPr>
          <p:spPr bwMode="auto">
            <a:xfrm>
              <a:off x="4481" y="2526"/>
              <a:ext cx="0" cy="138"/>
            </a:xfrm>
            <a:prstGeom prst="line">
              <a:avLst/>
            </a:prstGeom>
            <a:noFill/>
            <a:ln w="25400">
              <a:solidFill>
                <a:schemeClr val="tx1"/>
              </a:solidFill>
              <a:round/>
              <a:tailEnd type="triangle" w="med" len="med"/>
            </a:ln>
          </p:spPr>
          <p:txBody>
            <a:bodyPr/>
            <a:lstStyle/>
            <a:p>
              <a:endParaRPr lang="zh-CN" altLang="en-US"/>
            </a:p>
          </p:txBody>
        </p:sp>
        <p:sp>
          <p:nvSpPr>
            <p:cNvPr id="49170" name="Line 36"/>
            <p:cNvSpPr>
              <a:spLocks noChangeShapeType="1"/>
            </p:cNvSpPr>
            <p:nvPr/>
          </p:nvSpPr>
          <p:spPr bwMode="auto">
            <a:xfrm flipH="1">
              <a:off x="3713" y="2520"/>
              <a:ext cx="768" cy="0"/>
            </a:xfrm>
            <a:prstGeom prst="line">
              <a:avLst/>
            </a:prstGeom>
            <a:noFill/>
            <a:ln w="25400">
              <a:solidFill>
                <a:schemeClr val="tx1"/>
              </a:solidFill>
              <a:round/>
            </a:ln>
          </p:spPr>
          <p:txBody>
            <a:bodyPr/>
            <a:lstStyle/>
            <a:p>
              <a:endParaRPr lang="zh-CN" altLang="en-US"/>
            </a:p>
          </p:txBody>
        </p:sp>
        <p:sp>
          <p:nvSpPr>
            <p:cNvPr id="49171" name="Line 37"/>
            <p:cNvSpPr>
              <a:spLocks noChangeShapeType="1"/>
            </p:cNvSpPr>
            <p:nvPr/>
          </p:nvSpPr>
          <p:spPr bwMode="auto">
            <a:xfrm flipH="1">
              <a:off x="4469" y="3018"/>
              <a:ext cx="12" cy="126"/>
            </a:xfrm>
            <a:prstGeom prst="line">
              <a:avLst/>
            </a:prstGeom>
            <a:noFill/>
            <a:ln w="25400">
              <a:solidFill>
                <a:schemeClr val="tx1"/>
              </a:solidFill>
              <a:round/>
              <a:tailEnd type="triangle" w="med" len="med"/>
            </a:ln>
          </p:spPr>
          <p:txBody>
            <a:bodyPr/>
            <a:lstStyle/>
            <a:p>
              <a:endParaRPr lang="zh-CN" altLang="en-US"/>
            </a:p>
          </p:txBody>
        </p:sp>
        <p:sp>
          <p:nvSpPr>
            <p:cNvPr id="49172" name="Line 38"/>
            <p:cNvSpPr>
              <a:spLocks noChangeShapeType="1"/>
            </p:cNvSpPr>
            <p:nvPr/>
          </p:nvSpPr>
          <p:spPr bwMode="auto">
            <a:xfrm>
              <a:off x="3707" y="3138"/>
              <a:ext cx="768" cy="0"/>
            </a:xfrm>
            <a:prstGeom prst="line">
              <a:avLst/>
            </a:prstGeom>
            <a:noFill/>
            <a:ln w="25400">
              <a:solidFill>
                <a:schemeClr val="tx1"/>
              </a:solidFill>
              <a:round/>
            </a:ln>
          </p:spPr>
          <p:txBody>
            <a:bodyPr/>
            <a:lstStyle/>
            <a:p>
              <a:endParaRPr lang="zh-CN" altLang="en-US"/>
            </a:p>
          </p:txBody>
        </p:sp>
        <p:sp>
          <p:nvSpPr>
            <p:cNvPr id="49173" name="Line 48"/>
            <p:cNvSpPr>
              <a:spLocks noChangeShapeType="1"/>
            </p:cNvSpPr>
            <p:nvPr/>
          </p:nvSpPr>
          <p:spPr bwMode="auto">
            <a:xfrm>
              <a:off x="4089" y="2356"/>
              <a:ext cx="6" cy="162"/>
            </a:xfrm>
            <a:prstGeom prst="line">
              <a:avLst/>
            </a:prstGeom>
            <a:noFill/>
            <a:ln w="25400">
              <a:solidFill>
                <a:schemeClr val="tx1"/>
              </a:solidFill>
              <a:rou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noChangeArrowheads="1"/>
          </p:cNvSpPr>
          <p:nvPr>
            <p:ph type="sldNum" sz="quarter" idx="12"/>
          </p:nvPr>
        </p:nvSpPr>
        <p:spPr>
          <a:noFill/>
        </p:spPr>
        <p:txBody>
          <a:bodyPr/>
          <a:lstStyle/>
          <a:p>
            <a:fld id="{59B049BC-D372-43E8-951E-04FBB7E0CA33}" type="slidenum">
              <a:rPr lang="en-US" altLang="zh-CN" smtClean="0"/>
            </a:fld>
            <a:endParaRPr lang="en-US" altLang="zh-CN" smtClean="0"/>
          </a:p>
        </p:txBody>
      </p:sp>
      <p:sp>
        <p:nvSpPr>
          <p:cNvPr id="50179" name="Rectangle 2"/>
          <p:cNvSpPr>
            <a:spLocks noGrp="1" noChangeArrowheads="1"/>
          </p:cNvSpPr>
          <p:nvPr>
            <p:ph type="title"/>
          </p:nvPr>
        </p:nvSpPr>
        <p:spPr>
          <a:xfrm>
            <a:off x="703263" y="0"/>
            <a:ext cx="10979150" cy="1143000"/>
          </a:xfrm>
        </p:spPr>
        <p:txBody>
          <a:bodyPr lIns="90488" tIns="44450" rIns="90488" bIns="44450"/>
          <a:lstStyle/>
          <a:p>
            <a:pPr eaLnBrk="1" hangingPunct="1"/>
            <a:r>
              <a:rPr lang="zh-CN" altLang="en-US" smtClean="0"/>
              <a:t>虚地址</a:t>
            </a:r>
            <a:r>
              <a:rPr lang="en-US" altLang="zh-CN" smtClean="0"/>
              <a:t>Cache</a:t>
            </a:r>
            <a:r>
              <a:rPr lang="zh-CN" altLang="en-US" smtClean="0"/>
              <a:t>中多进程对</a:t>
            </a:r>
            <a:r>
              <a:rPr lang="en-US" altLang="zh-CN" smtClean="0"/>
              <a:t>Cache</a:t>
            </a:r>
            <a:r>
              <a:rPr lang="zh-CN" altLang="en-US" smtClean="0"/>
              <a:t>命中率的影响</a:t>
            </a:r>
            <a:endParaRPr lang="zh-CN" altLang="en-US" smtClean="0"/>
          </a:p>
        </p:txBody>
      </p:sp>
      <p:sp>
        <p:nvSpPr>
          <p:cNvPr id="50180" name="Rectangle 3"/>
          <p:cNvSpPr>
            <a:spLocks noGrp="1" noChangeArrowheads="1"/>
          </p:cNvSpPr>
          <p:nvPr>
            <p:ph idx="1"/>
          </p:nvPr>
        </p:nvSpPr>
        <p:spPr>
          <a:xfrm>
            <a:off x="423863" y="1200150"/>
            <a:ext cx="11207750" cy="1784350"/>
          </a:xfrm>
        </p:spPr>
        <p:txBody>
          <a:bodyPr lIns="90488" tIns="44450" rIns="90488" bIns="44450"/>
          <a:lstStyle/>
          <a:p>
            <a:pPr eaLnBrk="1" hangingPunct="1">
              <a:spcBef>
                <a:spcPct val="0"/>
              </a:spcBef>
            </a:pPr>
            <a:r>
              <a:rPr lang="zh-CN" altLang="en-US" sz="2000" smtClean="0">
                <a:latin typeface="宋体" panose="02000500000000000000" pitchFamily="2" charset="-122"/>
              </a:rPr>
              <a:t>进程切换问题可以通过在</a:t>
            </a:r>
            <a:r>
              <a:rPr lang="en-US" altLang="zh-CN" sz="2000" smtClean="0">
                <a:latin typeface="宋体" panose="02000500000000000000" pitchFamily="2" charset="-122"/>
              </a:rPr>
              <a:t>TLB</a:t>
            </a:r>
            <a:r>
              <a:rPr lang="zh-CN" altLang="en-US" sz="2000" smtClean="0">
                <a:latin typeface="宋体" panose="02000500000000000000" pitchFamily="2" charset="-122"/>
              </a:rPr>
              <a:t>中增加进程号的方式来解决</a:t>
            </a:r>
            <a:endParaRPr lang="zh-CN" altLang="en-US" sz="16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单进程、多进程切换时刷</a:t>
            </a:r>
            <a:r>
              <a:rPr lang="en-US" altLang="zh-CN" sz="1800" smtClean="0">
                <a:latin typeface="宋体" panose="02000500000000000000" pitchFamily="2" charset="-122"/>
              </a:rPr>
              <a:t>Cache</a:t>
            </a:r>
            <a:r>
              <a:rPr lang="zh-CN" altLang="en-US" sz="1800" smtClean="0">
                <a:latin typeface="宋体" panose="02000500000000000000" pitchFamily="2" charset="-122"/>
              </a:rPr>
              <a:t>、多进程用</a:t>
            </a:r>
            <a:r>
              <a:rPr lang="en-US" altLang="zh-CN" sz="1800" smtClean="0">
                <a:latin typeface="宋体" panose="02000500000000000000" pitchFamily="2" charset="-122"/>
              </a:rPr>
              <a:t>ID</a:t>
            </a:r>
            <a:r>
              <a:rPr lang="zh-CN" altLang="en-US" sz="1800" smtClean="0">
                <a:latin typeface="宋体" panose="02000500000000000000" pitchFamily="2" charset="-122"/>
              </a:rPr>
              <a:t>号来区分虚地址</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Y</a:t>
            </a:r>
            <a:r>
              <a:rPr lang="zh-CN" altLang="en-US" sz="1800" smtClean="0">
                <a:latin typeface="宋体" panose="02000500000000000000" pitchFamily="2" charset="-122"/>
              </a:rPr>
              <a:t>轴表示</a:t>
            </a:r>
            <a:r>
              <a:rPr lang="en-US" altLang="zh-CN" sz="1800" smtClean="0">
                <a:latin typeface="宋体" panose="02000500000000000000" pitchFamily="2" charset="-122"/>
              </a:rPr>
              <a:t>Cache</a:t>
            </a:r>
            <a:r>
              <a:rPr lang="zh-CN" altLang="en-US" sz="1800" smtClean="0">
                <a:latin typeface="宋体" panose="02000500000000000000" pitchFamily="2" charset="-122"/>
              </a:rPr>
              <a:t>失效率；</a:t>
            </a:r>
            <a:r>
              <a:rPr lang="en-US" altLang="zh-CN" sz="1800" smtClean="0">
                <a:latin typeface="宋体" panose="02000500000000000000" pitchFamily="2" charset="-122"/>
              </a:rPr>
              <a:t>X</a:t>
            </a:r>
            <a:r>
              <a:rPr lang="zh-CN" altLang="en-US" sz="1800" smtClean="0">
                <a:latin typeface="宋体" panose="02000500000000000000" pitchFamily="2" charset="-122"/>
              </a:rPr>
              <a:t>轴表示</a:t>
            </a:r>
            <a:r>
              <a:rPr lang="en-US" altLang="zh-CN" sz="1800" smtClean="0">
                <a:latin typeface="宋体" panose="02000500000000000000" pitchFamily="2" charset="-122"/>
              </a:rPr>
              <a:t>Cache</a:t>
            </a:r>
            <a:r>
              <a:rPr lang="zh-CN" altLang="en-US" sz="1800" smtClean="0">
                <a:latin typeface="宋体" panose="02000500000000000000" pitchFamily="2" charset="-122"/>
              </a:rPr>
              <a:t>大小（</a:t>
            </a:r>
            <a:r>
              <a:rPr lang="en-US" altLang="zh-CN" sz="1800" smtClean="0">
                <a:latin typeface="宋体" panose="02000500000000000000" pitchFamily="2" charset="-122"/>
              </a:rPr>
              <a:t>2 KB - 1024 KB</a:t>
            </a:r>
            <a:r>
              <a:rPr lang="zh-CN" altLang="en-US" sz="1800" smtClean="0">
                <a:latin typeface="宋体" panose="02000500000000000000" pitchFamily="2" charset="-122"/>
              </a:rPr>
              <a:t>）</a:t>
            </a:r>
            <a:endParaRPr lang="zh-CN" altLang="en-US" sz="1800" smtClean="0">
              <a:latin typeface="宋体" panose="02000500000000000000" pitchFamily="2" charset="-122"/>
            </a:endParaRPr>
          </a:p>
        </p:txBody>
      </p:sp>
      <p:pic>
        <p:nvPicPr>
          <p:cNvPr id="50181" name="Picture 5"/>
          <p:cNvPicPr>
            <a:picLocks noChangeAspect="1" noChangeArrowheads="1"/>
          </p:cNvPicPr>
          <p:nvPr/>
        </p:nvPicPr>
        <p:blipFill>
          <a:blip r:embed="rId1" cstate="print"/>
          <a:srcRect/>
          <a:stretch>
            <a:fillRect/>
          </a:stretch>
        </p:blipFill>
        <p:spPr bwMode="auto">
          <a:xfrm>
            <a:off x="1247224" y="2806699"/>
            <a:ext cx="6271175" cy="3264171"/>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灯片编号占位符 5"/>
          <p:cNvSpPr>
            <a:spLocks noGrp="1" noChangeArrowheads="1"/>
          </p:cNvSpPr>
          <p:nvPr>
            <p:ph type="sldNum" sz="quarter" idx="12"/>
          </p:nvPr>
        </p:nvSpPr>
        <p:spPr>
          <a:noFill/>
        </p:spPr>
        <p:txBody>
          <a:bodyPr/>
          <a:lstStyle/>
          <a:p>
            <a:fld id="{43C5EE8C-34A4-4DDE-BB54-9755196EF6E8}" type="slidenum">
              <a:rPr lang="en-US" altLang="zh-CN" smtClean="0"/>
            </a:fld>
            <a:endParaRPr lang="en-US" altLang="zh-CN" smtClean="0"/>
          </a:p>
        </p:txBody>
      </p:sp>
      <p:sp>
        <p:nvSpPr>
          <p:cNvPr id="51203" name="Rectangle 3"/>
          <p:cNvSpPr>
            <a:spLocks noGrp="1" noChangeArrowheads="1"/>
          </p:cNvSpPr>
          <p:nvPr>
            <p:ph type="title"/>
          </p:nvPr>
        </p:nvSpPr>
        <p:spPr>
          <a:xfrm>
            <a:off x="330200" y="195263"/>
            <a:ext cx="11474450" cy="803275"/>
          </a:xfrm>
        </p:spPr>
        <p:txBody>
          <a:bodyPr lIns="90488" tIns="44450" rIns="90488" bIns="44450"/>
          <a:lstStyle/>
          <a:p>
            <a:pPr eaLnBrk="1" hangingPunct="1"/>
            <a:r>
              <a:rPr lang="zh-CN" altLang="en-US" smtClean="0"/>
              <a:t>虚</a:t>
            </a:r>
            <a:r>
              <a:rPr lang="en-US" altLang="zh-CN" smtClean="0"/>
              <a:t>Index</a:t>
            </a:r>
            <a:r>
              <a:rPr lang="zh-CN" altLang="en-US" smtClean="0"/>
              <a:t>实</a:t>
            </a:r>
            <a:r>
              <a:rPr lang="en-US" altLang="zh-CN" smtClean="0"/>
              <a:t>Tag</a:t>
            </a:r>
            <a:r>
              <a:rPr lang="zh-CN" altLang="en-US" smtClean="0"/>
              <a:t>技术</a:t>
            </a:r>
            <a:endParaRPr lang="zh-CN" altLang="en-US" smtClean="0"/>
          </a:p>
        </p:txBody>
      </p:sp>
      <p:sp>
        <p:nvSpPr>
          <p:cNvPr id="51204" name="Rectangle 4"/>
          <p:cNvSpPr>
            <a:spLocks noGrp="1" noChangeArrowheads="1"/>
          </p:cNvSpPr>
          <p:nvPr>
            <p:ph idx="1"/>
          </p:nvPr>
        </p:nvSpPr>
        <p:spPr>
          <a:xfrm>
            <a:off x="325438" y="1171575"/>
            <a:ext cx="11458575" cy="2801938"/>
          </a:xfrm>
        </p:spPr>
        <p:txBody>
          <a:bodyPr lIns="90488" tIns="44450" rIns="90488" bIns="44450"/>
          <a:lstStyle/>
          <a:p>
            <a:pPr eaLnBrk="1" hangingPunct="1">
              <a:spcBef>
                <a:spcPct val="0"/>
              </a:spcBef>
            </a:pPr>
            <a:r>
              <a:rPr lang="zh-CN" altLang="en-US" sz="2000" smtClean="0">
                <a:latin typeface="宋体" panose="02000500000000000000" pitchFamily="2" charset="-122"/>
              </a:rPr>
              <a:t>在用</a:t>
            </a:r>
            <a:r>
              <a:rPr lang="en-US" altLang="zh-CN" sz="2000" smtClean="0">
                <a:latin typeface="宋体" panose="02000500000000000000" pitchFamily="2" charset="-122"/>
              </a:rPr>
              <a:t>Index</a:t>
            </a:r>
            <a:r>
              <a:rPr lang="zh-CN" altLang="en-US" sz="2000" smtClean="0">
                <a:latin typeface="宋体" panose="02000500000000000000" pitchFamily="2" charset="-122"/>
              </a:rPr>
              <a:t>从</a:t>
            </a:r>
            <a:r>
              <a:rPr lang="en-US" altLang="zh-CN" sz="2000" smtClean="0">
                <a:latin typeface="宋体" panose="02000500000000000000" pitchFamily="2" charset="-122"/>
              </a:rPr>
              <a:t>cache</a:t>
            </a:r>
            <a:r>
              <a:rPr lang="zh-CN" altLang="en-US" sz="2000" smtClean="0">
                <a:latin typeface="宋体" panose="02000500000000000000" pitchFamily="2" charset="-122"/>
              </a:rPr>
              <a:t>中读</a:t>
            </a:r>
            <a:r>
              <a:rPr lang="en-US" altLang="zh-CN" sz="2000" smtClean="0">
                <a:latin typeface="宋体" panose="02000500000000000000" pitchFamily="2" charset="-122"/>
              </a:rPr>
              <a:t>Tag</a:t>
            </a:r>
            <a:r>
              <a:rPr lang="zh-CN" altLang="en-US" sz="2000" smtClean="0">
                <a:latin typeface="宋体" panose="02000500000000000000" pitchFamily="2" charset="-122"/>
              </a:rPr>
              <a:t>的同时，进行虚实地址转换，可以使用物理地址做</a:t>
            </a:r>
            <a:r>
              <a:rPr lang="en-US" altLang="zh-CN" sz="2000" smtClean="0">
                <a:latin typeface="宋体" panose="02000500000000000000" pitchFamily="2" charset="-122"/>
              </a:rPr>
              <a:t>Tag</a:t>
            </a:r>
            <a:endParaRPr lang="en-US" altLang="zh-CN" sz="20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如何保证虚实地址</a:t>
            </a:r>
            <a:r>
              <a:rPr lang="en-US" altLang="zh-CN" sz="2000" smtClean="0">
                <a:latin typeface="宋体" panose="02000500000000000000" pitchFamily="2" charset="-122"/>
              </a:rPr>
              <a:t>Index</a:t>
            </a:r>
            <a:r>
              <a:rPr lang="zh-CN" altLang="en-US" sz="2000" smtClean="0">
                <a:latin typeface="宋体" panose="02000500000000000000" pitchFamily="2" charset="-122"/>
              </a:rPr>
              <a:t>位的一致？</a:t>
            </a:r>
            <a:endParaRPr lang="zh-CN" altLang="en-US"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增加页大小、增加相联度</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软件保证：页着色（</a:t>
            </a:r>
            <a:r>
              <a:rPr lang="en-US" altLang="zh-CN" sz="1800" smtClean="0">
                <a:latin typeface="宋体" panose="02000500000000000000" pitchFamily="2" charset="-122"/>
              </a:rPr>
              <a:t>Page coloring</a:t>
            </a:r>
            <a:r>
              <a:rPr lang="zh-CN" altLang="en-US" sz="1800" smtClean="0">
                <a:latin typeface="宋体" panose="02000500000000000000" pitchFamily="2" charset="-122"/>
              </a:rPr>
              <a:t>）</a:t>
            </a:r>
            <a:endParaRPr lang="zh-CN" altLang="en-US" sz="1800" smtClean="0">
              <a:latin typeface="宋体" panose="02000500000000000000" pitchFamily="2" charset="-122"/>
            </a:endParaRPr>
          </a:p>
        </p:txBody>
      </p:sp>
      <p:grpSp>
        <p:nvGrpSpPr>
          <p:cNvPr id="51205" name="Group 24"/>
          <p:cNvGrpSpPr/>
          <p:nvPr/>
        </p:nvGrpSpPr>
        <p:grpSpPr bwMode="auto">
          <a:xfrm>
            <a:off x="1871663" y="4564063"/>
            <a:ext cx="8526462" cy="1684337"/>
            <a:chOff x="884" y="2803"/>
            <a:chExt cx="4029" cy="1061"/>
          </a:xfrm>
        </p:grpSpPr>
        <p:sp>
          <p:nvSpPr>
            <p:cNvPr id="51206" name="Rectangle 5"/>
            <p:cNvSpPr>
              <a:spLocks noChangeArrowheads="1"/>
            </p:cNvSpPr>
            <p:nvPr/>
          </p:nvSpPr>
          <p:spPr bwMode="auto">
            <a:xfrm>
              <a:off x="1732" y="2803"/>
              <a:ext cx="615" cy="164"/>
            </a:xfrm>
            <a:prstGeom prst="rect">
              <a:avLst/>
            </a:prstGeom>
            <a:noFill/>
            <a:ln w="12700">
              <a:noFill/>
              <a:miter lim="800000"/>
            </a:ln>
          </p:spPr>
          <p:txBody>
            <a:bodyPr wrap="none" lIns="18000" tIns="7200" rIns="18000" bIns="7200">
              <a:spAutoFit/>
            </a:bodyPr>
            <a:lstStyle/>
            <a:p>
              <a:pPr eaLnBrk="0" hangingPunct="0">
                <a:spcBef>
                  <a:spcPct val="0"/>
                </a:spcBef>
              </a:pPr>
              <a:r>
                <a:rPr lang="en-US" altLang="zh-CN" sz="1600">
                  <a:solidFill>
                    <a:schemeClr val="accent2"/>
                  </a:solidFill>
                  <a:latin typeface="Arial" panose="02080604020202020204" pitchFamily="34" charset="0"/>
                </a:rPr>
                <a:t>Page address</a:t>
              </a:r>
              <a:endParaRPr lang="en-US" altLang="zh-CN" sz="1600">
                <a:solidFill>
                  <a:schemeClr val="accent2"/>
                </a:solidFill>
                <a:latin typeface="Arial" panose="02080604020202020204" pitchFamily="34" charset="0"/>
              </a:endParaRPr>
            </a:p>
          </p:txBody>
        </p:sp>
        <p:sp>
          <p:nvSpPr>
            <p:cNvPr id="51207" name="Rectangle 6"/>
            <p:cNvSpPr>
              <a:spLocks noChangeArrowheads="1"/>
            </p:cNvSpPr>
            <p:nvPr/>
          </p:nvSpPr>
          <p:spPr bwMode="auto">
            <a:xfrm>
              <a:off x="3708" y="2829"/>
              <a:ext cx="528" cy="164"/>
            </a:xfrm>
            <a:prstGeom prst="rect">
              <a:avLst/>
            </a:prstGeom>
            <a:noFill/>
            <a:ln w="12700">
              <a:noFill/>
              <a:miter lim="800000"/>
            </a:ln>
          </p:spPr>
          <p:txBody>
            <a:bodyPr wrap="none" lIns="18000" tIns="7200" rIns="18000" bIns="7200">
              <a:spAutoFit/>
            </a:bodyPr>
            <a:lstStyle/>
            <a:p>
              <a:pPr eaLnBrk="0" hangingPunct="0">
                <a:spcBef>
                  <a:spcPct val="0"/>
                </a:spcBef>
              </a:pPr>
              <a:r>
                <a:rPr lang="en-US" altLang="zh-CN" sz="1600">
                  <a:solidFill>
                    <a:schemeClr val="accent2"/>
                  </a:solidFill>
                  <a:latin typeface="Arial" panose="02080604020202020204" pitchFamily="34" charset="0"/>
                </a:rPr>
                <a:t>Page Offset</a:t>
              </a:r>
              <a:endParaRPr lang="en-US" altLang="zh-CN" sz="1600">
                <a:solidFill>
                  <a:schemeClr val="accent2"/>
                </a:solidFill>
                <a:latin typeface="Arial" panose="02080604020202020204" pitchFamily="34" charset="0"/>
              </a:endParaRPr>
            </a:p>
          </p:txBody>
        </p:sp>
        <p:sp>
          <p:nvSpPr>
            <p:cNvPr id="51208" name="Rectangle 7"/>
            <p:cNvSpPr>
              <a:spLocks noChangeArrowheads="1"/>
            </p:cNvSpPr>
            <p:nvPr/>
          </p:nvSpPr>
          <p:spPr bwMode="auto">
            <a:xfrm>
              <a:off x="1690" y="3675"/>
              <a:ext cx="554" cy="164"/>
            </a:xfrm>
            <a:prstGeom prst="rect">
              <a:avLst/>
            </a:prstGeom>
            <a:noFill/>
            <a:ln w="12700">
              <a:noFill/>
              <a:miter lim="800000"/>
            </a:ln>
          </p:spPr>
          <p:txBody>
            <a:bodyPr wrap="none" lIns="18000" tIns="7200" rIns="18000" bIns="7200">
              <a:spAutoFit/>
            </a:bodyPr>
            <a:lstStyle/>
            <a:p>
              <a:pPr eaLnBrk="0" hangingPunct="0">
                <a:spcBef>
                  <a:spcPct val="0"/>
                </a:spcBef>
              </a:pPr>
              <a:r>
                <a:rPr lang="en-US" altLang="zh-CN" sz="1600">
                  <a:solidFill>
                    <a:srgbClr val="FF0000"/>
                  </a:solidFill>
                  <a:latin typeface="Arial" panose="02080604020202020204" pitchFamily="34" charset="0"/>
                </a:rPr>
                <a:t>Address Tag</a:t>
              </a:r>
              <a:endParaRPr lang="en-US" altLang="zh-CN" sz="1600">
                <a:solidFill>
                  <a:srgbClr val="FF0000"/>
                </a:solidFill>
                <a:latin typeface="Arial" panose="02080604020202020204" pitchFamily="34" charset="0"/>
              </a:endParaRPr>
            </a:p>
          </p:txBody>
        </p:sp>
        <p:sp>
          <p:nvSpPr>
            <p:cNvPr id="51209" name="Rectangle 8"/>
            <p:cNvSpPr>
              <a:spLocks noChangeArrowheads="1"/>
            </p:cNvSpPr>
            <p:nvPr/>
          </p:nvSpPr>
          <p:spPr bwMode="auto">
            <a:xfrm>
              <a:off x="3557" y="3679"/>
              <a:ext cx="254" cy="164"/>
            </a:xfrm>
            <a:prstGeom prst="rect">
              <a:avLst/>
            </a:prstGeom>
            <a:noFill/>
            <a:ln w="12700">
              <a:noFill/>
              <a:miter lim="800000"/>
            </a:ln>
          </p:spPr>
          <p:txBody>
            <a:bodyPr wrap="none" lIns="18000" tIns="7200" rIns="18000" bIns="7200">
              <a:spAutoFit/>
            </a:bodyPr>
            <a:lstStyle/>
            <a:p>
              <a:pPr eaLnBrk="0" hangingPunct="0">
                <a:spcBef>
                  <a:spcPct val="0"/>
                </a:spcBef>
              </a:pPr>
              <a:r>
                <a:rPr lang="en-US" altLang="zh-CN" sz="1600">
                  <a:solidFill>
                    <a:srgbClr val="FF0000"/>
                  </a:solidFill>
                  <a:latin typeface="Arial" panose="02080604020202020204" pitchFamily="34" charset="0"/>
                </a:rPr>
                <a:t>Index</a:t>
              </a:r>
              <a:endParaRPr lang="en-US" altLang="zh-CN" sz="1600">
                <a:solidFill>
                  <a:srgbClr val="FF0000"/>
                </a:solidFill>
                <a:latin typeface="Arial" panose="02080604020202020204" pitchFamily="34" charset="0"/>
              </a:endParaRPr>
            </a:p>
          </p:txBody>
        </p:sp>
        <p:sp>
          <p:nvSpPr>
            <p:cNvPr id="51210" name="Rectangle 9"/>
            <p:cNvSpPr>
              <a:spLocks noChangeArrowheads="1"/>
            </p:cNvSpPr>
            <p:nvPr/>
          </p:nvSpPr>
          <p:spPr bwMode="auto">
            <a:xfrm>
              <a:off x="4183" y="3700"/>
              <a:ext cx="730" cy="164"/>
            </a:xfrm>
            <a:prstGeom prst="rect">
              <a:avLst/>
            </a:prstGeom>
            <a:noFill/>
            <a:ln w="12700">
              <a:noFill/>
              <a:miter lim="800000"/>
            </a:ln>
          </p:spPr>
          <p:txBody>
            <a:bodyPr lIns="18000" tIns="7200" rIns="18000" bIns="7200">
              <a:spAutoFit/>
            </a:bodyPr>
            <a:lstStyle/>
            <a:p>
              <a:pPr eaLnBrk="0" hangingPunct="0">
                <a:spcBef>
                  <a:spcPct val="0"/>
                </a:spcBef>
              </a:pPr>
              <a:r>
                <a:rPr lang="en-US" altLang="zh-CN" sz="1600">
                  <a:solidFill>
                    <a:srgbClr val="FF0000"/>
                  </a:solidFill>
                  <a:latin typeface="Arial" panose="02080604020202020204" pitchFamily="34" charset="0"/>
                </a:rPr>
                <a:t>Block Offset</a:t>
              </a:r>
              <a:endParaRPr lang="en-US" altLang="zh-CN" sz="1600">
                <a:solidFill>
                  <a:srgbClr val="FF0000"/>
                </a:solidFill>
                <a:latin typeface="Arial" panose="02080604020202020204" pitchFamily="34" charset="0"/>
              </a:endParaRPr>
            </a:p>
          </p:txBody>
        </p:sp>
        <p:sp>
          <p:nvSpPr>
            <p:cNvPr id="51211" name="Rectangle 10"/>
            <p:cNvSpPr>
              <a:spLocks noChangeArrowheads="1"/>
            </p:cNvSpPr>
            <p:nvPr/>
          </p:nvSpPr>
          <p:spPr bwMode="auto">
            <a:xfrm>
              <a:off x="885" y="3190"/>
              <a:ext cx="3857" cy="276"/>
            </a:xfrm>
            <a:prstGeom prst="rect">
              <a:avLst/>
            </a:prstGeom>
            <a:noFill/>
            <a:ln w="19050">
              <a:solidFill>
                <a:schemeClr val="tx1"/>
              </a:solidFill>
              <a:miter lim="800000"/>
            </a:ln>
          </p:spPr>
          <p:txBody>
            <a:bodyPr wrap="none" anchor="ctr"/>
            <a:lstStyle/>
            <a:p>
              <a:endParaRPr lang="zh-CN" altLang="en-US"/>
            </a:p>
          </p:txBody>
        </p:sp>
        <p:sp>
          <p:nvSpPr>
            <p:cNvPr id="51212" name="Line 14"/>
            <p:cNvSpPr>
              <a:spLocks noChangeShapeType="1"/>
            </p:cNvSpPr>
            <p:nvPr/>
          </p:nvSpPr>
          <p:spPr bwMode="auto">
            <a:xfrm>
              <a:off x="3389" y="3197"/>
              <a:ext cx="0" cy="267"/>
            </a:xfrm>
            <a:prstGeom prst="line">
              <a:avLst/>
            </a:prstGeom>
            <a:noFill/>
            <a:ln w="12700">
              <a:solidFill>
                <a:schemeClr val="accent2"/>
              </a:solidFill>
              <a:round/>
            </a:ln>
          </p:spPr>
          <p:txBody>
            <a:bodyPr/>
            <a:lstStyle/>
            <a:p>
              <a:endParaRPr lang="zh-CN" altLang="en-US"/>
            </a:p>
          </p:txBody>
        </p:sp>
        <p:sp>
          <p:nvSpPr>
            <p:cNvPr id="51213" name="Line 15"/>
            <p:cNvSpPr>
              <a:spLocks noChangeShapeType="1"/>
            </p:cNvSpPr>
            <p:nvPr/>
          </p:nvSpPr>
          <p:spPr bwMode="auto">
            <a:xfrm>
              <a:off x="4240" y="3189"/>
              <a:ext cx="0" cy="267"/>
            </a:xfrm>
            <a:prstGeom prst="line">
              <a:avLst/>
            </a:prstGeom>
            <a:noFill/>
            <a:ln w="12700">
              <a:solidFill>
                <a:srgbClr val="FF0000"/>
              </a:solidFill>
              <a:round/>
            </a:ln>
          </p:spPr>
          <p:txBody>
            <a:bodyPr/>
            <a:lstStyle/>
            <a:p>
              <a:endParaRPr lang="zh-CN" altLang="en-US"/>
            </a:p>
          </p:txBody>
        </p:sp>
        <p:sp>
          <p:nvSpPr>
            <p:cNvPr id="51214" name="Line 16"/>
            <p:cNvSpPr>
              <a:spLocks noChangeShapeType="1"/>
            </p:cNvSpPr>
            <p:nvPr/>
          </p:nvSpPr>
          <p:spPr bwMode="auto">
            <a:xfrm>
              <a:off x="3214" y="3197"/>
              <a:ext cx="0" cy="267"/>
            </a:xfrm>
            <a:prstGeom prst="line">
              <a:avLst/>
            </a:prstGeom>
            <a:noFill/>
            <a:ln w="12700">
              <a:solidFill>
                <a:srgbClr val="FF0000"/>
              </a:solidFill>
              <a:round/>
            </a:ln>
          </p:spPr>
          <p:txBody>
            <a:bodyPr/>
            <a:lstStyle/>
            <a:p>
              <a:endParaRPr lang="zh-CN" altLang="en-US"/>
            </a:p>
          </p:txBody>
        </p:sp>
        <p:sp>
          <p:nvSpPr>
            <p:cNvPr id="51215" name="AutoShape 17"/>
            <p:cNvSpPr/>
            <p:nvPr/>
          </p:nvSpPr>
          <p:spPr bwMode="auto">
            <a:xfrm rot="16200000" flipV="1">
              <a:off x="2069" y="1836"/>
              <a:ext cx="109" cy="2480"/>
            </a:xfrm>
            <a:prstGeom prst="rightBrace">
              <a:avLst>
                <a:gd name="adj1" fmla="val 189076"/>
                <a:gd name="adj2" fmla="val 50000"/>
              </a:avLst>
            </a:prstGeom>
            <a:noFill/>
            <a:ln w="9525">
              <a:solidFill>
                <a:schemeClr val="accent2"/>
              </a:solidFill>
              <a:round/>
            </a:ln>
          </p:spPr>
          <p:txBody>
            <a:bodyPr wrap="none" anchor="ctr"/>
            <a:lstStyle/>
            <a:p>
              <a:endParaRPr lang="zh-CN" altLang="en-US"/>
            </a:p>
          </p:txBody>
        </p:sp>
        <p:sp>
          <p:nvSpPr>
            <p:cNvPr id="51216" name="AutoShape 19"/>
            <p:cNvSpPr/>
            <p:nvPr/>
          </p:nvSpPr>
          <p:spPr bwMode="auto">
            <a:xfrm rot="16200000" flipV="1">
              <a:off x="4000" y="2415"/>
              <a:ext cx="109" cy="1328"/>
            </a:xfrm>
            <a:prstGeom prst="rightBrace">
              <a:avLst>
                <a:gd name="adj1" fmla="val 101247"/>
                <a:gd name="adj2" fmla="val 50000"/>
              </a:avLst>
            </a:prstGeom>
            <a:noFill/>
            <a:ln w="9525">
              <a:solidFill>
                <a:schemeClr val="accent2"/>
              </a:solidFill>
              <a:round/>
            </a:ln>
          </p:spPr>
          <p:txBody>
            <a:bodyPr wrap="none" anchor="ctr"/>
            <a:lstStyle/>
            <a:p>
              <a:endParaRPr lang="zh-CN" altLang="en-US"/>
            </a:p>
          </p:txBody>
        </p:sp>
        <p:sp>
          <p:nvSpPr>
            <p:cNvPr id="51217" name="AutoShape 20"/>
            <p:cNvSpPr/>
            <p:nvPr/>
          </p:nvSpPr>
          <p:spPr bwMode="auto">
            <a:xfrm rot="5400000">
              <a:off x="1995" y="2414"/>
              <a:ext cx="109" cy="2321"/>
            </a:xfrm>
            <a:prstGeom prst="rightBrace">
              <a:avLst>
                <a:gd name="adj1" fmla="val 176954"/>
                <a:gd name="adj2" fmla="val 50000"/>
              </a:avLst>
            </a:prstGeom>
            <a:noFill/>
            <a:ln w="9525">
              <a:solidFill>
                <a:srgbClr val="FF0000"/>
              </a:solidFill>
              <a:round/>
            </a:ln>
          </p:spPr>
          <p:txBody>
            <a:bodyPr wrap="none" anchor="ctr"/>
            <a:lstStyle/>
            <a:p>
              <a:endParaRPr lang="zh-CN" altLang="en-US"/>
            </a:p>
          </p:txBody>
        </p:sp>
        <p:sp>
          <p:nvSpPr>
            <p:cNvPr id="51218" name="AutoShape 21"/>
            <p:cNvSpPr/>
            <p:nvPr/>
          </p:nvSpPr>
          <p:spPr bwMode="auto">
            <a:xfrm rot="5400000">
              <a:off x="3656" y="3055"/>
              <a:ext cx="134" cy="1028"/>
            </a:xfrm>
            <a:prstGeom prst="rightBrace">
              <a:avLst>
                <a:gd name="adj1" fmla="val 63753"/>
                <a:gd name="adj2" fmla="val 50000"/>
              </a:avLst>
            </a:prstGeom>
            <a:noFill/>
            <a:ln w="9525">
              <a:solidFill>
                <a:srgbClr val="FF0000"/>
              </a:solidFill>
              <a:round/>
            </a:ln>
          </p:spPr>
          <p:txBody>
            <a:bodyPr wrap="none" anchor="ctr"/>
            <a:lstStyle/>
            <a:p>
              <a:endParaRPr lang="zh-CN" altLang="en-US"/>
            </a:p>
          </p:txBody>
        </p:sp>
        <p:sp>
          <p:nvSpPr>
            <p:cNvPr id="51219" name="AutoShape 22"/>
            <p:cNvSpPr/>
            <p:nvPr/>
          </p:nvSpPr>
          <p:spPr bwMode="auto">
            <a:xfrm rot="5400000">
              <a:off x="4405" y="3311"/>
              <a:ext cx="151" cy="494"/>
            </a:xfrm>
            <a:prstGeom prst="rightBrace">
              <a:avLst>
                <a:gd name="adj1" fmla="val 27187"/>
                <a:gd name="adj2" fmla="val 50000"/>
              </a:avLst>
            </a:prstGeom>
            <a:noFill/>
            <a:ln w="9525">
              <a:solidFill>
                <a:srgbClr val="FF0000"/>
              </a:solidFill>
              <a:round/>
            </a:ln>
          </p:spPr>
          <p:txBody>
            <a:bodyPr wrap="none" anchor="ctr"/>
            <a:lstStyle/>
            <a:p>
              <a:endParaRPr lang="zh-CN" altLang="en-US"/>
            </a:p>
          </p:txBody>
        </p:sp>
        <p:sp>
          <p:nvSpPr>
            <p:cNvPr id="51220" name="Rectangle 23"/>
            <p:cNvSpPr>
              <a:spLocks noChangeArrowheads="1"/>
            </p:cNvSpPr>
            <p:nvPr/>
          </p:nvSpPr>
          <p:spPr bwMode="auto">
            <a:xfrm>
              <a:off x="3223" y="3189"/>
              <a:ext cx="158" cy="275"/>
            </a:xfrm>
            <a:prstGeom prst="rect">
              <a:avLst/>
            </a:prstGeom>
            <a:solidFill>
              <a:schemeClr val="bg2"/>
            </a:solidFill>
            <a:ln w="9525">
              <a:noFill/>
              <a:miter lim="800000"/>
            </a:ln>
          </p:spPr>
          <p:txBody>
            <a:bodyPr wrap="none" anchor="ctr"/>
            <a:lstStyle/>
            <a:p>
              <a:endParaRPr lang="zh-CN" altLang="en-US"/>
            </a:p>
          </p:txBody>
        </p:sp>
      </p:grpSp>
    </p:spTree>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noChangeArrowheads="1"/>
          </p:cNvSpPr>
          <p:nvPr>
            <p:ph type="sldNum" sz="quarter" idx="12"/>
          </p:nvPr>
        </p:nvSpPr>
        <p:spPr>
          <a:noFill/>
        </p:spPr>
        <p:txBody>
          <a:bodyPr/>
          <a:lstStyle/>
          <a:p>
            <a:fld id="{2BA85A69-C94C-454F-8492-192CD41F5632}" type="slidenum">
              <a:rPr lang="en-US" altLang="zh-CN" smtClean="0"/>
            </a:fld>
            <a:endParaRPr lang="en-US" altLang="zh-CN" smtClean="0"/>
          </a:p>
        </p:txBody>
      </p:sp>
      <p:sp>
        <p:nvSpPr>
          <p:cNvPr id="52227" name="Rectangle 2"/>
          <p:cNvSpPr>
            <a:spLocks noGrp="1" noChangeArrowheads="1"/>
          </p:cNvSpPr>
          <p:nvPr>
            <p:ph type="title"/>
          </p:nvPr>
        </p:nvSpPr>
        <p:spPr/>
        <p:txBody>
          <a:bodyPr/>
          <a:lstStyle/>
          <a:p>
            <a:pPr eaLnBrk="1" hangingPunct="1"/>
            <a:r>
              <a:rPr lang="zh-CN" altLang="en-US" smtClean="0"/>
              <a:t>增加</a:t>
            </a:r>
            <a:r>
              <a:rPr lang="en-US" altLang="zh-CN" smtClean="0"/>
              <a:t>Cache</a:t>
            </a:r>
            <a:r>
              <a:rPr lang="zh-CN" altLang="en-US" smtClean="0"/>
              <a:t>访问流水级</a:t>
            </a:r>
            <a:endParaRPr lang="zh-CN" altLang="en-US" smtClean="0"/>
          </a:p>
        </p:txBody>
      </p:sp>
      <p:sp>
        <p:nvSpPr>
          <p:cNvPr id="52228" name="Rectangle 3"/>
          <p:cNvSpPr>
            <a:spLocks noGrp="1" noChangeArrowheads="1"/>
          </p:cNvSpPr>
          <p:nvPr>
            <p:ph idx="1"/>
          </p:nvPr>
        </p:nvSpPr>
        <p:spPr/>
        <p:txBody>
          <a:bodyPr/>
          <a:lstStyle/>
          <a:p>
            <a:pPr eaLnBrk="1" hangingPunct="1">
              <a:spcBef>
                <a:spcPct val="0"/>
              </a:spcBef>
            </a:pPr>
            <a:r>
              <a:rPr lang="en-US" altLang="zh-CN" sz="2000" smtClean="0">
                <a:latin typeface="宋体" panose="02000500000000000000" pitchFamily="2" charset="-122"/>
              </a:rPr>
              <a:t>Cache</a:t>
            </a:r>
            <a:r>
              <a:rPr lang="zh-CN" altLang="en-US" sz="2000" smtClean="0">
                <a:latin typeface="宋体" panose="02000500000000000000" pitchFamily="2" charset="-122"/>
              </a:rPr>
              <a:t>访问时间是处理器主频的决定因素之一</a:t>
            </a:r>
            <a:endParaRPr lang="zh-CN" altLang="en-US"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其他因素包括加法及</a:t>
            </a:r>
            <a:r>
              <a:rPr lang="en-US" altLang="zh-CN" sz="1800" smtClean="0">
                <a:latin typeface="宋体" panose="02000500000000000000" pitchFamily="2" charset="-122"/>
              </a:rPr>
              <a:t>bypass</a:t>
            </a:r>
            <a:r>
              <a:rPr lang="zh-CN" altLang="en-US" sz="1800" smtClean="0">
                <a:latin typeface="宋体" panose="02000500000000000000" pitchFamily="2" charset="-122"/>
              </a:rPr>
              <a:t>时间等</a:t>
            </a:r>
            <a:endParaRPr lang="zh-CN" altLang="en-US"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把</a:t>
            </a:r>
            <a:r>
              <a:rPr lang="en-US" altLang="zh-CN" sz="2000" smtClean="0">
                <a:latin typeface="宋体" panose="02000500000000000000" pitchFamily="2" charset="-122"/>
              </a:rPr>
              <a:t>Cache</a:t>
            </a:r>
            <a:r>
              <a:rPr lang="zh-CN" altLang="en-US" sz="2000" smtClean="0">
                <a:latin typeface="宋体" panose="02000500000000000000" pitchFamily="2" charset="-122"/>
              </a:rPr>
              <a:t>访问分成多拍以提高主频</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MIPS</a:t>
            </a:r>
            <a:r>
              <a:rPr lang="zh-CN" altLang="en-US" sz="1800" smtClean="0">
                <a:latin typeface="宋体" panose="02000500000000000000" pitchFamily="2" charset="-122"/>
              </a:rPr>
              <a:t>：</a:t>
            </a:r>
            <a:r>
              <a:rPr lang="en-US" altLang="zh-CN" sz="1800" smtClean="0">
                <a:latin typeface="宋体" panose="02000500000000000000" pitchFamily="2" charset="-122"/>
              </a:rPr>
              <a:t>1</a:t>
            </a:r>
            <a:r>
              <a:rPr lang="zh-CN" altLang="en-US" sz="1800" smtClean="0">
                <a:latin typeface="宋体" panose="02000500000000000000" pitchFamily="2" charset="-122"/>
              </a:rPr>
              <a:t>拍</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Alpha</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拍</a:t>
            </a:r>
            <a:endParaRPr lang="zh-CN" altLang="en-US" sz="1800" smtClean="0">
              <a:solidFill>
                <a:srgbClr val="FF0000"/>
              </a:solidFill>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增加流水节拍增加了</a:t>
            </a:r>
            <a:r>
              <a:rPr lang="en-US" altLang="zh-CN" sz="1800" smtClean="0">
                <a:latin typeface="宋体" panose="02000500000000000000" pitchFamily="2" charset="-122"/>
              </a:rPr>
              <a:t>load-use</a:t>
            </a:r>
            <a:r>
              <a:rPr lang="zh-CN" altLang="en-US" sz="1800" smtClean="0">
                <a:latin typeface="宋体" panose="02000500000000000000" pitchFamily="2" charset="-122"/>
              </a:rPr>
              <a:t>延迟</a:t>
            </a:r>
            <a:endParaRPr lang="zh-CN" altLang="en-US" sz="18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noChangeArrowheads="1"/>
          </p:cNvSpPr>
          <p:nvPr>
            <p:ph type="sldNum" sz="quarter" idx="12"/>
          </p:nvPr>
        </p:nvSpPr>
        <p:spPr>
          <a:noFill/>
        </p:spPr>
        <p:txBody>
          <a:bodyPr/>
          <a:lstStyle/>
          <a:p>
            <a:fld id="{8BDC5209-7389-4FF9-A49E-CE5E7804CFD4}" type="slidenum">
              <a:rPr lang="en-US" altLang="zh-CN" smtClean="0"/>
            </a:fld>
            <a:endParaRPr lang="en-US" altLang="zh-CN" smtClean="0"/>
          </a:p>
        </p:txBody>
      </p:sp>
      <p:sp>
        <p:nvSpPr>
          <p:cNvPr id="53251" name="Rectangle 4"/>
          <p:cNvSpPr>
            <a:spLocks noChangeArrowheads="1"/>
          </p:cNvSpPr>
          <p:nvPr/>
        </p:nvSpPr>
        <p:spPr bwMode="auto">
          <a:xfrm>
            <a:off x="825500" y="501650"/>
            <a:ext cx="10361613" cy="846138"/>
          </a:xfrm>
          <a:prstGeom prst="rect">
            <a:avLst/>
          </a:prstGeom>
          <a:noFill/>
          <a:ln w="9525">
            <a:noFill/>
            <a:miter lim="800000"/>
          </a:ln>
        </p:spPr>
        <p:txBody>
          <a:bodyPr anchor="ctr"/>
          <a:lstStyle/>
          <a:p>
            <a:pPr algn="ctr">
              <a:spcBef>
                <a:spcPct val="0"/>
              </a:spcBef>
            </a:pPr>
            <a:r>
              <a:rPr lang="zh-CN" altLang="en-US" sz="3600">
                <a:solidFill>
                  <a:srgbClr val="FF0000"/>
                </a:solidFill>
                <a:latin typeface="Arial" panose="02080604020202020204" pitchFamily="34" charset="0"/>
                <a:ea typeface="黑体" panose="02000500000000000000" pitchFamily="49" charset="-122"/>
              </a:rPr>
              <a:t>提高</a:t>
            </a:r>
            <a:r>
              <a:rPr lang="en-US" altLang="zh-CN" sz="3600">
                <a:solidFill>
                  <a:srgbClr val="FF0000"/>
                </a:solidFill>
                <a:latin typeface="Arial" panose="02080604020202020204" pitchFamily="34" charset="0"/>
                <a:ea typeface="黑体" panose="02000500000000000000" pitchFamily="49" charset="-122"/>
              </a:rPr>
              <a:t>Cache</a:t>
            </a:r>
            <a:r>
              <a:rPr lang="zh-CN" altLang="en-US" sz="3600">
                <a:solidFill>
                  <a:srgbClr val="FF0000"/>
                </a:solidFill>
                <a:latin typeface="Arial" panose="02080604020202020204" pitchFamily="34" charset="0"/>
                <a:ea typeface="黑体" panose="02000500000000000000" pitchFamily="49" charset="-122"/>
              </a:rPr>
              <a:t>访问并行性</a:t>
            </a:r>
            <a:endParaRPr lang="zh-CN" altLang="en-US" sz="3600">
              <a:solidFill>
                <a:srgbClr val="FF0000"/>
              </a:solidFill>
              <a:latin typeface="Arial" panose="02080604020202020204" pitchFamily="34" charset="0"/>
              <a:ea typeface="黑体" panose="02000500000000000000" pitchFamily="49" charset="-122"/>
            </a:endParaRPr>
          </a:p>
        </p:txBody>
      </p:sp>
      <p:sp>
        <p:nvSpPr>
          <p:cNvPr id="53252" name="Rectangle 5"/>
          <p:cNvSpPr>
            <a:spLocks noChangeArrowheads="1"/>
          </p:cNvSpPr>
          <p:nvPr/>
        </p:nvSpPr>
        <p:spPr bwMode="auto">
          <a:xfrm>
            <a:off x="979488" y="1851025"/>
            <a:ext cx="10182225" cy="4064000"/>
          </a:xfrm>
          <a:prstGeom prst="rect">
            <a:avLst/>
          </a:prstGeom>
          <a:noFill/>
          <a:ln w="9525">
            <a:noFill/>
            <a:miter lim="800000"/>
          </a:ln>
        </p:spPr>
        <p:txBody>
          <a:bodyPr/>
          <a:lstStyle/>
          <a:p>
            <a:pPr marL="342900" indent="-342900">
              <a:lnSpc>
                <a:spcPct val="150000"/>
              </a:lnSpc>
              <a:spcBef>
                <a:spcPct val="0"/>
              </a:spcBef>
              <a:buFontTx/>
              <a:buChar char="•"/>
            </a:pPr>
            <a:r>
              <a:rPr lang="zh-CN" altLang="en-US" sz="2400" b="1">
                <a:latin typeface="宋体" panose="02000500000000000000" pitchFamily="2" charset="-122"/>
              </a:rPr>
              <a:t>多访存部件</a:t>
            </a:r>
            <a:endParaRPr lang="en-US" altLang="zh-CN"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非阻塞</a:t>
            </a:r>
            <a:r>
              <a:rPr lang="en-US" altLang="zh-CN" sz="2400" b="1">
                <a:latin typeface="宋体" panose="02000500000000000000" pitchFamily="2" charset="-122"/>
              </a:rPr>
              <a:t>Cache</a:t>
            </a:r>
            <a:endParaRPr lang="en-US" altLang="zh-CN" sz="2400" b="1">
              <a:latin typeface="宋体" panose="02000500000000000000" pitchFamily="2" charset="-122"/>
            </a:endParaRPr>
          </a:p>
          <a:p>
            <a:pPr marL="342900" indent="-342900">
              <a:lnSpc>
                <a:spcPct val="150000"/>
              </a:lnSpc>
              <a:spcBef>
                <a:spcPct val="0"/>
              </a:spcBef>
              <a:buFontTx/>
              <a:buChar char="•"/>
            </a:pPr>
            <a:r>
              <a:rPr lang="zh-CN" altLang="en-US" sz="2400" b="1">
                <a:latin typeface="宋体" panose="02000500000000000000" pitchFamily="2" charset="-122"/>
              </a:rPr>
              <a:t>硬件预取</a:t>
            </a:r>
            <a:endParaRPr lang="zh-CN" altLang="en-US" sz="24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lstStyle/>
          <a:p>
            <a:r>
              <a:rPr lang="zh-CN" altLang="en-US" smtClean="0"/>
              <a:t>多访存部件</a:t>
            </a:r>
            <a:endParaRPr lang="zh-CN" altLang="en-US" smtClean="0"/>
          </a:p>
        </p:txBody>
      </p:sp>
      <p:sp>
        <p:nvSpPr>
          <p:cNvPr id="55298" name="内容占位符 2"/>
          <p:cNvSpPr>
            <a:spLocks noGrp="1"/>
          </p:cNvSpPr>
          <p:nvPr>
            <p:ph idx="1"/>
          </p:nvPr>
        </p:nvSpPr>
        <p:spPr>
          <a:xfrm>
            <a:off x="914400" y="1809750"/>
            <a:ext cx="10361613" cy="4286250"/>
          </a:xfrm>
        </p:spPr>
        <p:txBody>
          <a:bodyPr/>
          <a:lstStyle/>
          <a:p>
            <a:pPr>
              <a:spcBef>
                <a:spcPct val="0"/>
              </a:spcBef>
              <a:defRPr/>
            </a:pPr>
            <a:r>
              <a:rPr kumimoji="1" lang="zh-CN" altLang="en-US" sz="2000" noProof="1">
                <a:latin typeface="宋体" panose="02000500000000000000" pitchFamily="2" charset="-122"/>
              </a:rPr>
              <a:t>现代高性能处理器大都采用两个或更多访存部件</a:t>
            </a:r>
            <a:endParaRPr kumimoji="1" lang="en-US" altLang="zh-CN" sz="2000" noProof="1">
              <a:latin typeface="宋体" panose="02000500000000000000" pitchFamily="2" charset="-122"/>
            </a:endParaRPr>
          </a:p>
          <a:p>
            <a:pPr lvl="1">
              <a:spcBef>
                <a:spcPct val="0"/>
              </a:spcBef>
              <a:defRPr/>
            </a:pPr>
            <a:r>
              <a:rPr kumimoji="1" lang="zh-CN" altLang="en-US" sz="1800" noProof="1">
                <a:latin typeface="宋体" panose="02000500000000000000" pitchFamily="2" charset="-122"/>
                <a:cs typeface="+mn-ea"/>
              </a:rPr>
              <a:t>如</a:t>
            </a:r>
            <a:r>
              <a:rPr kumimoji="1" lang="en-US" altLang="zh-CN" sz="1800" noProof="1">
                <a:latin typeface="宋体" panose="02000500000000000000" pitchFamily="2" charset="-122"/>
                <a:cs typeface="+mn-ea"/>
              </a:rPr>
              <a:t>Intel</a:t>
            </a:r>
            <a:r>
              <a:rPr kumimoji="1" lang="zh-CN" altLang="en-US" sz="1800" noProof="1">
                <a:latin typeface="宋体" panose="02000500000000000000" pitchFamily="2" charset="-122"/>
                <a:cs typeface="+mn-ea"/>
              </a:rPr>
              <a:t>的</a:t>
            </a:r>
            <a:r>
              <a:rPr kumimoji="1" lang="en-US" altLang="zh-CN" sz="1800" noProof="1">
                <a:latin typeface="宋体" panose="02000500000000000000" pitchFamily="2" charset="-122"/>
                <a:cs typeface="+mn-ea"/>
              </a:rPr>
              <a:t>IvyBridge</a:t>
            </a:r>
            <a:r>
              <a:rPr kumimoji="1" lang="zh-CN" altLang="en-US" sz="1800" noProof="1">
                <a:latin typeface="宋体" panose="02000500000000000000" pitchFamily="2" charset="-122"/>
                <a:cs typeface="+mn-ea"/>
              </a:rPr>
              <a:t>有两个读部件、一个写部件</a:t>
            </a:r>
            <a:endParaRPr kumimoji="1" lang="en-US" altLang="zh-CN" sz="1800" noProof="1">
              <a:latin typeface="宋体" panose="02000500000000000000" pitchFamily="2" charset="-122"/>
              <a:cs typeface="+mn-ea"/>
            </a:endParaRPr>
          </a:p>
          <a:p>
            <a:pPr lvl="1">
              <a:spcBef>
                <a:spcPct val="0"/>
              </a:spcBef>
              <a:defRPr/>
            </a:pPr>
            <a:r>
              <a:rPr kumimoji="1" lang="en-US" altLang="zh-CN" sz="1800" noProof="1">
                <a:latin typeface="宋体" panose="02000500000000000000" pitchFamily="2" charset="-122"/>
                <a:cs typeface="+mn-ea"/>
              </a:rPr>
              <a:t>AMD</a:t>
            </a:r>
            <a:r>
              <a:rPr kumimoji="1" lang="zh-CN" altLang="en-US" sz="1800" noProof="1">
                <a:latin typeface="宋体" panose="02000500000000000000" pitchFamily="2" charset="-122"/>
                <a:cs typeface="+mn-ea"/>
              </a:rPr>
              <a:t>的</a:t>
            </a:r>
            <a:r>
              <a:rPr kumimoji="1" lang="en-US" altLang="zh-CN" sz="1800" noProof="1">
                <a:latin typeface="宋体" panose="02000500000000000000" pitchFamily="2" charset="-122"/>
                <a:cs typeface="+mn-ea"/>
              </a:rPr>
              <a:t>Bulldozer</a:t>
            </a:r>
            <a:r>
              <a:rPr kumimoji="1" lang="zh-CN" altLang="en-US" sz="1800" noProof="1">
                <a:latin typeface="宋体" panose="02000500000000000000" pitchFamily="2" charset="-122"/>
                <a:cs typeface="+mn-ea"/>
              </a:rPr>
              <a:t>有两个读</a:t>
            </a:r>
            <a:r>
              <a:rPr kumimoji="1" lang="en-US" altLang="zh-CN" sz="1800" noProof="1">
                <a:latin typeface="宋体" panose="02000500000000000000" pitchFamily="2" charset="-122"/>
                <a:cs typeface="+mn-ea"/>
              </a:rPr>
              <a:t>/</a:t>
            </a:r>
            <a:r>
              <a:rPr kumimoji="1" lang="zh-CN" altLang="en-US" sz="1800" noProof="1">
                <a:latin typeface="宋体" panose="02000500000000000000" pitchFamily="2" charset="-122"/>
                <a:cs typeface="+mn-ea"/>
              </a:rPr>
              <a:t>写部件</a:t>
            </a:r>
            <a:endParaRPr kumimoji="1" lang="zh-CN" altLang="en-US" sz="1800" noProof="1">
              <a:latin typeface="宋体" panose="02000500000000000000" pitchFamily="2" charset="-122"/>
              <a:cs typeface="+mn-ea"/>
            </a:endParaRPr>
          </a:p>
          <a:p>
            <a:pPr lvl="1">
              <a:spcBef>
                <a:spcPct val="0"/>
              </a:spcBef>
              <a:defRPr/>
            </a:pPr>
            <a:r>
              <a:rPr kumimoji="1" lang="zh-CN" altLang="en-US" sz="1800" noProof="1">
                <a:latin typeface="宋体" panose="02000500000000000000" pitchFamily="2" charset="-122"/>
                <a:cs typeface="+mn-ea"/>
              </a:rPr>
              <a:t>龙芯</a:t>
            </a:r>
            <a:r>
              <a:rPr kumimoji="1" lang="en-US" altLang="zh-CN" sz="1800" noProof="1">
                <a:latin typeface="宋体" panose="02000500000000000000" pitchFamily="2" charset="-122"/>
                <a:cs typeface="+mn-ea"/>
              </a:rPr>
              <a:t>3A6000</a:t>
            </a:r>
            <a:r>
              <a:rPr kumimoji="1" lang="zh-CN" altLang="en-US" sz="1800" noProof="1">
                <a:latin typeface="宋体" panose="02000500000000000000" pitchFamily="2" charset="-122"/>
                <a:cs typeface="+mn-ea"/>
              </a:rPr>
              <a:t>有两个读部件、两个写部件</a:t>
            </a:r>
            <a:endParaRPr kumimoji="1" lang="en-US" altLang="zh-CN" sz="1800" noProof="1">
              <a:latin typeface="宋体" panose="02000500000000000000" pitchFamily="2" charset="-122"/>
              <a:cs typeface="+mn-ea"/>
            </a:endParaRPr>
          </a:p>
          <a:p>
            <a:pPr>
              <a:spcBef>
                <a:spcPct val="0"/>
              </a:spcBef>
              <a:defRPr/>
            </a:pPr>
            <a:r>
              <a:rPr kumimoji="1" lang="zh-CN" altLang="en-US" sz="2000" noProof="1">
                <a:latin typeface="宋体" panose="02000500000000000000" pitchFamily="2" charset="-122"/>
              </a:rPr>
              <a:t>多个访存部件提高了访存的吞吐率</a:t>
            </a:r>
            <a:endParaRPr kumimoji="1" lang="en-US" altLang="zh-CN" sz="2000" noProof="1">
              <a:latin typeface="宋体" panose="02000500000000000000" pitchFamily="2" charset="-122"/>
            </a:endParaRPr>
          </a:p>
          <a:p>
            <a:pPr lvl="1">
              <a:spcBef>
                <a:spcPct val="0"/>
              </a:spcBef>
              <a:defRPr/>
            </a:pPr>
            <a:r>
              <a:rPr kumimoji="1" lang="zh-CN" altLang="en-US" sz="1800" noProof="1">
                <a:latin typeface="宋体" panose="02000500000000000000" pitchFamily="2" charset="-122"/>
                <a:cs typeface="+mn-ea"/>
              </a:rPr>
              <a:t>降低了平均</a:t>
            </a:r>
            <a:r>
              <a:rPr kumimoji="1" lang="en-US" altLang="zh-CN" sz="1800" noProof="1">
                <a:latin typeface="宋体" panose="02000500000000000000" pitchFamily="2" charset="-122"/>
                <a:cs typeface="+mn-ea"/>
              </a:rPr>
              <a:t>Hittime</a:t>
            </a:r>
            <a:endParaRPr kumimoji="1" lang="en-US" altLang="zh-CN" sz="1800" noProof="1">
              <a:latin typeface="宋体" panose="02000500000000000000" pitchFamily="2" charset="-122"/>
              <a:cs typeface="+mn-ea"/>
            </a:endParaRPr>
          </a:p>
          <a:p>
            <a:pPr>
              <a:spcBef>
                <a:spcPct val="0"/>
              </a:spcBef>
              <a:defRPr/>
            </a:pPr>
            <a:r>
              <a:rPr kumimoji="1" lang="zh-CN" altLang="en-US" sz="2160" noProof="1">
                <a:latin typeface="宋体" panose="02000500000000000000" pitchFamily="2" charset="-122"/>
              </a:rPr>
              <a:t>多访存部件会极大提高硬件复杂度</a:t>
            </a:r>
            <a:endParaRPr kumimoji="1" lang="zh-CN" altLang="en-US" sz="2160" noProof="1">
              <a:latin typeface="宋体" panose="02000500000000000000" pitchFamily="2" charset="-122"/>
            </a:endParaRPr>
          </a:p>
          <a:p>
            <a:pPr lvl="1">
              <a:spcBef>
                <a:spcPct val="0"/>
              </a:spcBef>
              <a:defRPr/>
            </a:pPr>
            <a:r>
              <a:rPr kumimoji="1" lang="zh-CN" altLang="en-US" sz="1800" noProof="1">
                <a:latin typeface="宋体" panose="02000500000000000000" pitchFamily="2" charset="-122"/>
                <a:cs typeface="+mn-ea"/>
              </a:rPr>
              <a:t>同一拍多个访存指令之间相关性</a:t>
            </a:r>
            <a:endParaRPr kumimoji="1" lang="zh-CN" altLang="en-US" sz="1800" noProof="1">
              <a:latin typeface="宋体" panose="02000500000000000000" pitchFamily="2" charset="-122"/>
              <a:cs typeface="+mn-ea"/>
            </a:endParaRPr>
          </a:p>
          <a:p>
            <a:pPr lvl="1">
              <a:spcBef>
                <a:spcPct val="0"/>
              </a:spcBef>
              <a:defRPr/>
            </a:pPr>
            <a:r>
              <a:rPr kumimoji="1" lang="zh-CN" altLang="en-US" sz="1800" noProof="1">
                <a:latin typeface="宋体" panose="02000500000000000000" pitchFamily="2" charset="-122"/>
                <a:cs typeface="+mn-ea"/>
              </a:rPr>
              <a:t>需要多端口</a:t>
            </a:r>
            <a:r>
              <a:rPr kumimoji="1" lang="en-US" altLang="zh-CN" sz="1800" noProof="1">
                <a:latin typeface="宋体" panose="02000500000000000000" pitchFamily="2" charset="-122"/>
                <a:cs typeface="+mn-ea"/>
              </a:rPr>
              <a:t>RAM</a:t>
            </a:r>
            <a:r>
              <a:rPr kumimoji="1" lang="zh-CN" altLang="en-US" sz="1800" noProof="1">
                <a:latin typeface="宋体" panose="02000500000000000000" pitchFamily="2" charset="-122"/>
                <a:cs typeface="+mn-ea"/>
              </a:rPr>
              <a:t>（面积超线性增加），或避免</a:t>
            </a:r>
            <a:r>
              <a:rPr kumimoji="1" lang="en-US" altLang="zh-CN" sz="1800" noProof="1">
                <a:latin typeface="宋体" panose="02000500000000000000" pitchFamily="2" charset="-122"/>
                <a:cs typeface="+mn-ea"/>
              </a:rPr>
              <a:t>RAM</a:t>
            </a:r>
            <a:r>
              <a:rPr kumimoji="1" lang="zh-CN" altLang="en-US" sz="1800" noProof="1">
                <a:latin typeface="宋体" panose="02000500000000000000" pitchFamily="2" charset="-122"/>
                <a:cs typeface="+mn-ea"/>
              </a:rPr>
              <a:t>端口冲突</a:t>
            </a:r>
            <a:endParaRPr kumimoji="1" lang="zh-CN" altLang="en-US" sz="1800" noProof="1">
              <a:latin typeface="宋体" panose="02000500000000000000" pitchFamily="2" charset="-122"/>
              <a:cs typeface="+mn-ea"/>
            </a:endParaRPr>
          </a:p>
        </p:txBody>
      </p:sp>
      <p:sp>
        <p:nvSpPr>
          <p:cNvPr id="54276" name="灯片编号占位符 3"/>
          <p:cNvSpPr>
            <a:spLocks noGrp="1" noChangeArrowheads="1"/>
          </p:cNvSpPr>
          <p:nvPr>
            <p:ph type="sldNum" sz="quarter" idx="12"/>
          </p:nvPr>
        </p:nvSpPr>
        <p:spPr>
          <a:noFill/>
        </p:spPr>
        <p:txBody>
          <a:bodyPr/>
          <a:lstStyle/>
          <a:p>
            <a:fld id="{9E7ADD78-5F17-44CC-8D3B-0BC63AA48F6F}" type="slidenum">
              <a:rPr lang="en-US" altLang="zh-CN" smtClean="0"/>
            </a:fld>
            <a:endParaRPr lang="en-US" altLang="zh-CN"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noChangeArrowheads="1"/>
          </p:cNvSpPr>
          <p:nvPr>
            <p:ph type="sldNum" sz="quarter" idx="12"/>
          </p:nvPr>
        </p:nvSpPr>
        <p:spPr>
          <a:noFill/>
        </p:spPr>
        <p:txBody>
          <a:bodyPr/>
          <a:lstStyle/>
          <a:p>
            <a:fld id="{6693C062-39C7-4285-8138-557228585987}" type="slidenum">
              <a:rPr lang="en-US" altLang="zh-CN" smtClean="0"/>
            </a:fld>
            <a:endParaRPr lang="en-US" altLang="zh-CN" smtClean="0"/>
          </a:p>
        </p:txBody>
      </p:sp>
      <p:sp>
        <p:nvSpPr>
          <p:cNvPr id="55299" name="Rectangle 4"/>
          <p:cNvSpPr>
            <a:spLocks noChangeArrowheads="1"/>
          </p:cNvSpPr>
          <p:nvPr/>
        </p:nvSpPr>
        <p:spPr bwMode="auto">
          <a:xfrm>
            <a:off x="381000" y="0"/>
            <a:ext cx="11428413" cy="1263650"/>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非阻塞</a:t>
            </a:r>
            <a:r>
              <a:rPr lang="en-US" altLang="zh-CN" sz="3200">
                <a:solidFill>
                  <a:srgbClr val="FF0000"/>
                </a:solidFill>
                <a:latin typeface="Arial" panose="02080604020202020204" pitchFamily="34" charset="0"/>
                <a:ea typeface="黑体" panose="02000500000000000000" pitchFamily="49" charset="-122"/>
              </a:rPr>
              <a:t>Cache</a:t>
            </a:r>
            <a:endParaRPr lang="en-US" altLang="zh-CN" sz="3200">
              <a:solidFill>
                <a:srgbClr val="FF0000"/>
              </a:solidFill>
              <a:latin typeface="Arial" panose="02080604020202020204" pitchFamily="34" charset="0"/>
              <a:ea typeface="黑体" panose="02000500000000000000" pitchFamily="49" charset="-122"/>
            </a:endParaRPr>
          </a:p>
        </p:txBody>
      </p:sp>
      <p:sp>
        <p:nvSpPr>
          <p:cNvPr id="2" name="Rectangle 5"/>
          <p:cNvSpPr/>
          <p:nvPr/>
        </p:nvSpPr>
        <p:spPr>
          <a:xfrm>
            <a:off x="163513" y="1019175"/>
            <a:ext cx="11879262" cy="5594350"/>
          </a:xfrm>
          <a:prstGeom prst="rect">
            <a:avLst/>
          </a:prstGeom>
          <a:noFill/>
          <a:ln w="12700">
            <a:noFill/>
          </a:ln>
        </p:spPr>
        <p:txBody>
          <a:bodyPr lIns="90488" tIns="44450" rIns="90488" bIns="44450"/>
          <a:lstStyle/>
          <a:p>
            <a:pPr marL="342900" indent="-342900">
              <a:lnSpc>
                <a:spcPct val="150000"/>
              </a:lnSpc>
              <a:spcBef>
                <a:spcPct val="0"/>
              </a:spcBef>
              <a:buFontTx/>
              <a:buChar char="•"/>
              <a:defRPr/>
            </a:pPr>
            <a:r>
              <a:rPr lang="zh-CN" altLang="en-US" sz="2000" b="1" noProof="1">
                <a:latin typeface="宋体" panose="02000500000000000000" pitchFamily="2" charset="-122"/>
              </a:rPr>
              <a:t>非阻塞（</a:t>
            </a:r>
            <a:r>
              <a:rPr lang="en-US" altLang="zh-CN" sz="2000" b="1" noProof="1">
                <a:latin typeface="宋体" panose="02000500000000000000" pitchFamily="2" charset="-122"/>
              </a:rPr>
              <a:t>Non-blocking</a:t>
            </a:r>
            <a:r>
              <a:rPr lang="zh-CN" altLang="en-US" sz="2000" b="1" noProof="1">
                <a:latin typeface="宋体" panose="02000500000000000000" pitchFamily="2" charset="-122"/>
              </a:rPr>
              <a:t>）</a:t>
            </a:r>
            <a:r>
              <a:rPr lang="en-US" altLang="zh-CN" sz="2000" b="1" noProof="1">
                <a:latin typeface="宋体" panose="02000500000000000000" pitchFamily="2" charset="-122"/>
              </a:rPr>
              <a:t>Cache</a:t>
            </a:r>
            <a:r>
              <a:rPr lang="zh-CN" altLang="en-US" sz="2000" b="1" noProof="1">
                <a:latin typeface="宋体" panose="02000500000000000000" pitchFamily="2" charset="-122"/>
              </a:rPr>
              <a:t>在访问失效时允许后续的访问继续进行</a:t>
            </a:r>
            <a:endParaRPr lang="zh-CN" altLang="en-US" sz="2000" b="1" noProof="1">
              <a:latin typeface="宋体" panose="02000500000000000000" pitchFamily="2" charset="-122"/>
            </a:endParaRPr>
          </a:p>
          <a:p>
            <a:pPr marL="742950" lvl="1" indent="-285750">
              <a:lnSpc>
                <a:spcPct val="150000"/>
              </a:lnSpc>
              <a:spcBef>
                <a:spcPct val="0"/>
              </a:spcBef>
              <a:buFontTx/>
              <a:buChar char="•"/>
              <a:defRPr/>
            </a:pPr>
            <a:r>
              <a:rPr lang="en-US" altLang="zh-CN" sz="1600" b="1" u="sng" noProof="1">
                <a:solidFill>
                  <a:srgbClr val="FF0000"/>
                </a:solidFill>
                <a:latin typeface="宋体" panose="02000500000000000000" pitchFamily="2" charset="-122"/>
              </a:rPr>
              <a:t>hit under miss</a:t>
            </a:r>
            <a:r>
              <a:rPr lang="zh-CN" altLang="en-US" sz="1600" b="1" noProof="1">
                <a:latin typeface="宋体" panose="02000500000000000000" pitchFamily="2" charset="-122"/>
              </a:rPr>
              <a:t>、</a:t>
            </a:r>
            <a:r>
              <a:rPr lang="en-US" altLang="zh-CN" sz="1600" b="1" u="sng" noProof="1">
                <a:solidFill>
                  <a:srgbClr val="FF0000"/>
                </a:solidFill>
                <a:latin typeface="宋体" panose="02000500000000000000" pitchFamily="2" charset="-122"/>
              </a:rPr>
              <a:t>hit under multiple miss</a:t>
            </a:r>
            <a:r>
              <a:rPr lang="zh-CN" altLang="en-US" sz="1600" b="1" noProof="1">
                <a:latin typeface="宋体" panose="02000500000000000000" pitchFamily="2" charset="-122"/>
              </a:rPr>
              <a:t>、</a:t>
            </a:r>
            <a:r>
              <a:rPr lang="en-US" altLang="zh-CN" sz="1600" b="1" u="sng" noProof="1">
                <a:solidFill>
                  <a:srgbClr val="FF0000"/>
                </a:solidFill>
                <a:latin typeface="宋体" panose="02000500000000000000" pitchFamily="2" charset="-122"/>
              </a:rPr>
              <a:t>miss under miss</a:t>
            </a:r>
            <a:endParaRPr lang="en-US" altLang="zh-CN" sz="1600" b="1" noProof="1">
              <a:latin typeface="宋体" panose="02000500000000000000" pitchFamily="2" charset="-122"/>
            </a:endParaRPr>
          </a:p>
          <a:p>
            <a:pPr marL="742950" lvl="1" indent="-285750">
              <a:lnSpc>
                <a:spcPct val="150000"/>
              </a:lnSpc>
              <a:spcBef>
                <a:spcPct val="0"/>
              </a:spcBef>
              <a:buFontTx/>
              <a:buChar char="•"/>
              <a:defRPr/>
            </a:pPr>
            <a:r>
              <a:rPr lang="zh-CN" altLang="en-US" sz="1600" b="1" noProof="1">
                <a:latin typeface="宋体" panose="02000500000000000000" pitchFamily="2" charset="-122"/>
                <a:sym typeface="+mn-ea"/>
              </a:rPr>
              <a:t>在乱序执行的</a:t>
            </a:r>
            <a:r>
              <a:rPr lang="en-US" altLang="zh-CN" sz="1600" b="1" noProof="1">
                <a:latin typeface="宋体" panose="02000500000000000000" pitchFamily="2" charset="-122"/>
                <a:sym typeface="+mn-ea"/>
              </a:rPr>
              <a:t>CPU</a:t>
            </a:r>
            <a:r>
              <a:rPr lang="zh-CN" altLang="en-US" sz="1600" b="1" noProof="1">
                <a:latin typeface="宋体" panose="02000500000000000000" pitchFamily="2" charset="-122"/>
                <a:sym typeface="+mn-ea"/>
              </a:rPr>
              <a:t>中使用，显著增加</a:t>
            </a:r>
            <a:r>
              <a:rPr lang="en-US" altLang="zh-CN" sz="1600" b="1" noProof="1">
                <a:latin typeface="宋体" panose="02000500000000000000" pitchFamily="2" charset="-122"/>
                <a:sym typeface="+mn-ea"/>
              </a:rPr>
              <a:t>Cache</a:t>
            </a:r>
            <a:r>
              <a:rPr lang="zh-CN" altLang="en-US" sz="1600" b="1" noProof="1">
                <a:latin typeface="宋体" panose="02000500000000000000" pitchFamily="2" charset="-122"/>
                <a:sym typeface="+mn-ea"/>
              </a:rPr>
              <a:t>控制器复杂度</a:t>
            </a:r>
            <a:endParaRPr lang="zh-CN" altLang="en-US" sz="1600" b="1" noProof="1">
              <a:latin typeface="宋体" panose="02000500000000000000" pitchFamily="2" charset="-122"/>
            </a:endParaRPr>
          </a:p>
          <a:p>
            <a:pPr marL="742950" lvl="1" indent="-285750">
              <a:lnSpc>
                <a:spcPct val="150000"/>
              </a:lnSpc>
              <a:spcBef>
                <a:spcPct val="0"/>
              </a:spcBef>
              <a:buFontTx/>
              <a:buChar char="•"/>
              <a:defRPr/>
            </a:pPr>
            <a:r>
              <a:rPr lang="zh-CN" altLang="en-US" sz="1600" b="1" noProof="1">
                <a:latin typeface="宋体" panose="02000500000000000000" pitchFamily="2" charset="-122"/>
              </a:rPr>
              <a:t>前面的失效访问不影响后续访问，需要类似与保留栈的访存队列机制：</a:t>
            </a:r>
            <a:r>
              <a:rPr lang="zh-CN" altLang="en-US" sz="1600" b="1" noProof="1">
                <a:solidFill>
                  <a:schemeClr val="accent2"/>
                </a:solidFill>
                <a:latin typeface="宋体" panose="02000500000000000000" pitchFamily="2" charset="-122"/>
              </a:rPr>
              <a:t>（</a:t>
            </a:r>
            <a:r>
              <a:rPr lang="en-US" altLang="zh-CN" sz="1600" b="1" noProof="1">
                <a:solidFill>
                  <a:schemeClr val="accent2"/>
                </a:solidFill>
                <a:latin typeface="宋体" panose="02000500000000000000" pitchFamily="2" charset="-122"/>
              </a:rPr>
              <a:t>1</a:t>
            </a:r>
            <a:r>
              <a:rPr lang="zh-CN" altLang="en-US" sz="1600" b="1" noProof="1">
                <a:solidFill>
                  <a:schemeClr val="accent2"/>
                </a:solidFill>
                <a:latin typeface="宋体" panose="02000500000000000000" pitchFamily="2" charset="-122"/>
              </a:rPr>
              <a:t>）访存保留栈</a:t>
            </a:r>
            <a:r>
              <a:rPr lang="en-US" altLang="zh-CN" sz="1600" b="1" noProof="1">
                <a:solidFill>
                  <a:schemeClr val="accent2"/>
                </a:solidFill>
                <a:latin typeface="宋体" panose="02000500000000000000" pitchFamily="2" charset="-122"/>
              </a:rPr>
              <a:t>/</a:t>
            </a:r>
            <a:r>
              <a:rPr lang="zh-CN" altLang="en-US" sz="1600" b="1" noProof="1">
                <a:solidFill>
                  <a:schemeClr val="accent2"/>
                </a:solidFill>
                <a:latin typeface="宋体" panose="02000500000000000000" pitchFamily="2" charset="-122"/>
              </a:rPr>
              <a:t>访存发射队列解决访存指令的寄存器相关问题；（</a:t>
            </a:r>
            <a:r>
              <a:rPr lang="en-US" altLang="zh-CN" sz="1600" b="1" noProof="1">
                <a:solidFill>
                  <a:schemeClr val="accent2"/>
                </a:solidFill>
                <a:latin typeface="宋体" panose="02000500000000000000" pitchFamily="2" charset="-122"/>
              </a:rPr>
              <a:t>2</a:t>
            </a:r>
            <a:r>
              <a:rPr lang="zh-CN" altLang="en-US" sz="1600" b="1" noProof="1">
                <a:solidFill>
                  <a:schemeClr val="accent2"/>
                </a:solidFill>
                <a:latin typeface="宋体" panose="02000500000000000000" pitchFamily="2" charset="-122"/>
              </a:rPr>
              <a:t>）访存部件内部的访存队列（或分成</a:t>
            </a:r>
            <a:r>
              <a:rPr lang="en-US" altLang="zh-CN" sz="1600" b="1" noProof="1">
                <a:solidFill>
                  <a:schemeClr val="accent2"/>
                </a:solidFill>
                <a:latin typeface="宋体" panose="02000500000000000000" pitchFamily="2" charset="-122"/>
              </a:rPr>
              <a:t>Load</a:t>
            </a:r>
            <a:r>
              <a:rPr lang="zh-CN" altLang="en-US" sz="1600" b="1" noProof="1">
                <a:solidFill>
                  <a:schemeClr val="accent2"/>
                </a:solidFill>
                <a:latin typeface="宋体" panose="02000500000000000000" pitchFamily="2" charset="-122"/>
              </a:rPr>
              <a:t>队列和</a:t>
            </a:r>
            <a:r>
              <a:rPr lang="en-US" altLang="zh-CN" sz="1600" b="1" noProof="1">
                <a:solidFill>
                  <a:schemeClr val="accent2"/>
                </a:solidFill>
                <a:latin typeface="宋体" panose="02000500000000000000" pitchFamily="2" charset="-122"/>
              </a:rPr>
              <a:t>Store</a:t>
            </a:r>
            <a:r>
              <a:rPr lang="zh-CN" altLang="en-US" sz="1600" b="1" noProof="1">
                <a:solidFill>
                  <a:schemeClr val="accent2"/>
                </a:solidFill>
                <a:latin typeface="宋体" panose="02000500000000000000" pitchFamily="2" charset="-122"/>
              </a:rPr>
              <a:t>队列）用于解决访存指令的地址相关问题（前递、回退等方法）；（</a:t>
            </a:r>
            <a:r>
              <a:rPr lang="en-US" altLang="zh-CN" sz="1600" b="1" noProof="1">
                <a:solidFill>
                  <a:schemeClr val="accent2"/>
                </a:solidFill>
                <a:latin typeface="宋体" panose="02000500000000000000" pitchFamily="2" charset="-122"/>
              </a:rPr>
              <a:t>3</a:t>
            </a:r>
            <a:r>
              <a:rPr lang="zh-CN" altLang="en-US" sz="1600" b="1" noProof="1">
                <a:solidFill>
                  <a:schemeClr val="accent2"/>
                </a:solidFill>
                <a:latin typeface="宋体" panose="02000500000000000000" pitchFamily="2" charset="-122"/>
              </a:rPr>
              <a:t>）</a:t>
            </a:r>
            <a:r>
              <a:rPr lang="en-US" altLang="zh-CN" sz="1600" b="1" noProof="1">
                <a:solidFill>
                  <a:schemeClr val="accent2"/>
                </a:solidFill>
                <a:latin typeface="宋体" panose="02000500000000000000" pitchFamily="2" charset="-122"/>
              </a:rPr>
              <a:t>Store</a:t>
            </a:r>
            <a:r>
              <a:rPr lang="zh-CN" altLang="en-US" sz="1600" b="1" noProof="1">
                <a:solidFill>
                  <a:schemeClr val="accent2"/>
                </a:solidFill>
                <a:latin typeface="宋体" panose="02000500000000000000" pitchFamily="2" charset="-122"/>
              </a:rPr>
              <a:t>指令在提交后才能修改</a:t>
            </a:r>
            <a:r>
              <a:rPr lang="en-US" altLang="zh-CN" sz="1600" b="1" noProof="1">
                <a:solidFill>
                  <a:schemeClr val="accent2"/>
                </a:solidFill>
                <a:latin typeface="宋体" panose="02000500000000000000" pitchFamily="2" charset="-122"/>
              </a:rPr>
              <a:t>Cache/</a:t>
            </a:r>
            <a:r>
              <a:rPr lang="zh-CN" altLang="en-US" sz="1600" b="1" noProof="1">
                <a:solidFill>
                  <a:schemeClr val="accent2"/>
                </a:solidFill>
                <a:latin typeface="宋体" panose="02000500000000000000" pitchFamily="2" charset="-122"/>
              </a:rPr>
              <a:t>内存，提交后进入</a:t>
            </a:r>
            <a:r>
              <a:rPr lang="en-US" altLang="zh-CN" sz="1600" b="1" noProof="1">
                <a:solidFill>
                  <a:schemeClr val="accent2"/>
                </a:solidFill>
                <a:latin typeface="宋体" panose="02000500000000000000" pitchFamily="2" charset="-122"/>
              </a:rPr>
              <a:t>Write Buffer</a:t>
            </a:r>
            <a:r>
              <a:rPr lang="zh-CN" altLang="en-US" sz="1600" b="1" noProof="1">
                <a:solidFill>
                  <a:schemeClr val="accent2"/>
                </a:solidFill>
                <a:latin typeface="宋体" panose="02000500000000000000" pitchFamily="2" charset="-122"/>
              </a:rPr>
              <a:t>待机写回，</a:t>
            </a:r>
            <a:r>
              <a:rPr lang="en-US" altLang="zh-CN" sz="1600" b="1" noProof="1">
                <a:solidFill>
                  <a:schemeClr val="accent2"/>
                </a:solidFill>
                <a:latin typeface="宋体" panose="02000500000000000000" pitchFamily="2" charset="-122"/>
              </a:rPr>
              <a:t>Load</a:t>
            </a:r>
            <a:r>
              <a:rPr lang="zh-CN" altLang="en-US" sz="1600" b="1" noProof="1">
                <a:solidFill>
                  <a:schemeClr val="accent2"/>
                </a:solidFill>
                <a:latin typeface="宋体" panose="02000500000000000000" pitchFamily="2" charset="-122"/>
              </a:rPr>
              <a:t>指令需要查找</a:t>
            </a:r>
            <a:r>
              <a:rPr lang="en-US" altLang="zh-CN" sz="1600" b="1" noProof="1">
                <a:solidFill>
                  <a:schemeClr val="accent2"/>
                </a:solidFill>
                <a:latin typeface="宋体" panose="02000500000000000000" pitchFamily="2" charset="-122"/>
              </a:rPr>
              <a:t>Write Buffer</a:t>
            </a:r>
            <a:r>
              <a:rPr lang="zh-CN" altLang="en-US" sz="1600" b="1" noProof="1">
                <a:solidFill>
                  <a:schemeClr val="accent2"/>
                </a:solidFill>
                <a:latin typeface="宋体" panose="02000500000000000000" pitchFamily="2" charset="-122"/>
              </a:rPr>
              <a:t>，</a:t>
            </a:r>
            <a:r>
              <a:rPr lang="en-US" altLang="zh-CN" sz="1600" b="1" noProof="1">
                <a:solidFill>
                  <a:schemeClr val="accent2"/>
                </a:solidFill>
                <a:latin typeface="宋体" panose="02000500000000000000" pitchFamily="2" charset="-122"/>
              </a:rPr>
              <a:t>Write Buffer</a:t>
            </a:r>
            <a:r>
              <a:rPr lang="zh-CN" altLang="en-US" sz="1600" b="1" noProof="1">
                <a:solidFill>
                  <a:schemeClr val="accent2"/>
                </a:solidFill>
                <a:latin typeface="宋体" panose="02000500000000000000" pitchFamily="2" charset="-122"/>
              </a:rPr>
              <a:t>可以和前述访存队列或</a:t>
            </a:r>
            <a:r>
              <a:rPr lang="en-US" altLang="zh-CN" sz="1600" b="1" noProof="1">
                <a:solidFill>
                  <a:schemeClr val="accent2"/>
                </a:solidFill>
                <a:latin typeface="宋体" panose="02000500000000000000" pitchFamily="2" charset="-122"/>
              </a:rPr>
              <a:t>Store</a:t>
            </a:r>
            <a:r>
              <a:rPr lang="zh-CN" altLang="en-US" sz="1600" b="1" noProof="1">
                <a:solidFill>
                  <a:schemeClr val="accent2"/>
                </a:solidFill>
                <a:latin typeface="宋体" panose="02000500000000000000" pitchFamily="2" charset="-122"/>
              </a:rPr>
              <a:t>队列合并（通过状态区分）</a:t>
            </a:r>
            <a:endParaRPr lang="zh-CN" altLang="en-US" sz="1800" b="1" noProof="1">
              <a:solidFill>
                <a:schemeClr val="accent2"/>
              </a:solidFill>
              <a:latin typeface="宋体" panose="02000500000000000000" pitchFamily="2" charset="-122"/>
            </a:endParaRPr>
          </a:p>
          <a:p>
            <a:pPr marL="342900" indent="-342900">
              <a:lnSpc>
                <a:spcPct val="150000"/>
              </a:lnSpc>
              <a:spcBef>
                <a:spcPct val="0"/>
              </a:spcBef>
              <a:buFontTx/>
              <a:buChar char="•"/>
              <a:defRPr/>
            </a:pPr>
            <a:r>
              <a:rPr lang="zh-CN" altLang="en-US" sz="2000" b="1" noProof="1">
                <a:latin typeface="宋体" panose="02000500000000000000" pitchFamily="2" charset="-122"/>
              </a:rPr>
              <a:t>多个层次的非阻塞访问</a:t>
            </a:r>
            <a:endParaRPr lang="zh-CN" altLang="en-US" sz="2000" b="1" noProof="1">
              <a:latin typeface="宋体" panose="02000500000000000000" pitchFamily="2" charset="-122"/>
            </a:endParaRPr>
          </a:p>
          <a:p>
            <a:pPr marL="742950" lvl="1" indent="-285750">
              <a:lnSpc>
                <a:spcPct val="150000"/>
              </a:lnSpc>
              <a:spcBef>
                <a:spcPct val="0"/>
              </a:spcBef>
              <a:buFontTx/>
              <a:buChar char="•"/>
              <a:defRPr/>
            </a:pPr>
            <a:r>
              <a:rPr lang="en-US" altLang="zh-CN" sz="1600" b="1" noProof="1">
                <a:latin typeface="宋体" panose="02000500000000000000" pitchFamily="2" charset="-122"/>
              </a:rPr>
              <a:t>L1/L2/LLC/</a:t>
            </a:r>
            <a:r>
              <a:rPr lang="zh-CN" altLang="en-US" sz="1600" b="1" noProof="1">
                <a:latin typeface="宋体" panose="02000500000000000000" pitchFamily="2" charset="-122"/>
              </a:rPr>
              <a:t>内存控制器均需要相关访存队列（或分成</a:t>
            </a:r>
            <a:r>
              <a:rPr lang="en-US" altLang="zh-CN" sz="1600" b="1" noProof="1">
                <a:latin typeface="宋体" panose="02000500000000000000" pitchFamily="2" charset="-122"/>
              </a:rPr>
              <a:t>Load</a:t>
            </a:r>
            <a:r>
              <a:rPr lang="zh-CN" altLang="en-US" sz="1600" b="1" noProof="1">
                <a:latin typeface="宋体" panose="02000500000000000000" pitchFamily="2" charset="-122"/>
              </a:rPr>
              <a:t>和</a:t>
            </a:r>
            <a:r>
              <a:rPr lang="en-US" altLang="zh-CN" sz="1600" b="1" noProof="1">
                <a:latin typeface="宋体" panose="02000500000000000000" pitchFamily="2" charset="-122"/>
              </a:rPr>
              <a:t>Store</a:t>
            </a:r>
            <a:r>
              <a:rPr lang="zh-CN" altLang="en-US" sz="1600" b="1" noProof="1">
                <a:latin typeface="宋体" panose="02000500000000000000" pitchFamily="2" charset="-122"/>
              </a:rPr>
              <a:t>队列）来实现非阻塞访问，即前面访存指令由于</a:t>
            </a:r>
            <a:r>
              <a:rPr lang="en-US" altLang="zh-CN" sz="1600" b="1" noProof="1">
                <a:latin typeface="宋体" panose="02000500000000000000" pitchFamily="2" charset="-122"/>
              </a:rPr>
              <a:t>Cache</a:t>
            </a:r>
            <a:r>
              <a:rPr lang="zh-CN" altLang="en-US" sz="1600" b="1" noProof="1">
                <a:latin typeface="宋体" panose="02000500000000000000" pitchFamily="2" charset="-122"/>
              </a:rPr>
              <a:t>失效或地址相关等原因阻塞时，后续访存指令可以继续访问；</a:t>
            </a:r>
            <a:r>
              <a:rPr lang="zh-CN" altLang="en-US" sz="1600" b="1" noProof="1">
                <a:solidFill>
                  <a:schemeClr val="accent2"/>
                </a:solidFill>
                <a:latin typeface="宋体" panose="02000500000000000000" pitchFamily="2" charset="-122"/>
              </a:rPr>
              <a:t>访存队列比保留栈要复杂得多（地址相关比较位数多、跨</a:t>
            </a:r>
            <a:r>
              <a:rPr lang="en-US" altLang="zh-CN" sz="1600" b="1" noProof="1">
                <a:solidFill>
                  <a:schemeClr val="accent2"/>
                </a:solidFill>
                <a:latin typeface="宋体" panose="02000500000000000000" pitchFamily="2" charset="-122"/>
              </a:rPr>
              <a:t>Cache</a:t>
            </a:r>
            <a:r>
              <a:rPr lang="zh-CN" altLang="en-US" sz="1600" b="1" noProof="1">
                <a:solidFill>
                  <a:schemeClr val="accent2"/>
                </a:solidFill>
                <a:latin typeface="宋体" panose="02000500000000000000" pitchFamily="2" charset="-122"/>
              </a:rPr>
              <a:t>航访问等）</a:t>
            </a:r>
            <a:endParaRPr lang="zh-CN" altLang="en-US" sz="1600" b="1" noProof="1">
              <a:latin typeface="宋体" panose="02000500000000000000" pitchFamily="2" charset="-122"/>
            </a:endParaRPr>
          </a:p>
          <a:p>
            <a:pPr marL="742950" lvl="1" indent="-285750">
              <a:lnSpc>
                <a:spcPct val="150000"/>
              </a:lnSpc>
              <a:spcBef>
                <a:spcPct val="0"/>
              </a:spcBef>
              <a:buFontTx/>
              <a:buChar char="•"/>
              <a:defRPr/>
            </a:pPr>
            <a:r>
              <a:rPr lang="zh-CN" altLang="en-US" sz="1600" b="1" noProof="1">
                <a:latin typeface="宋体" panose="02000500000000000000" pitchFamily="2" charset="-122"/>
              </a:rPr>
              <a:t>龙芯</a:t>
            </a:r>
            <a:r>
              <a:rPr lang="en-US" altLang="zh-CN" sz="1600" b="1" noProof="1">
                <a:latin typeface="宋体" panose="02000500000000000000" pitchFamily="2" charset="-122"/>
              </a:rPr>
              <a:t>2</a:t>
            </a:r>
            <a:r>
              <a:rPr lang="zh-CN" altLang="en-US" sz="1600" b="1" noProof="1">
                <a:latin typeface="宋体" panose="02000500000000000000" pitchFamily="2" charset="-122"/>
              </a:rPr>
              <a:t>号支持</a:t>
            </a:r>
            <a:r>
              <a:rPr lang="en-US" altLang="zh-CN" sz="1600" b="1" noProof="1">
                <a:latin typeface="宋体" panose="02000500000000000000" pitchFamily="2" charset="-122"/>
              </a:rPr>
              <a:t>24</a:t>
            </a:r>
            <a:r>
              <a:rPr lang="zh-CN" altLang="en-US" sz="1600" b="1" noProof="1">
                <a:latin typeface="宋体" panose="02000500000000000000" pitchFamily="2" charset="-122"/>
              </a:rPr>
              <a:t>个</a:t>
            </a:r>
            <a:r>
              <a:rPr lang="en-US" altLang="zh-CN" sz="1600" b="1" noProof="1">
                <a:latin typeface="宋体" panose="02000500000000000000" pitchFamily="2" charset="-122"/>
              </a:rPr>
              <a:t>L1</a:t>
            </a:r>
            <a:r>
              <a:rPr lang="zh-CN" altLang="en-US" sz="1600" b="1" noProof="1">
                <a:latin typeface="宋体" panose="02000500000000000000" pitchFamily="2" charset="-122"/>
              </a:rPr>
              <a:t>非阻塞访问，</a:t>
            </a:r>
            <a:r>
              <a:rPr lang="en-US" altLang="zh-CN" sz="1600" b="1" noProof="1">
                <a:latin typeface="宋体" panose="02000500000000000000" pitchFamily="2" charset="-122"/>
              </a:rPr>
              <a:t>8</a:t>
            </a:r>
            <a:r>
              <a:rPr lang="zh-CN" altLang="en-US" sz="1600" b="1" noProof="1">
                <a:latin typeface="宋体" panose="02000500000000000000" pitchFamily="2" charset="-122"/>
              </a:rPr>
              <a:t>个</a:t>
            </a:r>
            <a:r>
              <a:rPr lang="en-US" altLang="zh-CN" sz="1600" b="1" noProof="1">
                <a:latin typeface="宋体" panose="02000500000000000000" pitchFamily="2" charset="-122"/>
              </a:rPr>
              <a:t>L2</a:t>
            </a:r>
            <a:r>
              <a:rPr lang="zh-CN" altLang="en-US" sz="1600" b="1" noProof="1">
                <a:latin typeface="宋体" panose="02000500000000000000" pitchFamily="2" charset="-122"/>
              </a:rPr>
              <a:t>非阻塞访问</a:t>
            </a:r>
            <a:endParaRPr lang="zh-CN" altLang="en-US" sz="1600" b="1" noProof="1">
              <a:latin typeface="宋体" panose="02000500000000000000" pitchFamily="2" charset="-122"/>
            </a:endParaRPr>
          </a:p>
          <a:p>
            <a:pPr marL="0" lvl="1" indent="-285750">
              <a:lnSpc>
                <a:spcPct val="150000"/>
              </a:lnSpc>
              <a:spcBef>
                <a:spcPct val="0"/>
              </a:spcBef>
              <a:buFontTx/>
              <a:buChar char="•"/>
              <a:defRPr/>
            </a:pPr>
            <a:r>
              <a:rPr lang="zh-CN" altLang="en-US" sz="1800" b="1" noProof="1">
                <a:latin typeface="宋体" panose="02000500000000000000" pitchFamily="2" charset="-122"/>
                <a:sym typeface="+mn-ea"/>
              </a:rPr>
              <a:t>用于实现非阻塞访存的访存队列项数是体现</a:t>
            </a:r>
            <a:r>
              <a:rPr lang="en-US" altLang="zh-CN" sz="1800" b="1" noProof="1">
                <a:latin typeface="宋体" panose="02000500000000000000" pitchFamily="2" charset="-122"/>
                <a:sym typeface="+mn-ea"/>
              </a:rPr>
              <a:t>CPU</a:t>
            </a:r>
            <a:r>
              <a:rPr lang="zh-CN" altLang="en-US" sz="1800" b="1" noProof="1">
                <a:latin typeface="宋体" panose="02000500000000000000" pitchFamily="2" charset="-122"/>
                <a:sym typeface="+mn-ea"/>
              </a:rPr>
              <a:t>性能的重要指标</a:t>
            </a:r>
            <a:endParaRPr lang="zh-CN" altLang="en-US" sz="1800" b="1" noProof="1">
              <a:latin typeface="宋体" panose="02000500000000000000" pitchFamily="2" charset="-122"/>
            </a:endParaRPr>
          </a:p>
          <a:p>
            <a:pPr marL="742950" lvl="1" indent="-285750">
              <a:lnSpc>
                <a:spcPct val="150000"/>
              </a:lnSpc>
              <a:spcBef>
                <a:spcPct val="0"/>
              </a:spcBef>
              <a:buFontTx/>
              <a:buChar char="•"/>
              <a:defRPr/>
            </a:pPr>
            <a:endParaRPr lang="zh-CN" altLang="en-US" sz="1800" b="1" noProof="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p:cNvSpPr>
            <a:spLocks noGrp="1" noChangeArrowheads="1"/>
          </p:cNvSpPr>
          <p:nvPr>
            <p:ph type="sldNum" sz="quarter" idx="12"/>
          </p:nvPr>
        </p:nvSpPr>
        <p:spPr>
          <a:noFill/>
        </p:spPr>
        <p:txBody>
          <a:bodyPr/>
          <a:lstStyle/>
          <a:p>
            <a:fld id="{0CD603DD-942C-4A72-ACAD-E88F93E5EDFA}" type="slidenum">
              <a:rPr lang="en-US" altLang="zh-CN" smtClean="0"/>
            </a:fld>
            <a:endParaRPr lang="en-US" altLang="zh-CN" smtClean="0"/>
          </a:p>
        </p:txBody>
      </p:sp>
      <p:pic>
        <p:nvPicPr>
          <p:cNvPr id="56323" name="Picture 2"/>
          <p:cNvPicPr>
            <a:picLocks noChangeAspect="1" noChangeArrowheads="1"/>
          </p:cNvPicPr>
          <p:nvPr/>
        </p:nvPicPr>
        <p:blipFill>
          <a:blip r:embed="rId1" cstate="print"/>
          <a:srcRect/>
          <a:stretch>
            <a:fillRect/>
          </a:stretch>
        </p:blipFill>
        <p:spPr bwMode="auto">
          <a:xfrm>
            <a:off x="1308100" y="1177925"/>
            <a:ext cx="9963150" cy="5611813"/>
          </a:xfrm>
          <a:prstGeom prst="rect">
            <a:avLst/>
          </a:prstGeom>
          <a:noFill/>
          <a:ln w="9525">
            <a:noFill/>
            <a:miter lim="800000"/>
            <a:headEnd/>
            <a:tailEnd/>
          </a:ln>
        </p:spPr>
      </p:pic>
      <p:sp>
        <p:nvSpPr>
          <p:cNvPr id="56324" name="Rectangle 46"/>
          <p:cNvSpPr>
            <a:spLocks noChangeArrowheads="1"/>
          </p:cNvSpPr>
          <p:nvPr/>
        </p:nvSpPr>
        <p:spPr bwMode="auto">
          <a:xfrm>
            <a:off x="914400" y="227013"/>
            <a:ext cx="10361613" cy="635000"/>
          </a:xfrm>
          <a:prstGeom prst="rect">
            <a:avLst/>
          </a:prstGeom>
          <a:noFill/>
          <a:ln w="9525">
            <a:noFill/>
            <a:miter lim="800000"/>
          </a:ln>
        </p:spPr>
        <p:txBody>
          <a:bodyPr anchor="ctr"/>
          <a:lstStyle/>
          <a:p>
            <a:pPr algn="ctr"/>
            <a:r>
              <a:rPr lang="en-US" altLang="zh-CN" sz="3600">
                <a:solidFill>
                  <a:srgbClr val="FF3300"/>
                </a:solidFill>
                <a:ea typeface="黑体" panose="02000500000000000000" pitchFamily="49" charset="-122"/>
              </a:rPr>
              <a:t>Intel</a:t>
            </a:r>
            <a:r>
              <a:rPr lang="zh-CN" altLang="en-US" sz="3600">
                <a:solidFill>
                  <a:srgbClr val="FF3300"/>
                </a:solidFill>
                <a:ea typeface="黑体" panose="02000500000000000000" pitchFamily="49" charset="-122"/>
              </a:rPr>
              <a:t>公司</a:t>
            </a:r>
            <a:r>
              <a:rPr lang="en-US" altLang="zh-CN" sz="3600">
                <a:solidFill>
                  <a:srgbClr val="FF3300"/>
                </a:solidFill>
                <a:ea typeface="黑体" panose="02000500000000000000" pitchFamily="49" charset="-122"/>
              </a:rPr>
              <a:t>Haswell</a:t>
            </a:r>
            <a:r>
              <a:rPr lang="zh-CN" altLang="en-US" sz="3600">
                <a:solidFill>
                  <a:srgbClr val="FF3300"/>
                </a:solidFill>
                <a:ea typeface="黑体" panose="02000500000000000000" pitchFamily="49" charset="-122"/>
              </a:rPr>
              <a:t>处理器的队列大小</a:t>
            </a:r>
            <a:endParaRPr lang="zh-CN" altLang="en-US" sz="3600">
              <a:solidFill>
                <a:srgbClr val="FF3300"/>
              </a:solidFill>
              <a:ea typeface="黑体" panose="02000500000000000000" pitchFamily="49" charset="-122"/>
            </a:endParaRPr>
          </a:p>
        </p:txBody>
      </p:sp>
      <p:sp>
        <p:nvSpPr>
          <p:cNvPr id="2" name="圆角矩形 1"/>
          <p:cNvSpPr>
            <a:spLocks noChangeArrowheads="1"/>
          </p:cNvSpPr>
          <p:nvPr/>
        </p:nvSpPr>
        <p:spPr bwMode="auto">
          <a:xfrm>
            <a:off x="1484313" y="3406775"/>
            <a:ext cx="8877300" cy="831850"/>
          </a:xfrm>
          <a:prstGeom prst="roundRect">
            <a:avLst>
              <a:gd name="adj" fmla="val 16667"/>
            </a:avLst>
          </a:prstGeom>
          <a:noFill/>
          <a:ln w="38100">
            <a:solidFill>
              <a:srgbClr val="FF0000"/>
            </a:solidFill>
            <a:rou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 calcmode="lin" valueType="num">
                                      <p:cBhvr additive="base">
                                        <p:cTn id="7" dur="500" fill="hold"/>
                                        <p:tgtEl>
                                          <p:spTgt spid="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nodePh="1">
                                  <p:stCondLst>
                                    <p:cond delay="0"/>
                                  </p:stCondLst>
                                  <p:endCondLst>
                                    <p:cond evt="begin" delay="0">
                                      <p:tn val="11"/>
                                    </p:cond>
                                  </p:end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autoUpdateAnimBg="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325" y="438150"/>
            <a:ext cx="10361613" cy="1143000"/>
          </a:xfrm>
        </p:spPr>
        <p:txBody>
          <a:bodyPr/>
          <a:lstStyle/>
          <a:p>
            <a:pPr>
              <a:defRPr/>
            </a:pPr>
            <a:r>
              <a:rPr lang="zh-CN" altLang="en-US" dirty="0" smtClean="0">
                <a:latin typeface="+mj-ea"/>
              </a:rPr>
              <a:t>龙芯</a:t>
            </a:r>
            <a:r>
              <a:rPr lang="en-US" altLang="zh-CN" dirty="0" smtClean="0">
                <a:latin typeface="+mj-ea"/>
              </a:rPr>
              <a:t>LA664</a:t>
            </a:r>
            <a:r>
              <a:rPr lang="zh-CN" altLang="en-US" dirty="0" smtClean="0">
                <a:latin typeface="+mj-ea"/>
              </a:rPr>
              <a:t>队列大小</a:t>
            </a:r>
            <a:endParaRPr lang="zh-CN" altLang="en-US" dirty="0">
              <a:latin typeface="+mj-ea"/>
            </a:endParaRPr>
          </a:p>
        </p:txBody>
      </p:sp>
      <p:graphicFrame>
        <p:nvGraphicFramePr>
          <p:cNvPr id="3" name="内容占位符 3"/>
          <p:cNvGraphicFramePr/>
          <p:nvPr/>
        </p:nvGraphicFramePr>
        <p:xfrm>
          <a:off x="1497013" y="1562100"/>
          <a:ext cx="8785596" cy="4289697"/>
        </p:xfrm>
        <a:graphic>
          <a:graphicData uri="http://schemas.openxmlformats.org/drawingml/2006/table">
            <a:tbl>
              <a:tblPr firstRow="1" bandRow="1">
                <a:tableStyleId>{5C22544A-7EE6-4342-B048-85BDC9FD1C3A}</a:tableStyleId>
              </a:tblPr>
              <a:tblGrid>
                <a:gridCol w="5020341"/>
                <a:gridCol w="1939677"/>
                <a:gridCol w="1825578"/>
              </a:tblGrid>
              <a:tr h="476633">
                <a:tc>
                  <a:txBody>
                    <a:bodyPr/>
                    <a:lstStyle/>
                    <a:p>
                      <a:pPr>
                        <a:buNone/>
                      </a:pPr>
                      <a:endParaRPr lang="zh-CN" altLang="en-US" sz="1800" b="1" dirty="0">
                        <a:latin typeface="+mn-ea"/>
                        <a:ea typeface="+mn-ea"/>
                      </a:endParaRPr>
                    </a:p>
                  </a:txBody>
                  <a:tcPr/>
                </a:tc>
                <a:tc>
                  <a:txBody>
                    <a:bodyPr/>
                    <a:lstStyle/>
                    <a:p>
                      <a:pPr algn="ctr">
                        <a:buNone/>
                      </a:pPr>
                      <a:r>
                        <a:rPr lang="en-US" altLang="zh-CN" sz="1800" b="1" dirty="0">
                          <a:solidFill>
                            <a:schemeClr val="accent2"/>
                          </a:solidFill>
                          <a:latin typeface="+mn-ea"/>
                          <a:ea typeface="+mn-ea"/>
                        </a:rPr>
                        <a:t>LA464V</a:t>
                      </a:r>
                      <a:endParaRPr lang="en-US" altLang="zh-CN" sz="1800" b="1" dirty="0">
                        <a:solidFill>
                          <a:schemeClr val="accent2"/>
                        </a:solidFill>
                        <a:latin typeface="+mn-ea"/>
                        <a:ea typeface="+mn-ea"/>
                      </a:endParaRPr>
                    </a:p>
                  </a:txBody>
                  <a:tcPr anchor="ctr"/>
                </a:tc>
                <a:tc>
                  <a:txBody>
                    <a:bodyPr/>
                    <a:lstStyle/>
                    <a:p>
                      <a:pPr algn="ctr">
                        <a:buNone/>
                      </a:pPr>
                      <a:r>
                        <a:rPr lang="en-US" altLang="zh-CN" sz="1800" b="1">
                          <a:solidFill>
                            <a:srgbClr val="FF0000"/>
                          </a:solidFill>
                          <a:latin typeface="+mn-ea"/>
                          <a:ea typeface="+mn-ea"/>
                        </a:rPr>
                        <a:t>LA664</a:t>
                      </a:r>
                      <a:endParaRPr lang="en-US" altLang="zh-CN" sz="1800" b="1">
                        <a:solidFill>
                          <a:srgbClr val="FF0000"/>
                        </a:solidFill>
                        <a:latin typeface="+mn-ea"/>
                        <a:ea typeface="+mn-ea"/>
                      </a:endParaRPr>
                    </a:p>
                  </a:txBody>
                  <a:tcPr anchor="ctr"/>
                </a:tc>
              </a:tr>
              <a:tr h="476633">
                <a:tc>
                  <a:txBody>
                    <a:bodyPr/>
                    <a:lstStyle/>
                    <a:p>
                      <a:pPr marL="161925">
                        <a:buNone/>
                      </a:pPr>
                      <a:r>
                        <a:rPr lang="zh-CN" altLang="en-US" sz="1800" b="1" dirty="0">
                          <a:latin typeface="+mn-ea"/>
                          <a:ea typeface="+mn-ea"/>
                        </a:rPr>
                        <a:t>发射宽度</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4</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6</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ROB</a:t>
                      </a:r>
                      <a:r>
                        <a:rPr lang="zh-CN" altLang="en-US" sz="1800" b="1" dirty="0">
                          <a:latin typeface="+mn-ea"/>
                          <a:ea typeface="+mn-ea"/>
                        </a:rPr>
                        <a:t>项数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256</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定点物理寄存器数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192</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向量物理寄存器数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a:solidFill>
                            <a:srgbClr val="FF0000"/>
                          </a:solidFill>
                          <a:latin typeface="+mn-ea"/>
                          <a:ea typeface="+mn-ea"/>
                        </a:rPr>
                        <a:t>192</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发射队列</a:t>
                      </a:r>
                      <a:r>
                        <a:rPr lang="zh-CN" altLang="en-US" sz="1800" b="1" dirty="0" smtClean="0">
                          <a:latin typeface="+mn-ea"/>
                          <a:ea typeface="+mn-ea"/>
                        </a:rPr>
                        <a:t>项数（访存</a:t>
                      </a:r>
                      <a:r>
                        <a:rPr lang="en-US" altLang="zh-CN" sz="1800" b="1" dirty="0" smtClean="0">
                          <a:latin typeface="+mn-ea"/>
                          <a:ea typeface="+mn-ea"/>
                        </a:rPr>
                        <a:t>+</a:t>
                      </a:r>
                      <a:r>
                        <a:rPr lang="zh-CN" altLang="en-US" sz="1800" b="1" dirty="0" smtClean="0">
                          <a:latin typeface="+mn-ea"/>
                          <a:ea typeface="+mn-ea"/>
                        </a:rPr>
                        <a:t>定点</a:t>
                      </a:r>
                      <a:r>
                        <a:rPr lang="en-US" altLang="zh-CN" sz="1800" b="1" dirty="0" smtClean="0">
                          <a:latin typeface="+mn-ea"/>
                          <a:ea typeface="+mn-ea"/>
                        </a:rPr>
                        <a:t>+</a:t>
                      </a:r>
                      <a:r>
                        <a:rPr lang="zh-CN" altLang="en-US" sz="1800" b="1" dirty="0" smtClean="0">
                          <a:latin typeface="+mn-ea"/>
                          <a:ea typeface="+mn-ea"/>
                        </a:rPr>
                        <a:t>向量）</a:t>
                      </a:r>
                      <a:endParaRPr lang="zh-CN" altLang="en-US" sz="1800" b="1" dirty="0">
                        <a:latin typeface="+mn-ea"/>
                        <a:ea typeface="+mn-ea"/>
                      </a:endParaRPr>
                    </a:p>
                  </a:txBody>
                  <a:tcPr marL="36000" marR="36000" anchor="ctr"/>
                </a:tc>
                <a:tc>
                  <a:txBody>
                    <a:bodyPr/>
                    <a:lstStyle/>
                    <a:p>
                      <a:pPr algn="ctr">
                        <a:buNone/>
                      </a:pPr>
                      <a:r>
                        <a:rPr lang="en-US" altLang="zh-CN" sz="1800" b="1" dirty="0" smtClean="0">
                          <a:solidFill>
                            <a:schemeClr val="accent2"/>
                          </a:solidFill>
                          <a:latin typeface="+mn-ea"/>
                          <a:ea typeface="+mn-ea"/>
                        </a:rPr>
                        <a:t>32+32+32</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48+48+48</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smtClean="0">
                          <a:latin typeface="+mn-ea"/>
                          <a:ea typeface="+mn-ea"/>
                        </a:rPr>
                        <a:t>功能部件数（访存</a:t>
                      </a:r>
                      <a:r>
                        <a:rPr lang="en-US" altLang="zh-CN" sz="1800" b="1" dirty="0" smtClean="0">
                          <a:latin typeface="+mn-ea"/>
                          <a:ea typeface="+mn-ea"/>
                        </a:rPr>
                        <a:t>+</a:t>
                      </a:r>
                      <a:r>
                        <a:rPr lang="zh-CN" altLang="en-US" sz="1800" b="1" dirty="0" smtClean="0">
                          <a:latin typeface="+mn-ea"/>
                          <a:ea typeface="+mn-ea"/>
                        </a:rPr>
                        <a:t>定点</a:t>
                      </a:r>
                      <a:r>
                        <a:rPr lang="en-US" altLang="zh-CN" sz="1800" b="1" dirty="0" smtClean="0">
                          <a:latin typeface="+mn-ea"/>
                          <a:ea typeface="+mn-ea"/>
                        </a:rPr>
                        <a:t>+</a:t>
                      </a:r>
                      <a:r>
                        <a:rPr lang="zh-CN" altLang="en-US" sz="1800" b="1" dirty="0" smtClean="0">
                          <a:latin typeface="+mn-ea"/>
                          <a:ea typeface="+mn-ea"/>
                        </a:rPr>
                        <a:t>向量）</a:t>
                      </a:r>
                      <a:endParaRPr lang="zh-CN" altLang="en-US" sz="1800" b="1" dirty="0">
                        <a:latin typeface="+mn-ea"/>
                        <a:ea typeface="+mn-ea"/>
                      </a:endParaRPr>
                    </a:p>
                  </a:txBody>
                  <a:tcPr marL="36000" marR="36000" anchor="ctr"/>
                </a:tc>
                <a:tc>
                  <a:txBody>
                    <a:bodyPr/>
                    <a:lstStyle/>
                    <a:p>
                      <a:pPr algn="ctr">
                        <a:buNone/>
                      </a:pPr>
                      <a:r>
                        <a:rPr lang="en-US" altLang="zh-CN" sz="1800" b="1" dirty="0" smtClean="0">
                          <a:solidFill>
                            <a:schemeClr val="accent2"/>
                          </a:solidFill>
                          <a:latin typeface="+mn-ea"/>
                          <a:ea typeface="+mn-ea"/>
                        </a:rPr>
                        <a:t>2+4+2</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4+4+4</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load</a:t>
                      </a:r>
                      <a:r>
                        <a:rPr lang="zh-CN" altLang="en-US" sz="1800" b="1" dirty="0">
                          <a:latin typeface="+mn-ea"/>
                          <a:ea typeface="+mn-ea"/>
                        </a:rPr>
                        <a:t>队列项数</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64</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80</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store</a:t>
                      </a:r>
                      <a:r>
                        <a:rPr lang="zh-CN" altLang="en-US" sz="1800" b="1" dirty="0">
                          <a:latin typeface="+mn-ea"/>
                          <a:ea typeface="+mn-ea"/>
                        </a:rPr>
                        <a:t>队列项数</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48</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dirty="0">
                          <a:solidFill>
                            <a:srgbClr val="FF0000"/>
                          </a:solidFill>
                          <a:latin typeface="+mn-ea"/>
                          <a:ea typeface="+mn-ea"/>
                        </a:rPr>
                        <a:t>64</a:t>
                      </a:r>
                      <a:endParaRPr lang="en-US" altLang="zh-CN" sz="1800" b="1" dirty="0">
                        <a:solidFill>
                          <a:srgbClr val="FF0000"/>
                        </a:solidFill>
                        <a:latin typeface="+mn-ea"/>
                        <a:ea typeface="+mn-ea"/>
                      </a:endParaRPr>
                    </a:p>
                  </a:txBody>
                  <a:tcPr marL="36000" marR="36000" anchor="ctr"/>
                </a:tc>
              </a:tr>
            </a:tbl>
          </a:graphicData>
        </a:graphic>
      </p:graphicFrame>
      <p:sp>
        <p:nvSpPr>
          <p:cNvPr id="4" name="圆角矩形 3"/>
          <p:cNvSpPr>
            <a:spLocks noChangeArrowheads="1"/>
          </p:cNvSpPr>
          <p:nvPr/>
        </p:nvSpPr>
        <p:spPr bwMode="auto">
          <a:xfrm>
            <a:off x="1484313" y="4956175"/>
            <a:ext cx="8877300" cy="831850"/>
          </a:xfrm>
          <a:prstGeom prst="roundRect">
            <a:avLst>
              <a:gd name="adj" fmla="val 16667"/>
            </a:avLst>
          </a:prstGeom>
          <a:noFill/>
          <a:ln w="38100">
            <a:solidFill>
              <a:srgbClr val="FF0000"/>
            </a:solidFill>
            <a:rou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nodePh="1">
                                  <p:stCondLst>
                                    <p:cond delay="0"/>
                                  </p:stCondLst>
                                  <p:endCondLst>
                                    <p:cond evt="begin" delay="0">
                                      <p:tn val="11"/>
                                    </p:cond>
                                  </p:end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noChangeArrowheads="1"/>
          </p:cNvSpPr>
          <p:nvPr>
            <p:ph type="sldNum" sz="quarter" idx="12"/>
          </p:nvPr>
        </p:nvSpPr>
        <p:spPr>
          <a:noFill/>
        </p:spPr>
        <p:txBody>
          <a:bodyPr/>
          <a:lstStyle/>
          <a:p>
            <a:fld id="{18E27BAC-4E47-47DB-AF02-FB731554AEEE}" type="slidenum">
              <a:rPr lang="en-US" altLang="zh-CN" smtClean="0"/>
            </a:fld>
            <a:endParaRPr lang="en-US" altLang="zh-CN" smtClean="0"/>
          </a:p>
        </p:txBody>
      </p:sp>
      <p:pic>
        <p:nvPicPr>
          <p:cNvPr id="57347" name="Picture 2" descr="841286100824181"/>
          <p:cNvPicPr>
            <a:picLocks noChangeAspect="1" noChangeArrowheads="1"/>
          </p:cNvPicPr>
          <p:nvPr/>
        </p:nvPicPr>
        <p:blipFill>
          <a:blip r:embed="rId1" cstate="print"/>
          <a:srcRect/>
          <a:stretch>
            <a:fillRect/>
          </a:stretch>
        </p:blipFill>
        <p:spPr bwMode="auto">
          <a:xfrm>
            <a:off x="563563" y="1306513"/>
            <a:ext cx="11123612" cy="5173662"/>
          </a:xfrm>
          <a:prstGeom prst="rect">
            <a:avLst/>
          </a:prstGeom>
          <a:noFill/>
          <a:ln w="9525">
            <a:noFill/>
            <a:miter lim="800000"/>
            <a:headEnd/>
            <a:tailEnd/>
          </a:ln>
        </p:spPr>
      </p:pic>
      <p:sp>
        <p:nvSpPr>
          <p:cNvPr id="57348" name="Rectangle 3"/>
          <p:cNvSpPr>
            <a:spLocks noChangeArrowheads="1"/>
          </p:cNvSpPr>
          <p:nvPr/>
        </p:nvSpPr>
        <p:spPr bwMode="auto">
          <a:xfrm>
            <a:off x="914400" y="95250"/>
            <a:ext cx="10361613" cy="1143000"/>
          </a:xfrm>
          <a:prstGeom prst="rect">
            <a:avLst/>
          </a:prstGeom>
          <a:noFill/>
          <a:ln w="9525">
            <a:noFill/>
            <a:miter lim="800000"/>
          </a:ln>
        </p:spPr>
        <p:txBody>
          <a:bodyPr anchor="ctr"/>
          <a:lstStyle/>
          <a:p>
            <a:pPr algn="ctr"/>
            <a:r>
              <a:rPr lang="zh-CN" altLang="en-US" sz="3600">
                <a:solidFill>
                  <a:srgbClr val="FF3300"/>
                </a:solidFill>
                <a:ea typeface="黑体" panose="02000500000000000000" pitchFamily="49" charset="-122"/>
              </a:rPr>
              <a:t>龙芯</a:t>
            </a:r>
            <a:r>
              <a:rPr lang="en-US" altLang="zh-CN" sz="3600">
                <a:solidFill>
                  <a:srgbClr val="FF3300"/>
                </a:solidFill>
                <a:ea typeface="黑体" panose="02000500000000000000" pitchFamily="49" charset="-122"/>
              </a:rPr>
              <a:t>2</a:t>
            </a:r>
            <a:r>
              <a:rPr lang="zh-CN" altLang="en-US" sz="3600">
                <a:solidFill>
                  <a:srgbClr val="FF3300"/>
                </a:solidFill>
                <a:ea typeface="黑体" panose="02000500000000000000" pitchFamily="49" charset="-122"/>
              </a:rPr>
              <a:t>号处理器核结构图</a:t>
            </a:r>
            <a:endParaRPr lang="zh-CN" altLang="en-US" sz="3600">
              <a:solidFill>
                <a:srgbClr val="FF3300"/>
              </a:solidFill>
              <a:ea typeface="黑体" panose="02000500000000000000" pitchFamily="49" charset="-122"/>
            </a:endParaRPr>
          </a:p>
        </p:txBody>
      </p:sp>
      <p:sp>
        <p:nvSpPr>
          <p:cNvPr id="57349" name="椭圆 4"/>
          <p:cNvSpPr>
            <a:spLocks noChangeArrowheads="1"/>
          </p:cNvSpPr>
          <p:nvPr/>
        </p:nvSpPr>
        <p:spPr bwMode="auto">
          <a:xfrm>
            <a:off x="5241925" y="5622925"/>
            <a:ext cx="3189288" cy="460375"/>
          </a:xfrm>
          <a:prstGeom prst="ellipse">
            <a:avLst/>
          </a:prstGeom>
          <a:noFill/>
          <a:ln w="38100">
            <a:solidFill>
              <a:srgbClr val="FF0000"/>
            </a:solidFill>
            <a:round/>
          </a:ln>
        </p:spPr>
        <p:txBody>
          <a:bodyPr/>
          <a:lstStyle/>
          <a:p>
            <a:endParaRPr lang="zh-CN" altLang="en-US"/>
          </a:p>
        </p:txBody>
      </p:sp>
      <p:sp>
        <p:nvSpPr>
          <p:cNvPr id="57350" name="椭圆 7"/>
          <p:cNvSpPr>
            <a:spLocks noChangeArrowheads="1"/>
          </p:cNvSpPr>
          <p:nvPr/>
        </p:nvSpPr>
        <p:spPr bwMode="auto">
          <a:xfrm>
            <a:off x="10750550" y="2371725"/>
            <a:ext cx="936625" cy="2624138"/>
          </a:xfrm>
          <a:prstGeom prst="ellipse">
            <a:avLst/>
          </a:prstGeom>
          <a:noFill/>
          <a:ln w="38100">
            <a:solidFill>
              <a:srgbClr val="FF3300"/>
            </a:solidFill>
            <a:round/>
          </a:ln>
        </p:spPr>
        <p:txBody>
          <a:bodyPr/>
          <a:lstStyle/>
          <a:p>
            <a:endParaRPr lang="zh-CN" altLang="en-US">
              <a:solidFill>
                <a:schemeClr val="accent2"/>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noChangeArrowheads="1"/>
          </p:cNvSpPr>
          <p:nvPr>
            <p:ph type="sldNum" sz="quarter" idx="12"/>
          </p:nvPr>
        </p:nvSpPr>
        <p:spPr>
          <a:noFill/>
        </p:spPr>
        <p:txBody>
          <a:bodyPr/>
          <a:lstStyle/>
          <a:p>
            <a:fld id="{917B6E95-6949-457F-927D-D15213633366}" type="slidenum">
              <a:rPr lang="en-US" altLang="zh-CN" smtClean="0"/>
            </a:fld>
            <a:endParaRPr lang="en-US" altLang="zh-CN" smtClean="0"/>
          </a:p>
        </p:txBody>
      </p:sp>
      <p:sp>
        <p:nvSpPr>
          <p:cNvPr id="58371" name="Rectangle 4"/>
          <p:cNvSpPr>
            <a:spLocks noChangeArrowheads="1"/>
          </p:cNvSpPr>
          <p:nvPr/>
        </p:nvSpPr>
        <p:spPr bwMode="auto">
          <a:xfrm>
            <a:off x="889000" y="0"/>
            <a:ext cx="10717213" cy="1143000"/>
          </a:xfrm>
          <a:prstGeom prst="rect">
            <a:avLst/>
          </a:prstGeom>
          <a:noFill/>
          <a:ln w="12700">
            <a:noFill/>
            <a:miter lim="800000"/>
          </a:ln>
        </p:spPr>
        <p:txBody>
          <a:bodyPr lIns="90488" tIns="44450" rIns="90488" bIns="44450" anchor="ctr"/>
          <a:lstStyle/>
          <a:p>
            <a:pPr algn="ctr">
              <a:spcBef>
                <a:spcPct val="0"/>
              </a:spcBef>
            </a:pPr>
            <a:r>
              <a:rPr lang="en-US" altLang="zh-CN" sz="3200">
                <a:solidFill>
                  <a:srgbClr val="FF0000"/>
                </a:solidFill>
                <a:latin typeface="Arial" panose="02080604020202020204" pitchFamily="34" charset="0"/>
                <a:ea typeface="黑体" panose="02000500000000000000" pitchFamily="49" charset="-122"/>
              </a:rPr>
              <a:t>SPEC</a:t>
            </a:r>
            <a:r>
              <a:rPr lang="zh-CN" altLang="en-US" sz="3200">
                <a:solidFill>
                  <a:srgbClr val="FF0000"/>
                </a:solidFill>
                <a:latin typeface="Arial" panose="02080604020202020204" pitchFamily="34" charset="0"/>
                <a:ea typeface="黑体" panose="02000500000000000000" pitchFamily="49" charset="-122"/>
              </a:rPr>
              <a:t>程序的非阻塞访存效果</a:t>
            </a:r>
            <a:endParaRPr lang="zh-CN" altLang="en-US" sz="3200">
              <a:solidFill>
                <a:srgbClr val="FF0000"/>
              </a:solidFill>
              <a:latin typeface="Arial" panose="02080604020202020204" pitchFamily="34" charset="0"/>
              <a:ea typeface="黑体" panose="02000500000000000000" pitchFamily="49" charset="-122"/>
            </a:endParaRPr>
          </a:p>
        </p:txBody>
      </p:sp>
      <p:sp>
        <p:nvSpPr>
          <p:cNvPr id="58372" name="Rectangle 5"/>
          <p:cNvSpPr>
            <a:spLocks noChangeArrowheads="1"/>
          </p:cNvSpPr>
          <p:nvPr/>
        </p:nvSpPr>
        <p:spPr bwMode="auto">
          <a:xfrm>
            <a:off x="633413" y="1028700"/>
            <a:ext cx="11320462" cy="1527175"/>
          </a:xfrm>
          <a:prstGeom prst="rect">
            <a:avLst/>
          </a:prstGeom>
          <a:noFill/>
          <a:ln w="12700">
            <a:noFill/>
            <a:miter lim="800000"/>
          </a:ln>
        </p:spPr>
        <p:txBody>
          <a:bodyPr lIns="90488" tIns="44450" rIns="90488" bIns="44450"/>
          <a:lstStyle/>
          <a:p>
            <a:pPr marL="342900" indent="-342900">
              <a:lnSpc>
                <a:spcPct val="150000"/>
              </a:lnSpc>
              <a:spcBef>
                <a:spcPct val="0"/>
              </a:spcBef>
              <a:buFontTx/>
              <a:buChar char="•"/>
            </a:pPr>
            <a:r>
              <a:rPr lang="en-US" altLang="zh-CN" sz="2000" b="1">
                <a:latin typeface="宋体" panose="02000500000000000000" pitchFamily="2" charset="-122"/>
              </a:rPr>
              <a:t>8 KB</a:t>
            </a:r>
            <a:r>
              <a:rPr lang="zh-CN" altLang="en-US" sz="2000" b="1">
                <a:latin typeface="宋体" panose="02000500000000000000" pitchFamily="2" charset="-122"/>
              </a:rPr>
              <a:t>直接相联数据</a:t>
            </a:r>
            <a:r>
              <a:rPr lang="en-US" altLang="zh-CN" sz="2000" b="1">
                <a:latin typeface="宋体" panose="02000500000000000000" pitchFamily="2" charset="-122"/>
              </a:rPr>
              <a:t>Cache</a:t>
            </a:r>
            <a:r>
              <a:rPr lang="zh-CN" altLang="en-US" sz="2000" b="1">
                <a:latin typeface="宋体" panose="02000500000000000000" pitchFamily="2" charset="-122"/>
              </a:rPr>
              <a:t>，块大小</a:t>
            </a:r>
            <a:r>
              <a:rPr lang="en-US" altLang="zh-CN" sz="2000" b="1">
                <a:latin typeface="宋体" panose="02000500000000000000" pitchFamily="2" charset="-122"/>
              </a:rPr>
              <a:t>32</a:t>
            </a:r>
            <a:r>
              <a:rPr lang="zh-CN" altLang="en-US" sz="2000" b="1">
                <a:latin typeface="宋体" panose="02000500000000000000" pitchFamily="2" charset="-122"/>
              </a:rPr>
              <a:t>字节，失效延迟</a:t>
            </a:r>
            <a:r>
              <a:rPr lang="en-US" altLang="zh-CN" sz="2000" b="1">
                <a:latin typeface="宋体" panose="02000500000000000000" pitchFamily="2" charset="-122"/>
              </a:rPr>
              <a:t>16</a:t>
            </a:r>
            <a:r>
              <a:rPr lang="zh-CN" altLang="en-US" sz="2000" b="1">
                <a:latin typeface="宋体" panose="02000500000000000000" pitchFamily="2" charset="-122"/>
              </a:rPr>
              <a:t>拍</a:t>
            </a:r>
            <a:endParaRPr lang="zh-CN" altLang="en-US" sz="20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浮点程序</a:t>
            </a:r>
            <a:r>
              <a:rPr lang="en-US" altLang="zh-CN" sz="1800" b="1">
                <a:latin typeface="宋体" panose="02000500000000000000" pitchFamily="2" charset="-122"/>
              </a:rPr>
              <a:t>AMAT= 0.68 -&gt; 0.52 -&gt; 0.34 -&gt; 0.26</a:t>
            </a:r>
            <a:endParaRPr lang="en-US" altLang="zh-CN" sz="1800" b="1">
              <a:latin typeface="宋体" panose="02000500000000000000" pitchFamily="2" charset="-122"/>
            </a:endParaRPr>
          </a:p>
          <a:p>
            <a:pPr marL="742950" lvl="1" indent="-285750">
              <a:lnSpc>
                <a:spcPct val="150000"/>
              </a:lnSpc>
              <a:spcBef>
                <a:spcPct val="0"/>
              </a:spcBef>
              <a:buFontTx/>
              <a:buChar char="•"/>
            </a:pPr>
            <a:r>
              <a:rPr lang="zh-CN" altLang="en-US" sz="1800" b="1">
                <a:latin typeface="宋体" panose="02000500000000000000" pitchFamily="2" charset="-122"/>
              </a:rPr>
              <a:t>定点程序</a:t>
            </a:r>
            <a:r>
              <a:rPr lang="en-US" altLang="zh-CN" sz="1800" b="1">
                <a:latin typeface="宋体" panose="02000500000000000000" pitchFamily="2" charset="-122"/>
              </a:rPr>
              <a:t>AMAT= 0.24 -&gt; 0.20 -&gt; 0.19 -&gt; 0.19</a:t>
            </a:r>
            <a:endParaRPr lang="en-US" altLang="zh-CN" sz="1800" b="1">
              <a:latin typeface="宋体" panose="02000500000000000000" pitchFamily="2" charset="-122"/>
            </a:endParaRPr>
          </a:p>
        </p:txBody>
      </p:sp>
      <p:grpSp>
        <p:nvGrpSpPr>
          <p:cNvPr id="10" name="组合 9"/>
          <p:cNvGrpSpPr/>
          <p:nvPr/>
        </p:nvGrpSpPr>
        <p:grpSpPr>
          <a:xfrm>
            <a:off x="1538288" y="2316163"/>
            <a:ext cx="9058275" cy="4446587"/>
            <a:chOff x="1538288" y="2316163"/>
            <a:chExt cx="9058275" cy="4446587"/>
          </a:xfrm>
        </p:grpSpPr>
        <p:pic>
          <p:nvPicPr>
            <p:cNvPr id="58373" name="Picture 6"/>
            <p:cNvPicPr>
              <a:picLocks noChangeArrowheads="1"/>
            </p:cNvPicPr>
            <p:nvPr/>
          </p:nvPicPr>
          <p:blipFill>
            <a:blip r:embed="rId1" cstate="print"/>
            <a:srcRect/>
            <a:stretch>
              <a:fillRect/>
            </a:stretch>
          </p:blipFill>
          <p:spPr bwMode="auto">
            <a:xfrm>
              <a:off x="1538288" y="2316163"/>
              <a:ext cx="9058275" cy="4248150"/>
            </a:xfrm>
            <a:prstGeom prst="rect">
              <a:avLst/>
            </a:prstGeom>
            <a:noFill/>
            <a:ln w="12700">
              <a:noFill/>
              <a:miter lim="800000"/>
              <a:headEnd/>
              <a:tailEnd/>
            </a:ln>
          </p:spPr>
        </p:pic>
        <p:sp>
          <p:nvSpPr>
            <p:cNvPr id="58374" name="Rectangle 7"/>
            <p:cNvSpPr>
              <a:spLocks noChangeArrowheads="1"/>
            </p:cNvSpPr>
            <p:nvPr/>
          </p:nvSpPr>
          <p:spPr bwMode="auto">
            <a:xfrm>
              <a:off x="2314575" y="6357938"/>
              <a:ext cx="952500"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dirty="0">
                  <a:latin typeface="Arial" panose="02080604020202020204" pitchFamily="34" charset="0"/>
                </a:rPr>
                <a:t>Integer</a:t>
              </a:r>
              <a:endParaRPr lang="en-US" altLang="zh-CN" sz="1800" b="1" dirty="0">
                <a:latin typeface="Arial" panose="02080604020202020204" pitchFamily="34" charset="0"/>
              </a:endParaRPr>
            </a:p>
          </p:txBody>
        </p:sp>
        <p:sp>
          <p:nvSpPr>
            <p:cNvPr id="58375" name="Rectangle 8"/>
            <p:cNvSpPr>
              <a:spLocks noChangeArrowheads="1"/>
            </p:cNvSpPr>
            <p:nvPr/>
          </p:nvSpPr>
          <p:spPr bwMode="auto">
            <a:xfrm>
              <a:off x="4702175" y="6396038"/>
              <a:ext cx="1722438" cy="366712"/>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a:latin typeface="Arial" panose="02080604020202020204" pitchFamily="34" charset="0"/>
                </a:rPr>
                <a:t>Floating Point</a:t>
              </a:r>
              <a:endParaRPr lang="en-US" altLang="zh-CN" sz="1800" b="1">
                <a:latin typeface="Arial" panose="02080604020202020204" pitchFamily="34" charset="0"/>
              </a:endParaRPr>
            </a:p>
          </p:txBody>
        </p:sp>
        <p:sp>
          <p:nvSpPr>
            <p:cNvPr id="58376" name="Line 9"/>
            <p:cNvSpPr>
              <a:spLocks noChangeShapeType="1"/>
            </p:cNvSpPr>
            <p:nvPr/>
          </p:nvSpPr>
          <p:spPr bwMode="auto">
            <a:xfrm>
              <a:off x="3962400" y="5772150"/>
              <a:ext cx="0" cy="742950"/>
            </a:xfrm>
            <a:prstGeom prst="line">
              <a:avLst/>
            </a:prstGeom>
            <a:noFill/>
            <a:ln w="12700">
              <a:solidFill>
                <a:schemeClr val="tx1"/>
              </a:solidFill>
              <a:round/>
            </a:ln>
          </p:spPr>
          <p:txBody>
            <a:bodyPr/>
            <a:lstStyle/>
            <a:p>
              <a:endParaRPr lang="zh-CN" altLang="en-US"/>
            </a:p>
          </p:txBody>
        </p:sp>
        <p:sp>
          <p:nvSpPr>
            <p:cNvPr id="9" name="Rectangle 7"/>
            <p:cNvSpPr>
              <a:spLocks noChangeArrowheads="1"/>
            </p:cNvSpPr>
            <p:nvPr/>
          </p:nvSpPr>
          <p:spPr bwMode="auto">
            <a:xfrm>
              <a:off x="2238375" y="2674938"/>
              <a:ext cx="832473" cy="366767"/>
            </a:xfrm>
            <a:prstGeom prst="rect">
              <a:avLst/>
            </a:prstGeom>
            <a:noFill/>
            <a:ln w="12700">
              <a:noFill/>
              <a:miter lim="800000"/>
            </a:ln>
          </p:spPr>
          <p:txBody>
            <a:bodyPr wrap="none" lIns="90488" tIns="44450" rIns="90488" bIns="44450">
              <a:spAutoFit/>
            </a:bodyPr>
            <a:lstStyle/>
            <a:p>
              <a:pPr eaLnBrk="0" hangingPunct="0">
                <a:spcBef>
                  <a:spcPct val="0"/>
                </a:spcBef>
              </a:pPr>
              <a:r>
                <a:rPr lang="en-US" altLang="zh-CN" sz="1800" b="1" dirty="0" smtClean="0">
                  <a:latin typeface="Arial" panose="02080604020202020204" pitchFamily="34" charset="0"/>
                </a:rPr>
                <a:t>AMAT</a:t>
              </a:r>
              <a:endParaRPr lang="en-US" altLang="zh-CN" sz="1800" b="1" dirty="0">
                <a:latin typeface="Arial" panose="02080604020202020204" pitchFamily="34" charset="0"/>
              </a:endParaRPr>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noChangeArrowheads="1"/>
          </p:cNvSpPr>
          <p:nvPr>
            <p:ph type="sldNum" sz="quarter" idx="12"/>
          </p:nvPr>
        </p:nvSpPr>
        <p:spPr>
          <a:noFill/>
        </p:spPr>
        <p:txBody>
          <a:bodyPr/>
          <a:lstStyle/>
          <a:p>
            <a:fld id="{01A305C4-EE8C-46DC-9C3F-32A2B88A4BA7}" type="slidenum">
              <a:rPr lang="en-US" altLang="zh-CN" smtClean="0"/>
            </a:fld>
            <a:endParaRPr lang="en-US" altLang="zh-CN" smtClean="0"/>
          </a:p>
        </p:txBody>
      </p:sp>
      <p:sp>
        <p:nvSpPr>
          <p:cNvPr id="59395" name="Rectangle 4"/>
          <p:cNvSpPr>
            <a:spLocks noChangeArrowheads="1"/>
          </p:cNvSpPr>
          <p:nvPr/>
        </p:nvSpPr>
        <p:spPr bwMode="auto">
          <a:xfrm>
            <a:off x="819150" y="0"/>
            <a:ext cx="10590213" cy="904875"/>
          </a:xfrm>
          <a:prstGeom prst="rect">
            <a:avLst/>
          </a:prstGeom>
          <a:noFill/>
          <a:ln w="12700">
            <a:noFill/>
            <a:miter lim="800000"/>
          </a:ln>
        </p:spPr>
        <p:txBody>
          <a:bodyPr lIns="90488" tIns="44450" rIns="90488" bIns="44450" anchor="ctr"/>
          <a:lstStyle/>
          <a:p>
            <a:pPr algn="ctr">
              <a:spcBef>
                <a:spcPct val="0"/>
              </a:spcBef>
            </a:pPr>
            <a:r>
              <a:rPr lang="zh-CN" altLang="en-US" sz="3200">
                <a:solidFill>
                  <a:srgbClr val="FF0000"/>
                </a:solidFill>
                <a:latin typeface="Arial" panose="02080604020202020204" pitchFamily="34" charset="0"/>
                <a:ea typeface="黑体" panose="02000500000000000000" pitchFamily="49" charset="-122"/>
              </a:rPr>
              <a:t>通过预取降低失效率</a:t>
            </a:r>
            <a:endParaRPr lang="zh-CN" altLang="en-US" sz="3200">
              <a:solidFill>
                <a:srgbClr val="FF0000"/>
              </a:solidFill>
              <a:latin typeface="Arial" panose="02080604020202020204" pitchFamily="34" charset="0"/>
              <a:ea typeface="黑体" panose="02000500000000000000" pitchFamily="49" charset="-122"/>
            </a:endParaRPr>
          </a:p>
        </p:txBody>
      </p:sp>
      <p:sp>
        <p:nvSpPr>
          <p:cNvPr id="54276" name="Rectangle 5"/>
          <p:cNvSpPr>
            <a:spLocks noChangeArrowheads="1"/>
          </p:cNvSpPr>
          <p:nvPr/>
        </p:nvSpPr>
        <p:spPr bwMode="auto">
          <a:xfrm>
            <a:off x="506413" y="949325"/>
            <a:ext cx="11317287" cy="5908675"/>
          </a:xfrm>
          <a:prstGeom prst="rect">
            <a:avLst/>
          </a:prstGeom>
          <a:noFill/>
          <a:ln w="12700">
            <a:noFill/>
            <a:miter lim="800000"/>
          </a:ln>
        </p:spPr>
        <p:txBody>
          <a:bodyPr lIns="90488" tIns="44450" rIns="90488" bIns="44450"/>
          <a:lstStyle/>
          <a:p>
            <a:pPr marL="342900" indent="-342900">
              <a:lnSpc>
                <a:spcPct val="150000"/>
              </a:lnSpc>
              <a:spcBef>
                <a:spcPts val="0"/>
              </a:spcBef>
              <a:buFontTx/>
              <a:buChar char="•"/>
              <a:defRPr/>
            </a:pPr>
            <a:r>
              <a:rPr kumimoji="1" lang="zh-CN" altLang="en-US" sz="2000" b="1" dirty="0">
                <a:latin typeface="宋体" panose="02000500000000000000" pitchFamily="2" charset="-122"/>
                <a:cs typeface="宋体" panose="02000500000000000000" pitchFamily="2" charset="-122"/>
              </a:rPr>
              <a:t>指令预取</a:t>
            </a:r>
            <a:endParaRPr kumimoji="1" lang="zh-CN" altLang="en-US" sz="2000" b="1" dirty="0">
              <a:latin typeface="宋体" panose="02000500000000000000" pitchFamily="2" charset="-122"/>
              <a:cs typeface="宋体" panose="02000500000000000000" pitchFamily="2" charset="-122"/>
            </a:endParaRPr>
          </a:p>
          <a:p>
            <a:pPr marL="742950" lvl="1" indent="-285750">
              <a:lnSpc>
                <a:spcPct val="150000"/>
              </a:lnSpc>
              <a:spcBef>
                <a:spcPts val="0"/>
              </a:spcBef>
              <a:buFontTx/>
              <a:buChar char="•"/>
              <a:defRPr/>
            </a:pPr>
            <a:r>
              <a:rPr kumimoji="1" lang="en-US" altLang="zh-CN" sz="1600" b="1" dirty="0">
                <a:latin typeface="宋体" panose="02000500000000000000" pitchFamily="2" charset="-122"/>
                <a:cs typeface="宋体" panose="02000500000000000000" pitchFamily="2" charset="-122"/>
              </a:rPr>
              <a:t>Alpha 21064 </a:t>
            </a:r>
            <a:r>
              <a:rPr kumimoji="1" lang="zh-CN" altLang="en-US" sz="1600" b="1" dirty="0">
                <a:latin typeface="宋体" panose="02000500000000000000" pitchFamily="2" charset="-122"/>
                <a:cs typeface="宋体" panose="02000500000000000000" pitchFamily="2" charset="-122"/>
              </a:rPr>
              <a:t>在</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失效时取连续两块，多取的</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块存放在流缓存（</a:t>
            </a:r>
            <a:r>
              <a:rPr kumimoji="1" lang="en-US" altLang="zh-CN" sz="1600" b="1" dirty="0">
                <a:solidFill>
                  <a:schemeClr val="accent2"/>
                </a:solidFill>
                <a:latin typeface="宋体" panose="02000500000000000000" pitchFamily="2" charset="-122"/>
                <a:cs typeface="宋体" panose="02000500000000000000" pitchFamily="2" charset="-122"/>
              </a:rPr>
              <a:t>stream buffer</a:t>
            </a:r>
            <a:r>
              <a:rPr kumimoji="1" lang="zh-CN" altLang="en-US" sz="1600" b="1" dirty="0">
                <a:latin typeface="宋体" panose="02000500000000000000" pitchFamily="2" charset="-122"/>
                <a:cs typeface="宋体" panose="02000500000000000000" pitchFamily="2" charset="-122"/>
              </a:rPr>
              <a:t>）中，下一次</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失效时先检查指令是否在流缓存中</a:t>
            </a:r>
            <a:endParaRPr kumimoji="1" lang="zh-CN" altLang="en-US" sz="1600" b="1" dirty="0">
              <a:latin typeface="宋体" panose="02000500000000000000" pitchFamily="2" charset="-122"/>
              <a:cs typeface="宋体" panose="02000500000000000000" pitchFamily="2" charset="-122"/>
            </a:endParaRPr>
          </a:p>
          <a:p>
            <a:pPr marL="342900" indent="-342900">
              <a:lnSpc>
                <a:spcPct val="150000"/>
              </a:lnSpc>
              <a:spcBef>
                <a:spcPts val="0"/>
              </a:spcBef>
              <a:buFontTx/>
              <a:buChar char="•"/>
              <a:defRPr/>
            </a:pPr>
            <a:r>
              <a:rPr kumimoji="1" lang="zh-CN" altLang="en-US" sz="2000" b="1" dirty="0">
                <a:latin typeface="宋体" panose="02000500000000000000" pitchFamily="2" charset="-122"/>
                <a:cs typeface="宋体" panose="02000500000000000000" pitchFamily="2" charset="-122"/>
              </a:rPr>
              <a:t>数据预取</a:t>
            </a:r>
            <a:endParaRPr kumimoji="1" lang="zh-CN" altLang="en-US" sz="2000" b="1" dirty="0">
              <a:latin typeface="宋体" panose="02000500000000000000" pitchFamily="2" charset="-122"/>
              <a:cs typeface="宋体" panose="02000500000000000000" pitchFamily="2" charset="-122"/>
            </a:endParaRPr>
          </a:p>
          <a:p>
            <a:pPr marL="742950" lvl="1" indent="-285750">
              <a:lnSpc>
                <a:spcPct val="150000"/>
              </a:lnSpc>
              <a:spcBef>
                <a:spcPts val="0"/>
              </a:spcBef>
              <a:buFontTx/>
              <a:buChar char="•"/>
              <a:defRPr/>
            </a:pPr>
            <a:r>
              <a:rPr kumimoji="1" lang="en-US" altLang="zh-CN" sz="1600" b="1" dirty="0" err="1">
                <a:latin typeface="宋体" panose="02000500000000000000" pitchFamily="2" charset="-122"/>
                <a:cs typeface="宋体" panose="02000500000000000000" pitchFamily="2" charset="-122"/>
              </a:rPr>
              <a:t>Jouppi</a:t>
            </a:r>
            <a:r>
              <a:rPr kumimoji="1" lang="en-US" altLang="zh-CN" sz="1600" b="1" dirty="0">
                <a:latin typeface="宋体" panose="02000500000000000000" pitchFamily="2" charset="-122"/>
                <a:cs typeface="宋体" panose="02000500000000000000" pitchFamily="2" charset="-122"/>
              </a:rPr>
              <a:t> [1990]</a:t>
            </a:r>
            <a:r>
              <a:rPr kumimoji="1" lang="zh-CN" altLang="en-US" sz="1600" b="1" dirty="0">
                <a:latin typeface="宋体" panose="02000500000000000000" pitchFamily="2" charset="-122"/>
                <a:cs typeface="宋体" panose="02000500000000000000" pitchFamily="2" charset="-122"/>
              </a:rPr>
              <a:t>：对</a:t>
            </a:r>
            <a:r>
              <a:rPr kumimoji="1" lang="en-US" altLang="zh-CN" sz="1600" b="1" dirty="0">
                <a:latin typeface="宋体" panose="02000500000000000000" pitchFamily="2" charset="-122"/>
                <a:cs typeface="宋体" panose="02000500000000000000" pitchFamily="2" charset="-122"/>
              </a:rPr>
              <a:t>4KB</a:t>
            </a:r>
            <a:r>
              <a:rPr kumimoji="1" lang="zh-CN" altLang="en-US" sz="1600" b="1" dirty="0">
                <a:latin typeface="宋体" panose="02000500000000000000" pitchFamily="2" charset="-122"/>
                <a:cs typeface="宋体" panose="02000500000000000000" pitchFamily="2" charset="-122"/>
              </a:rPr>
              <a:t>的</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a:t>
            </a:r>
            <a:r>
              <a:rPr kumimoji="1" lang="en-US" altLang="zh-CN" sz="1600" b="1" dirty="0">
                <a:latin typeface="宋体" panose="02000500000000000000" pitchFamily="2" charset="-122"/>
                <a:cs typeface="宋体" panose="02000500000000000000" pitchFamily="2" charset="-122"/>
              </a:rPr>
              <a:t>1</a:t>
            </a:r>
            <a:r>
              <a:rPr kumimoji="1" lang="zh-CN" altLang="en-US" sz="1600" b="1" dirty="0">
                <a:latin typeface="宋体" panose="02000500000000000000" pitchFamily="2" charset="-122"/>
                <a:cs typeface="宋体" panose="02000500000000000000" pitchFamily="2" charset="-122"/>
              </a:rPr>
              <a:t>项流缓存可以命中</a:t>
            </a:r>
            <a:r>
              <a:rPr kumimoji="1" lang="en-US" altLang="zh-CN" sz="1600" b="1" dirty="0">
                <a:latin typeface="宋体" panose="02000500000000000000" pitchFamily="2" charset="-122"/>
                <a:cs typeface="宋体" panose="02000500000000000000" pitchFamily="2" charset="-122"/>
              </a:rPr>
              <a:t>25%</a:t>
            </a:r>
            <a:r>
              <a:rPr kumimoji="1" lang="zh-CN" altLang="en-US" sz="1600" b="1" dirty="0">
                <a:latin typeface="宋体" panose="02000500000000000000" pitchFamily="2" charset="-122"/>
                <a:cs typeface="宋体" panose="02000500000000000000" pitchFamily="2" charset="-122"/>
              </a:rPr>
              <a:t>的</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失效访问， </a:t>
            </a:r>
            <a:r>
              <a:rPr kumimoji="1" lang="en-US" altLang="zh-CN" sz="1600" b="1" dirty="0">
                <a:latin typeface="宋体" panose="02000500000000000000" pitchFamily="2" charset="-122"/>
                <a:cs typeface="宋体" panose="02000500000000000000" pitchFamily="2" charset="-122"/>
              </a:rPr>
              <a:t>4</a:t>
            </a:r>
            <a:r>
              <a:rPr kumimoji="1" lang="zh-CN" altLang="en-US" sz="1600" b="1" dirty="0">
                <a:latin typeface="宋体" panose="02000500000000000000" pitchFamily="2" charset="-122"/>
                <a:cs typeface="宋体" panose="02000500000000000000" pitchFamily="2" charset="-122"/>
              </a:rPr>
              <a:t>项流缓存可以命中</a:t>
            </a:r>
            <a:r>
              <a:rPr kumimoji="1" lang="en-US" altLang="zh-CN" sz="1600" b="1" dirty="0">
                <a:latin typeface="宋体" panose="02000500000000000000" pitchFamily="2" charset="-122"/>
                <a:cs typeface="宋体" panose="02000500000000000000" pitchFamily="2" charset="-122"/>
              </a:rPr>
              <a:t>43%</a:t>
            </a:r>
            <a:r>
              <a:rPr kumimoji="1" lang="zh-CN" altLang="en-US" sz="1600" b="1" dirty="0">
                <a:latin typeface="宋体" panose="02000500000000000000" pitchFamily="2" charset="-122"/>
                <a:cs typeface="宋体" panose="02000500000000000000" pitchFamily="2" charset="-122"/>
              </a:rPr>
              <a:t>的</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失效访问</a:t>
            </a:r>
            <a:endParaRPr kumimoji="1" lang="zh-CN" altLang="en-US" sz="1600" b="1" dirty="0">
              <a:latin typeface="宋体" panose="02000500000000000000" pitchFamily="2" charset="-122"/>
              <a:cs typeface="宋体" panose="02000500000000000000" pitchFamily="2" charset="-122"/>
            </a:endParaRPr>
          </a:p>
          <a:p>
            <a:pPr marL="742950" lvl="1" indent="-285750">
              <a:lnSpc>
                <a:spcPct val="150000"/>
              </a:lnSpc>
              <a:spcBef>
                <a:spcPts val="0"/>
              </a:spcBef>
              <a:buFontTx/>
              <a:buChar char="•"/>
              <a:defRPr/>
            </a:pPr>
            <a:r>
              <a:rPr kumimoji="1" lang="en-US" altLang="zh-CN" sz="1600" b="1" dirty="0" err="1">
                <a:latin typeface="宋体" panose="02000500000000000000" pitchFamily="2" charset="-122"/>
                <a:cs typeface="宋体" panose="02000500000000000000" pitchFamily="2" charset="-122"/>
              </a:rPr>
              <a:t>Palacharla</a:t>
            </a:r>
            <a:r>
              <a:rPr kumimoji="1" lang="en-US" altLang="zh-CN" sz="1600" b="1" dirty="0">
                <a:latin typeface="宋体" panose="02000500000000000000" pitchFamily="2" charset="-122"/>
                <a:cs typeface="宋体" panose="02000500000000000000" pitchFamily="2" charset="-122"/>
              </a:rPr>
              <a:t> &amp; Kessler [1994]</a:t>
            </a:r>
            <a:r>
              <a:rPr kumimoji="1" lang="zh-CN" altLang="en-US" sz="1600" b="1" dirty="0">
                <a:latin typeface="宋体" panose="02000500000000000000" pitchFamily="2" charset="-122"/>
                <a:cs typeface="宋体" panose="02000500000000000000" pitchFamily="2" charset="-122"/>
              </a:rPr>
              <a:t>：指令和数据</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各为四路组相联的</a:t>
            </a:r>
            <a:r>
              <a:rPr kumimoji="1" lang="en-US" altLang="zh-CN" sz="1600" b="1" dirty="0">
                <a:latin typeface="宋体" panose="02000500000000000000" pitchFamily="2" charset="-122"/>
                <a:cs typeface="宋体" panose="02000500000000000000" pitchFamily="2" charset="-122"/>
              </a:rPr>
              <a:t>64KB</a:t>
            </a:r>
            <a:r>
              <a:rPr kumimoji="1" lang="zh-CN" altLang="en-US" sz="1600" b="1" dirty="0">
                <a:latin typeface="宋体" panose="02000500000000000000" pitchFamily="2" charset="-122"/>
                <a:cs typeface="宋体" panose="02000500000000000000" pitchFamily="2" charset="-122"/>
              </a:rPr>
              <a:t>，对科学计算程序，</a:t>
            </a:r>
            <a:r>
              <a:rPr kumimoji="1" lang="en-US" altLang="zh-CN" sz="1600" b="1" dirty="0">
                <a:latin typeface="宋体" panose="02000500000000000000" pitchFamily="2" charset="-122"/>
                <a:cs typeface="宋体" panose="02000500000000000000" pitchFamily="2" charset="-122"/>
              </a:rPr>
              <a:t>8</a:t>
            </a:r>
            <a:r>
              <a:rPr kumimoji="1" lang="zh-CN" altLang="en-US" sz="1600" b="1" dirty="0">
                <a:latin typeface="宋体" panose="02000500000000000000" pitchFamily="2" charset="-122"/>
                <a:cs typeface="宋体" panose="02000500000000000000" pitchFamily="2" charset="-122"/>
              </a:rPr>
              <a:t>项流缓存可以命中 </a:t>
            </a:r>
            <a:r>
              <a:rPr kumimoji="1" lang="en-US" altLang="zh-CN" sz="1600" b="1" dirty="0">
                <a:latin typeface="宋体" panose="02000500000000000000" pitchFamily="2" charset="-122"/>
                <a:cs typeface="宋体" panose="02000500000000000000" pitchFamily="2" charset="-122"/>
              </a:rPr>
              <a:t>50%-70%</a:t>
            </a:r>
            <a:r>
              <a:rPr kumimoji="1" lang="zh-CN" altLang="en-US" sz="1600" b="1" dirty="0">
                <a:latin typeface="宋体" panose="02000500000000000000" pitchFamily="2" charset="-122"/>
                <a:cs typeface="宋体" panose="02000500000000000000" pitchFamily="2" charset="-122"/>
              </a:rPr>
              <a:t>的</a:t>
            </a:r>
            <a:r>
              <a:rPr kumimoji="1" lang="en-US" altLang="zh-CN" sz="1600" b="1" dirty="0">
                <a:latin typeface="宋体" panose="02000500000000000000" pitchFamily="2" charset="-122"/>
                <a:cs typeface="宋体" panose="02000500000000000000" pitchFamily="2" charset="-122"/>
              </a:rPr>
              <a:t>Cache</a:t>
            </a:r>
            <a:r>
              <a:rPr kumimoji="1" lang="zh-CN" altLang="en-US" sz="1600" b="1" dirty="0">
                <a:latin typeface="宋体" panose="02000500000000000000" pitchFamily="2" charset="-122"/>
                <a:cs typeface="宋体" panose="02000500000000000000" pitchFamily="2" charset="-122"/>
              </a:rPr>
              <a:t>失效访问</a:t>
            </a:r>
            <a:endParaRPr kumimoji="1" lang="zh-CN" altLang="en-US" sz="1600" b="1" dirty="0">
              <a:latin typeface="宋体" panose="02000500000000000000" pitchFamily="2" charset="-122"/>
              <a:cs typeface="宋体" panose="02000500000000000000" pitchFamily="2" charset="-122"/>
            </a:endParaRPr>
          </a:p>
          <a:p>
            <a:pPr marL="342900" indent="-342900">
              <a:lnSpc>
                <a:spcPct val="150000"/>
              </a:lnSpc>
              <a:spcBef>
                <a:spcPts val="0"/>
              </a:spcBef>
              <a:buFontTx/>
              <a:buChar char="•"/>
              <a:defRPr/>
            </a:pPr>
            <a:r>
              <a:rPr kumimoji="1" lang="zh-CN" altLang="en-US" sz="2000" b="1" dirty="0">
                <a:solidFill>
                  <a:srgbClr val="FF0000"/>
                </a:solidFill>
                <a:latin typeface="宋体" panose="02000500000000000000" pitchFamily="2" charset="-122"/>
                <a:cs typeface="宋体" panose="02000500000000000000" pitchFamily="2" charset="-122"/>
              </a:rPr>
              <a:t>现代处理器都实现复杂预取技术</a:t>
            </a:r>
            <a:endParaRPr kumimoji="1" lang="en-US" altLang="zh-CN" sz="2000" b="1" dirty="0">
              <a:solidFill>
                <a:srgbClr val="FF0000"/>
              </a:solidFill>
              <a:latin typeface="宋体" panose="02000500000000000000" pitchFamily="2" charset="-122"/>
              <a:cs typeface="宋体" panose="02000500000000000000" pitchFamily="2" charset="-122"/>
            </a:endParaRPr>
          </a:p>
          <a:p>
            <a:pPr marL="800100" lvl="1" indent="-342900">
              <a:lnSpc>
                <a:spcPct val="150000"/>
              </a:lnSpc>
              <a:spcBef>
                <a:spcPts val="0"/>
              </a:spcBef>
              <a:buFontTx/>
              <a:buChar char="•"/>
              <a:defRPr/>
            </a:pPr>
            <a:r>
              <a:rPr kumimoji="1" lang="zh-CN" altLang="en-US" sz="1600" b="1" dirty="0">
                <a:latin typeface="宋体" panose="02000500000000000000" pitchFamily="2" charset="-122"/>
                <a:cs typeface="宋体" panose="02000500000000000000" pitchFamily="2" charset="-122"/>
              </a:rPr>
              <a:t>预取对访存带宽提出了更高的要求</a:t>
            </a:r>
            <a:endParaRPr kumimoji="1" lang="zh-CN" altLang="en-US" sz="1600" b="1" dirty="0">
              <a:latin typeface="宋体" panose="02000500000000000000" pitchFamily="2" charset="-122"/>
              <a:cs typeface="宋体" panose="02000500000000000000" pitchFamily="2" charset="-122"/>
            </a:endParaRPr>
          </a:p>
          <a:p>
            <a:pPr marL="800100" lvl="1" indent="-342900">
              <a:lnSpc>
                <a:spcPct val="150000"/>
              </a:lnSpc>
              <a:spcBef>
                <a:spcPts val="0"/>
              </a:spcBef>
              <a:buFontTx/>
              <a:buChar char="•"/>
              <a:defRPr/>
            </a:pPr>
            <a:r>
              <a:rPr lang="en-US" altLang="zh-CN" sz="1600" b="1" noProof="1">
                <a:solidFill>
                  <a:srgbClr val="FF0000"/>
                </a:solidFill>
                <a:latin typeface="宋体" panose="02000500000000000000" pitchFamily="2" charset="-122"/>
                <a:sym typeface="+mn-ea"/>
              </a:rPr>
              <a:t>CPU</a:t>
            </a:r>
            <a:r>
              <a:rPr lang="zh-CN" altLang="en-US" sz="1600" b="1" noProof="1">
                <a:solidFill>
                  <a:srgbClr val="FF0000"/>
                </a:solidFill>
                <a:latin typeface="宋体" panose="02000500000000000000" pitchFamily="2" charset="-122"/>
                <a:sym typeface="+mn-ea"/>
              </a:rPr>
              <a:t>微结构做到一定程度后，提高性能主要靠转移猜测和预取，现在</a:t>
            </a:r>
            <a:r>
              <a:rPr lang="en-US" altLang="zh-CN" sz="1600" b="1" noProof="1">
                <a:solidFill>
                  <a:srgbClr val="FF0000"/>
                </a:solidFill>
                <a:latin typeface="宋体" panose="02000500000000000000" pitchFamily="2" charset="-122"/>
                <a:sym typeface="+mn-ea"/>
              </a:rPr>
              <a:t>CPU</a:t>
            </a:r>
            <a:r>
              <a:rPr lang="zh-CN" altLang="en-US" sz="1600" b="1" noProof="1">
                <a:solidFill>
                  <a:srgbClr val="FF0000"/>
                </a:solidFill>
                <a:latin typeface="宋体" panose="02000500000000000000" pitchFamily="2" charset="-122"/>
                <a:sym typeface="+mn-ea"/>
              </a:rPr>
              <a:t>一般都实现多级（</a:t>
            </a:r>
            <a:r>
              <a:rPr lang="en-US" altLang="zh-CN" sz="1600" b="1" noProof="1">
                <a:solidFill>
                  <a:srgbClr val="FF0000"/>
                </a:solidFill>
                <a:latin typeface="宋体" panose="02000500000000000000" pitchFamily="2" charset="-122"/>
                <a:sym typeface="+mn-ea"/>
              </a:rPr>
              <a:t>L1</a:t>
            </a:r>
            <a:r>
              <a:rPr lang="zh-CN" altLang="en-US" sz="1600" b="1" noProof="1">
                <a:solidFill>
                  <a:srgbClr val="FF0000"/>
                </a:solidFill>
                <a:latin typeface="宋体" panose="02000500000000000000" pitchFamily="2" charset="-122"/>
                <a:sym typeface="+mn-ea"/>
              </a:rPr>
              <a:t>、</a:t>
            </a:r>
            <a:r>
              <a:rPr lang="en-US" altLang="zh-CN" sz="1600" b="1" noProof="1">
                <a:solidFill>
                  <a:srgbClr val="FF0000"/>
                </a:solidFill>
                <a:latin typeface="宋体" panose="02000500000000000000" pitchFamily="2" charset="-122"/>
                <a:sym typeface="+mn-ea"/>
              </a:rPr>
              <a:t>L2</a:t>
            </a:r>
            <a:r>
              <a:rPr lang="zh-CN" altLang="en-US" sz="1600" b="1" noProof="1">
                <a:solidFill>
                  <a:srgbClr val="FF0000"/>
                </a:solidFill>
                <a:latin typeface="宋体" panose="02000500000000000000" pitchFamily="2" charset="-122"/>
                <a:sym typeface="+mn-ea"/>
              </a:rPr>
              <a:t>、</a:t>
            </a:r>
            <a:r>
              <a:rPr lang="en-US" altLang="zh-CN" sz="1600" b="1" noProof="1">
                <a:solidFill>
                  <a:srgbClr val="FF0000"/>
                </a:solidFill>
                <a:latin typeface="宋体" panose="02000500000000000000" pitchFamily="2" charset="-122"/>
                <a:sym typeface="+mn-ea"/>
              </a:rPr>
              <a:t>L3</a:t>
            </a:r>
            <a:r>
              <a:rPr lang="zh-CN" altLang="en-US" sz="1600" b="1" noProof="1">
                <a:solidFill>
                  <a:srgbClr val="FF0000"/>
                </a:solidFill>
                <a:latin typeface="宋体" panose="02000500000000000000" pitchFamily="2" charset="-122"/>
                <a:sym typeface="+mn-ea"/>
              </a:rPr>
              <a:t>、</a:t>
            </a:r>
            <a:r>
              <a:rPr lang="en-US" altLang="zh-CN" sz="1600" b="1" noProof="1">
                <a:solidFill>
                  <a:srgbClr val="FF0000"/>
                </a:solidFill>
                <a:latin typeface="宋体" panose="02000500000000000000" pitchFamily="2" charset="-122"/>
                <a:sym typeface="+mn-ea"/>
              </a:rPr>
              <a:t>MC</a:t>
            </a:r>
            <a:r>
              <a:rPr lang="zh-CN" altLang="en-US" sz="1600" b="1" noProof="1">
                <a:solidFill>
                  <a:srgbClr val="FF0000"/>
                </a:solidFill>
                <a:latin typeface="宋体" panose="02000500000000000000" pitchFamily="2" charset="-122"/>
                <a:sym typeface="+mn-ea"/>
              </a:rPr>
              <a:t>）以及多模式（跨步、链表等）预取</a:t>
            </a:r>
            <a:endParaRPr lang="zh-CN" altLang="en-US" sz="1600" b="1" noProof="1">
              <a:solidFill>
                <a:srgbClr val="FF0000"/>
              </a:solidFill>
              <a:latin typeface="宋体" panose="02000500000000000000" pitchFamily="2" charset="-122"/>
            </a:endParaRPr>
          </a:p>
          <a:p>
            <a:pPr marL="800100" lvl="1" indent="-342900">
              <a:lnSpc>
                <a:spcPct val="150000"/>
              </a:lnSpc>
              <a:spcBef>
                <a:spcPts val="0"/>
              </a:spcBef>
              <a:buFontTx/>
              <a:buChar char="•"/>
              <a:defRPr/>
            </a:pPr>
            <a:endParaRPr kumimoji="1" lang="zh-CN" altLang="en-US" sz="1600" b="1" dirty="0">
              <a:solidFill>
                <a:srgbClr val="FF0000"/>
              </a:solidFill>
              <a:latin typeface="宋体" panose="02000500000000000000" pitchFamily="2" charset="-122"/>
              <a:cs typeface="宋体" panose="02000500000000000000" pitchFamily="2"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noChangeArrowheads="1"/>
          </p:cNvSpPr>
          <p:nvPr>
            <p:ph type="sldNum" sz="quarter" idx="12"/>
          </p:nvPr>
        </p:nvSpPr>
        <p:spPr>
          <a:noFill/>
        </p:spPr>
        <p:txBody>
          <a:bodyPr/>
          <a:lstStyle/>
          <a:p>
            <a:fld id="{CCAA542B-2B7D-4614-8B2F-CEE6482FD9DA}" type="slidenum">
              <a:rPr lang="en-US" altLang="zh-CN" smtClean="0"/>
            </a:fld>
            <a:endParaRPr lang="en-US" altLang="zh-CN" smtClean="0"/>
          </a:p>
        </p:txBody>
      </p:sp>
      <p:sp>
        <p:nvSpPr>
          <p:cNvPr id="60419" name="Rectangle 4"/>
          <p:cNvSpPr>
            <a:spLocks noGrp="1" noChangeArrowheads="1"/>
          </p:cNvSpPr>
          <p:nvPr>
            <p:ph type="title"/>
          </p:nvPr>
        </p:nvSpPr>
        <p:spPr>
          <a:xfrm>
            <a:off x="947738" y="304800"/>
            <a:ext cx="10361612" cy="863600"/>
          </a:xfrm>
        </p:spPr>
        <p:txBody>
          <a:bodyPr/>
          <a:lstStyle/>
          <a:p>
            <a:pPr eaLnBrk="1" hangingPunct="1"/>
            <a:r>
              <a:rPr lang="en-US" altLang="zh-CN" smtClean="0"/>
              <a:t>Cache</a:t>
            </a:r>
            <a:r>
              <a:rPr lang="zh-CN" altLang="en-US" smtClean="0"/>
              <a:t>优化小结</a:t>
            </a:r>
            <a:endParaRPr lang="zh-CN" altLang="en-US" smtClean="0"/>
          </a:p>
        </p:txBody>
      </p:sp>
      <p:graphicFrame>
        <p:nvGraphicFramePr>
          <p:cNvPr id="58372" name="表格占位符 58371"/>
          <p:cNvGraphicFramePr>
            <a:graphicFrameLocks noGrp="1"/>
          </p:cNvGraphicFramePr>
          <p:nvPr>
            <p:ph type="tbl" idx="1"/>
          </p:nvPr>
        </p:nvGraphicFramePr>
        <p:xfrm>
          <a:off x="1390650" y="1263650"/>
          <a:ext cx="9280375" cy="5178720"/>
        </p:xfrm>
        <a:graphic>
          <a:graphicData uri="http://schemas.openxmlformats.org/drawingml/2006/table">
            <a:tbl>
              <a:tblPr/>
              <a:tblGrid>
                <a:gridCol w="3083581"/>
                <a:gridCol w="1580945"/>
                <a:gridCol w="1462426"/>
                <a:gridCol w="1398935"/>
                <a:gridCol w="1754488"/>
              </a:tblGrid>
              <a:tr h="304800">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优化技术</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失效延迟</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命中率</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命中时间</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硬件复杂度</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多级</a:t>
                      </a: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关键字优先</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读失效优先</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合并写缓存</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Victim Cache</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增加块大小</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增加</a:t>
                      </a: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a:t>
                      </a: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大小</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增加相联度</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伪相联、路猜测</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编译优化</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小而简单的</a:t>
                      </a: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a:t>
                      </a: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和</a:t>
                      </a: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TLB</a:t>
                      </a: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访问并行</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流水</a:t>
                      </a: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a:t>
                      </a:r>
                      <a:r>
                        <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访问</a:t>
                      </a:r>
                      <a:endParaRPr kumimoji="0" lang="zh-CN" altLang="en-US"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a:t>
                      </a:r>
                      <a:endParaRPr kumimoji="0"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非阻塞</a:t>
                      </a: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Cache</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3</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硬件预取</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zh-CN"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3</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多访存部件</a:t>
                      </a:r>
                      <a:endParaRPr kumimoji="0" lang="zh-CN" altLang="en-US"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rPr>
                        <a:t>3</a:t>
                      </a:r>
                      <a:endParaRPr kumimoji="0" lang="en-US" altLang="zh-CN" sz="1600" b="1" i="0" u="none" strike="noStrike" cap="none" normalizeH="0" baseline="0" smtClean="0">
                        <a:ln>
                          <a:noFill/>
                        </a:ln>
                        <a:solidFill>
                          <a:srgbClr val="FF0000"/>
                        </a:solidFill>
                        <a:effectLst/>
                        <a:latin typeface="宋体" panose="02000500000000000000" pitchFamily="2" charset="-122"/>
                        <a:ea typeface="宋体" panose="02000500000000000000" pitchFamily="2" charset="-122"/>
                      </a:endParaRPr>
                    </a:p>
                  </a:txBody>
                  <a:tcPr marL="95661" marR="95661" marT="18000" marB="1800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noChangeArrowheads="1"/>
          </p:cNvSpPr>
          <p:nvPr>
            <p:ph type="sldNum" sz="quarter" idx="12"/>
          </p:nvPr>
        </p:nvSpPr>
        <p:spPr>
          <a:noFill/>
        </p:spPr>
        <p:txBody>
          <a:bodyPr/>
          <a:lstStyle/>
          <a:p>
            <a:fld id="{05E1670F-4049-4880-AB03-7B0EC94427A4}" type="slidenum">
              <a:rPr lang="en-US" altLang="zh-CN" smtClean="0"/>
            </a:fld>
            <a:endParaRPr lang="en-US" altLang="zh-CN" smtClean="0"/>
          </a:p>
        </p:txBody>
      </p:sp>
      <p:sp>
        <p:nvSpPr>
          <p:cNvPr id="61443" name="Rectangle 2"/>
          <p:cNvSpPr>
            <a:spLocks noGrp="1" noChangeArrowheads="1"/>
          </p:cNvSpPr>
          <p:nvPr>
            <p:ph type="title"/>
          </p:nvPr>
        </p:nvSpPr>
        <p:spPr>
          <a:xfrm>
            <a:off x="1066800" y="2895600"/>
            <a:ext cx="10361613" cy="1143000"/>
          </a:xfrm>
        </p:spPr>
        <p:txBody>
          <a:bodyPr/>
          <a:lstStyle/>
          <a:p>
            <a:pPr eaLnBrk="1" hangingPunct="1"/>
            <a:r>
              <a:rPr lang="zh-CN" altLang="en-US" sz="4000" smtClean="0"/>
              <a:t>部分处理器的存储层次</a:t>
            </a:r>
            <a:endParaRPr lang="zh-CN" altLang="en-US" sz="4000"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noChangeArrowheads="1"/>
          </p:cNvSpPr>
          <p:nvPr>
            <p:ph type="sldNum" sz="quarter" idx="12"/>
          </p:nvPr>
        </p:nvSpPr>
        <p:spPr>
          <a:noFill/>
        </p:spPr>
        <p:txBody>
          <a:bodyPr/>
          <a:lstStyle/>
          <a:p>
            <a:fld id="{ABD5FD94-34DB-4F22-8DB8-DE32E20DC7C0}" type="slidenum">
              <a:rPr lang="en-US" altLang="zh-CN" smtClean="0"/>
            </a:fld>
            <a:endParaRPr lang="en-US" altLang="zh-CN" smtClean="0"/>
          </a:p>
        </p:txBody>
      </p:sp>
      <p:sp>
        <p:nvSpPr>
          <p:cNvPr id="62467" name="Rectangle 2"/>
          <p:cNvSpPr>
            <a:spLocks noGrp="1" noChangeArrowheads="1"/>
          </p:cNvSpPr>
          <p:nvPr>
            <p:ph type="title"/>
          </p:nvPr>
        </p:nvSpPr>
        <p:spPr>
          <a:xfrm>
            <a:off x="914400" y="0"/>
            <a:ext cx="10361613" cy="1143000"/>
          </a:xfrm>
        </p:spPr>
        <p:txBody>
          <a:bodyPr/>
          <a:lstStyle/>
          <a:p>
            <a:pPr eaLnBrk="1" hangingPunct="1"/>
            <a:r>
              <a:rPr lang="en-US" altLang="zh-CN" smtClean="0"/>
              <a:t>MIPS R10000</a:t>
            </a:r>
            <a:r>
              <a:rPr lang="zh-CN" altLang="en-US" smtClean="0"/>
              <a:t>存储层次</a:t>
            </a:r>
            <a:endParaRPr lang="zh-CN" altLang="en-US" baseline="30000" smtClean="0"/>
          </a:p>
        </p:txBody>
      </p:sp>
      <p:sp>
        <p:nvSpPr>
          <p:cNvPr id="62468" name="Rectangle 3"/>
          <p:cNvSpPr>
            <a:spLocks noGrp="1" noChangeArrowheads="1"/>
          </p:cNvSpPr>
          <p:nvPr>
            <p:ph idx="1"/>
          </p:nvPr>
        </p:nvSpPr>
        <p:spPr>
          <a:xfrm>
            <a:off x="685800" y="1581150"/>
            <a:ext cx="10869613" cy="438150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32KB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r>
              <a:rPr lang="en-US" altLang="zh-CN" sz="1800" smtClean="0">
                <a:latin typeface="宋体" panose="02000500000000000000" pitchFamily="2" charset="-122"/>
              </a:rPr>
              <a:t>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32KB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片外，</a:t>
            </a:r>
            <a:r>
              <a:rPr lang="en-US" altLang="zh-CN" sz="1800" smtClean="0">
                <a:latin typeface="宋体" panose="02000500000000000000" pitchFamily="2" charset="-122"/>
              </a:rPr>
              <a:t>2</a:t>
            </a:r>
            <a:r>
              <a:rPr lang="zh-CN" altLang="en-US" sz="1800" smtClean="0">
                <a:latin typeface="宋体" panose="02000500000000000000" pitchFamily="2" charset="-122"/>
              </a:rPr>
              <a:t>路伪相联（</a:t>
            </a:r>
            <a:r>
              <a:rPr lang="en-US" altLang="zh-CN" sz="1800" smtClean="0">
                <a:latin typeface="宋体" panose="02000500000000000000" pitchFamily="2" charset="-122"/>
              </a:rPr>
              <a:t>way prediction</a:t>
            </a:r>
            <a:r>
              <a:rPr lang="zh-CN" altLang="en-US" sz="1800" smtClean="0">
                <a:latin typeface="宋体" panose="02000500000000000000" pitchFamily="2" charset="-122"/>
              </a:rPr>
              <a:t>）</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 </a:t>
            </a:r>
            <a:r>
              <a:rPr lang="en-US" altLang="zh-CN" sz="1800" smtClean="0">
                <a:latin typeface="宋体" panose="02000500000000000000" pitchFamily="2" charset="-122"/>
              </a:rPr>
              <a:t>512KB-16MB</a:t>
            </a:r>
            <a:endParaRPr lang="en-US" altLang="zh-CN"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1</a:t>
            </a:r>
            <a:r>
              <a:rPr lang="zh-CN" altLang="en-US" sz="2000" smtClean="0">
                <a:latin typeface="宋体" panose="02000500000000000000" pitchFamily="2" charset="-122"/>
              </a:rPr>
              <a:t>个</a:t>
            </a:r>
            <a:r>
              <a:rPr lang="en-US" altLang="zh-CN" sz="2000" smtClean="0">
                <a:latin typeface="宋体" panose="02000500000000000000" pitchFamily="2" charset="-122"/>
              </a:rPr>
              <a:t>load/store</a:t>
            </a:r>
            <a:r>
              <a:rPr lang="zh-CN" altLang="en-US" sz="2000" smtClean="0">
                <a:latin typeface="宋体" panose="02000500000000000000" pitchFamily="2" charset="-122"/>
              </a:rPr>
              <a:t>部件</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16</a:t>
            </a:r>
            <a:r>
              <a:rPr lang="zh-CN" altLang="en-US" sz="1800" smtClean="0">
                <a:latin typeface="宋体" panose="02000500000000000000" pitchFamily="2" charset="-122"/>
              </a:rPr>
              <a:t>项</a:t>
            </a:r>
            <a:r>
              <a:rPr lang="en-US" altLang="zh-CN" sz="1800" smtClean="0">
                <a:latin typeface="宋体" panose="02000500000000000000" pitchFamily="2" charset="-122"/>
              </a:rPr>
              <a:t>address queue</a:t>
            </a:r>
            <a:endParaRPr lang="en-US" altLang="zh-CN"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a:t>
            </a:r>
            <a:r>
              <a:rPr lang="en-US" altLang="zh-CN" sz="2000" smtClean="0">
                <a:latin typeface="宋体" panose="02000500000000000000" pitchFamily="2" charset="-122"/>
              </a:rPr>
              <a:t>predecode icache</a:t>
            </a:r>
            <a:r>
              <a:rPr lang="zh-CN" altLang="en-US" sz="2000" smtClean="0">
                <a:latin typeface="宋体" panose="02000500000000000000" pitchFamily="2" charset="-122"/>
              </a:rPr>
              <a:t>，</a:t>
            </a:r>
            <a:r>
              <a:rPr lang="en-US" altLang="zh-CN" sz="2000" smtClean="0">
                <a:latin typeface="宋体" panose="02000500000000000000" pitchFamily="2" charset="-122"/>
              </a:rPr>
              <a:t>L2</a:t>
            </a:r>
            <a:r>
              <a:rPr lang="zh-CN" altLang="en-US" sz="2000" smtClean="0">
                <a:latin typeface="宋体" panose="02000500000000000000" pitchFamily="2" charset="-122"/>
              </a:rPr>
              <a:t>伪相联</a:t>
            </a:r>
            <a:endParaRPr lang="zh-CN" altLang="en-US"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noChangeArrowheads="1"/>
          </p:cNvSpPr>
          <p:nvPr>
            <p:ph type="sldNum" sz="quarter" idx="12"/>
          </p:nvPr>
        </p:nvSpPr>
        <p:spPr>
          <a:noFill/>
        </p:spPr>
        <p:txBody>
          <a:bodyPr/>
          <a:lstStyle/>
          <a:p>
            <a:fld id="{5302EA54-082B-4294-B7C1-0C930333F492}" type="slidenum">
              <a:rPr lang="en-US" altLang="zh-CN" smtClean="0"/>
            </a:fld>
            <a:endParaRPr lang="en-US" altLang="zh-CN" smtClean="0"/>
          </a:p>
        </p:txBody>
      </p:sp>
      <p:sp>
        <p:nvSpPr>
          <p:cNvPr id="63491" name="Rectangle 2"/>
          <p:cNvSpPr>
            <a:spLocks noGrp="1" noChangeArrowheads="1"/>
          </p:cNvSpPr>
          <p:nvPr>
            <p:ph type="title"/>
          </p:nvPr>
        </p:nvSpPr>
        <p:spPr>
          <a:xfrm>
            <a:off x="965200" y="0"/>
            <a:ext cx="10361613" cy="1143000"/>
          </a:xfrm>
        </p:spPr>
        <p:txBody>
          <a:bodyPr/>
          <a:lstStyle/>
          <a:p>
            <a:pPr eaLnBrk="1" hangingPunct="1"/>
            <a:r>
              <a:rPr lang="en-US" altLang="zh-CN" smtClean="0"/>
              <a:t>HP PA-8x00</a:t>
            </a:r>
            <a:r>
              <a:rPr lang="zh-CN" altLang="en-US" smtClean="0"/>
              <a:t>存储层次</a:t>
            </a:r>
            <a:endParaRPr lang="zh-CN" altLang="en-US" baseline="30000" smtClean="0"/>
          </a:p>
        </p:txBody>
      </p:sp>
      <p:sp>
        <p:nvSpPr>
          <p:cNvPr id="63492" name="Rectangle 3"/>
          <p:cNvSpPr>
            <a:spLocks noGrp="1" noChangeArrowheads="1"/>
          </p:cNvSpPr>
          <p:nvPr>
            <p:ph idx="1"/>
          </p:nvPr>
        </p:nvSpPr>
        <p:spPr>
          <a:xfrm>
            <a:off x="914400" y="1447800"/>
            <a:ext cx="10361613" cy="4648200"/>
          </a:xfrm>
        </p:spPr>
        <p:txBody>
          <a:bodyPr/>
          <a:lstStyle/>
          <a:p>
            <a:pPr eaLnBrk="1" hangingPunct="1">
              <a:spcBef>
                <a:spcPct val="0"/>
              </a:spcBef>
            </a:pPr>
            <a:r>
              <a:rPr lang="en-US" altLang="zh-CN" sz="2000" smtClean="0">
                <a:latin typeface="宋体" panose="02000500000000000000" pitchFamily="2" charset="-122"/>
              </a:rPr>
              <a:t>L1: </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0.5~1.5MB</a:t>
            </a:r>
            <a:endParaRPr lang="en-US" altLang="zh-CN"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8500</a:t>
            </a:r>
            <a:r>
              <a:rPr lang="zh-CN" altLang="en-US" sz="1800" smtClean="0">
                <a:latin typeface="宋体" panose="02000500000000000000" pitchFamily="2" charset="-122"/>
              </a:rPr>
              <a:t>之前为片外（直接映射），之后为片内（</a:t>
            </a:r>
            <a:r>
              <a:rPr lang="en-US" altLang="zh-CN" sz="1800" smtClean="0">
                <a:latin typeface="宋体" panose="02000500000000000000" pitchFamily="2" charset="-122"/>
              </a:rPr>
              <a:t>4</a:t>
            </a:r>
            <a:r>
              <a:rPr lang="zh-CN" altLang="en-US" sz="1800" smtClean="0">
                <a:latin typeface="宋体" panose="02000500000000000000" pitchFamily="2" charset="-122"/>
              </a:rPr>
              <a:t>路组相联）</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一直到</a:t>
            </a:r>
            <a:r>
              <a:rPr lang="en-US" altLang="zh-CN" sz="1800" smtClean="0">
                <a:latin typeface="宋体" panose="02000500000000000000" pitchFamily="2" charset="-122"/>
              </a:rPr>
              <a:t>8700</a:t>
            </a:r>
            <a:r>
              <a:rPr lang="zh-CN" altLang="en-US" sz="1800" smtClean="0">
                <a:latin typeface="宋体" panose="02000500000000000000" pitchFamily="2" charset="-122"/>
              </a:rPr>
              <a:t>，无</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2</a:t>
            </a:r>
            <a:r>
              <a:rPr lang="zh-CN" altLang="en-US" sz="2000" smtClean="0">
                <a:latin typeface="宋体" panose="02000500000000000000" pitchFamily="2" charset="-122"/>
              </a:rPr>
              <a:t>个</a:t>
            </a:r>
            <a:r>
              <a:rPr lang="en-US" altLang="zh-CN" sz="2000" smtClean="0">
                <a:latin typeface="宋体" panose="02000500000000000000" pitchFamily="2" charset="-122"/>
              </a:rPr>
              <a:t>load/store</a:t>
            </a:r>
            <a:r>
              <a:rPr lang="zh-CN" altLang="en-US" sz="2000" smtClean="0">
                <a:latin typeface="宋体" panose="02000500000000000000" pitchFamily="2" charset="-122"/>
              </a:rPr>
              <a:t>部件</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28</a:t>
            </a:r>
            <a:r>
              <a:rPr lang="zh-CN" altLang="en-US" sz="1800" smtClean="0">
                <a:latin typeface="宋体" panose="02000500000000000000" pitchFamily="2" charset="-122"/>
              </a:rPr>
              <a:t>项</a:t>
            </a:r>
            <a:r>
              <a:rPr lang="en-US" altLang="zh-CN" sz="1800" smtClean="0">
                <a:latin typeface="宋体" panose="02000500000000000000" pitchFamily="2" charset="-122"/>
              </a:rPr>
              <a:t>address reorder</a:t>
            </a:r>
            <a:r>
              <a:rPr lang="zh-CN" altLang="en-US" sz="1800" smtClean="0">
                <a:latin typeface="宋体" panose="02000500000000000000" pitchFamily="2" charset="-122"/>
              </a:rPr>
              <a:t>队列</a:t>
            </a:r>
            <a:endParaRPr lang="zh-CN" altLang="en-US"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特点：巨大的一级</a:t>
            </a:r>
            <a:r>
              <a:rPr lang="en-US" altLang="zh-CN" sz="2000" smtClean="0">
                <a:latin typeface="宋体" panose="02000500000000000000" pitchFamily="2" charset="-122"/>
              </a:rPr>
              <a:t>cache</a:t>
            </a:r>
            <a:endParaRPr lang="en-US" altLang="zh-CN"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noChangeArrowheads="1"/>
          </p:cNvSpPr>
          <p:nvPr>
            <p:ph type="sldNum" sz="quarter" idx="12"/>
          </p:nvPr>
        </p:nvSpPr>
        <p:spPr>
          <a:noFill/>
        </p:spPr>
        <p:txBody>
          <a:bodyPr/>
          <a:lstStyle/>
          <a:p>
            <a:fld id="{0351558D-44BE-4139-9961-7A0A6934B324}" type="slidenum">
              <a:rPr lang="en-US" altLang="zh-CN" smtClean="0"/>
            </a:fld>
            <a:endParaRPr lang="en-US" altLang="zh-CN" smtClean="0"/>
          </a:p>
        </p:txBody>
      </p:sp>
      <p:sp>
        <p:nvSpPr>
          <p:cNvPr id="64515" name="Rectangle 2"/>
          <p:cNvSpPr>
            <a:spLocks noGrp="1" noChangeArrowheads="1"/>
          </p:cNvSpPr>
          <p:nvPr>
            <p:ph type="title"/>
          </p:nvPr>
        </p:nvSpPr>
        <p:spPr>
          <a:xfrm>
            <a:off x="914400" y="304800"/>
            <a:ext cx="10361613" cy="762000"/>
          </a:xfrm>
        </p:spPr>
        <p:txBody>
          <a:bodyPr/>
          <a:lstStyle/>
          <a:p>
            <a:pPr eaLnBrk="1" hangingPunct="1"/>
            <a:r>
              <a:rPr lang="en-US" altLang="zh-CN" smtClean="0"/>
              <a:t>UltraSparc III</a:t>
            </a:r>
            <a:r>
              <a:rPr lang="zh-CN" altLang="en-US" smtClean="0"/>
              <a:t>存储层次</a:t>
            </a:r>
            <a:endParaRPr lang="zh-CN" altLang="en-US" smtClean="0"/>
          </a:p>
        </p:txBody>
      </p:sp>
      <p:sp>
        <p:nvSpPr>
          <p:cNvPr id="64516" name="Rectangle 3"/>
          <p:cNvSpPr>
            <a:spLocks noGrp="1" noChangeArrowheads="1"/>
          </p:cNvSpPr>
          <p:nvPr>
            <p:ph idx="1"/>
          </p:nvPr>
        </p:nvSpPr>
        <p:spPr>
          <a:xfrm>
            <a:off x="609600" y="1143000"/>
            <a:ext cx="11250613" cy="542925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r>
              <a:rPr lang="en-US" altLang="zh-CN" sz="1800" smtClean="0">
                <a:latin typeface="宋体" panose="02000500000000000000" pitchFamily="2" charset="-122"/>
              </a:rPr>
              <a:t>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32KB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Prefetch</a:t>
            </a:r>
            <a:r>
              <a:rPr lang="zh-CN" altLang="en-US" sz="1800" smtClean="0">
                <a:latin typeface="宋体" panose="02000500000000000000" pitchFamily="2" charset="-122"/>
              </a:rPr>
              <a:t>：</a:t>
            </a:r>
            <a:r>
              <a:rPr lang="en-US" altLang="zh-CN" sz="1800" smtClean="0">
                <a:latin typeface="宋体" panose="02000500000000000000" pitchFamily="2" charset="-122"/>
              </a:rPr>
              <a:t>2KB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r>
              <a:rPr lang="en-US" altLang="zh-CN" sz="1800" smtClean="0">
                <a:latin typeface="宋体" panose="02000500000000000000" pitchFamily="2" charset="-122"/>
              </a:rPr>
              <a:t>3</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Write cache</a:t>
            </a:r>
            <a:r>
              <a:rPr lang="zh-CN" altLang="en-US" sz="1800" smtClean="0">
                <a:latin typeface="宋体" panose="02000500000000000000" pitchFamily="2" charset="-122"/>
              </a:rPr>
              <a:t>：</a:t>
            </a:r>
            <a:r>
              <a:rPr lang="en-US" altLang="zh-CN" sz="1800" smtClean="0">
                <a:latin typeface="宋体" panose="02000500000000000000" pitchFamily="2" charset="-122"/>
              </a:rPr>
              <a:t>2KB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r>
              <a:rPr lang="en-US" altLang="zh-CN" sz="1800" smtClean="0">
                <a:latin typeface="宋体" panose="02000500000000000000" pitchFamily="2" charset="-122"/>
              </a:rPr>
              <a:t>1</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1/4/8MB</a:t>
            </a:r>
            <a:r>
              <a:rPr lang="zh-CN" altLang="en-US" sz="1800" smtClean="0">
                <a:latin typeface="宋体" panose="02000500000000000000" pitchFamily="2" charset="-122"/>
              </a:rPr>
              <a:t>，直接映射，</a:t>
            </a:r>
            <a:r>
              <a:rPr lang="en-US" altLang="zh-CN" sz="1800" smtClean="0">
                <a:latin typeface="宋体" panose="02000500000000000000" pitchFamily="2" charset="-122"/>
              </a:rPr>
              <a:t>12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片上</a:t>
            </a:r>
            <a:r>
              <a:rPr lang="en-US" altLang="zh-CN" sz="1800" smtClean="0">
                <a:latin typeface="宋体" panose="02000500000000000000" pitchFamily="2" charset="-122"/>
              </a:rPr>
              <a:t>tag</a:t>
            </a:r>
            <a:r>
              <a:rPr lang="zh-CN" altLang="en-US" sz="1800" smtClean="0">
                <a:latin typeface="宋体" panose="02000500000000000000" pitchFamily="2" charset="-122"/>
              </a:rPr>
              <a:t>，片外</a:t>
            </a:r>
            <a:r>
              <a:rPr lang="en-US" altLang="zh-CN" sz="1800" smtClean="0">
                <a:latin typeface="宋体" panose="02000500000000000000" pitchFamily="2" charset="-122"/>
              </a:rPr>
              <a:t>data</a:t>
            </a:r>
            <a:endParaRPr lang="en-US" altLang="zh-CN"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1</a:t>
            </a:r>
            <a:r>
              <a:rPr lang="zh-CN" altLang="en-US" sz="2000" smtClean="0">
                <a:latin typeface="宋体" panose="02000500000000000000" pitchFamily="2" charset="-122"/>
              </a:rPr>
              <a:t>个</a:t>
            </a:r>
            <a:r>
              <a:rPr lang="en-US" altLang="zh-CN" sz="2000" smtClean="0">
                <a:latin typeface="宋体" panose="02000500000000000000" pitchFamily="2" charset="-122"/>
              </a:rPr>
              <a:t>load/store</a:t>
            </a:r>
            <a:r>
              <a:rPr lang="zh-CN" altLang="en-US" sz="2000" smtClean="0">
                <a:latin typeface="宋体" panose="02000500000000000000" pitchFamily="2" charset="-122"/>
              </a:rPr>
              <a:t>部件，片上内存控制器</a:t>
            </a:r>
            <a:endParaRPr lang="zh-CN" altLang="en-US" sz="20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a:t>
            </a:r>
            <a:r>
              <a:rPr lang="en-US" altLang="zh-CN" sz="2000" smtClean="0">
                <a:latin typeface="宋体" panose="02000500000000000000" pitchFamily="2" charset="-122"/>
              </a:rPr>
              <a:t>Sum-Addressed-Memory</a:t>
            </a:r>
            <a:r>
              <a:rPr lang="zh-CN" altLang="en-US" sz="2000" smtClean="0">
                <a:latin typeface="宋体" panose="02000500000000000000" pitchFamily="2" charset="-122"/>
              </a:rPr>
              <a:t>，片上</a:t>
            </a:r>
            <a:r>
              <a:rPr lang="en-US" altLang="zh-CN" sz="2000" smtClean="0">
                <a:latin typeface="宋体" panose="02000500000000000000" pitchFamily="2" charset="-122"/>
              </a:rPr>
              <a:t>L2 tag</a:t>
            </a:r>
            <a:r>
              <a:rPr lang="zh-CN" altLang="en-US" sz="2000" smtClean="0">
                <a:latin typeface="宋体" panose="02000500000000000000" pitchFamily="2" charset="-122"/>
              </a:rPr>
              <a:t>和内存控制器</a:t>
            </a:r>
            <a:endParaRPr lang="zh-CN" altLang="en-US"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noChangeArrowheads="1"/>
          </p:cNvSpPr>
          <p:nvPr>
            <p:ph type="sldNum" sz="quarter" idx="12"/>
          </p:nvPr>
        </p:nvSpPr>
        <p:spPr>
          <a:noFill/>
        </p:spPr>
        <p:txBody>
          <a:bodyPr/>
          <a:lstStyle/>
          <a:p>
            <a:fld id="{E29AE388-DDFB-4582-B1DC-102E09FC2FA1}" type="slidenum">
              <a:rPr lang="en-US" altLang="zh-CN" smtClean="0"/>
            </a:fld>
            <a:endParaRPr lang="en-US" altLang="zh-CN" smtClean="0"/>
          </a:p>
        </p:txBody>
      </p:sp>
      <p:sp>
        <p:nvSpPr>
          <p:cNvPr id="65539" name="Rectangle 2"/>
          <p:cNvSpPr>
            <a:spLocks noGrp="1" noChangeArrowheads="1"/>
          </p:cNvSpPr>
          <p:nvPr>
            <p:ph type="title"/>
          </p:nvPr>
        </p:nvSpPr>
        <p:spPr>
          <a:xfrm>
            <a:off x="838200" y="0"/>
            <a:ext cx="10361613" cy="1143000"/>
          </a:xfrm>
        </p:spPr>
        <p:txBody>
          <a:bodyPr/>
          <a:lstStyle/>
          <a:p>
            <a:pPr eaLnBrk="1" hangingPunct="1"/>
            <a:r>
              <a:rPr lang="en-US" altLang="zh-CN" smtClean="0"/>
              <a:t>Alpha 21264</a:t>
            </a:r>
            <a:r>
              <a:rPr lang="zh-CN" altLang="en-US" smtClean="0"/>
              <a:t>存储层次</a:t>
            </a:r>
            <a:endParaRPr lang="zh-CN" altLang="en-US" baseline="30000" smtClean="0"/>
          </a:p>
        </p:txBody>
      </p:sp>
      <p:sp>
        <p:nvSpPr>
          <p:cNvPr id="65540" name="Rectangle 3"/>
          <p:cNvSpPr>
            <a:spLocks noGrp="1" noChangeArrowheads="1"/>
          </p:cNvSpPr>
          <p:nvPr>
            <p:ph idx="1"/>
          </p:nvPr>
        </p:nvSpPr>
        <p:spPr>
          <a:xfrm>
            <a:off x="393700" y="1257300"/>
            <a:ext cx="11172825" cy="544830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r>
              <a:rPr lang="en-US" altLang="zh-CN" sz="1800" smtClean="0">
                <a:latin typeface="宋体" panose="02000500000000000000" pitchFamily="2" charset="-122"/>
              </a:rPr>
              <a:t>3</a:t>
            </a:r>
            <a:r>
              <a:rPr lang="zh-CN" altLang="en-US" sz="1800" smtClean="0">
                <a:latin typeface="宋体" panose="02000500000000000000" pitchFamily="2" charset="-122"/>
              </a:rPr>
              <a:t>拍延迟，倍频访问（</a:t>
            </a:r>
            <a:r>
              <a:rPr lang="en-US" altLang="zh-CN" sz="1800" smtClean="0">
                <a:latin typeface="宋体" panose="02000500000000000000" pitchFamily="2" charset="-122"/>
              </a:rPr>
              <a:t>double-pumped</a:t>
            </a:r>
            <a:r>
              <a:rPr lang="zh-CN" altLang="en-US" sz="1800" smtClean="0">
                <a:latin typeface="宋体" panose="02000500000000000000" pitchFamily="2" charset="-122"/>
              </a:rPr>
              <a:t>）</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路，行预测和路预测</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片外，</a:t>
            </a:r>
            <a:r>
              <a:rPr lang="en-US" altLang="zh-CN" sz="1800" smtClean="0">
                <a:latin typeface="宋体" panose="02000500000000000000" pitchFamily="2" charset="-122"/>
              </a:rPr>
              <a:t>1</a:t>
            </a:r>
            <a:r>
              <a:rPr lang="zh-CN" altLang="en-US" sz="1800" smtClean="0">
                <a:latin typeface="宋体" panose="02000500000000000000" pitchFamily="2" charset="-122"/>
              </a:rPr>
              <a:t>－</a:t>
            </a:r>
            <a:r>
              <a:rPr lang="en-US" altLang="zh-CN" sz="1800" smtClean="0">
                <a:latin typeface="宋体" panose="02000500000000000000" pitchFamily="2" charset="-122"/>
              </a:rPr>
              <a:t>16MB</a:t>
            </a:r>
            <a:r>
              <a:rPr lang="zh-CN" altLang="en-US" sz="1800" smtClean="0">
                <a:latin typeface="宋体" panose="02000500000000000000" pitchFamily="2" charset="-122"/>
              </a:rPr>
              <a:t>，最小</a:t>
            </a:r>
            <a:r>
              <a:rPr lang="en-US" altLang="zh-CN" sz="1800" smtClean="0">
                <a:latin typeface="宋体" panose="02000500000000000000" pitchFamily="2" charset="-122"/>
              </a:rPr>
              <a:t>12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2 load/store unit</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32 load queue</a:t>
            </a:r>
            <a:endParaRPr lang="en-US" altLang="zh-CN"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32 store queue</a:t>
            </a:r>
            <a:endParaRPr lang="en-US" altLang="zh-CN"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a:t>
            </a:r>
            <a:r>
              <a:rPr lang="en-US" altLang="zh-CN" sz="2000" smtClean="0">
                <a:latin typeface="宋体" panose="02000500000000000000" pitchFamily="2" charset="-122"/>
              </a:rPr>
              <a:t>icache</a:t>
            </a:r>
            <a:r>
              <a:rPr lang="zh-CN" altLang="en-US" sz="2000" smtClean="0">
                <a:latin typeface="宋体" panose="02000500000000000000" pitchFamily="2" charset="-122"/>
              </a:rPr>
              <a:t>行</a:t>
            </a:r>
            <a:r>
              <a:rPr lang="en-US" altLang="zh-CN" sz="2000" smtClean="0">
                <a:latin typeface="宋体" panose="02000500000000000000" pitchFamily="2" charset="-122"/>
              </a:rPr>
              <a:t>/</a:t>
            </a:r>
            <a:r>
              <a:rPr lang="zh-CN" altLang="en-US" sz="2000" smtClean="0">
                <a:latin typeface="宋体" panose="02000500000000000000" pitchFamily="2" charset="-122"/>
              </a:rPr>
              <a:t>路预测，</a:t>
            </a:r>
            <a:r>
              <a:rPr lang="en-US" altLang="zh-CN" sz="2000" smtClean="0">
                <a:latin typeface="宋体" panose="02000500000000000000" pitchFamily="2" charset="-122"/>
              </a:rPr>
              <a:t>dcache</a:t>
            </a:r>
            <a:r>
              <a:rPr lang="zh-CN" altLang="en-US" sz="2000" smtClean="0">
                <a:latin typeface="宋体" panose="02000500000000000000" pitchFamily="2" charset="-122"/>
              </a:rPr>
              <a:t>倍频访问</a:t>
            </a:r>
            <a:endParaRPr lang="zh-CN" altLang="en-US"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noChangeArrowheads="1"/>
          </p:cNvSpPr>
          <p:nvPr>
            <p:ph type="sldNum" sz="quarter" idx="12"/>
          </p:nvPr>
        </p:nvSpPr>
        <p:spPr>
          <a:noFill/>
        </p:spPr>
        <p:txBody>
          <a:bodyPr/>
          <a:lstStyle/>
          <a:p>
            <a:fld id="{6152BE36-AD83-4B56-A5C8-E3CA493F59D9}" type="slidenum">
              <a:rPr lang="en-US" altLang="zh-CN" smtClean="0"/>
            </a:fld>
            <a:endParaRPr lang="en-US" altLang="zh-CN" smtClean="0"/>
          </a:p>
        </p:txBody>
      </p:sp>
      <p:sp>
        <p:nvSpPr>
          <p:cNvPr id="66563" name="Rectangle 2"/>
          <p:cNvSpPr>
            <a:spLocks noGrp="1" noChangeArrowheads="1"/>
          </p:cNvSpPr>
          <p:nvPr>
            <p:ph type="title"/>
          </p:nvPr>
        </p:nvSpPr>
        <p:spPr>
          <a:xfrm>
            <a:off x="812800" y="200025"/>
            <a:ext cx="10361613" cy="838200"/>
          </a:xfrm>
        </p:spPr>
        <p:txBody>
          <a:bodyPr/>
          <a:lstStyle/>
          <a:p>
            <a:pPr eaLnBrk="1" hangingPunct="1"/>
            <a:r>
              <a:rPr lang="en-US" altLang="zh-CN" smtClean="0"/>
              <a:t>Power4</a:t>
            </a:r>
            <a:r>
              <a:rPr lang="zh-CN" altLang="en-US" smtClean="0"/>
              <a:t>存储层次</a:t>
            </a:r>
            <a:endParaRPr lang="zh-CN" altLang="en-US" baseline="30000" smtClean="0"/>
          </a:p>
        </p:txBody>
      </p:sp>
      <p:sp>
        <p:nvSpPr>
          <p:cNvPr id="66564" name="Rectangle 3"/>
          <p:cNvSpPr>
            <a:spLocks noGrp="1" noChangeArrowheads="1"/>
          </p:cNvSpPr>
          <p:nvPr>
            <p:ph idx="1"/>
          </p:nvPr>
        </p:nvSpPr>
        <p:spPr>
          <a:xfrm>
            <a:off x="609600" y="1149350"/>
            <a:ext cx="11390313" cy="540385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32KB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r>
              <a:rPr lang="en-US" altLang="zh-CN" sz="1800" smtClean="0">
                <a:latin typeface="宋体" panose="02000500000000000000" pitchFamily="2" charset="-122"/>
              </a:rPr>
              <a:t>2</a:t>
            </a:r>
            <a:r>
              <a:rPr lang="zh-CN" altLang="en-US" sz="1800" smtClean="0">
                <a:latin typeface="宋体" panose="02000500000000000000" pitchFamily="2" charset="-122"/>
              </a:rPr>
              <a:t>读</a:t>
            </a:r>
            <a:r>
              <a:rPr lang="en-US" altLang="zh-CN" sz="1800" smtClean="0">
                <a:latin typeface="宋体" panose="02000500000000000000" pitchFamily="2" charset="-122"/>
              </a:rPr>
              <a:t>1</a:t>
            </a:r>
            <a:r>
              <a:rPr lang="zh-CN" altLang="en-US" sz="1800" smtClean="0">
                <a:latin typeface="宋体" panose="02000500000000000000" pitchFamily="2" charset="-122"/>
              </a:rPr>
              <a:t>写端口，</a:t>
            </a:r>
            <a:r>
              <a:rPr lang="en-US" altLang="zh-CN" sz="1800" smtClean="0">
                <a:latin typeface="宋体" panose="02000500000000000000" pitchFamily="2" charset="-122"/>
              </a:rPr>
              <a:t>4</a:t>
            </a:r>
            <a:r>
              <a:rPr lang="zh-CN" altLang="en-US" sz="1800" smtClean="0">
                <a:latin typeface="宋体" panose="02000500000000000000" pitchFamily="2" charset="-122"/>
              </a:rPr>
              <a:t>拍</a:t>
            </a:r>
            <a:r>
              <a:rPr lang="en-US" altLang="zh-CN" sz="1800" smtClean="0">
                <a:latin typeface="宋体" panose="02000500000000000000" pitchFamily="2" charset="-122"/>
              </a:rPr>
              <a:t>load</a:t>
            </a:r>
            <a:r>
              <a:rPr lang="zh-CN" altLang="en-US" sz="1800" smtClean="0">
                <a:latin typeface="宋体" panose="02000500000000000000" pitchFamily="2" charset="-122"/>
              </a:rPr>
              <a:t>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，直接映射</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片上，</a:t>
            </a:r>
            <a:r>
              <a:rPr lang="en-US" altLang="zh-CN" sz="1800" smtClean="0">
                <a:latin typeface="宋体" panose="02000500000000000000" pitchFamily="2" charset="-122"/>
              </a:rPr>
              <a:t>1.5MB</a:t>
            </a:r>
            <a:r>
              <a:rPr lang="zh-CN" altLang="en-US" sz="1800" smtClean="0">
                <a:latin typeface="宋体" panose="02000500000000000000" pitchFamily="2" charset="-122"/>
              </a:rPr>
              <a:t>，</a:t>
            </a:r>
            <a:r>
              <a:rPr lang="en-US" altLang="zh-CN" sz="1800" smtClean="0">
                <a:latin typeface="宋体" panose="02000500000000000000" pitchFamily="2" charset="-122"/>
              </a:rPr>
              <a:t>8</a:t>
            </a:r>
            <a:r>
              <a:rPr lang="zh-CN" altLang="en-US" sz="1800" smtClean="0">
                <a:latin typeface="宋体" panose="02000500000000000000" pitchFamily="2" charset="-122"/>
              </a:rPr>
              <a:t>路组相联</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L3</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32MB 8</a:t>
            </a:r>
            <a:r>
              <a:rPr lang="zh-CN" altLang="en-US" sz="1800" smtClean="0">
                <a:latin typeface="宋体" panose="02000500000000000000" pitchFamily="2" charset="-122"/>
              </a:rPr>
              <a:t>路组相联，片上</a:t>
            </a:r>
            <a:r>
              <a:rPr lang="en-US" altLang="zh-CN" sz="1800" smtClean="0">
                <a:latin typeface="宋体" panose="02000500000000000000" pitchFamily="2" charset="-122"/>
              </a:rPr>
              <a:t>tag</a:t>
            </a:r>
            <a:r>
              <a:rPr lang="zh-CN" altLang="en-US" sz="1800" smtClean="0">
                <a:latin typeface="宋体" panose="02000500000000000000" pitchFamily="2" charset="-122"/>
              </a:rPr>
              <a:t>，片外</a:t>
            </a:r>
            <a:r>
              <a:rPr lang="en-US" altLang="zh-CN" sz="1800" smtClean="0">
                <a:latin typeface="宋体" panose="02000500000000000000" pitchFamily="2" charset="-122"/>
              </a:rPr>
              <a:t>data</a:t>
            </a:r>
            <a:endParaRPr lang="en-US" altLang="zh-CN"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2</a:t>
            </a:r>
            <a:r>
              <a:rPr lang="zh-CN" altLang="en-US" sz="2000" smtClean="0">
                <a:latin typeface="宋体" panose="02000500000000000000" pitchFamily="2" charset="-122"/>
              </a:rPr>
              <a:t>个</a:t>
            </a:r>
            <a:r>
              <a:rPr lang="en-US" altLang="zh-CN" sz="2000" smtClean="0">
                <a:latin typeface="宋体" panose="02000500000000000000" pitchFamily="2" charset="-122"/>
              </a:rPr>
              <a:t>load/store unit</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32 load queue</a:t>
            </a:r>
            <a:r>
              <a:rPr lang="zh-CN" altLang="en-US" sz="1800" smtClean="0">
                <a:latin typeface="宋体" panose="02000500000000000000" pitchFamily="2" charset="-122"/>
              </a:rPr>
              <a:t>，</a:t>
            </a:r>
            <a:r>
              <a:rPr lang="en-US" altLang="zh-CN" sz="1800" smtClean="0">
                <a:latin typeface="宋体" panose="02000500000000000000" pitchFamily="2" charset="-122"/>
              </a:rPr>
              <a:t>32 store queue </a:t>
            </a:r>
            <a:endParaRPr lang="en-US" altLang="zh-CN"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特点：片上</a:t>
            </a:r>
            <a:r>
              <a:rPr lang="en-US" altLang="zh-CN" sz="2000" smtClean="0">
                <a:latin typeface="宋体" panose="02000500000000000000" pitchFamily="2" charset="-122"/>
              </a:rPr>
              <a:t>cache</a:t>
            </a:r>
            <a:r>
              <a:rPr lang="zh-CN" altLang="en-US" sz="2000" smtClean="0">
                <a:latin typeface="宋体" panose="02000500000000000000" pitchFamily="2" charset="-122"/>
              </a:rPr>
              <a:t>多，数据通路宽，</a:t>
            </a:r>
            <a:r>
              <a:rPr lang="en-US" altLang="zh-CN" sz="2000" smtClean="0">
                <a:latin typeface="宋体" panose="02000500000000000000" pitchFamily="2" charset="-122"/>
              </a:rPr>
              <a:t>Cache</a:t>
            </a:r>
            <a:r>
              <a:rPr lang="zh-CN" altLang="en-US" sz="2000" smtClean="0">
                <a:latin typeface="宋体" panose="02000500000000000000" pitchFamily="2" charset="-122"/>
              </a:rPr>
              <a:t>块大（</a:t>
            </a:r>
            <a:r>
              <a:rPr lang="en-US" altLang="zh-CN" sz="2000" smtClean="0">
                <a:latin typeface="宋体" panose="02000500000000000000" pitchFamily="2" charset="-122"/>
              </a:rPr>
              <a:t>128-512B</a:t>
            </a:r>
            <a:r>
              <a:rPr lang="zh-CN" altLang="en-US" sz="2000" smtClean="0">
                <a:latin typeface="宋体" panose="02000500000000000000" pitchFamily="2" charset="-122"/>
              </a:rPr>
              <a:t>），并行处理能力强，</a:t>
            </a:r>
            <a:r>
              <a:rPr lang="en-US" altLang="zh-CN" sz="2000" smtClean="0">
                <a:latin typeface="宋体" panose="02000500000000000000" pitchFamily="2" charset="-122"/>
              </a:rPr>
              <a:t>SMP</a:t>
            </a:r>
            <a:r>
              <a:rPr lang="zh-CN" altLang="en-US" sz="2000" smtClean="0">
                <a:latin typeface="宋体" panose="02000500000000000000" pitchFamily="2" charset="-122"/>
              </a:rPr>
              <a:t>优化</a:t>
            </a:r>
            <a:endParaRPr lang="zh-CN" altLang="en-US"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noChangeArrowheads="1"/>
          </p:cNvSpPr>
          <p:nvPr>
            <p:ph type="sldNum" sz="quarter" idx="12"/>
          </p:nvPr>
        </p:nvSpPr>
        <p:spPr>
          <a:noFill/>
        </p:spPr>
        <p:txBody>
          <a:bodyPr/>
          <a:lstStyle/>
          <a:p>
            <a:fld id="{6D94F9D4-136E-4FAD-B0F1-D8C1E0258299}" type="slidenum">
              <a:rPr lang="en-US" altLang="zh-CN" smtClean="0"/>
            </a:fld>
            <a:endParaRPr lang="en-US" altLang="zh-CN" smtClean="0"/>
          </a:p>
        </p:txBody>
      </p:sp>
      <p:sp>
        <p:nvSpPr>
          <p:cNvPr id="67587" name="Rectangle 2"/>
          <p:cNvSpPr>
            <a:spLocks noGrp="1" noChangeArrowheads="1"/>
          </p:cNvSpPr>
          <p:nvPr>
            <p:ph type="title"/>
          </p:nvPr>
        </p:nvSpPr>
        <p:spPr>
          <a:xfrm>
            <a:off x="914400" y="0"/>
            <a:ext cx="10361613" cy="1143000"/>
          </a:xfrm>
        </p:spPr>
        <p:txBody>
          <a:bodyPr/>
          <a:lstStyle/>
          <a:p>
            <a:pPr eaLnBrk="1" hangingPunct="1"/>
            <a:r>
              <a:rPr lang="en-US" altLang="zh-CN" smtClean="0"/>
              <a:t>Pentium4</a:t>
            </a:r>
            <a:r>
              <a:rPr lang="zh-CN" altLang="en-US" smtClean="0"/>
              <a:t>存储层次</a:t>
            </a:r>
            <a:endParaRPr lang="zh-CN" altLang="en-US" baseline="30000" smtClean="0"/>
          </a:p>
        </p:txBody>
      </p:sp>
      <p:sp>
        <p:nvSpPr>
          <p:cNvPr id="67588" name="Rectangle 3"/>
          <p:cNvSpPr>
            <a:spLocks noGrp="1" noChangeArrowheads="1"/>
          </p:cNvSpPr>
          <p:nvPr>
            <p:ph idx="1"/>
          </p:nvPr>
        </p:nvSpPr>
        <p:spPr>
          <a:xfrm>
            <a:off x="914400" y="1543050"/>
            <a:ext cx="10361613" cy="464820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8KB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r>
              <a:rPr lang="en-US" altLang="zh-CN" sz="1800" smtClean="0">
                <a:latin typeface="宋体" panose="02000500000000000000" pitchFamily="2" charset="-122"/>
              </a:rPr>
              <a:t>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12K trace cache</a:t>
            </a:r>
            <a:endParaRPr lang="en-US" altLang="zh-CN"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256KB</a:t>
            </a:r>
            <a:r>
              <a:rPr lang="zh-CN" altLang="en-US" sz="1800" smtClean="0">
                <a:latin typeface="宋体" panose="02000500000000000000" pitchFamily="2" charset="-122"/>
              </a:rPr>
              <a:t>，</a:t>
            </a:r>
            <a:r>
              <a:rPr lang="en-US" altLang="zh-CN" sz="1800" smtClean="0">
                <a:latin typeface="宋体" panose="02000500000000000000" pitchFamily="2" charset="-122"/>
              </a:rPr>
              <a:t>8</a:t>
            </a:r>
            <a:r>
              <a:rPr lang="zh-CN" altLang="en-US" sz="1800" smtClean="0">
                <a:latin typeface="宋体" panose="02000500000000000000" pitchFamily="2" charset="-122"/>
              </a:rPr>
              <a:t>路，</a:t>
            </a:r>
            <a:r>
              <a:rPr lang="en-US" altLang="zh-CN" sz="1800" smtClean="0">
                <a:latin typeface="宋体" panose="02000500000000000000" pitchFamily="2" charset="-122"/>
              </a:rPr>
              <a:t>7</a:t>
            </a:r>
            <a:r>
              <a:rPr lang="zh-CN" altLang="en-US" sz="1800" smtClean="0">
                <a:latin typeface="宋体" panose="02000500000000000000" pitchFamily="2" charset="-122"/>
              </a:rPr>
              <a:t>拍</a:t>
            </a:r>
            <a:r>
              <a:rPr lang="en-US" altLang="zh-CN" sz="1800" smtClean="0">
                <a:latin typeface="宋体" panose="02000500000000000000" pitchFamily="2" charset="-122"/>
              </a:rPr>
              <a:t>load</a:t>
            </a:r>
            <a:r>
              <a:rPr lang="zh-CN" altLang="en-US" sz="1800" smtClean="0">
                <a:latin typeface="宋体" panose="02000500000000000000" pitchFamily="2" charset="-122"/>
              </a:rPr>
              <a:t>延迟</a:t>
            </a:r>
            <a:endParaRPr lang="zh-CN" altLang="en-US" sz="18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浮点直接访问</a:t>
            </a:r>
            <a:r>
              <a:rPr lang="en-US" altLang="zh-CN" sz="1800" smtClean="0">
                <a:latin typeface="宋体" panose="02000500000000000000" pitchFamily="2" charset="-122"/>
              </a:rPr>
              <a:t>2</a:t>
            </a:r>
            <a:r>
              <a:rPr lang="zh-CN" altLang="en-US" sz="1800" smtClean="0">
                <a:latin typeface="宋体" panose="02000500000000000000" pitchFamily="2" charset="-122"/>
              </a:rPr>
              <a:t>级</a:t>
            </a:r>
            <a:r>
              <a:rPr lang="en-US" altLang="zh-CN" sz="1800" smtClean="0">
                <a:latin typeface="宋体" panose="02000500000000000000" pitchFamily="2" charset="-122"/>
              </a:rPr>
              <a:t>Cache</a:t>
            </a:r>
            <a:endParaRPr lang="en-US" altLang="zh-CN"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每拍可以处理一个读一个写</a:t>
            </a:r>
            <a:endParaRPr lang="zh-CN" altLang="en-US"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48</a:t>
            </a:r>
            <a:r>
              <a:rPr lang="zh-CN" altLang="en-US" sz="1800" smtClean="0">
                <a:latin typeface="宋体" panose="02000500000000000000" pitchFamily="2" charset="-122"/>
              </a:rPr>
              <a:t>项</a:t>
            </a:r>
            <a:r>
              <a:rPr lang="en-US" altLang="zh-CN" sz="1800" smtClean="0">
                <a:latin typeface="宋体" panose="02000500000000000000" pitchFamily="2" charset="-122"/>
              </a:rPr>
              <a:t>load queue</a:t>
            </a:r>
            <a:r>
              <a:rPr lang="zh-CN" altLang="en-US" sz="1800" smtClean="0">
                <a:latin typeface="宋体" panose="02000500000000000000" pitchFamily="2" charset="-122"/>
              </a:rPr>
              <a:t>，</a:t>
            </a:r>
            <a:r>
              <a:rPr lang="en-US" altLang="zh-CN" sz="1800" smtClean="0">
                <a:latin typeface="宋体" panose="02000500000000000000" pitchFamily="2" charset="-122"/>
              </a:rPr>
              <a:t>24</a:t>
            </a:r>
            <a:r>
              <a:rPr lang="zh-CN" altLang="en-US" sz="1800" smtClean="0">
                <a:latin typeface="宋体" panose="02000500000000000000" pitchFamily="2" charset="-122"/>
              </a:rPr>
              <a:t>项</a:t>
            </a:r>
            <a:r>
              <a:rPr lang="en-US" altLang="zh-CN" sz="1800" smtClean="0">
                <a:latin typeface="宋体" panose="02000500000000000000" pitchFamily="2" charset="-122"/>
              </a:rPr>
              <a:t>store queue</a:t>
            </a:r>
            <a:endParaRPr lang="en-US" altLang="zh-CN" sz="18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特点：频率高，延迟较小，</a:t>
            </a:r>
            <a:r>
              <a:rPr lang="en-US" altLang="zh-CN" sz="2000" smtClean="0">
                <a:latin typeface="宋体" panose="02000500000000000000" pitchFamily="2" charset="-122"/>
              </a:rPr>
              <a:t>trace cache</a:t>
            </a:r>
            <a:endParaRPr lang="en-US" altLang="zh-CN"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noChangeArrowheads="1"/>
          </p:cNvSpPr>
          <p:nvPr>
            <p:ph type="sldNum" sz="quarter" idx="12"/>
          </p:nvPr>
        </p:nvSpPr>
        <p:spPr>
          <a:noFill/>
        </p:spPr>
        <p:txBody>
          <a:bodyPr/>
          <a:lstStyle/>
          <a:p>
            <a:fld id="{87262555-E1A0-4D4F-A5BA-9D76C1045D1A}" type="slidenum">
              <a:rPr lang="en-US" altLang="zh-CN" smtClean="0"/>
            </a:fld>
            <a:endParaRPr lang="en-US" altLang="zh-CN" smtClean="0"/>
          </a:p>
        </p:txBody>
      </p:sp>
      <p:sp>
        <p:nvSpPr>
          <p:cNvPr id="68611" name="Rectangle 2"/>
          <p:cNvSpPr>
            <a:spLocks noGrp="1" noChangeArrowheads="1"/>
          </p:cNvSpPr>
          <p:nvPr>
            <p:ph type="title"/>
          </p:nvPr>
        </p:nvSpPr>
        <p:spPr>
          <a:xfrm>
            <a:off x="939800" y="0"/>
            <a:ext cx="10361613" cy="1143000"/>
          </a:xfrm>
        </p:spPr>
        <p:txBody>
          <a:bodyPr/>
          <a:lstStyle/>
          <a:p>
            <a:pPr eaLnBrk="1" hangingPunct="1"/>
            <a:r>
              <a:rPr lang="en-US" altLang="zh-CN" smtClean="0"/>
              <a:t>Itanium2</a:t>
            </a:r>
            <a:r>
              <a:rPr lang="zh-CN" altLang="en-US" smtClean="0"/>
              <a:t>存储层次</a:t>
            </a:r>
            <a:endParaRPr lang="zh-CN" altLang="en-US" baseline="30000" smtClean="0"/>
          </a:p>
        </p:txBody>
      </p:sp>
      <p:sp>
        <p:nvSpPr>
          <p:cNvPr id="68612" name="Rectangle 3"/>
          <p:cNvSpPr>
            <a:spLocks noGrp="1" noChangeArrowheads="1"/>
          </p:cNvSpPr>
          <p:nvPr>
            <p:ph idx="1"/>
          </p:nvPr>
        </p:nvSpPr>
        <p:spPr>
          <a:xfrm>
            <a:off x="914400" y="1282700"/>
            <a:ext cx="10361613" cy="5575300"/>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16KB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路，两读两写端口，</a:t>
            </a:r>
            <a:r>
              <a:rPr lang="en-US" altLang="zh-CN" sz="1800" smtClean="0">
                <a:latin typeface="宋体" panose="02000500000000000000" pitchFamily="2" charset="-122"/>
              </a:rPr>
              <a:t>1</a:t>
            </a:r>
            <a:r>
              <a:rPr lang="zh-CN" altLang="en-US" sz="1800" smtClean="0">
                <a:latin typeface="宋体" panose="02000500000000000000" pitchFamily="2" charset="-122"/>
              </a:rPr>
              <a:t>拍</a:t>
            </a:r>
            <a:r>
              <a:rPr lang="en-US" altLang="zh-CN" sz="1800" smtClean="0">
                <a:latin typeface="宋体" panose="02000500000000000000" pitchFamily="2" charset="-122"/>
              </a:rPr>
              <a:t>load</a:t>
            </a:r>
            <a:r>
              <a:rPr lang="zh-CN" altLang="en-US" sz="1800" smtClean="0">
                <a:latin typeface="宋体" panose="02000500000000000000" pitchFamily="2" charset="-122"/>
              </a:rPr>
              <a:t>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16KB</a:t>
            </a:r>
            <a:r>
              <a:rPr lang="zh-CN" altLang="en-US" sz="1800" smtClean="0">
                <a:latin typeface="宋体" panose="02000500000000000000" pitchFamily="2" charset="-122"/>
              </a:rPr>
              <a:t>，</a:t>
            </a:r>
            <a:r>
              <a:rPr lang="en-US" altLang="zh-CN" sz="1800" smtClean="0">
                <a:latin typeface="宋体" panose="02000500000000000000" pitchFamily="2" charset="-122"/>
              </a:rPr>
              <a:t>4</a:t>
            </a:r>
            <a:r>
              <a:rPr lang="zh-CN" altLang="en-US" sz="1800" smtClean="0">
                <a:latin typeface="宋体" panose="02000500000000000000" pitchFamily="2" charset="-122"/>
              </a:rPr>
              <a:t>路，</a:t>
            </a:r>
            <a:r>
              <a:rPr lang="en-US" altLang="zh-CN" sz="1800" smtClean="0">
                <a:latin typeface="宋体" panose="02000500000000000000" pitchFamily="2" charset="-122"/>
              </a:rPr>
              <a:t>1</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256KB</a:t>
            </a:r>
            <a:r>
              <a:rPr lang="zh-CN" altLang="en-US" sz="1800" smtClean="0">
                <a:latin typeface="宋体" panose="02000500000000000000" pitchFamily="2" charset="-122"/>
              </a:rPr>
              <a:t>，</a:t>
            </a:r>
            <a:r>
              <a:rPr lang="en-US" altLang="zh-CN" sz="1800" smtClean="0">
                <a:latin typeface="宋体" panose="02000500000000000000" pitchFamily="2" charset="-122"/>
              </a:rPr>
              <a:t>8</a:t>
            </a:r>
            <a:r>
              <a:rPr lang="zh-CN" altLang="en-US" sz="1800" smtClean="0">
                <a:latin typeface="宋体" panose="02000500000000000000" pitchFamily="2" charset="-122"/>
              </a:rPr>
              <a:t>路，</a:t>
            </a:r>
            <a:r>
              <a:rPr lang="en-US" altLang="zh-CN" sz="1800" smtClean="0">
                <a:latin typeface="宋体" panose="02000500000000000000" pitchFamily="2" charset="-122"/>
              </a:rPr>
              <a:t>4</a:t>
            </a:r>
            <a:r>
              <a:rPr lang="zh-CN" altLang="en-US" sz="1800" smtClean="0">
                <a:latin typeface="宋体" panose="02000500000000000000" pitchFamily="2" charset="-122"/>
              </a:rPr>
              <a:t>端口，最小</a:t>
            </a:r>
            <a:r>
              <a:rPr lang="en-US" altLang="zh-CN" sz="1800" smtClean="0">
                <a:latin typeface="宋体" panose="02000500000000000000" pitchFamily="2" charset="-122"/>
              </a:rPr>
              <a:t>5</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L3</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片上，</a:t>
            </a:r>
            <a:r>
              <a:rPr lang="en-US" altLang="zh-CN" sz="1800" smtClean="0">
                <a:latin typeface="宋体" panose="02000500000000000000" pitchFamily="2" charset="-122"/>
              </a:rPr>
              <a:t>3MB</a:t>
            </a:r>
            <a:r>
              <a:rPr lang="zh-CN" altLang="en-US" sz="1800" smtClean="0">
                <a:latin typeface="宋体" panose="02000500000000000000" pitchFamily="2" charset="-122"/>
              </a:rPr>
              <a:t>，</a:t>
            </a:r>
            <a:r>
              <a:rPr lang="en-US" altLang="zh-CN" sz="1800" smtClean="0">
                <a:latin typeface="宋体" panose="02000500000000000000" pitchFamily="2" charset="-122"/>
              </a:rPr>
              <a:t>12</a:t>
            </a:r>
            <a:r>
              <a:rPr lang="zh-CN" altLang="en-US" sz="1800" smtClean="0">
                <a:latin typeface="宋体" panose="02000500000000000000" pitchFamily="2" charset="-122"/>
              </a:rPr>
              <a:t>路，最小</a:t>
            </a:r>
            <a:r>
              <a:rPr lang="en-US" altLang="zh-CN" sz="1800" smtClean="0">
                <a:latin typeface="宋体" panose="02000500000000000000" pitchFamily="2" charset="-122"/>
              </a:rPr>
              <a:t>12</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24</a:t>
            </a:r>
            <a:r>
              <a:rPr lang="zh-CN" altLang="en-US" sz="2000" smtClean="0">
                <a:latin typeface="宋体" panose="02000500000000000000" pitchFamily="2" charset="-122"/>
              </a:rPr>
              <a:t>项</a:t>
            </a:r>
            <a:r>
              <a:rPr lang="en-US" altLang="zh-CN" sz="2000" smtClean="0">
                <a:latin typeface="宋体" panose="02000500000000000000" pitchFamily="2" charset="-122"/>
              </a:rPr>
              <a:t>store queue</a:t>
            </a:r>
            <a:endParaRPr lang="en-US" altLang="zh-CN" sz="20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特点：</a:t>
            </a:r>
            <a:r>
              <a:rPr lang="en-US" altLang="zh-CN" sz="2000" smtClean="0">
                <a:latin typeface="宋体" panose="02000500000000000000" pitchFamily="2" charset="-122"/>
              </a:rPr>
              <a:t>integer load only L1 dcache, pre-validated cache tag, advanced load</a:t>
            </a:r>
            <a:endParaRPr lang="en-US" altLang="zh-CN"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noChangeArrowheads="1"/>
          </p:cNvSpPr>
          <p:nvPr>
            <p:ph type="sldNum" sz="quarter" idx="12"/>
          </p:nvPr>
        </p:nvSpPr>
        <p:spPr>
          <a:noFill/>
        </p:spPr>
        <p:txBody>
          <a:bodyPr/>
          <a:lstStyle/>
          <a:p>
            <a:fld id="{B9E44F69-DC93-4FB4-8399-425F55591D8D}" type="slidenum">
              <a:rPr lang="en-US" altLang="zh-CN" smtClean="0"/>
            </a:fld>
            <a:endParaRPr lang="en-US" altLang="zh-CN" smtClean="0"/>
          </a:p>
        </p:txBody>
      </p:sp>
      <p:pic>
        <p:nvPicPr>
          <p:cNvPr id="69635" name="Picture 2"/>
          <p:cNvPicPr>
            <a:picLocks noChangeAspect="1" noChangeArrowheads="1"/>
          </p:cNvPicPr>
          <p:nvPr/>
        </p:nvPicPr>
        <p:blipFill>
          <a:blip r:embed="rId1" cstate="print"/>
          <a:srcRect/>
          <a:stretch>
            <a:fillRect/>
          </a:stretch>
        </p:blipFill>
        <p:spPr bwMode="auto">
          <a:xfrm>
            <a:off x="844550" y="-4763"/>
            <a:ext cx="10515600" cy="2773363"/>
          </a:xfrm>
          <a:prstGeom prst="rect">
            <a:avLst/>
          </a:prstGeom>
          <a:noFill/>
          <a:ln w="9525">
            <a:noFill/>
            <a:miter lim="800000"/>
            <a:headEnd/>
            <a:tailEnd/>
          </a:ln>
        </p:spPr>
      </p:pic>
      <p:pic>
        <p:nvPicPr>
          <p:cNvPr id="69636" name="Picture 3"/>
          <p:cNvPicPr>
            <a:picLocks noChangeAspect="1" noChangeArrowheads="1"/>
          </p:cNvPicPr>
          <p:nvPr/>
        </p:nvPicPr>
        <p:blipFill>
          <a:blip r:embed="rId2" cstate="print"/>
          <a:srcRect/>
          <a:stretch>
            <a:fillRect/>
          </a:stretch>
        </p:blipFill>
        <p:spPr bwMode="auto">
          <a:xfrm>
            <a:off x="862013" y="2590800"/>
            <a:ext cx="10414000" cy="420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noChangeArrowheads="1"/>
          </p:cNvSpPr>
          <p:nvPr>
            <p:ph type="sldNum" sz="quarter" idx="12"/>
          </p:nvPr>
        </p:nvSpPr>
        <p:spPr>
          <a:noFill/>
        </p:spPr>
        <p:txBody>
          <a:bodyPr/>
          <a:lstStyle/>
          <a:p>
            <a:fld id="{BD641520-DF09-49FF-98E8-A399F48B72A4}" type="slidenum">
              <a:rPr lang="en-US" altLang="zh-CN" smtClean="0"/>
            </a:fld>
            <a:endParaRPr lang="en-US" altLang="zh-CN" smtClean="0"/>
          </a:p>
        </p:txBody>
      </p:sp>
      <p:sp>
        <p:nvSpPr>
          <p:cNvPr id="70659" name="Rectangle 2"/>
          <p:cNvSpPr>
            <a:spLocks noGrp="1" noChangeArrowheads="1"/>
          </p:cNvSpPr>
          <p:nvPr>
            <p:ph type="title"/>
          </p:nvPr>
        </p:nvSpPr>
        <p:spPr>
          <a:xfrm>
            <a:off x="939800" y="0"/>
            <a:ext cx="10361613" cy="1143000"/>
          </a:xfrm>
        </p:spPr>
        <p:txBody>
          <a:bodyPr/>
          <a:lstStyle/>
          <a:p>
            <a:pPr eaLnBrk="1" hangingPunct="1"/>
            <a:r>
              <a:rPr lang="en-US" altLang="zh-CN" smtClean="0"/>
              <a:t>Athlon64</a:t>
            </a:r>
            <a:r>
              <a:rPr lang="zh-CN" altLang="en-US" smtClean="0"/>
              <a:t>存储层次</a:t>
            </a:r>
            <a:endParaRPr lang="zh-CN" altLang="en-US" baseline="30000" smtClean="0"/>
          </a:p>
        </p:txBody>
      </p:sp>
      <p:sp>
        <p:nvSpPr>
          <p:cNvPr id="70660" name="Rectangle 3"/>
          <p:cNvSpPr>
            <a:spLocks noGrp="1" noChangeArrowheads="1"/>
          </p:cNvSpPr>
          <p:nvPr>
            <p:ph idx="1"/>
          </p:nvPr>
        </p:nvSpPr>
        <p:spPr>
          <a:xfrm>
            <a:off x="914400" y="1290638"/>
            <a:ext cx="10361613" cy="4805362"/>
          </a:xfrm>
        </p:spPr>
        <p:txBody>
          <a:bodyPr/>
          <a:lstStyle/>
          <a:p>
            <a:pPr eaLnBrk="1" hangingPunct="1">
              <a:spcBef>
                <a:spcPct val="0"/>
              </a:spcBef>
            </a:pPr>
            <a:r>
              <a:rPr lang="en-US" altLang="zh-CN" sz="2000" smtClean="0">
                <a:latin typeface="宋体" panose="02000500000000000000" pitchFamily="2" charset="-122"/>
              </a:rPr>
              <a:t>L1</a:t>
            </a:r>
            <a:endParaRPr lang="en-US" altLang="zh-CN" sz="20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Dcache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r>
              <a:rPr lang="en-US" altLang="zh-CN" sz="1800" smtClean="0">
                <a:latin typeface="宋体" panose="02000500000000000000" pitchFamily="2" charset="-122"/>
              </a:rPr>
              <a:t>3</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lvl="1" eaLnBrk="1" hangingPunct="1">
              <a:spcBef>
                <a:spcPct val="0"/>
              </a:spcBef>
            </a:pPr>
            <a:r>
              <a:rPr lang="en-US" altLang="zh-CN" sz="1800" smtClean="0">
                <a:latin typeface="宋体" panose="02000500000000000000" pitchFamily="2" charset="-122"/>
              </a:rPr>
              <a:t>Icache</a:t>
            </a:r>
            <a:r>
              <a:rPr lang="zh-CN" altLang="en-US" sz="1800" smtClean="0">
                <a:latin typeface="宋体" panose="02000500000000000000" pitchFamily="2" charset="-122"/>
              </a:rPr>
              <a:t>：</a:t>
            </a:r>
            <a:r>
              <a:rPr lang="en-US" altLang="zh-CN" sz="1800" smtClean="0">
                <a:latin typeface="宋体" panose="02000500000000000000" pitchFamily="2" charset="-122"/>
              </a:rPr>
              <a:t>64KB</a:t>
            </a:r>
            <a:r>
              <a:rPr lang="zh-CN" altLang="en-US" sz="1800" smtClean="0">
                <a:latin typeface="宋体" panose="02000500000000000000" pitchFamily="2" charset="-122"/>
              </a:rPr>
              <a:t>，</a:t>
            </a:r>
            <a:r>
              <a:rPr lang="en-US" altLang="zh-CN" sz="1800" smtClean="0">
                <a:latin typeface="宋体" panose="02000500000000000000" pitchFamily="2" charset="-122"/>
              </a:rPr>
              <a:t>2</a:t>
            </a:r>
            <a:r>
              <a:rPr lang="zh-CN" altLang="en-US" sz="1800" smtClean="0">
                <a:latin typeface="宋体" panose="02000500000000000000" pitchFamily="2" charset="-122"/>
              </a:rPr>
              <a:t>路，</a:t>
            </a:r>
            <a:r>
              <a:rPr lang="en-US" altLang="zh-CN" sz="1800" smtClean="0">
                <a:latin typeface="宋体" panose="02000500000000000000" pitchFamily="2" charset="-122"/>
              </a:rPr>
              <a:t>3</a:t>
            </a:r>
            <a:r>
              <a:rPr lang="zh-CN" altLang="en-US" sz="1800" smtClean="0">
                <a:latin typeface="宋体" panose="02000500000000000000" pitchFamily="2" charset="-122"/>
              </a:rPr>
              <a:t>拍延迟</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L2</a:t>
            </a:r>
            <a:endParaRPr lang="en-US" altLang="zh-CN" sz="2000" smtClean="0">
              <a:latin typeface="宋体" panose="02000500000000000000" pitchFamily="2" charset="-122"/>
            </a:endParaRPr>
          </a:p>
          <a:p>
            <a:pPr lvl="1" eaLnBrk="1" hangingPunct="1">
              <a:spcBef>
                <a:spcPct val="0"/>
              </a:spcBef>
            </a:pPr>
            <a:r>
              <a:rPr lang="zh-CN" altLang="en-US" sz="1800" smtClean="0">
                <a:latin typeface="宋体" panose="02000500000000000000" pitchFamily="2" charset="-122"/>
              </a:rPr>
              <a:t>片上</a:t>
            </a:r>
            <a:r>
              <a:rPr lang="en-US" altLang="zh-CN" sz="1800" smtClean="0">
                <a:latin typeface="宋体" panose="02000500000000000000" pitchFamily="2" charset="-122"/>
              </a:rPr>
              <a:t>256KB/512KB/1MB</a:t>
            </a:r>
            <a:r>
              <a:rPr lang="zh-CN" altLang="en-US" sz="1800" smtClean="0">
                <a:latin typeface="宋体" panose="02000500000000000000" pitchFamily="2" charset="-122"/>
              </a:rPr>
              <a:t>，</a:t>
            </a:r>
            <a:r>
              <a:rPr lang="en-US" altLang="zh-CN" sz="1800" smtClean="0">
                <a:latin typeface="宋体" panose="02000500000000000000" pitchFamily="2" charset="-122"/>
              </a:rPr>
              <a:t>16</a:t>
            </a:r>
            <a:r>
              <a:rPr lang="zh-CN" altLang="en-US" sz="1800" smtClean="0">
                <a:latin typeface="宋体" panose="02000500000000000000" pitchFamily="2" charset="-122"/>
              </a:rPr>
              <a:t>路</a:t>
            </a:r>
            <a:endParaRPr lang="zh-CN" altLang="en-US" sz="1800" smtClean="0">
              <a:latin typeface="宋体" panose="02000500000000000000" pitchFamily="2" charset="-122"/>
            </a:endParaRPr>
          </a:p>
          <a:p>
            <a:pPr eaLnBrk="1" hangingPunct="1">
              <a:spcBef>
                <a:spcPct val="0"/>
              </a:spcBef>
            </a:pPr>
            <a:r>
              <a:rPr lang="en-US" altLang="zh-CN" sz="2000" smtClean="0">
                <a:latin typeface="宋体" panose="02000500000000000000" pitchFamily="2" charset="-122"/>
              </a:rPr>
              <a:t>2</a:t>
            </a:r>
            <a:r>
              <a:rPr lang="zh-CN" altLang="en-US" sz="2000" smtClean="0">
                <a:latin typeface="宋体" panose="02000500000000000000" pitchFamily="2" charset="-122"/>
              </a:rPr>
              <a:t>个</a:t>
            </a:r>
            <a:r>
              <a:rPr lang="en-US" altLang="zh-CN" sz="2000" smtClean="0">
                <a:latin typeface="宋体" panose="02000500000000000000" pitchFamily="2" charset="-122"/>
              </a:rPr>
              <a:t>load/store</a:t>
            </a:r>
            <a:r>
              <a:rPr lang="zh-CN" altLang="en-US" sz="2000" smtClean="0">
                <a:latin typeface="宋体" panose="02000500000000000000" pitchFamily="2" charset="-122"/>
              </a:rPr>
              <a:t>部件</a:t>
            </a:r>
            <a:endParaRPr lang="zh-CN" altLang="en-US" sz="2000" smtClean="0">
              <a:latin typeface="宋体" panose="02000500000000000000" pitchFamily="2" charset="-122"/>
            </a:endParaRPr>
          </a:p>
          <a:p>
            <a:pPr eaLnBrk="1" hangingPunct="1">
              <a:spcBef>
                <a:spcPct val="0"/>
              </a:spcBef>
            </a:pPr>
            <a:r>
              <a:rPr lang="zh-CN" altLang="en-US" sz="2000" smtClean="0">
                <a:latin typeface="宋体" panose="02000500000000000000" pitchFamily="2" charset="-122"/>
              </a:rPr>
              <a:t>特色：</a:t>
            </a:r>
            <a:r>
              <a:rPr lang="en-US" altLang="zh-CN" sz="2000" smtClean="0">
                <a:latin typeface="宋体" panose="02000500000000000000" pitchFamily="2" charset="-122"/>
              </a:rPr>
              <a:t>HT</a:t>
            </a:r>
            <a:r>
              <a:rPr lang="zh-CN" altLang="en-US" sz="2000" smtClean="0">
                <a:latin typeface="宋体" panose="02000500000000000000" pitchFamily="2" charset="-122"/>
              </a:rPr>
              <a:t>接口，片上</a:t>
            </a:r>
            <a:r>
              <a:rPr lang="en-US" altLang="zh-CN" sz="2000" smtClean="0">
                <a:latin typeface="宋体" panose="02000500000000000000" pitchFamily="2" charset="-122"/>
              </a:rPr>
              <a:t>DDR</a:t>
            </a:r>
            <a:r>
              <a:rPr lang="zh-CN" altLang="en-US" sz="2000" smtClean="0">
                <a:latin typeface="宋体" panose="02000500000000000000" pitchFamily="2" charset="-122"/>
              </a:rPr>
              <a:t>内存控制器</a:t>
            </a:r>
            <a:endParaRPr lang="zh-CN" altLang="en-US" sz="2000" smtClean="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noChangeArrowheads="1"/>
          </p:cNvSpPr>
          <p:nvPr>
            <p:ph type="title"/>
          </p:nvPr>
        </p:nvSpPr>
        <p:spPr>
          <a:xfrm>
            <a:off x="914400" y="0"/>
            <a:ext cx="10361613" cy="819150"/>
          </a:xfrm>
        </p:spPr>
        <p:txBody>
          <a:bodyPr/>
          <a:lstStyle/>
          <a:p>
            <a:r>
              <a:rPr lang="zh-CN" altLang="en-US" smtClean="0"/>
              <a:t>典型处理器的数据通路（</a:t>
            </a:r>
            <a:r>
              <a:rPr lang="en-US" altLang="zh-CN" smtClean="0"/>
              <a:t>2010-2015</a:t>
            </a:r>
            <a:r>
              <a:rPr lang="zh-CN" altLang="en-US" smtClean="0"/>
              <a:t>）</a:t>
            </a:r>
            <a:endParaRPr lang="zh-CN" altLang="en-US" smtClean="0"/>
          </a:p>
        </p:txBody>
      </p:sp>
      <p:graphicFrame>
        <p:nvGraphicFramePr>
          <p:cNvPr id="4" name="内容占位符 3"/>
          <p:cNvGraphicFramePr>
            <a:graphicFrameLocks noGrp="1"/>
          </p:cNvGraphicFramePr>
          <p:nvPr>
            <p:ph idx="1"/>
          </p:nvPr>
        </p:nvGraphicFramePr>
        <p:xfrm>
          <a:off x="198438" y="723900"/>
          <a:ext cx="11764851" cy="6097979"/>
        </p:xfrm>
        <a:graphic>
          <a:graphicData uri="http://schemas.openxmlformats.org/drawingml/2006/table">
            <a:tbl>
              <a:tblPr/>
              <a:tblGrid>
                <a:gridCol w="1432358"/>
                <a:gridCol w="3113636"/>
                <a:gridCol w="2460605"/>
                <a:gridCol w="2480838"/>
                <a:gridCol w="2277414"/>
              </a:tblGrid>
              <a:tr h="196709">
                <a:tc>
                  <a:txBody>
                    <a:bodyPr/>
                    <a:lstStyle/>
                    <a:p>
                      <a:pPr algn="ctr">
                        <a:spcAft>
                          <a:spcPts val="0"/>
                        </a:spcAft>
                      </a:pP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Intel </a:t>
                      </a:r>
                      <a:r>
                        <a:rPr lang="en-US" sz="1200" b="1" kern="100" dirty="0" err="1">
                          <a:solidFill>
                            <a:schemeClr val="accent2"/>
                          </a:solidFill>
                          <a:latin typeface="+mn-ea"/>
                          <a:ea typeface="+mn-ea"/>
                          <a:cs typeface="Times New Roman"/>
                        </a:rPr>
                        <a:t>Sandybridge</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AMD </a:t>
                      </a:r>
                      <a:r>
                        <a:rPr lang="en-US" sz="1200" b="1" kern="100" dirty="0" err="1">
                          <a:solidFill>
                            <a:schemeClr val="accent2"/>
                          </a:solidFill>
                          <a:latin typeface="+mn-ea"/>
                          <a:ea typeface="+mn-ea"/>
                          <a:cs typeface="Times New Roman"/>
                        </a:rPr>
                        <a:t>BullDozer</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IBM Power7</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b="1" kern="100" dirty="0" smtClean="0">
                          <a:solidFill>
                            <a:schemeClr val="accent2"/>
                          </a:solidFill>
                          <a:latin typeface="+mn-ea"/>
                          <a:ea typeface="+mn-ea"/>
                          <a:cs typeface="Times New Roman"/>
                        </a:rPr>
                        <a:t>GS464E</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6709">
                <a:tc gridSpan="5">
                  <a:txBody>
                    <a:bodyPr/>
                    <a:lstStyle/>
                    <a:p>
                      <a:pPr indent="449580" algn="just">
                        <a:spcAft>
                          <a:spcPts val="0"/>
                        </a:spcAft>
                      </a:pPr>
                      <a:r>
                        <a:rPr lang="zh-CN" sz="1200" b="1" kern="100" dirty="0">
                          <a:solidFill>
                            <a:schemeClr val="accent2"/>
                          </a:solidFill>
                          <a:latin typeface="+mn-ea"/>
                          <a:ea typeface="+mn-ea"/>
                          <a:cs typeface="Times New Roman"/>
                        </a:rPr>
                        <a:t>前端</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96709">
                <a:tc>
                  <a:txBody>
                    <a:bodyPr/>
                    <a:lstStyle/>
                    <a:p>
                      <a:pPr algn="ctr">
                        <a:spcAft>
                          <a:spcPts val="0"/>
                        </a:spcAft>
                      </a:pPr>
                      <a:r>
                        <a:rPr lang="zh-CN" sz="1200" b="1" kern="100" dirty="0">
                          <a:solidFill>
                            <a:schemeClr val="accent2"/>
                          </a:solidFill>
                          <a:latin typeface="+mn-ea"/>
                          <a:ea typeface="+mn-ea"/>
                          <a:cs typeface="Times New Roman"/>
                        </a:rPr>
                        <a:t>取指宽度</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16 </a:t>
                      </a:r>
                      <a:r>
                        <a:rPr lang="zh-CN" sz="1200" b="1" kern="100" dirty="0">
                          <a:latin typeface="+mn-ea"/>
                          <a:ea typeface="+mn-ea"/>
                          <a:cs typeface="Times New Roman"/>
                        </a:rPr>
                        <a:t>字节</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 </a:t>
                      </a:r>
                      <a:r>
                        <a:rPr lang="zh-CN" sz="1200" b="1" kern="100" dirty="0">
                          <a:latin typeface="+mn-ea"/>
                          <a:ea typeface="+mn-ea"/>
                          <a:cs typeface="Times New Roman"/>
                        </a:rPr>
                        <a:t>字节</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 </a:t>
                      </a:r>
                      <a:r>
                        <a:rPr lang="zh-CN" sz="1200" b="1" kern="100" dirty="0">
                          <a:latin typeface="+mn-ea"/>
                          <a:ea typeface="+mn-ea"/>
                          <a:cs typeface="Times New Roman"/>
                        </a:rPr>
                        <a:t>指令</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 </a:t>
                      </a:r>
                      <a:r>
                        <a:rPr lang="zh-CN" sz="1200" b="1" kern="100" dirty="0">
                          <a:latin typeface="+mn-ea"/>
                          <a:ea typeface="+mn-ea"/>
                          <a:cs typeface="Times New Roman"/>
                        </a:rPr>
                        <a:t>指令</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6709">
                <a:tc>
                  <a:txBody>
                    <a:bodyPr/>
                    <a:lstStyle/>
                    <a:p>
                      <a:pPr algn="ctr">
                        <a:spcAft>
                          <a:spcPts val="0"/>
                        </a:spcAft>
                      </a:pPr>
                      <a:r>
                        <a:rPr lang="zh-CN" sz="1200" b="1" kern="100" dirty="0">
                          <a:solidFill>
                            <a:schemeClr val="accent2"/>
                          </a:solidFill>
                          <a:latin typeface="+mn-ea"/>
                          <a:ea typeface="+mn-ea"/>
                          <a:cs typeface="Times New Roman"/>
                        </a:rPr>
                        <a:t>一级指令缓存</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32KB, 8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64KB, 2</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smtClean="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32KB, 4 </a:t>
                      </a:r>
                      <a:r>
                        <a:rPr lang="zh-CN" sz="1200" b="1" kern="100" dirty="0">
                          <a:latin typeface="+mn-ea"/>
                          <a:ea typeface="+mn-ea"/>
                          <a:cs typeface="Times New Roman"/>
                        </a:rPr>
                        <a:t>路</a:t>
                      </a:r>
                      <a:r>
                        <a:rPr lang="en-US" sz="1200" b="1" kern="100" dirty="0">
                          <a:latin typeface="+mn-ea"/>
                          <a:ea typeface="+mn-ea"/>
                          <a:cs typeface="Times New Roman"/>
                        </a:rPr>
                        <a:t>, 128B/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64KB, 4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3418">
                <a:tc>
                  <a:txBody>
                    <a:bodyPr/>
                    <a:lstStyle/>
                    <a:p>
                      <a:pPr algn="ctr">
                        <a:spcAft>
                          <a:spcPts val="0"/>
                        </a:spcAft>
                      </a:pPr>
                      <a:r>
                        <a:rPr lang="zh-CN" sz="1200" b="1" kern="100" dirty="0">
                          <a:solidFill>
                            <a:schemeClr val="accent2"/>
                          </a:solidFill>
                          <a:latin typeface="+mn-ea"/>
                          <a:ea typeface="+mn-ea"/>
                          <a:cs typeface="Times New Roman"/>
                        </a:rPr>
                        <a:t>指令</a:t>
                      </a:r>
                      <a:r>
                        <a:rPr lang="en-US" sz="1200" b="1" kern="100" dirty="0">
                          <a:solidFill>
                            <a:schemeClr val="accent2"/>
                          </a:solidFill>
                          <a:latin typeface="+mn-ea"/>
                          <a:ea typeface="+mn-ea"/>
                          <a:cs typeface="Times New Roman"/>
                        </a:rPr>
                        <a:t>TLB</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72 </a:t>
                      </a:r>
                      <a:r>
                        <a:rPr lang="zh-CN" sz="1200" b="1" kern="100" dirty="0">
                          <a:latin typeface="+mn-ea"/>
                          <a:ea typeface="+mn-ea"/>
                          <a:cs typeface="Times New Roman"/>
                        </a:rPr>
                        <a:t>项</a:t>
                      </a:r>
                      <a:r>
                        <a:rPr lang="en-US" sz="1200" b="1" kern="100" dirty="0">
                          <a:latin typeface="+mn-ea"/>
                          <a:ea typeface="+mn-ea"/>
                          <a:cs typeface="Times New Roman"/>
                        </a:rPr>
                        <a:t>, </a:t>
                      </a:r>
                      <a:r>
                        <a:rPr lang="zh-CN" sz="1200" b="1" kern="100" dirty="0">
                          <a:latin typeface="+mn-ea"/>
                          <a:ea typeface="+mn-ea"/>
                          <a:cs typeface="Times New Roman"/>
                        </a:rPr>
                        <a:t>全相联</a:t>
                      </a:r>
                      <a:r>
                        <a:rPr lang="en-US" sz="1200" b="1" kern="100" dirty="0">
                          <a:latin typeface="+mn-ea"/>
                          <a:ea typeface="+mn-ea"/>
                          <a:cs typeface="Times New Roman"/>
                        </a:rPr>
                        <a:t>, </a:t>
                      </a:r>
                      <a:r>
                        <a:rPr lang="en-US" sz="1200" b="1" kern="100" dirty="0" smtClean="0">
                          <a:latin typeface="+mn-ea"/>
                          <a:ea typeface="+mn-ea"/>
                          <a:cs typeface="Times New Roman"/>
                        </a:rPr>
                        <a:t>L1 ITLB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L2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 </a:t>
                      </a:r>
                      <a:r>
                        <a:rPr lang="zh-CN" sz="1200" b="1" kern="100" dirty="0">
                          <a:latin typeface="+mn-ea"/>
                          <a:ea typeface="+mn-ea"/>
                          <a:cs typeface="Times New Roman"/>
                        </a:rPr>
                        <a:t>项</a:t>
                      </a:r>
                      <a:r>
                        <a:rPr lang="en-US" sz="1200" b="1" kern="100" dirty="0">
                          <a:latin typeface="+mn-ea"/>
                          <a:ea typeface="+mn-ea"/>
                          <a:cs typeface="Times New Roman"/>
                        </a:rPr>
                        <a:t>, 2 </a:t>
                      </a:r>
                      <a:r>
                        <a:rPr lang="zh-CN" sz="1200" b="1" kern="100" dirty="0">
                          <a:latin typeface="+mn-ea"/>
                          <a:ea typeface="+mn-ea"/>
                          <a:cs typeface="Times New Roman"/>
                        </a:rPr>
                        <a:t>路</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64 </a:t>
                      </a:r>
                      <a:r>
                        <a:rPr lang="zh-CN" sz="1200" b="1" kern="100" dirty="0">
                          <a:latin typeface="+mn-ea"/>
                          <a:ea typeface="+mn-ea"/>
                          <a:cs typeface="Times New Roman"/>
                        </a:rPr>
                        <a:t>项</a:t>
                      </a:r>
                      <a:r>
                        <a:rPr lang="en-US" sz="1200" b="1" kern="100" dirty="0">
                          <a:latin typeface="+mn-ea"/>
                          <a:ea typeface="+mn-ea"/>
                          <a:cs typeface="Times New Roman"/>
                        </a:rPr>
                        <a:t>, </a:t>
                      </a:r>
                      <a:r>
                        <a:rPr lang="zh-CN" sz="1200" b="1" kern="100" dirty="0">
                          <a:latin typeface="+mn-ea"/>
                          <a:ea typeface="+mn-ea"/>
                          <a:cs typeface="Times New Roman"/>
                        </a:rPr>
                        <a:t>全相联</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0254">
                <a:tc>
                  <a:txBody>
                    <a:bodyPr/>
                    <a:lstStyle/>
                    <a:p>
                      <a:pPr algn="ctr">
                        <a:spcAft>
                          <a:spcPts val="0"/>
                        </a:spcAft>
                      </a:pPr>
                      <a:r>
                        <a:rPr lang="zh-CN" sz="1200" b="1" kern="100" dirty="0">
                          <a:solidFill>
                            <a:schemeClr val="accent2"/>
                          </a:solidFill>
                          <a:latin typeface="+mn-ea"/>
                          <a:ea typeface="+mn-ea"/>
                          <a:cs typeface="Times New Roman"/>
                        </a:rPr>
                        <a:t>分支</a:t>
                      </a:r>
                      <a:r>
                        <a:rPr lang="zh-CN" sz="1200" b="1" kern="100" dirty="0" smtClean="0">
                          <a:solidFill>
                            <a:schemeClr val="accent2"/>
                          </a:solidFill>
                          <a:latin typeface="+mn-ea"/>
                          <a:ea typeface="+mn-ea"/>
                          <a:cs typeface="Times New Roman"/>
                        </a:rPr>
                        <a:t>预</a:t>
                      </a:r>
                      <a:r>
                        <a:rPr lang="zh-CN" altLang="en-US" sz="1200" b="1" kern="100" dirty="0" smtClean="0">
                          <a:solidFill>
                            <a:schemeClr val="accent2"/>
                          </a:solidFill>
                          <a:latin typeface="+mn-ea"/>
                          <a:ea typeface="+mn-ea"/>
                          <a:cs typeface="Times New Roman"/>
                        </a:rPr>
                        <a:t>测</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BTB (8K-16K?</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间接目标队列</a:t>
                      </a:r>
                      <a:r>
                        <a:rPr lang="en-US" sz="1200" b="1" kern="100" dirty="0">
                          <a:latin typeface="+mn-ea"/>
                          <a:ea typeface="+mn-ea"/>
                          <a:cs typeface="Times New Roman"/>
                        </a:rPr>
                        <a:t> (? </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RAS (? </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L1 BTB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5120 </a:t>
                      </a:r>
                      <a:r>
                        <a:rPr lang="zh-CN" sz="1200" b="1" kern="100" dirty="0">
                          <a:latin typeface="+mn-ea"/>
                          <a:ea typeface="+mn-ea"/>
                          <a:cs typeface="Times New Roman"/>
                        </a:rPr>
                        <a:t>项</a:t>
                      </a:r>
                      <a:r>
                        <a:rPr lang="en-US" sz="1200" b="1" kern="100" dirty="0">
                          <a:latin typeface="+mn-ea"/>
                          <a:ea typeface="+mn-ea"/>
                          <a:cs typeface="Times New Roman"/>
                        </a:rPr>
                        <a:t>, 5 </a:t>
                      </a:r>
                      <a:r>
                        <a:rPr lang="zh-CN" sz="1200" b="1" kern="100" dirty="0">
                          <a:latin typeface="+mn-ea"/>
                          <a:ea typeface="+mn-ea"/>
                          <a:cs typeface="Times New Roman"/>
                        </a:rPr>
                        <a:t>路</a:t>
                      </a:r>
                      <a:r>
                        <a:rPr lang="en-US" sz="1200" b="1" kern="100" dirty="0">
                          <a:latin typeface="+mn-ea"/>
                          <a:ea typeface="+mn-ea"/>
                          <a:cs typeface="Times New Roman"/>
                        </a:rPr>
                        <a:t> L2 BTB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 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24 </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8K </a:t>
                      </a:r>
                      <a:r>
                        <a:rPr lang="zh-CN" sz="1200" b="1" kern="100" dirty="0">
                          <a:latin typeface="+mn-ea"/>
                          <a:ea typeface="+mn-ea"/>
                          <a:cs typeface="Times New Roman"/>
                        </a:rPr>
                        <a:t>项本地</a:t>
                      </a:r>
                      <a:r>
                        <a:rPr lang="en-US" sz="1200" b="1" kern="100" dirty="0">
                          <a:latin typeface="+mn-ea"/>
                          <a:ea typeface="+mn-ea"/>
                          <a:cs typeface="Times New Roman"/>
                        </a:rPr>
                        <a:t> BHT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16K </a:t>
                      </a:r>
                      <a:r>
                        <a:rPr lang="zh-CN" sz="1200" b="1" kern="100" dirty="0">
                          <a:latin typeface="+mn-ea"/>
                          <a:ea typeface="+mn-ea"/>
                          <a:cs typeface="Times New Roman"/>
                        </a:rPr>
                        <a:t>项全局</a:t>
                      </a:r>
                      <a:r>
                        <a:rPr lang="en-US" sz="1200" b="1" kern="100" dirty="0">
                          <a:latin typeface="+mn-ea"/>
                          <a:ea typeface="+mn-ea"/>
                          <a:cs typeface="Times New Roman"/>
                        </a:rPr>
                        <a:t>BHT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 </a:t>
                      </a:r>
                      <a:r>
                        <a:rPr lang="zh-CN" sz="1200" b="1" kern="100" dirty="0">
                          <a:latin typeface="+mn-ea"/>
                          <a:ea typeface="+mn-ea"/>
                          <a:cs typeface="Times New Roman"/>
                        </a:rPr>
                        <a:t>项 全局</a:t>
                      </a:r>
                      <a:r>
                        <a:rPr lang="en-US" sz="1200" b="1" kern="100" dirty="0">
                          <a:latin typeface="+mn-ea"/>
                          <a:ea typeface="+mn-ea"/>
                          <a:cs typeface="Times New Roman"/>
                        </a:rPr>
                        <a:t> </a:t>
                      </a:r>
                      <a:r>
                        <a:rPr lang="en-US" sz="1200" b="1" kern="100" dirty="0" err="1">
                          <a:latin typeface="+mn-ea"/>
                          <a:ea typeface="+mn-ea"/>
                          <a:cs typeface="Times New Roman"/>
                        </a:rPr>
                        <a:t>sel</a:t>
                      </a:r>
                      <a:r>
                        <a:rPr lang="en-US" sz="1200" b="1" kern="100" dirty="0">
                          <a:latin typeface="+mn-ea"/>
                          <a:ea typeface="+mn-ea"/>
                          <a:cs typeface="Times New Roman"/>
                        </a:rPr>
                        <a: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 </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项本地</a:t>
                      </a:r>
                      <a:r>
                        <a:rPr lang="en-US" sz="1200" b="1" kern="100" dirty="0">
                          <a:latin typeface="+mn-ea"/>
                          <a:ea typeface="+mn-ea"/>
                          <a:cs typeface="Times New Roman"/>
                        </a:rPr>
                        <a:t> BHT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项全局</a:t>
                      </a:r>
                      <a:r>
                        <a:rPr lang="en-US" sz="1200" b="1" kern="100" dirty="0">
                          <a:latin typeface="+mn-ea"/>
                          <a:ea typeface="+mn-ea"/>
                          <a:cs typeface="Times New Roman"/>
                        </a:rPr>
                        <a:t>BHT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 全局</a:t>
                      </a:r>
                      <a:r>
                        <a:rPr lang="en-US" sz="1200" b="1" kern="100" dirty="0">
                          <a:latin typeface="+mn-ea"/>
                          <a:ea typeface="+mn-ea"/>
                          <a:cs typeface="Times New Roman"/>
                        </a:rPr>
                        <a:t> </a:t>
                      </a:r>
                      <a:r>
                        <a:rPr lang="en-US" sz="1200" b="1" kern="100" dirty="0" err="1">
                          <a:latin typeface="+mn-ea"/>
                          <a:ea typeface="+mn-ea"/>
                          <a:cs typeface="Times New Roman"/>
                        </a:rPr>
                        <a:t>sel</a:t>
                      </a:r>
                      <a:r>
                        <a:rPr lang="en-US" sz="1200" b="1" kern="100" dirty="0">
                          <a:latin typeface="+mn-ea"/>
                          <a:ea typeface="+mn-ea"/>
                          <a:cs typeface="Times New Roman"/>
                        </a:rPr>
                        <a: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a:t>
                      </a:r>
                      <a:r>
                        <a:rPr lang="zh-CN" sz="1200" b="1" kern="100" dirty="0">
                          <a:latin typeface="+mn-ea"/>
                          <a:ea typeface="+mn-ea"/>
                          <a:cs typeface="Times New Roman"/>
                        </a:rPr>
                        <a:t>项间接目标队列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6709">
                <a:tc gridSpan="5">
                  <a:txBody>
                    <a:bodyPr/>
                    <a:lstStyle/>
                    <a:p>
                      <a:pPr indent="281305" algn="l">
                        <a:spcAft>
                          <a:spcPts val="0"/>
                        </a:spcAft>
                      </a:pPr>
                      <a:r>
                        <a:rPr lang="zh-CN" sz="1200" b="1" kern="100" dirty="0">
                          <a:solidFill>
                            <a:schemeClr val="accent2"/>
                          </a:solidFill>
                          <a:latin typeface="+mn-ea"/>
                          <a:ea typeface="+mn-ea"/>
                          <a:cs typeface="Times New Roman"/>
                        </a:rPr>
                        <a:t>乱序执行</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96709">
                <a:tc>
                  <a:txBody>
                    <a:bodyPr/>
                    <a:lstStyle/>
                    <a:p>
                      <a:pPr algn="ctr">
                        <a:spcAft>
                          <a:spcPts val="0"/>
                        </a:spcAft>
                      </a:pPr>
                      <a:r>
                        <a:rPr lang="en-US" sz="1200" b="1" kern="100" dirty="0">
                          <a:solidFill>
                            <a:schemeClr val="accent2"/>
                          </a:solidFill>
                          <a:latin typeface="+mn-ea"/>
                          <a:ea typeface="+mn-ea"/>
                          <a:cs typeface="Times New Roman"/>
                        </a:rPr>
                        <a:t>Reorder</a:t>
                      </a:r>
                      <a:r>
                        <a:rPr lang="zh-CN" sz="1200" b="1" kern="100" dirty="0">
                          <a:solidFill>
                            <a:schemeClr val="accent2"/>
                          </a:solidFill>
                          <a:latin typeface="+mn-ea"/>
                          <a:ea typeface="+mn-ea"/>
                          <a:cs typeface="Times New Roman"/>
                        </a:rPr>
                        <a:t>缓存</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168 </a:t>
                      </a:r>
                      <a:r>
                        <a:rPr lang="zh-CN" sz="1200" b="1" kern="100">
                          <a:latin typeface="+mn-ea"/>
                          <a:ea typeface="+mn-ea"/>
                          <a:cs typeface="Times New Roman"/>
                        </a:rPr>
                        <a:t>项</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120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0127">
                <a:tc>
                  <a:txBody>
                    <a:bodyPr/>
                    <a:lstStyle/>
                    <a:p>
                      <a:pPr algn="ctr">
                        <a:spcAft>
                          <a:spcPts val="0"/>
                        </a:spcAft>
                      </a:pPr>
                      <a:r>
                        <a:rPr lang="zh-CN" sz="1200" b="1" kern="100" dirty="0">
                          <a:solidFill>
                            <a:schemeClr val="accent2"/>
                          </a:solidFill>
                          <a:latin typeface="+mn-ea"/>
                          <a:ea typeface="+mn-ea"/>
                          <a:cs typeface="Times New Roman"/>
                        </a:rPr>
                        <a:t>发射队列</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54-</a:t>
                      </a:r>
                      <a:r>
                        <a:rPr lang="zh-CN" sz="1200" b="1" kern="100" dirty="0">
                          <a:latin typeface="+mn-ea"/>
                          <a:ea typeface="+mn-ea"/>
                          <a:cs typeface="Times New Roman"/>
                        </a:rPr>
                        <a:t>项 统一</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60-</a:t>
                      </a:r>
                      <a:r>
                        <a:rPr lang="zh-CN" sz="1200" b="1" kern="100" dirty="0">
                          <a:latin typeface="+mn-ea"/>
                          <a:ea typeface="+mn-ea"/>
                          <a:cs typeface="Times New Roman"/>
                        </a:rPr>
                        <a:t>项 浮点</a:t>
                      </a:r>
                      <a:r>
                        <a:rPr lang="en-US" sz="1200" b="1" kern="100" dirty="0">
                          <a:latin typeface="+mn-ea"/>
                          <a:ea typeface="+mn-ea"/>
                          <a:cs typeface="Times New Roman"/>
                        </a:rPr>
                        <a:t>(</a:t>
                      </a:r>
                      <a:r>
                        <a:rPr lang="zh-CN" sz="1200" b="1" kern="100" dirty="0">
                          <a:latin typeface="+mn-ea"/>
                          <a:ea typeface="+mn-ea"/>
                          <a:cs typeface="Times New Roman"/>
                        </a:rPr>
                        <a:t>共享</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40-</a:t>
                      </a:r>
                      <a:r>
                        <a:rPr lang="zh-CN" sz="1200" b="1" kern="100" dirty="0">
                          <a:latin typeface="+mn-ea"/>
                          <a:ea typeface="+mn-ea"/>
                          <a:cs typeface="Times New Roman"/>
                        </a:rPr>
                        <a:t>项 定点</a:t>
                      </a:r>
                      <a:r>
                        <a:rPr lang="en-US" sz="1200" b="1" kern="100" dirty="0">
                          <a:latin typeface="+mn-ea"/>
                          <a:ea typeface="+mn-ea"/>
                          <a:cs typeface="Times New Roman"/>
                        </a:rPr>
                        <a:t>, </a:t>
                      </a:r>
                      <a:r>
                        <a:rPr lang="zh-CN" sz="1200" b="1" kern="100" dirty="0">
                          <a:latin typeface="+mn-ea"/>
                          <a:ea typeface="+mn-ea"/>
                          <a:cs typeface="Times New Roman"/>
                        </a:rPr>
                        <a:t>访存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48-</a:t>
                      </a:r>
                      <a:r>
                        <a:rPr lang="zh-CN" sz="1200" b="1" kern="100" dirty="0">
                          <a:latin typeface="+mn-ea"/>
                          <a:ea typeface="+mn-ea"/>
                          <a:cs typeface="Times New Roman"/>
                        </a:rPr>
                        <a:t>项 标准</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16-</a:t>
                      </a:r>
                      <a:r>
                        <a:rPr lang="zh-CN" sz="1200" b="1" kern="100" dirty="0">
                          <a:latin typeface="+mn-ea"/>
                          <a:ea typeface="+mn-ea"/>
                          <a:cs typeface="Times New Roman"/>
                        </a:rPr>
                        <a:t>项 </a:t>
                      </a:r>
                      <a:r>
                        <a:rPr lang="zh-CN" sz="1200" b="1" kern="100" dirty="0" smtClean="0">
                          <a:latin typeface="+mn-ea"/>
                          <a:ea typeface="+mn-ea"/>
                          <a:cs typeface="Times New Roman"/>
                        </a:rPr>
                        <a:t>浮点</a:t>
                      </a:r>
                      <a:r>
                        <a:rPr lang="en-US" altLang="zh-CN" sz="1200" b="1" kern="100" dirty="0" smtClean="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a:t>
                      </a:r>
                      <a:r>
                        <a:rPr lang="zh-CN" sz="1200" b="1" kern="100" dirty="0">
                          <a:latin typeface="+mn-ea"/>
                          <a:ea typeface="+mn-ea"/>
                          <a:cs typeface="Times New Roman"/>
                        </a:rPr>
                        <a:t>项 </a:t>
                      </a:r>
                      <a:r>
                        <a:rPr lang="zh-CN" sz="1200" b="1" kern="100" dirty="0" smtClean="0">
                          <a:latin typeface="+mn-ea"/>
                          <a:ea typeface="+mn-ea"/>
                          <a:cs typeface="Times New Roman"/>
                        </a:rPr>
                        <a:t>定点</a:t>
                      </a:r>
                      <a:r>
                        <a:rPr lang="en-US" altLang="zh-CN" sz="1200" b="1" kern="100" dirty="0" smtClean="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32-</a:t>
                      </a:r>
                      <a:r>
                        <a:rPr lang="zh-CN" sz="1200" b="1" kern="100" dirty="0">
                          <a:latin typeface="+mn-ea"/>
                          <a:ea typeface="+mn-ea"/>
                          <a:cs typeface="Times New Roman"/>
                        </a:rPr>
                        <a:t>项 访</a:t>
                      </a:r>
                      <a:r>
                        <a:rPr lang="zh-CN" sz="1200" b="1" kern="100" dirty="0" smtClean="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83545">
                <a:tc>
                  <a:txBody>
                    <a:bodyPr/>
                    <a:lstStyle/>
                    <a:p>
                      <a:pPr algn="ctr">
                        <a:spcAft>
                          <a:spcPts val="0"/>
                        </a:spcAft>
                      </a:pPr>
                      <a:r>
                        <a:rPr lang="zh-CN" sz="1200" b="1" kern="100" dirty="0">
                          <a:solidFill>
                            <a:schemeClr val="accent2"/>
                          </a:solidFill>
                          <a:latin typeface="+mn-ea"/>
                          <a:ea typeface="+mn-ea"/>
                          <a:cs typeface="Times New Roman"/>
                        </a:rPr>
                        <a:t>寄存器重命名</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160 </a:t>
                      </a:r>
                      <a:r>
                        <a:rPr lang="zh-CN" sz="1200" b="1" kern="100" dirty="0">
                          <a:latin typeface="+mn-ea"/>
                          <a:ea typeface="+mn-ea"/>
                          <a:cs typeface="Times New Roman"/>
                        </a:rPr>
                        <a:t>定点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144 </a:t>
                      </a:r>
                      <a:r>
                        <a:rPr lang="zh-CN" sz="1200" b="1" kern="100" dirty="0">
                          <a:latin typeface="+mn-ea"/>
                          <a:ea typeface="+mn-ea"/>
                          <a:cs typeface="Times New Roman"/>
                        </a:rPr>
                        <a:t>浮点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96 </a:t>
                      </a:r>
                      <a:r>
                        <a:rPr lang="zh-CN" sz="1200" b="1" kern="100">
                          <a:latin typeface="+mn-ea"/>
                          <a:ea typeface="+mn-ea"/>
                          <a:cs typeface="Times New Roman"/>
                        </a:rPr>
                        <a:t>定点</a:t>
                      </a:r>
                      <a:r>
                        <a:rPr lang="en-US" sz="1200" b="1" kern="100">
                          <a:latin typeface="+mn-ea"/>
                          <a:ea typeface="+mn-ea"/>
                          <a:cs typeface="Times New Roman"/>
                        </a:rPr>
                        <a:t>; </a:t>
                      </a:r>
                      <a:endParaRPr lang="zh-CN" sz="1200" b="1" kern="100">
                        <a:latin typeface="+mn-ea"/>
                        <a:ea typeface="+mn-ea"/>
                        <a:cs typeface="Times New Roman"/>
                      </a:endParaRPr>
                    </a:p>
                    <a:p>
                      <a:pPr algn="l">
                        <a:spcAft>
                          <a:spcPts val="0"/>
                        </a:spcAft>
                      </a:pPr>
                      <a:r>
                        <a:rPr lang="en-US" sz="1200" b="1" kern="100">
                          <a:latin typeface="+mn-ea"/>
                          <a:ea typeface="+mn-ea"/>
                          <a:cs typeface="Times New Roman"/>
                        </a:rPr>
                        <a:t>160 </a:t>
                      </a: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双核共享</a:t>
                      </a:r>
                      <a:r>
                        <a:rPr lang="en-US" sz="1200" b="1" kern="100">
                          <a:latin typeface="+mn-ea"/>
                          <a:ea typeface="+mn-ea"/>
                          <a:cs typeface="Times New Roman"/>
                        </a:rPr>
                        <a:t>)</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80 </a:t>
                      </a:r>
                      <a:r>
                        <a:rPr lang="zh-CN" sz="1200" b="1" kern="100" dirty="0">
                          <a:latin typeface="+mn-ea"/>
                          <a:ea typeface="+mn-ea"/>
                          <a:cs typeface="Times New Roman"/>
                        </a:rPr>
                        <a:t>定点</a:t>
                      </a:r>
                      <a:r>
                        <a:rPr lang="en-US" sz="1200" b="1" kern="100" dirty="0">
                          <a:latin typeface="+mn-ea"/>
                          <a:ea typeface="+mn-ea"/>
                          <a:cs typeface="Times New Roman"/>
                        </a:rPr>
                        <a:t>,</a:t>
                      </a:r>
                      <a:r>
                        <a:rPr lang="zh-CN" sz="1200" b="1" kern="100" dirty="0">
                          <a:latin typeface="+mn-ea"/>
                          <a:ea typeface="+mn-ea"/>
                          <a:cs typeface="Times New Roman"/>
                        </a:rPr>
                        <a:t>浮点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56 CR;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40 XER,</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24 </a:t>
                      </a:r>
                      <a:r>
                        <a:rPr lang="en-US" sz="1200" b="1" kern="100" dirty="0" err="1">
                          <a:latin typeface="+mn-ea"/>
                          <a:ea typeface="+mn-ea"/>
                          <a:cs typeface="Times New Roman"/>
                        </a:rPr>
                        <a:t>Link&amp;Count</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定点</a:t>
                      </a:r>
                      <a:r>
                        <a:rPr lang="en-US" sz="1200" b="1" kern="100" dirty="0">
                          <a:latin typeface="+mn-ea"/>
                          <a:ea typeface="+mn-ea"/>
                          <a:cs typeface="Times New Roman"/>
                        </a:rPr>
                        <a:t>;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 Acc;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32 </a:t>
                      </a:r>
                      <a:r>
                        <a:rPr lang="en-US" sz="1200" b="1" kern="100" dirty="0" err="1">
                          <a:latin typeface="+mn-ea"/>
                          <a:ea typeface="+mn-ea"/>
                          <a:cs typeface="Times New Roman"/>
                        </a:rPr>
                        <a:t>DSPCtrl</a:t>
                      </a:r>
                      <a:r>
                        <a:rPr lang="en-US" sz="1200" b="1" kern="100" dirty="0">
                          <a:latin typeface="+mn-ea"/>
                          <a:ea typeface="+mn-ea"/>
                          <a:cs typeface="Times New Roman"/>
                        </a:rPr>
                        <a:t>;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32 FCR</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6709">
                <a:tc gridSpan="5">
                  <a:txBody>
                    <a:bodyPr/>
                    <a:lstStyle/>
                    <a:p>
                      <a:pPr indent="281305" algn="l">
                        <a:spcAft>
                          <a:spcPts val="0"/>
                        </a:spcAft>
                      </a:pPr>
                      <a:r>
                        <a:rPr lang="zh-CN" sz="1200" b="1" kern="100" dirty="0">
                          <a:solidFill>
                            <a:schemeClr val="accent2"/>
                          </a:solidFill>
                          <a:latin typeface="+mn-ea"/>
                          <a:ea typeface="+mn-ea"/>
                          <a:cs typeface="Times New Roman"/>
                        </a:rPr>
                        <a:t>执行单元</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376963">
                <a:tc>
                  <a:txBody>
                    <a:bodyPr/>
                    <a:lstStyle/>
                    <a:p>
                      <a:pPr algn="ctr">
                        <a:spcAft>
                          <a:spcPts val="0"/>
                        </a:spcAft>
                      </a:pPr>
                      <a:r>
                        <a:rPr lang="zh-CN" altLang="en-US" sz="1200" b="1" kern="100" dirty="0" smtClean="0">
                          <a:solidFill>
                            <a:schemeClr val="accent2"/>
                          </a:solidFill>
                          <a:latin typeface="+mn-ea"/>
                          <a:ea typeface="+mn-ea"/>
                          <a:cs typeface="Times New Roman"/>
                        </a:rPr>
                        <a:t>执行单元个数</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ALU/LEA/Shift/128</a:t>
                      </a:r>
                      <a:r>
                        <a:rPr lang="zh-CN" sz="1200" b="1" kern="100" dirty="0">
                          <a:latin typeface="+mn-ea"/>
                          <a:ea typeface="+mn-ea"/>
                          <a:cs typeface="Times New Roman"/>
                        </a:rPr>
                        <a:t>位</a:t>
                      </a:r>
                      <a:r>
                        <a:rPr lang="en-US" sz="1200" b="1" kern="100" dirty="0">
                          <a:latin typeface="+mn-ea"/>
                          <a:ea typeface="+mn-ea"/>
                          <a:cs typeface="Times New Roman"/>
                        </a:rPr>
                        <a:t> MUL/128</a:t>
                      </a:r>
                      <a:r>
                        <a:rPr lang="zh-CN" sz="1200" b="1" kern="100" dirty="0">
                          <a:latin typeface="+mn-ea"/>
                          <a:ea typeface="+mn-ea"/>
                          <a:cs typeface="Times New Roman"/>
                        </a:rPr>
                        <a:t>位</a:t>
                      </a:r>
                      <a:r>
                        <a:rPr lang="en-US" sz="1200" b="1" kern="100" dirty="0">
                          <a:latin typeface="+mn-ea"/>
                          <a:ea typeface="+mn-ea"/>
                          <a:cs typeface="Times New Roman"/>
                        </a:rPr>
                        <a:t> Shift/256</a:t>
                      </a:r>
                      <a:r>
                        <a:rPr lang="zh-CN" sz="1200" b="1" kern="100" dirty="0" smtClean="0">
                          <a:latin typeface="+mn-ea"/>
                          <a:ea typeface="+mn-ea"/>
                          <a:cs typeface="Times New Roman"/>
                        </a:rPr>
                        <a:t>位</a:t>
                      </a:r>
                      <a:r>
                        <a:rPr lang="en-US" sz="1200" b="1" kern="100" dirty="0" smtClean="0">
                          <a:latin typeface="+mn-ea"/>
                          <a:ea typeface="+mn-ea"/>
                          <a:cs typeface="Times New Roman"/>
                        </a:rPr>
                        <a:t>FMUL/256</a:t>
                      </a:r>
                      <a:r>
                        <a:rPr lang="zh-CN" sz="1200" b="1" kern="100" dirty="0" smtClean="0">
                          <a:latin typeface="+mn-ea"/>
                          <a:ea typeface="+mn-ea"/>
                          <a:cs typeface="Times New Roman"/>
                        </a:rPr>
                        <a:t>位</a:t>
                      </a:r>
                      <a:r>
                        <a:rPr lang="en-US" sz="1200" b="1" kern="100" dirty="0" smtClean="0">
                          <a:latin typeface="+mn-ea"/>
                          <a:ea typeface="+mn-ea"/>
                          <a:cs typeface="Times New Roman"/>
                        </a:rPr>
                        <a:t>Blend </a:t>
                      </a:r>
                      <a:r>
                        <a:rPr lang="en-US" sz="1200" b="1" kern="100" dirty="0" smtClean="0">
                          <a:solidFill>
                            <a:schemeClr val="accent2"/>
                          </a:solidFill>
                          <a:latin typeface="+mn-ea"/>
                          <a:ea typeface="+mn-ea"/>
                          <a:cs typeface="Times New Roman"/>
                        </a:rPr>
                        <a:t>+</a:t>
                      </a:r>
                      <a:r>
                        <a:rPr lang="en-US" sz="1200" b="1" kern="100" dirty="0" smtClean="0">
                          <a:latin typeface="+mn-ea"/>
                          <a:ea typeface="+mn-ea"/>
                          <a:cs typeface="Times New Roman"/>
                        </a:rPr>
                        <a:t>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ALU/LEA/Shift/128</a:t>
                      </a:r>
                      <a:r>
                        <a:rPr lang="zh-CN" sz="1200" b="1" kern="100" dirty="0">
                          <a:latin typeface="+mn-ea"/>
                          <a:ea typeface="+mn-ea"/>
                          <a:cs typeface="Times New Roman"/>
                        </a:rPr>
                        <a:t>位</a:t>
                      </a:r>
                      <a:r>
                        <a:rPr lang="en-US" sz="1200" b="1" kern="100" dirty="0">
                          <a:latin typeface="+mn-ea"/>
                          <a:ea typeface="+mn-ea"/>
                          <a:cs typeface="Times New Roman"/>
                        </a:rPr>
                        <a:t> </a:t>
                      </a:r>
                      <a:r>
                        <a:rPr lang="en-US" sz="1200" b="1" kern="100" dirty="0" smtClean="0">
                          <a:latin typeface="+mn-ea"/>
                          <a:ea typeface="+mn-ea"/>
                          <a:cs typeface="Times New Roman"/>
                        </a:rPr>
                        <a:t>ALU /</a:t>
                      </a:r>
                      <a:r>
                        <a:rPr lang="en-US" sz="1200" b="1" kern="100" dirty="0">
                          <a:latin typeface="+mn-ea"/>
                          <a:ea typeface="+mn-ea"/>
                          <a:cs typeface="Times New Roman"/>
                        </a:rPr>
                        <a:t>128bit Shuffle/256</a:t>
                      </a:r>
                      <a:r>
                        <a:rPr lang="zh-CN" sz="1200" b="1" kern="100" dirty="0">
                          <a:latin typeface="+mn-ea"/>
                          <a:ea typeface="+mn-ea"/>
                          <a:cs typeface="Times New Roman"/>
                        </a:rPr>
                        <a:t>位</a:t>
                      </a:r>
                      <a:r>
                        <a:rPr lang="en-US" sz="1200" b="1" kern="100" dirty="0">
                          <a:latin typeface="+mn-ea"/>
                          <a:ea typeface="+mn-ea"/>
                          <a:cs typeface="Times New Roman"/>
                        </a:rPr>
                        <a:t> FADD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ALU/Shift/Branch</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ALU/128bit Shuffle/256</a:t>
                      </a:r>
                      <a:r>
                        <a:rPr lang="zh-CN" sz="1200" b="1" kern="100" dirty="0">
                          <a:latin typeface="+mn-ea"/>
                          <a:ea typeface="+mn-ea"/>
                          <a:cs typeface="Times New Roman"/>
                        </a:rPr>
                        <a:t>位</a:t>
                      </a:r>
                      <a:r>
                        <a:rPr lang="en-US" sz="1200" b="1" kern="100" dirty="0">
                          <a:latin typeface="+mn-ea"/>
                          <a:ea typeface="+mn-ea"/>
                          <a:cs typeface="Times New Roman"/>
                        </a:rPr>
                        <a:t> Shuffle/256</a:t>
                      </a:r>
                      <a:r>
                        <a:rPr lang="zh-CN" sz="1200" b="1" kern="100" dirty="0">
                          <a:latin typeface="+mn-ea"/>
                          <a:ea typeface="+mn-ea"/>
                          <a:cs typeface="Times New Roman"/>
                        </a:rPr>
                        <a:t>位</a:t>
                      </a:r>
                      <a:r>
                        <a:rPr lang="en-US" sz="1200" b="1" kern="100" dirty="0">
                          <a:latin typeface="+mn-ea"/>
                          <a:ea typeface="+mn-ea"/>
                          <a:cs typeface="Times New Roman"/>
                        </a:rPr>
                        <a:t> Blend</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ALU/IMUL/Branch </a:t>
                      </a:r>
                      <a:r>
                        <a:rPr lang="en-US" sz="1200" b="1" kern="100" dirty="0" smtClean="0">
                          <a:solidFill>
                            <a:schemeClr val="accent2"/>
                          </a:solidFill>
                          <a:latin typeface="+mn-ea"/>
                          <a:ea typeface="+mn-ea"/>
                          <a:cs typeface="Times New Roman"/>
                        </a:rPr>
                        <a:t>+ </a:t>
                      </a:r>
                      <a:r>
                        <a:rPr lang="en-US" sz="1200" b="1" kern="100" dirty="0" smtClean="0">
                          <a:latin typeface="+mn-ea"/>
                          <a:ea typeface="+mn-ea"/>
                          <a:cs typeface="Times New Roman"/>
                        </a:rPr>
                        <a:t>ALU/IDIV/Count </a:t>
                      </a:r>
                      <a:r>
                        <a:rPr lang="en-US" sz="1200" b="1" kern="100" dirty="0" smtClean="0">
                          <a:solidFill>
                            <a:schemeClr val="accent2"/>
                          </a:solidFill>
                          <a:latin typeface="+mn-ea"/>
                          <a:ea typeface="+mn-ea"/>
                          <a:cs typeface="Times New Roman"/>
                        </a:rPr>
                        <a:t>+ </a:t>
                      </a:r>
                      <a:endParaRPr lang="en-US" sz="1200" b="1" kern="100" dirty="0" smtClean="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FMAC/128</a:t>
                      </a:r>
                      <a:r>
                        <a:rPr lang="zh-CN" sz="1200" b="1" kern="100" dirty="0">
                          <a:latin typeface="+mn-ea"/>
                          <a:ea typeface="+mn-ea"/>
                          <a:cs typeface="Times New Roman"/>
                        </a:rPr>
                        <a:t>位</a:t>
                      </a:r>
                      <a:r>
                        <a:rPr lang="en-US" sz="1200" b="1" kern="100" dirty="0">
                          <a:latin typeface="+mn-ea"/>
                          <a:ea typeface="+mn-ea"/>
                          <a:cs typeface="Times New Roman"/>
                        </a:rPr>
                        <a:t> IMAC </a:t>
                      </a:r>
                      <a:r>
                        <a:rPr lang="en-US" sz="1200" b="1" kern="100" dirty="0">
                          <a:solidFill>
                            <a:schemeClr val="accent2"/>
                          </a:solidFill>
                          <a:latin typeface="+mn-ea"/>
                          <a:ea typeface="+mn-ea"/>
                          <a:cs typeface="Times New Roman"/>
                        </a:rPr>
                        <a:t>+</a:t>
                      </a:r>
                      <a:r>
                        <a:rPr lang="en-US" sz="1200" b="1" kern="100" dirty="0">
                          <a:latin typeface="+mn-ea"/>
                          <a:ea typeface="+mn-ea"/>
                          <a:cs typeface="Times New Roman"/>
                        </a:rPr>
                        <a:t> </a:t>
                      </a:r>
                      <a:r>
                        <a:rPr lang="en-US" sz="1200" b="1" kern="100" dirty="0" smtClean="0">
                          <a:latin typeface="+mn-ea"/>
                          <a:ea typeface="+mn-ea"/>
                          <a:cs typeface="Times New Roman"/>
                        </a:rPr>
                        <a:t>128</a:t>
                      </a:r>
                      <a:r>
                        <a:rPr lang="zh-CN" sz="1200" b="1" kern="100" dirty="0" smtClean="0">
                          <a:latin typeface="+mn-ea"/>
                          <a:ea typeface="+mn-ea"/>
                          <a:cs typeface="Times New Roman"/>
                        </a:rPr>
                        <a:t>位</a:t>
                      </a:r>
                      <a:r>
                        <a:rPr lang="en-US" sz="1200" b="1" kern="100" dirty="0" smtClean="0">
                          <a:latin typeface="+mn-ea"/>
                          <a:ea typeface="+mn-ea"/>
                          <a:cs typeface="Times New Roman"/>
                        </a:rPr>
                        <a:t>FMAC/128</a:t>
                      </a:r>
                      <a:r>
                        <a:rPr lang="zh-CN" sz="1200" b="1" kern="100" dirty="0">
                          <a:latin typeface="+mn-ea"/>
                          <a:ea typeface="+mn-ea"/>
                          <a:cs typeface="Times New Roman"/>
                        </a:rPr>
                        <a:t>位</a:t>
                      </a:r>
                      <a:r>
                        <a:rPr lang="en-US" sz="1200" b="1" kern="100" dirty="0">
                          <a:latin typeface="+mn-ea"/>
                          <a:ea typeface="+mn-ea"/>
                          <a:cs typeface="Times New Roman"/>
                        </a:rPr>
                        <a:t> XBAR </a:t>
                      </a:r>
                      <a:r>
                        <a:rPr lang="en-US" sz="1200" b="1" kern="100" dirty="0">
                          <a:solidFill>
                            <a:schemeClr val="accent2"/>
                          </a:solidFill>
                          <a:latin typeface="+mn-ea"/>
                          <a:ea typeface="+mn-ea"/>
                          <a:cs typeface="Times New Roman"/>
                        </a:rPr>
                        <a:t>+</a:t>
                      </a:r>
                      <a:r>
                        <a:rPr lang="en-US" sz="1200" b="1" kern="100" dirty="0">
                          <a:latin typeface="+mn-ea"/>
                          <a:ea typeface="+mn-ea"/>
                          <a:cs typeface="Times New Roman"/>
                        </a:rPr>
                        <a:t>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MMX </a:t>
                      </a:r>
                      <a:r>
                        <a:rPr lang="en-US" sz="1200" b="1" kern="100" dirty="0">
                          <a:solidFill>
                            <a:schemeClr val="accent2"/>
                          </a:solidFill>
                          <a:latin typeface="+mn-ea"/>
                          <a:ea typeface="+mn-ea"/>
                          <a:cs typeface="Times New Roman"/>
                        </a:rPr>
                        <a:t>+ </a:t>
                      </a:r>
                      <a:endParaRPr lang="en-US" sz="1200" b="1" kern="100" dirty="0" smtClean="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MMX/128</a:t>
                      </a:r>
                      <a:r>
                        <a:rPr lang="zh-CN" sz="1200" b="1" kern="100" dirty="0">
                          <a:latin typeface="+mn-ea"/>
                          <a:ea typeface="+mn-ea"/>
                          <a:cs typeface="Times New Roman"/>
                        </a:rPr>
                        <a:t>位</a:t>
                      </a:r>
                      <a:r>
                        <a:rPr lang="en-US" sz="1200" b="1" kern="100" dirty="0">
                          <a:latin typeface="+mn-ea"/>
                          <a:ea typeface="+mn-ea"/>
                          <a:cs typeface="Times New Roman"/>
                        </a:rPr>
                        <a:t> FSTO</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定点</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1 </a:t>
                      </a:r>
                      <a:r>
                        <a:rPr lang="zh-CN" sz="1200" b="1" kern="100" dirty="0">
                          <a:latin typeface="+mn-ea"/>
                          <a:ea typeface="+mn-ea"/>
                          <a:cs typeface="Times New Roman"/>
                        </a:rPr>
                        <a:t>转移</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1 CR</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定点</a:t>
                      </a:r>
                      <a:r>
                        <a:rPr lang="en-US" sz="1200" b="1" kern="100" dirty="0">
                          <a:latin typeface="+mn-ea"/>
                          <a:ea typeface="+mn-ea"/>
                          <a:cs typeface="Times New Roman"/>
                        </a:rPr>
                        <a:t>/</a:t>
                      </a:r>
                      <a:r>
                        <a:rPr lang="zh-CN" sz="1200" b="1" kern="100" dirty="0">
                          <a:latin typeface="+mn-ea"/>
                          <a:ea typeface="+mn-ea"/>
                          <a:cs typeface="Times New Roman"/>
                        </a:rPr>
                        <a:t>转移</a:t>
                      </a:r>
                      <a:r>
                        <a:rPr lang="en-US" sz="1200" b="1" kern="100" dirty="0">
                          <a:latin typeface="+mn-ea"/>
                          <a:ea typeface="+mn-ea"/>
                          <a:cs typeface="Times New Roman"/>
                        </a:rPr>
                        <a:t>/DSP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6709">
                <a:tc>
                  <a:txBody>
                    <a:bodyPr/>
                    <a:lstStyle/>
                    <a:p>
                      <a:pPr algn="ctr">
                        <a:spcAft>
                          <a:spcPts val="0"/>
                        </a:spcAft>
                      </a:pPr>
                      <a:r>
                        <a:rPr lang="zh-CN" sz="1200" b="1" kern="100" dirty="0">
                          <a:solidFill>
                            <a:schemeClr val="accent2"/>
                          </a:solidFill>
                          <a:latin typeface="+mn-ea"/>
                          <a:ea typeface="+mn-ea"/>
                          <a:cs typeface="Times New Roman"/>
                        </a:rPr>
                        <a:t>向量</a:t>
                      </a:r>
                      <a:r>
                        <a:rPr lang="zh-CN" sz="1200" b="1" kern="100" dirty="0" smtClean="0">
                          <a:solidFill>
                            <a:schemeClr val="accent2"/>
                          </a:solidFill>
                          <a:latin typeface="+mn-ea"/>
                          <a:ea typeface="+mn-ea"/>
                          <a:cs typeface="Times New Roman"/>
                        </a:rPr>
                        <a:t>部件宽度</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256</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128</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128</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latin typeface="+mn-ea"/>
                          <a:ea typeface="+mn-ea"/>
                          <a:cs typeface="Times New Roman"/>
                        </a:rPr>
                        <a:t>256</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title"/>
          </p:nvPr>
        </p:nvSpPr>
        <p:spPr>
          <a:xfrm>
            <a:off x="928688" y="0"/>
            <a:ext cx="10361612" cy="1143000"/>
          </a:xfrm>
        </p:spPr>
        <p:txBody>
          <a:bodyPr/>
          <a:lstStyle/>
          <a:p>
            <a:r>
              <a:rPr lang="zh-CN" altLang="en-US" smtClean="0"/>
              <a:t>典型处理器的数据通路（</a:t>
            </a:r>
            <a:r>
              <a:rPr lang="en-US" altLang="zh-CN" smtClean="0"/>
              <a:t>2010-2015</a:t>
            </a:r>
            <a:r>
              <a:rPr lang="zh-CN" altLang="en-US" smtClean="0"/>
              <a:t>）</a:t>
            </a:r>
            <a:endParaRPr lang="zh-CN" altLang="en-US" smtClean="0"/>
          </a:p>
        </p:txBody>
      </p:sp>
      <p:graphicFrame>
        <p:nvGraphicFramePr>
          <p:cNvPr id="4" name="内容占位符 3"/>
          <p:cNvGraphicFramePr>
            <a:graphicFrameLocks noGrp="1"/>
          </p:cNvGraphicFramePr>
          <p:nvPr>
            <p:ph idx="1"/>
          </p:nvPr>
        </p:nvGraphicFramePr>
        <p:xfrm>
          <a:off x="96838" y="1081088"/>
          <a:ext cx="12029567" cy="5498279"/>
        </p:xfrm>
        <a:graphic>
          <a:graphicData uri="http://schemas.openxmlformats.org/drawingml/2006/table">
            <a:tbl>
              <a:tblPr/>
              <a:tblGrid>
                <a:gridCol w="2272776"/>
                <a:gridCol w="2368153"/>
                <a:gridCol w="2131337"/>
                <a:gridCol w="2652332"/>
                <a:gridCol w="2604969"/>
              </a:tblGrid>
              <a:tr h="353739">
                <a:tc>
                  <a:txBody>
                    <a:bodyPr/>
                    <a:lstStyle/>
                    <a:p>
                      <a:pPr algn="ctr">
                        <a:lnSpc>
                          <a:spcPct val="120000"/>
                        </a:lnSpc>
                        <a:spcAft>
                          <a:spcPts val="0"/>
                        </a:spcAft>
                      </a:pP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20000"/>
                        </a:lnSpc>
                        <a:spcAft>
                          <a:spcPts val="0"/>
                        </a:spcAft>
                      </a:pPr>
                      <a:r>
                        <a:rPr lang="en-US" sz="1200" b="1" kern="100" dirty="0">
                          <a:solidFill>
                            <a:schemeClr val="accent2"/>
                          </a:solidFill>
                          <a:latin typeface="+mn-ea"/>
                          <a:ea typeface="+mn-ea"/>
                          <a:cs typeface="Times New Roman"/>
                        </a:rPr>
                        <a:t>Intel </a:t>
                      </a:r>
                      <a:r>
                        <a:rPr lang="en-US" sz="1200" b="1" kern="100" dirty="0" err="1">
                          <a:solidFill>
                            <a:schemeClr val="accent2"/>
                          </a:solidFill>
                          <a:latin typeface="+mn-ea"/>
                          <a:ea typeface="+mn-ea"/>
                          <a:cs typeface="Times New Roman"/>
                        </a:rPr>
                        <a:t>Sandybridge</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tcPr>
                </a:tc>
                <a:tc>
                  <a:txBody>
                    <a:bodyPr/>
                    <a:lstStyle/>
                    <a:p>
                      <a:pPr algn="ctr">
                        <a:lnSpc>
                          <a:spcPct val="120000"/>
                        </a:lnSpc>
                        <a:spcAft>
                          <a:spcPts val="0"/>
                        </a:spcAft>
                      </a:pPr>
                      <a:r>
                        <a:rPr lang="en-US" sz="1200" b="1" kern="100" dirty="0">
                          <a:solidFill>
                            <a:schemeClr val="accent2"/>
                          </a:solidFill>
                          <a:latin typeface="+mn-ea"/>
                          <a:ea typeface="+mn-ea"/>
                          <a:cs typeface="Times New Roman"/>
                        </a:rPr>
                        <a:t>AMD </a:t>
                      </a:r>
                      <a:r>
                        <a:rPr lang="en-US" sz="1200" b="1" kern="100" dirty="0" err="1">
                          <a:solidFill>
                            <a:schemeClr val="accent2"/>
                          </a:solidFill>
                          <a:latin typeface="+mn-ea"/>
                          <a:ea typeface="+mn-ea"/>
                          <a:cs typeface="Times New Roman"/>
                        </a:rPr>
                        <a:t>BullDozer</a:t>
                      </a:r>
                      <a:endParaRPr lang="zh-CN" sz="1200" b="1" kern="100" dirty="0">
                        <a:solidFill>
                          <a:schemeClr val="accent2"/>
                        </a:solidFill>
                        <a:latin typeface="+mn-ea"/>
                        <a:ea typeface="+mn-ea"/>
                        <a:cs typeface="Times New Roman"/>
                      </a:endParaRPr>
                    </a:p>
                  </a:txBody>
                  <a:tcPr marL="42410" marR="42410" marT="0" marB="0" anchor="ctr"/>
                </a:tc>
                <a:tc>
                  <a:txBody>
                    <a:bodyPr/>
                    <a:lstStyle/>
                    <a:p>
                      <a:pPr algn="ctr">
                        <a:lnSpc>
                          <a:spcPct val="120000"/>
                        </a:lnSpc>
                        <a:spcAft>
                          <a:spcPts val="0"/>
                        </a:spcAft>
                      </a:pPr>
                      <a:r>
                        <a:rPr lang="en-US" sz="1200" b="1" kern="100" dirty="0">
                          <a:solidFill>
                            <a:schemeClr val="accent2"/>
                          </a:solidFill>
                          <a:latin typeface="+mn-ea"/>
                          <a:ea typeface="+mn-ea"/>
                          <a:cs typeface="Times New Roman"/>
                        </a:rPr>
                        <a:t>IBM Power7</a:t>
                      </a:r>
                      <a:endParaRPr lang="zh-CN" sz="1200" b="1" kern="100" dirty="0">
                        <a:solidFill>
                          <a:schemeClr val="accent2"/>
                        </a:solidFill>
                        <a:latin typeface="+mn-ea"/>
                        <a:ea typeface="+mn-ea"/>
                        <a:cs typeface="Times New Roman"/>
                      </a:endParaRPr>
                    </a:p>
                  </a:txBody>
                  <a:tcPr marL="42410" marR="42410" marT="0" marB="0" anchor="ctr"/>
                </a:tc>
                <a:tc>
                  <a:txBody>
                    <a:bodyPr/>
                    <a:lstStyle/>
                    <a:p>
                      <a:pPr algn="ctr">
                        <a:lnSpc>
                          <a:spcPct val="120000"/>
                        </a:lnSpc>
                        <a:spcAft>
                          <a:spcPts val="0"/>
                        </a:spcAft>
                      </a:pPr>
                      <a:r>
                        <a:rPr lang="en-US" altLang="zh-CN" sz="1200" b="1" kern="100" dirty="0" smtClean="0">
                          <a:solidFill>
                            <a:schemeClr val="accent2"/>
                          </a:solidFill>
                          <a:latin typeface="+mn-ea"/>
                          <a:ea typeface="+mn-ea"/>
                          <a:cs typeface="Times New Roman"/>
                        </a:rPr>
                        <a:t>GS464E</a:t>
                      </a:r>
                      <a:endParaRPr lang="zh-CN" sz="1200" b="1" kern="100" dirty="0">
                        <a:solidFill>
                          <a:schemeClr val="accent2"/>
                        </a:solidFill>
                        <a:latin typeface="+mn-ea"/>
                        <a:ea typeface="+mn-ea"/>
                        <a:cs typeface="Times New Roman"/>
                      </a:endParaRPr>
                    </a:p>
                  </a:txBody>
                  <a:tcPr marL="42410" marR="42410" marT="0" marB="0" anchor="ctr"/>
                </a:tc>
              </a:tr>
              <a:tr h="249087">
                <a:tc>
                  <a:txBody>
                    <a:bodyPr/>
                    <a:lstStyle/>
                    <a:p>
                      <a:pPr algn="ctr">
                        <a:lnSpc>
                          <a:spcPct val="120000"/>
                        </a:lnSpc>
                        <a:spcAft>
                          <a:spcPts val="0"/>
                        </a:spcAft>
                      </a:pPr>
                      <a:r>
                        <a:rPr lang="zh-CN" sz="1200" b="1" kern="100" dirty="0">
                          <a:solidFill>
                            <a:schemeClr val="accent2"/>
                          </a:solidFill>
                          <a:latin typeface="+mn-ea"/>
                          <a:ea typeface="+mn-ea"/>
                          <a:cs typeface="Times New Roman"/>
                        </a:rPr>
                        <a:t>访存执行单元</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+ 1 </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2 </a:t>
                      </a:r>
                      <a:r>
                        <a:rPr lang="zh-CN" sz="1200" b="1" kern="100">
                          <a:latin typeface="+mn-ea"/>
                          <a:ea typeface="+mn-ea"/>
                          <a:cs typeface="Times New Roman"/>
                        </a:rPr>
                        <a:t>取</a:t>
                      </a:r>
                      <a:r>
                        <a:rPr lang="en-US" sz="1200" b="1" kern="100">
                          <a:latin typeface="+mn-ea"/>
                          <a:ea typeface="+mn-ea"/>
                          <a:cs typeface="Times New Roman"/>
                        </a:rPr>
                        <a:t>/</a:t>
                      </a:r>
                      <a:r>
                        <a:rPr lang="zh-CN" sz="1200" b="1" kern="100">
                          <a:latin typeface="+mn-ea"/>
                          <a:ea typeface="+mn-ea"/>
                          <a:cs typeface="Times New Roman"/>
                        </a:rPr>
                        <a:t>存</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en-US" sz="1200" b="1" kern="100" dirty="0">
                          <a:solidFill>
                            <a:schemeClr val="accent2"/>
                          </a:solidFill>
                          <a:latin typeface="+mn-ea"/>
                          <a:ea typeface="+mn-ea"/>
                          <a:cs typeface="Times New Roman"/>
                        </a:rPr>
                        <a:t>Load/Store</a:t>
                      </a:r>
                      <a:r>
                        <a:rPr lang="zh-CN" sz="1200" b="1" kern="100" dirty="0">
                          <a:solidFill>
                            <a:schemeClr val="accent2"/>
                          </a:solidFill>
                          <a:latin typeface="+mn-ea"/>
                          <a:ea typeface="+mn-ea"/>
                          <a:cs typeface="Times New Roman"/>
                        </a:rPr>
                        <a:t>队列</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64-</a:t>
                      </a:r>
                      <a:r>
                        <a:rPr lang="zh-CN" sz="1200" b="1" kern="100" dirty="0">
                          <a:latin typeface="+mn-ea"/>
                          <a:ea typeface="+mn-ea"/>
                          <a:cs typeface="Times New Roman"/>
                        </a:rPr>
                        <a:t>项</a:t>
                      </a:r>
                      <a:r>
                        <a:rPr lang="en-US" sz="1200" b="1" kern="100" dirty="0">
                          <a:latin typeface="+mn-ea"/>
                          <a:ea typeface="+mn-ea"/>
                          <a:cs typeface="Times New Roman"/>
                        </a:rPr>
                        <a:t> Load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lnSpc>
                          <a:spcPct val="120000"/>
                        </a:lnSpc>
                        <a:spcAft>
                          <a:spcPts val="0"/>
                        </a:spcAft>
                      </a:pPr>
                      <a:r>
                        <a:rPr lang="en-US" sz="1200" b="1" kern="100" dirty="0">
                          <a:latin typeface="+mn-ea"/>
                          <a:ea typeface="+mn-ea"/>
                          <a:cs typeface="Times New Roman"/>
                        </a:rPr>
                        <a:t>36-</a:t>
                      </a:r>
                      <a:r>
                        <a:rPr lang="zh-CN" sz="1200" b="1" kern="100" dirty="0">
                          <a:latin typeface="+mn-ea"/>
                          <a:ea typeface="+mn-ea"/>
                          <a:cs typeface="Times New Roman"/>
                        </a:rPr>
                        <a:t>项</a:t>
                      </a:r>
                      <a:r>
                        <a:rPr lang="en-US" sz="1200" b="1" kern="100" dirty="0">
                          <a:latin typeface="+mn-ea"/>
                          <a:ea typeface="+mn-ea"/>
                          <a:cs typeface="Times New Roman"/>
                        </a:rPr>
                        <a:t> Store</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40-</a:t>
                      </a:r>
                      <a:r>
                        <a:rPr lang="zh-CN" sz="1200" b="1" kern="100" dirty="0">
                          <a:latin typeface="+mn-ea"/>
                          <a:ea typeface="+mn-ea"/>
                          <a:cs typeface="Times New Roman"/>
                        </a:rPr>
                        <a:t>项</a:t>
                      </a:r>
                      <a:r>
                        <a:rPr lang="en-US" sz="1200" b="1" kern="100" dirty="0">
                          <a:latin typeface="+mn-ea"/>
                          <a:ea typeface="+mn-ea"/>
                          <a:cs typeface="Times New Roman"/>
                        </a:rPr>
                        <a:t> Load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lnSpc>
                          <a:spcPct val="120000"/>
                        </a:lnSpc>
                        <a:spcAft>
                          <a:spcPts val="0"/>
                        </a:spcAft>
                      </a:pPr>
                      <a:r>
                        <a:rPr lang="en-US" sz="1200" b="1" kern="100" dirty="0">
                          <a:latin typeface="+mn-ea"/>
                          <a:ea typeface="+mn-ea"/>
                          <a:cs typeface="Times New Roman"/>
                        </a:rPr>
                        <a:t>24-</a:t>
                      </a:r>
                      <a:r>
                        <a:rPr lang="zh-CN" sz="1200" b="1" kern="100" dirty="0">
                          <a:latin typeface="+mn-ea"/>
                          <a:ea typeface="+mn-ea"/>
                          <a:cs typeface="Times New Roman"/>
                        </a:rPr>
                        <a:t>项</a:t>
                      </a:r>
                      <a:r>
                        <a:rPr lang="en-US" sz="1200" b="1" kern="100" dirty="0">
                          <a:latin typeface="+mn-ea"/>
                          <a:ea typeface="+mn-ea"/>
                          <a:cs typeface="Times New Roman"/>
                        </a:rPr>
                        <a:t> Store </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32-</a:t>
                      </a:r>
                      <a:r>
                        <a:rPr lang="zh-CN" sz="1200" b="1" kern="100" dirty="0">
                          <a:latin typeface="+mn-ea"/>
                          <a:ea typeface="+mn-ea"/>
                          <a:cs typeface="Times New Roman"/>
                        </a:rPr>
                        <a:t>项</a:t>
                      </a:r>
                      <a:r>
                        <a:rPr lang="en-US" sz="1200" b="1" kern="100" dirty="0">
                          <a:latin typeface="+mn-ea"/>
                          <a:ea typeface="+mn-ea"/>
                          <a:cs typeface="Times New Roman"/>
                        </a:rPr>
                        <a:t> Load</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lnSpc>
                          <a:spcPct val="120000"/>
                        </a:lnSpc>
                        <a:spcAft>
                          <a:spcPts val="0"/>
                        </a:spcAft>
                      </a:pPr>
                      <a:r>
                        <a:rPr lang="en-US" sz="1200" b="1" kern="100" dirty="0">
                          <a:latin typeface="+mn-ea"/>
                          <a:ea typeface="+mn-ea"/>
                          <a:cs typeface="Times New Roman"/>
                        </a:rPr>
                        <a:t>32-</a:t>
                      </a:r>
                      <a:r>
                        <a:rPr lang="zh-CN" sz="1200" b="1" kern="100" dirty="0">
                          <a:latin typeface="+mn-ea"/>
                          <a:ea typeface="+mn-ea"/>
                          <a:cs typeface="Times New Roman"/>
                        </a:rPr>
                        <a:t>项</a:t>
                      </a:r>
                      <a:r>
                        <a:rPr lang="en-US" sz="1200" b="1" kern="100" dirty="0">
                          <a:latin typeface="+mn-ea"/>
                          <a:ea typeface="+mn-ea"/>
                          <a:cs typeface="Times New Roman"/>
                        </a:rPr>
                        <a:t> Store </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64-</a:t>
                      </a:r>
                      <a:r>
                        <a:rPr lang="zh-CN" sz="1200" b="1" kern="100">
                          <a:latin typeface="+mn-ea"/>
                          <a:ea typeface="+mn-ea"/>
                          <a:cs typeface="Times New Roman"/>
                        </a:rPr>
                        <a:t>项 取</a:t>
                      </a:r>
                      <a:r>
                        <a:rPr lang="en-US" sz="1200" b="1" kern="100">
                          <a:latin typeface="+mn-ea"/>
                          <a:ea typeface="+mn-ea"/>
                          <a:cs typeface="Times New Roman"/>
                        </a:rPr>
                        <a:t>/</a:t>
                      </a:r>
                      <a:r>
                        <a:rPr lang="zh-CN" sz="1200" b="1" kern="100">
                          <a:latin typeface="+mn-ea"/>
                          <a:ea typeface="+mn-ea"/>
                          <a:cs typeface="Times New Roman"/>
                        </a:rPr>
                        <a:t>存 队列</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en-US" sz="1200" b="1" kern="100" dirty="0">
                          <a:solidFill>
                            <a:schemeClr val="accent2"/>
                          </a:solidFill>
                          <a:latin typeface="+mn-ea"/>
                          <a:ea typeface="+mn-ea"/>
                          <a:cs typeface="Times New Roman"/>
                        </a:rPr>
                        <a:t>Load/Store </a:t>
                      </a:r>
                      <a:r>
                        <a:rPr lang="zh-CN" sz="1200" b="1" kern="100" dirty="0">
                          <a:solidFill>
                            <a:schemeClr val="accent2"/>
                          </a:solidFill>
                          <a:latin typeface="+mn-ea"/>
                          <a:ea typeface="+mn-ea"/>
                          <a:cs typeface="Times New Roman"/>
                        </a:rPr>
                        <a:t>宽度</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256 </a:t>
                      </a:r>
                      <a:r>
                        <a:rPr lang="zh-CN" sz="1200" b="1" kern="100" dirty="0">
                          <a:latin typeface="+mn-ea"/>
                          <a:ea typeface="+mn-ea"/>
                          <a:cs typeface="Times New Roman"/>
                        </a:rPr>
                        <a:t>位</a:t>
                      </a:r>
                      <a:r>
                        <a:rPr lang="en-US" sz="1200" b="1" kern="100" dirty="0">
                          <a:latin typeface="+mn-ea"/>
                          <a:ea typeface="+mn-ea"/>
                          <a:cs typeface="Times New Roman"/>
                        </a:rPr>
                        <a:t> load,</a:t>
                      </a:r>
                      <a:endParaRPr lang="zh-CN" sz="1200" b="1" kern="100" dirty="0">
                        <a:latin typeface="+mn-ea"/>
                        <a:ea typeface="+mn-ea"/>
                        <a:cs typeface="Times New Roman"/>
                      </a:endParaRPr>
                    </a:p>
                    <a:p>
                      <a:pPr algn="l">
                        <a:lnSpc>
                          <a:spcPct val="120000"/>
                        </a:lnSpc>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r>
                        <a:rPr lang="en-US" sz="1200" b="1" kern="100" dirty="0">
                          <a:latin typeface="+mn-ea"/>
                          <a:ea typeface="+mn-ea"/>
                          <a:cs typeface="Times New Roman"/>
                        </a:rPr>
                        <a:t> Store</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256 </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92754">
                <a:tc>
                  <a:txBody>
                    <a:bodyPr/>
                    <a:lstStyle/>
                    <a:p>
                      <a:pPr algn="ctr">
                        <a:lnSpc>
                          <a:spcPct val="120000"/>
                        </a:lnSpc>
                        <a:spcAft>
                          <a:spcPts val="0"/>
                        </a:spcAft>
                      </a:pPr>
                      <a:r>
                        <a:rPr lang="en-US" sz="1200" b="1" kern="100" dirty="0">
                          <a:solidFill>
                            <a:schemeClr val="accent2"/>
                          </a:solidFill>
                          <a:latin typeface="+mn-ea"/>
                          <a:ea typeface="+mn-ea"/>
                          <a:cs typeface="Times New Roman"/>
                        </a:rPr>
                        <a:t>TLB</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smtClean="0">
                          <a:latin typeface="+mn-ea"/>
                          <a:ea typeface="+mn-ea"/>
                          <a:cs typeface="Times New Roman"/>
                        </a:rPr>
                        <a:t>100</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lnSpc>
                          <a:spcPct val="120000"/>
                        </a:lnSpc>
                        <a:spcAft>
                          <a:spcPts val="0"/>
                        </a:spcAft>
                      </a:pPr>
                      <a:r>
                        <a:rPr lang="en-US" sz="1200" b="1" kern="100" dirty="0" smtClean="0">
                          <a:latin typeface="+mn-ea"/>
                          <a:ea typeface="+mn-ea"/>
                          <a:cs typeface="Times New Roman"/>
                        </a:rPr>
                        <a:t>512</a:t>
                      </a:r>
                      <a:r>
                        <a:rPr lang="zh-CN" sz="1200" b="1" kern="100" dirty="0" smtClean="0">
                          <a:latin typeface="+mn-ea"/>
                          <a:ea typeface="+mn-ea"/>
                          <a:cs typeface="Times New Roman"/>
                        </a:rPr>
                        <a:t>项</a:t>
                      </a:r>
                      <a:r>
                        <a:rPr lang="en-US" sz="1200" b="1" kern="100" dirty="0" smtClean="0">
                          <a:latin typeface="+mn-ea"/>
                          <a:ea typeface="+mn-ea"/>
                          <a:cs typeface="Times New Roman"/>
                        </a:rPr>
                        <a:t>4</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smtClean="0">
                          <a:latin typeface="+mn-ea"/>
                          <a:ea typeface="+mn-ea"/>
                          <a:cs typeface="Times New Roman"/>
                        </a:rPr>
                        <a:t>32</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lnSpc>
                          <a:spcPct val="120000"/>
                        </a:lnSpc>
                        <a:spcAft>
                          <a:spcPts val="0"/>
                        </a:spcAft>
                      </a:pPr>
                      <a:r>
                        <a:rPr lang="en-US" sz="1200" b="1" kern="100" dirty="0" smtClean="0">
                          <a:latin typeface="+mn-ea"/>
                          <a:ea typeface="+mn-ea"/>
                          <a:cs typeface="Times New Roman"/>
                        </a:rPr>
                        <a:t>1024</a:t>
                      </a:r>
                      <a:r>
                        <a:rPr lang="zh-CN" sz="1200" b="1" kern="100" dirty="0" smtClean="0">
                          <a:latin typeface="+mn-ea"/>
                          <a:ea typeface="+mn-ea"/>
                          <a:cs typeface="Times New Roman"/>
                        </a:rPr>
                        <a:t>项</a:t>
                      </a:r>
                      <a:r>
                        <a:rPr lang="en-US" sz="1200" b="1" kern="100" dirty="0" smtClean="0">
                          <a:latin typeface="+mn-ea"/>
                          <a:ea typeface="+mn-ea"/>
                          <a:cs typeface="Times New Roman"/>
                        </a:rPr>
                        <a:t>8</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smtClean="0">
                          <a:latin typeface="+mn-ea"/>
                          <a:ea typeface="+mn-ea"/>
                          <a:cs typeface="Times New Roman"/>
                        </a:rPr>
                        <a:t>64</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lnSpc>
                          <a:spcPct val="120000"/>
                        </a:lnSpc>
                        <a:spcAft>
                          <a:spcPts val="0"/>
                        </a:spcAft>
                      </a:pPr>
                      <a:r>
                        <a:rPr lang="en-US" sz="1200" b="1" kern="100" dirty="0" smtClean="0">
                          <a:latin typeface="+mn-ea"/>
                          <a:ea typeface="+mn-ea"/>
                          <a:cs typeface="Times New Roman"/>
                        </a:rPr>
                        <a:t>512</a:t>
                      </a:r>
                      <a:r>
                        <a:rPr lang="zh-CN" sz="1200" b="1" kern="100" dirty="0" smtClean="0">
                          <a:latin typeface="+mn-ea"/>
                          <a:ea typeface="+mn-ea"/>
                          <a:cs typeface="Times New Roman"/>
                        </a:rPr>
                        <a:t>项</a:t>
                      </a:r>
                      <a:r>
                        <a:rPr lang="en-US" sz="1200" b="1" kern="100" dirty="0" smtClean="0">
                          <a:latin typeface="+mn-ea"/>
                          <a:ea typeface="+mn-ea"/>
                          <a:cs typeface="Times New Roman"/>
                        </a:rPr>
                        <a:t>4</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256-</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a:t>
                      </a:r>
                      <a:r>
                        <a:rPr lang="en-US" sz="1200" b="1" kern="100" dirty="0" smtClean="0">
                          <a:latin typeface="+mn-ea"/>
                          <a:ea typeface="+mn-ea"/>
                          <a:cs typeface="Times New Roman"/>
                        </a:rPr>
                        <a:t>TLB</a:t>
                      </a:r>
                      <a:endParaRPr lang="en-US" sz="1200" b="1" kern="100" dirty="0" smtClean="0">
                        <a:latin typeface="+mn-ea"/>
                        <a:ea typeface="+mn-ea"/>
                        <a:cs typeface="Times New Roman"/>
                      </a:endParaRPr>
                    </a:p>
                    <a:p>
                      <a:pPr algn="l">
                        <a:lnSpc>
                          <a:spcPct val="120000"/>
                        </a:lnSpc>
                        <a:spcAft>
                          <a:spcPts val="0"/>
                        </a:spcAft>
                      </a:pPr>
                      <a:r>
                        <a:rPr lang="zh-CN" altLang="en-US" sz="1200" b="1" kern="100" dirty="0" smtClean="0">
                          <a:latin typeface="+mn-ea"/>
                          <a:ea typeface="+mn-ea"/>
                          <a:cs typeface="Times New Roman"/>
                        </a:rPr>
                        <a:t>每项两页</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9771">
                <a:tc>
                  <a:txBody>
                    <a:bodyPr/>
                    <a:lstStyle/>
                    <a:p>
                      <a:pPr algn="ctr">
                        <a:lnSpc>
                          <a:spcPct val="120000"/>
                        </a:lnSpc>
                        <a:spcAft>
                          <a:spcPts val="0"/>
                        </a:spcAft>
                      </a:pPr>
                      <a:r>
                        <a:rPr lang="zh-CN" sz="1200" b="1" kern="100" dirty="0">
                          <a:solidFill>
                            <a:schemeClr val="accent2"/>
                          </a:solidFill>
                          <a:latin typeface="+mn-ea"/>
                          <a:ea typeface="+mn-ea"/>
                          <a:cs typeface="Times New Roman"/>
                        </a:rPr>
                        <a:t>一级数据缓存</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32KB, 8 </a:t>
                      </a:r>
                      <a:r>
                        <a:rPr lang="zh-CN" sz="1200" b="1" kern="100">
                          <a:latin typeface="+mn-ea"/>
                          <a:ea typeface="+mn-ea"/>
                          <a:cs typeface="Times New Roman"/>
                        </a:rPr>
                        <a:t>路</a:t>
                      </a:r>
                      <a:r>
                        <a:rPr lang="en-US" sz="1200" b="1" kern="100">
                          <a:latin typeface="+mn-ea"/>
                          <a:ea typeface="+mn-ea"/>
                          <a:cs typeface="Times New Roman"/>
                        </a:rPr>
                        <a:t>, 64B/</a:t>
                      </a:r>
                      <a:r>
                        <a:rPr lang="zh-CN" sz="1200" b="1" kern="100">
                          <a:latin typeface="+mn-ea"/>
                          <a:ea typeface="+mn-ea"/>
                          <a:cs typeface="Times New Roman"/>
                        </a:rPr>
                        <a:t>行</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16KB, 4</a:t>
                      </a:r>
                      <a:r>
                        <a:rPr lang="zh-CN" sz="1200" b="1" kern="100">
                          <a:latin typeface="+mn-ea"/>
                          <a:ea typeface="+mn-ea"/>
                          <a:cs typeface="Times New Roman"/>
                        </a:rPr>
                        <a:t>路</a:t>
                      </a:r>
                      <a:r>
                        <a:rPr lang="en-US" sz="1200" b="1" kern="100">
                          <a:latin typeface="+mn-ea"/>
                          <a:ea typeface="+mn-ea"/>
                          <a:cs typeface="Times New Roman"/>
                        </a:rPr>
                        <a:t>, 64B/</a:t>
                      </a:r>
                      <a:r>
                        <a:rPr lang="zh-CN" sz="1200" b="1" kern="100">
                          <a:latin typeface="+mn-ea"/>
                          <a:ea typeface="+mn-ea"/>
                          <a:cs typeface="Times New Roman"/>
                        </a:rPr>
                        <a:t>行</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32KB, 8 </a:t>
                      </a:r>
                      <a:r>
                        <a:rPr lang="zh-CN" sz="1200" b="1" kern="100" dirty="0">
                          <a:latin typeface="+mn-ea"/>
                          <a:ea typeface="+mn-ea"/>
                          <a:cs typeface="Times New Roman"/>
                        </a:rPr>
                        <a:t>路</a:t>
                      </a:r>
                      <a:r>
                        <a:rPr lang="en-US" sz="1200" b="1" kern="100" dirty="0">
                          <a:latin typeface="+mn-ea"/>
                          <a:ea typeface="+mn-ea"/>
                          <a:cs typeface="Times New Roman"/>
                        </a:rPr>
                        <a:t>, 128B/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64KB, 4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zh-CN" sz="1200" b="1" kern="100" dirty="0">
                          <a:solidFill>
                            <a:schemeClr val="accent2"/>
                          </a:solidFill>
                          <a:latin typeface="+mn-ea"/>
                          <a:ea typeface="+mn-ea"/>
                          <a:cs typeface="Times New Roman"/>
                        </a:rPr>
                        <a:t>二级缓存</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8</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altLang="en-US" sz="1200" b="1" kern="100" dirty="0" smtClean="0">
                          <a:latin typeface="+mn-ea"/>
                          <a:ea typeface="+mn-ea"/>
                          <a:cs typeface="Times New Roman"/>
                        </a:rPr>
                        <a:t>双</a:t>
                      </a:r>
                      <a:r>
                        <a:rPr lang="zh-CN" sz="1200" b="1" kern="100" dirty="0" smtClean="0">
                          <a:latin typeface="+mn-ea"/>
                          <a:ea typeface="+mn-ea"/>
                          <a:cs typeface="Times New Roman"/>
                        </a:rPr>
                        <a:t>核</a:t>
                      </a:r>
                      <a:r>
                        <a:rPr lang="zh-CN" sz="1200" b="1" kern="100" dirty="0">
                          <a:latin typeface="+mn-ea"/>
                          <a:ea typeface="+mn-ea"/>
                          <a:cs typeface="Times New Roman"/>
                        </a:rPr>
                        <a:t>共享</a:t>
                      </a:r>
                      <a:r>
                        <a:rPr lang="en-US" sz="1200" b="1" kern="100" dirty="0">
                          <a:latin typeface="+mn-ea"/>
                          <a:ea typeface="+mn-ea"/>
                          <a:cs typeface="Times New Roman"/>
                        </a:rPr>
                        <a:t>2MB, 16 </a:t>
                      </a:r>
                      <a:r>
                        <a:rPr lang="zh-CN" sz="1200" b="1" kern="100" dirty="0" smtClean="0">
                          <a:latin typeface="+mn-ea"/>
                          <a:ea typeface="+mn-ea"/>
                          <a:cs typeface="Times New Roman"/>
                        </a:rPr>
                        <a:t>路</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8</a:t>
                      </a:r>
                      <a:r>
                        <a:rPr lang="zh-CN" sz="1200" b="1" kern="100" dirty="0">
                          <a:latin typeface="+mn-ea"/>
                          <a:ea typeface="+mn-ea"/>
                          <a:cs typeface="Times New Roman"/>
                        </a:rPr>
                        <a:t>路</a:t>
                      </a:r>
                      <a:r>
                        <a:rPr lang="en-US" sz="1200" b="1" kern="100" dirty="0">
                          <a:latin typeface="+mn-ea"/>
                          <a:ea typeface="+mn-ea"/>
                          <a:cs typeface="Times New Roman"/>
                        </a:rPr>
                        <a:t>, </a:t>
                      </a:r>
                      <a:r>
                        <a:rPr lang="en-US" sz="1200" b="1" kern="100" dirty="0" smtClean="0">
                          <a:latin typeface="+mn-ea"/>
                          <a:ea typeface="+mn-ea"/>
                          <a:cs typeface="Times New Roman"/>
                        </a:rPr>
                        <a:t>28B</a:t>
                      </a:r>
                      <a:r>
                        <a:rPr lang="en-US" sz="1200" b="1" kern="100" dirty="0">
                          <a:latin typeface="+mn-ea"/>
                          <a:ea typeface="+mn-ea"/>
                          <a:cs typeface="Times New Roman"/>
                        </a:rPr>
                        <a:t>/</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16</a:t>
                      </a:r>
                      <a:r>
                        <a:rPr lang="zh-CN" sz="1200" b="1" kern="100" dirty="0">
                          <a:latin typeface="+mn-ea"/>
                          <a:ea typeface="+mn-ea"/>
                          <a:cs typeface="Times New Roman"/>
                        </a:rPr>
                        <a:t>路</a:t>
                      </a:r>
                      <a:r>
                        <a:rPr lang="en-US" sz="1200" b="1" kern="100" dirty="0" smtClean="0">
                          <a:latin typeface="+mn-ea"/>
                          <a:ea typeface="+mn-ea"/>
                          <a:cs typeface="Times New Roman"/>
                        </a:rPr>
                        <a:t>,64B</a:t>
                      </a:r>
                      <a:r>
                        <a:rPr lang="en-US" sz="1200" b="1" kern="100" dirty="0">
                          <a:latin typeface="+mn-ea"/>
                          <a:ea typeface="+mn-ea"/>
                          <a:cs typeface="Times New Roman"/>
                        </a:rPr>
                        <a:t>/</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9087">
                <a:tc>
                  <a:txBody>
                    <a:bodyPr/>
                    <a:lstStyle/>
                    <a:p>
                      <a:pPr algn="ctr">
                        <a:lnSpc>
                          <a:spcPct val="120000"/>
                        </a:lnSpc>
                        <a:spcAft>
                          <a:spcPts val="0"/>
                        </a:spcAft>
                      </a:pPr>
                      <a:r>
                        <a:rPr lang="zh-CN" sz="1200" b="1" kern="100" dirty="0">
                          <a:solidFill>
                            <a:schemeClr val="accent2"/>
                          </a:solidFill>
                          <a:latin typeface="+mn-ea"/>
                          <a:ea typeface="+mn-ea"/>
                          <a:cs typeface="Times New Roman"/>
                        </a:rPr>
                        <a:t>三级缓存</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8</a:t>
                      </a:r>
                      <a:r>
                        <a:rPr lang="zh-CN" sz="1200" b="1" kern="100">
                          <a:latin typeface="+mn-ea"/>
                          <a:ea typeface="+mn-ea"/>
                          <a:cs typeface="Times New Roman"/>
                        </a:rPr>
                        <a:t>个核</a:t>
                      </a:r>
                      <a:r>
                        <a:rPr lang="en-US" sz="1200" b="1" kern="100">
                          <a:latin typeface="+mn-ea"/>
                          <a:ea typeface="+mn-ea"/>
                          <a:cs typeface="Times New Roman"/>
                        </a:rPr>
                        <a:t>20 MB</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4</a:t>
                      </a:r>
                      <a:r>
                        <a:rPr lang="zh-CN" sz="1200" b="1" kern="100">
                          <a:latin typeface="+mn-ea"/>
                          <a:ea typeface="+mn-ea"/>
                          <a:cs typeface="Times New Roman"/>
                        </a:rPr>
                        <a:t>个核</a:t>
                      </a:r>
                      <a:r>
                        <a:rPr lang="en-US" sz="1200" b="1" kern="100">
                          <a:latin typeface="+mn-ea"/>
                          <a:ea typeface="+mn-ea"/>
                          <a:cs typeface="Times New Roman"/>
                        </a:rPr>
                        <a:t>8 MB</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8</a:t>
                      </a:r>
                      <a:r>
                        <a:rPr lang="zh-CN" sz="1200" b="1" kern="100" dirty="0">
                          <a:latin typeface="+mn-ea"/>
                          <a:ea typeface="+mn-ea"/>
                          <a:cs typeface="Times New Roman"/>
                        </a:rPr>
                        <a:t>个核</a:t>
                      </a:r>
                      <a:r>
                        <a:rPr lang="en-US" sz="1200" b="1" kern="100" dirty="0">
                          <a:latin typeface="+mn-ea"/>
                          <a:ea typeface="+mn-ea"/>
                          <a:cs typeface="Times New Roman"/>
                        </a:rPr>
                        <a:t>32 MB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4</a:t>
                      </a:r>
                      <a:r>
                        <a:rPr lang="zh-CN" sz="1200" b="1" kern="100" dirty="0">
                          <a:latin typeface="+mn-ea"/>
                          <a:ea typeface="+mn-ea"/>
                          <a:cs typeface="Times New Roman"/>
                        </a:rPr>
                        <a:t>个核</a:t>
                      </a:r>
                      <a:r>
                        <a:rPr lang="en-US" sz="1200" b="1" kern="100" dirty="0">
                          <a:latin typeface="+mn-ea"/>
                          <a:ea typeface="+mn-ea"/>
                          <a:cs typeface="Times New Roman"/>
                        </a:rPr>
                        <a:t>4 MB</a:t>
                      </a:r>
                      <a:r>
                        <a:rPr lang="zh-CN" sz="1200" b="1" kern="100" dirty="0">
                          <a:latin typeface="+mn-ea"/>
                          <a:ea typeface="+mn-ea"/>
                          <a:cs typeface="Times New Roman"/>
                        </a:rPr>
                        <a:t>～</a:t>
                      </a:r>
                      <a:r>
                        <a:rPr lang="en-US" sz="1200" b="1" kern="100" dirty="0">
                          <a:latin typeface="+mn-ea"/>
                          <a:ea typeface="+mn-ea"/>
                          <a:cs typeface="Times New Roman"/>
                        </a:rPr>
                        <a:t>8MB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zh-CN" sz="1200" b="1" kern="100" dirty="0">
                          <a:solidFill>
                            <a:schemeClr val="accent2"/>
                          </a:solidFill>
                          <a:latin typeface="+mn-ea"/>
                          <a:ea typeface="+mn-ea"/>
                          <a:cs typeface="Times New Roman"/>
                        </a:rPr>
                        <a:t>一级数据缓存同时处理缺失请求数</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10</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8</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a:lnSpc>
                          <a:spcPct val="120000"/>
                        </a:lnSpc>
                        <a:spcAft>
                          <a:spcPts val="0"/>
                        </a:spcAft>
                      </a:pPr>
                      <a:r>
                        <a:rPr lang="en-US" sz="1200" b="1" kern="100" dirty="0">
                          <a:latin typeface="+mn-ea"/>
                          <a:ea typeface="+mn-ea"/>
                          <a:cs typeface="Times New Roman"/>
                        </a:rPr>
                        <a:t>Unified 16</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zh-CN" sz="1200" b="1" kern="100" dirty="0">
                          <a:solidFill>
                            <a:schemeClr val="accent2"/>
                          </a:solidFill>
                          <a:latin typeface="+mn-ea"/>
                          <a:ea typeface="+mn-ea"/>
                          <a:cs typeface="Times New Roman"/>
                        </a:rPr>
                        <a:t>二级缓存同时处理缺失请求数</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16</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23</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24</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516263">
                <a:tc>
                  <a:txBody>
                    <a:bodyPr/>
                    <a:lstStyle/>
                    <a:p>
                      <a:pPr algn="ctr">
                        <a:lnSpc>
                          <a:spcPct val="120000"/>
                        </a:lnSpc>
                        <a:spcAft>
                          <a:spcPts val="0"/>
                        </a:spcAft>
                      </a:pPr>
                      <a:r>
                        <a:rPr lang="zh-CN" sz="1200" b="1" kern="100" dirty="0">
                          <a:solidFill>
                            <a:schemeClr val="accent2"/>
                          </a:solidFill>
                          <a:latin typeface="+mn-ea"/>
                          <a:ea typeface="+mn-ea"/>
                          <a:cs typeface="Times New Roman"/>
                        </a:rPr>
                        <a:t>一级</a:t>
                      </a:r>
                      <a:r>
                        <a:rPr lang="en-US" sz="1200" b="1" kern="100" dirty="0">
                          <a:solidFill>
                            <a:schemeClr val="accent2"/>
                          </a:solidFill>
                          <a:latin typeface="+mn-ea"/>
                          <a:ea typeface="+mn-ea"/>
                          <a:cs typeface="Times New Roman"/>
                        </a:rPr>
                        <a:t> Load-to-use </a:t>
                      </a:r>
                      <a:r>
                        <a:rPr lang="zh-CN" sz="1200" b="1" kern="100" dirty="0">
                          <a:solidFill>
                            <a:schemeClr val="accent2"/>
                          </a:solidFill>
                          <a:latin typeface="+mn-ea"/>
                          <a:ea typeface="+mn-ea"/>
                          <a:cs typeface="Times New Roman"/>
                        </a:rPr>
                        <a:t>延迟</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a:latin typeface="+mn-ea"/>
                          <a:ea typeface="+mn-ea"/>
                          <a:cs typeface="Times New Roman"/>
                        </a:rPr>
                        <a:t>定点</a:t>
                      </a:r>
                      <a:r>
                        <a:rPr lang="en-US" sz="1200" b="1" kern="100">
                          <a:latin typeface="+mn-ea"/>
                          <a:ea typeface="+mn-ea"/>
                          <a:cs typeface="Times New Roman"/>
                        </a:rPr>
                        <a:t>4</a:t>
                      </a:r>
                      <a:r>
                        <a:rPr lang="zh-CN" sz="1200" b="1" kern="100">
                          <a:latin typeface="+mn-ea"/>
                          <a:ea typeface="+mn-ea"/>
                          <a:cs typeface="Times New Roman"/>
                        </a:rPr>
                        <a:t>时钟周期</a:t>
                      </a:r>
                      <a:r>
                        <a:rPr lang="en-US" sz="1200" b="1" kern="100">
                          <a:latin typeface="+mn-ea"/>
                          <a:ea typeface="+mn-ea"/>
                          <a:cs typeface="Times New Roman"/>
                        </a:rPr>
                        <a:t>,</a:t>
                      </a:r>
                      <a:endParaRPr lang="zh-CN" sz="1200" b="1" kern="100">
                        <a:latin typeface="+mn-ea"/>
                        <a:ea typeface="+mn-ea"/>
                        <a:cs typeface="Times New Roman"/>
                      </a:endParaRPr>
                    </a:p>
                    <a:p>
                      <a:pPr algn="l">
                        <a:lnSpc>
                          <a:spcPct val="120000"/>
                        </a:lnSpc>
                        <a:spcAft>
                          <a:spcPts val="0"/>
                        </a:spcAft>
                      </a:pP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向量</a:t>
                      </a:r>
                      <a:r>
                        <a:rPr lang="en-US" sz="1200" b="1" kern="100">
                          <a:latin typeface="+mn-ea"/>
                          <a:ea typeface="+mn-ea"/>
                          <a:cs typeface="Times New Roman"/>
                        </a:rPr>
                        <a:t>5</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4</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a:latin typeface="+mn-ea"/>
                          <a:ea typeface="+mn-ea"/>
                          <a:cs typeface="Times New Roman"/>
                        </a:rPr>
                        <a:t>定点</a:t>
                      </a:r>
                      <a:r>
                        <a:rPr lang="en-US" sz="1200" b="1" kern="100">
                          <a:latin typeface="+mn-ea"/>
                          <a:ea typeface="+mn-ea"/>
                          <a:cs typeface="Times New Roman"/>
                        </a:rPr>
                        <a:t>2</a:t>
                      </a:r>
                      <a:r>
                        <a:rPr lang="zh-CN" sz="1200" b="1" kern="100">
                          <a:latin typeface="+mn-ea"/>
                          <a:ea typeface="+mn-ea"/>
                          <a:cs typeface="Times New Roman"/>
                        </a:rPr>
                        <a:t>时钟周期</a:t>
                      </a:r>
                      <a:r>
                        <a:rPr lang="en-US" sz="1200" b="1" kern="100">
                          <a:latin typeface="+mn-ea"/>
                          <a:ea typeface="+mn-ea"/>
                          <a:cs typeface="Times New Roman"/>
                        </a:rPr>
                        <a:t>,</a:t>
                      </a:r>
                      <a:endParaRPr lang="zh-CN" sz="1200" b="1" kern="100">
                        <a:latin typeface="+mn-ea"/>
                        <a:ea typeface="+mn-ea"/>
                        <a:cs typeface="Times New Roman"/>
                      </a:endParaRPr>
                    </a:p>
                    <a:p>
                      <a:pPr algn="l">
                        <a:lnSpc>
                          <a:spcPct val="120000"/>
                        </a:lnSpc>
                        <a:spcAft>
                          <a:spcPts val="0"/>
                        </a:spcAft>
                      </a:pP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向量</a:t>
                      </a:r>
                      <a:r>
                        <a:rPr lang="en-US" sz="1200" b="1" kern="100">
                          <a:latin typeface="+mn-ea"/>
                          <a:ea typeface="+mn-ea"/>
                          <a:cs typeface="Times New Roman"/>
                        </a:rPr>
                        <a:t>3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zh-CN" sz="1200" b="1" kern="100" dirty="0">
                          <a:latin typeface="+mn-ea"/>
                          <a:ea typeface="+mn-ea"/>
                          <a:cs typeface="Times New Roman"/>
                        </a:rPr>
                        <a:t>定点</a:t>
                      </a:r>
                      <a:r>
                        <a:rPr lang="en-US" sz="1200" b="1" kern="100" dirty="0">
                          <a:latin typeface="+mn-ea"/>
                          <a:ea typeface="+mn-ea"/>
                          <a:cs typeface="Times New Roman"/>
                        </a:rPr>
                        <a:t>3</a:t>
                      </a:r>
                      <a:r>
                        <a:rPr lang="zh-CN" sz="1200" b="1" kern="100" dirty="0">
                          <a:latin typeface="+mn-ea"/>
                          <a:ea typeface="+mn-ea"/>
                          <a:cs typeface="Times New Roman"/>
                        </a:rPr>
                        <a:t>时钟周期</a:t>
                      </a:r>
                      <a:r>
                        <a:rPr lang="en-US" sz="1200" b="1" kern="100" dirty="0">
                          <a:latin typeface="+mn-ea"/>
                          <a:ea typeface="+mn-ea"/>
                          <a:cs typeface="Times New Roman"/>
                        </a:rPr>
                        <a:t>,</a:t>
                      </a:r>
                      <a:endParaRPr lang="zh-CN" sz="1200" b="1" kern="100" dirty="0">
                        <a:latin typeface="+mn-ea"/>
                        <a:ea typeface="+mn-ea"/>
                        <a:cs typeface="Times New Roman"/>
                      </a:endParaRPr>
                    </a:p>
                    <a:p>
                      <a:pPr algn="l">
                        <a:lnSpc>
                          <a:spcPct val="120000"/>
                        </a:lnSpc>
                        <a:spcAft>
                          <a:spcPts val="0"/>
                        </a:spcAft>
                      </a:pP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5 </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63">
                <a:tc>
                  <a:txBody>
                    <a:bodyPr/>
                    <a:lstStyle/>
                    <a:p>
                      <a:pPr algn="ctr">
                        <a:lnSpc>
                          <a:spcPct val="120000"/>
                        </a:lnSpc>
                        <a:spcAft>
                          <a:spcPts val="0"/>
                        </a:spcAft>
                      </a:pPr>
                      <a:r>
                        <a:rPr lang="zh-CN" sz="1200" b="1" kern="100" dirty="0">
                          <a:solidFill>
                            <a:schemeClr val="accent2"/>
                          </a:solidFill>
                          <a:latin typeface="+mn-ea"/>
                          <a:ea typeface="+mn-ea"/>
                          <a:cs typeface="Times New Roman"/>
                        </a:rPr>
                        <a:t>二级</a:t>
                      </a:r>
                      <a:r>
                        <a:rPr lang="en-US" sz="1200" b="1" kern="100" dirty="0">
                          <a:solidFill>
                            <a:schemeClr val="accent2"/>
                          </a:solidFill>
                          <a:latin typeface="+mn-ea"/>
                          <a:ea typeface="+mn-ea"/>
                          <a:cs typeface="Times New Roman"/>
                        </a:rPr>
                        <a:t> Load-to-use </a:t>
                      </a:r>
                      <a:r>
                        <a:rPr lang="zh-CN" sz="1200" b="1" kern="100" dirty="0">
                          <a:solidFill>
                            <a:schemeClr val="accent2"/>
                          </a:solidFill>
                          <a:latin typeface="+mn-ea"/>
                          <a:ea typeface="+mn-ea"/>
                          <a:cs typeface="Times New Roman"/>
                        </a:rPr>
                        <a:t>延迟</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12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18-20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a:latin typeface="+mn-ea"/>
                          <a:ea typeface="+mn-ea"/>
                          <a:cs typeface="Times New Roman"/>
                        </a:rPr>
                        <a:t>8</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0000"/>
                        </a:lnSpc>
                        <a:spcAft>
                          <a:spcPts val="0"/>
                        </a:spcAft>
                      </a:pPr>
                      <a:r>
                        <a:rPr lang="en-US" sz="1200" b="1" kern="100" dirty="0">
                          <a:latin typeface="+mn-ea"/>
                          <a:ea typeface="+mn-ea"/>
                          <a:cs typeface="Times New Roman"/>
                        </a:rPr>
                        <a:t>17 </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920207" y="1455421"/>
          <a:ext cx="10365237" cy="4942205"/>
        </p:xfrm>
        <a:graphic>
          <a:graphicData uri="http://schemas.openxmlformats.org/drawingml/2006/chart">
            <c:chart xmlns:c="http://schemas.openxmlformats.org/drawingml/2006/chart" xmlns:r="http://schemas.openxmlformats.org/officeDocument/2006/relationships" r:id="rId1"/>
          </a:graphicData>
        </a:graphic>
      </p:graphicFrame>
      <p:sp>
        <p:nvSpPr>
          <p:cNvPr id="73731" name="Rectangle 2"/>
          <p:cNvSpPr>
            <a:spLocks noChangeArrowheads="1"/>
          </p:cNvSpPr>
          <p:nvPr/>
        </p:nvSpPr>
        <p:spPr bwMode="auto">
          <a:xfrm>
            <a:off x="528638" y="114300"/>
            <a:ext cx="11345862" cy="685800"/>
          </a:xfrm>
          <a:prstGeom prst="rect">
            <a:avLst/>
          </a:prstGeom>
          <a:noFill/>
          <a:ln w="9525">
            <a:noFill/>
            <a:miter lim="800000"/>
          </a:ln>
        </p:spPr>
        <p:txBody>
          <a:bodyPr anchor="ctr"/>
          <a:lstStyle/>
          <a:p>
            <a:pPr algn="ctr"/>
            <a:r>
              <a:rPr lang="zh-CN" altLang="en-US" sz="3200" dirty="0">
                <a:solidFill>
                  <a:srgbClr val="FF0000"/>
                </a:solidFill>
                <a:latin typeface="Arial" panose="02080604020202020204" pitchFamily="34" charset="0"/>
                <a:ea typeface="黑体" panose="02000500000000000000" pitchFamily="49" charset="-122"/>
              </a:rPr>
              <a:t>龙芯</a:t>
            </a:r>
            <a:r>
              <a:rPr lang="en-US" altLang="zh-CN" sz="3200" dirty="0">
                <a:solidFill>
                  <a:srgbClr val="FF0000"/>
                </a:solidFill>
                <a:latin typeface="Arial" panose="02080604020202020204" pitchFamily="34" charset="0"/>
                <a:ea typeface="黑体" panose="02000500000000000000" pitchFamily="49" charset="-122"/>
              </a:rPr>
              <a:t>3A6000</a:t>
            </a:r>
            <a:r>
              <a:rPr lang="zh-CN" altLang="en-US" sz="3200" dirty="0">
                <a:solidFill>
                  <a:srgbClr val="FF0000"/>
                </a:solidFill>
                <a:latin typeface="Arial" panose="02080604020202020204" pitchFamily="34" charset="0"/>
                <a:ea typeface="黑体" panose="02000500000000000000" pitchFamily="49" charset="-122"/>
              </a:rPr>
              <a:t>运行</a:t>
            </a:r>
            <a:r>
              <a:rPr lang="en-US" altLang="zh-CN" sz="3200" dirty="0">
                <a:solidFill>
                  <a:srgbClr val="FF0000"/>
                </a:solidFill>
                <a:latin typeface="Arial" panose="02080604020202020204" pitchFamily="34" charset="0"/>
                <a:ea typeface="黑体" panose="02000500000000000000" pitchFamily="49" charset="-122"/>
              </a:rPr>
              <a:t>SPEC CPU2006</a:t>
            </a:r>
            <a:r>
              <a:rPr lang="zh-CN" altLang="en-US" sz="3200" dirty="0">
                <a:solidFill>
                  <a:srgbClr val="FF0000"/>
                </a:solidFill>
                <a:latin typeface="Arial" panose="02080604020202020204" pitchFamily="34" charset="0"/>
                <a:ea typeface="黑体" panose="02000500000000000000" pitchFamily="49" charset="-122"/>
              </a:rPr>
              <a:t>的</a:t>
            </a:r>
            <a:r>
              <a:rPr lang="en-US" altLang="zh-CN" sz="3200" dirty="0">
                <a:solidFill>
                  <a:srgbClr val="FF0000"/>
                </a:solidFill>
                <a:latin typeface="Arial" panose="02080604020202020204" pitchFamily="34" charset="0"/>
                <a:ea typeface="黑体" panose="02000500000000000000" pitchFamily="49" charset="-122"/>
              </a:rPr>
              <a:t>IPC</a:t>
            </a:r>
            <a:r>
              <a:rPr lang="zh-CN" altLang="en-US" sz="3200" dirty="0">
                <a:solidFill>
                  <a:srgbClr val="FF0000"/>
                </a:solidFill>
                <a:latin typeface="Arial" panose="02080604020202020204" pitchFamily="34" charset="0"/>
                <a:ea typeface="黑体" panose="02000500000000000000" pitchFamily="49" charset="-122"/>
              </a:rPr>
              <a:t>分解</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5200" y="215900"/>
            <a:ext cx="10361613" cy="1143000"/>
          </a:xfrm>
        </p:spPr>
        <p:txBody>
          <a:bodyPr/>
          <a:lstStyle/>
          <a:p>
            <a:r>
              <a:rPr lang="zh-CN" altLang="en-US" dirty="0" smtClean="0">
                <a:latin typeface="Arial" panose="02080604020202020204" pitchFamily="34" charset="0"/>
                <a:ea typeface="黑体" panose="02000500000000000000" pitchFamily="49" charset="-122"/>
              </a:rPr>
              <a:t>龙芯</a:t>
            </a:r>
            <a:r>
              <a:rPr lang="en-US" altLang="zh-CN" dirty="0" smtClean="0">
                <a:latin typeface="Arial" panose="02080604020202020204" pitchFamily="34" charset="0"/>
                <a:ea typeface="黑体" panose="02000500000000000000" pitchFamily="49" charset="-122"/>
              </a:rPr>
              <a:t>3A6000</a:t>
            </a:r>
            <a:r>
              <a:rPr lang="zh-CN" altLang="en-US" dirty="0" smtClean="0">
                <a:latin typeface="Arial" panose="02080604020202020204" pitchFamily="34" charset="0"/>
                <a:ea typeface="黑体" panose="02000500000000000000" pitchFamily="49" charset="-122"/>
              </a:rPr>
              <a:t>运行</a:t>
            </a:r>
            <a:r>
              <a:rPr lang="en-US" altLang="zh-CN" dirty="0" smtClean="0">
                <a:latin typeface="Arial" panose="02080604020202020204" pitchFamily="34" charset="0"/>
                <a:ea typeface="黑体" panose="02000500000000000000" pitchFamily="49" charset="-122"/>
              </a:rPr>
              <a:t>SPEC CPU2006</a:t>
            </a:r>
            <a:r>
              <a:rPr lang="zh-CN" altLang="en-US" dirty="0" smtClean="0">
                <a:latin typeface="Arial" panose="02080604020202020204" pitchFamily="34" charset="0"/>
                <a:ea typeface="黑体" panose="02000500000000000000" pitchFamily="49" charset="-122"/>
              </a:rPr>
              <a:t>的</a:t>
            </a:r>
            <a:r>
              <a:rPr lang="en-US" altLang="zh-CN" dirty="0" smtClean="0">
                <a:latin typeface="Arial" panose="02080604020202020204" pitchFamily="34" charset="0"/>
                <a:ea typeface="黑体" panose="02000500000000000000" pitchFamily="49" charset="-122"/>
              </a:rPr>
              <a:t>Cache</a:t>
            </a:r>
            <a:r>
              <a:rPr lang="zh-CN" altLang="en-US" dirty="0" smtClean="0">
                <a:latin typeface="Arial" panose="02080604020202020204" pitchFamily="34" charset="0"/>
                <a:ea typeface="黑体" panose="02000500000000000000" pitchFamily="49" charset="-122"/>
              </a:rPr>
              <a:t>失效率</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图表 3"/>
          <p:cNvGraphicFramePr/>
          <p:nvPr/>
        </p:nvGraphicFramePr>
        <p:xfrm>
          <a:off x="952500" y="1726564"/>
          <a:ext cx="10236199" cy="458533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1022297" y="179"/>
            <a:ext cx="10361073" cy="1142940"/>
          </a:xfrm>
        </p:spPr>
        <p:txBody>
          <a:bodyPr vert="horz" wrap="square" lIns="91435" tIns="45717" rIns="91435" bIns="45717" anchor="ctr" anchorCtr="0"/>
          <a:p>
            <a:pPr eaLnBrk="1" hangingPunct="1"/>
            <a:r>
              <a:rPr lang="zh-CN" altLang="en-US" dirty="0">
                <a:latin typeface="黑体" panose="02000500000000000000" pitchFamily="49" charset="-122"/>
                <a:ea typeface="黑体" panose="02000500000000000000" pitchFamily="49" charset="-122"/>
                <a:cs typeface="黑体" panose="02000500000000000000" pitchFamily="49" charset="-122"/>
              </a:rPr>
              <a:t>高速缓存（</a:t>
            </a:r>
            <a:r>
              <a:rPr lang="en-US" altLang="zh-CN" dirty="0">
                <a:latin typeface="黑体" panose="02000500000000000000" pitchFamily="49" charset="-122"/>
                <a:ea typeface="黑体" panose="02000500000000000000" pitchFamily="49" charset="-122"/>
                <a:cs typeface="黑体" panose="02000500000000000000" pitchFamily="49" charset="-122"/>
              </a:rPr>
              <a:t>Cache</a:t>
            </a:r>
            <a:r>
              <a:rPr lang="zh-CN" altLang="en-US" dirty="0">
                <a:latin typeface="黑体" panose="02000500000000000000" pitchFamily="49" charset="-122"/>
                <a:ea typeface="黑体" panose="02000500000000000000" pitchFamily="49" charset="-122"/>
                <a:cs typeface="黑体" panose="02000500000000000000" pitchFamily="49" charset="-122"/>
              </a:rPr>
              <a:t>）小结</a:t>
            </a:r>
            <a:endParaRPr lang="zh-CN" altLang="en-US" dirty="0">
              <a:latin typeface="黑体" panose="02000500000000000000" pitchFamily="49" charset="-122"/>
              <a:ea typeface="黑体" panose="02000500000000000000" pitchFamily="49" charset="-122"/>
              <a:cs typeface="黑体" panose="02000500000000000000" pitchFamily="49" charset="-122"/>
            </a:endParaRPr>
          </a:p>
        </p:txBody>
      </p:sp>
      <p:sp>
        <p:nvSpPr>
          <p:cNvPr id="12291" name="Rectangle 3"/>
          <p:cNvSpPr>
            <a:spLocks noGrp="1"/>
          </p:cNvSpPr>
          <p:nvPr>
            <p:ph idx="1"/>
          </p:nvPr>
        </p:nvSpPr>
        <p:spPr>
          <a:xfrm>
            <a:off x="914352" y="1024380"/>
            <a:ext cx="10748720" cy="5833441"/>
          </a:xfrm>
        </p:spPr>
        <p:txBody>
          <a:bodyPr vert="horz" wrap="square" lIns="91435" tIns="45717" rIns="91435" bIns="45717" anchor="t" anchorCtr="0"/>
          <a:p>
            <a:pPr eaLnBrk="1" hangingPunct="1">
              <a:spcBef>
                <a:spcPts val="0"/>
              </a:spcBef>
            </a:pPr>
            <a:r>
              <a:rPr lang="zh-CN" altLang="en-US" sz="2000" dirty="0">
                <a:latin typeface="宋体" panose="02000500000000000000" pitchFamily="2" charset="-122"/>
                <a:ea typeface="宋体" panose="02000500000000000000" pitchFamily="2" charset="-122"/>
                <a:cs typeface="宋体" panose="02000500000000000000" pitchFamily="2" charset="-122"/>
              </a:rPr>
              <a:t>存储层次的基本概念</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smtClean="0">
                <a:latin typeface="+mn-ea"/>
                <a:sym typeface="+mn-ea"/>
              </a:rPr>
              <a:t>程序中访存指令占比高：</a:t>
            </a:r>
            <a:r>
              <a:rPr lang="en-US" altLang="zh-CN" sz="1600" dirty="0" smtClean="0">
                <a:latin typeface="+mn-ea"/>
                <a:sym typeface="+mn-ea"/>
              </a:rPr>
              <a:t>&gt;40%</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程序访问的局部性：时间局部性和空间局部性</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越小越简单的硬件越快，越快的硬件越昂贵</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eaLnBrk="1" hangingPunct="1">
              <a:spcBef>
                <a:spcPts val="0"/>
              </a:spcBef>
            </a:pPr>
            <a:r>
              <a:rPr lang="en-US" altLang="zh-CN" sz="2000" dirty="0">
                <a:latin typeface="宋体" panose="02000500000000000000" pitchFamily="2" charset="-122"/>
                <a:ea typeface="宋体" panose="02000500000000000000" pitchFamily="2" charset="-122"/>
                <a:cs typeface="宋体" panose="02000500000000000000" pitchFamily="2" charset="-122"/>
              </a:rPr>
              <a:t>Cache</a:t>
            </a:r>
            <a:r>
              <a:rPr lang="zh-CN" altLang="en-US" sz="2000" dirty="0">
                <a:latin typeface="宋体" panose="02000500000000000000" pitchFamily="2" charset="-122"/>
                <a:ea typeface="宋体" panose="02000500000000000000" pitchFamily="2" charset="-122"/>
                <a:cs typeface="宋体" panose="02000500000000000000" pitchFamily="2" charset="-122"/>
              </a:rPr>
              <a:t>结构</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zh-CN" sz="1600" dirty="0">
                <a:latin typeface="宋体" panose="02000500000000000000" pitchFamily="2" charset="-122"/>
                <a:ea typeface="宋体" panose="02000500000000000000" pitchFamily="2" charset="-122"/>
                <a:cs typeface="宋体" panose="02000500000000000000" pitchFamily="2" charset="-122"/>
              </a:rPr>
              <a:t>的内容是主存储器内容的一个子集，</a:t>
            </a:r>
            <a:r>
              <a:rPr lang="zh-CN" altLang="en-US" sz="1600" dirty="0">
                <a:latin typeface="宋体" panose="02000500000000000000" pitchFamily="2" charset="-122"/>
                <a:ea typeface="宋体" panose="02000500000000000000" pitchFamily="2" charset="-122"/>
                <a:cs typeface="宋体" panose="02000500000000000000" pitchFamily="2" charset="-122"/>
              </a:rPr>
              <a:t>同时存储数据和地址（</a:t>
            </a:r>
            <a:r>
              <a:rPr lang="en-US" altLang="zh-CN" sz="1600" dirty="0">
                <a:latin typeface="宋体" panose="02000500000000000000" pitchFamily="2" charset="-122"/>
                <a:ea typeface="宋体" panose="02000500000000000000" pitchFamily="2" charset="-122"/>
                <a:cs typeface="宋体" panose="02000500000000000000" pitchFamily="2" charset="-122"/>
              </a:rPr>
              <a:t>Tag</a:t>
            </a:r>
            <a:r>
              <a:rPr lang="zh-CN" altLang="en-US" sz="1600" dirty="0">
                <a:latin typeface="宋体" panose="02000500000000000000" pitchFamily="2" charset="-122"/>
                <a:ea typeface="宋体" panose="02000500000000000000" pitchFamily="2" charset="-122"/>
                <a:cs typeface="宋体" panose="02000500000000000000" pitchFamily="2" charset="-122"/>
              </a:rPr>
              <a:t>）</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需要考虑所需要的数据不在</a:t>
            </a:r>
            <a:r>
              <a:rPr lang="en-US" altLang="en-US"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中的情况</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eaLnBrk="1" hangingPunct="1">
              <a:spcBef>
                <a:spcPts val="0"/>
              </a:spcBef>
            </a:pPr>
            <a:r>
              <a:rPr lang="en-US" altLang="zh-CN" sz="2000" dirty="0">
                <a:latin typeface="宋体" panose="02000500000000000000" pitchFamily="2" charset="-122"/>
                <a:ea typeface="宋体" panose="02000500000000000000" pitchFamily="2" charset="-122"/>
                <a:cs typeface="宋体" panose="02000500000000000000" pitchFamily="2" charset="-122"/>
              </a:rPr>
              <a:t>Cache</a:t>
            </a:r>
            <a:r>
              <a:rPr lang="zh-CN" altLang="en-US" sz="2000" dirty="0">
                <a:latin typeface="宋体" panose="02000500000000000000" pitchFamily="2" charset="-122"/>
                <a:ea typeface="宋体" panose="02000500000000000000" pitchFamily="2" charset="-122"/>
                <a:cs typeface="宋体" panose="02000500000000000000" pitchFamily="2" charset="-122"/>
              </a:rPr>
              <a:t>性能优化</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降低失效率（</a:t>
            </a:r>
            <a:r>
              <a:rPr lang="en-US" altLang="zh-CN" sz="1600" dirty="0">
                <a:latin typeface="宋体" panose="02000500000000000000" pitchFamily="2" charset="-122"/>
                <a:ea typeface="宋体" panose="02000500000000000000" pitchFamily="2" charset="-122"/>
                <a:cs typeface="宋体" panose="02000500000000000000" pitchFamily="2" charset="-122"/>
              </a:rPr>
              <a:t>MissRate</a:t>
            </a:r>
            <a:r>
              <a:rPr lang="zh-CN" altLang="en-US" sz="1600" dirty="0">
                <a:latin typeface="宋体" panose="02000500000000000000" pitchFamily="2" charset="-122"/>
                <a:ea typeface="宋体" panose="02000500000000000000" pitchFamily="2" charset="-122"/>
                <a:cs typeface="宋体" panose="02000500000000000000" pitchFamily="2" charset="-122"/>
              </a:rPr>
              <a:t>）</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降低失效延迟（</a:t>
            </a:r>
            <a:r>
              <a:rPr lang="en-US" altLang="zh-CN" sz="1600" dirty="0">
                <a:latin typeface="宋体" panose="02000500000000000000" pitchFamily="2" charset="-122"/>
                <a:ea typeface="宋体" panose="02000500000000000000" pitchFamily="2" charset="-122"/>
                <a:cs typeface="宋体" panose="02000500000000000000" pitchFamily="2" charset="-122"/>
              </a:rPr>
              <a:t>MissPenalty</a:t>
            </a:r>
            <a:r>
              <a:rPr lang="zh-CN" altLang="en-US" sz="1600" dirty="0">
                <a:latin typeface="宋体" panose="02000500000000000000" pitchFamily="2" charset="-122"/>
                <a:ea typeface="宋体" panose="02000500000000000000" pitchFamily="2" charset="-122"/>
                <a:cs typeface="宋体" panose="02000500000000000000" pitchFamily="2" charset="-122"/>
              </a:rPr>
              <a:t>）</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降低命中延迟（</a:t>
            </a:r>
            <a:r>
              <a:rPr lang="en-US" altLang="zh-CN" sz="1600" dirty="0">
                <a:latin typeface="宋体" panose="02000500000000000000" pitchFamily="2" charset="-122"/>
                <a:ea typeface="宋体" panose="02000500000000000000" pitchFamily="2" charset="-122"/>
                <a:cs typeface="宋体" panose="02000500000000000000" pitchFamily="2" charset="-122"/>
              </a:rPr>
              <a:t>HitTime</a:t>
            </a:r>
            <a:r>
              <a:rPr lang="zh-CN" altLang="en-US" sz="1600" dirty="0">
                <a:latin typeface="宋体" panose="02000500000000000000" pitchFamily="2" charset="-122"/>
                <a:ea typeface="宋体" panose="02000500000000000000" pitchFamily="2" charset="-122"/>
                <a:cs typeface="宋体" panose="02000500000000000000" pitchFamily="2" charset="-122"/>
              </a:rPr>
              <a:t>）</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提高</a:t>
            </a: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访问并行性：</a:t>
            </a:r>
            <a:r>
              <a:rPr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非阻塞访问（访存指令的乱序执行）和预取</a:t>
            </a:r>
            <a:endParaRPr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eaLnBrk="1" hangingPunct="1">
              <a:spcBef>
                <a:spcPts val="0"/>
              </a:spcBef>
            </a:pPr>
            <a:r>
              <a:rPr lang="zh-CN" altLang="en-US" sz="2000" dirty="0">
                <a:latin typeface="宋体" panose="02000500000000000000" pitchFamily="2" charset="-122"/>
                <a:ea typeface="宋体" panose="02000500000000000000" pitchFamily="2" charset="-122"/>
                <a:cs typeface="宋体" panose="02000500000000000000" pitchFamily="2" charset="-122"/>
              </a:rPr>
              <a:t>常见处理器的存储层次：运用之妙、存乎一心</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现代通用</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CPU</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片内多级</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Cache</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：核内</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L1D</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L1I</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（几十</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KB</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），核内</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L2</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（几百</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KB-1MB</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），核间</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LLC</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（几十</a:t>
            </a:r>
            <a:r>
              <a:rPr lang="en-US" altLang="zh-CN" sz="1600" dirty="0" smtClean="0">
                <a:latin typeface="宋体" panose="02000500000000000000" pitchFamily="2" charset="-122"/>
                <a:ea typeface="宋体" panose="02000500000000000000" pitchFamily="2" charset="-122"/>
                <a:cs typeface="宋体" panose="02000500000000000000" pitchFamily="2" charset="-122"/>
                <a:sym typeface="+mn-ea"/>
              </a:rPr>
              <a:t>MB</a:t>
            </a:r>
            <a:r>
              <a:rPr lang="zh-CN" altLang="en-US" sz="1600" dirty="0" smtClean="0">
                <a:latin typeface="宋体" panose="02000500000000000000" pitchFamily="2" charset="-122"/>
                <a:ea typeface="宋体" panose="02000500000000000000" pitchFamily="2" charset="-122"/>
                <a:cs typeface="宋体" panose="02000500000000000000" pitchFamily="2" charset="-122"/>
                <a:sym typeface="+mn-ea"/>
              </a:rPr>
              <a:t>）</a:t>
            </a:r>
            <a:endParaRPr lang="en-US" altLang="zh-CN" sz="1600" dirty="0" smtClean="0">
              <a:latin typeface="宋体" panose="02000500000000000000" pitchFamily="2" charset="-122"/>
              <a:ea typeface="宋体" panose="02000500000000000000" pitchFamily="2" charset="-122"/>
              <a:cs typeface="宋体" panose="02000500000000000000" pitchFamily="2" charset="-122"/>
            </a:endParaRPr>
          </a:p>
          <a:p>
            <a:pPr lvl="1" eaLnBrk="1" hangingPunct="1">
              <a:spcBef>
                <a:spcPts val="0"/>
              </a:spcBef>
            </a:pPr>
            <a:endParaRPr lang="en-US" altLang="zh-CN" sz="1600" dirty="0" smtClean="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14145</Words>
  <Application>WPS 演示</Application>
  <PresentationFormat>自定义</PresentationFormat>
  <Paragraphs>2332</Paragraphs>
  <Slides>75</Slides>
  <Notes>0</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8</vt:i4>
      </vt:variant>
      <vt:variant>
        <vt:lpstr>幻灯片标题</vt:lpstr>
      </vt:variant>
      <vt:variant>
        <vt:i4>75</vt:i4>
      </vt:variant>
    </vt:vector>
  </HeadingPairs>
  <TitlesOfParts>
    <vt:vector size="98" baseType="lpstr">
      <vt:lpstr>Arial</vt:lpstr>
      <vt:lpstr>宋体</vt:lpstr>
      <vt:lpstr>Wingdings</vt:lpstr>
      <vt:lpstr>Times New Roman</vt:lpstr>
      <vt:lpstr>Nimbus Roman No9 L</vt:lpstr>
      <vt:lpstr>黑体</vt:lpstr>
      <vt:lpstr>微软雅黑</vt:lpstr>
      <vt:lpstr>Arial Unicode MS</vt:lpstr>
      <vt:lpstr>Geneva</vt:lpstr>
      <vt:lpstr>Quicksand Light</vt:lpstr>
      <vt:lpstr>Times New Roman</vt:lpstr>
      <vt:lpstr>MathJax_Vector</vt:lpstr>
      <vt:lpstr>文泉驿等宽正黑</vt:lpstr>
      <vt:lpstr>默认设计模板</vt:lpstr>
      <vt:lpstr>1_默认设计模板</vt:lpstr>
      <vt:lpstr>Word.Document.8</vt:lpstr>
      <vt:lpstr>Word.Document.8</vt:lpstr>
      <vt:lpstr>Word.Document.8</vt:lpstr>
      <vt:lpstr>Word.Document.8</vt:lpstr>
      <vt:lpstr>Word.Document.8</vt:lpstr>
      <vt:lpstr>Word.Document.8</vt:lpstr>
      <vt:lpstr>Word.Document.8</vt:lpstr>
      <vt:lpstr>Excel.Chart.8</vt:lpstr>
      <vt:lpstr>PowerPoint 演示文稿</vt:lpstr>
      <vt:lpstr>提高流水线效率的技术</vt:lpstr>
      <vt:lpstr>PowerPoint 演示文稿</vt:lpstr>
      <vt:lpstr>PowerPoint 演示文稿</vt:lpstr>
      <vt:lpstr>高速缓存（Cache）</vt:lpstr>
      <vt:lpstr>存储层次的基本概念</vt:lpstr>
      <vt:lpstr>PowerPoint 演示文稿</vt:lpstr>
      <vt:lpstr>PowerPoint 演示文稿</vt:lpstr>
      <vt:lpstr>摩尔定律使CPU的内容发生了变化</vt:lpstr>
      <vt:lpstr>PowerPoint 演示文稿</vt:lpstr>
      <vt:lpstr>PowerPoint 演示文稿</vt:lpstr>
      <vt:lpstr>存储层次基本原理</vt:lpstr>
      <vt:lpstr>Cache结构</vt:lpstr>
      <vt:lpstr>Cache的结构</vt:lpstr>
      <vt:lpstr>PowerPoint 演示文稿</vt:lpstr>
      <vt:lpstr>全相联、直接相联、组相联</vt:lpstr>
      <vt:lpstr>全相联</vt:lpstr>
      <vt:lpstr>直接相联</vt:lpstr>
      <vt:lpstr>组相联</vt:lpstr>
      <vt:lpstr>Cache替换算法</vt:lpstr>
      <vt:lpstr>PowerPoint 演示文稿</vt:lpstr>
      <vt:lpstr>PowerPoint 演示文稿</vt:lpstr>
      <vt:lpstr>Cache性能优化</vt:lpstr>
      <vt:lpstr>PowerPoint 演示文稿</vt:lpstr>
      <vt:lpstr>Cache性能优化</vt:lpstr>
      <vt:lpstr>PowerPoint 演示文稿</vt:lpstr>
      <vt:lpstr>引起Cache失效的因素（3C/4C）</vt:lpstr>
      <vt:lpstr>PowerPoint 演示文稿</vt:lpstr>
      <vt:lpstr>PowerPoint 演示文稿</vt:lpstr>
      <vt:lpstr>PowerPoint 演示文稿</vt:lpstr>
      <vt:lpstr>通过增加Cache大小提高命中率</vt:lpstr>
      <vt:lpstr>PowerPoint 演示文稿</vt:lpstr>
      <vt:lpstr>PowerPoint 演示文稿</vt:lpstr>
      <vt:lpstr>PowerPoint 演示文稿</vt:lpstr>
      <vt:lpstr>PowerPoint 演示文稿</vt:lpstr>
      <vt:lpstr>PowerPoint 演示文稿</vt:lpstr>
      <vt:lpstr>PowerPoint 演示文稿</vt:lpstr>
      <vt:lpstr>数组分块</vt:lpstr>
      <vt:lpstr>PowerPoint 演示文稿</vt:lpstr>
      <vt:lpstr>PowerPoint 演示文稿</vt:lpstr>
      <vt:lpstr>PowerPoint 演示文稿</vt:lpstr>
      <vt:lpstr>通过读优先降低失效延迟</vt:lpstr>
      <vt:lpstr>通过写合并降低失效延迟 </vt:lpstr>
      <vt:lpstr>PowerPoint 演示文稿</vt:lpstr>
      <vt:lpstr>通过二级Cache降低失效延迟</vt:lpstr>
      <vt:lpstr>PowerPoint 演示文稿</vt:lpstr>
      <vt:lpstr>简化Cache设计 </vt:lpstr>
      <vt:lpstr>避免地址转换延迟：虚地址Cache</vt:lpstr>
      <vt:lpstr>虚地址Cache中多进程对Cache命中率的影响</vt:lpstr>
      <vt:lpstr>虚Index实Tag技术</vt:lpstr>
      <vt:lpstr>增加Cache访问流水级</vt:lpstr>
      <vt:lpstr>PowerPoint 演示文稿</vt:lpstr>
      <vt:lpstr>多访存部件</vt:lpstr>
      <vt:lpstr>PowerPoint 演示文稿</vt:lpstr>
      <vt:lpstr>PowerPoint 演示文稿</vt:lpstr>
      <vt:lpstr>龙芯LA664队列大小</vt:lpstr>
      <vt:lpstr>PowerPoint 演示文稿</vt:lpstr>
      <vt:lpstr>PowerPoint 演示文稿</vt:lpstr>
      <vt:lpstr>PowerPoint 演示文稿</vt:lpstr>
      <vt:lpstr>Cache优化小结</vt:lpstr>
      <vt:lpstr>部分处理器的存储层次</vt:lpstr>
      <vt:lpstr>MIPS R10000存储层次</vt:lpstr>
      <vt:lpstr>HP PA-8x00存储层次</vt:lpstr>
      <vt:lpstr>UltraSparc III存储层次</vt:lpstr>
      <vt:lpstr>Alpha 21264存储层次</vt:lpstr>
      <vt:lpstr>Power4存储层次</vt:lpstr>
      <vt:lpstr>Pentium4存储层次</vt:lpstr>
      <vt:lpstr>Itanium2存储层次</vt:lpstr>
      <vt:lpstr>PowerPoint 演示文稿</vt:lpstr>
      <vt:lpstr>Athlon64存储层次</vt:lpstr>
      <vt:lpstr>典型处理器的数据通路（2010-2015）</vt:lpstr>
      <vt:lpstr>典型处理器的数据通路（2010-2015）</vt:lpstr>
      <vt:lpstr>PowerPoint 演示文稿</vt:lpstr>
      <vt:lpstr>龙芯3A6000运行SPEC CPU2006的Cache失效率</vt:lpstr>
      <vt:lpstr>高速缓存（Cache）小结</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RISC处理器设计</dc:title>
  <dc:creator>Weiwu Hu</dc:creator>
  <cp:lastModifiedBy>loongson</cp:lastModifiedBy>
  <cp:revision>940</cp:revision>
  <dcterms:created xsi:type="dcterms:W3CDTF">2025-10-03T06:29:03Z</dcterms:created>
  <dcterms:modified xsi:type="dcterms:W3CDTF">2025-10-03T06:29:03Z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