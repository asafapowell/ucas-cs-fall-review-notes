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71"/>
  </p:handoutMasterIdLst>
  <p:sldIdLst>
    <p:sldId id="256" r:id="rId3"/>
    <p:sldId id="526" r:id="rId4"/>
    <p:sldId id="354" r:id="rId5"/>
    <p:sldId id="505" r:id="rId6"/>
    <p:sldId id="414" r:id="rId7"/>
    <p:sldId id="447" r:id="rId9"/>
    <p:sldId id="418" r:id="rId10"/>
    <p:sldId id="516" r:id="rId11"/>
    <p:sldId id="448" r:id="rId12"/>
    <p:sldId id="419" r:id="rId13"/>
    <p:sldId id="420" r:id="rId14"/>
    <p:sldId id="421" r:id="rId15"/>
    <p:sldId id="480" r:id="rId16"/>
    <p:sldId id="452" r:id="rId17"/>
    <p:sldId id="515" r:id="rId18"/>
    <p:sldId id="449" r:id="rId19"/>
    <p:sldId id="422" r:id="rId20"/>
    <p:sldId id="423" r:id="rId21"/>
    <p:sldId id="453" r:id="rId22"/>
    <p:sldId id="514" r:id="rId23"/>
    <p:sldId id="450" r:id="rId24"/>
    <p:sldId id="425" r:id="rId25"/>
    <p:sldId id="427" r:id="rId26"/>
    <p:sldId id="588" r:id="rId27"/>
    <p:sldId id="589" r:id="rId28"/>
    <p:sldId id="590" r:id="rId29"/>
    <p:sldId id="633" r:id="rId30"/>
    <p:sldId id="631" r:id="rId31"/>
    <p:sldId id="632" r:id="rId32"/>
    <p:sldId id="454" r:id="rId33"/>
    <p:sldId id="634" r:id="rId34"/>
    <p:sldId id="456" r:id="rId35"/>
    <p:sldId id="470" r:id="rId36"/>
    <p:sldId id="471" r:id="rId37"/>
    <p:sldId id="635" r:id="rId38"/>
    <p:sldId id="474" r:id="rId39"/>
    <p:sldId id="475" r:id="rId40"/>
    <p:sldId id="477" r:id="rId41"/>
    <p:sldId id="479" r:id="rId42"/>
    <p:sldId id="513" r:id="rId43"/>
    <p:sldId id="433" r:id="rId44"/>
    <p:sldId id="434" r:id="rId45"/>
    <p:sldId id="482" r:id="rId46"/>
    <p:sldId id="521" r:id="rId47"/>
    <p:sldId id="522" r:id="rId48"/>
    <p:sldId id="520" r:id="rId49"/>
    <p:sldId id="519" r:id="rId50"/>
    <p:sldId id="591" r:id="rId51"/>
    <p:sldId id="512" r:id="rId52"/>
    <p:sldId id="478" r:id="rId53"/>
    <p:sldId id="483" r:id="rId54"/>
    <p:sldId id="517" r:id="rId55"/>
    <p:sldId id="523" r:id="rId56"/>
    <p:sldId id="511" r:id="rId57"/>
    <p:sldId id="438" r:id="rId58"/>
    <p:sldId id="439" r:id="rId59"/>
    <p:sldId id="451" r:id="rId60"/>
    <p:sldId id="494" r:id="rId61"/>
    <p:sldId id="496" r:id="rId62"/>
    <p:sldId id="462" r:id="rId63"/>
    <p:sldId id="518" r:id="rId64"/>
    <p:sldId id="464" r:id="rId65"/>
    <p:sldId id="499" r:id="rId66"/>
    <p:sldId id="524" r:id="rId67"/>
    <p:sldId id="525" r:id="rId68"/>
    <p:sldId id="673" r:id="rId69"/>
    <p:sldId id="469" r:id="rId70"/>
  </p:sldIdLst>
  <p:sldSz cx="12190730" cy="6858000"/>
  <p:notesSz cx="6858000" cy="9144000"/>
  <p:defaultTextStyle>
    <a:defPPr>
      <a:defRPr lang="zh-CN"/>
    </a:defPPr>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vl6pPr marL="2286000" lvl="5"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6pPr>
    <a:lvl7pPr marL="2743200" lvl="6"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7pPr>
    <a:lvl8pPr marL="3200400" lvl="7"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8pPr>
    <a:lvl9pPr marL="3657600" lvl="8"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1" clrIdx="0"/>
  <p:cmAuthor id="1" name="wangwx" initials="w" lastIdx="2" clrIdx="0"/>
  <p:cmAuthor id="2" name="Athene" initials="A" lastIdx="2" clrIdx="1"/>
  <p:cmAuthor id="3" name="Microsoft Office User" initials="M" lastIdx="1" clrIdx="2"/>
  <p:cmAuthor id="4" name="loongson" initials="l" lastIdx="19" clrIdx="3"/>
  <p:cmAuthor id="5" name=" " initials=" " lastIdx="1" clrIdx="3"/>
  <p:cmAuthor id="6" name="liulili" initials="l" lastIdx="13" clrIdx="5"/>
  <p:cmAuthor id="7" name="WenWen" initials="W" lastIdx="1" clrIdx="6"/>
  <p:cmAuthor id="8" name="姜伟光" initials="姜" lastIdx="1" clrIdx="0"/>
  <p:cmAuthor id="9" name="宋洁然" initials="宋" lastIdx="2" clrIdx="1"/>
  <p:cmAuthor id="10" name="ming qiu" initials="m" lastIdx="17" clrIdx="1"/>
  <p:cmAuthor id="11" name="沈霄雷" initials="沈" lastIdx="833089" clrIdx="0"/>
  <p:cmAuthor id="12" name="韩雨" initials="韩" lastIdx="0" clrIdx="0"/>
  <p:cmAuthor id="13" name="仇怿俊" initials="仇" lastIdx="0" clrIdx="0"/>
  <p:cmAuthor id="14" name="D" initials="D" lastIdx="1" clrIdx="13"/>
  <p:cmAuthor id="15" name="于晖_zy632mY3" initials="authorId_387757713" lastIdx="0" clrIdx="0"/>
  <p:cmAuthor id="16" name="YM.Leo" initials="Y" lastIdx="20" clrIdx="13"/>
  <p:cmAuthor id="17" name="李臻_jiai6ZRr" initials="authorId_192999303" lastIdx="0" clrIdx="0"/>
  <p:cmAuthor id="18" name="robin.song" initials="r [3]" lastIdx="1" clrIdx="17"/>
  <p:cmAuthor id="19" name="孙军_a2y2UrEv" initials="authorId_524475945" lastIdx="0" clrIdx="0"/>
  <p:cmAuthor id="20" name="KSOGZD21000128" initials="K" lastIdx="1" clrIdx="19"/>
  <p:cmAuthor id="21" name="Microsoft Office 用户" initials="Office [10]" lastIdx="1" clrIdx="20"/>
  <p:cmAuthor id="22" name="grace" initials="g" lastIdx="1" clrIdx="21"/>
  <p:cmAuthor id="23" name="张 令旗" initials="张" lastIdx="6" clrIdx="22"/>
  <p:cmAuthor id="24" name="Liu Ym" initials="LY" lastIdx="3" clrIdx="23"/>
  <p:cmAuthor id="25" name="李蕾00009994" initials="" lastIdx="6" clrIdx="17"/>
  <p:cmAuthor id="26" name="yangkun" initials="y" lastIdx="1" clrIdx="25"/>
  <p:cmAuthor id="27" name="10270945" initials="" lastIdx="2" clrIdx="25"/>
  <p:cmAuthor id="28" name="10073006" initials="" lastIdx="4" clrIdx="26"/>
  <p:cmAuthor id="29" name="Hou Yingfeng" initials="" lastIdx="10" clrIdx="23"/>
  <p:cmAuthor id="30" name="赵诚荣10027092" initials="" lastIdx="2" clrIdx="25"/>
  <p:cmAuthor id="31" name="10056791" initials="" lastIdx="1" clrIdx="29"/>
  <p:cmAuthor id="32" name="10033224" initials="" lastIdx="1" clrIdx="31"/>
  <p:cmAuthor id="33" name="10045953" initials="" lastIdx="1" clrIdx="32"/>
  <p:cmAuthor id="34" name="关全全10258021" initials="" lastIdx="1" clrIdx="36"/>
  <p:cmAuthor id="35" name="suny hong" initials="sh" lastIdx="1" clrIdx="34"/>
  <p:cmAuthor id="36" name="Charley" initials="C" lastIdx="1" clrIdx="0"/>
  <p:cmAuthor id="37" name="tangj" initials="t" lastIdx="1" clrIdx="36"/>
  <p:cmAuthor id="38" name="鞠瑞" initials="鞠" lastIdx="1" clrIdx="37"/>
  <p:cmAuthor id="39" name="Hi" initials="H" lastIdx="1" clrIdx="38"/>
  <p:cmAuthor id="40" name="P1063cindychen" initials="P" lastIdx="6" clrIdx="0"/>
  <p:cmAuthor id="41" name="Pueschner, Franziska {FA~Shanghai}" initials="P" lastIdx="5" clrIdx="0"/>
  <p:cmAuthor id="691587970" name="小延魔法师" initials="小" lastIdx="1126286" clrIdx="0"/>
  <p:cmAuthor id="42" name="jianbest" initials="j" lastIdx="1" clrIdx="41"/>
  <p:cmAuthor id="691587971" name="刘春杰10244342" initials="刘春杰10244342" lastIdx="1" clrIdx="41"/>
  <p:cmAuthor id="43" name="王静" initials="王" lastIdx="1" clrIdx="42"/>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9" name="cui yun" initials="cy" lastIdx="1" clrIdx="22"/>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2000" name="梁亚栋" initials="authorId_233440905" lastIdx="776053" clrIdx="0"/>
  <p:cmAuthor id="56" name="未知的使用者22" initials="未" lastIdx="3" clrIdx="1"/>
  <p:cmAuthor id="57" name="未知的使用者23" initials="未" lastIdx="1" clrIdx="1"/>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5" name="作者" initials="A" lastIdx="0" clrIdx="24"/>
  <p:cmAuthor id="76" name="wang wei" initials="ww" lastIdx="1" clrIdx="25"/>
  <p:cmAuthor id="77" name="张 波" initials="张" lastIdx="1" clrIdx="26"/>
  <p:cmAuthor id="78" name="JIANG DY" initials="JD" lastIdx="7" clrIdx="27"/>
  <p:cmAuthor id="79" name="YANG Yaqin" initials="YY" lastIdx="1" clrIdx="28"/>
  <p:cmAuthor id="80" name="钱福利" initials="Q" lastIdx="1" clrIdx="29"/>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511165158" name="Eva bling bling" initials="E" lastIdx="1" clrIdx="3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周元元" initials="" lastIdx="5" clrIdx="0"/>
  <p:cmAuthor id="108" name="未知用户56" initials="未" lastIdx="1" clrIdx="0"/>
  <p:cmAuthor id="109" name="未知用户55" initials="未" lastIdx="1" clrIdx="0"/>
  <p:cmAuthor id="110" name="未知用户51" initials="未" lastIdx="1" clrIdx="1"/>
  <p:cmAuthor id="111" name="LeeElva" initials="L" lastIdx="1" clrIdx="0"/>
  <p:cmAuthor id="21433622" name="悠真" initials="悠" lastIdx="4" clrIdx="26"/>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9" name="未知用户66" initials="" lastIdx="1" clrIdx="0"/>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11827" name="黄晓平" initials="黄" lastIdx="0" clrIdx="0"/>
  <p:cmAuthor id="147" name="未知的使用者125" initials="未" lastIdx="1" clrIdx="0"/>
  <p:cmAuthor id="1411828" name="Xmj" initials="X" lastIdx="3" clrIdx="85"/>
  <p:cmAuthor id="148" name="未知的使用者118" initials="未" lastIdx="1" clrIdx="0"/>
  <p:cmAuthor id="1411829" name="张静_Anua7Nne" initials="authorId_935319063" lastIdx="0" clrIdx="0"/>
  <p:cmAuthor id="149" name="未知的使用者126" initials="未" lastIdx="1" clrIdx="0"/>
  <p:cmAuthor id="1411830" name="晶 王" initials="晶王" lastIdx="1" clrIdx="46"/>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1" name="未知用户2" initials="未"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47245819" name="群智集" initials="群" lastIdx="0" clrIdx="0"/>
  <p:cmAuthor id="213" name="未知的使用者138" initials="未" lastIdx="10" clrIdx="0"/>
  <p:cmAuthor id="47245820" name="18937034561@189.cn" initials="1" lastIdx="1" clrIdx="16"/>
  <p:cmAuthor id="214" name="未知的使用者139" initials="未" lastIdx="1" clrIdx="0"/>
  <p:cmAuthor id="47245821" name="宋玉坤" initials="W用" lastIdx="1" clrIdx="24"/>
  <p:cmAuthor id="215" name="未知的使用者140" initials="未" lastIdx="1" clrIdx="1"/>
  <p:cmAuthor id="47245822" name="xw" initials="x" lastIdx="4" clrIdx="42"/>
  <p:cmAuthor id="216" name="未知的使用者197" initials="未" lastIdx="8" clrIdx="0"/>
  <p:cmAuthor id="47245823" name="tangjp@mvtech.com.cn" initials="t" lastIdx="14" clrIdx="37"/>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154" initials="" lastIdx="1" clrIdx="0"/>
  <p:cmAuthor id="273" name="未知用户23" initials="未"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4" name="未知用户72" initials="" lastIdx="1" clrIdx="0"/>
  <p:cmAuthor id="285" name="未知用户73" initials="" lastIdx="2" clrIdx="0"/>
  <p:cmAuthor id="289" name="未知用户42" initials="未" lastIdx="1" clrIdx="0"/>
  <p:cmAuthor id="291" name="未知用户96" initials="" lastIdx="1" clrIdx="0"/>
  <p:cmAuthor id="565656472" name="Lijx" initials="L" lastIdx="6" clrIdx="4"/>
  <p:cmAuthor id="293" name="未知用户97" initials="" lastIdx="2" clrIdx="0"/>
  <p:cmAuthor id="294" name="未知用户40" initials="" lastIdx="5" clrIdx="1"/>
  <p:cmAuthor id="295" name="未知用户43" initials="" lastIdx="1" clrIdx="0"/>
  <p:cmAuthor id="298" name="未知用户26" initials="" lastIdx="1" clrIdx="0"/>
  <p:cmAuthor id="309" name="mapengcheng" initials="m" lastIdx="1" clrIdx="308"/>
  <p:cmAuthor id="311" name="郎蕊" initials="郎" lastIdx="4" clrIdx="310"/>
  <p:cmAuthor id="312" name="Chun Chung YEH" initials="C" lastIdx="2" clrIdx="0"/>
  <p:cmAuthor id="314" name="Vicky" initials="V" lastIdx="2" clrIdx="1"/>
  <p:cmAuthor id="315" name="刘云轩" initials="刘" lastIdx="2" clrIdx="0"/>
  <p:cmAuthor id="316" name="sharon" initials="s" lastIdx="5" clrIdx="84"/>
  <p:cmAuthor id="317" name="未知的使用者81" initials="未" lastIdx="1" clrIdx="0"/>
  <p:cmAuthor id="318" name="仝德志" initials="仝" lastIdx="1" clrIdx="0"/>
  <p:cmAuthor id="1554701838" name="宗哲" initials="宗" lastIdx="1" clrIdx="337"/>
  <p:cmAuthor id="321" name="未知用户111" initials="未" lastIdx="1" clrIdx="1"/>
  <p:cmAuthor id="322" name="alpha" initials="a" lastIdx="1" clrIdx="0"/>
  <p:cmAuthor id="326" name="未知的使用者75" initials="未" lastIdx="1" clrIdx="0"/>
  <p:cmAuthor id="327" name="未知的使用者77" initials="未" lastIdx="1" clrIdx="0"/>
  <p:cmAuthor id="328" name="未知的使用者78" initials="未" lastIdx="5" clrIdx="1"/>
  <p:cmAuthor id="329" name="未知的使用者79" initials="未" lastIdx="0" clrIdx="1"/>
  <p:cmAuthor id="330" name="未知的使用者80" initials="未" lastIdx="0" clrIdx="0"/>
  <p:cmAuthor id="331" name="未知的使用者82" initials="未" lastIdx="1" clrIdx="0"/>
  <p:cmAuthor id="332" name="未知的使用者83" initials="未" lastIdx="1" clrIdx="0"/>
  <p:cmAuthor id="333" name="未知的使用者84" initials="未" lastIdx="1" clrIdx="1"/>
  <p:cmAuthor id="1483810881" name="WPS_1679281038" initials="W" lastIdx="1" clrIdx="2"/>
  <p:cmAuthor id="334" name="未知的使用者85" initials="未" lastIdx="1" clrIdx="0"/>
  <p:cmAuthor id="335" name="未知的使用者87" initials="未" lastIdx="1" clrIdx="0"/>
  <p:cmAuthor id="336" name="未知的使用者90" initials="未" lastIdx="8" clrIdx="0"/>
  <p:cmAuthor id="337" name="未知的使用者91" initials="未" lastIdx="1" clrIdx="0"/>
  <p:cmAuthor id="338" name="CHRISYU" initials="C" lastIdx="1" clrIdx="0"/>
  <p:cmAuthor id="339" name="liucunri" initials="l" lastIdx="1" clrIdx="0"/>
  <p:cmAuthor id="340" name="Unknown User48" initials="U" lastIdx="8" clrIdx="0"/>
  <p:cmAuthor id="341" name="Unknown User52" initials="U" lastIdx="1" clrIdx="0"/>
  <p:cmAuthor id="342" name="Unknown User50" initials="U" lastIdx="1" clrIdx="0"/>
  <p:cmAuthor id="346" name="PC" initials="P" lastIdx="4" clrIdx="0"/>
  <p:cmAuthor id="352" name="未知的使用者161" initials="未" lastIdx="1" clrIdx="0"/>
  <p:cmAuthor id="355" name="未知的使用者152" initials="未" lastIdx="1" clrIdx="0"/>
  <p:cmAuthor id="360" name="未知的使用者176" initials="未" lastIdx="1" clrIdx="0"/>
  <p:cmAuthor id="362" name="未知的使用者178" initials="未" lastIdx="1" clrIdx="0"/>
  <p:cmAuthor id="363" name="未知的使用者179" initials="未" lastIdx="1" clrIdx="0"/>
  <p:cmAuthor id="364" name="未知的使用者180" initials="未" lastIdx="2" clrIdx="0"/>
  <p:cmAuthor id="475196944" name="姚琳" initials="姚" lastIdx="1133934" clrIdx="0"/>
  <p:cmAuthor id="475196945" name="chen" initials="c"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FF99FF"/>
    <a:srgbClr val="FF66FF"/>
    <a:srgbClr val="FF3300"/>
    <a:srgbClr val="800000"/>
    <a:srgbClr val="0099CC"/>
    <a:srgbClr val="33CCF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3" d="100"/>
          <a:sy n="63" d="100"/>
        </p:scale>
        <p:origin x="-749" y="-67"/>
      </p:cViewPr>
      <p:guideLst>
        <p:guide orient="horz" pos="2149"/>
        <p:guide pos="38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5" Type="http://schemas.openxmlformats.org/officeDocument/2006/relationships/commentAuthors" Target="commentAuthors.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handoutMaster" Target="handoutMasters/handoutMaster1.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wmf"/><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wmf"/><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5.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7.wmf"/><Relationship Id="rId4" Type="http://schemas.openxmlformats.org/officeDocument/2006/relationships/image" Target="../media/image3.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49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49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49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49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288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6564" name="Rectangle 4"/>
          <p:cNvSpPr>
            <a:spLocks noTextEdit="1"/>
          </p:cNvSpPr>
          <p:nvPr>
            <p:ph type="sldImg" idx="2"/>
          </p:nvPr>
        </p:nvSpPr>
        <p:spPr>
          <a:xfrm>
            <a:off x="382588" y="685800"/>
            <a:ext cx="6092825" cy="3429000"/>
          </a:xfrm>
          <a:prstGeom prst="rect">
            <a:avLst/>
          </a:prstGeom>
          <a:noFill/>
          <a:ln w="9525" cap="flat" cmpd="sng">
            <a:solidFill>
              <a:srgbClr val="000000"/>
            </a:solidFill>
            <a:prstDash val="solid"/>
            <a:miter/>
            <a:headEnd type="none" w="med" len="med"/>
            <a:tailEnd type="none" w="med" len="med"/>
          </a:ln>
        </p:spPr>
      </p:sp>
      <p:sp>
        <p:nvSpPr>
          <p:cNvPr id="12288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p:txBody>
      </p:sp>
      <p:sp>
        <p:nvSpPr>
          <p:cNvPr id="12288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288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fld>
            <a:endParaRPr lang="en-US" altLang="zh-CN"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7587" name="Rectangle 2"/>
          <p:cNvSpPr>
            <a:spLocks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281" y="1504950"/>
            <a:ext cx="5079339" cy="4591050"/>
          </a:xfrm>
        </p:spPr>
        <p:txBody>
          <a:bodyPr/>
          <a:lstStyle>
            <a:lvl1pPr>
              <a:defRPr sz="2000"/>
            </a:lvl1pPr>
            <a:lvl2pPr>
              <a:defRPr sz="1800"/>
            </a:lvl2pPr>
            <a:lvl3pPr marL="914400" indent="0">
              <a:buNone/>
              <a:defRPr sz="1800"/>
            </a:lvl3pPr>
            <a:lvl4pPr marL="1371600" indent="0">
              <a:buNone/>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a:p>
        </p:txBody>
      </p:sp>
      <p:sp>
        <p:nvSpPr>
          <p:cNvPr id="4" name="内容占位符 3"/>
          <p:cNvSpPr>
            <a:spLocks noGrp="1"/>
          </p:cNvSpPr>
          <p:nvPr>
            <p:ph sz="half" idx="2"/>
          </p:nvPr>
        </p:nvSpPr>
        <p:spPr>
          <a:xfrm>
            <a:off x="6196793" y="1504950"/>
            <a:ext cx="5079339" cy="4591050"/>
          </a:xfrm>
        </p:spPr>
        <p:txBody>
          <a:bodyPr/>
          <a:lstStyle>
            <a:lvl1pPr>
              <a:defRPr sz="2000"/>
            </a:lvl1pPr>
            <a:lvl2pPr>
              <a:defRPr sz="1800"/>
            </a:lvl2pPr>
            <a:lvl3pPr marL="914400" indent="0">
              <a:buNone/>
              <a:defRPr sz="1800"/>
            </a:lvl3pPr>
            <a:lvl4pPr marL="1371600" indent="0">
              <a:buNone/>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281" y="95250"/>
            <a:ext cx="10361851"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914281" y="1504950"/>
            <a:ext cx="10361851" cy="459105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10000"/>
              </a:spcBef>
              <a:spcAft>
                <a:spcPct val="0"/>
              </a:spcAft>
              <a:buClrTx/>
              <a:buSzTx/>
              <a:buFontTx/>
              <a:buChar char="•"/>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4338" name="Rectangle 2"/>
          <p:cNvSpPr>
            <a:spLocks noGrp="1"/>
          </p:cNvSpPr>
          <p:nvPr>
            <p:ph type="title"/>
          </p:nvPr>
        </p:nvSpPr>
        <p:spPr>
          <a:xfrm>
            <a:off x="914400" y="95250"/>
            <a:ext cx="10361613"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4339" name="Rectangle 3"/>
          <p:cNvSpPr>
            <a:spLocks noGrp="1"/>
          </p:cNvSpPr>
          <p:nvPr>
            <p:ph type="body" idx="1"/>
          </p:nvPr>
        </p:nvSpPr>
        <p:spPr>
          <a:xfrm>
            <a:off x="914400" y="1504950"/>
            <a:ext cx="10361613" cy="45910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rtl="0" eaLnBrk="0" fontAlgn="base" hangingPunct="0">
        <a:spcBef>
          <a:spcPct val="0"/>
        </a:spcBef>
        <a:spcAft>
          <a:spcPct val="0"/>
        </a:spcAft>
        <a:defRPr kumimoji="1" sz="3600">
          <a:solidFill>
            <a:srgbClr val="FF3300"/>
          </a:solidFill>
          <a:latin typeface="+mj-lt"/>
          <a:ea typeface="+mj-ea"/>
          <a:cs typeface="+mj-cs"/>
        </a:defRPr>
      </a:lvl1pPr>
      <a:lvl2pPr algn="ctr" rtl="0" eaLnBrk="0" fontAlgn="base" hangingPunct="0">
        <a:spcBef>
          <a:spcPct val="0"/>
        </a:spcBef>
        <a:spcAft>
          <a:spcPct val="0"/>
        </a:spcAft>
        <a:defRPr kumimoji="1" sz="3600">
          <a:solidFill>
            <a:srgbClr val="FF3300"/>
          </a:solidFill>
          <a:latin typeface="Times New Roman" pitchFamily="18" charset="0"/>
          <a:ea typeface="黑体" panose="02000500000000000000" pitchFamily="49" charset="-122"/>
        </a:defRPr>
      </a:lvl2pPr>
      <a:lvl3pPr algn="ctr" rtl="0" eaLnBrk="0" fontAlgn="base" hangingPunct="0">
        <a:spcBef>
          <a:spcPct val="0"/>
        </a:spcBef>
        <a:spcAft>
          <a:spcPct val="0"/>
        </a:spcAft>
        <a:defRPr kumimoji="1" sz="3600">
          <a:solidFill>
            <a:srgbClr val="FF3300"/>
          </a:solidFill>
          <a:latin typeface="Times New Roman" pitchFamily="18" charset="0"/>
          <a:ea typeface="黑体" panose="02000500000000000000" pitchFamily="49" charset="-122"/>
        </a:defRPr>
      </a:lvl3pPr>
      <a:lvl4pPr algn="ctr" rtl="0" eaLnBrk="0" fontAlgn="base" hangingPunct="0">
        <a:spcBef>
          <a:spcPct val="0"/>
        </a:spcBef>
        <a:spcAft>
          <a:spcPct val="0"/>
        </a:spcAft>
        <a:defRPr kumimoji="1" sz="3600">
          <a:solidFill>
            <a:srgbClr val="FF3300"/>
          </a:solidFill>
          <a:latin typeface="Times New Roman" pitchFamily="18" charset="0"/>
          <a:ea typeface="黑体" panose="02000500000000000000" pitchFamily="49" charset="-122"/>
        </a:defRPr>
      </a:lvl4pPr>
      <a:lvl5pPr algn="ctr" rtl="0" eaLnBrk="0" fontAlgn="base" hangingPunct="0">
        <a:spcBef>
          <a:spcPct val="0"/>
        </a:spcBef>
        <a:spcAft>
          <a:spcPct val="0"/>
        </a:spcAft>
        <a:defRPr kumimoji="1" sz="3600">
          <a:solidFill>
            <a:srgbClr val="FF3300"/>
          </a:solidFill>
          <a:latin typeface="Times New Roman" pitchFamily="18" charset="0"/>
          <a:ea typeface="黑体" panose="02000500000000000000" pitchFamily="49" charset="-122"/>
        </a:defRPr>
      </a:lvl5pPr>
      <a:lvl6pPr marL="457200" algn="ctr" rtl="0" fontAlgn="base">
        <a:spcBef>
          <a:spcPct val="0"/>
        </a:spcBef>
        <a:spcAft>
          <a:spcPct val="0"/>
        </a:spcAft>
        <a:defRPr kumimoji="1" sz="3600">
          <a:solidFill>
            <a:srgbClr val="FF3300"/>
          </a:solidFill>
          <a:latin typeface="Times New Roman" pitchFamily="18" charset="0"/>
          <a:ea typeface="黑体" panose="02000500000000000000" pitchFamily="49" charset="-122"/>
        </a:defRPr>
      </a:lvl6pPr>
      <a:lvl7pPr marL="914400" algn="ctr" rtl="0" fontAlgn="base">
        <a:spcBef>
          <a:spcPct val="0"/>
        </a:spcBef>
        <a:spcAft>
          <a:spcPct val="0"/>
        </a:spcAft>
        <a:defRPr kumimoji="1" sz="3600">
          <a:solidFill>
            <a:srgbClr val="FF3300"/>
          </a:solidFill>
          <a:latin typeface="Times New Roman" pitchFamily="18" charset="0"/>
          <a:ea typeface="黑体" panose="02000500000000000000" pitchFamily="49" charset="-122"/>
        </a:defRPr>
      </a:lvl7pPr>
      <a:lvl8pPr marL="1371600" algn="ctr" rtl="0" fontAlgn="base">
        <a:spcBef>
          <a:spcPct val="0"/>
        </a:spcBef>
        <a:spcAft>
          <a:spcPct val="0"/>
        </a:spcAft>
        <a:defRPr kumimoji="1" sz="3600">
          <a:solidFill>
            <a:srgbClr val="FF3300"/>
          </a:solidFill>
          <a:latin typeface="Times New Roman" pitchFamily="18" charset="0"/>
          <a:ea typeface="黑体" panose="02000500000000000000" pitchFamily="49" charset="-122"/>
        </a:defRPr>
      </a:lvl8pPr>
      <a:lvl9pPr marL="1828800" algn="ctr" rtl="0" fontAlgn="base">
        <a:spcBef>
          <a:spcPct val="0"/>
        </a:spcBef>
        <a:spcAft>
          <a:spcPct val="0"/>
        </a:spcAft>
        <a:defRPr kumimoji="1" sz="3600">
          <a:solidFill>
            <a:srgbClr val="FF3300"/>
          </a:solidFill>
          <a:latin typeface="Times New Roman" pitchFamily="18" charset="0"/>
          <a:ea typeface="黑体" panose="02000500000000000000" pitchFamily="49" charset="-122"/>
        </a:defRPr>
      </a:lvl9pPr>
    </p:titleStyle>
    <p:bodyStyle>
      <a:lvl1pPr marL="342900" indent="-342900" algn="l" rtl="0" eaLnBrk="0" fontAlgn="base" latinLnBrk="0" hangingPunct="0">
        <a:lnSpc>
          <a:spcPct val="150000"/>
        </a:lnSpc>
        <a:spcBef>
          <a:spcPts val="600"/>
        </a:spcBef>
        <a:spcAft>
          <a:spcPct val="0"/>
        </a:spcAft>
        <a:buChar char="•"/>
        <a:defRPr kumimoji="1" sz="2000" b="1">
          <a:solidFill>
            <a:schemeClr val="tx1"/>
          </a:solidFill>
          <a:latin typeface="宋体" panose="02000500000000000000" pitchFamily="2" charset="-122"/>
          <a:ea typeface="宋体" panose="02000500000000000000" pitchFamily="2" charset="-122"/>
          <a:cs typeface="+mn-cs"/>
        </a:defRPr>
      </a:lvl1pPr>
      <a:lvl2pPr marL="742950" indent="-285750" algn="l" rtl="0" eaLnBrk="0" fontAlgn="base" latinLnBrk="0" hangingPunct="0">
        <a:lnSpc>
          <a:spcPct val="150000"/>
        </a:lnSpc>
        <a:spcBef>
          <a:spcPts val="600"/>
        </a:spcBef>
        <a:spcAft>
          <a:spcPct val="0"/>
        </a:spcAft>
        <a:buChar char="•"/>
        <a:defRPr kumimoji="1" sz="1600" b="1">
          <a:solidFill>
            <a:schemeClr val="tx1"/>
          </a:solidFill>
          <a:latin typeface="宋体" panose="02000500000000000000" pitchFamily="2" charset="-122"/>
          <a:ea typeface="宋体" panose="02000500000000000000" pitchFamily="2" charset="-122"/>
        </a:defRPr>
      </a:lvl2pPr>
      <a:lvl3pPr marL="914400" indent="0" algn="l" rtl="0" eaLnBrk="0" fontAlgn="base" latinLnBrk="0" hangingPunct="0">
        <a:lnSpc>
          <a:spcPct val="150000"/>
        </a:lnSpc>
        <a:spcBef>
          <a:spcPts val="600"/>
        </a:spcBef>
        <a:spcAft>
          <a:spcPct val="0"/>
        </a:spcAft>
        <a:buNone/>
        <a:defRPr kumimoji="1" sz="16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oleObject" Target="../embeddings/oleObject5.bin"/><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5" Type="http://schemas.openxmlformats.org/officeDocument/2006/relationships/vmlDrawing" Target="../drawings/vmlDrawing1.vml"/><Relationship Id="rId14" Type="http://schemas.openxmlformats.org/officeDocument/2006/relationships/slideLayout" Target="../slideLayouts/slideLayout5.xml"/><Relationship Id="rId13" Type="http://schemas.openxmlformats.org/officeDocument/2006/relationships/oleObject" Target="../embeddings/oleObject10.bin"/><Relationship Id="rId12" Type="http://schemas.openxmlformats.org/officeDocument/2006/relationships/oleObject" Target="../embeddings/oleObject9.bin"/><Relationship Id="rId11" Type="http://schemas.openxmlformats.org/officeDocument/2006/relationships/oleObject" Target="../embeddings/oleObject8.bin"/><Relationship Id="rId10" Type="http://schemas.openxmlformats.org/officeDocument/2006/relationships/oleObject" Target="../embeddings/oleObject7.bin"/><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oleObject" Target="../embeddings/oleObject15.bin"/><Relationship Id="rId7" Type="http://schemas.openxmlformats.org/officeDocument/2006/relationships/oleObject" Target="../embeddings/oleObject14.bin"/><Relationship Id="rId6" Type="http://schemas.openxmlformats.org/officeDocument/2006/relationships/image" Target="../media/image4.wmf"/><Relationship Id="rId5" Type="http://schemas.openxmlformats.org/officeDocument/2006/relationships/oleObject" Target="../embeddings/oleObject13.bin"/><Relationship Id="rId4" Type="http://schemas.openxmlformats.org/officeDocument/2006/relationships/image" Target="../media/image3.wmf"/><Relationship Id="rId3" Type="http://schemas.openxmlformats.org/officeDocument/2006/relationships/oleObject" Target="../embeddings/oleObject12.bin"/><Relationship Id="rId2" Type="http://schemas.openxmlformats.org/officeDocument/2006/relationships/image" Target="../media/image2.wmf"/><Relationship Id="rId10" Type="http://schemas.openxmlformats.org/officeDocument/2006/relationships/vmlDrawing" Target="../drawings/vmlDrawing2.vml"/><Relationship Id="rId1"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2.xml"/><Relationship Id="rId5" Type="http://schemas.openxmlformats.org/officeDocument/2006/relationships/oleObject" Target="../embeddings/oleObject18.bin"/><Relationship Id="rId4" Type="http://schemas.openxmlformats.org/officeDocument/2006/relationships/image" Target="../media/image4.wmf"/><Relationship Id="rId3" Type="http://schemas.openxmlformats.org/officeDocument/2006/relationships/oleObject" Target="../embeddings/oleObject17.bin"/><Relationship Id="rId2" Type="http://schemas.openxmlformats.org/officeDocument/2006/relationships/image" Target="../media/image2.wmf"/><Relationship Id="rId1"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4.wmf"/><Relationship Id="rId3" Type="http://schemas.openxmlformats.org/officeDocument/2006/relationships/oleObject" Target="../embeddings/oleObject20.bin"/><Relationship Id="rId2" Type="http://schemas.openxmlformats.org/officeDocument/2006/relationships/image" Target="../media/image2.wmf"/><Relationship Id="rId1" Type="http://schemas.openxmlformats.org/officeDocument/2006/relationships/oleObject" Target="../embeddings/oleObject19.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26.bin"/><Relationship Id="rId8" Type="http://schemas.openxmlformats.org/officeDocument/2006/relationships/oleObject" Target="../embeddings/oleObject25.bin"/><Relationship Id="rId7" Type="http://schemas.openxmlformats.org/officeDocument/2006/relationships/oleObject" Target="../embeddings/oleObject24.bin"/><Relationship Id="rId6" Type="http://schemas.openxmlformats.org/officeDocument/2006/relationships/image" Target="../media/image3.wmf"/><Relationship Id="rId5" Type="http://schemas.openxmlformats.org/officeDocument/2006/relationships/oleObject" Target="../embeddings/oleObject23.bin"/><Relationship Id="rId4" Type="http://schemas.openxmlformats.org/officeDocument/2006/relationships/image" Target="../media/image5.wmf"/><Relationship Id="rId3" Type="http://schemas.openxmlformats.org/officeDocument/2006/relationships/oleObject" Target="../embeddings/oleObject22.bin"/><Relationship Id="rId2" Type="http://schemas.openxmlformats.org/officeDocument/2006/relationships/image" Target="../media/image4.wmf"/><Relationship Id="rId17" Type="http://schemas.openxmlformats.org/officeDocument/2006/relationships/vmlDrawing" Target="../drawings/vmlDrawing5.vml"/><Relationship Id="rId16" Type="http://schemas.openxmlformats.org/officeDocument/2006/relationships/slideLayout" Target="../slideLayouts/slideLayout5.xml"/><Relationship Id="rId15" Type="http://schemas.openxmlformats.org/officeDocument/2006/relationships/oleObject" Target="../embeddings/oleObject32.bin"/><Relationship Id="rId14" Type="http://schemas.openxmlformats.org/officeDocument/2006/relationships/oleObject" Target="../embeddings/oleObject31.bin"/><Relationship Id="rId13" Type="http://schemas.openxmlformats.org/officeDocument/2006/relationships/oleObject" Target="../embeddings/oleObject30.bin"/><Relationship Id="rId12" Type="http://schemas.openxmlformats.org/officeDocument/2006/relationships/oleObject" Target="../embeddings/oleObject29.bin"/><Relationship Id="rId11" Type="http://schemas.openxmlformats.org/officeDocument/2006/relationships/oleObject" Target="../embeddings/oleObject28.bin"/><Relationship Id="rId10" Type="http://schemas.openxmlformats.org/officeDocument/2006/relationships/oleObject" Target="../embeddings/oleObject27.bin"/><Relationship Id="rId1" Type="http://schemas.openxmlformats.org/officeDocument/2006/relationships/oleObject" Target="../embeddings/oleObject21.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oleObject" Target="../embeddings/oleObject37.bin"/><Relationship Id="rId7" Type="http://schemas.openxmlformats.org/officeDocument/2006/relationships/oleObject" Target="../embeddings/oleObject36.bin"/><Relationship Id="rId6" Type="http://schemas.openxmlformats.org/officeDocument/2006/relationships/image" Target="../media/image3.wmf"/><Relationship Id="rId5" Type="http://schemas.openxmlformats.org/officeDocument/2006/relationships/oleObject" Target="../embeddings/oleObject35.bin"/><Relationship Id="rId4" Type="http://schemas.openxmlformats.org/officeDocument/2006/relationships/image" Target="../media/image5.wmf"/><Relationship Id="rId3" Type="http://schemas.openxmlformats.org/officeDocument/2006/relationships/oleObject" Target="../embeddings/oleObject34.bin"/><Relationship Id="rId2" Type="http://schemas.openxmlformats.org/officeDocument/2006/relationships/image" Target="../media/image4.wmf"/><Relationship Id="rId11" Type="http://schemas.openxmlformats.org/officeDocument/2006/relationships/vmlDrawing" Target="../drawings/vmlDrawing6.vml"/><Relationship Id="rId10" Type="http://schemas.openxmlformats.org/officeDocument/2006/relationships/slideLayout" Target="../slideLayouts/slideLayout2.xml"/><Relationship Id="rId1" Type="http://schemas.openxmlformats.org/officeDocument/2006/relationships/oleObject" Target="../embeddings/oleObject33.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oleObject" Target="../embeddings/oleObject43.bin"/><Relationship Id="rId7" Type="http://schemas.openxmlformats.org/officeDocument/2006/relationships/oleObject" Target="../embeddings/oleObject42.bin"/><Relationship Id="rId6" Type="http://schemas.openxmlformats.org/officeDocument/2006/relationships/image" Target="../media/image4.wmf"/><Relationship Id="rId5" Type="http://schemas.openxmlformats.org/officeDocument/2006/relationships/oleObject" Target="../embeddings/oleObject41.bin"/><Relationship Id="rId4" Type="http://schemas.openxmlformats.org/officeDocument/2006/relationships/image" Target="../media/image3.wmf"/><Relationship Id="rId3" Type="http://schemas.openxmlformats.org/officeDocument/2006/relationships/oleObject" Target="../embeddings/oleObject40.bin"/><Relationship Id="rId2" Type="http://schemas.openxmlformats.org/officeDocument/2006/relationships/image" Target="../media/image5.wmf"/><Relationship Id="rId11" Type="http://schemas.openxmlformats.org/officeDocument/2006/relationships/vmlDrawing" Target="../drawings/vmlDrawing7.vml"/><Relationship Id="rId10" Type="http://schemas.openxmlformats.org/officeDocument/2006/relationships/slideLayout" Target="../slideLayouts/slideLayout2.xml"/><Relationship Id="rId1" Type="http://schemas.openxmlformats.org/officeDocument/2006/relationships/oleObject" Target="../embeddings/oleObject39.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image" Target="../media/image3.wmf"/><Relationship Id="rId7" Type="http://schemas.openxmlformats.org/officeDocument/2006/relationships/oleObject" Target="../embeddings/oleObject48.bin"/><Relationship Id="rId6" Type="http://schemas.openxmlformats.org/officeDocument/2006/relationships/image" Target="../media/image5.wmf"/><Relationship Id="rId5" Type="http://schemas.openxmlformats.org/officeDocument/2006/relationships/oleObject" Target="../embeddings/oleObject47.bin"/><Relationship Id="rId4" Type="http://schemas.openxmlformats.org/officeDocument/2006/relationships/image" Target="../media/image4.wmf"/><Relationship Id="rId3" Type="http://schemas.openxmlformats.org/officeDocument/2006/relationships/oleObject" Target="../embeddings/oleObject46.bin"/><Relationship Id="rId2" Type="http://schemas.openxmlformats.org/officeDocument/2006/relationships/image" Target="../media/image6.wmf"/><Relationship Id="rId14" Type="http://schemas.openxmlformats.org/officeDocument/2006/relationships/vmlDrawing" Target="../drawings/vmlDrawing8.vml"/><Relationship Id="rId13" Type="http://schemas.openxmlformats.org/officeDocument/2006/relationships/slideLayout" Target="../slideLayouts/slideLayout5.xml"/><Relationship Id="rId12" Type="http://schemas.openxmlformats.org/officeDocument/2006/relationships/image" Target="../media/image7.wmf"/><Relationship Id="rId11" Type="http://schemas.openxmlformats.org/officeDocument/2006/relationships/oleObject" Target="../embeddings/oleObject51.bin"/><Relationship Id="rId10" Type="http://schemas.openxmlformats.org/officeDocument/2006/relationships/oleObject" Target="../embeddings/oleObject50.bin"/><Relationship Id="rId1" Type="http://schemas.openxmlformats.org/officeDocument/2006/relationships/oleObject" Target="../embeddings/oleObject45.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5.xml"/><Relationship Id="rId6" Type="http://schemas.openxmlformats.org/officeDocument/2006/relationships/oleObject" Target="../embeddings/oleObject55.bin"/><Relationship Id="rId5" Type="http://schemas.openxmlformats.org/officeDocument/2006/relationships/oleObject" Target="../embeddings/oleObject54.bin"/><Relationship Id="rId4" Type="http://schemas.openxmlformats.org/officeDocument/2006/relationships/image" Target="../media/image4.wmf"/><Relationship Id="rId3" Type="http://schemas.openxmlformats.org/officeDocument/2006/relationships/oleObject" Target="../embeddings/oleObject53.bin"/><Relationship Id="rId2" Type="http://schemas.openxmlformats.org/officeDocument/2006/relationships/image" Target="../media/image5.wmf"/><Relationship Id="rId1" Type="http://schemas.openxmlformats.org/officeDocument/2006/relationships/oleObject" Target="../embeddings/oleObject52.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0.png"/><Relationship Id="rId1" Type="http://schemas.openxmlformats.org/officeDocument/2006/relationships/image" Target="../media/image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5363" name="Rectangle 2"/>
          <p:cNvSpPr>
            <a:spLocks noGrp="1"/>
          </p:cNvSpPr>
          <p:nvPr>
            <p:ph type="ctrTitle"/>
          </p:nvPr>
        </p:nvSpPr>
        <p:spPr>
          <a:xfrm>
            <a:off x="220663" y="914400"/>
            <a:ext cx="11723687" cy="1927225"/>
          </a:xfrm>
        </p:spPr>
        <p:txBody>
          <a:bodyPr vert="horz" wrap="square" lIns="91440" tIns="45720" rIns="91440" bIns="45720" anchor="ctr" anchorCtr="0"/>
          <a:p>
            <a:pPr eaLnBrk="1" hangingPunct="1">
              <a:buClrTx/>
              <a:buSzTx/>
              <a:buFontTx/>
            </a:pPr>
            <a:r>
              <a:rPr lang="zh-CN" altLang="en-US" sz="4800" dirty="0"/>
              <a:t>计算机体系结构</a:t>
            </a:r>
            <a:endParaRPr lang="zh-CN" altLang="en-US" dirty="0"/>
          </a:p>
        </p:txBody>
      </p:sp>
      <p:sp>
        <p:nvSpPr>
          <p:cNvPr id="15364" name="Rectangle 3"/>
          <p:cNvSpPr>
            <a:spLocks noGrp="1"/>
          </p:cNvSpPr>
          <p:nvPr>
            <p:ph type="subTitle" idx="1"/>
          </p:nvPr>
        </p:nvSpPr>
        <p:spPr>
          <a:xfrm>
            <a:off x="2689225" y="3827463"/>
            <a:ext cx="6821488" cy="2124075"/>
          </a:xfrm>
        </p:spPr>
        <p:txBody>
          <a:bodyPr vert="horz" wrap="square" lIns="91440" tIns="45720" rIns="91440" bIns="45720" anchor="t" anchorCtr="0"/>
          <a:p>
            <a:pPr eaLnBrk="1" hangingPunct="1">
              <a:buClrTx/>
              <a:buSzTx/>
              <a:buFontTx/>
            </a:pPr>
            <a:endParaRPr kumimoji="1" lang="en-US" altLang="zh-CN" dirty="0">
              <a:latin typeface="+mn-lt"/>
              <a:ea typeface="+mn-ea"/>
              <a:cs typeface="+mn-cs"/>
            </a:endParaRPr>
          </a:p>
          <a:p>
            <a:pPr eaLnBrk="1" hangingPunct="1">
              <a:buClrTx/>
              <a:buSzTx/>
              <a:buFontTx/>
            </a:pPr>
            <a:r>
              <a:rPr kumimoji="1" lang="zh-CN" altLang="en-US" dirty="0">
                <a:latin typeface="+mn-lt"/>
                <a:ea typeface="+mn-ea"/>
                <a:cs typeface="+mn-cs"/>
              </a:rPr>
              <a:t>胡伟武、汪文祥</a:t>
            </a:r>
            <a:endParaRPr kumimoji="1" lang="zh-CN" altLang="en-US" sz="2400"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16387" name="Picture 2" descr="841286100824181"/>
          <p:cNvPicPr>
            <a:picLocks noChangeAspect="1"/>
          </p:cNvPicPr>
          <p:nvPr/>
        </p:nvPicPr>
        <p:blipFill>
          <a:blip r:embed="rId1"/>
          <a:stretch>
            <a:fillRect/>
          </a:stretch>
        </p:blipFill>
        <p:spPr>
          <a:xfrm>
            <a:off x="563563" y="1306513"/>
            <a:ext cx="11123612" cy="5173662"/>
          </a:xfrm>
          <a:prstGeom prst="rect">
            <a:avLst/>
          </a:prstGeom>
          <a:noFill/>
          <a:ln w="9525">
            <a:noFill/>
          </a:ln>
        </p:spPr>
      </p:pic>
      <p:sp>
        <p:nvSpPr>
          <p:cNvPr id="16388" name="Rectangle 3"/>
          <p:cNvSpPr/>
          <p:nvPr/>
        </p:nvSpPr>
        <p:spPr>
          <a:xfrm>
            <a:off x="914400" y="95250"/>
            <a:ext cx="10361613" cy="11430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龙芯</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号处理器核结构图</a:t>
            </a:r>
            <a:endParaRPr lang="zh-CN" altLang="en-US" sz="3600" dirty="0">
              <a:solidFill>
                <a:srgbClr val="FF3300"/>
              </a:solidFill>
              <a:latin typeface="Times New Roman" pitchFamily="18" charset="0"/>
              <a:ea typeface="黑体" panose="02000500000000000000" pitchFamily="49" charset="-122"/>
            </a:endParaRPr>
          </a:p>
        </p:txBody>
      </p:sp>
      <p:sp>
        <p:nvSpPr>
          <p:cNvPr id="16389" name="椭圆 4"/>
          <p:cNvSpPr/>
          <p:nvPr/>
        </p:nvSpPr>
        <p:spPr>
          <a:xfrm>
            <a:off x="1290638" y="1398588"/>
            <a:ext cx="2635250" cy="4043362"/>
          </a:xfrm>
          <a:prstGeom prst="ellipse">
            <a:avLst/>
          </a:prstGeom>
          <a:noFill/>
          <a:ln w="38100" cap="flat" cmpd="sng">
            <a:solidFill>
              <a:schemeClr val="accent2"/>
            </a:solidFill>
            <a:prstDash val="solid"/>
            <a:headEnd type="none" w="med" len="med"/>
            <a:tailEnd type="none" w="med" len="med"/>
          </a:ln>
        </p:spPr>
        <p:txBody>
          <a:bodyPr/>
          <a:p>
            <a:endParaRPr lang="zh-CN" altLang="en-US" dirty="0">
              <a:latin typeface="Times New Roman" pitchFamily="18" charset="0"/>
            </a:endParaRPr>
          </a:p>
        </p:txBody>
      </p:sp>
      <p:sp>
        <p:nvSpPr>
          <p:cNvPr id="16390" name="椭圆 5"/>
          <p:cNvSpPr/>
          <p:nvPr/>
        </p:nvSpPr>
        <p:spPr>
          <a:xfrm>
            <a:off x="4078288" y="1416050"/>
            <a:ext cx="3482975" cy="4154488"/>
          </a:xfrm>
          <a:prstGeom prst="ellipse">
            <a:avLst/>
          </a:prstGeom>
          <a:noFill/>
          <a:ln w="38100" cap="flat" cmpd="sng">
            <a:solidFill>
              <a:srgbClr val="FF0000"/>
            </a:solidFill>
            <a:prstDash val="solid"/>
            <a:headEnd type="none" w="med" len="med"/>
            <a:tailEnd type="none" w="med" len="med"/>
          </a:ln>
        </p:spPr>
        <p:txBody>
          <a:bodyPr/>
          <a:p>
            <a:endParaRPr lang="zh-CN" altLang="en-US" dirty="0">
              <a:latin typeface="Times New Roman" pitchFamily="18" charset="0"/>
            </a:endParaRPr>
          </a:p>
        </p:txBody>
      </p:sp>
      <p:sp>
        <p:nvSpPr>
          <p:cNvPr id="16391" name="椭圆 6"/>
          <p:cNvSpPr/>
          <p:nvPr/>
        </p:nvSpPr>
        <p:spPr>
          <a:xfrm>
            <a:off x="7637463" y="1404938"/>
            <a:ext cx="790575" cy="4154487"/>
          </a:xfrm>
          <a:prstGeom prst="ellipse">
            <a:avLst/>
          </a:prstGeom>
          <a:noFill/>
          <a:ln w="38100" cap="flat" cmpd="sng">
            <a:solidFill>
              <a:schemeClr val="accent2"/>
            </a:solidFill>
            <a:prstDash val="solid"/>
            <a:headEnd type="none" w="med" len="med"/>
            <a:tailEnd type="none" w="med" len="med"/>
          </a:ln>
        </p:spPr>
        <p:txBody>
          <a:bodyPr/>
          <a:p>
            <a:endParaRPr lang="zh-CN" altLang="en-US" dirty="0">
              <a:solidFill>
                <a:schemeClr val="accent2"/>
              </a:solidFill>
              <a:latin typeface="Times New Roman" pitchFamily="18" charset="0"/>
            </a:endParaRPr>
          </a:p>
        </p:txBody>
      </p:sp>
      <p:sp>
        <p:nvSpPr>
          <p:cNvPr id="16392" name="椭圆 7"/>
          <p:cNvSpPr/>
          <p:nvPr/>
        </p:nvSpPr>
        <p:spPr>
          <a:xfrm>
            <a:off x="8816975" y="1408113"/>
            <a:ext cx="2740025" cy="4087812"/>
          </a:xfrm>
          <a:prstGeom prst="ellipse">
            <a:avLst/>
          </a:prstGeom>
          <a:noFill/>
          <a:ln w="38100" cap="flat" cmpd="sng">
            <a:solidFill>
              <a:schemeClr val="accent2"/>
            </a:solidFill>
            <a:prstDash val="solid"/>
            <a:headEnd type="none" w="med" len="med"/>
            <a:tailEnd type="none" w="med" len="med"/>
          </a:ln>
        </p:spPr>
        <p:txBody>
          <a:bodyPr/>
          <a:p>
            <a:endParaRPr lang="zh-CN" altLang="en-US" dirty="0">
              <a:solidFill>
                <a:srgbClr val="0000FF"/>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7411" name="Rectangle 2"/>
          <p:cNvSpPr/>
          <p:nvPr/>
        </p:nvSpPr>
        <p:spPr>
          <a:xfrm>
            <a:off x="914400" y="457200"/>
            <a:ext cx="10361613" cy="7620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多发射数据通路</a:t>
            </a:r>
            <a:endParaRPr lang="zh-CN" altLang="en-US" sz="3600" dirty="0">
              <a:solidFill>
                <a:srgbClr val="FF3300"/>
              </a:solidFill>
              <a:latin typeface="Times New Roman" pitchFamily="18" charset="0"/>
              <a:ea typeface="黑体" panose="02000500000000000000" pitchFamily="49" charset="-122"/>
            </a:endParaRPr>
          </a:p>
        </p:txBody>
      </p:sp>
      <p:sp>
        <p:nvSpPr>
          <p:cNvPr id="17412" name="Rectangle 3"/>
          <p:cNvSpPr/>
          <p:nvPr/>
        </p:nvSpPr>
        <p:spPr>
          <a:xfrm>
            <a:off x="1790700" y="1444625"/>
            <a:ext cx="9121775" cy="5114925"/>
          </a:xfrm>
          <a:prstGeom prst="rect">
            <a:avLst/>
          </a:prstGeom>
          <a:noFill/>
          <a:ln w="9525">
            <a:noFill/>
          </a:ln>
        </p:spPr>
        <p:txBody>
          <a:bodyPr/>
          <a:p>
            <a:pPr marL="342900" indent="-342900" algn="l">
              <a:lnSpc>
                <a:spcPct val="150000"/>
              </a:lnSpc>
              <a:spcBef>
                <a:spcPts val="600"/>
              </a:spcBef>
              <a:buChar char="•"/>
            </a:pPr>
            <a:r>
              <a:rPr lang="zh-CN" altLang="en-US" sz="2000" b="1" dirty="0">
                <a:latin typeface="宋体" panose="02000500000000000000" pitchFamily="2" charset="-122"/>
                <a:cs typeface="宋体" panose="02000500000000000000" pitchFamily="2" charset="-122"/>
              </a:rPr>
              <a:t>乱序执行的关键技术</a:t>
            </a:r>
            <a:endParaRPr lang="zh-CN" altLang="en-US" sz="2000" b="1" dirty="0">
              <a:latin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cs typeface="宋体" panose="02000500000000000000" pitchFamily="2" charset="-122"/>
              </a:rPr>
              <a:t>动态调度流水线数据通路</a:t>
            </a:r>
            <a:endParaRPr lang="zh-CN" altLang="en-US" sz="2000" b="1" dirty="0">
              <a:latin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cs typeface="宋体" panose="02000500000000000000" pitchFamily="2" charset="-122"/>
              </a:rPr>
              <a:t>保留站的组织</a:t>
            </a:r>
            <a:endParaRPr lang="zh-CN" altLang="en-US" sz="1600" b="1" dirty="0">
              <a:latin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cs typeface="宋体" panose="02000500000000000000" pitchFamily="2" charset="-122"/>
              </a:rPr>
              <a:t>寄存器与保留站的关系</a:t>
            </a:r>
            <a:endParaRPr lang="zh-CN" altLang="en-US" sz="1600" b="1" dirty="0">
              <a:latin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cs typeface="宋体" panose="02000500000000000000" pitchFamily="2" charset="-122"/>
              </a:rPr>
              <a:t>寄存器重命名方法</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cs typeface="宋体" panose="02000500000000000000" pitchFamily="2" charset="-122"/>
              </a:rPr>
              <a:t>常见处理器的数据通路</a:t>
            </a:r>
            <a:endParaRPr lang="zh-CN" altLang="en-US" sz="2000" b="1" dirty="0">
              <a:latin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cs typeface="宋体" panose="02000500000000000000" pitchFamily="2" charset="-122"/>
              </a:rPr>
              <a:t>多发射结构数据通路</a:t>
            </a:r>
            <a:endParaRPr lang="zh-CN" altLang="en-US" sz="2000" b="1" dirty="0">
              <a:latin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cs typeface="宋体" panose="02000500000000000000" pitchFamily="2" charset="-122"/>
              </a:rPr>
              <a:t>龙芯</a:t>
            </a:r>
            <a:r>
              <a:rPr lang="en-US" altLang="zh-CN" sz="2000" b="1" dirty="0">
                <a:latin typeface="宋体" panose="02000500000000000000" pitchFamily="2" charset="-122"/>
                <a:cs typeface="宋体" panose="02000500000000000000" pitchFamily="2" charset="-122"/>
              </a:rPr>
              <a:t>2</a:t>
            </a:r>
            <a:r>
              <a:rPr lang="zh-CN" altLang="en-US" sz="2000" b="1" dirty="0">
                <a:latin typeface="宋体" panose="02000500000000000000" pitchFamily="2" charset="-122"/>
                <a:cs typeface="宋体" panose="02000500000000000000" pitchFamily="2" charset="-122"/>
              </a:rPr>
              <a:t>号多发射结构简介</a:t>
            </a:r>
            <a:endParaRPr lang="zh-CN" altLang="en-US" sz="2000" b="1" dirty="0">
              <a:latin typeface="宋体" panose="02000500000000000000" pitchFamily="2" charset="-122"/>
              <a:cs typeface="宋体" panose="02000500000000000000"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8435"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乱序执行的关键技术</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9459" name="Rectangle 2"/>
          <p:cNvSpPr/>
          <p:nvPr/>
        </p:nvSpPr>
        <p:spPr>
          <a:xfrm>
            <a:off x="914400" y="152400"/>
            <a:ext cx="10361613" cy="7620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指令级并行的关键技术</a:t>
            </a:r>
            <a:endParaRPr lang="zh-CN" altLang="en-US" sz="3600" dirty="0">
              <a:solidFill>
                <a:srgbClr val="FF3300"/>
              </a:solidFill>
              <a:latin typeface="Times New Roman" pitchFamily="18" charset="0"/>
              <a:ea typeface="黑体" panose="02000500000000000000" pitchFamily="49" charset="-122"/>
            </a:endParaRPr>
          </a:p>
        </p:txBody>
      </p:sp>
      <p:sp>
        <p:nvSpPr>
          <p:cNvPr id="19460" name="Rectangle 3"/>
          <p:cNvSpPr/>
          <p:nvPr/>
        </p:nvSpPr>
        <p:spPr>
          <a:xfrm>
            <a:off x="203200" y="1506538"/>
            <a:ext cx="11987213" cy="4833937"/>
          </a:xfrm>
          <a:prstGeom prst="rect">
            <a:avLst/>
          </a:prstGeom>
          <a:noFill/>
          <a:ln w="9525">
            <a:noFill/>
          </a:ln>
        </p:spPr>
        <p:txBody>
          <a:bodyPr/>
          <a:p>
            <a:pPr marL="342900" indent="-342900" algn="l">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指令流水线</a:t>
            </a:r>
            <a:r>
              <a:rPr lang="en-US" altLang="zh-CN" sz="2000" b="1" dirty="0">
                <a:latin typeface="宋体" panose="02000500000000000000" pitchFamily="2" charset="-122"/>
                <a:ea typeface="宋体" panose="02000500000000000000" pitchFamily="2" charset="-122"/>
                <a:cs typeface="宋体" panose="02000500000000000000" pitchFamily="2" charset="-122"/>
              </a:rPr>
              <a:t>: </a:t>
            </a:r>
            <a:r>
              <a:rPr lang="zh-CN" altLang="en-US" sz="2000" b="1" dirty="0">
                <a:latin typeface="宋体" panose="02000500000000000000" pitchFamily="2" charset="-122"/>
                <a:ea typeface="宋体" panose="02000500000000000000" pitchFamily="2" charset="-122"/>
                <a:cs typeface="宋体" panose="02000500000000000000" pitchFamily="2" charset="-122"/>
              </a:rPr>
              <a:t>时间重叠</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多发射</a:t>
            </a:r>
            <a:r>
              <a:rPr lang="en-US" altLang="zh-CN" sz="2000" b="1" dirty="0">
                <a:latin typeface="宋体" panose="02000500000000000000" pitchFamily="2" charset="-122"/>
                <a:ea typeface="宋体" panose="02000500000000000000" pitchFamily="2" charset="-122"/>
                <a:cs typeface="宋体" panose="02000500000000000000" pitchFamily="2" charset="-122"/>
              </a:rPr>
              <a:t>: </a:t>
            </a:r>
            <a:r>
              <a:rPr lang="zh-CN" altLang="en-US" sz="2000" b="1" dirty="0">
                <a:latin typeface="宋体" panose="02000500000000000000" pitchFamily="2" charset="-122"/>
                <a:ea typeface="宋体" panose="02000500000000000000" pitchFamily="2" charset="-122"/>
                <a:cs typeface="宋体" panose="02000500000000000000" pitchFamily="2" charset="-122"/>
              </a:rPr>
              <a:t>空间重复</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乱序执行（有序结束）</a:t>
            </a:r>
            <a:r>
              <a:rPr lang="en-US" altLang="zh-CN" sz="2000" b="1" dirty="0">
                <a:latin typeface="宋体" panose="02000500000000000000" pitchFamily="2" charset="-122"/>
                <a:ea typeface="宋体" panose="02000500000000000000" pitchFamily="2" charset="-122"/>
                <a:cs typeface="宋体" panose="02000500000000000000" pitchFamily="2" charset="-122"/>
              </a:rPr>
              <a:t>: </a:t>
            </a:r>
            <a:r>
              <a:rPr lang="zh-CN" altLang="en-US" sz="2000" b="1" dirty="0">
                <a:latin typeface="宋体" panose="02000500000000000000" pitchFamily="2" charset="-122"/>
                <a:ea typeface="宋体" panose="02000500000000000000" pitchFamily="2" charset="-122"/>
                <a:cs typeface="宋体" panose="02000500000000000000" pitchFamily="2" charset="-122"/>
              </a:rPr>
              <a:t>充分利用资源</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solidFill>
                  <a:srgbClr val="FF0000"/>
                </a:solidFill>
                <a:latin typeface="宋体" panose="02000500000000000000" pitchFamily="2" charset="-122"/>
                <a:ea typeface="宋体" panose="02000500000000000000" pitchFamily="2" charset="-122"/>
                <a:cs typeface="宋体" panose="02000500000000000000" pitchFamily="2" charset="-122"/>
              </a:rPr>
              <a:t>动态调度</a:t>
            </a:r>
            <a:r>
              <a:rPr lang="zh-CN" altLang="en-US" sz="1600" b="1" dirty="0">
                <a:latin typeface="宋体" panose="02000500000000000000" pitchFamily="2" charset="-122"/>
                <a:ea typeface="宋体" panose="02000500000000000000" pitchFamily="2" charset="-122"/>
                <a:cs typeface="宋体" panose="02000500000000000000" pitchFamily="2" charset="-122"/>
              </a:rPr>
              <a:t>：前面指令因相关而等待时，后面的可继续前进。</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solidFill>
                  <a:srgbClr val="FF0000"/>
                </a:solidFill>
                <a:latin typeface="宋体" panose="02000500000000000000" pitchFamily="2" charset="-122"/>
                <a:ea typeface="宋体" panose="02000500000000000000" pitchFamily="2" charset="-122"/>
                <a:cs typeface="宋体" panose="02000500000000000000" pitchFamily="2" charset="-122"/>
              </a:rPr>
              <a:t>转移猜测</a:t>
            </a:r>
            <a:r>
              <a:rPr lang="zh-CN" altLang="en-US" sz="1600" b="1" dirty="0">
                <a:latin typeface="宋体" panose="02000500000000000000" pitchFamily="2" charset="-122"/>
                <a:ea typeface="宋体" panose="02000500000000000000" pitchFamily="2" charset="-122"/>
                <a:cs typeface="宋体" panose="02000500000000000000" pitchFamily="2" charset="-122"/>
              </a:rPr>
              <a:t>：在转移条件确定前，猜测某个分支取指并执行</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solidFill>
                  <a:srgbClr val="FF0000"/>
                </a:solidFill>
                <a:latin typeface="宋体" panose="02000500000000000000" pitchFamily="2" charset="-122"/>
                <a:ea typeface="宋体" panose="02000500000000000000" pitchFamily="2" charset="-122"/>
                <a:cs typeface="宋体" panose="02000500000000000000" pitchFamily="2" charset="-122"/>
              </a:rPr>
              <a:t>非阻塞访存</a:t>
            </a:r>
            <a:r>
              <a:rPr lang="zh-CN" altLang="en-US" sz="1600" b="1" dirty="0">
                <a:latin typeface="宋体" panose="02000500000000000000" pitchFamily="2" charset="-122"/>
                <a:ea typeface="宋体" panose="02000500000000000000" pitchFamily="2" charset="-122"/>
                <a:cs typeface="宋体" panose="02000500000000000000" pitchFamily="2" charset="-122"/>
              </a:rPr>
              <a:t>：提高访存指令执行效率，减少访存阻塞</a:t>
            </a:r>
            <a:endParaRPr lang="zh-CN" altLang="en-US" sz="1600" b="1"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0483" name="Rectangle 1026"/>
          <p:cNvSpPr/>
          <p:nvPr/>
        </p:nvSpPr>
        <p:spPr>
          <a:xfrm>
            <a:off x="865188" y="176213"/>
            <a:ext cx="10361612" cy="474662"/>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动态调度技术</a:t>
            </a:r>
            <a:endParaRPr lang="zh-CN" altLang="en-US" sz="3600" dirty="0">
              <a:solidFill>
                <a:srgbClr val="FF3300"/>
              </a:solidFill>
              <a:latin typeface="Times New Roman" pitchFamily="18" charset="0"/>
              <a:ea typeface="黑体" panose="02000500000000000000" pitchFamily="49" charset="-122"/>
            </a:endParaRPr>
          </a:p>
        </p:txBody>
      </p:sp>
      <p:sp>
        <p:nvSpPr>
          <p:cNvPr id="20484" name="Rectangle 1027"/>
          <p:cNvSpPr/>
          <p:nvPr/>
        </p:nvSpPr>
        <p:spPr>
          <a:xfrm>
            <a:off x="458788" y="1306513"/>
            <a:ext cx="11052175" cy="5014912"/>
          </a:xfrm>
          <a:prstGeom prst="rect">
            <a:avLst/>
          </a:prstGeom>
          <a:noFill/>
          <a:ln w="9525">
            <a:noFill/>
          </a:ln>
        </p:spPr>
        <p:txBody>
          <a:bodyPr/>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动态调度的主要作用及其思想</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把读寄存器从译码中区分开来，并利用保留站等指令缓存技术避免前面的阻塞的指令影响后面指令的执行</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通过</a:t>
            </a:r>
            <a:r>
              <a:rPr lang="en-US" altLang="zh-CN" sz="1600" b="1" dirty="0">
                <a:latin typeface="宋体" panose="02000500000000000000" pitchFamily="2" charset="-122"/>
                <a:ea typeface="宋体" panose="02000500000000000000" pitchFamily="2" charset="-122"/>
                <a:cs typeface="宋体" panose="02000500000000000000" pitchFamily="2" charset="-122"/>
              </a:rPr>
              <a:t>ROB</a:t>
            </a:r>
            <a:r>
              <a:rPr lang="zh-CN" altLang="en-US" sz="1600" b="1" dirty="0">
                <a:latin typeface="宋体" panose="02000500000000000000" pitchFamily="2" charset="-122"/>
                <a:ea typeface="宋体" panose="02000500000000000000" pitchFamily="2" charset="-122"/>
                <a:cs typeface="宋体" panose="02000500000000000000" pitchFamily="2" charset="-122"/>
              </a:rPr>
              <a:t>对执行完的指令重新排序实现有序结束</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利用寄存器重命名技术保存未提交的临时结果，消除</a:t>
            </a:r>
            <a:r>
              <a:rPr lang="en-US" altLang="zh-CN" sz="1600" b="1" dirty="0">
                <a:latin typeface="宋体" panose="02000500000000000000" pitchFamily="2" charset="-122"/>
                <a:ea typeface="宋体" panose="02000500000000000000" pitchFamily="2" charset="-122"/>
                <a:cs typeface="宋体" panose="02000500000000000000" pitchFamily="2" charset="-122"/>
              </a:rPr>
              <a:t>WAW</a:t>
            </a:r>
            <a:r>
              <a:rPr lang="zh-CN" altLang="en-US" sz="1600" b="1" dirty="0">
                <a:latin typeface="宋体" panose="02000500000000000000" pitchFamily="2" charset="-122"/>
                <a:ea typeface="宋体" panose="02000500000000000000" pitchFamily="2" charset="-122"/>
                <a:cs typeface="宋体" panose="02000500000000000000" pitchFamily="2" charset="-122"/>
              </a:rPr>
              <a:t>和</a:t>
            </a:r>
            <a:r>
              <a:rPr lang="en-US" altLang="zh-CN" sz="1600" b="1" dirty="0">
                <a:latin typeface="宋体" panose="02000500000000000000" pitchFamily="2" charset="-122"/>
                <a:ea typeface="宋体" panose="02000500000000000000" pitchFamily="2" charset="-122"/>
                <a:cs typeface="宋体" panose="02000500000000000000" pitchFamily="2" charset="-122"/>
              </a:rPr>
              <a:t>WAR</a:t>
            </a:r>
            <a:r>
              <a:rPr lang="zh-CN" altLang="en-US" sz="1600" b="1" dirty="0">
                <a:latin typeface="宋体" panose="02000500000000000000" pitchFamily="2" charset="-122"/>
                <a:ea typeface="宋体" panose="02000500000000000000" pitchFamily="2" charset="-122"/>
                <a:cs typeface="宋体" panose="02000500000000000000" pitchFamily="2" charset="-122"/>
              </a:rPr>
              <a:t>相关并支持猜测性执行</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fontAlgn="base">
              <a:lnSpc>
                <a:spcPct val="150000"/>
              </a:lnSpc>
              <a:spcBef>
                <a:spcPts val="600"/>
              </a:spcBef>
              <a:buChar char="•"/>
            </a:pPr>
            <a:r>
              <a:rPr lang="zh-CN" altLang="en-US" sz="2000" b="1" dirty="0">
                <a:solidFill>
                  <a:srgbClr val="FF0000"/>
                </a:solidFill>
                <a:latin typeface="宋体" panose="02000500000000000000" pitchFamily="2" charset="-122"/>
                <a:ea typeface="宋体" panose="02000500000000000000" pitchFamily="2" charset="-122"/>
                <a:cs typeface="宋体" panose="02000500000000000000" pitchFamily="2" charset="-122"/>
              </a:rPr>
              <a:t>有序进入、乱序执行、有序结束</a:t>
            </a:r>
            <a:endParaRPr lang="zh-CN" altLang="en-US" sz="2000" b="1" dirty="0">
              <a:solidFill>
                <a:srgbClr val="FF0000"/>
              </a:solidFill>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1507" name="Rectangle 2"/>
          <p:cNvSpPr>
            <a:spLocks noGrp="1"/>
          </p:cNvSpPr>
          <p:nvPr>
            <p:ph type="title"/>
          </p:nvPr>
        </p:nvSpPr>
        <p:spPr/>
        <p:txBody>
          <a:bodyPr vert="horz" wrap="square" lIns="91440" tIns="45720" rIns="91440" bIns="45720" anchor="ctr" anchorCtr="0"/>
          <a:p>
            <a:pPr eaLnBrk="1" hangingPunct="1"/>
            <a:r>
              <a:rPr lang="zh-CN" altLang="en-US" dirty="0"/>
              <a:t>影响动态调度的主要因素</a:t>
            </a:r>
            <a:endParaRPr lang="zh-CN" altLang="en-US" dirty="0"/>
          </a:p>
        </p:txBody>
      </p:sp>
      <p:sp>
        <p:nvSpPr>
          <p:cNvPr id="21508" name="Rectangle 3"/>
          <p:cNvSpPr>
            <a:spLocks noGrp="1"/>
          </p:cNvSpPr>
          <p:nvPr>
            <p:ph idx="1"/>
          </p:nvPr>
        </p:nvSpPr>
        <p:spPr>
          <a:xfrm>
            <a:off x="914400" y="1306513"/>
            <a:ext cx="10361613" cy="5087937"/>
          </a:xfrm>
        </p:spPr>
        <p:txBody>
          <a:bodyPr vert="horz" wrap="square" lIns="91440" tIns="45720" rIns="91440" bIns="45720" anchor="t" anchorCtr="0"/>
          <a:p>
            <a:pPr eaLnBrk="1" hangingPunct="1">
              <a:lnSpc>
                <a:spcPct val="150000"/>
              </a:lnSpc>
            </a:pPr>
            <a:r>
              <a:rPr lang="zh-CN" altLang="en-US" dirty="0"/>
              <a:t>指令缓存的结构</a:t>
            </a:r>
            <a:endParaRPr lang="zh-CN" altLang="en-US" dirty="0"/>
          </a:p>
          <a:p>
            <a:pPr lvl="1" eaLnBrk="1" hangingPunct="1">
              <a:lnSpc>
                <a:spcPct val="150000"/>
              </a:lnSpc>
            </a:pPr>
            <a:r>
              <a:rPr lang="zh-CN" altLang="en-US" dirty="0"/>
              <a:t>独立保留站</a:t>
            </a:r>
            <a:endParaRPr lang="zh-CN" altLang="en-US" dirty="0"/>
          </a:p>
          <a:p>
            <a:pPr lvl="1" eaLnBrk="1" hangingPunct="1">
              <a:lnSpc>
                <a:spcPct val="150000"/>
              </a:lnSpc>
            </a:pPr>
            <a:r>
              <a:rPr lang="zh-CN" altLang="en-US" dirty="0"/>
              <a:t>组保留站</a:t>
            </a:r>
            <a:endParaRPr lang="zh-CN" altLang="en-US" dirty="0"/>
          </a:p>
          <a:p>
            <a:pPr lvl="1" eaLnBrk="1" hangingPunct="1">
              <a:lnSpc>
                <a:spcPct val="150000"/>
              </a:lnSpc>
            </a:pPr>
            <a:r>
              <a:rPr lang="zh-CN" altLang="en-US" dirty="0"/>
              <a:t>全局保留站</a:t>
            </a:r>
            <a:endParaRPr lang="zh-CN" altLang="en-US" dirty="0"/>
          </a:p>
          <a:p>
            <a:pPr eaLnBrk="1" hangingPunct="1">
              <a:lnSpc>
                <a:spcPct val="150000"/>
              </a:lnSpc>
            </a:pPr>
            <a:r>
              <a:rPr lang="zh-CN" altLang="en-US" dirty="0"/>
              <a:t>读取寄存器内容的时间</a:t>
            </a:r>
            <a:endParaRPr lang="zh-CN" altLang="en-US" dirty="0"/>
          </a:p>
          <a:p>
            <a:pPr lvl="1" eaLnBrk="1" hangingPunct="1">
              <a:lnSpc>
                <a:spcPct val="150000"/>
              </a:lnSpc>
            </a:pPr>
            <a:r>
              <a:rPr lang="zh-CN" altLang="en-US" dirty="0"/>
              <a:t>保留站前读</a:t>
            </a:r>
            <a:endParaRPr lang="zh-CN" altLang="en-US" dirty="0"/>
          </a:p>
          <a:p>
            <a:pPr lvl="1" eaLnBrk="1" hangingPunct="1">
              <a:lnSpc>
                <a:spcPct val="150000"/>
              </a:lnSpc>
            </a:pPr>
            <a:r>
              <a:rPr lang="zh-CN" altLang="en-US" dirty="0"/>
              <a:t>保留站后读</a:t>
            </a:r>
            <a:endParaRPr lang="zh-CN" altLang="en-US" dirty="0"/>
          </a:p>
          <a:p>
            <a:pPr eaLnBrk="1" hangingPunct="1">
              <a:lnSpc>
                <a:spcPct val="150000"/>
              </a:lnSpc>
            </a:pPr>
            <a:r>
              <a:rPr lang="zh-CN" altLang="en-US" dirty="0"/>
              <a:t>寄存器重命名的方法</a:t>
            </a:r>
            <a:endParaRPr lang="zh-CN" altLang="en-US" dirty="0"/>
          </a:p>
          <a:p>
            <a:pPr lvl="1" eaLnBrk="1" hangingPunct="1">
              <a:lnSpc>
                <a:spcPct val="150000"/>
              </a:lnSpc>
            </a:pPr>
            <a:r>
              <a:rPr lang="zh-CN" altLang="en-US" dirty="0"/>
              <a:t>重命名寄存器和物理寄存器分开</a:t>
            </a:r>
            <a:endParaRPr lang="zh-CN" altLang="en-US" dirty="0"/>
          </a:p>
          <a:p>
            <a:pPr lvl="1" eaLnBrk="1" hangingPunct="1">
              <a:lnSpc>
                <a:spcPct val="150000"/>
              </a:lnSpc>
            </a:pPr>
            <a:r>
              <a:rPr lang="zh-CN" altLang="en-US" dirty="0"/>
              <a:t>重命名寄存器和物理寄存器合并</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2531"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保留站的组织</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6"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grpSp>
        <p:nvGrpSpPr>
          <p:cNvPr id="1037" name="Group 1026"/>
          <p:cNvGrpSpPr/>
          <p:nvPr/>
        </p:nvGrpSpPr>
        <p:grpSpPr>
          <a:xfrm>
            <a:off x="252413" y="3794125"/>
            <a:ext cx="3875087" cy="2963863"/>
            <a:chOff x="1519" y="1150"/>
            <a:chExt cx="2470" cy="2832"/>
          </a:xfrm>
        </p:grpSpPr>
        <p:sp>
          <p:nvSpPr>
            <p:cNvPr id="1093" name="Text Box 1027"/>
            <p:cNvSpPr txBox="1"/>
            <p:nvPr/>
          </p:nvSpPr>
          <p:spPr>
            <a:xfrm>
              <a:off x="1620" y="115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94" name="Text Box 1028"/>
            <p:cNvSpPr txBox="1"/>
            <p:nvPr/>
          </p:nvSpPr>
          <p:spPr>
            <a:xfrm>
              <a:off x="2246" y="1152"/>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95" name="Text Box 1029"/>
            <p:cNvSpPr txBox="1"/>
            <p:nvPr/>
          </p:nvSpPr>
          <p:spPr>
            <a:xfrm>
              <a:off x="2867" y="1156"/>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96" name="Text Box 1030"/>
            <p:cNvSpPr txBox="1"/>
            <p:nvPr/>
          </p:nvSpPr>
          <p:spPr>
            <a:xfrm>
              <a:off x="3485" y="115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97" name="Text Box 1031"/>
            <p:cNvSpPr txBox="1"/>
            <p:nvPr/>
          </p:nvSpPr>
          <p:spPr>
            <a:xfrm>
              <a:off x="2204" y="2798"/>
              <a:ext cx="1091" cy="377"/>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译  码</a:t>
              </a:r>
              <a:endParaRPr lang="zh-CN" altLang="en-US" sz="1000" b="1" dirty="0">
                <a:latin typeface="Times New Roman" pitchFamily="18" charset="0"/>
              </a:endParaRPr>
            </a:p>
          </p:txBody>
        </p:sp>
        <p:sp>
          <p:nvSpPr>
            <p:cNvPr id="1098" name="Line 1032"/>
            <p:cNvSpPr/>
            <p:nvPr/>
          </p:nvSpPr>
          <p:spPr>
            <a:xfrm flipV="1">
              <a:off x="2758" y="3168"/>
              <a:ext cx="1" cy="196"/>
            </a:xfrm>
            <a:prstGeom prst="line">
              <a:avLst/>
            </a:prstGeom>
            <a:ln w="9525" cap="flat" cmpd="sng">
              <a:solidFill>
                <a:schemeClr val="tx1"/>
              </a:solidFill>
              <a:prstDash val="solid"/>
              <a:headEnd type="none" w="med" len="med"/>
              <a:tailEnd type="triangle" w="med" len="med"/>
            </a:ln>
          </p:spPr>
        </p:sp>
        <p:grpSp>
          <p:nvGrpSpPr>
            <p:cNvPr id="1099" name="Group 1033"/>
            <p:cNvGrpSpPr/>
            <p:nvPr/>
          </p:nvGrpSpPr>
          <p:grpSpPr>
            <a:xfrm>
              <a:off x="1846" y="2521"/>
              <a:ext cx="1894" cy="271"/>
              <a:chOff x="1854" y="1414"/>
              <a:chExt cx="1894" cy="271"/>
            </a:xfrm>
          </p:grpSpPr>
          <p:sp>
            <p:nvSpPr>
              <p:cNvPr id="1122" name="Line 1034"/>
              <p:cNvSpPr/>
              <p:nvPr/>
            </p:nvSpPr>
            <p:spPr>
              <a:xfrm>
                <a:off x="1854" y="1565"/>
                <a:ext cx="1894" cy="0"/>
              </a:xfrm>
              <a:prstGeom prst="line">
                <a:avLst/>
              </a:prstGeom>
              <a:ln w="9525" cap="flat" cmpd="sng">
                <a:solidFill>
                  <a:schemeClr val="tx1"/>
                </a:solidFill>
                <a:prstDash val="solid"/>
                <a:headEnd type="none" w="med" len="med"/>
                <a:tailEnd type="none" w="med" len="med"/>
              </a:ln>
            </p:spPr>
          </p:sp>
          <p:sp>
            <p:nvSpPr>
              <p:cNvPr id="1123" name="Line 1035"/>
              <p:cNvSpPr/>
              <p:nvPr/>
            </p:nvSpPr>
            <p:spPr>
              <a:xfrm flipH="1" flipV="1">
                <a:off x="2759" y="1568"/>
                <a:ext cx="1" cy="117"/>
              </a:xfrm>
              <a:prstGeom prst="line">
                <a:avLst/>
              </a:prstGeom>
              <a:ln w="9525" cap="flat" cmpd="sng">
                <a:solidFill>
                  <a:schemeClr val="tx1"/>
                </a:solidFill>
                <a:prstDash val="solid"/>
                <a:headEnd type="none" w="med" len="med"/>
                <a:tailEnd type="none" w="med" len="med"/>
              </a:ln>
            </p:spPr>
          </p:sp>
          <p:sp>
            <p:nvSpPr>
              <p:cNvPr id="1124" name="Line 1036"/>
              <p:cNvSpPr/>
              <p:nvPr/>
            </p:nvSpPr>
            <p:spPr>
              <a:xfrm flipV="1">
                <a:off x="1855" y="1417"/>
                <a:ext cx="0" cy="149"/>
              </a:xfrm>
              <a:prstGeom prst="line">
                <a:avLst/>
              </a:prstGeom>
              <a:ln w="9525" cap="flat" cmpd="sng">
                <a:solidFill>
                  <a:schemeClr val="tx1"/>
                </a:solidFill>
                <a:prstDash val="solid"/>
                <a:headEnd type="none" w="med" len="med"/>
                <a:tailEnd type="triangle" w="med" len="med"/>
              </a:ln>
            </p:spPr>
          </p:sp>
          <p:sp>
            <p:nvSpPr>
              <p:cNvPr id="1125" name="Line 1037"/>
              <p:cNvSpPr/>
              <p:nvPr/>
            </p:nvSpPr>
            <p:spPr>
              <a:xfrm flipV="1">
                <a:off x="2474" y="1419"/>
                <a:ext cx="0" cy="149"/>
              </a:xfrm>
              <a:prstGeom prst="line">
                <a:avLst/>
              </a:prstGeom>
              <a:ln w="9525" cap="flat" cmpd="sng">
                <a:solidFill>
                  <a:schemeClr val="tx1"/>
                </a:solidFill>
                <a:prstDash val="solid"/>
                <a:headEnd type="none" w="med" len="med"/>
                <a:tailEnd type="triangle" w="med" len="med"/>
              </a:ln>
            </p:spPr>
          </p:sp>
          <p:sp>
            <p:nvSpPr>
              <p:cNvPr id="1126" name="Line 1038"/>
              <p:cNvSpPr/>
              <p:nvPr/>
            </p:nvSpPr>
            <p:spPr>
              <a:xfrm flipV="1">
                <a:off x="3099" y="1414"/>
                <a:ext cx="0" cy="149"/>
              </a:xfrm>
              <a:prstGeom prst="line">
                <a:avLst/>
              </a:prstGeom>
              <a:ln w="9525" cap="flat" cmpd="sng">
                <a:solidFill>
                  <a:schemeClr val="tx1"/>
                </a:solidFill>
                <a:prstDash val="solid"/>
                <a:headEnd type="none" w="med" len="med"/>
                <a:tailEnd type="triangle" w="med" len="med"/>
              </a:ln>
            </p:spPr>
          </p:sp>
          <p:sp>
            <p:nvSpPr>
              <p:cNvPr id="1127" name="Line 1039"/>
              <p:cNvSpPr/>
              <p:nvPr/>
            </p:nvSpPr>
            <p:spPr>
              <a:xfrm flipV="1">
                <a:off x="3741" y="1417"/>
                <a:ext cx="0" cy="149"/>
              </a:xfrm>
              <a:prstGeom prst="line">
                <a:avLst/>
              </a:prstGeom>
              <a:ln w="9525" cap="flat" cmpd="sng">
                <a:solidFill>
                  <a:schemeClr val="tx1"/>
                </a:solidFill>
                <a:prstDash val="solid"/>
                <a:headEnd type="none" w="med" len="med"/>
                <a:tailEnd type="triangle" w="med" len="med"/>
              </a:ln>
            </p:spPr>
          </p:sp>
        </p:grpSp>
        <p:sp>
          <p:nvSpPr>
            <p:cNvPr id="1100" name="Line 1040"/>
            <p:cNvSpPr/>
            <p:nvPr/>
          </p:nvSpPr>
          <p:spPr>
            <a:xfrm flipV="1">
              <a:off x="2761" y="3732"/>
              <a:ext cx="0" cy="250"/>
            </a:xfrm>
            <a:prstGeom prst="line">
              <a:avLst/>
            </a:prstGeom>
            <a:ln w="9525" cap="flat" cmpd="sng">
              <a:solidFill>
                <a:schemeClr val="tx1"/>
              </a:solidFill>
              <a:prstDash val="solid"/>
              <a:headEnd type="none" w="med" len="med"/>
              <a:tailEnd type="triangle" w="med" len="med"/>
            </a:ln>
          </p:spPr>
        </p:sp>
        <p:sp>
          <p:nvSpPr>
            <p:cNvPr id="1101" name="Line 1041"/>
            <p:cNvSpPr/>
            <p:nvPr/>
          </p:nvSpPr>
          <p:spPr>
            <a:xfrm flipV="1">
              <a:off x="3706" y="1422"/>
              <a:ext cx="1" cy="219"/>
            </a:xfrm>
            <a:prstGeom prst="line">
              <a:avLst/>
            </a:prstGeom>
            <a:ln w="9525" cap="flat" cmpd="sng">
              <a:solidFill>
                <a:schemeClr val="tx1"/>
              </a:solidFill>
              <a:prstDash val="solid"/>
              <a:headEnd type="none" w="med" len="med"/>
              <a:tailEnd type="triangle" w="med" len="med"/>
            </a:ln>
          </p:spPr>
        </p:sp>
        <p:graphicFrame>
          <p:nvGraphicFramePr>
            <p:cNvPr id="1031" name="Object 72"/>
            <p:cNvGraphicFramePr/>
            <p:nvPr/>
          </p:nvGraphicFramePr>
          <p:xfrm>
            <a:off x="2112" y="3366"/>
            <a:ext cx="1285" cy="561"/>
          </p:xfrm>
          <a:graphic>
            <a:graphicData uri="http://schemas.openxmlformats.org/presentationml/2006/ole">
              <mc:AlternateContent xmlns:mc="http://schemas.openxmlformats.org/markup-compatibility/2006">
                <mc:Choice xmlns:v="urn:schemas-microsoft-com:vml" Requires="v">
                  <p:oleObj spid="_x0000_s3076" name="" r:id="rId1" imgW="2068195" imgH="1144270" progId="Word.Document.8">
                    <p:embed/>
                  </p:oleObj>
                </mc:Choice>
                <mc:Fallback>
                  <p:oleObj name="" r:id="rId1" imgW="2068195" imgH="1144270" progId="Word.Document.8">
                    <p:embed/>
                    <p:pic>
                      <p:nvPicPr>
                        <p:cNvPr id="0" name="图片 3075"/>
                        <p:cNvPicPr/>
                        <p:nvPr/>
                      </p:nvPicPr>
                      <p:blipFill>
                        <a:blip r:embed="rId2"/>
                        <a:stretch>
                          <a:fillRect/>
                        </a:stretch>
                      </p:blipFill>
                      <p:spPr>
                        <a:xfrm>
                          <a:off x="2112" y="3366"/>
                          <a:ext cx="1285" cy="561"/>
                        </a:xfrm>
                        <a:prstGeom prst="rect">
                          <a:avLst/>
                        </a:prstGeom>
                        <a:noFill/>
                        <a:ln w="38100">
                          <a:noFill/>
                          <a:miter/>
                        </a:ln>
                      </p:spPr>
                    </p:pic>
                  </p:oleObj>
                </mc:Fallback>
              </mc:AlternateContent>
            </a:graphicData>
          </a:graphic>
        </p:graphicFrame>
        <p:sp>
          <p:nvSpPr>
            <p:cNvPr id="1102" name="Text Box 1043"/>
            <p:cNvSpPr txBox="1"/>
            <p:nvPr/>
          </p:nvSpPr>
          <p:spPr>
            <a:xfrm>
              <a:off x="3475" y="1655"/>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103" name="Line 1044"/>
            <p:cNvSpPr/>
            <p:nvPr/>
          </p:nvSpPr>
          <p:spPr>
            <a:xfrm flipV="1">
              <a:off x="3712" y="1936"/>
              <a:ext cx="0" cy="204"/>
            </a:xfrm>
            <a:prstGeom prst="line">
              <a:avLst/>
            </a:prstGeom>
            <a:ln w="9525" cap="flat" cmpd="sng">
              <a:solidFill>
                <a:schemeClr val="tx1"/>
              </a:solidFill>
              <a:prstDash val="solid"/>
              <a:headEnd type="none" w="med" len="med"/>
              <a:tailEnd type="triangle" w="med" len="med"/>
            </a:ln>
          </p:spPr>
        </p:sp>
        <p:sp>
          <p:nvSpPr>
            <p:cNvPr id="1104" name="Text Box 1045"/>
            <p:cNvSpPr txBox="1"/>
            <p:nvPr/>
          </p:nvSpPr>
          <p:spPr>
            <a:xfrm>
              <a:off x="2867" y="1660"/>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105" name="Line 1046"/>
            <p:cNvSpPr/>
            <p:nvPr/>
          </p:nvSpPr>
          <p:spPr>
            <a:xfrm flipV="1">
              <a:off x="3104" y="1941"/>
              <a:ext cx="0" cy="204"/>
            </a:xfrm>
            <a:prstGeom prst="line">
              <a:avLst/>
            </a:prstGeom>
            <a:ln w="9525" cap="flat" cmpd="sng">
              <a:solidFill>
                <a:schemeClr val="tx1"/>
              </a:solidFill>
              <a:prstDash val="solid"/>
              <a:headEnd type="none" w="med" len="med"/>
              <a:tailEnd type="triangle" w="med" len="med"/>
            </a:ln>
          </p:spPr>
        </p:sp>
        <p:sp>
          <p:nvSpPr>
            <p:cNvPr id="1106" name="Text Box 1047"/>
            <p:cNvSpPr txBox="1"/>
            <p:nvPr/>
          </p:nvSpPr>
          <p:spPr>
            <a:xfrm>
              <a:off x="2243" y="1656"/>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107" name="Line 1048"/>
            <p:cNvSpPr/>
            <p:nvPr/>
          </p:nvSpPr>
          <p:spPr>
            <a:xfrm flipV="1">
              <a:off x="2480" y="1937"/>
              <a:ext cx="0" cy="204"/>
            </a:xfrm>
            <a:prstGeom prst="line">
              <a:avLst/>
            </a:prstGeom>
            <a:ln w="9525" cap="flat" cmpd="sng">
              <a:solidFill>
                <a:schemeClr val="tx1"/>
              </a:solidFill>
              <a:prstDash val="solid"/>
              <a:headEnd type="none" w="med" len="med"/>
              <a:tailEnd type="triangle" w="med" len="med"/>
            </a:ln>
          </p:spPr>
        </p:sp>
        <p:sp>
          <p:nvSpPr>
            <p:cNvPr id="1108" name="Text Box 1049"/>
            <p:cNvSpPr txBox="1"/>
            <p:nvPr/>
          </p:nvSpPr>
          <p:spPr>
            <a:xfrm>
              <a:off x="1620" y="1657"/>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109" name="Line 1050"/>
            <p:cNvSpPr/>
            <p:nvPr/>
          </p:nvSpPr>
          <p:spPr>
            <a:xfrm flipV="1">
              <a:off x="1857" y="1938"/>
              <a:ext cx="0" cy="204"/>
            </a:xfrm>
            <a:prstGeom prst="line">
              <a:avLst/>
            </a:prstGeom>
            <a:ln w="9525" cap="flat" cmpd="sng">
              <a:solidFill>
                <a:schemeClr val="tx1"/>
              </a:solidFill>
              <a:prstDash val="solid"/>
              <a:headEnd type="none" w="med" len="med"/>
              <a:tailEnd type="triangle" w="med" len="med"/>
            </a:ln>
          </p:spPr>
        </p:sp>
        <p:sp>
          <p:nvSpPr>
            <p:cNvPr id="1110" name="Line 1051"/>
            <p:cNvSpPr/>
            <p:nvPr/>
          </p:nvSpPr>
          <p:spPr>
            <a:xfrm flipV="1">
              <a:off x="1854" y="1424"/>
              <a:ext cx="1" cy="219"/>
            </a:xfrm>
            <a:prstGeom prst="line">
              <a:avLst/>
            </a:prstGeom>
            <a:ln w="9525" cap="flat" cmpd="sng">
              <a:solidFill>
                <a:schemeClr val="tx1"/>
              </a:solidFill>
              <a:prstDash val="solid"/>
              <a:headEnd type="none" w="med" len="med"/>
              <a:tailEnd type="triangle" w="med" len="med"/>
            </a:ln>
          </p:spPr>
        </p:sp>
        <p:sp>
          <p:nvSpPr>
            <p:cNvPr id="1111" name="Line 1052"/>
            <p:cNvSpPr/>
            <p:nvPr/>
          </p:nvSpPr>
          <p:spPr>
            <a:xfrm flipV="1">
              <a:off x="2504" y="1427"/>
              <a:ext cx="1" cy="219"/>
            </a:xfrm>
            <a:prstGeom prst="line">
              <a:avLst/>
            </a:prstGeom>
            <a:ln w="9525" cap="flat" cmpd="sng">
              <a:solidFill>
                <a:schemeClr val="tx1"/>
              </a:solidFill>
              <a:prstDash val="solid"/>
              <a:headEnd type="none" w="med" len="med"/>
              <a:tailEnd type="triangle" w="med" len="med"/>
            </a:ln>
          </p:spPr>
        </p:sp>
        <p:sp>
          <p:nvSpPr>
            <p:cNvPr id="1112" name="Line 1053"/>
            <p:cNvSpPr/>
            <p:nvPr/>
          </p:nvSpPr>
          <p:spPr>
            <a:xfrm flipH="1" flipV="1">
              <a:off x="3106" y="1422"/>
              <a:ext cx="7" cy="227"/>
            </a:xfrm>
            <a:prstGeom prst="line">
              <a:avLst/>
            </a:prstGeom>
            <a:ln w="9525" cap="flat" cmpd="sng">
              <a:solidFill>
                <a:schemeClr val="tx1"/>
              </a:solidFill>
              <a:prstDash val="solid"/>
              <a:headEnd type="none" w="med" len="med"/>
              <a:tailEnd type="triangle" w="med" len="med"/>
            </a:ln>
          </p:spPr>
        </p:sp>
        <p:sp>
          <p:nvSpPr>
            <p:cNvPr id="1113" name="Text Box 1054"/>
            <p:cNvSpPr txBox="1"/>
            <p:nvPr/>
          </p:nvSpPr>
          <p:spPr>
            <a:xfrm>
              <a:off x="2479" y="3507"/>
              <a:ext cx="554" cy="146"/>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a:t>
              </a:r>
              <a:endParaRPr lang="zh-CN" altLang="en-US" sz="1000" b="1" dirty="0">
                <a:latin typeface="Times New Roman" pitchFamily="18" charset="0"/>
              </a:endParaRPr>
            </a:p>
          </p:txBody>
        </p:sp>
        <p:grpSp>
          <p:nvGrpSpPr>
            <p:cNvPr id="1114" name="Group 1055"/>
            <p:cNvGrpSpPr/>
            <p:nvPr/>
          </p:nvGrpSpPr>
          <p:grpSpPr>
            <a:xfrm>
              <a:off x="3373" y="2143"/>
              <a:ext cx="616" cy="483"/>
              <a:chOff x="3405" y="2143"/>
              <a:chExt cx="616" cy="483"/>
            </a:xfrm>
          </p:grpSpPr>
          <p:graphicFrame>
            <p:nvGraphicFramePr>
              <p:cNvPr id="1035" name="Object 76"/>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77" name="" r:id="rId3" imgW="984250" imgH="929640" progId="Word.Document.8">
                      <p:embed/>
                    </p:oleObj>
                  </mc:Choice>
                  <mc:Fallback>
                    <p:oleObj name="" r:id="rId3" imgW="984250" imgH="929640" progId="Word.Document.8">
                      <p:embed/>
                      <p:pic>
                        <p:nvPicPr>
                          <p:cNvPr id="0" name="图片 3076"/>
                          <p:cNvPicPr/>
                          <p:nvPr/>
                        </p:nvPicPr>
                        <p:blipFill>
                          <a:blip r:embed="rId4"/>
                          <a:stretch>
                            <a:fillRect/>
                          </a:stretch>
                        </p:blipFill>
                        <p:spPr>
                          <a:xfrm>
                            <a:off x="3405" y="2143"/>
                            <a:ext cx="616" cy="483"/>
                          </a:xfrm>
                          <a:prstGeom prst="rect">
                            <a:avLst/>
                          </a:prstGeom>
                          <a:noFill/>
                          <a:ln w="38100">
                            <a:noFill/>
                            <a:miter/>
                          </a:ln>
                        </p:spPr>
                      </p:pic>
                    </p:oleObj>
                  </mc:Fallback>
                </mc:AlternateContent>
              </a:graphicData>
            </a:graphic>
          </p:graphicFrame>
          <p:sp>
            <p:nvSpPr>
              <p:cNvPr id="1121" name="Text Box 1057"/>
              <p:cNvSpPr txBox="1"/>
              <p:nvPr/>
            </p:nvSpPr>
            <p:spPr>
              <a:xfrm>
                <a:off x="3534" y="2288"/>
                <a:ext cx="421"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000" b="1" dirty="0">
                  <a:latin typeface="Times New Roman" pitchFamily="18" charset="0"/>
                </a:endParaRPr>
              </a:p>
            </p:txBody>
          </p:sp>
        </p:grpSp>
        <p:grpSp>
          <p:nvGrpSpPr>
            <p:cNvPr id="1115" name="Group 1058"/>
            <p:cNvGrpSpPr/>
            <p:nvPr/>
          </p:nvGrpSpPr>
          <p:grpSpPr>
            <a:xfrm>
              <a:off x="2776" y="2145"/>
              <a:ext cx="616" cy="483"/>
              <a:chOff x="3405" y="2143"/>
              <a:chExt cx="616" cy="483"/>
            </a:xfrm>
          </p:grpSpPr>
          <p:graphicFrame>
            <p:nvGraphicFramePr>
              <p:cNvPr id="1034" name="Object 75"/>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78" name="" r:id="rId5" imgW="984250" imgH="929640" progId="Word.Document.8">
                      <p:embed/>
                    </p:oleObj>
                  </mc:Choice>
                  <mc:Fallback>
                    <p:oleObj name="" r:id="rId5" imgW="984250" imgH="929640" progId="Word.Document.8">
                      <p:embed/>
                      <p:pic>
                        <p:nvPicPr>
                          <p:cNvPr id="0" name="图片 3077"/>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1120" name="Text Box 1060"/>
              <p:cNvSpPr txBox="1"/>
              <p:nvPr/>
            </p:nvSpPr>
            <p:spPr>
              <a:xfrm>
                <a:off x="3533" y="2286"/>
                <a:ext cx="421"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nvGrpSpPr>
            <p:cNvPr id="1116" name="Group 1061"/>
            <p:cNvGrpSpPr/>
            <p:nvPr/>
          </p:nvGrpSpPr>
          <p:grpSpPr>
            <a:xfrm>
              <a:off x="2146" y="2140"/>
              <a:ext cx="616" cy="483"/>
              <a:chOff x="3405" y="2143"/>
              <a:chExt cx="616" cy="483"/>
            </a:xfrm>
          </p:grpSpPr>
          <p:graphicFrame>
            <p:nvGraphicFramePr>
              <p:cNvPr id="1033" name="Object 74"/>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79" name="" r:id="rId7" imgW="984250" imgH="929640" progId="Word.Document.8">
                      <p:embed/>
                    </p:oleObj>
                  </mc:Choice>
                  <mc:Fallback>
                    <p:oleObj name="" r:id="rId7" imgW="984250" imgH="929640" progId="Word.Document.8">
                      <p:embed/>
                      <p:pic>
                        <p:nvPicPr>
                          <p:cNvPr id="0" name="图片 3078"/>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1119" name="Text Box 1063"/>
              <p:cNvSpPr txBox="1"/>
              <p:nvPr/>
            </p:nvSpPr>
            <p:spPr>
              <a:xfrm>
                <a:off x="3533" y="2288"/>
                <a:ext cx="421"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nvGrpSpPr>
            <p:cNvPr id="1117" name="Group 1064"/>
            <p:cNvGrpSpPr/>
            <p:nvPr/>
          </p:nvGrpSpPr>
          <p:grpSpPr>
            <a:xfrm>
              <a:off x="1519" y="2143"/>
              <a:ext cx="616" cy="483"/>
              <a:chOff x="3405" y="2143"/>
              <a:chExt cx="616" cy="483"/>
            </a:xfrm>
          </p:grpSpPr>
          <p:graphicFrame>
            <p:nvGraphicFramePr>
              <p:cNvPr id="1032" name="Object 73"/>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0" name="" r:id="rId8" imgW="984250" imgH="929640" progId="Word.Document.8">
                      <p:embed/>
                    </p:oleObj>
                  </mc:Choice>
                  <mc:Fallback>
                    <p:oleObj name="" r:id="rId8" imgW="984250" imgH="929640" progId="Word.Document.8">
                      <p:embed/>
                      <p:pic>
                        <p:nvPicPr>
                          <p:cNvPr id="0" name="图片 3079"/>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1118" name="Text Box 1066"/>
              <p:cNvSpPr txBox="1"/>
              <p:nvPr/>
            </p:nvSpPr>
            <p:spPr>
              <a:xfrm>
                <a:off x="3535" y="2288"/>
                <a:ext cx="423"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grpSp>
        <p:nvGrpSpPr>
          <p:cNvPr id="1038" name="Group 1067"/>
          <p:cNvGrpSpPr/>
          <p:nvPr/>
        </p:nvGrpSpPr>
        <p:grpSpPr>
          <a:xfrm>
            <a:off x="4473575" y="3779838"/>
            <a:ext cx="3617913" cy="3073400"/>
            <a:chOff x="1643" y="1485"/>
            <a:chExt cx="2332" cy="2832"/>
          </a:xfrm>
        </p:grpSpPr>
        <p:sp>
          <p:nvSpPr>
            <p:cNvPr id="1063" name="Text Box 1068"/>
            <p:cNvSpPr txBox="1"/>
            <p:nvPr/>
          </p:nvSpPr>
          <p:spPr>
            <a:xfrm>
              <a:off x="1643" y="1485"/>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64" name="Text Box 1069"/>
            <p:cNvSpPr txBox="1"/>
            <p:nvPr/>
          </p:nvSpPr>
          <p:spPr>
            <a:xfrm>
              <a:off x="2269" y="1487"/>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65" name="Text Box 1070"/>
            <p:cNvSpPr txBox="1"/>
            <p:nvPr/>
          </p:nvSpPr>
          <p:spPr>
            <a:xfrm>
              <a:off x="2890" y="1491"/>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66" name="Text Box 1071"/>
            <p:cNvSpPr txBox="1"/>
            <p:nvPr/>
          </p:nvSpPr>
          <p:spPr>
            <a:xfrm>
              <a:off x="3508" y="1486"/>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67" name="Text Box 1072"/>
            <p:cNvSpPr txBox="1"/>
            <p:nvPr/>
          </p:nvSpPr>
          <p:spPr>
            <a:xfrm>
              <a:off x="2227" y="3133"/>
              <a:ext cx="1091" cy="377"/>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译  码</a:t>
              </a:r>
              <a:endParaRPr lang="zh-CN" altLang="en-US" sz="1000" b="1" dirty="0">
                <a:latin typeface="Times New Roman" pitchFamily="18" charset="0"/>
              </a:endParaRPr>
            </a:p>
          </p:txBody>
        </p:sp>
        <p:sp>
          <p:nvSpPr>
            <p:cNvPr id="1068" name="Line 1073"/>
            <p:cNvSpPr/>
            <p:nvPr/>
          </p:nvSpPr>
          <p:spPr>
            <a:xfrm flipV="1">
              <a:off x="2781" y="3503"/>
              <a:ext cx="1" cy="196"/>
            </a:xfrm>
            <a:prstGeom prst="line">
              <a:avLst/>
            </a:prstGeom>
            <a:ln w="9525" cap="flat" cmpd="sng">
              <a:solidFill>
                <a:schemeClr val="tx1"/>
              </a:solidFill>
              <a:prstDash val="solid"/>
              <a:headEnd type="none" w="med" len="med"/>
              <a:tailEnd type="triangle" w="med" len="med"/>
            </a:ln>
          </p:spPr>
        </p:sp>
        <p:sp>
          <p:nvSpPr>
            <p:cNvPr id="1069" name="Line 1074"/>
            <p:cNvSpPr/>
            <p:nvPr/>
          </p:nvSpPr>
          <p:spPr>
            <a:xfrm>
              <a:off x="2165" y="3007"/>
              <a:ext cx="1279" cy="0"/>
            </a:xfrm>
            <a:prstGeom prst="line">
              <a:avLst/>
            </a:prstGeom>
            <a:ln w="9525" cap="flat" cmpd="sng">
              <a:solidFill>
                <a:schemeClr val="tx1"/>
              </a:solidFill>
              <a:prstDash val="solid"/>
              <a:headEnd type="none" w="med" len="med"/>
              <a:tailEnd type="none" w="med" len="med"/>
            </a:ln>
          </p:spPr>
        </p:sp>
        <p:sp>
          <p:nvSpPr>
            <p:cNvPr id="1070" name="Line 1075"/>
            <p:cNvSpPr/>
            <p:nvPr/>
          </p:nvSpPr>
          <p:spPr>
            <a:xfrm flipH="1" flipV="1">
              <a:off x="2774" y="3010"/>
              <a:ext cx="1" cy="117"/>
            </a:xfrm>
            <a:prstGeom prst="line">
              <a:avLst/>
            </a:prstGeom>
            <a:ln w="9525" cap="flat" cmpd="sng">
              <a:solidFill>
                <a:schemeClr val="tx1"/>
              </a:solidFill>
              <a:prstDash val="solid"/>
              <a:headEnd type="none" w="med" len="med"/>
              <a:tailEnd type="none" w="med" len="med"/>
            </a:ln>
          </p:spPr>
        </p:sp>
        <p:sp>
          <p:nvSpPr>
            <p:cNvPr id="1071" name="Line 1076"/>
            <p:cNvSpPr/>
            <p:nvPr/>
          </p:nvSpPr>
          <p:spPr>
            <a:xfrm flipV="1">
              <a:off x="2166" y="2859"/>
              <a:ext cx="0" cy="149"/>
            </a:xfrm>
            <a:prstGeom prst="line">
              <a:avLst/>
            </a:prstGeom>
            <a:ln w="9525" cap="flat" cmpd="sng">
              <a:solidFill>
                <a:schemeClr val="tx1"/>
              </a:solidFill>
              <a:prstDash val="solid"/>
              <a:headEnd type="none" w="med" len="med"/>
              <a:tailEnd type="triangle" w="med" len="med"/>
            </a:ln>
          </p:spPr>
        </p:sp>
        <p:sp>
          <p:nvSpPr>
            <p:cNvPr id="1072" name="Line 1077"/>
            <p:cNvSpPr/>
            <p:nvPr/>
          </p:nvSpPr>
          <p:spPr>
            <a:xfrm flipV="1">
              <a:off x="3444" y="2859"/>
              <a:ext cx="0" cy="149"/>
            </a:xfrm>
            <a:prstGeom prst="line">
              <a:avLst/>
            </a:prstGeom>
            <a:ln w="9525" cap="flat" cmpd="sng">
              <a:solidFill>
                <a:schemeClr val="tx1"/>
              </a:solidFill>
              <a:prstDash val="solid"/>
              <a:headEnd type="none" w="med" len="med"/>
              <a:tailEnd type="triangle" w="med" len="med"/>
            </a:ln>
          </p:spPr>
        </p:sp>
        <p:sp>
          <p:nvSpPr>
            <p:cNvPr id="1073" name="Line 1078"/>
            <p:cNvSpPr/>
            <p:nvPr/>
          </p:nvSpPr>
          <p:spPr>
            <a:xfrm flipV="1">
              <a:off x="2784" y="4067"/>
              <a:ext cx="0" cy="250"/>
            </a:xfrm>
            <a:prstGeom prst="line">
              <a:avLst/>
            </a:prstGeom>
            <a:ln w="9525" cap="flat" cmpd="sng">
              <a:solidFill>
                <a:schemeClr val="tx1"/>
              </a:solidFill>
              <a:prstDash val="solid"/>
              <a:headEnd type="none" w="med" len="med"/>
              <a:tailEnd type="triangle" w="med" len="med"/>
            </a:ln>
          </p:spPr>
        </p:sp>
        <p:graphicFrame>
          <p:nvGraphicFramePr>
            <p:cNvPr id="1028" name="Object 69"/>
            <p:cNvGraphicFramePr/>
            <p:nvPr/>
          </p:nvGraphicFramePr>
          <p:xfrm>
            <a:off x="2135" y="3701"/>
            <a:ext cx="1285" cy="561"/>
          </p:xfrm>
          <a:graphic>
            <a:graphicData uri="http://schemas.openxmlformats.org/presentationml/2006/ole">
              <mc:AlternateContent xmlns:mc="http://schemas.openxmlformats.org/markup-compatibility/2006">
                <mc:Choice xmlns:v="urn:schemas-microsoft-com:vml" Requires="v">
                  <p:oleObj spid="_x0000_s3081" name="" r:id="rId9" imgW="2068195" imgH="1144270" progId="Word.Document.8">
                    <p:embed/>
                  </p:oleObj>
                </mc:Choice>
                <mc:Fallback>
                  <p:oleObj name="" r:id="rId9" imgW="2068195" imgH="1144270" progId="Word.Document.8">
                    <p:embed/>
                    <p:pic>
                      <p:nvPicPr>
                        <p:cNvPr id="0" name="图片 3080"/>
                        <p:cNvPicPr/>
                        <p:nvPr/>
                      </p:nvPicPr>
                      <p:blipFill>
                        <a:blip r:embed="rId2"/>
                        <a:stretch>
                          <a:fillRect/>
                        </a:stretch>
                      </p:blipFill>
                      <p:spPr>
                        <a:xfrm>
                          <a:off x="2135" y="3701"/>
                          <a:ext cx="1285" cy="561"/>
                        </a:xfrm>
                        <a:prstGeom prst="rect">
                          <a:avLst/>
                        </a:prstGeom>
                        <a:noFill/>
                        <a:ln w="38100">
                          <a:noFill/>
                          <a:miter/>
                        </a:ln>
                      </p:spPr>
                    </p:pic>
                  </p:oleObj>
                </mc:Fallback>
              </mc:AlternateContent>
            </a:graphicData>
          </a:graphic>
        </p:graphicFrame>
        <p:sp>
          <p:nvSpPr>
            <p:cNvPr id="1074" name="Text Box 1080"/>
            <p:cNvSpPr txBox="1"/>
            <p:nvPr/>
          </p:nvSpPr>
          <p:spPr>
            <a:xfrm>
              <a:off x="3202" y="1995"/>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075" name="Line 1081"/>
            <p:cNvSpPr/>
            <p:nvPr/>
          </p:nvSpPr>
          <p:spPr>
            <a:xfrm flipV="1">
              <a:off x="3439" y="2276"/>
              <a:ext cx="0" cy="204"/>
            </a:xfrm>
            <a:prstGeom prst="line">
              <a:avLst/>
            </a:prstGeom>
            <a:ln w="9525" cap="flat" cmpd="sng">
              <a:solidFill>
                <a:schemeClr val="tx1"/>
              </a:solidFill>
              <a:prstDash val="solid"/>
              <a:headEnd type="none" w="med" len="med"/>
              <a:tailEnd type="triangle" w="med" len="med"/>
            </a:ln>
          </p:spPr>
        </p:sp>
        <p:sp>
          <p:nvSpPr>
            <p:cNvPr id="1076" name="Text Box 1082"/>
            <p:cNvSpPr txBox="1"/>
            <p:nvPr/>
          </p:nvSpPr>
          <p:spPr>
            <a:xfrm>
              <a:off x="1930" y="1991"/>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077" name="Line 1083"/>
            <p:cNvSpPr/>
            <p:nvPr/>
          </p:nvSpPr>
          <p:spPr>
            <a:xfrm flipV="1">
              <a:off x="2167" y="2272"/>
              <a:ext cx="0" cy="204"/>
            </a:xfrm>
            <a:prstGeom prst="line">
              <a:avLst/>
            </a:prstGeom>
            <a:ln w="9525" cap="flat" cmpd="sng">
              <a:solidFill>
                <a:schemeClr val="tx1"/>
              </a:solidFill>
              <a:prstDash val="solid"/>
              <a:headEnd type="none" w="med" len="med"/>
              <a:tailEnd type="triangle" w="med" len="med"/>
            </a:ln>
          </p:spPr>
        </p:sp>
        <p:sp>
          <p:nvSpPr>
            <p:cNvPr id="1078" name="Text Box 1084"/>
            <p:cNvSpPr txBox="1"/>
            <p:nvPr/>
          </p:nvSpPr>
          <p:spPr>
            <a:xfrm>
              <a:off x="2504" y="3842"/>
              <a:ext cx="553" cy="142"/>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a:t>
              </a:r>
              <a:endParaRPr lang="zh-CN" altLang="en-US" sz="1000" b="1" dirty="0">
                <a:latin typeface="Times New Roman" pitchFamily="18" charset="0"/>
              </a:endParaRPr>
            </a:p>
          </p:txBody>
        </p:sp>
        <p:grpSp>
          <p:nvGrpSpPr>
            <p:cNvPr id="1079" name="Group 1085"/>
            <p:cNvGrpSpPr/>
            <p:nvPr/>
          </p:nvGrpSpPr>
          <p:grpSpPr>
            <a:xfrm>
              <a:off x="3111" y="2480"/>
              <a:ext cx="616" cy="483"/>
              <a:chOff x="3405" y="2143"/>
              <a:chExt cx="616" cy="483"/>
            </a:xfrm>
          </p:grpSpPr>
          <p:graphicFrame>
            <p:nvGraphicFramePr>
              <p:cNvPr id="1030" name="Object 71"/>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2" name="" r:id="rId10" imgW="984250" imgH="929640" progId="Word.Document.8">
                      <p:embed/>
                    </p:oleObj>
                  </mc:Choice>
                  <mc:Fallback>
                    <p:oleObj name="" r:id="rId10" imgW="984250" imgH="929640" progId="Word.Document.8">
                      <p:embed/>
                      <p:pic>
                        <p:nvPicPr>
                          <p:cNvPr id="0" name="图片 3081"/>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1092" name="Text Box 1087"/>
              <p:cNvSpPr txBox="1"/>
              <p:nvPr/>
            </p:nvSpPr>
            <p:spPr>
              <a:xfrm>
                <a:off x="3534" y="2285"/>
                <a:ext cx="420" cy="142"/>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000" b="1" dirty="0">
                  <a:latin typeface="Times New Roman" pitchFamily="18" charset="0"/>
                </a:endParaRPr>
              </a:p>
            </p:txBody>
          </p:sp>
        </p:grpSp>
        <p:grpSp>
          <p:nvGrpSpPr>
            <p:cNvPr id="1080" name="Group 1088"/>
            <p:cNvGrpSpPr/>
            <p:nvPr/>
          </p:nvGrpSpPr>
          <p:grpSpPr>
            <a:xfrm>
              <a:off x="1833" y="2475"/>
              <a:ext cx="616" cy="483"/>
              <a:chOff x="3405" y="2143"/>
              <a:chExt cx="616" cy="483"/>
            </a:xfrm>
          </p:grpSpPr>
          <p:graphicFrame>
            <p:nvGraphicFramePr>
              <p:cNvPr id="1029" name="Object 70"/>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3" name="" r:id="rId11" imgW="984250" imgH="929640" progId="Word.Document.8">
                      <p:embed/>
                    </p:oleObj>
                  </mc:Choice>
                  <mc:Fallback>
                    <p:oleObj name="" r:id="rId11" imgW="984250" imgH="929640" progId="Word.Document.8">
                      <p:embed/>
                      <p:pic>
                        <p:nvPicPr>
                          <p:cNvPr id="0" name="图片 3082"/>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1091" name="Text Box 1090"/>
              <p:cNvSpPr txBox="1"/>
              <p:nvPr/>
            </p:nvSpPr>
            <p:spPr>
              <a:xfrm>
                <a:off x="3534" y="2287"/>
                <a:ext cx="423" cy="142"/>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nvGrpSpPr>
            <p:cNvPr id="1081" name="Group 1091"/>
            <p:cNvGrpSpPr/>
            <p:nvPr/>
          </p:nvGrpSpPr>
          <p:grpSpPr>
            <a:xfrm>
              <a:off x="1867" y="1742"/>
              <a:ext cx="644" cy="239"/>
              <a:chOff x="1867" y="1742"/>
              <a:chExt cx="644" cy="239"/>
            </a:xfrm>
          </p:grpSpPr>
          <p:sp>
            <p:nvSpPr>
              <p:cNvPr id="1087" name="Line 1092"/>
              <p:cNvSpPr/>
              <p:nvPr/>
            </p:nvSpPr>
            <p:spPr>
              <a:xfrm flipV="1">
                <a:off x="2191" y="1879"/>
                <a:ext cx="1" cy="102"/>
              </a:xfrm>
              <a:prstGeom prst="line">
                <a:avLst/>
              </a:prstGeom>
              <a:ln w="9525" cap="flat" cmpd="sng">
                <a:solidFill>
                  <a:schemeClr val="tx1"/>
                </a:solidFill>
                <a:prstDash val="solid"/>
                <a:headEnd type="none" w="med" len="med"/>
                <a:tailEnd type="none" w="med" len="med"/>
              </a:ln>
            </p:spPr>
          </p:sp>
          <p:sp>
            <p:nvSpPr>
              <p:cNvPr id="1088" name="Line 1093"/>
              <p:cNvSpPr/>
              <p:nvPr/>
            </p:nvSpPr>
            <p:spPr>
              <a:xfrm flipH="1" flipV="1">
                <a:off x="1867" y="1742"/>
                <a:ext cx="6" cy="125"/>
              </a:xfrm>
              <a:prstGeom prst="line">
                <a:avLst/>
              </a:prstGeom>
              <a:ln w="9525" cap="flat" cmpd="sng">
                <a:solidFill>
                  <a:schemeClr val="tx1"/>
                </a:solidFill>
                <a:prstDash val="solid"/>
                <a:headEnd type="none" w="med" len="med"/>
                <a:tailEnd type="triangle" w="med" len="med"/>
              </a:ln>
            </p:spPr>
          </p:sp>
          <p:sp>
            <p:nvSpPr>
              <p:cNvPr id="1089" name="Line 1094"/>
              <p:cNvSpPr/>
              <p:nvPr/>
            </p:nvSpPr>
            <p:spPr>
              <a:xfrm>
                <a:off x="1870" y="1879"/>
                <a:ext cx="641" cy="0"/>
              </a:xfrm>
              <a:prstGeom prst="line">
                <a:avLst/>
              </a:prstGeom>
              <a:ln w="9525" cap="flat" cmpd="sng">
                <a:solidFill>
                  <a:schemeClr val="tx1"/>
                </a:solidFill>
                <a:prstDash val="solid"/>
                <a:headEnd type="none" w="med" len="med"/>
                <a:tailEnd type="none" w="med" len="med"/>
              </a:ln>
            </p:spPr>
          </p:sp>
          <p:sp>
            <p:nvSpPr>
              <p:cNvPr id="1090" name="Line 1095"/>
              <p:cNvSpPr/>
              <p:nvPr/>
            </p:nvSpPr>
            <p:spPr>
              <a:xfrm flipV="1">
                <a:off x="2506" y="1745"/>
                <a:ext cx="2" cy="125"/>
              </a:xfrm>
              <a:prstGeom prst="line">
                <a:avLst/>
              </a:prstGeom>
              <a:ln w="9525" cap="flat" cmpd="sng">
                <a:solidFill>
                  <a:schemeClr val="tx1"/>
                </a:solidFill>
                <a:prstDash val="solid"/>
                <a:headEnd type="none" w="med" len="med"/>
                <a:tailEnd type="triangle" w="med" len="med"/>
              </a:ln>
            </p:spPr>
          </p:sp>
        </p:grpSp>
        <p:grpSp>
          <p:nvGrpSpPr>
            <p:cNvPr id="1082" name="Group 1096"/>
            <p:cNvGrpSpPr/>
            <p:nvPr/>
          </p:nvGrpSpPr>
          <p:grpSpPr>
            <a:xfrm>
              <a:off x="3108" y="1752"/>
              <a:ext cx="644" cy="239"/>
              <a:chOff x="1867" y="1742"/>
              <a:chExt cx="644" cy="239"/>
            </a:xfrm>
          </p:grpSpPr>
          <p:sp>
            <p:nvSpPr>
              <p:cNvPr id="1083" name="Line 1097"/>
              <p:cNvSpPr/>
              <p:nvPr/>
            </p:nvSpPr>
            <p:spPr>
              <a:xfrm flipV="1">
                <a:off x="2191" y="1879"/>
                <a:ext cx="1" cy="102"/>
              </a:xfrm>
              <a:prstGeom prst="line">
                <a:avLst/>
              </a:prstGeom>
              <a:ln w="9525" cap="flat" cmpd="sng">
                <a:solidFill>
                  <a:schemeClr val="tx1"/>
                </a:solidFill>
                <a:prstDash val="solid"/>
                <a:headEnd type="none" w="med" len="med"/>
                <a:tailEnd type="none" w="med" len="med"/>
              </a:ln>
            </p:spPr>
          </p:sp>
          <p:sp>
            <p:nvSpPr>
              <p:cNvPr id="1084" name="Line 1098"/>
              <p:cNvSpPr/>
              <p:nvPr/>
            </p:nvSpPr>
            <p:spPr>
              <a:xfrm flipH="1" flipV="1">
                <a:off x="1867" y="1742"/>
                <a:ext cx="6" cy="125"/>
              </a:xfrm>
              <a:prstGeom prst="line">
                <a:avLst/>
              </a:prstGeom>
              <a:ln w="9525" cap="flat" cmpd="sng">
                <a:solidFill>
                  <a:schemeClr val="tx1"/>
                </a:solidFill>
                <a:prstDash val="solid"/>
                <a:headEnd type="none" w="med" len="med"/>
                <a:tailEnd type="triangle" w="med" len="med"/>
              </a:ln>
            </p:spPr>
          </p:sp>
          <p:sp>
            <p:nvSpPr>
              <p:cNvPr id="1085" name="Line 1099"/>
              <p:cNvSpPr/>
              <p:nvPr/>
            </p:nvSpPr>
            <p:spPr>
              <a:xfrm>
                <a:off x="1870" y="1879"/>
                <a:ext cx="641" cy="0"/>
              </a:xfrm>
              <a:prstGeom prst="line">
                <a:avLst/>
              </a:prstGeom>
              <a:ln w="9525" cap="flat" cmpd="sng">
                <a:solidFill>
                  <a:schemeClr val="tx1"/>
                </a:solidFill>
                <a:prstDash val="solid"/>
                <a:headEnd type="none" w="med" len="med"/>
                <a:tailEnd type="none" w="med" len="med"/>
              </a:ln>
            </p:spPr>
          </p:sp>
          <p:sp>
            <p:nvSpPr>
              <p:cNvPr id="1086" name="Line 1100"/>
              <p:cNvSpPr/>
              <p:nvPr/>
            </p:nvSpPr>
            <p:spPr>
              <a:xfrm flipV="1">
                <a:off x="2506" y="1745"/>
                <a:ext cx="2" cy="125"/>
              </a:xfrm>
              <a:prstGeom prst="line">
                <a:avLst/>
              </a:prstGeom>
              <a:ln w="9525" cap="flat" cmpd="sng">
                <a:solidFill>
                  <a:schemeClr val="tx1"/>
                </a:solidFill>
                <a:prstDash val="solid"/>
                <a:headEnd type="none" w="med" len="med"/>
                <a:tailEnd type="triangle" w="med" len="med"/>
              </a:ln>
            </p:spPr>
          </p:sp>
        </p:grpSp>
      </p:grpSp>
      <p:grpSp>
        <p:nvGrpSpPr>
          <p:cNvPr id="1039" name="Group 1101"/>
          <p:cNvGrpSpPr/>
          <p:nvPr/>
        </p:nvGrpSpPr>
        <p:grpSpPr>
          <a:xfrm>
            <a:off x="8488363" y="3781425"/>
            <a:ext cx="3567112" cy="2913063"/>
            <a:chOff x="1643" y="1317"/>
            <a:chExt cx="2332" cy="2832"/>
          </a:xfrm>
        </p:grpSpPr>
        <p:sp>
          <p:nvSpPr>
            <p:cNvPr id="1042" name="Text Box 1102"/>
            <p:cNvSpPr txBox="1"/>
            <p:nvPr/>
          </p:nvSpPr>
          <p:spPr>
            <a:xfrm>
              <a:off x="1643" y="1317"/>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43" name="Text Box 1103"/>
            <p:cNvSpPr txBox="1"/>
            <p:nvPr/>
          </p:nvSpPr>
          <p:spPr>
            <a:xfrm>
              <a:off x="2269" y="131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44" name="Text Box 1104"/>
            <p:cNvSpPr txBox="1"/>
            <p:nvPr/>
          </p:nvSpPr>
          <p:spPr>
            <a:xfrm>
              <a:off x="2890" y="1323"/>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45" name="Text Box 1105"/>
            <p:cNvSpPr txBox="1"/>
            <p:nvPr/>
          </p:nvSpPr>
          <p:spPr>
            <a:xfrm>
              <a:off x="3508" y="1318"/>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1046" name="Text Box 1106"/>
            <p:cNvSpPr txBox="1"/>
            <p:nvPr/>
          </p:nvSpPr>
          <p:spPr>
            <a:xfrm>
              <a:off x="2227" y="2965"/>
              <a:ext cx="1091" cy="377"/>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译  码</a:t>
              </a:r>
              <a:endParaRPr lang="zh-CN" altLang="en-US" sz="1000" b="1" dirty="0">
                <a:latin typeface="Times New Roman" pitchFamily="18" charset="0"/>
              </a:endParaRPr>
            </a:p>
          </p:txBody>
        </p:sp>
        <p:sp>
          <p:nvSpPr>
            <p:cNvPr id="1047" name="Line 1107"/>
            <p:cNvSpPr/>
            <p:nvPr/>
          </p:nvSpPr>
          <p:spPr>
            <a:xfrm flipV="1">
              <a:off x="2781" y="3335"/>
              <a:ext cx="1" cy="196"/>
            </a:xfrm>
            <a:prstGeom prst="line">
              <a:avLst/>
            </a:prstGeom>
            <a:ln w="9525" cap="flat" cmpd="sng">
              <a:solidFill>
                <a:schemeClr val="tx1"/>
              </a:solidFill>
              <a:prstDash val="solid"/>
              <a:headEnd type="none" w="med" len="med"/>
              <a:tailEnd type="triangle" w="med" len="med"/>
            </a:ln>
          </p:spPr>
        </p:sp>
        <p:sp>
          <p:nvSpPr>
            <p:cNvPr id="1048" name="Line 1108"/>
            <p:cNvSpPr/>
            <p:nvPr/>
          </p:nvSpPr>
          <p:spPr>
            <a:xfrm flipH="1" flipV="1">
              <a:off x="2774" y="2842"/>
              <a:ext cx="1" cy="117"/>
            </a:xfrm>
            <a:prstGeom prst="line">
              <a:avLst/>
            </a:prstGeom>
            <a:ln w="9525" cap="flat" cmpd="sng">
              <a:solidFill>
                <a:schemeClr val="tx1"/>
              </a:solidFill>
              <a:prstDash val="solid"/>
              <a:headEnd type="none" w="med" len="med"/>
              <a:tailEnd type="none" w="med" len="med"/>
            </a:ln>
          </p:spPr>
        </p:sp>
        <p:sp>
          <p:nvSpPr>
            <p:cNvPr id="1049" name="Line 1109"/>
            <p:cNvSpPr/>
            <p:nvPr/>
          </p:nvSpPr>
          <p:spPr>
            <a:xfrm flipV="1">
              <a:off x="2774" y="2691"/>
              <a:ext cx="0" cy="149"/>
            </a:xfrm>
            <a:prstGeom prst="line">
              <a:avLst/>
            </a:prstGeom>
            <a:ln w="9525" cap="flat" cmpd="sng">
              <a:solidFill>
                <a:schemeClr val="tx1"/>
              </a:solidFill>
              <a:prstDash val="solid"/>
              <a:headEnd type="none" w="med" len="med"/>
              <a:tailEnd type="triangle" w="med" len="med"/>
            </a:ln>
          </p:spPr>
        </p:sp>
        <p:sp>
          <p:nvSpPr>
            <p:cNvPr id="1050" name="Line 1110"/>
            <p:cNvSpPr/>
            <p:nvPr/>
          </p:nvSpPr>
          <p:spPr>
            <a:xfrm flipV="1">
              <a:off x="2784" y="3899"/>
              <a:ext cx="0" cy="250"/>
            </a:xfrm>
            <a:prstGeom prst="line">
              <a:avLst/>
            </a:prstGeom>
            <a:ln w="9525" cap="flat" cmpd="sng">
              <a:solidFill>
                <a:schemeClr val="tx1"/>
              </a:solidFill>
              <a:prstDash val="solid"/>
              <a:headEnd type="none" w="med" len="med"/>
              <a:tailEnd type="triangle" w="med" len="med"/>
            </a:ln>
          </p:spPr>
        </p:sp>
        <p:graphicFrame>
          <p:nvGraphicFramePr>
            <p:cNvPr id="1026" name="Object 67"/>
            <p:cNvGraphicFramePr/>
            <p:nvPr/>
          </p:nvGraphicFramePr>
          <p:xfrm>
            <a:off x="2135" y="3533"/>
            <a:ext cx="1285" cy="561"/>
          </p:xfrm>
          <a:graphic>
            <a:graphicData uri="http://schemas.openxmlformats.org/presentationml/2006/ole">
              <mc:AlternateContent xmlns:mc="http://schemas.openxmlformats.org/markup-compatibility/2006">
                <mc:Choice xmlns:v="urn:schemas-microsoft-com:vml" Requires="v">
                  <p:oleObj spid="_x0000_s3084" name="" r:id="rId12" imgW="2068195" imgH="1144270" progId="Word.Document.8">
                    <p:embed/>
                  </p:oleObj>
                </mc:Choice>
                <mc:Fallback>
                  <p:oleObj name="" r:id="rId12" imgW="2068195" imgH="1144270" progId="Word.Document.8">
                    <p:embed/>
                    <p:pic>
                      <p:nvPicPr>
                        <p:cNvPr id="0" name="图片 3083"/>
                        <p:cNvPicPr/>
                        <p:nvPr/>
                      </p:nvPicPr>
                      <p:blipFill>
                        <a:blip r:embed="rId2"/>
                        <a:stretch>
                          <a:fillRect/>
                        </a:stretch>
                      </p:blipFill>
                      <p:spPr>
                        <a:xfrm>
                          <a:off x="2135" y="3533"/>
                          <a:ext cx="1285" cy="561"/>
                        </a:xfrm>
                        <a:prstGeom prst="rect">
                          <a:avLst/>
                        </a:prstGeom>
                        <a:noFill/>
                        <a:ln w="38100">
                          <a:noFill/>
                          <a:miter/>
                        </a:ln>
                      </p:spPr>
                    </p:pic>
                  </p:oleObj>
                </mc:Fallback>
              </mc:AlternateContent>
            </a:graphicData>
          </a:graphic>
        </p:graphicFrame>
        <p:sp>
          <p:nvSpPr>
            <p:cNvPr id="1051" name="Text Box 1112"/>
            <p:cNvSpPr txBox="1"/>
            <p:nvPr/>
          </p:nvSpPr>
          <p:spPr>
            <a:xfrm>
              <a:off x="2538" y="1823"/>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1052" name="Line 1113"/>
            <p:cNvSpPr/>
            <p:nvPr/>
          </p:nvSpPr>
          <p:spPr>
            <a:xfrm flipV="1">
              <a:off x="2775" y="2104"/>
              <a:ext cx="0" cy="204"/>
            </a:xfrm>
            <a:prstGeom prst="line">
              <a:avLst/>
            </a:prstGeom>
            <a:ln w="9525" cap="flat" cmpd="sng">
              <a:solidFill>
                <a:schemeClr val="tx1"/>
              </a:solidFill>
              <a:prstDash val="solid"/>
              <a:headEnd type="none" w="med" len="med"/>
              <a:tailEnd type="triangle" w="med" len="med"/>
            </a:ln>
          </p:spPr>
        </p:sp>
        <p:sp>
          <p:nvSpPr>
            <p:cNvPr id="1053" name="Text Box 1114"/>
            <p:cNvSpPr txBox="1"/>
            <p:nvPr/>
          </p:nvSpPr>
          <p:spPr>
            <a:xfrm>
              <a:off x="2502" y="3674"/>
              <a:ext cx="553" cy="15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a:t>
              </a:r>
              <a:endParaRPr lang="zh-CN" altLang="en-US" sz="1000" b="1" dirty="0">
                <a:latin typeface="Times New Roman" pitchFamily="18" charset="0"/>
              </a:endParaRPr>
            </a:p>
          </p:txBody>
        </p:sp>
        <p:grpSp>
          <p:nvGrpSpPr>
            <p:cNvPr id="1054" name="Group 1115"/>
            <p:cNvGrpSpPr/>
            <p:nvPr/>
          </p:nvGrpSpPr>
          <p:grpSpPr>
            <a:xfrm>
              <a:off x="2441" y="2307"/>
              <a:ext cx="616" cy="483"/>
              <a:chOff x="3405" y="2143"/>
              <a:chExt cx="616" cy="483"/>
            </a:xfrm>
          </p:grpSpPr>
          <p:graphicFrame>
            <p:nvGraphicFramePr>
              <p:cNvPr id="1027" name="Object 68"/>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5" name="" r:id="rId13" imgW="984250" imgH="929640" progId="Word.Document.8">
                      <p:embed/>
                    </p:oleObj>
                  </mc:Choice>
                  <mc:Fallback>
                    <p:oleObj name="" r:id="rId13" imgW="984250" imgH="929640" progId="Word.Document.8">
                      <p:embed/>
                      <p:pic>
                        <p:nvPicPr>
                          <p:cNvPr id="0" name="图片 3084"/>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1062" name="Text Box 1117"/>
              <p:cNvSpPr txBox="1"/>
              <p:nvPr/>
            </p:nvSpPr>
            <p:spPr>
              <a:xfrm>
                <a:off x="3534" y="2286"/>
                <a:ext cx="421" cy="15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000" b="1" dirty="0">
                  <a:latin typeface="Times New Roman" pitchFamily="18" charset="0"/>
                </a:endParaRPr>
              </a:p>
            </p:txBody>
          </p:sp>
        </p:grpSp>
        <p:grpSp>
          <p:nvGrpSpPr>
            <p:cNvPr id="1055" name="Group 1118"/>
            <p:cNvGrpSpPr/>
            <p:nvPr/>
          </p:nvGrpSpPr>
          <p:grpSpPr>
            <a:xfrm>
              <a:off x="1893" y="1574"/>
              <a:ext cx="1834" cy="239"/>
              <a:chOff x="1893" y="1742"/>
              <a:chExt cx="1834" cy="239"/>
            </a:xfrm>
          </p:grpSpPr>
          <p:sp>
            <p:nvSpPr>
              <p:cNvPr id="1056" name="Line 1119"/>
              <p:cNvSpPr/>
              <p:nvPr/>
            </p:nvSpPr>
            <p:spPr>
              <a:xfrm flipV="1">
                <a:off x="2775" y="1879"/>
                <a:ext cx="1" cy="102"/>
              </a:xfrm>
              <a:prstGeom prst="line">
                <a:avLst/>
              </a:prstGeom>
              <a:ln w="9525" cap="flat" cmpd="sng">
                <a:solidFill>
                  <a:schemeClr val="tx1"/>
                </a:solidFill>
                <a:prstDash val="solid"/>
                <a:headEnd type="none" w="med" len="med"/>
                <a:tailEnd type="none" w="med" len="med"/>
              </a:ln>
            </p:spPr>
          </p:sp>
          <p:sp>
            <p:nvSpPr>
              <p:cNvPr id="1057" name="Line 1120"/>
              <p:cNvSpPr/>
              <p:nvPr/>
            </p:nvSpPr>
            <p:spPr>
              <a:xfrm flipH="1" flipV="1">
                <a:off x="2475" y="1742"/>
                <a:ext cx="6" cy="125"/>
              </a:xfrm>
              <a:prstGeom prst="line">
                <a:avLst/>
              </a:prstGeom>
              <a:ln w="9525" cap="flat" cmpd="sng">
                <a:solidFill>
                  <a:schemeClr val="tx1"/>
                </a:solidFill>
                <a:prstDash val="solid"/>
                <a:headEnd type="none" w="med" len="med"/>
                <a:tailEnd type="triangle" w="med" len="med"/>
              </a:ln>
            </p:spPr>
          </p:sp>
          <p:sp>
            <p:nvSpPr>
              <p:cNvPr id="1058" name="Line 1121"/>
              <p:cNvSpPr/>
              <p:nvPr/>
            </p:nvSpPr>
            <p:spPr>
              <a:xfrm>
                <a:off x="1894" y="1879"/>
                <a:ext cx="1833" cy="0"/>
              </a:xfrm>
              <a:prstGeom prst="line">
                <a:avLst/>
              </a:prstGeom>
              <a:ln w="9525" cap="flat" cmpd="sng">
                <a:solidFill>
                  <a:schemeClr val="tx1"/>
                </a:solidFill>
                <a:prstDash val="solid"/>
                <a:headEnd type="none" w="med" len="med"/>
                <a:tailEnd type="none" w="med" len="med"/>
              </a:ln>
            </p:spPr>
          </p:sp>
          <p:sp>
            <p:nvSpPr>
              <p:cNvPr id="1059" name="Line 1122"/>
              <p:cNvSpPr/>
              <p:nvPr/>
            </p:nvSpPr>
            <p:spPr>
              <a:xfrm flipV="1">
                <a:off x="3114" y="1745"/>
                <a:ext cx="2" cy="125"/>
              </a:xfrm>
              <a:prstGeom prst="line">
                <a:avLst/>
              </a:prstGeom>
              <a:ln w="9525" cap="flat" cmpd="sng">
                <a:solidFill>
                  <a:schemeClr val="tx1"/>
                </a:solidFill>
                <a:prstDash val="solid"/>
                <a:headEnd type="none" w="med" len="med"/>
                <a:tailEnd type="triangle" w="med" len="med"/>
              </a:ln>
            </p:spPr>
          </p:sp>
          <p:sp>
            <p:nvSpPr>
              <p:cNvPr id="1060" name="Line 1123"/>
              <p:cNvSpPr/>
              <p:nvPr/>
            </p:nvSpPr>
            <p:spPr>
              <a:xfrm flipH="1" flipV="1">
                <a:off x="1893" y="1753"/>
                <a:ext cx="0" cy="125"/>
              </a:xfrm>
              <a:prstGeom prst="line">
                <a:avLst/>
              </a:prstGeom>
              <a:ln w="9525" cap="flat" cmpd="sng">
                <a:solidFill>
                  <a:schemeClr val="tx1"/>
                </a:solidFill>
                <a:prstDash val="solid"/>
                <a:headEnd type="none" w="med" len="med"/>
                <a:tailEnd type="triangle" w="med" len="med"/>
              </a:ln>
            </p:spPr>
          </p:sp>
          <p:sp>
            <p:nvSpPr>
              <p:cNvPr id="1061" name="Line 1124"/>
              <p:cNvSpPr/>
              <p:nvPr/>
            </p:nvSpPr>
            <p:spPr>
              <a:xfrm flipV="1">
                <a:off x="3725" y="1755"/>
                <a:ext cx="2" cy="125"/>
              </a:xfrm>
              <a:prstGeom prst="line">
                <a:avLst/>
              </a:prstGeom>
              <a:ln w="9525" cap="flat" cmpd="sng">
                <a:solidFill>
                  <a:schemeClr val="tx1"/>
                </a:solidFill>
                <a:prstDash val="solid"/>
                <a:headEnd type="none" w="med" len="med"/>
                <a:tailEnd type="triangle" w="med" len="med"/>
              </a:ln>
            </p:spPr>
          </p:sp>
        </p:grpSp>
      </p:grpSp>
      <p:sp>
        <p:nvSpPr>
          <p:cNvPr id="1040" name="Rectangle 1125"/>
          <p:cNvSpPr/>
          <p:nvPr/>
        </p:nvSpPr>
        <p:spPr>
          <a:xfrm>
            <a:off x="914400" y="68263"/>
            <a:ext cx="10361613" cy="7112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指令缓存结构</a:t>
            </a:r>
            <a:endParaRPr lang="zh-CN" altLang="en-US" sz="3600" dirty="0">
              <a:solidFill>
                <a:srgbClr val="FF3300"/>
              </a:solidFill>
              <a:latin typeface="Times New Roman" pitchFamily="18" charset="0"/>
              <a:ea typeface="黑体" panose="02000500000000000000" pitchFamily="49" charset="-122"/>
            </a:endParaRPr>
          </a:p>
        </p:txBody>
      </p:sp>
      <p:sp>
        <p:nvSpPr>
          <p:cNvPr id="1041" name="Rectangle 1126"/>
          <p:cNvSpPr/>
          <p:nvPr/>
        </p:nvSpPr>
        <p:spPr>
          <a:xfrm>
            <a:off x="913765" y="1184275"/>
            <a:ext cx="10807065" cy="2451100"/>
          </a:xfrm>
          <a:prstGeom prst="rect">
            <a:avLst/>
          </a:prstGeom>
          <a:noFill/>
          <a:ln w="9525">
            <a:noFill/>
          </a:ln>
        </p:spPr>
        <p:txBody>
          <a:bodyPr/>
          <a:p>
            <a:pPr marL="342900" indent="-342900" algn="l">
              <a:lnSpc>
                <a:spcPct val="150000"/>
              </a:lnSpc>
              <a:spcBef>
                <a:spcPts val="600"/>
              </a:spcBef>
              <a:buChar char="•"/>
            </a:pPr>
            <a:r>
              <a:rPr lang="zh-CN" altLang="en-US" sz="2000" b="1" dirty="0">
                <a:latin typeface="Times New Roman" pitchFamily="18" charset="0"/>
              </a:rPr>
              <a:t>保留站组织</a:t>
            </a:r>
            <a:endParaRPr lang="zh-CN" altLang="en-US" sz="2000" b="1" dirty="0">
              <a:latin typeface="Times New Roman" pitchFamily="18" charset="0"/>
            </a:endParaRPr>
          </a:p>
          <a:p>
            <a:pPr marL="742950" lvl="1" indent="-285750" algn="l">
              <a:lnSpc>
                <a:spcPct val="150000"/>
              </a:lnSpc>
              <a:spcBef>
                <a:spcPts val="600"/>
              </a:spcBef>
              <a:buChar char="•"/>
            </a:pPr>
            <a:r>
              <a:rPr lang="zh-CN" altLang="en-US" sz="1600" b="1" dirty="0">
                <a:latin typeface="Times New Roman" pitchFamily="18" charset="0"/>
              </a:rPr>
              <a:t>独立保留站：每个功能部件一个保留站</a:t>
            </a:r>
            <a:endParaRPr lang="zh-CN" altLang="en-US" sz="1600" b="1" dirty="0">
              <a:latin typeface="Times New Roman" pitchFamily="18" charset="0"/>
            </a:endParaRPr>
          </a:p>
          <a:p>
            <a:pPr marL="742950" lvl="1" indent="-285750" algn="l">
              <a:lnSpc>
                <a:spcPct val="150000"/>
              </a:lnSpc>
              <a:spcBef>
                <a:spcPts val="600"/>
              </a:spcBef>
              <a:buChar char="•"/>
            </a:pPr>
            <a:r>
              <a:rPr lang="zh-CN" altLang="en-US" sz="1600" b="1" dirty="0">
                <a:latin typeface="Times New Roman" pitchFamily="18" charset="0"/>
              </a:rPr>
              <a:t>分组保留站：多个功能部件共享保留站</a:t>
            </a:r>
            <a:endParaRPr lang="zh-CN" altLang="en-US" sz="1600" b="1" dirty="0">
              <a:latin typeface="Times New Roman" pitchFamily="18" charset="0"/>
            </a:endParaRPr>
          </a:p>
          <a:p>
            <a:pPr marL="742950" lvl="1" indent="-285750" algn="l">
              <a:lnSpc>
                <a:spcPct val="150000"/>
              </a:lnSpc>
              <a:spcBef>
                <a:spcPts val="600"/>
              </a:spcBef>
              <a:buChar char="•"/>
            </a:pPr>
            <a:r>
              <a:rPr lang="zh-CN" altLang="en-US" sz="1600" b="1" dirty="0">
                <a:latin typeface="Times New Roman" pitchFamily="18" charset="0"/>
              </a:rPr>
              <a:t>全局保留站：所有功能部件共享保留站</a:t>
            </a:r>
            <a:endParaRPr lang="zh-CN" altLang="en-US" sz="1600" b="1" dirty="0">
              <a:solidFill>
                <a:srgbClr val="FF3300"/>
              </a:solidFill>
              <a:latin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5"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056" name="Rectangle 2"/>
          <p:cNvSpPr>
            <a:spLocks noGrp="1"/>
          </p:cNvSpPr>
          <p:nvPr>
            <p:ph type="title"/>
          </p:nvPr>
        </p:nvSpPr>
        <p:spPr>
          <a:xfrm>
            <a:off x="914400" y="101600"/>
            <a:ext cx="10361613" cy="585788"/>
          </a:xfrm>
        </p:spPr>
        <p:txBody>
          <a:bodyPr vert="horz" wrap="square" lIns="91440" tIns="45720" rIns="91440" bIns="45720" anchor="ctr" anchorCtr="0"/>
          <a:p>
            <a:pPr eaLnBrk="1" hangingPunct="1"/>
            <a:r>
              <a:rPr lang="zh-CN" altLang="en-US" dirty="0"/>
              <a:t>独立保留站</a:t>
            </a:r>
            <a:endParaRPr lang="zh-CN" altLang="en-US" dirty="0"/>
          </a:p>
        </p:txBody>
      </p:sp>
      <p:sp>
        <p:nvSpPr>
          <p:cNvPr id="2057" name="Rectangle 45"/>
          <p:cNvSpPr>
            <a:spLocks noGrp="1"/>
          </p:cNvSpPr>
          <p:nvPr>
            <p:ph idx="1"/>
          </p:nvPr>
        </p:nvSpPr>
        <p:spPr>
          <a:xfrm>
            <a:off x="211455" y="1163955"/>
            <a:ext cx="7990840" cy="5235575"/>
          </a:xfrm>
        </p:spPr>
        <p:txBody>
          <a:bodyPr vert="horz" wrap="square" lIns="91440" tIns="45720" rIns="91440" bIns="45720" anchor="t" anchorCtr="0"/>
          <a:p>
            <a:pPr eaLnBrk="1" hangingPunct="1">
              <a:lnSpc>
                <a:spcPct val="150000"/>
              </a:lnSpc>
            </a:pPr>
            <a:r>
              <a:rPr lang="zh-CN" altLang="en-US" dirty="0"/>
              <a:t>每个功能部件都有自己的保留站</a:t>
            </a:r>
            <a:endParaRPr lang="zh-CN" altLang="en-US" dirty="0"/>
          </a:p>
          <a:p>
            <a:pPr lvl="1" eaLnBrk="1" hangingPunct="1">
              <a:lnSpc>
                <a:spcPct val="150000"/>
              </a:lnSpc>
            </a:pPr>
            <a:r>
              <a:rPr lang="zh-CN" altLang="en-US" dirty="0"/>
              <a:t>每个保留站项数较少，只要一个写入端口一个读出端口，输出选择比较简单</a:t>
            </a:r>
            <a:endParaRPr lang="zh-CN" altLang="en-US" dirty="0"/>
          </a:p>
          <a:p>
            <a:pPr lvl="1" eaLnBrk="1" hangingPunct="1">
              <a:lnSpc>
                <a:spcPct val="150000"/>
              </a:lnSpc>
            </a:pPr>
            <a:r>
              <a:rPr lang="zh-CN" altLang="en-US" dirty="0"/>
              <a:t>保留站利用率低，可能忙的忙死甚至引起堵塞，闲的闲死</a:t>
            </a:r>
            <a:endParaRPr lang="zh-CN" altLang="en-US" dirty="0"/>
          </a:p>
          <a:p>
            <a:pPr lvl="1" eaLnBrk="1" hangingPunct="1">
              <a:lnSpc>
                <a:spcPct val="150000"/>
              </a:lnSpc>
            </a:pPr>
            <a:r>
              <a:rPr lang="zh-CN" altLang="en-US" dirty="0"/>
              <a:t>结果总线送到所有保留站，连线长，结果写回可能需要单独一拍</a:t>
            </a:r>
            <a:endParaRPr lang="zh-CN" altLang="en-US" dirty="0"/>
          </a:p>
          <a:p>
            <a:pPr lvl="1" eaLnBrk="1" hangingPunct="1">
              <a:lnSpc>
                <a:spcPct val="150000"/>
              </a:lnSpc>
            </a:pPr>
            <a:r>
              <a:rPr lang="en-US" altLang="zh-CN" dirty="0"/>
              <a:t>CDC6600</a:t>
            </a:r>
            <a:r>
              <a:rPr lang="zh-CN" altLang="zh-CN" dirty="0"/>
              <a:t>每个</a:t>
            </a:r>
            <a:r>
              <a:rPr lang="en-US" altLang="zh-CN" dirty="0"/>
              <a:t>EU</a:t>
            </a:r>
            <a:r>
              <a:rPr lang="zh-CN" altLang="zh-CN" dirty="0"/>
              <a:t>一项保留站</a:t>
            </a:r>
            <a:endParaRPr lang="zh-CN" altLang="zh-CN" dirty="0"/>
          </a:p>
          <a:p>
            <a:pPr lvl="1" eaLnBrk="1" hangingPunct="1">
              <a:lnSpc>
                <a:spcPct val="150000"/>
              </a:lnSpc>
            </a:pPr>
            <a:r>
              <a:rPr lang="en-US" altLang="zh-CN" dirty="0"/>
              <a:t>IBM360/91</a:t>
            </a:r>
            <a:r>
              <a:rPr lang="zh-CN" altLang="zh-CN" dirty="0"/>
              <a:t>中浮点加减部件两项，浮点乘法部件3项保留站</a:t>
            </a:r>
            <a:endParaRPr lang="zh-CN" altLang="en-US" dirty="0"/>
          </a:p>
          <a:p>
            <a:pPr lvl="1" eaLnBrk="1" hangingPunct="1">
              <a:lnSpc>
                <a:spcPct val="150000"/>
              </a:lnSpc>
            </a:pPr>
            <a:r>
              <a:rPr lang="en-US" altLang="zh-CN" dirty="0"/>
              <a:t>PowerPC 620</a:t>
            </a:r>
            <a:r>
              <a:rPr lang="zh-CN" altLang="en-US" dirty="0"/>
              <a:t>三个定点一个浮点部件每个两项保留站</a:t>
            </a:r>
            <a:endParaRPr lang="zh-CN" altLang="en-US" dirty="0"/>
          </a:p>
          <a:p>
            <a:pPr lvl="1" eaLnBrk="1" hangingPunct="1">
              <a:lnSpc>
                <a:spcPct val="150000"/>
              </a:lnSpc>
            </a:pPr>
            <a:r>
              <a:rPr lang="zh-CN" altLang="en-US" dirty="0"/>
              <a:t>龙芯</a:t>
            </a:r>
            <a:r>
              <a:rPr lang="en-US" altLang="zh-CN" dirty="0"/>
              <a:t>1</a:t>
            </a:r>
            <a:r>
              <a:rPr lang="zh-CN" altLang="en-US" dirty="0"/>
              <a:t>号三个定点两个浮点部件每个两项保留站</a:t>
            </a:r>
            <a:endParaRPr lang="zh-CN" altLang="en-US" dirty="0"/>
          </a:p>
        </p:txBody>
      </p:sp>
      <p:grpSp>
        <p:nvGrpSpPr>
          <p:cNvPr id="2058" name="Group 46"/>
          <p:cNvGrpSpPr/>
          <p:nvPr/>
        </p:nvGrpSpPr>
        <p:grpSpPr>
          <a:xfrm>
            <a:off x="8315325" y="3506788"/>
            <a:ext cx="3875088" cy="2963862"/>
            <a:chOff x="1519" y="1150"/>
            <a:chExt cx="2470" cy="2832"/>
          </a:xfrm>
        </p:grpSpPr>
        <p:sp>
          <p:nvSpPr>
            <p:cNvPr id="2059" name="Text Box 47"/>
            <p:cNvSpPr txBox="1"/>
            <p:nvPr/>
          </p:nvSpPr>
          <p:spPr>
            <a:xfrm>
              <a:off x="1620" y="115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2060" name="Text Box 48"/>
            <p:cNvSpPr txBox="1"/>
            <p:nvPr/>
          </p:nvSpPr>
          <p:spPr>
            <a:xfrm>
              <a:off x="2246" y="1152"/>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2061" name="Text Box 49"/>
            <p:cNvSpPr txBox="1"/>
            <p:nvPr/>
          </p:nvSpPr>
          <p:spPr>
            <a:xfrm>
              <a:off x="2867" y="1156"/>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2062" name="Text Box 50"/>
            <p:cNvSpPr txBox="1"/>
            <p:nvPr/>
          </p:nvSpPr>
          <p:spPr>
            <a:xfrm>
              <a:off x="3485" y="115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2063" name="Text Box 51"/>
            <p:cNvSpPr txBox="1"/>
            <p:nvPr/>
          </p:nvSpPr>
          <p:spPr>
            <a:xfrm>
              <a:off x="2204" y="2798"/>
              <a:ext cx="1091" cy="377"/>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译  码</a:t>
              </a:r>
              <a:endParaRPr lang="zh-CN" altLang="en-US" sz="1000" b="1" dirty="0">
                <a:latin typeface="Times New Roman" pitchFamily="18" charset="0"/>
              </a:endParaRPr>
            </a:p>
          </p:txBody>
        </p:sp>
        <p:sp>
          <p:nvSpPr>
            <p:cNvPr id="2064" name="Line 52"/>
            <p:cNvSpPr/>
            <p:nvPr/>
          </p:nvSpPr>
          <p:spPr>
            <a:xfrm flipV="1">
              <a:off x="2758" y="3168"/>
              <a:ext cx="1" cy="196"/>
            </a:xfrm>
            <a:prstGeom prst="line">
              <a:avLst/>
            </a:prstGeom>
            <a:ln w="9525" cap="flat" cmpd="sng">
              <a:solidFill>
                <a:schemeClr val="tx1"/>
              </a:solidFill>
              <a:prstDash val="solid"/>
              <a:headEnd type="none" w="med" len="med"/>
              <a:tailEnd type="triangle" w="med" len="med"/>
            </a:ln>
          </p:spPr>
        </p:sp>
        <p:grpSp>
          <p:nvGrpSpPr>
            <p:cNvPr id="2065" name="Group 53"/>
            <p:cNvGrpSpPr/>
            <p:nvPr/>
          </p:nvGrpSpPr>
          <p:grpSpPr>
            <a:xfrm>
              <a:off x="1846" y="2521"/>
              <a:ext cx="1894" cy="271"/>
              <a:chOff x="1854" y="1414"/>
              <a:chExt cx="1894" cy="271"/>
            </a:xfrm>
          </p:grpSpPr>
          <p:sp>
            <p:nvSpPr>
              <p:cNvPr id="2088" name="Line 54"/>
              <p:cNvSpPr/>
              <p:nvPr/>
            </p:nvSpPr>
            <p:spPr>
              <a:xfrm>
                <a:off x="1854" y="1565"/>
                <a:ext cx="1894" cy="0"/>
              </a:xfrm>
              <a:prstGeom prst="line">
                <a:avLst/>
              </a:prstGeom>
              <a:ln w="9525" cap="flat" cmpd="sng">
                <a:solidFill>
                  <a:schemeClr val="tx1"/>
                </a:solidFill>
                <a:prstDash val="solid"/>
                <a:headEnd type="none" w="med" len="med"/>
                <a:tailEnd type="none" w="med" len="med"/>
              </a:ln>
            </p:spPr>
          </p:sp>
          <p:sp>
            <p:nvSpPr>
              <p:cNvPr id="2089" name="Line 55"/>
              <p:cNvSpPr/>
              <p:nvPr/>
            </p:nvSpPr>
            <p:spPr>
              <a:xfrm flipH="1" flipV="1">
                <a:off x="2759" y="1568"/>
                <a:ext cx="1" cy="117"/>
              </a:xfrm>
              <a:prstGeom prst="line">
                <a:avLst/>
              </a:prstGeom>
              <a:ln w="9525" cap="flat" cmpd="sng">
                <a:solidFill>
                  <a:schemeClr val="tx1"/>
                </a:solidFill>
                <a:prstDash val="solid"/>
                <a:headEnd type="none" w="med" len="med"/>
                <a:tailEnd type="none" w="med" len="med"/>
              </a:ln>
            </p:spPr>
          </p:sp>
          <p:sp>
            <p:nvSpPr>
              <p:cNvPr id="2090" name="Line 56"/>
              <p:cNvSpPr/>
              <p:nvPr/>
            </p:nvSpPr>
            <p:spPr>
              <a:xfrm flipV="1">
                <a:off x="1855" y="1417"/>
                <a:ext cx="0" cy="149"/>
              </a:xfrm>
              <a:prstGeom prst="line">
                <a:avLst/>
              </a:prstGeom>
              <a:ln w="9525" cap="flat" cmpd="sng">
                <a:solidFill>
                  <a:schemeClr val="tx1"/>
                </a:solidFill>
                <a:prstDash val="solid"/>
                <a:headEnd type="none" w="med" len="med"/>
                <a:tailEnd type="triangle" w="med" len="med"/>
              </a:ln>
            </p:spPr>
          </p:sp>
          <p:sp>
            <p:nvSpPr>
              <p:cNvPr id="2091" name="Line 57"/>
              <p:cNvSpPr/>
              <p:nvPr/>
            </p:nvSpPr>
            <p:spPr>
              <a:xfrm flipV="1">
                <a:off x="2474" y="1419"/>
                <a:ext cx="0" cy="149"/>
              </a:xfrm>
              <a:prstGeom prst="line">
                <a:avLst/>
              </a:prstGeom>
              <a:ln w="9525" cap="flat" cmpd="sng">
                <a:solidFill>
                  <a:schemeClr val="tx1"/>
                </a:solidFill>
                <a:prstDash val="solid"/>
                <a:headEnd type="none" w="med" len="med"/>
                <a:tailEnd type="triangle" w="med" len="med"/>
              </a:ln>
            </p:spPr>
          </p:sp>
          <p:sp>
            <p:nvSpPr>
              <p:cNvPr id="2092" name="Line 58"/>
              <p:cNvSpPr/>
              <p:nvPr/>
            </p:nvSpPr>
            <p:spPr>
              <a:xfrm flipV="1">
                <a:off x="3099" y="1414"/>
                <a:ext cx="0" cy="149"/>
              </a:xfrm>
              <a:prstGeom prst="line">
                <a:avLst/>
              </a:prstGeom>
              <a:ln w="9525" cap="flat" cmpd="sng">
                <a:solidFill>
                  <a:schemeClr val="tx1"/>
                </a:solidFill>
                <a:prstDash val="solid"/>
                <a:headEnd type="none" w="med" len="med"/>
                <a:tailEnd type="triangle" w="med" len="med"/>
              </a:ln>
            </p:spPr>
          </p:sp>
          <p:sp>
            <p:nvSpPr>
              <p:cNvPr id="2093" name="Line 59"/>
              <p:cNvSpPr/>
              <p:nvPr/>
            </p:nvSpPr>
            <p:spPr>
              <a:xfrm flipV="1">
                <a:off x="3741" y="1417"/>
                <a:ext cx="0" cy="149"/>
              </a:xfrm>
              <a:prstGeom prst="line">
                <a:avLst/>
              </a:prstGeom>
              <a:ln w="9525" cap="flat" cmpd="sng">
                <a:solidFill>
                  <a:schemeClr val="tx1"/>
                </a:solidFill>
                <a:prstDash val="solid"/>
                <a:headEnd type="none" w="med" len="med"/>
                <a:tailEnd type="triangle" w="med" len="med"/>
              </a:ln>
            </p:spPr>
          </p:sp>
        </p:grpSp>
        <p:sp>
          <p:nvSpPr>
            <p:cNvPr id="2066" name="Line 60"/>
            <p:cNvSpPr/>
            <p:nvPr/>
          </p:nvSpPr>
          <p:spPr>
            <a:xfrm flipV="1">
              <a:off x="2761" y="3732"/>
              <a:ext cx="0" cy="250"/>
            </a:xfrm>
            <a:prstGeom prst="line">
              <a:avLst/>
            </a:prstGeom>
            <a:ln w="9525" cap="flat" cmpd="sng">
              <a:solidFill>
                <a:schemeClr val="tx1"/>
              </a:solidFill>
              <a:prstDash val="solid"/>
              <a:headEnd type="none" w="med" len="med"/>
              <a:tailEnd type="triangle" w="med" len="med"/>
            </a:ln>
          </p:spPr>
        </p:sp>
        <p:sp>
          <p:nvSpPr>
            <p:cNvPr id="2067" name="Line 61"/>
            <p:cNvSpPr/>
            <p:nvPr/>
          </p:nvSpPr>
          <p:spPr>
            <a:xfrm flipV="1">
              <a:off x="3706" y="1422"/>
              <a:ext cx="1" cy="219"/>
            </a:xfrm>
            <a:prstGeom prst="line">
              <a:avLst/>
            </a:prstGeom>
            <a:ln w="9525" cap="flat" cmpd="sng">
              <a:solidFill>
                <a:schemeClr val="tx1"/>
              </a:solidFill>
              <a:prstDash val="solid"/>
              <a:headEnd type="none" w="med" len="med"/>
              <a:tailEnd type="triangle" w="med" len="med"/>
            </a:ln>
          </p:spPr>
        </p:sp>
        <p:graphicFrame>
          <p:nvGraphicFramePr>
            <p:cNvPr id="2050" name="Object 4"/>
            <p:cNvGraphicFramePr/>
            <p:nvPr/>
          </p:nvGraphicFramePr>
          <p:xfrm>
            <a:off x="2112" y="3366"/>
            <a:ext cx="1285" cy="561"/>
          </p:xfrm>
          <a:graphic>
            <a:graphicData uri="http://schemas.openxmlformats.org/presentationml/2006/ole">
              <mc:AlternateContent xmlns:mc="http://schemas.openxmlformats.org/markup-compatibility/2006">
                <mc:Choice xmlns:v="urn:schemas-microsoft-com:vml" Requires="v">
                  <p:oleObj spid="_x0000_s3086" name="" r:id="rId1" imgW="2068195" imgH="1144270" progId="Word.Document.8">
                    <p:embed/>
                  </p:oleObj>
                </mc:Choice>
                <mc:Fallback>
                  <p:oleObj name="" r:id="rId1" imgW="2068195" imgH="1144270" progId="Word.Document.8">
                    <p:embed/>
                    <p:pic>
                      <p:nvPicPr>
                        <p:cNvPr id="0" name="图片 3085"/>
                        <p:cNvPicPr/>
                        <p:nvPr/>
                      </p:nvPicPr>
                      <p:blipFill>
                        <a:blip r:embed="rId2"/>
                        <a:stretch>
                          <a:fillRect/>
                        </a:stretch>
                      </p:blipFill>
                      <p:spPr>
                        <a:xfrm>
                          <a:off x="2112" y="3366"/>
                          <a:ext cx="1285" cy="561"/>
                        </a:xfrm>
                        <a:prstGeom prst="rect">
                          <a:avLst/>
                        </a:prstGeom>
                        <a:noFill/>
                        <a:ln w="38100">
                          <a:noFill/>
                          <a:miter/>
                        </a:ln>
                      </p:spPr>
                    </p:pic>
                  </p:oleObj>
                </mc:Fallback>
              </mc:AlternateContent>
            </a:graphicData>
          </a:graphic>
        </p:graphicFrame>
        <p:sp>
          <p:nvSpPr>
            <p:cNvPr id="2068" name="Text Box 63"/>
            <p:cNvSpPr txBox="1"/>
            <p:nvPr/>
          </p:nvSpPr>
          <p:spPr>
            <a:xfrm>
              <a:off x="3475" y="1655"/>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2069" name="Line 64"/>
            <p:cNvSpPr/>
            <p:nvPr/>
          </p:nvSpPr>
          <p:spPr>
            <a:xfrm flipV="1">
              <a:off x="3712" y="1936"/>
              <a:ext cx="0" cy="204"/>
            </a:xfrm>
            <a:prstGeom prst="line">
              <a:avLst/>
            </a:prstGeom>
            <a:ln w="9525" cap="flat" cmpd="sng">
              <a:solidFill>
                <a:schemeClr val="tx1"/>
              </a:solidFill>
              <a:prstDash val="solid"/>
              <a:headEnd type="none" w="med" len="med"/>
              <a:tailEnd type="triangle" w="med" len="med"/>
            </a:ln>
          </p:spPr>
        </p:sp>
        <p:sp>
          <p:nvSpPr>
            <p:cNvPr id="2070" name="Text Box 65"/>
            <p:cNvSpPr txBox="1"/>
            <p:nvPr/>
          </p:nvSpPr>
          <p:spPr>
            <a:xfrm>
              <a:off x="2867" y="1660"/>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2071" name="Line 66"/>
            <p:cNvSpPr/>
            <p:nvPr/>
          </p:nvSpPr>
          <p:spPr>
            <a:xfrm flipV="1">
              <a:off x="3104" y="1941"/>
              <a:ext cx="0" cy="204"/>
            </a:xfrm>
            <a:prstGeom prst="line">
              <a:avLst/>
            </a:prstGeom>
            <a:ln w="9525" cap="flat" cmpd="sng">
              <a:solidFill>
                <a:schemeClr val="tx1"/>
              </a:solidFill>
              <a:prstDash val="solid"/>
              <a:headEnd type="none" w="med" len="med"/>
              <a:tailEnd type="triangle" w="med" len="med"/>
            </a:ln>
          </p:spPr>
        </p:sp>
        <p:sp>
          <p:nvSpPr>
            <p:cNvPr id="2072" name="Text Box 67"/>
            <p:cNvSpPr txBox="1"/>
            <p:nvPr/>
          </p:nvSpPr>
          <p:spPr>
            <a:xfrm>
              <a:off x="2243" y="1656"/>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2073" name="Line 68"/>
            <p:cNvSpPr/>
            <p:nvPr/>
          </p:nvSpPr>
          <p:spPr>
            <a:xfrm flipV="1">
              <a:off x="2480" y="1937"/>
              <a:ext cx="0" cy="204"/>
            </a:xfrm>
            <a:prstGeom prst="line">
              <a:avLst/>
            </a:prstGeom>
            <a:ln w="9525" cap="flat" cmpd="sng">
              <a:solidFill>
                <a:schemeClr val="tx1"/>
              </a:solidFill>
              <a:prstDash val="solid"/>
              <a:headEnd type="none" w="med" len="med"/>
              <a:tailEnd type="triangle" w="med" len="med"/>
            </a:ln>
          </p:spPr>
        </p:sp>
        <p:sp>
          <p:nvSpPr>
            <p:cNvPr id="2074" name="Text Box 69"/>
            <p:cNvSpPr txBox="1"/>
            <p:nvPr/>
          </p:nvSpPr>
          <p:spPr>
            <a:xfrm>
              <a:off x="1620" y="1657"/>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2075" name="Line 70"/>
            <p:cNvSpPr/>
            <p:nvPr/>
          </p:nvSpPr>
          <p:spPr>
            <a:xfrm flipV="1">
              <a:off x="1857" y="1938"/>
              <a:ext cx="0" cy="204"/>
            </a:xfrm>
            <a:prstGeom prst="line">
              <a:avLst/>
            </a:prstGeom>
            <a:ln w="9525" cap="flat" cmpd="sng">
              <a:solidFill>
                <a:schemeClr val="tx1"/>
              </a:solidFill>
              <a:prstDash val="solid"/>
              <a:headEnd type="none" w="med" len="med"/>
              <a:tailEnd type="triangle" w="med" len="med"/>
            </a:ln>
          </p:spPr>
        </p:sp>
        <p:sp>
          <p:nvSpPr>
            <p:cNvPr id="2076" name="Line 71"/>
            <p:cNvSpPr/>
            <p:nvPr/>
          </p:nvSpPr>
          <p:spPr>
            <a:xfrm flipV="1">
              <a:off x="1854" y="1424"/>
              <a:ext cx="1" cy="219"/>
            </a:xfrm>
            <a:prstGeom prst="line">
              <a:avLst/>
            </a:prstGeom>
            <a:ln w="9525" cap="flat" cmpd="sng">
              <a:solidFill>
                <a:schemeClr val="tx1"/>
              </a:solidFill>
              <a:prstDash val="solid"/>
              <a:headEnd type="none" w="med" len="med"/>
              <a:tailEnd type="triangle" w="med" len="med"/>
            </a:ln>
          </p:spPr>
        </p:sp>
        <p:sp>
          <p:nvSpPr>
            <p:cNvPr id="2077" name="Line 72"/>
            <p:cNvSpPr/>
            <p:nvPr/>
          </p:nvSpPr>
          <p:spPr>
            <a:xfrm flipV="1">
              <a:off x="2504" y="1427"/>
              <a:ext cx="1" cy="219"/>
            </a:xfrm>
            <a:prstGeom prst="line">
              <a:avLst/>
            </a:prstGeom>
            <a:ln w="9525" cap="flat" cmpd="sng">
              <a:solidFill>
                <a:schemeClr val="tx1"/>
              </a:solidFill>
              <a:prstDash val="solid"/>
              <a:headEnd type="none" w="med" len="med"/>
              <a:tailEnd type="triangle" w="med" len="med"/>
            </a:ln>
          </p:spPr>
        </p:sp>
        <p:sp>
          <p:nvSpPr>
            <p:cNvPr id="2078" name="Line 73"/>
            <p:cNvSpPr/>
            <p:nvPr/>
          </p:nvSpPr>
          <p:spPr>
            <a:xfrm flipH="1" flipV="1">
              <a:off x="3106" y="1422"/>
              <a:ext cx="7" cy="227"/>
            </a:xfrm>
            <a:prstGeom prst="line">
              <a:avLst/>
            </a:prstGeom>
            <a:ln w="9525" cap="flat" cmpd="sng">
              <a:solidFill>
                <a:schemeClr val="tx1"/>
              </a:solidFill>
              <a:prstDash val="solid"/>
              <a:headEnd type="none" w="med" len="med"/>
              <a:tailEnd type="triangle" w="med" len="med"/>
            </a:ln>
          </p:spPr>
        </p:sp>
        <p:sp>
          <p:nvSpPr>
            <p:cNvPr id="2079" name="Text Box 74"/>
            <p:cNvSpPr txBox="1"/>
            <p:nvPr/>
          </p:nvSpPr>
          <p:spPr>
            <a:xfrm>
              <a:off x="2479" y="3507"/>
              <a:ext cx="554" cy="146"/>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a:t>
              </a:r>
              <a:endParaRPr lang="zh-CN" altLang="en-US" sz="1000" b="1" dirty="0">
                <a:latin typeface="Times New Roman" pitchFamily="18" charset="0"/>
              </a:endParaRPr>
            </a:p>
          </p:txBody>
        </p:sp>
        <p:grpSp>
          <p:nvGrpSpPr>
            <p:cNvPr id="2080" name="Group 75"/>
            <p:cNvGrpSpPr/>
            <p:nvPr/>
          </p:nvGrpSpPr>
          <p:grpSpPr>
            <a:xfrm>
              <a:off x="3373" y="2143"/>
              <a:ext cx="616" cy="483"/>
              <a:chOff x="3405" y="2143"/>
              <a:chExt cx="616" cy="483"/>
            </a:xfrm>
          </p:grpSpPr>
          <p:graphicFrame>
            <p:nvGraphicFramePr>
              <p:cNvPr id="2054" name="Object 8"/>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7" name="" r:id="rId3" imgW="984250" imgH="929640" progId="Word.Document.8">
                      <p:embed/>
                    </p:oleObj>
                  </mc:Choice>
                  <mc:Fallback>
                    <p:oleObj name="" r:id="rId3" imgW="984250" imgH="929640" progId="Word.Document.8">
                      <p:embed/>
                      <p:pic>
                        <p:nvPicPr>
                          <p:cNvPr id="0" name="图片 3086"/>
                          <p:cNvPicPr/>
                          <p:nvPr/>
                        </p:nvPicPr>
                        <p:blipFill>
                          <a:blip r:embed="rId4"/>
                          <a:stretch>
                            <a:fillRect/>
                          </a:stretch>
                        </p:blipFill>
                        <p:spPr>
                          <a:xfrm>
                            <a:off x="3405" y="2143"/>
                            <a:ext cx="616" cy="483"/>
                          </a:xfrm>
                          <a:prstGeom prst="rect">
                            <a:avLst/>
                          </a:prstGeom>
                          <a:noFill/>
                          <a:ln w="38100">
                            <a:noFill/>
                            <a:miter/>
                          </a:ln>
                        </p:spPr>
                      </p:pic>
                    </p:oleObj>
                  </mc:Fallback>
                </mc:AlternateContent>
              </a:graphicData>
            </a:graphic>
          </p:graphicFrame>
          <p:sp>
            <p:nvSpPr>
              <p:cNvPr id="2087" name="Text Box 77"/>
              <p:cNvSpPr txBox="1"/>
              <p:nvPr/>
            </p:nvSpPr>
            <p:spPr>
              <a:xfrm>
                <a:off x="3534" y="2288"/>
                <a:ext cx="421"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000" b="1" dirty="0">
                  <a:latin typeface="Times New Roman" pitchFamily="18" charset="0"/>
                </a:endParaRPr>
              </a:p>
            </p:txBody>
          </p:sp>
        </p:grpSp>
        <p:grpSp>
          <p:nvGrpSpPr>
            <p:cNvPr id="2081" name="Group 78"/>
            <p:cNvGrpSpPr/>
            <p:nvPr/>
          </p:nvGrpSpPr>
          <p:grpSpPr>
            <a:xfrm>
              <a:off x="2776" y="2145"/>
              <a:ext cx="616" cy="483"/>
              <a:chOff x="3405" y="2143"/>
              <a:chExt cx="616" cy="483"/>
            </a:xfrm>
          </p:grpSpPr>
          <p:graphicFrame>
            <p:nvGraphicFramePr>
              <p:cNvPr id="2053" name="Object 7"/>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8" name="" r:id="rId5" imgW="984250" imgH="929640" progId="Word.Document.8">
                      <p:embed/>
                    </p:oleObj>
                  </mc:Choice>
                  <mc:Fallback>
                    <p:oleObj name="" r:id="rId5" imgW="984250" imgH="929640" progId="Word.Document.8">
                      <p:embed/>
                      <p:pic>
                        <p:nvPicPr>
                          <p:cNvPr id="0" name="图片 3087"/>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2086" name="Text Box 80"/>
              <p:cNvSpPr txBox="1"/>
              <p:nvPr/>
            </p:nvSpPr>
            <p:spPr>
              <a:xfrm>
                <a:off x="3533" y="2286"/>
                <a:ext cx="421"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nvGrpSpPr>
            <p:cNvPr id="2082" name="Group 81"/>
            <p:cNvGrpSpPr/>
            <p:nvPr/>
          </p:nvGrpSpPr>
          <p:grpSpPr>
            <a:xfrm>
              <a:off x="2146" y="2140"/>
              <a:ext cx="616" cy="483"/>
              <a:chOff x="3405" y="2143"/>
              <a:chExt cx="616" cy="483"/>
            </a:xfrm>
          </p:grpSpPr>
          <p:graphicFrame>
            <p:nvGraphicFramePr>
              <p:cNvPr id="2052" name="Object 6"/>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89" name="" r:id="rId7" imgW="984250" imgH="929640" progId="Word.Document.8">
                      <p:embed/>
                    </p:oleObj>
                  </mc:Choice>
                  <mc:Fallback>
                    <p:oleObj name="" r:id="rId7" imgW="984250" imgH="929640" progId="Word.Document.8">
                      <p:embed/>
                      <p:pic>
                        <p:nvPicPr>
                          <p:cNvPr id="0" name="图片 3088"/>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2085" name="Text Box 83"/>
              <p:cNvSpPr txBox="1"/>
              <p:nvPr/>
            </p:nvSpPr>
            <p:spPr>
              <a:xfrm>
                <a:off x="3533" y="2288"/>
                <a:ext cx="421"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nvGrpSpPr>
            <p:cNvPr id="2083" name="Group 84"/>
            <p:cNvGrpSpPr/>
            <p:nvPr/>
          </p:nvGrpSpPr>
          <p:grpSpPr>
            <a:xfrm>
              <a:off x="1519" y="2143"/>
              <a:ext cx="616" cy="483"/>
              <a:chOff x="3405" y="2143"/>
              <a:chExt cx="616" cy="483"/>
            </a:xfrm>
          </p:grpSpPr>
          <p:graphicFrame>
            <p:nvGraphicFramePr>
              <p:cNvPr id="2051" name="Object 5"/>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90" name="" r:id="rId8" imgW="984250" imgH="929640" progId="Word.Document.8">
                      <p:embed/>
                    </p:oleObj>
                  </mc:Choice>
                  <mc:Fallback>
                    <p:oleObj name="" r:id="rId8" imgW="984250" imgH="929640" progId="Word.Document.8">
                      <p:embed/>
                      <p:pic>
                        <p:nvPicPr>
                          <p:cNvPr id="0" name="图片 3089"/>
                          <p:cNvPicPr/>
                          <p:nvPr/>
                        </p:nvPicPr>
                        <p:blipFill>
                          <a:blip r:embed="rId6"/>
                          <a:stretch>
                            <a:fillRect/>
                          </a:stretch>
                        </p:blipFill>
                        <p:spPr>
                          <a:xfrm>
                            <a:off x="3405" y="2143"/>
                            <a:ext cx="616" cy="483"/>
                          </a:xfrm>
                          <a:prstGeom prst="rect">
                            <a:avLst/>
                          </a:prstGeom>
                          <a:noFill/>
                          <a:ln w="38100">
                            <a:noFill/>
                            <a:miter/>
                          </a:ln>
                        </p:spPr>
                      </p:pic>
                    </p:oleObj>
                  </mc:Fallback>
                </mc:AlternateContent>
              </a:graphicData>
            </a:graphic>
          </p:graphicFrame>
          <p:sp>
            <p:nvSpPr>
              <p:cNvPr id="2084" name="Text Box 86"/>
              <p:cNvSpPr txBox="1"/>
              <p:nvPr/>
            </p:nvSpPr>
            <p:spPr>
              <a:xfrm>
                <a:off x="3535" y="2288"/>
                <a:ext cx="423" cy="147"/>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7"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078" name="Rectangle 2"/>
          <p:cNvSpPr>
            <a:spLocks noGrp="1"/>
          </p:cNvSpPr>
          <p:nvPr>
            <p:ph type="title"/>
          </p:nvPr>
        </p:nvSpPr>
        <p:spPr>
          <a:xfrm>
            <a:off x="914400" y="139700"/>
            <a:ext cx="10361613" cy="1143000"/>
          </a:xfrm>
        </p:spPr>
        <p:txBody>
          <a:bodyPr vert="horz" wrap="square" lIns="91440" tIns="45720" rIns="91440" bIns="45720" anchor="ctr" anchorCtr="0"/>
          <a:p>
            <a:pPr eaLnBrk="1" hangingPunct="1"/>
            <a:r>
              <a:rPr lang="zh-CN" altLang="en-US" dirty="0"/>
              <a:t>分组保留站</a:t>
            </a:r>
            <a:endParaRPr lang="zh-CN" altLang="en-US" dirty="0"/>
          </a:p>
        </p:txBody>
      </p:sp>
      <p:sp>
        <p:nvSpPr>
          <p:cNvPr id="3079" name="Rectangle 3"/>
          <p:cNvSpPr>
            <a:spLocks noGrp="1"/>
          </p:cNvSpPr>
          <p:nvPr>
            <p:ph idx="1"/>
          </p:nvPr>
        </p:nvSpPr>
        <p:spPr>
          <a:xfrm>
            <a:off x="208280" y="1344930"/>
            <a:ext cx="7562215" cy="5513070"/>
          </a:xfrm>
        </p:spPr>
        <p:txBody>
          <a:bodyPr vert="horz" wrap="square" lIns="91440" tIns="45720" rIns="91440" bIns="45720" anchor="t" anchorCtr="0"/>
          <a:p>
            <a:pPr eaLnBrk="1" hangingPunct="1">
              <a:lnSpc>
                <a:spcPct val="150000"/>
              </a:lnSpc>
            </a:pPr>
            <a:r>
              <a:rPr lang="zh-CN" altLang="en-US" dirty="0"/>
              <a:t>同组的功能部件共享保留站</a:t>
            </a:r>
            <a:endParaRPr lang="zh-CN" altLang="en-US" dirty="0"/>
          </a:p>
          <a:p>
            <a:pPr lvl="1" eaLnBrk="1" hangingPunct="1">
              <a:lnSpc>
                <a:spcPct val="150000"/>
              </a:lnSpc>
            </a:pPr>
            <a:r>
              <a:rPr lang="zh-CN" altLang="zh-CN" dirty="0"/>
              <a:t>每个保留站项数较多，每个保留站需要多个写入端口多个读出口，保留站读出可能需要单独一拍</a:t>
            </a:r>
            <a:endParaRPr lang="zh-CN" altLang="zh-CN" dirty="0"/>
          </a:p>
          <a:p>
            <a:pPr lvl="1" eaLnBrk="1" hangingPunct="1">
              <a:lnSpc>
                <a:spcPct val="150000"/>
              </a:lnSpc>
            </a:pPr>
            <a:r>
              <a:rPr lang="zh-CN" altLang="zh-CN" dirty="0"/>
              <a:t>保留站效率较高</a:t>
            </a:r>
            <a:endParaRPr lang="zh-CN" altLang="zh-CN" dirty="0"/>
          </a:p>
          <a:p>
            <a:pPr lvl="1" eaLnBrk="1" hangingPunct="1">
              <a:lnSpc>
                <a:spcPct val="150000"/>
              </a:lnSpc>
            </a:pPr>
            <a:r>
              <a:rPr lang="zh-CN" altLang="zh-CN" dirty="0"/>
              <a:t>结果总线不用送到每个功能部件</a:t>
            </a:r>
            <a:endParaRPr lang="zh-CN" altLang="zh-CN" dirty="0"/>
          </a:p>
          <a:p>
            <a:pPr lvl="1" eaLnBrk="1" hangingPunct="1">
              <a:lnSpc>
                <a:spcPct val="150000"/>
              </a:lnSpc>
            </a:pPr>
            <a:r>
              <a:rPr lang="zh-CN" altLang="zh-CN" dirty="0"/>
              <a:t>一般划分时考虑定点、浮点、访存</a:t>
            </a:r>
            <a:endParaRPr lang="zh-CN" altLang="zh-CN" dirty="0"/>
          </a:p>
          <a:p>
            <a:pPr lvl="1" eaLnBrk="1" hangingPunct="1">
              <a:lnSpc>
                <a:spcPct val="150000"/>
              </a:lnSpc>
            </a:pPr>
            <a:r>
              <a:rPr lang="en-US" altLang="zh-CN" dirty="0"/>
              <a:t>R10000</a:t>
            </a:r>
            <a:r>
              <a:rPr lang="zh-CN" altLang="zh-CN" dirty="0"/>
              <a:t>定点、浮点、访存各16项</a:t>
            </a:r>
            <a:endParaRPr lang="zh-CN" altLang="zh-CN" dirty="0"/>
          </a:p>
          <a:p>
            <a:pPr lvl="1" eaLnBrk="1" hangingPunct="1">
              <a:lnSpc>
                <a:spcPct val="150000"/>
              </a:lnSpc>
            </a:pPr>
            <a:r>
              <a:rPr lang="en-US" altLang="zh-CN" dirty="0"/>
              <a:t>Alpha 21264</a:t>
            </a:r>
            <a:r>
              <a:rPr lang="zh-CN" altLang="zh-CN" dirty="0"/>
              <a:t>定点20项、浮点15项</a:t>
            </a:r>
            <a:endParaRPr lang="zh-CN" altLang="zh-CN" dirty="0"/>
          </a:p>
          <a:p>
            <a:pPr lvl="1" eaLnBrk="1" hangingPunct="1">
              <a:lnSpc>
                <a:spcPct val="150000"/>
              </a:lnSpc>
            </a:pPr>
            <a:r>
              <a:rPr lang="en-US" altLang="zh-CN" dirty="0"/>
              <a:t>PA8700</a:t>
            </a:r>
            <a:r>
              <a:rPr lang="zh-CN" altLang="zh-CN" dirty="0"/>
              <a:t>运算和访存各28项，还起到</a:t>
            </a:r>
            <a:r>
              <a:rPr lang="en-US" altLang="zh-CN" dirty="0"/>
              <a:t>ROB</a:t>
            </a:r>
            <a:r>
              <a:rPr lang="zh-CN" altLang="zh-CN" dirty="0"/>
              <a:t>作用</a:t>
            </a:r>
            <a:endParaRPr lang="zh-CN" altLang="zh-CN" dirty="0"/>
          </a:p>
          <a:p>
            <a:pPr lvl="1" eaLnBrk="1" hangingPunct="1">
              <a:lnSpc>
                <a:spcPct val="150000"/>
              </a:lnSpc>
            </a:pPr>
            <a:r>
              <a:rPr lang="en-US" altLang="zh-CN" dirty="0"/>
              <a:t>Godson-2</a:t>
            </a:r>
            <a:r>
              <a:rPr lang="zh-CN" altLang="zh-CN" dirty="0"/>
              <a:t>采用组保留站</a:t>
            </a:r>
            <a:endParaRPr lang="zh-CN" altLang="zh-CN" dirty="0"/>
          </a:p>
        </p:txBody>
      </p:sp>
      <p:grpSp>
        <p:nvGrpSpPr>
          <p:cNvPr id="3080" name="Group 54"/>
          <p:cNvGrpSpPr/>
          <p:nvPr/>
        </p:nvGrpSpPr>
        <p:grpSpPr>
          <a:xfrm>
            <a:off x="8118475" y="1874838"/>
            <a:ext cx="3616325" cy="3073400"/>
            <a:chOff x="1643" y="1485"/>
            <a:chExt cx="2332" cy="2832"/>
          </a:xfrm>
        </p:grpSpPr>
        <p:sp>
          <p:nvSpPr>
            <p:cNvPr id="3081" name="Text Box 55"/>
            <p:cNvSpPr txBox="1"/>
            <p:nvPr/>
          </p:nvSpPr>
          <p:spPr>
            <a:xfrm>
              <a:off x="1643" y="1485"/>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3082" name="Text Box 56"/>
            <p:cNvSpPr txBox="1"/>
            <p:nvPr/>
          </p:nvSpPr>
          <p:spPr>
            <a:xfrm>
              <a:off x="2269" y="1487"/>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3083" name="Text Box 57"/>
            <p:cNvSpPr txBox="1"/>
            <p:nvPr/>
          </p:nvSpPr>
          <p:spPr>
            <a:xfrm>
              <a:off x="2890" y="1491"/>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3084" name="Text Box 58"/>
            <p:cNvSpPr txBox="1"/>
            <p:nvPr/>
          </p:nvSpPr>
          <p:spPr>
            <a:xfrm>
              <a:off x="3508" y="1486"/>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3085" name="Text Box 59"/>
            <p:cNvSpPr txBox="1"/>
            <p:nvPr/>
          </p:nvSpPr>
          <p:spPr>
            <a:xfrm>
              <a:off x="2227" y="3133"/>
              <a:ext cx="1091" cy="377"/>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译  码</a:t>
              </a:r>
              <a:endParaRPr lang="zh-CN" altLang="en-US" sz="1000" b="1" dirty="0">
                <a:latin typeface="Times New Roman" pitchFamily="18" charset="0"/>
              </a:endParaRPr>
            </a:p>
          </p:txBody>
        </p:sp>
        <p:sp>
          <p:nvSpPr>
            <p:cNvPr id="3086" name="Line 60"/>
            <p:cNvSpPr/>
            <p:nvPr/>
          </p:nvSpPr>
          <p:spPr>
            <a:xfrm flipV="1">
              <a:off x="2781" y="3503"/>
              <a:ext cx="1" cy="196"/>
            </a:xfrm>
            <a:prstGeom prst="line">
              <a:avLst/>
            </a:prstGeom>
            <a:ln w="9525" cap="flat" cmpd="sng">
              <a:solidFill>
                <a:schemeClr val="tx1"/>
              </a:solidFill>
              <a:prstDash val="solid"/>
              <a:headEnd type="none" w="med" len="med"/>
              <a:tailEnd type="triangle" w="med" len="med"/>
            </a:ln>
          </p:spPr>
        </p:sp>
        <p:sp>
          <p:nvSpPr>
            <p:cNvPr id="3087" name="Line 61"/>
            <p:cNvSpPr/>
            <p:nvPr/>
          </p:nvSpPr>
          <p:spPr>
            <a:xfrm>
              <a:off x="2165" y="3007"/>
              <a:ext cx="1279" cy="0"/>
            </a:xfrm>
            <a:prstGeom prst="line">
              <a:avLst/>
            </a:prstGeom>
            <a:ln w="9525" cap="flat" cmpd="sng">
              <a:solidFill>
                <a:schemeClr val="tx1"/>
              </a:solidFill>
              <a:prstDash val="solid"/>
              <a:headEnd type="none" w="med" len="med"/>
              <a:tailEnd type="none" w="med" len="med"/>
            </a:ln>
          </p:spPr>
        </p:sp>
        <p:sp>
          <p:nvSpPr>
            <p:cNvPr id="3088" name="Line 62"/>
            <p:cNvSpPr/>
            <p:nvPr/>
          </p:nvSpPr>
          <p:spPr>
            <a:xfrm flipH="1" flipV="1">
              <a:off x="2774" y="3010"/>
              <a:ext cx="1" cy="117"/>
            </a:xfrm>
            <a:prstGeom prst="line">
              <a:avLst/>
            </a:prstGeom>
            <a:ln w="9525" cap="flat" cmpd="sng">
              <a:solidFill>
                <a:schemeClr val="tx1"/>
              </a:solidFill>
              <a:prstDash val="solid"/>
              <a:headEnd type="none" w="med" len="med"/>
              <a:tailEnd type="none" w="med" len="med"/>
            </a:ln>
          </p:spPr>
        </p:sp>
        <p:sp>
          <p:nvSpPr>
            <p:cNvPr id="3089" name="Line 63"/>
            <p:cNvSpPr/>
            <p:nvPr/>
          </p:nvSpPr>
          <p:spPr>
            <a:xfrm flipV="1">
              <a:off x="2166" y="2859"/>
              <a:ext cx="0" cy="149"/>
            </a:xfrm>
            <a:prstGeom prst="line">
              <a:avLst/>
            </a:prstGeom>
            <a:ln w="9525" cap="flat" cmpd="sng">
              <a:solidFill>
                <a:schemeClr val="tx1"/>
              </a:solidFill>
              <a:prstDash val="solid"/>
              <a:headEnd type="none" w="med" len="med"/>
              <a:tailEnd type="triangle" w="med" len="med"/>
            </a:ln>
          </p:spPr>
        </p:sp>
        <p:sp>
          <p:nvSpPr>
            <p:cNvPr id="3090" name="Line 64"/>
            <p:cNvSpPr/>
            <p:nvPr/>
          </p:nvSpPr>
          <p:spPr>
            <a:xfrm flipV="1">
              <a:off x="3444" y="2859"/>
              <a:ext cx="0" cy="149"/>
            </a:xfrm>
            <a:prstGeom prst="line">
              <a:avLst/>
            </a:prstGeom>
            <a:ln w="9525" cap="flat" cmpd="sng">
              <a:solidFill>
                <a:schemeClr val="tx1"/>
              </a:solidFill>
              <a:prstDash val="solid"/>
              <a:headEnd type="none" w="med" len="med"/>
              <a:tailEnd type="triangle" w="med" len="med"/>
            </a:ln>
          </p:spPr>
        </p:sp>
        <p:sp>
          <p:nvSpPr>
            <p:cNvPr id="3091" name="Line 65"/>
            <p:cNvSpPr/>
            <p:nvPr/>
          </p:nvSpPr>
          <p:spPr>
            <a:xfrm flipV="1">
              <a:off x="2784" y="4067"/>
              <a:ext cx="0" cy="250"/>
            </a:xfrm>
            <a:prstGeom prst="line">
              <a:avLst/>
            </a:prstGeom>
            <a:ln w="9525" cap="flat" cmpd="sng">
              <a:solidFill>
                <a:schemeClr val="tx1"/>
              </a:solidFill>
              <a:prstDash val="solid"/>
              <a:headEnd type="none" w="med" len="med"/>
              <a:tailEnd type="triangle" w="med" len="med"/>
            </a:ln>
          </p:spPr>
        </p:sp>
        <p:graphicFrame>
          <p:nvGraphicFramePr>
            <p:cNvPr id="3074" name="Object 4"/>
            <p:cNvGraphicFramePr/>
            <p:nvPr/>
          </p:nvGraphicFramePr>
          <p:xfrm>
            <a:off x="2135" y="3701"/>
            <a:ext cx="1285" cy="561"/>
          </p:xfrm>
          <a:graphic>
            <a:graphicData uri="http://schemas.openxmlformats.org/presentationml/2006/ole">
              <mc:AlternateContent xmlns:mc="http://schemas.openxmlformats.org/markup-compatibility/2006">
                <mc:Choice xmlns:v="urn:schemas-microsoft-com:vml" Requires="v">
                  <p:oleObj spid="_x0000_s2" name="" r:id="rId1" imgW="2068195" imgH="1144270" progId="Word.Document.8">
                    <p:embed/>
                  </p:oleObj>
                </mc:Choice>
                <mc:Fallback>
                  <p:oleObj name="" r:id="rId1" imgW="2068195" imgH="1144270" progId="Word.Document.8">
                    <p:embed/>
                    <p:pic>
                      <p:nvPicPr>
                        <p:cNvPr id="0" name="图片 1"/>
                        <p:cNvPicPr/>
                        <p:nvPr/>
                      </p:nvPicPr>
                      <p:blipFill>
                        <a:blip r:embed="rId2"/>
                        <a:stretch>
                          <a:fillRect/>
                        </a:stretch>
                      </p:blipFill>
                      <p:spPr>
                        <a:xfrm>
                          <a:off x="2135" y="3701"/>
                          <a:ext cx="1285" cy="561"/>
                        </a:xfrm>
                        <a:prstGeom prst="rect">
                          <a:avLst/>
                        </a:prstGeom>
                        <a:noFill/>
                        <a:ln w="38100">
                          <a:noFill/>
                          <a:miter/>
                        </a:ln>
                      </p:spPr>
                    </p:pic>
                  </p:oleObj>
                </mc:Fallback>
              </mc:AlternateContent>
            </a:graphicData>
          </a:graphic>
        </p:graphicFrame>
        <p:sp>
          <p:nvSpPr>
            <p:cNvPr id="3092" name="Text Box 67"/>
            <p:cNvSpPr txBox="1"/>
            <p:nvPr/>
          </p:nvSpPr>
          <p:spPr>
            <a:xfrm>
              <a:off x="3202" y="1995"/>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3093" name="Line 68"/>
            <p:cNvSpPr/>
            <p:nvPr/>
          </p:nvSpPr>
          <p:spPr>
            <a:xfrm flipV="1">
              <a:off x="3439" y="2276"/>
              <a:ext cx="0" cy="204"/>
            </a:xfrm>
            <a:prstGeom prst="line">
              <a:avLst/>
            </a:prstGeom>
            <a:ln w="9525" cap="flat" cmpd="sng">
              <a:solidFill>
                <a:schemeClr val="tx1"/>
              </a:solidFill>
              <a:prstDash val="solid"/>
              <a:headEnd type="none" w="med" len="med"/>
              <a:tailEnd type="triangle" w="med" len="med"/>
            </a:ln>
          </p:spPr>
        </p:sp>
        <p:sp>
          <p:nvSpPr>
            <p:cNvPr id="3094" name="Text Box 69"/>
            <p:cNvSpPr txBox="1"/>
            <p:nvPr/>
          </p:nvSpPr>
          <p:spPr>
            <a:xfrm>
              <a:off x="1930" y="1991"/>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3095" name="Line 70"/>
            <p:cNvSpPr/>
            <p:nvPr/>
          </p:nvSpPr>
          <p:spPr>
            <a:xfrm flipV="1">
              <a:off x="2167" y="2272"/>
              <a:ext cx="0" cy="204"/>
            </a:xfrm>
            <a:prstGeom prst="line">
              <a:avLst/>
            </a:prstGeom>
            <a:ln w="9525" cap="flat" cmpd="sng">
              <a:solidFill>
                <a:schemeClr val="tx1"/>
              </a:solidFill>
              <a:prstDash val="solid"/>
              <a:headEnd type="none" w="med" len="med"/>
              <a:tailEnd type="triangle" w="med" len="med"/>
            </a:ln>
          </p:spPr>
        </p:sp>
        <p:sp>
          <p:nvSpPr>
            <p:cNvPr id="3096" name="Text Box 71"/>
            <p:cNvSpPr txBox="1"/>
            <p:nvPr/>
          </p:nvSpPr>
          <p:spPr>
            <a:xfrm>
              <a:off x="2504" y="3842"/>
              <a:ext cx="553" cy="142"/>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a:t>
              </a:r>
              <a:endParaRPr lang="zh-CN" altLang="en-US" sz="1000" b="1" dirty="0">
                <a:latin typeface="Times New Roman" pitchFamily="18" charset="0"/>
              </a:endParaRPr>
            </a:p>
          </p:txBody>
        </p:sp>
        <p:grpSp>
          <p:nvGrpSpPr>
            <p:cNvPr id="3097" name="Group 72"/>
            <p:cNvGrpSpPr/>
            <p:nvPr/>
          </p:nvGrpSpPr>
          <p:grpSpPr>
            <a:xfrm>
              <a:off x="3111" y="2480"/>
              <a:ext cx="616" cy="483"/>
              <a:chOff x="3405" y="2143"/>
              <a:chExt cx="616" cy="483"/>
            </a:xfrm>
          </p:grpSpPr>
          <p:graphicFrame>
            <p:nvGraphicFramePr>
              <p:cNvPr id="3076" name="Object 6"/>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 name="" r:id="rId3" imgW="984250" imgH="929640" progId="Word.Document.8">
                      <p:embed/>
                    </p:oleObj>
                  </mc:Choice>
                  <mc:Fallback>
                    <p:oleObj name="" r:id="rId3" imgW="984250" imgH="929640" progId="Word.Document.8">
                      <p:embed/>
                      <p:pic>
                        <p:nvPicPr>
                          <p:cNvPr id="0" name="图片 2"/>
                          <p:cNvPicPr/>
                          <p:nvPr/>
                        </p:nvPicPr>
                        <p:blipFill>
                          <a:blip r:embed="rId4"/>
                          <a:stretch>
                            <a:fillRect/>
                          </a:stretch>
                        </p:blipFill>
                        <p:spPr>
                          <a:xfrm>
                            <a:off x="3405" y="2143"/>
                            <a:ext cx="616" cy="483"/>
                          </a:xfrm>
                          <a:prstGeom prst="rect">
                            <a:avLst/>
                          </a:prstGeom>
                          <a:noFill/>
                          <a:ln w="38100">
                            <a:noFill/>
                            <a:miter/>
                          </a:ln>
                        </p:spPr>
                      </p:pic>
                    </p:oleObj>
                  </mc:Fallback>
                </mc:AlternateContent>
              </a:graphicData>
            </a:graphic>
          </p:graphicFrame>
          <p:sp>
            <p:nvSpPr>
              <p:cNvPr id="3110" name="Text Box 74"/>
              <p:cNvSpPr txBox="1"/>
              <p:nvPr/>
            </p:nvSpPr>
            <p:spPr>
              <a:xfrm>
                <a:off x="3534" y="2285"/>
                <a:ext cx="420" cy="142"/>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000" b="1" dirty="0">
                  <a:latin typeface="Times New Roman" pitchFamily="18" charset="0"/>
                </a:endParaRPr>
              </a:p>
            </p:txBody>
          </p:sp>
        </p:grpSp>
        <p:grpSp>
          <p:nvGrpSpPr>
            <p:cNvPr id="3098" name="Group 75"/>
            <p:cNvGrpSpPr/>
            <p:nvPr/>
          </p:nvGrpSpPr>
          <p:grpSpPr>
            <a:xfrm>
              <a:off x="1833" y="2475"/>
              <a:ext cx="616" cy="483"/>
              <a:chOff x="3405" y="2143"/>
              <a:chExt cx="616" cy="483"/>
            </a:xfrm>
          </p:grpSpPr>
          <p:graphicFrame>
            <p:nvGraphicFramePr>
              <p:cNvPr id="3075" name="Object 5"/>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4" name="" r:id="rId5" imgW="984250" imgH="929640" progId="Word.Document.8">
                      <p:embed/>
                    </p:oleObj>
                  </mc:Choice>
                  <mc:Fallback>
                    <p:oleObj name="" r:id="rId5" imgW="984250" imgH="929640" progId="Word.Document.8">
                      <p:embed/>
                      <p:pic>
                        <p:nvPicPr>
                          <p:cNvPr id="0" name="图片 3"/>
                          <p:cNvPicPr/>
                          <p:nvPr/>
                        </p:nvPicPr>
                        <p:blipFill>
                          <a:blip r:embed="rId4"/>
                          <a:stretch>
                            <a:fillRect/>
                          </a:stretch>
                        </p:blipFill>
                        <p:spPr>
                          <a:xfrm>
                            <a:off x="3405" y="2143"/>
                            <a:ext cx="616" cy="483"/>
                          </a:xfrm>
                          <a:prstGeom prst="rect">
                            <a:avLst/>
                          </a:prstGeom>
                          <a:noFill/>
                          <a:ln w="38100">
                            <a:noFill/>
                            <a:miter/>
                          </a:ln>
                        </p:spPr>
                      </p:pic>
                    </p:oleObj>
                  </mc:Fallback>
                </mc:AlternateContent>
              </a:graphicData>
            </a:graphic>
          </p:graphicFrame>
          <p:sp>
            <p:nvSpPr>
              <p:cNvPr id="3109" name="Text Box 77"/>
              <p:cNvSpPr txBox="1"/>
              <p:nvPr/>
            </p:nvSpPr>
            <p:spPr>
              <a:xfrm>
                <a:off x="3534" y="2287"/>
                <a:ext cx="423" cy="142"/>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200" b="1" dirty="0">
                  <a:latin typeface="Times New Roman" pitchFamily="18" charset="0"/>
                </a:endParaRPr>
              </a:p>
            </p:txBody>
          </p:sp>
        </p:grpSp>
        <p:grpSp>
          <p:nvGrpSpPr>
            <p:cNvPr id="3099" name="Group 78"/>
            <p:cNvGrpSpPr/>
            <p:nvPr/>
          </p:nvGrpSpPr>
          <p:grpSpPr>
            <a:xfrm>
              <a:off x="1867" y="1742"/>
              <a:ext cx="644" cy="239"/>
              <a:chOff x="1867" y="1742"/>
              <a:chExt cx="644" cy="239"/>
            </a:xfrm>
          </p:grpSpPr>
          <p:sp>
            <p:nvSpPr>
              <p:cNvPr id="3105" name="Line 79"/>
              <p:cNvSpPr/>
              <p:nvPr/>
            </p:nvSpPr>
            <p:spPr>
              <a:xfrm flipV="1">
                <a:off x="2191" y="1879"/>
                <a:ext cx="1" cy="102"/>
              </a:xfrm>
              <a:prstGeom prst="line">
                <a:avLst/>
              </a:prstGeom>
              <a:ln w="9525" cap="flat" cmpd="sng">
                <a:solidFill>
                  <a:schemeClr val="tx1"/>
                </a:solidFill>
                <a:prstDash val="solid"/>
                <a:headEnd type="none" w="med" len="med"/>
                <a:tailEnd type="none" w="med" len="med"/>
              </a:ln>
            </p:spPr>
          </p:sp>
          <p:sp>
            <p:nvSpPr>
              <p:cNvPr id="3106" name="Line 80"/>
              <p:cNvSpPr/>
              <p:nvPr/>
            </p:nvSpPr>
            <p:spPr>
              <a:xfrm flipH="1" flipV="1">
                <a:off x="1867" y="1742"/>
                <a:ext cx="6" cy="125"/>
              </a:xfrm>
              <a:prstGeom prst="line">
                <a:avLst/>
              </a:prstGeom>
              <a:ln w="9525" cap="flat" cmpd="sng">
                <a:solidFill>
                  <a:schemeClr val="tx1"/>
                </a:solidFill>
                <a:prstDash val="solid"/>
                <a:headEnd type="none" w="med" len="med"/>
                <a:tailEnd type="triangle" w="med" len="med"/>
              </a:ln>
            </p:spPr>
          </p:sp>
          <p:sp>
            <p:nvSpPr>
              <p:cNvPr id="3107" name="Line 81"/>
              <p:cNvSpPr/>
              <p:nvPr/>
            </p:nvSpPr>
            <p:spPr>
              <a:xfrm>
                <a:off x="1870" y="1879"/>
                <a:ext cx="641" cy="0"/>
              </a:xfrm>
              <a:prstGeom prst="line">
                <a:avLst/>
              </a:prstGeom>
              <a:ln w="9525" cap="flat" cmpd="sng">
                <a:solidFill>
                  <a:schemeClr val="tx1"/>
                </a:solidFill>
                <a:prstDash val="solid"/>
                <a:headEnd type="none" w="med" len="med"/>
                <a:tailEnd type="none" w="med" len="med"/>
              </a:ln>
            </p:spPr>
          </p:sp>
          <p:sp>
            <p:nvSpPr>
              <p:cNvPr id="3108" name="Line 82"/>
              <p:cNvSpPr/>
              <p:nvPr/>
            </p:nvSpPr>
            <p:spPr>
              <a:xfrm flipV="1">
                <a:off x="2506" y="1745"/>
                <a:ext cx="2" cy="125"/>
              </a:xfrm>
              <a:prstGeom prst="line">
                <a:avLst/>
              </a:prstGeom>
              <a:ln w="9525" cap="flat" cmpd="sng">
                <a:solidFill>
                  <a:schemeClr val="tx1"/>
                </a:solidFill>
                <a:prstDash val="solid"/>
                <a:headEnd type="none" w="med" len="med"/>
                <a:tailEnd type="triangle" w="med" len="med"/>
              </a:ln>
            </p:spPr>
          </p:sp>
        </p:grpSp>
        <p:grpSp>
          <p:nvGrpSpPr>
            <p:cNvPr id="3100" name="Group 83"/>
            <p:cNvGrpSpPr/>
            <p:nvPr/>
          </p:nvGrpSpPr>
          <p:grpSpPr>
            <a:xfrm>
              <a:off x="3108" y="1752"/>
              <a:ext cx="644" cy="239"/>
              <a:chOff x="1867" y="1742"/>
              <a:chExt cx="644" cy="239"/>
            </a:xfrm>
          </p:grpSpPr>
          <p:sp>
            <p:nvSpPr>
              <p:cNvPr id="3101" name="Line 84"/>
              <p:cNvSpPr/>
              <p:nvPr/>
            </p:nvSpPr>
            <p:spPr>
              <a:xfrm flipV="1">
                <a:off x="2191" y="1879"/>
                <a:ext cx="1" cy="102"/>
              </a:xfrm>
              <a:prstGeom prst="line">
                <a:avLst/>
              </a:prstGeom>
              <a:ln w="9525" cap="flat" cmpd="sng">
                <a:solidFill>
                  <a:schemeClr val="tx1"/>
                </a:solidFill>
                <a:prstDash val="solid"/>
                <a:headEnd type="none" w="med" len="med"/>
                <a:tailEnd type="none" w="med" len="med"/>
              </a:ln>
            </p:spPr>
          </p:sp>
          <p:sp>
            <p:nvSpPr>
              <p:cNvPr id="3102" name="Line 85"/>
              <p:cNvSpPr/>
              <p:nvPr/>
            </p:nvSpPr>
            <p:spPr>
              <a:xfrm flipH="1" flipV="1">
                <a:off x="1867" y="1742"/>
                <a:ext cx="6" cy="125"/>
              </a:xfrm>
              <a:prstGeom prst="line">
                <a:avLst/>
              </a:prstGeom>
              <a:ln w="9525" cap="flat" cmpd="sng">
                <a:solidFill>
                  <a:schemeClr val="tx1"/>
                </a:solidFill>
                <a:prstDash val="solid"/>
                <a:headEnd type="none" w="med" len="med"/>
                <a:tailEnd type="triangle" w="med" len="med"/>
              </a:ln>
            </p:spPr>
          </p:sp>
          <p:sp>
            <p:nvSpPr>
              <p:cNvPr id="3103" name="Line 86"/>
              <p:cNvSpPr/>
              <p:nvPr/>
            </p:nvSpPr>
            <p:spPr>
              <a:xfrm>
                <a:off x="1870" y="1879"/>
                <a:ext cx="641" cy="0"/>
              </a:xfrm>
              <a:prstGeom prst="line">
                <a:avLst/>
              </a:prstGeom>
              <a:ln w="9525" cap="flat" cmpd="sng">
                <a:solidFill>
                  <a:schemeClr val="tx1"/>
                </a:solidFill>
                <a:prstDash val="solid"/>
                <a:headEnd type="none" w="med" len="med"/>
                <a:tailEnd type="none" w="med" len="med"/>
              </a:ln>
            </p:spPr>
          </p:sp>
          <p:sp>
            <p:nvSpPr>
              <p:cNvPr id="3104" name="Line 87"/>
              <p:cNvSpPr/>
              <p:nvPr/>
            </p:nvSpPr>
            <p:spPr>
              <a:xfrm flipV="1">
                <a:off x="2506" y="1745"/>
                <a:ext cx="2" cy="125"/>
              </a:xfrm>
              <a:prstGeom prst="line">
                <a:avLst/>
              </a:prstGeom>
              <a:ln w="9525" cap="flat" cmpd="sng">
                <a:solidFill>
                  <a:schemeClr val="tx1"/>
                </a:solidFill>
                <a:prstDash val="solid"/>
                <a:headEnd type="none" w="med" len="med"/>
                <a:tailEnd type="triangle" w="med" len="med"/>
              </a:ln>
            </p:spPr>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0"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101" name="Rectangle 2"/>
          <p:cNvSpPr>
            <a:spLocks noGrp="1"/>
          </p:cNvSpPr>
          <p:nvPr>
            <p:ph type="title"/>
          </p:nvPr>
        </p:nvSpPr>
        <p:spPr>
          <a:xfrm>
            <a:off x="914400" y="95250"/>
            <a:ext cx="10361613" cy="660400"/>
          </a:xfrm>
        </p:spPr>
        <p:txBody>
          <a:bodyPr vert="horz" wrap="square" lIns="91440" tIns="45720" rIns="91440" bIns="45720" anchor="ctr" anchorCtr="0"/>
          <a:p>
            <a:pPr eaLnBrk="1" hangingPunct="1"/>
            <a:r>
              <a:rPr lang="zh-CN" altLang="en-US" dirty="0"/>
              <a:t>全局保留站</a:t>
            </a:r>
            <a:endParaRPr lang="zh-CN" altLang="en-US" dirty="0"/>
          </a:p>
        </p:txBody>
      </p:sp>
      <p:sp>
        <p:nvSpPr>
          <p:cNvPr id="4102" name="Rectangle 3"/>
          <p:cNvSpPr>
            <a:spLocks noGrp="1"/>
          </p:cNvSpPr>
          <p:nvPr>
            <p:ph idx="1"/>
          </p:nvPr>
        </p:nvSpPr>
        <p:spPr>
          <a:xfrm>
            <a:off x="469900" y="1336675"/>
            <a:ext cx="7444105" cy="4657725"/>
          </a:xfrm>
        </p:spPr>
        <p:txBody>
          <a:bodyPr vert="horz" wrap="square" lIns="91440" tIns="45720" rIns="91440" bIns="45720" anchor="t" anchorCtr="0"/>
          <a:p>
            <a:pPr eaLnBrk="1" hangingPunct="1">
              <a:lnSpc>
                <a:spcPct val="150000"/>
              </a:lnSpc>
            </a:pPr>
            <a:r>
              <a:rPr lang="zh-CN" altLang="en-US" dirty="0"/>
              <a:t>所有功能部件共享一个保留站</a:t>
            </a:r>
            <a:endParaRPr lang="zh-CN" altLang="en-US" dirty="0"/>
          </a:p>
          <a:p>
            <a:pPr lvl="1" eaLnBrk="1" hangingPunct="1">
              <a:lnSpc>
                <a:spcPct val="150000"/>
              </a:lnSpc>
            </a:pPr>
            <a:r>
              <a:rPr lang="zh-CN" altLang="en-US" dirty="0"/>
              <a:t>保留站项数很多，读出写入端口都很多，保留站读出时间长，保留站控制很复杂</a:t>
            </a:r>
            <a:endParaRPr lang="zh-CN" altLang="en-US" dirty="0"/>
          </a:p>
          <a:p>
            <a:pPr lvl="1" eaLnBrk="1" hangingPunct="1">
              <a:lnSpc>
                <a:spcPct val="150000"/>
              </a:lnSpc>
            </a:pPr>
            <a:r>
              <a:rPr lang="zh-CN" altLang="en-US" dirty="0"/>
              <a:t>保留站效率很高</a:t>
            </a:r>
            <a:endParaRPr lang="zh-CN" altLang="en-US" dirty="0"/>
          </a:p>
          <a:p>
            <a:pPr lvl="1" eaLnBrk="1" hangingPunct="1">
              <a:lnSpc>
                <a:spcPct val="150000"/>
              </a:lnSpc>
            </a:pPr>
            <a:r>
              <a:rPr lang="zh-CN" altLang="en-US" dirty="0"/>
              <a:t>结果总线只送到全局保留站</a:t>
            </a:r>
            <a:endParaRPr lang="zh-CN" altLang="en-US" dirty="0"/>
          </a:p>
          <a:p>
            <a:pPr lvl="1" eaLnBrk="1" hangingPunct="1">
              <a:lnSpc>
                <a:spcPct val="150000"/>
              </a:lnSpc>
            </a:pPr>
            <a:r>
              <a:rPr lang="en-US" altLang="zh-CN" dirty="0"/>
              <a:t>Pentium Pro</a:t>
            </a:r>
            <a:r>
              <a:rPr lang="zh-CN" altLang="zh-CN" dirty="0"/>
              <a:t>的全局保留站有20项</a:t>
            </a:r>
            <a:endParaRPr lang="zh-CN" altLang="zh-CN" dirty="0"/>
          </a:p>
        </p:txBody>
      </p:sp>
      <p:grpSp>
        <p:nvGrpSpPr>
          <p:cNvPr id="4103" name="Group 43"/>
          <p:cNvGrpSpPr/>
          <p:nvPr/>
        </p:nvGrpSpPr>
        <p:grpSpPr>
          <a:xfrm>
            <a:off x="8421688" y="1790700"/>
            <a:ext cx="3565525" cy="2913063"/>
            <a:chOff x="1643" y="1317"/>
            <a:chExt cx="2332" cy="2832"/>
          </a:xfrm>
        </p:grpSpPr>
        <p:sp>
          <p:nvSpPr>
            <p:cNvPr id="4104" name="Text Box 44"/>
            <p:cNvSpPr txBox="1"/>
            <p:nvPr/>
          </p:nvSpPr>
          <p:spPr>
            <a:xfrm>
              <a:off x="1643" y="1317"/>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4105" name="Text Box 45"/>
            <p:cNvSpPr txBox="1"/>
            <p:nvPr/>
          </p:nvSpPr>
          <p:spPr>
            <a:xfrm>
              <a:off x="2269" y="131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4106" name="Text Box 46"/>
            <p:cNvSpPr txBox="1"/>
            <p:nvPr/>
          </p:nvSpPr>
          <p:spPr>
            <a:xfrm>
              <a:off x="2890" y="1323"/>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4107" name="Text Box 47"/>
            <p:cNvSpPr txBox="1"/>
            <p:nvPr/>
          </p:nvSpPr>
          <p:spPr>
            <a:xfrm>
              <a:off x="3508" y="1318"/>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4108" name="Text Box 48"/>
            <p:cNvSpPr txBox="1"/>
            <p:nvPr/>
          </p:nvSpPr>
          <p:spPr>
            <a:xfrm>
              <a:off x="2227" y="2965"/>
              <a:ext cx="1091" cy="377"/>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译  码</a:t>
              </a:r>
              <a:endParaRPr lang="zh-CN" altLang="en-US" sz="1000" b="1" dirty="0">
                <a:latin typeface="Times New Roman" pitchFamily="18" charset="0"/>
              </a:endParaRPr>
            </a:p>
          </p:txBody>
        </p:sp>
        <p:sp>
          <p:nvSpPr>
            <p:cNvPr id="4109" name="Line 49"/>
            <p:cNvSpPr/>
            <p:nvPr/>
          </p:nvSpPr>
          <p:spPr>
            <a:xfrm flipV="1">
              <a:off x="2781" y="3335"/>
              <a:ext cx="1" cy="196"/>
            </a:xfrm>
            <a:prstGeom prst="line">
              <a:avLst/>
            </a:prstGeom>
            <a:ln w="9525" cap="flat" cmpd="sng">
              <a:solidFill>
                <a:schemeClr val="tx1"/>
              </a:solidFill>
              <a:prstDash val="solid"/>
              <a:headEnd type="none" w="med" len="med"/>
              <a:tailEnd type="triangle" w="med" len="med"/>
            </a:ln>
          </p:spPr>
        </p:sp>
        <p:sp>
          <p:nvSpPr>
            <p:cNvPr id="4110" name="Line 50"/>
            <p:cNvSpPr/>
            <p:nvPr/>
          </p:nvSpPr>
          <p:spPr>
            <a:xfrm flipH="1" flipV="1">
              <a:off x="2774" y="2842"/>
              <a:ext cx="1" cy="117"/>
            </a:xfrm>
            <a:prstGeom prst="line">
              <a:avLst/>
            </a:prstGeom>
            <a:ln w="9525" cap="flat" cmpd="sng">
              <a:solidFill>
                <a:schemeClr val="tx1"/>
              </a:solidFill>
              <a:prstDash val="solid"/>
              <a:headEnd type="none" w="med" len="med"/>
              <a:tailEnd type="none" w="med" len="med"/>
            </a:ln>
          </p:spPr>
        </p:sp>
        <p:sp>
          <p:nvSpPr>
            <p:cNvPr id="4111" name="Line 51"/>
            <p:cNvSpPr/>
            <p:nvPr/>
          </p:nvSpPr>
          <p:spPr>
            <a:xfrm flipV="1">
              <a:off x="2774" y="2691"/>
              <a:ext cx="0" cy="149"/>
            </a:xfrm>
            <a:prstGeom prst="line">
              <a:avLst/>
            </a:prstGeom>
            <a:ln w="9525" cap="flat" cmpd="sng">
              <a:solidFill>
                <a:schemeClr val="tx1"/>
              </a:solidFill>
              <a:prstDash val="solid"/>
              <a:headEnd type="none" w="med" len="med"/>
              <a:tailEnd type="triangle" w="med" len="med"/>
            </a:ln>
          </p:spPr>
        </p:sp>
        <p:sp>
          <p:nvSpPr>
            <p:cNvPr id="4112" name="Line 52"/>
            <p:cNvSpPr/>
            <p:nvPr/>
          </p:nvSpPr>
          <p:spPr>
            <a:xfrm flipV="1">
              <a:off x="2784" y="3899"/>
              <a:ext cx="0" cy="250"/>
            </a:xfrm>
            <a:prstGeom prst="line">
              <a:avLst/>
            </a:prstGeom>
            <a:ln w="9525" cap="flat" cmpd="sng">
              <a:solidFill>
                <a:schemeClr val="tx1"/>
              </a:solidFill>
              <a:prstDash val="solid"/>
              <a:headEnd type="none" w="med" len="med"/>
              <a:tailEnd type="triangle" w="med" len="med"/>
            </a:ln>
          </p:spPr>
        </p:sp>
        <p:graphicFrame>
          <p:nvGraphicFramePr>
            <p:cNvPr id="4098" name="Object 67"/>
            <p:cNvGraphicFramePr/>
            <p:nvPr/>
          </p:nvGraphicFramePr>
          <p:xfrm>
            <a:off x="2135" y="3533"/>
            <a:ext cx="1285" cy="561"/>
          </p:xfrm>
          <a:graphic>
            <a:graphicData uri="http://schemas.openxmlformats.org/presentationml/2006/ole">
              <mc:AlternateContent xmlns:mc="http://schemas.openxmlformats.org/markup-compatibility/2006">
                <mc:Choice xmlns:v="urn:schemas-microsoft-com:vml" Requires="v">
                  <p:oleObj spid="_x0000_s3094" name="" r:id="rId1" imgW="2068195" imgH="1144270" progId="Word.Document.8">
                    <p:embed/>
                  </p:oleObj>
                </mc:Choice>
                <mc:Fallback>
                  <p:oleObj name="" r:id="rId1" imgW="2068195" imgH="1144270" progId="Word.Document.8">
                    <p:embed/>
                    <p:pic>
                      <p:nvPicPr>
                        <p:cNvPr id="0" name="图片 3093"/>
                        <p:cNvPicPr/>
                        <p:nvPr/>
                      </p:nvPicPr>
                      <p:blipFill>
                        <a:blip r:embed="rId2"/>
                        <a:stretch>
                          <a:fillRect/>
                        </a:stretch>
                      </p:blipFill>
                      <p:spPr>
                        <a:xfrm>
                          <a:off x="2135" y="3533"/>
                          <a:ext cx="1285" cy="561"/>
                        </a:xfrm>
                        <a:prstGeom prst="rect">
                          <a:avLst/>
                        </a:prstGeom>
                        <a:noFill/>
                        <a:ln w="38100">
                          <a:noFill/>
                          <a:miter/>
                        </a:ln>
                      </p:spPr>
                    </p:pic>
                  </p:oleObj>
                </mc:Fallback>
              </mc:AlternateContent>
            </a:graphicData>
          </a:graphic>
        </p:graphicFrame>
        <p:sp>
          <p:nvSpPr>
            <p:cNvPr id="4113" name="Text Box 54"/>
            <p:cNvSpPr txBox="1"/>
            <p:nvPr/>
          </p:nvSpPr>
          <p:spPr>
            <a:xfrm>
              <a:off x="2538" y="1823"/>
              <a:ext cx="468" cy="283"/>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zh-CN" altLang="en-US" sz="1000" b="1" dirty="0">
                  <a:latin typeface="Times New Roman" pitchFamily="18" charset="0"/>
                </a:rPr>
                <a:t>相关检查及发射</a:t>
              </a:r>
              <a:endParaRPr lang="zh-CN" altLang="en-US" sz="1000" b="1" dirty="0">
                <a:latin typeface="Times New Roman" pitchFamily="18" charset="0"/>
              </a:endParaRPr>
            </a:p>
          </p:txBody>
        </p:sp>
        <p:sp>
          <p:nvSpPr>
            <p:cNvPr id="4114" name="Line 55"/>
            <p:cNvSpPr/>
            <p:nvPr/>
          </p:nvSpPr>
          <p:spPr>
            <a:xfrm flipV="1">
              <a:off x="2775" y="2104"/>
              <a:ext cx="0" cy="204"/>
            </a:xfrm>
            <a:prstGeom prst="line">
              <a:avLst/>
            </a:prstGeom>
            <a:ln w="9525" cap="flat" cmpd="sng">
              <a:solidFill>
                <a:schemeClr val="tx1"/>
              </a:solidFill>
              <a:prstDash val="solid"/>
              <a:headEnd type="none" w="med" len="med"/>
              <a:tailEnd type="triangle" w="med" len="med"/>
            </a:ln>
          </p:spPr>
        </p:sp>
        <p:sp>
          <p:nvSpPr>
            <p:cNvPr id="4115" name="Text Box 56"/>
            <p:cNvSpPr txBox="1"/>
            <p:nvPr/>
          </p:nvSpPr>
          <p:spPr>
            <a:xfrm>
              <a:off x="2502" y="3674"/>
              <a:ext cx="553" cy="15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a:t>
              </a:r>
              <a:endParaRPr lang="zh-CN" altLang="en-US" sz="1000" b="1" dirty="0">
                <a:latin typeface="Times New Roman" pitchFamily="18" charset="0"/>
              </a:endParaRPr>
            </a:p>
          </p:txBody>
        </p:sp>
        <p:grpSp>
          <p:nvGrpSpPr>
            <p:cNvPr id="4116" name="Group 57"/>
            <p:cNvGrpSpPr/>
            <p:nvPr/>
          </p:nvGrpSpPr>
          <p:grpSpPr>
            <a:xfrm>
              <a:off x="2441" y="2307"/>
              <a:ext cx="616" cy="483"/>
              <a:chOff x="3405" y="2143"/>
              <a:chExt cx="616" cy="483"/>
            </a:xfrm>
          </p:grpSpPr>
          <p:graphicFrame>
            <p:nvGraphicFramePr>
              <p:cNvPr id="4099" name="Object 68"/>
              <p:cNvGraphicFramePr/>
              <p:nvPr/>
            </p:nvGraphicFramePr>
            <p:xfrm>
              <a:off x="3405" y="2143"/>
              <a:ext cx="616" cy="483"/>
            </p:xfrm>
            <a:graphic>
              <a:graphicData uri="http://schemas.openxmlformats.org/presentationml/2006/ole">
                <mc:AlternateContent xmlns:mc="http://schemas.openxmlformats.org/markup-compatibility/2006">
                  <mc:Choice xmlns:v="urn:schemas-microsoft-com:vml" Requires="v">
                    <p:oleObj spid="_x0000_s3095" name="" r:id="rId3" imgW="984250" imgH="929640" progId="Word.Document.8">
                      <p:embed/>
                    </p:oleObj>
                  </mc:Choice>
                  <mc:Fallback>
                    <p:oleObj name="" r:id="rId3" imgW="984250" imgH="929640" progId="Word.Document.8">
                      <p:embed/>
                      <p:pic>
                        <p:nvPicPr>
                          <p:cNvPr id="0" name="图片 3094"/>
                          <p:cNvPicPr/>
                          <p:nvPr/>
                        </p:nvPicPr>
                        <p:blipFill>
                          <a:blip r:embed="rId4"/>
                          <a:stretch>
                            <a:fillRect/>
                          </a:stretch>
                        </p:blipFill>
                        <p:spPr>
                          <a:xfrm>
                            <a:off x="3405" y="2143"/>
                            <a:ext cx="616" cy="483"/>
                          </a:xfrm>
                          <a:prstGeom prst="rect">
                            <a:avLst/>
                          </a:prstGeom>
                          <a:noFill/>
                          <a:ln w="38100">
                            <a:noFill/>
                            <a:miter/>
                          </a:ln>
                        </p:spPr>
                      </p:pic>
                    </p:oleObj>
                  </mc:Fallback>
                </mc:AlternateContent>
              </a:graphicData>
            </a:graphic>
          </p:graphicFrame>
          <p:sp>
            <p:nvSpPr>
              <p:cNvPr id="4124" name="Text Box 59"/>
              <p:cNvSpPr txBox="1"/>
              <p:nvPr/>
            </p:nvSpPr>
            <p:spPr>
              <a:xfrm>
                <a:off x="3534" y="2286"/>
                <a:ext cx="421" cy="15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a:t>
                </a:r>
                <a:endParaRPr lang="zh-CN" altLang="en-US" sz="1000" b="1" dirty="0">
                  <a:latin typeface="Times New Roman" pitchFamily="18" charset="0"/>
                </a:endParaRPr>
              </a:p>
            </p:txBody>
          </p:sp>
        </p:grpSp>
        <p:grpSp>
          <p:nvGrpSpPr>
            <p:cNvPr id="4117" name="Group 60"/>
            <p:cNvGrpSpPr/>
            <p:nvPr/>
          </p:nvGrpSpPr>
          <p:grpSpPr>
            <a:xfrm>
              <a:off x="1893" y="1574"/>
              <a:ext cx="1834" cy="239"/>
              <a:chOff x="1893" y="1742"/>
              <a:chExt cx="1834" cy="239"/>
            </a:xfrm>
          </p:grpSpPr>
          <p:sp>
            <p:nvSpPr>
              <p:cNvPr id="4118" name="Line 61"/>
              <p:cNvSpPr/>
              <p:nvPr/>
            </p:nvSpPr>
            <p:spPr>
              <a:xfrm flipV="1">
                <a:off x="2775" y="1879"/>
                <a:ext cx="1" cy="102"/>
              </a:xfrm>
              <a:prstGeom prst="line">
                <a:avLst/>
              </a:prstGeom>
              <a:ln w="9525" cap="flat" cmpd="sng">
                <a:solidFill>
                  <a:schemeClr val="tx1"/>
                </a:solidFill>
                <a:prstDash val="solid"/>
                <a:headEnd type="none" w="med" len="med"/>
                <a:tailEnd type="none" w="med" len="med"/>
              </a:ln>
            </p:spPr>
          </p:sp>
          <p:sp>
            <p:nvSpPr>
              <p:cNvPr id="4119" name="Line 62"/>
              <p:cNvSpPr/>
              <p:nvPr/>
            </p:nvSpPr>
            <p:spPr>
              <a:xfrm flipH="1" flipV="1">
                <a:off x="2475" y="1742"/>
                <a:ext cx="6" cy="125"/>
              </a:xfrm>
              <a:prstGeom prst="line">
                <a:avLst/>
              </a:prstGeom>
              <a:ln w="9525" cap="flat" cmpd="sng">
                <a:solidFill>
                  <a:schemeClr val="tx1"/>
                </a:solidFill>
                <a:prstDash val="solid"/>
                <a:headEnd type="none" w="med" len="med"/>
                <a:tailEnd type="triangle" w="med" len="med"/>
              </a:ln>
            </p:spPr>
          </p:sp>
          <p:sp>
            <p:nvSpPr>
              <p:cNvPr id="4120" name="Line 63"/>
              <p:cNvSpPr/>
              <p:nvPr/>
            </p:nvSpPr>
            <p:spPr>
              <a:xfrm>
                <a:off x="1894" y="1879"/>
                <a:ext cx="1833" cy="0"/>
              </a:xfrm>
              <a:prstGeom prst="line">
                <a:avLst/>
              </a:prstGeom>
              <a:ln w="9525" cap="flat" cmpd="sng">
                <a:solidFill>
                  <a:schemeClr val="tx1"/>
                </a:solidFill>
                <a:prstDash val="solid"/>
                <a:headEnd type="none" w="med" len="med"/>
                <a:tailEnd type="none" w="med" len="med"/>
              </a:ln>
            </p:spPr>
          </p:sp>
          <p:sp>
            <p:nvSpPr>
              <p:cNvPr id="4121" name="Line 64"/>
              <p:cNvSpPr/>
              <p:nvPr/>
            </p:nvSpPr>
            <p:spPr>
              <a:xfrm flipV="1">
                <a:off x="3114" y="1745"/>
                <a:ext cx="2" cy="125"/>
              </a:xfrm>
              <a:prstGeom prst="line">
                <a:avLst/>
              </a:prstGeom>
              <a:ln w="9525" cap="flat" cmpd="sng">
                <a:solidFill>
                  <a:schemeClr val="tx1"/>
                </a:solidFill>
                <a:prstDash val="solid"/>
                <a:headEnd type="none" w="med" len="med"/>
                <a:tailEnd type="triangle" w="med" len="med"/>
              </a:ln>
            </p:spPr>
          </p:sp>
          <p:sp>
            <p:nvSpPr>
              <p:cNvPr id="4122" name="Line 65"/>
              <p:cNvSpPr/>
              <p:nvPr/>
            </p:nvSpPr>
            <p:spPr>
              <a:xfrm flipH="1" flipV="1">
                <a:off x="1893" y="1753"/>
                <a:ext cx="0" cy="125"/>
              </a:xfrm>
              <a:prstGeom prst="line">
                <a:avLst/>
              </a:prstGeom>
              <a:ln w="9525" cap="flat" cmpd="sng">
                <a:solidFill>
                  <a:schemeClr val="tx1"/>
                </a:solidFill>
                <a:prstDash val="solid"/>
                <a:headEnd type="none" w="med" len="med"/>
                <a:tailEnd type="triangle" w="med" len="med"/>
              </a:ln>
            </p:spPr>
          </p:sp>
          <p:sp>
            <p:nvSpPr>
              <p:cNvPr id="4123" name="Line 66"/>
              <p:cNvSpPr/>
              <p:nvPr/>
            </p:nvSpPr>
            <p:spPr>
              <a:xfrm flipV="1">
                <a:off x="3725" y="1755"/>
                <a:ext cx="2" cy="125"/>
              </a:xfrm>
              <a:prstGeom prst="line">
                <a:avLst/>
              </a:prstGeom>
              <a:ln w="9525" cap="flat" cmpd="sng">
                <a:solidFill>
                  <a:schemeClr val="tx1"/>
                </a:solidFill>
                <a:prstDash val="solid"/>
                <a:headEnd type="none" w="med" len="med"/>
                <a:tailEnd type="triangle" w="med" len="med"/>
              </a:ln>
            </p:spPr>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6"/>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3555" name="Rectangle 1026"/>
          <p:cNvSpPr>
            <a:spLocks noGrp="1"/>
          </p:cNvSpPr>
          <p:nvPr>
            <p:ph type="title"/>
          </p:nvPr>
        </p:nvSpPr>
        <p:spPr/>
        <p:txBody>
          <a:bodyPr vert="horz" wrap="square" lIns="91440" tIns="45720" rIns="91440" bIns="45720" anchor="ctr" anchorCtr="0"/>
          <a:p>
            <a:pPr eaLnBrk="1" hangingPunct="1"/>
            <a:r>
              <a:rPr lang="zh-CN" altLang="en-US" dirty="0"/>
              <a:t>不同处理器的保留站组织</a:t>
            </a:r>
            <a:endParaRPr lang="zh-CN" altLang="en-US" dirty="0"/>
          </a:p>
        </p:txBody>
      </p:sp>
      <p:graphicFrame>
        <p:nvGraphicFramePr>
          <p:cNvPr id="184482" name="Group 162"/>
          <p:cNvGraphicFramePr>
            <a:graphicFrameLocks noGrp="1"/>
          </p:cNvGraphicFramePr>
          <p:nvPr>
            <p:ph sz="half" idx="1"/>
          </p:nvPr>
        </p:nvGraphicFramePr>
        <p:xfrm>
          <a:off x="469900" y="1504950"/>
          <a:ext cx="11335391" cy="4591050"/>
        </p:xfrm>
        <a:graphic>
          <a:graphicData uri="http://schemas.openxmlformats.org/drawingml/2006/table">
            <a:tbl>
              <a:tblPr/>
              <a:tblGrid>
                <a:gridCol w="3627494"/>
                <a:gridCol w="3508977"/>
                <a:gridCol w="4198920"/>
              </a:tblGrid>
              <a:tr h="654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独立保留站</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分组保留站</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全局保留站</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3700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Power1(1990)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Nx586(1994)</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603(1993)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604(1995)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620(1996)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 2900 sup (1995)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 K5 (1995)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Godson-1 (2001)</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ES/9000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Power2 (1993)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R10000(1996)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PM1(Sparc64) (1995)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HP PA8700(1998)</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 21264 (1998)</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Godson-2 (2003)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sv-S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AMD K7 (1999)</a:t>
                      </a:r>
                      <a:endParaRPr kumimoji="1" lang="sv-S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sv-S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AMD K8 (2003)</a:t>
                      </a:r>
                      <a:endParaRPr kumimoji="1" lang="sv-S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it-IT"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Penium Pro/II/III (1995)</a:t>
                      </a:r>
                      <a:endParaRPr kumimoji="1" lang="it-IT"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it-IT"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Pentium-M(2003)</a:t>
                      </a:r>
                      <a:endParaRPr kumimoji="1" lang="it-IT"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Core (2006)</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4579" name="Rectangle 1026"/>
          <p:cNvSpPr>
            <a:spLocks noGrp="1"/>
          </p:cNvSpPr>
          <p:nvPr>
            <p:ph type="title"/>
          </p:nvPr>
        </p:nvSpPr>
        <p:spPr/>
        <p:txBody>
          <a:bodyPr vert="horz" wrap="square" lIns="91440" tIns="45720" rIns="91440" bIns="45720" anchor="ctr" anchorCtr="0"/>
          <a:p>
            <a:pPr eaLnBrk="1" hangingPunct="1"/>
            <a:r>
              <a:rPr lang="zh-CN" altLang="en-US" dirty="0"/>
              <a:t>不同处理器的保留站总项数比较</a:t>
            </a:r>
            <a:endParaRPr lang="zh-CN" altLang="en-US" dirty="0"/>
          </a:p>
        </p:txBody>
      </p:sp>
      <p:graphicFrame>
        <p:nvGraphicFramePr>
          <p:cNvPr id="185620" name="Group 276"/>
          <p:cNvGraphicFramePr>
            <a:graphicFrameLocks noGrp="1"/>
          </p:cNvGraphicFramePr>
          <p:nvPr>
            <p:ph idx="1"/>
          </p:nvPr>
        </p:nvGraphicFramePr>
        <p:xfrm>
          <a:off x="914400" y="1092200"/>
          <a:ext cx="10361851" cy="5546725"/>
        </p:xfrm>
        <a:graphic>
          <a:graphicData uri="http://schemas.openxmlformats.org/drawingml/2006/table">
            <a:tbl>
              <a:tblPr/>
              <a:tblGrid>
                <a:gridCol w="6383036"/>
                <a:gridCol w="3978815"/>
              </a:tblGrid>
              <a:tr h="3286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处理器</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保留站总项数</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603(1993)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604(1995)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12</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620(1996)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15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Nx586(1994)</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42</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K5(1995)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14</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PM1(Sparc64)(1995)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 Pro(1995)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R10000(1996)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48</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PA8000(1996)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56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 21264</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AMD K7/K8</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54/60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70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Intel Core</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32</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2861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Godson-2</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32</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5603"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寄存器与保留站的关系</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135" name="Rectangle 2"/>
          <p:cNvSpPr/>
          <p:nvPr/>
        </p:nvSpPr>
        <p:spPr>
          <a:xfrm>
            <a:off x="928688" y="250825"/>
            <a:ext cx="10361612" cy="574675"/>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读取寄存器值的时机</a:t>
            </a:r>
            <a:endParaRPr lang="zh-CN" altLang="en-US" sz="3600" dirty="0">
              <a:solidFill>
                <a:srgbClr val="FF3300"/>
              </a:solidFill>
              <a:latin typeface="Times New Roman" pitchFamily="18" charset="0"/>
              <a:ea typeface="黑体" panose="02000500000000000000" pitchFamily="49" charset="-122"/>
            </a:endParaRPr>
          </a:p>
        </p:txBody>
      </p:sp>
      <p:sp>
        <p:nvSpPr>
          <p:cNvPr id="5136" name="Rectangle 3"/>
          <p:cNvSpPr/>
          <p:nvPr/>
        </p:nvSpPr>
        <p:spPr>
          <a:xfrm>
            <a:off x="712470" y="1028065"/>
            <a:ext cx="5245100" cy="2553970"/>
          </a:xfrm>
          <a:prstGeom prst="rect">
            <a:avLst/>
          </a:prstGeom>
          <a:noFill/>
          <a:ln w="9525">
            <a:noFill/>
          </a:ln>
        </p:spPr>
        <p:txBody>
          <a:bodyPr/>
          <a:p>
            <a:pPr marL="342900" indent="-342900" algn="l">
              <a:lnSpc>
                <a:spcPct val="150000"/>
              </a:lnSpc>
              <a:buChar char="•"/>
            </a:pPr>
            <a:r>
              <a:rPr lang="zh-CN" altLang="en-US" b="1" dirty="0">
                <a:latin typeface="Times New Roman" pitchFamily="18" charset="0"/>
              </a:rPr>
              <a:t>保留站前读寄存器</a:t>
            </a:r>
            <a:endParaRPr lang="zh-CN" altLang="en-US" b="1" dirty="0">
              <a:latin typeface="Times New Roman" pitchFamily="18" charset="0"/>
            </a:endParaRPr>
          </a:p>
          <a:p>
            <a:pPr marL="742950" lvl="1" indent="-285750" algn="l" eaLnBrk="1" hangingPunct="1">
              <a:lnSpc>
                <a:spcPct val="150000"/>
              </a:lnSpc>
              <a:buChar char="•"/>
            </a:pPr>
            <a:r>
              <a:rPr lang="zh-CN" altLang="en-US" sz="2000" b="1" dirty="0">
                <a:latin typeface="Times New Roman" pitchFamily="18" charset="0"/>
              </a:rPr>
              <a:t>操作数没准备好就读寄存器，保留站</a:t>
            </a:r>
            <a:r>
              <a:rPr lang="zh-CN" altLang="en-US" sz="2000" b="1" dirty="0">
                <a:sym typeface="+mn-ea"/>
              </a:rPr>
              <a:t>中需要存储数据</a:t>
            </a:r>
            <a:endParaRPr lang="zh-CN" altLang="en-US" sz="2000" b="1" dirty="0">
              <a:latin typeface="Times New Roman" pitchFamily="18" charset="0"/>
              <a:sym typeface="+mn-ea"/>
            </a:endParaRPr>
          </a:p>
        </p:txBody>
      </p:sp>
      <p:grpSp>
        <p:nvGrpSpPr>
          <p:cNvPr id="5137" name="Group 4"/>
          <p:cNvGrpSpPr/>
          <p:nvPr/>
        </p:nvGrpSpPr>
        <p:grpSpPr>
          <a:xfrm>
            <a:off x="1655763" y="3835400"/>
            <a:ext cx="4054475" cy="2741613"/>
            <a:chOff x="2992" y="1509"/>
            <a:chExt cx="2470" cy="2312"/>
          </a:xfrm>
        </p:grpSpPr>
        <p:graphicFrame>
          <p:nvGraphicFramePr>
            <p:cNvPr id="5128" name="Object 11"/>
            <p:cNvGraphicFramePr/>
            <p:nvPr/>
          </p:nvGraphicFramePr>
          <p:xfrm>
            <a:off x="2992" y="1982"/>
            <a:ext cx="616" cy="483"/>
          </p:xfrm>
          <a:graphic>
            <a:graphicData uri="http://schemas.openxmlformats.org/presentationml/2006/ole">
              <mc:AlternateContent xmlns:mc="http://schemas.openxmlformats.org/markup-compatibility/2006">
                <mc:Choice xmlns:v="urn:schemas-microsoft-com:vml" Requires="v">
                  <p:oleObj spid="_x0000_s3099" name="" r:id="rId1" imgW="984250" imgH="929640" progId="Word.Document.8">
                    <p:embed/>
                  </p:oleObj>
                </mc:Choice>
                <mc:Fallback>
                  <p:oleObj name="" r:id="rId1" imgW="984250" imgH="929640" progId="Word.Document.8">
                    <p:embed/>
                    <p:pic>
                      <p:nvPicPr>
                        <p:cNvPr id="0" name="图片 3098"/>
                        <p:cNvPicPr/>
                        <p:nvPr/>
                      </p:nvPicPr>
                      <p:blipFill>
                        <a:blip r:embed="rId2"/>
                        <a:stretch>
                          <a:fillRect/>
                        </a:stretch>
                      </p:blipFill>
                      <p:spPr>
                        <a:xfrm>
                          <a:off x="2992" y="1982"/>
                          <a:ext cx="616" cy="483"/>
                        </a:xfrm>
                        <a:prstGeom prst="rect">
                          <a:avLst/>
                        </a:prstGeom>
                        <a:noFill/>
                        <a:ln w="38100">
                          <a:noFill/>
                          <a:miter/>
                        </a:ln>
                      </p:spPr>
                    </p:pic>
                  </p:oleObj>
                </mc:Fallback>
              </mc:AlternateContent>
            </a:graphicData>
          </a:graphic>
        </p:graphicFrame>
        <p:grpSp>
          <p:nvGrpSpPr>
            <p:cNvPr id="5163" name="Group 6"/>
            <p:cNvGrpSpPr/>
            <p:nvPr/>
          </p:nvGrpSpPr>
          <p:grpSpPr>
            <a:xfrm>
              <a:off x="3093" y="1509"/>
              <a:ext cx="2369" cy="2312"/>
              <a:chOff x="3093" y="1509"/>
              <a:chExt cx="2369" cy="2312"/>
            </a:xfrm>
          </p:grpSpPr>
          <p:sp>
            <p:nvSpPr>
              <p:cNvPr id="5164" name="Line 7"/>
              <p:cNvSpPr/>
              <p:nvPr/>
            </p:nvSpPr>
            <p:spPr>
              <a:xfrm flipV="1">
                <a:off x="4234" y="3571"/>
                <a:ext cx="0" cy="250"/>
              </a:xfrm>
              <a:prstGeom prst="line">
                <a:avLst/>
              </a:prstGeom>
              <a:ln w="19050" cap="flat" cmpd="sng">
                <a:solidFill>
                  <a:schemeClr val="tx1"/>
                </a:solidFill>
                <a:prstDash val="solid"/>
                <a:headEnd type="none" w="med" len="med"/>
                <a:tailEnd type="triangle" w="med" len="med"/>
              </a:ln>
            </p:spPr>
          </p:sp>
          <p:graphicFrame>
            <p:nvGraphicFramePr>
              <p:cNvPr id="5129" name="Object 12"/>
              <p:cNvGraphicFramePr/>
              <p:nvPr/>
            </p:nvGraphicFramePr>
            <p:xfrm>
              <a:off x="3107" y="3202"/>
              <a:ext cx="2197" cy="467"/>
            </p:xfrm>
            <a:graphic>
              <a:graphicData uri="http://schemas.openxmlformats.org/presentationml/2006/ole">
                <mc:AlternateContent xmlns:mc="http://schemas.openxmlformats.org/markup-compatibility/2006">
                  <mc:Choice xmlns:v="urn:schemas-microsoft-com:vml" Requires="v">
                    <p:oleObj spid="_x0000_s3100" name="" r:id="rId3" imgW="3485515" imgH="946150" progId="Word.Document.8">
                      <p:embed/>
                    </p:oleObj>
                  </mc:Choice>
                  <mc:Fallback>
                    <p:oleObj name="" r:id="rId3" imgW="3485515" imgH="946150" progId="Word.Document.8">
                      <p:embed/>
                      <p:pic>
                        <p:nvPicPr>
                          <p:cNvPr id="0" name="图片 3099"/>
                          <p:cNvPicPr/>
                          <p:nvPr/>
                        </p:nvPicPr>
                        <p:blipFill>
                          <a:blip r:embed="rId4"/>
                          <a:stretch>
                            <a:fillRect/>
                          </a:stretch>
                        </p:blipFill>
                        <p:spPr>
                          <a:xfrm>
                            <a:off x="3107" y="3202"/>
                            <a:ext cx="2197" cy="467"/>
                          </a:xfrm>
                          <a:prstGeom prst="rect">
                            <a:avLst/>
                          </a:prstGeom>
                          <a:noFill/>
                          <a:ln w="38100">
                            <a:noFill/>
                            <a:miter/>
                          </a:ln>
                        </p:spPr>
                      </p:pic>
                    </p:oleObj>
                  </mc:Fallback>
                </mc:AlternateContent>
              </a:graphicData>
            </a:graphic>
          </p:graphicFrame>
          <p:sp>
            <p:nvSpPr>
              <p:cNvPr id="5165" name="Text Box 9"/>
              <p:cNvSpPr txBox="1"/>
              <p:nvPr/>
            </p:nvSpPr>
            <p:spPr>
              <a:xfrm>
                <a:off x="3093" y="150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66" name="Text Box 10"/>
              <p:cNvSpPr txBox="1"/>
              <p:nvPr/>
            </p:nvSpPr>
            <p:spPr>
              <a:xfrm>
                <a:off x="3719" y="151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67" name="Text Box 11"/>
              <p:cNvSpPr txBox="1"/>
              <p:nvPr/>
            </p:nvSpPr>
            <p:spPr>
              <a:xfrm>
                <a:off x="4340" y="1515"/>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68" name="Text Box 12"/>
              <p:cNvSpPr txBox="1"/>
              <p:nvPr/>
            </p:nvSpPr>
            <p:spPr>
              <a:xfrm>
                <a:off x="4958" y="151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69" name="Line 13"/>
              <p:cNvSpPr/>
              <p:nvPr/>
            </p:nvSpPr>
            <p:spPr>
              <a:xfrm flipH="1" flipV="1">
                <a:off x="3320" y="2364"/>
                <a:ext cx="0" cy="281"/>
              </a:xfrm>
              <a:prstGeom prst="line">
                <a:avLst/>
              </a:prstGeom>
              <a:ln w="9525" cap="flat" cmpd="sng">
                <a:solidFill>
                  <a:schemeClr val="tx1"/>
                </a:solidFill>
                <a:prstDash val="solid"/>
                <a:headEnd type="none" w="med" len="med"/>
                <a:tailEnd type="triangle" w="med" len="med"/>
              </a:ln>
            </p:spPr>
          </p:sp>
          <p:sp>
            <p:nvSpPr>
              <p:cNvPr id="5170" name="Line 14"/>
              <p:cNvSpPr/>
              <p:nvPr/>
            </p:nvSpPr>
            <p:spPr>
              <a:xfrm flipV="1">
                <a:off x="5185" y="1775"/>
                <a:ext cx="0" cy="204"/>
              </a:xfrm>
              <a:prstGeom prst="line">
                <a:avLst/>
              </a:prstGeom>
              <a:ln w="9525" cap="flat" cmpd="sng">
                <a:solidFill>
                  <a:schemeClr val="tx1"/>
                </a:solidFill>
                <a:prstDash val="solid"/>
                <a:headEnd type="none" w="med" len="med"/>
                <a:tailEnd type="triangle" w="med" len="med"/>
              </a:ln>
            </p:spPr>
          </p:sp>
          <p:sp>
            <p:nvSpPr>
              <p:cNvPr id="5171" name="Line 15"/>
              <p:cNvSpPr/>
              <p:nvPr/>
            </p:nvSpPr>
            <p:spPr>
              <a:xfrm flipV="1">
                <a:off x="4577" y="1780"/>
                <a:ext cx="0" cy="204"/>
              </a:xfrm>
              <a:prstGeom prst="line">
                <a:avLst/>
              </a:prstGeom>
              <a:ln w="9525" cap="flat" cmpd="sng">
                <a:solidFill>
                  <a:schemeClr val="tx1"/>
                </a:solidFill>
                <a:prstDash val="solid"/>
                <a:headEnd type="none" w="med" len="med"/>
                <a:tailEnd type="triangle" w="med" len="med"/>
              </a:ln>
            </p:spPr>
          </p:sp>
          <p:sp>
            <p:nvSpPr>
              <p:cNvPr id="5172" name="Line 16"/>
              <p:cNvSpPr/>
              <p:nvPr/>
            </p:nvSpPr>
            <p:spPr>
              <a:xfrm flipV="1">
                <a:off x="3953" y="1776"/>
                <a:ext cx="0" cy="204"/>
              </a:xfrm>
              <a:prstGeom prst="line">
                <a:avLst/>
              </a:prstGeom>
              <a:ln w="9525" cap="flat" cmpd="sng">
                <a:solidFill>
                  <a:schemeClr val="tx1"/>
                </a:solidFill>
                <a:prstDash val="solid"/>
                <a:headEnd type="none" w="med" len="med"/>
                <a:tailEnd type="triangle" w="med" len="med"/>
              </a:ln>
            </p:spPr>
          </p:sp>
          <p:sp>
            <p:nvSpPr>
              <p:cNvPr id="5173" name="Line 17"/>
              <p:cNvSpPr/>
              <p:nvPr/>
            </p:nvSpPr>
            <p:spPr>
              <a:xfrm flipV="1">
                <a:off x="3330" y="1777"/>
                <a:ext cx="0" cy="204"/>
              </a:xfrm>
              <a:prstGeom prst="line">
                <a:avLst/>
              </a:prstGeom>
              <a:ln w="9525" cap="flat" cmpd="sng">
                <a:solidFill>
                  <a:schemeClr val="tx1"/>
                </a:solidFill>
                <a:prstDash val="solid"/>
                <a:headEnd type="none" w="med" len="med"/>
                <a:tailEnd type="triangle" w="med" len="med"/>
              </a:ln>
            </p:spPr>
          </p:sp>
          <p:sp>
            <p:nvSpPr>
              <p:cNvPr id="5174" name="Text Box 18"/>
              <p:cNvSpPr txBox="1"/>
              <p:nvPr/>
            </p:nvSpPr>
            <p:spPr>
              <a:xfrm>
                <a:off x="4000" y="3267"/>
                <a:ext cx="422"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指令队列及译码</a:t>
                </a:r>
                <a:endParaRPr lang="zh-CN" altLang="en-US" sz="1000" b="1" dirty="0">
                  <a:latin typeface="Times New Roman" pitchFamily="18" charset="0"/>
                </a:endParaRPr>
              </a:p>
            </p:txBody>
          </p:sp>
          <p:graphicFrame>
            <p:nvGraphicFramePr>
              <p:cNvPr id="5130" name="Object 13"/>
              <p:cNvGraphicFramePr/>
              <p:nvPr/>
            </p:nvGraphicFramePr>
            <p:xfrm>
              <a:off x="4846" y="1982"/>
              <a:ext cx="616" cy="483"/>
            </p:xfrm>
            <a:graphic>
              <a:graphicData uri="http://schemas.openxmlformats.org/presentationml/2006/ole">
                <mc:AlternateContent xmlns:mc="http://schemas.openxmlformats.org/markup-compatibility/2006">
                  <mc:Choice xmlns:v="urn:schemas-microsoft-com:vml" Requires="v">
                    <p:oleObj spid="_x0000_s3097" name="" r:id="rId5" imgW="984250" imgH="929640" progId="Word.Document.8">
                      <p:embed/>
                    </p:oleObj>
                  </mc:Choice>
                  <mc:Fallback>
                    <p:oleObj name="" r:id="rId5" imgW="984250" imgH="929640" progId="Word.Document.8">
                      <p:embed/>
                      <p:pic>
                        <p:nvPicPr>
                          <p:cNvPr id="0" name="图片 3096"/>
                          <p:cNvPicPr/>
                          <p:nvPr/>
                        </p:nvPicPr>
                        <p:blipFill>
                          <a:blip r:embed="rId6"/>
                          <a:stretch>
                            <a:fillRect/>
                          </a:stretch>
                        </p:blipFill>
                        <p:spPr>
                          <a:xfrm>
                            <a:off x="4846" y="1982"/>
                            <a:ext cx="616" cy="483"/>
                          </a:xfrm>
                          <a:prstGeom prst="rect">
                            <a:avLst/>
                          </a:prstGeom>
                          <a:noFill/>
                          <a:ln w="38100">
                            <a:noFill/>
                            <a:miter/>
                          </a:ln>
                        </p:spPr>
                      </p:pic>
                    </p:oleObj>
                  </mc:Fallback>
                </mc:AlternateContent>
              </a:graphicData>
            </a:graphic>
          </p:graphicFrame>
          <p:sp>
            <p:nvSpPr>
              <p:cNvPr id="5175" name="Text Box 20"/>
              <p:cNvSpPr txBox="1"/>
              <p:nvPr/>
            </p:nvSpPr>
            <p:spPr>
              <a:xfrm>
                <a:off x="5022" y="2054"/>
                <a:ext cx="354"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5131" name="Object 14"/>
              <p:cNvGraphicFramePr/>
              <p:nvPr/>
            </p:nvGraphicFramePr>
            <p:xfrm>
              <a:off x="4249" y="1984"/>
              <a:ext cx="616" cy="483"/>
            </p:xfrm>
            <a:graphic>
              <a:graphicData uri="http://schemas.openxmlformats.org/presentationml/2006/ole">
                <mc:AlternateContent xmlns:mc="http://schemas.openxmlformats.org/markup-compatibility/2006">
                  <mc:Choice xmlns:v="urn:schemas-microsoft-com:vml" Requires="v">
                    <p:oleObj spid="_x0000_s3098" name="" r:id="rId7" imgW="984250" imgH="929640" progId="Word.Document.8">
                      <p:embed/>
                    </p:oleObj>
                  </mc:Choice>
                  <mc:Fallback>
                    <p:oleObj name="" r:id="rId7" imgW="984250" imgH="929640" progId="Word.Document.8">
                      <p:embed/>
                      <p:pic>
                        <p:nvPicPr>
                          <p:cNvPr id="0" name="图片 3097"/>
                          <p:cNvPicPr/>
                          <p:nvPr/>
                        </p:nvPicPr>
                        <p:blipFill>
                          <a:blip r:embed="rId2"/>
                          <a:stretch>
                            <a:fillRect/>
                          </a:stretch>
                        </p:blipFill>
                        <p:spPr>
                          <a:xfrm>
                            <a:off x="4249" y="1984"/>
                            <a:ext cx="616" cy="483"/>
                          </a:xfrm>
                          <a:prstGeom prst="rect">
                            <a:avLst/>
                          </a:prstGeom>
                          <a:noFill/>
                          <a:ln w="38100">
                            <a:noFill/>
                            <a:miter/>
                          </a:ln>
                        </p:spPr>
                      </p:pic>
                    </p:oleObj>
                  </mc:Fallback>
                </mc:AlternateContent>
              </a:graphicData>
            </a:graphic>
          </p:graphicFrame>
          <p:sp>
            <p:nvSpPr>
              <p:cNvPr id="5176" name="Text Box 22"/>
              <p:cNvSpPr txBox="1"/>
              <p:nvPr/>
            </p:nvSpPr>
            <p:spPr>
              <a:xfrm>
                <a:off x="4426" y="2063"/>
                <a:ext cx="342"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5132" name="Object 15"/>
              <p:cNvGraphicFramePr/>
              <p:nvPr/>
            </p:nvGraphicFramePr>
            <p:xfrm>
              <a:off x="3619" y="1979"/>
              <a:ext cx="616" cy="483"/>
            </p:xfrm>
            <a:graphic>
              <a:graphicData uri="http://schemas.openxmlformats.org/presentationml/2006/ole">
                <mc:AlternateContent xmlns:mc="http://schemas.openxmlformats.org/markup-compatibility/2006">
                  <mc:Choice xmlns:v="urn:schemas-microsoft-com:vml" Requires="v">
                    <p:oleObj spid="_x0000_s3101" name="" r:id="rId8" imgW="984250" imgH="929640" progId="Word.Document.8">
                      <p:embed/>
                    </p:oleObj>
                  </mc:Choice>
                  <mc:Fallback>
                    <p:oleObj name="" r:id="rId8" imgW="984250" imgH="929640" progId="Word.Document.8">
                      <p:embed/>
                      <p:pic>
                        <p:nvPicPr>
                          <p:cNvPr id="0" name="图片 3100"/>
                          <p:cNvPicPr/>
                          <p:nvPr/>
                        </p:nvPicPr>
                        <p:blipFill>
                          <a:blip r:embed="rId2"/>
                          <a:stretch>
                            <a:fillRect/>
                          </a:stretch>
                        </p:blipFill>
                        <p:spPr>
                          <a:xfrm>
                            <a:off x="3619" y="1979"/>
                            <a:ext cx="616" cy="483"/>
                          </a:xfrm>
                          <a:prstGeom prst="rect">
                            <a:avLst/>
                          </a:prstGeom>
                          <a:noFill/>
                          <a:ln w="38100">
                            <a:noFill/>
                            <a:miter/>
                          </a:ln>
                        </p:spPr>
                      </p:pic>
                    </p:oleObj>
                  </mc:Fallback>
                </mc:AlternateContent>
              </a:graphicData>
            </a:graphic>
          </p:graphicFrame>
          <p:sp>
            <p:nvSpPr>
              <p:cNvPr id="5177" name="Text Box 24"/>
              <p:cNvSpPr txBox="1"/>
              <p:nvPr/>
            </p:nvSpPr>
            <p:spPr>
              <a:xfrm>
                <a:off x="3795" y="2058"/>
                <a:ext cx="329"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sp>
            <p:nvSpPr>
              <p:cNvPr id="5178" name="Text Box 25"/>
              <p:cNvSpPr txBox="1"/>
              <p:nvPr/>
            </p:nvSpPr>
            <p:spPr>
              <a:xfrm>
                <a:off x="3153" y="2062"/>
                <a:ext cx="351"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200" b="1" dirty="0">
                  <a:latin typeface="Times New Roman" pitchFamily="18" charset="0"/>
                </a:endParaRPr>
              </a:p>
            </p:txBody>
          </p:sp>
          <p:graphicFrame>
            <p:nvGraphicFramePr>
              <p:cNvPr id="5133" name="Object 16"/>
              <p:cNvGraphicFramePr/>
              <p:nvPr/>
            </p:nvGraphicFramePr>
            <p:xfrm>
              <a:off x="3131" y="2642"/>
              <a:ext cx="2197" cy="467"/>
            </p:xfrm>
            <a:graphic>
              <a:graphicData uri="http://schemas.openxmlformats.org/presentationml/2006/ole">
                <mc:AlternateContent xmlns:mc="http://schemas.openxmlformats.org/markup-compatibility/2006">
                  <mc:Choice xmlns:v="urn:schemas-microsoft-com:vml" Requires="v">
                    <p:oleObj spid="_x0000_s3102" name="" r:id="rId9" imgW="3485515" imgH="946150" progId="Word.Document.8">
                      <p:embed/>
                    </p:oleObj>
                  </mc:Choice>
                  <mc:Fallback>
                    <p:oleObj name="" r:id="rId9" imgW="3485515" imgH="946150" progId="Word.Document.8">
                      <p:embed/>
                      <p:pic>
                        <p:nvPicPr>
                          <p:cNvPr id="0" name="图片 3101"/>
                          <p:cNvPicPr/>
                          <p:nvPr/>
                        </p:nvPicPr>
                        <p:blipFill>
                          <a:blip r:embed="rId4"/>
                          <a:stretch>
                            <a:fillRect/>
                          </a:stretch>
                        </p:blipFill>
                        <p:spPr>
                          <a:xfrm>
                            <a:off x="3131" y="2642"/>
                            <a:ext cx="2197" cy="467"/>
                          </a:xfrm>
                          <a:prstGeom prst="rect">
                            <a:avLst/>
                          </a:prstGeom>
                          <a:noFill/>
                          <a:ln w="38100">
                            <a:noFill/>
                            <a:miter/>
                          </a:ln>
                        </p:spPr>
                      </p:pic>
                    </p:oleObj>
                  </mc:Fallback>
                </mc:AlternateContent>
              </a:graphicData>
            </a:graphic>
          </p:graphicFrame>
          <p:sp>
            <p:nvSpPr>
              <p:cNvPr id="5179" name="Text Box 27"/>
              <p:cNvSpPr txBox="1"/>
              <p:nvPr/>
            </p:nvSpPr>
            <p:spPr>
              <a:xfrm>
                <a:off x="3956" y="2771"/>
                <a:ext cx="553" cy="129"/>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寄存器</a:t>
                </a:r>
                <a:endParaRPr lang="zh-CN" altLang="en-US" sz="1400" b="1" dirty="0">
                  <a:latin typeface="Times New Roman" pitchFamily="18" charset="0"/>
                </a:endParaRPr>
              </a:p>
            </p:txBody>
          </p:sp>
          <p:sp>
            <p:nvSpPr>
              <p:cNvPr id="5180" name="Line 28"/>
              <p:cNvSpPr/>
              <p:nvPr/>
            </p:nvSpPr>
            <p:spPr>
              <a:xfrm flipH="1" flipV="1">
                <a:off x="3954" y="2351"/>
                <a:ext cx="0" cy="281"/>
              </a:xfrm>
              <a:prstGeom prst="line">
                <a:avLst/>
              </a:prstGeom>
              <a:ln w="9525" cap="flat" cmpd="sng">
                <a:solidFill>
                  <a:schemeClr val="tx1"/>
                </a:solidFill>
                <a:prstDash val="solid"/>
                <a:headEnd type="none" w="med" len="med"/>
                <a:tailEnd type="triangle" w="med" len="med"/>
              </a:ln>
            </p:spPr>
          </p:sp>
          <p:sp>
            <p:nvSpPr>
              <p:cNvPr id="5181" name="Line 29"/>
              <p:cNvSpPr/>
              <p:nvPr/>
            </p:nvSpPr>
            <p:spPr>
              <a:xfrm flipH="1" flipV="1">
                <a:off x="4580" y="2361"/>
                <a:ext cx="0" cy="281"/>
              </a:xfrm>
              <a:prstGeom prst="line">
                <a:avLst/>
              </a:prstGeom>
              <a:ln w="9525" cap="flat" cmpd="sng">
                <a:solidFill>
                  <a:schemeClr val="tx1"/>
                </a:solidFill>
                <a:prstDash val="solid"/>
                <a:headEnd type="none" w="med" len="med"/>
                <a:tailEnd type="triangle" w="med" len="med"/>
              </a:ln>
            </p:spPr>
          </p:sp>
          <p:sp>
            <p:nvSpPr>
              <p:cNvPr id="5182" name="Line 30"/>
              <p:cNvSpPr/>
              <p:nvPr/>
            </p:nvSpPr>
            <p:spPr>
              <a:xfrm flipH="1" flipV="1">
                <a:off x="5190" y="2356"/>
                <a:ext cx="0" cy="281"/>
              </a:xfrm>
              <a:prstGeom prst="line">
                <a:avLst/>
              </a:prstGeom>
              <a:ln w="9525" cap="flat" cmpd="sng">
                <a:solidFill>
                  <a:schemeClr val="tx1"/>
                </a:solidFill>
                <a:prstDash val="solid"/>
                <a:headEnd type="none" w="med" len="med"/>
                <a:tailEnd type="triangle" w="med" len="med"/>
              </a:ln>
            </p:spPr>
          </p:sp>
          <p:sp>
            <p:nvSpPr>
              <p:cNvPr id="5183" name="Line 31"/>
              <p:cNvSpPr/>
              <p:nvPr/>
            </p:nvSpPr>
            <p:spPr>
              <a:xfrm flipV="1">
                <a:off x="5180" y="3001"/>
                <a:ext cx="0" cy="204"/>
              </a:xfrm>
              <a:prstGeom prst="line">
                <a:avLst/>
              </a:prstGeom>
              <a:ln w="9525" cap="flat" cmpd="sng">
                <a:solidFill>
                  <a:schemeClr val="tx1"/>
                </a:solidFill>
                <a:prstDash val="solid"/>
                <a:headEnd type="none" w="med" len="med"/>
                <a:tailEnd type="triangle" w="med" len="med"/>
              </a:ln>
            </p:spPr>
          </p:sp>
          <p:sp>
            <p:nvSpPr>
              <p:cNvPr id="5184" name="Line 32"/>
              <p:cNvSpPr/>
              <p:nvPr/>
            </p:nvSpPr>
            <p:spPr>
              <a:xfrm flipV="1">
                <a:off x="4572" y="3006"/>
                <a:ext cx="0" cy="204"/>
              </a:xfrm>
              <a:prstGeom prst="line">
                <a:avLst/>
              </a:prstGeom>
              <a:ln w="9525" cap="flat" cmpd="sng">
                <a:solidFill>
                  <a:schemeClr val="tx1"/>
                </a:solidFill>
                <a:prstDash val="solid"/>
                <a:headEnd type="none" w="med" len="med"/>
                <a:tailEnd type="triangle" w="med" len="med"/>
              </a:ln>
            </p:spPr>
          </p:sp>
          <p:sp>
            <p:nvSpPr>
              <p:cNvPr id="5185" name="Line 33"/>
              <p:cNvSpPr/>
              <p:nvPr/>
            </p:nvSpPr>
            <p:spPr>
              <a:xfrm flipV="1">
                <a:off x="3948" y="3002"/>
                <a:ext cx="0" cy="204"/>
              </a:xfrm>
              <a:prstGeom prst="line">
                <a:avLst/>
              </a:prstGeom>
              <a:ln w="9525" cap="flat" cmpd="sng">
                <a:solidFill>
                  <a:schemeClr val="tx1"/>
                </a:solidFill>
                <a:prstDash val="solid"/>
                <a:headEnd type="none" w="med" len="med"/>
                <a:tailEnd type="triangle" w="med" len="med"/>
              </a:ln>
            </p:spPr>
          </p:sp>
          <p:sp>
            <p:nvSpPr>
              <p:cNvPr id="5186" name="Line 34"/>
              <p:cNvSpPr/>
              <p:nvPr/>
            </p:nvSpPr>
            <p:spPr>
              <a:xfrm flipV="1">
                <a:off x="3325" y="3003"/>
                <a:ext cx="0" cy="204"/>
              </a:xfrm>
              <a:prstGeom prst="line">
                <a:avLst/>
              </a:prstGeom>
              <a:ln w="9525" cap="flat" cmpd="sng">
                <a:solidFill>
                  <a:schemeClr val="tx1"/>
                </a:solidFill>
                <a:prstDash val="solid"/>
                <a:headEnd type="none" w="med" len="med"/>
                <a:tailEnd type="triangle" w="med" len="med"/>
              </a:ln>
            </p:spPr>
          </p:sp>
        </p:grpSp>
      </p:grpSp>
      <p:grpSp>
        <p:nvGrpSpPr>
          <p:cNvPr id="5138" name="Group 35"/>
          <p:cNvGrpSpPr/>
          <p:nvPr/>
        </p:nvGrpSpPr>
        <p:grpSpPr>
          <a:xfrm>
            <a:off x="7100888" y="3797300"/>
            <a:ext cx="4087812" cy="2890838"/>
            <a:chOff x="2984" y="1509"/>
            <a:chExt cx="2470" cy="2312"/>
          </a:xfrm>
        </p:grpSpPr>
        <p:graphicFrame>
          <p:nvGraphicFramePr>
            <p:cNvPr id="5122" name="Object 5"/>
            <p:cNvGraphicFramePr/>
            <p:nvPr/>
          </p:nvGraphicFramePr>
          <p:xfrm>
            <a:off x="3115" y="3201"/>
            <a:ext cx="2197" cy="467"/>
          </p:xfrm>
          <a:graphic>
            <a:graphicData uri="http://schemas.openxmlformats.org/presentationml/2006/ole">
              <mc:AlternateContent xmlns:mc="http://schemas.openxmlformats.org/markup-compatibility/2006">
                <mc:Choice xmlns:v="urn:schemas-microsoft-com:vml" Requires="v">
                  <p:oleObj spid="_x0000_s3103" name="" r:id="rId10" imgW="3485515" imgH="946150" progId="Word.Document.8">
                    <p:embed/>
                  </p:oleObj>
                </mc:Choice>
                <mc:Fallback>
                  <p:oleObj name="" r:id="rId10" imgW="3485515" imgH="946150" progId="Word.Document.8">
                    <p:embed/>
                    <p:pic>
                      <p:nvPicPr>
                        <p:cNvPr id="0" name="图片 3102"/>
                        <p:cNvPicPr/>
                        <p:nvPr/>
                      </p:nvPicPr>
                      <p:blipFill>
                        <a:blip r:embed="rId4"/>
                        <a:stretch>
                          <a:fillRect/>
                        </a:stretch>
                      </p:blipFill>
                      <p:spPr>
                        <a:xfrm>
                          <a:off x="3115" y="3201"/>
                          <a:ext cx="2197" cy="467"/>
                        </a:xfrm>
                        <a:prstGeom prst="rect">
                          <a:avLst/>
                        </a:prstGeom>
                        <a:noFill/>
                        <a:ln w="38100">
                          <a:noFill/>
                          <a:miter/>
                        </a:ln>
                      </p:spPr>
                    </p:pic>
                  </p:oleObj>
                </mc:Fallback>
              </mc:AlternateContent>
            </a:graphicData>
          </a:graphic>
        </p:graphicFrame>
        <p:sp>
          <p:nvSpPr>
            <p:cNvPr id="5140" name="Text Box 37"/>
            <p:cNvSpPr txBox="1"/>
            <p:nvPr/>
          </p:nvSpPr>
          <p:spPr>
            <a:xfrm>
              <a:off x="3093" y="150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41" name="Text Box 38"/>
            <p:cNvSpPr txBox="1"/>
            <p:nvPr/>
          </p:nvSpPr>
          <p:spPr>
            <a:xfrm>
              <a:off x="3719" y="151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42" name="Text Box 39"/>
            <p:cNvSpPr txBox="1"/>
            <p:nvPr/>
          </p:nvSpPr>
          <p:spPr>
            <a:xfrm>
              <a:off x="4340" y="1515"/>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43" name="Text Box 40"/>
            <p:cNvSpPr txBox="1"/>
            <p:nvPr/>
          </p:nvSpPr>
          <p:spPr>
            <a:xfrm>
              <a:off x="4958" y="151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5144" name="Line 41"/>
            <p:cNvSpPr/>
            <p:nvPr/>
          </p:nvSpPr>
          <p:spPr>
            <a:xfrm flipH="1" flipV="1">
              <a:off x="3320" y="2364"/>
              <a:ext cx="0" cy="281"/>
            </a:xfrm>
            <a:prstGeom prst="line">
              <a:avLst/>
            </a:prstGeom>
            <a:ln w="9525" cap="flat" cmpd="sng">
              <a:solidFill>
                <a:schemeClr val="tx1"/>
              </a:solidFill>
              <a:prstDash val="solid"/>
              <a:headEnd type="none" w="med" len="med"/>
              <a:tailEnd type="triangle" w="med" len="med"/>
            </a:ln>
          </p:spPr>
        </p:sp>
        <p:sp>
          <p:nvSpPr>
            <p:cNvPr id="5145" name="Line 42"/>
            <p:cNvSpPr/>
            <p:nvPr/>
          </p:nvSpPr>
          <p:spPr>
            <a:xfrm flipV="1">
              <a:off x="4234" y="3571"/>
              <a:ext cx="0" cy="250"/>
            </a:xfrm>
            <a:prstGeom prst="line">
              <a:avLst/>
            </a:prstGeom>
            <a:ln w="19050" cap="flat" cmpd="sng">
              <a:solidFill>
                <a:schemeClr val="tx1"/>
              </a:solidFill>
              <a:prstDash val="solid"/>
              <a:headEnd type="none" w="med" len="med"/>
              <a:tailEnd type="triangle" w="med" len="med"/>
            </a:ln>
          </p:spPr>
        </p:sp>
        <p:sp>
          <p:nvSpPr>
            <p:cNvPr id="5146" name="Line 43"/>
            <p:cNvSpPr/>
            <p:nvPr/>
          </p:nvSpPr>
          <p:spPr>
            <a:xfrm flipV="1">
              <a:off x="5185" y="1775"/>
              <a:ext cx="0" cy="204"/>
            </a:xfrm>
            <a:prstGeom prst="line">
              <a:avLst/>
            </a:prstGeom>
            <a:ln w="9525" cap="flat" cmpd="sng">
              <a:solidFill>
                <a:schemeClr val="tx1"/>
              </a:solidFill>
              <a:prstDash val="solid"/>
              <a:headEnd type="none" w="med" len="med"/>
              <a:tailEnd type="triangle" w="med" len="med"/>
            </a:ln>
          </p:spPr>
        </p:sp>
        <p:sp>
          <p:nvSpPr>
            <p:cNvPr id="5147" name="Line 44"/>
            <p:cNvSpPr/>
            <p:nvPr/>
          </p:nvSpPr>
          <p:spPr>
            <a:xfrm flipV="1">
              <a:off x="4577" y="1780"/>
              <a:ext cx="0" cy="204"/>
            </a:xfrm>
            <a:prstGeom prst="line">
              <a:avLst/>
            </a:prstGeom>
            <a:ln w="9525" cap="flat" cmpd="sng">
              <a:solidFill>
                <a:schemeClr val="tx1"/>
              </a:solidFill>
              <a:prstDash val="solid"/>
              <a:headEnd type="none" w="med" len="med"/>
              <a:tailEnd type="triangle" w="med" len="med"/>
            </a:ln>
          </p:spPr>
        </p:sp>
        <p:sp>
          <p:nvSpPr>
            <p:cNvPr id="5148" name="Line 45"/>
            <p:cNvSpPr/>
            <p:nvPr/>
          </p:nvSpPr>
          <p:spPr>
            <a:xfrm flipV="1">
              <a:off x="3953" y="1776"/>
              <a:ext cx="0" cy="204"/>
            </a:xfrm>
            <a:prstGeom prst="line">
              <a:avLst/>
            </a:prstGeom>
            <a:ln w="9525" cap="flat" cmpd="sng">
              <a:solidFill>
                <a:schemeClr val="tx1"/>
              </a:solidFill>
              <a:prstDash val="solid"/>
              <a:headEnd type="none" w="med" len="med"/>
              <a:tailEnd type="triangle" w="med" len="med"/>
            </a:ln>
          </p:spPr>
        </p:sp>
        <p:sp>
          <p:nvSpPr>
            <p:cNvPr id="5149" name="Line 46"/>
            <p:cNvSpPr/>
            <p:nvPr/>
          </p:nvSpPr>
          <p:spPr>
            <a:xfrm flipV="1">
              <a:off x="3330" y="1777"/>
              <a:ext cx="0" cy="204"/>
            </a:xfrm>
            <a:prstGeom prst="line">
              <a:avLst/>
            </a:prstGeom>
            <a:ln w="9525" cap="flat" cmpd="sng">
              <a:solidFill>
                <a:schemeClr val="tx1"/>
              </a:solidFill>
              <a:prstDash val="solid"/>
              <a:headEnd type="none" w="med" len="med"/>
              <a:tailEnd type="triangle" w="med" len="med"/>
            </a:ln>
          </p:spPr>
        </p:sp>
        <p:sp>
          <p:nvSpPr>
            <p:cNvPr id="5150" name="Text Box 47"/>
            <p:cNvSpPr txBox="1"/>
            <p:nvPr/>
          </p:nvSpPr>
          <p:spPr>
            <a:xfrm>
              <a:off x="3993" y="3281"/>
              <a:ext cx="461"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指令队列及译码</a:t>
              </a:r>
              <a:endParaRPr lang="zh-CN" altLang="en-US" sz="1000" b="1" dirty="0">
                <a:latin typeface="Times New Roman" pitchFamily="18" charset="0"/>
              </a:endParaRPr>
            </a:p>
          </p:txBody>
        </p:sp>
        <p:graphicFrame>
          <p:nvGraphicFramePr>
            <p:cNvPr id="5123" name="Object 6"/>
            <p:cNvGraphicFramePr/>
            <p:nvPr/>
          </p:nvGraphicFramePr>
          <p:xfrm>
            <a:off x="4838" y="2637"/>
            <a:ext cx="616" cy="483"/>
          </p:xfrm>
          <a:graphic>
            <a:graphicData uri="http://schemas.openxmlformats.org/presentationml/2006/ole">
              <mc:AlternateContent xmlns:mc="http://schemas.openxmlformats.org/markup-compatibility/2006">
                <mc:Choice xmlns:v="urn:schemas-microsoft-com:vml" Requires="v">
                  <p:oleObj spid="_x0000_s3104" name="" r:id="rId11" imgW="984250" imgH="929640" progId="Word.Document.8">
                    <p:embed/>
                  </p:oleObj>
                </mc:Choice>
                <mc:Fallback>
                  <p:oleObj name="" r:id="rId11" imgW="984250" imgH="929640" progId="Word.Document.8">
                    <p:embed/>
                    <p:pic>
                      <p:nvPicPr>
                        <p:cNvPr id="0" name="图片 3103"/>
                        <p:cNvPicPr/>
                        <p:nvPr/>
                      </p:nvPicPr>
                      <p:blipFill>
                        <a:blip r:embed="rId6"/>
                        <a:stretch>
                          <a:fillRect/>
                        </a:stretch>
                      </p:blipFill>
                      <p:spPr>
                        <a:xfrm>
                          <a:off x="4838" y="2637"/>
                          <a:ext cx="616" cy="483"/>
                        </a:xfrm>
                        <a:prstGeom prst="rect">
                          <a:avLst/>
                        </a:prstGeom>
                        <a:noFill/>
                        <a:ln w="38100">
                          <a:noFill/>
                          <a:miter/>
                        </a:ln>
                      </p:spPr>
                    </p:pic>
                  </p:oleObj>
                </mc:Fallback>
              </mc:AlternateContent>
            </a:graphicData>
          </a:graphic>
        </p:graphicFrame>
        <p:sp>
          <p:nvSpPr>
            <p:cNvPr id="5151" name="Text Box 49"/>
            <p:cNvSpPr txBox="1"/>
            <p:nvPr/>
          </p:nvSpPr>
          <p:spPr>
            <a:xfrm>
              <a:off x="5007" y="2716"/>
              <a:ext cx="334"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5124" name="Object 7"/>
            <p:cNvGraphicFramePr/>
            <p:nvPr/>
          </p:nvGraphicFramePr>
          <p:xfrm>
            <a:off x="4241" y="2639"/>
            <a:ext cx="616" cy="483"/>
          </p:xfrm>
          <a:graphic>
            <a:graphicData uri="http://schemas.openxmlformats.org/presentationml/2006/ole">
              <mc:AlternateContent xmlns:mc="http://schemas.openxmlformats.org/markup-compatibility/2006">
                <mc:Choice xmlns:v="urn:schemas-microsoft-com:vml" Requires="v">
                  <p:oleObj spid="_x0000_s3105" name="" r:id="rId12" imgW="984250" imgH="929640" progId="Word.Document.8">
                    <p:embed/>
                  </p:oleObj>
                </mc:Choice>
                <mc:Fallback>
                  <p:oleObj name="" r:id="rId12" imgW="984250" imgH="929640" progId="Word.Document.8">
                    <p:embed/>
                    <p:pic>
                      <p:nvPicPr>
                        <p:cNvPr id="0" name="图片 3104"/>
                        <p:cNvPicPr/>
                        <p:nvPr/>
                      </p:nvPicPr>
                      <p:blipFill>
                        <a:blip r:embed="rId2"/>
                        <a:stretch>
                          <a:fillRect/>
                        </a:stretch>
                      </p:blipFill>
                      <p:spPr>
                        <a:xfrm>
                          <a:off x="4241" y="2639"/>
                          <a:ext cx="616" cy="483"/>
                        </a:xfrm>
                        <a:prstGeom prst="rect">
                          <a:avLst/>
                        </a:prstGeom>
                        <a:noFill/>
                        <a:ln w="38100">
                          <a:noFill/>
                          <a:miter/>
                        </a:ln>
                      </p:spPr>
                    </p:pic>
                  </p:oleObj>
                </mc:Fallback>
              </mc:AlternateContent>
            </a:graphicData>
          </a:graphic>
        </p:graphicFrame>
        <p:sp>
          <p:nvSpPr>
            <p:cNvPr id="5152" name="Text Box 51"/>
            <p:cNvSpPr txBox="1"/>
            <p:nvPr/>
          </p:nvSpPr>
          <p:spPr>
            <a:xfrm>
              <a:off x="4402" y="2718"/>
              <a:ext cx="342" cy="246"/>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5125" name="Object 8"/>
            <p:cNvGraphicFramePr/>
            <p:nvPr/>
          </p:nvGraphicFramePr>
          <p:xfrm>
            <a:off x="3611" y="2634"/>
            <a:ext cx="616" cy="483"/>
          </p:xfrm>
          <a:graphic>
            <a:graphicData uri="http://schemas.openxmlformats.org/presentationml/2006/ole">
              <mc:AlternateContent xmlns:mc="http://schemas.openxmlformats.org/markup-compatibility/2006">
                <mc:Choice xmlns:v="urn:schemas-microsoft-com:vml" Requires="v">
                  <p:oleObj spid="_x0000_s3106" name="" r:id="rId13" imgW="984250" imgH="929640" progId="Word.Document.8">
                    <p:embed/>
                  </p:oleObj>
                </mc:Choice>
                <mc:Fallback>
                  <p:oleObj name="" r:id="rId13" imgW="984250" imgH="929640" progId="Word.Document.8">
                    <p:embed/>
                    <p:pic>
                      <p:nvPicPr>
                        <p:cNvPr id="0" name="图片 3105"/>
                        <p:cNvPicPr/>
                        <p:nvPr/>
                      </p:nvPicPr>
                      <p:blipFill>
                        <a:blip r:embed="rId2"/>
                        <a:stretch>
                          <a:fillRect/>
                        </a:stretch>
                      </p:blipFill>
                      <p:spPr>
                        <a:xfrm>
                          <a:off x="3611" y="2634"/>
                          <a:ext cx="616" cy="483"/>
                        </a:xfrm>
                        <a:prstGeom prst="rect">
                          <a:avLst/>
                        </a:prstGeom>
                        <a:noFill/>
                        <a:ln w="38100">
                          <a:noFill/>
                          <a:miter/>
                        </a:ln>
                      </p:spPr>
                    </p:pic>
                  </p:oleObj>
                </mc:Fallback>
              </mc:AlternateContent>
            </a:graphicData>
          </a:graphic>
        </p:graphicFrame>
        <p:sp>
          <p:nvSpPr>
            <p:cNvPr id="5153" name="Text Box 53"/>
            <p:cNvSpPr txBox="1"/>
            <p:nvPr/>
          </p:nvSpPr>
          <p:spPr>
            <a:xfrm>
              <a:off x="3772" y="2705"/>
              <a:ext cx="349"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5126" name="Object 9"/>
            <p:cNvGraphicFramePr/>
            <p:nvPr/>
          </p:nvGraphicFramePr>
          <p:xfrm>
            <a:off x="2984" y="2637"/>
            <a:ext cx="616" cy="483"/>
          </p:xfrm>
          <a:graphic>
            <a:graphicData uri="http://schemas.openxmlformats.org/presentationml/2006/ole">
              <mc:AlternateContent xmlns:mc="http://schemas.openxmlformats.org/markup-compatibility/2006">
                <mc:Choice xmlns:v="urn:schemas-microsoft-com:vml" Requires="v">
                  <p:oleObj spid="_x0000_s3107" name="" r:id="rId14" imgW="984250" imgH="929640" progId="Word.Document.8">
                    <p:embed/>
                  </p:oleObj>
                </mc:Choice>
                <mc:Fallback>
                  <p:oleObj name="" r:id="rId14" imgW="984250" imgH="929640" progId="Word.Document.8">
                    <p:embed/>
                    <p:pic>
                      <p:nvPicPr>
                        <p:cNvPr id="0" name="图片 3106"/>
                        <p:cNvPicPr/>
                        <p:nvPr/>
                      </p:nvPicPr>
                      <p:blipFill>
                        <a:blip r:embed="rId2"/>
                        <a:stretch>
                          <a:fillRect/>
                        </a:stretch>
                      </p:blipFill>
                      <p:spPr>
                        <a:xfrm>
                          <a:off x="2984" y="2637"/>
                          <a:ext cx="616" cy="483"/>
                        </a:xfrm>
                        <a:prstGeom prst="rect">
                          <a:avLst/>
                        </a:prstGeom>
                        <a:noFill/>
                        <a:ln w="38100">
                          <a:noFill/>
                          <a:miter/>
                        </a:ln>
                      </p:spPr>
                    </p:pic>
                  </p:oleObj>
                </mc:Fallback>
              </mc:AlternateContent>
            </a:graphicData>
          </a:graphic>
        </p:graphicFrame>
        <p:sp>
          <p:nvSpPr>
            <p:cNvPr id="5154" name="Text Box 55"/>
            <p:cNvSpPr txBox="1"/>
            <p:nvPr/>
          </p:nvSpPr>
          <p:spPr>
            <a:xfrm>
              <a:off x="3153" y="2716"/>
              <a:ext cx="327"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5127" name="Object 10"/>
            <p:cNvGraphicFramePr/>
            <p:nvPr/>
          </p:nvGraphicFramePr>
          <p:xfrm>
            <a:off x="3124" y="1979"/>
            <a:ext cx="2197" cy="467"/>
          </p:xfrm>
          <a:graphic>
            <a:graphicData uri="http://schemas.openxmlformats.org/presentationml/2006/ole">
              <mc:AlternateContent xmlns:mc="http://schemas.openxmlformats.org/markup-compatibility/2006">
                <mc:Choice xmlns:v="urn:schemas-microsoft-com:vml" Requires="v">
                  <p:oleObj spid="_x0000_s3108" name="" r:id="rId15" imgW="3485515" imgH="946150" progId="Word.Document.8">
                    <p:embed/>
                  </p:oleObj>
                </mc:Choice>
                <mc:Fallback>
                  <p:oleObj name="" r:id="rId15" imgW="3485515" imgH="946150" progId="Word.Document.8">
                    <p:embed/>
                    <p:pic>
                      <p:nvPicPr>
                        <p:cNvPr id="0" name="图片 3107"/>
                        <p:cNvPicPr/>
                        <p:nvPr/>
                      </p:nvPicPr>
                      <p:blipFill>
                        <a:blip r:embed="rId4"/>
                        <a:stretch>
                          <a:fillRect/>
                        </a:stretch>
                      </p:blipFill>
                      <p:spPr>
                        <a:xfrm>
                          <a:off x="3124" y="1979"/>
                          <a:ext cx="2197" cy="467"/>
                        </a:xfrm>
                        <a:prstGeom prst="rect">
                          <a:avLst/>
                        </a:prstGeom>
                        <a:noFill/>
                        <a:ln w="38100">
                          <a:noFill/>
                          <a:miter/>
                        </a:ln>
                      </p:spPr>
                    </p:pic>
                  </p:oleObj>
                </mc:Fallback>
              </mc:AlternateContent>
            </a:graphicData>
          </a:graphic>
        </p:graphicFrame>
        <p:sp>
          <p:nvSpPr>
            <p:cNvPr id="5155" name="Text Box 57"/>
            <p:cNvSpPr txBox="1"/>
            <p:nvPr/>
          </p:nvSpPr>
          <p:spPr>
            <a:xfrm>
              <a:off x="3972" y="2110"/>
              <a:ext cx="553" cy="123"/>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寄存器</a:t>
              </a:r>
              <a:endParaRPr lang="zh-CN" altLang="en-US" sz="1000" b="1" dirty="0">
                <a:latin typeface="Times New Roman" pitchFamily="18" charset="0"/>
              </a:endParaRPr>
            </a:p>
          </p:txBody>
        </p:sp>
        <p:sp>
          <p:nvSpPr>
            <p:cNvPr id="5156" name="Line 58"/>
            <p:cNvSpPr/>
            <p:nvPr/>
          </p:nvSpPr>
          <p:spPr>
            <a:xfrm flipH="1" flipV="1">
              <a:off x="3954" y="2351"/>
              <a:ext cx="0" cy="281"/>
            </a:xfrm>
            <a:prstGeom prst="line">
              <a:avLst/>
            </a:prstGeom>
            <a:ln w="9525" cap="flat" cmpd="sng">
              <a:solidFill>
                <a:schemeClr val="tx1"/>
              </a:solidFill>
              <a:prstDash val="solid"/>
              <a:headEnd type="none" w="med" len="med"/>
              <a:tailEnd type="triangle" w="med" len="med"/>
            </a:ln>
          </p:spPr>
        </p:sp>
        <p:sp>
          <p:nvSpPr>
            <p:cNvPr id="5157" name="Line 59"/>
            <p:cNvSpPr/>
            <p:nvPr/>
          </p:nvSpPr>
          <p:spPr>
            <a:xfrm flipH="1" flipV="1">
              <a:off x="4580" y="2361"/>
              <a:ext cx="0" cy="281"/>
            </a:xfrm>
            <a:prstGeom prst="line">
              <a:avLst/>
            </a:prstGeom>
            <a:ln w="9525" cap="flat" cmpd="sng">
              <a:solidFill>
                <a:schemeClr val="tx1"/>
              </a:solidFill>
              <a:prstDash val="solid"/>
              <a:headEnd type="none" w="med" len="med"/>
              <a:tailEnd type="triangle" w="med" len="med"/>
            </a:ln>
          </p:spPr>
        </p:sp>
        <p:sp>
          <p:nvSpPr>
            <p:cNvPr id="5158" name="Line 60"/>
            <p:cNvSpPr/>
            <p:nvPr/>
          </p:nvSpPr>
          <p:spPr>
            <a:xfrm flipH="1" flipV="1">
              <a:off x="5190" y="2356"/>
              <a:ext cx="0" cy="281"/>
            </a:xfrm>
            <a:prstGeom prst="line">
              <a:avLst/>
            </a:prstGeom>
            <a:ln w="9525" cap="flat" cmpd="sng">
              <a:solidFill>
                <a:schemeClr val="tx1"/>
              </a:solidFill>
              <a:prstDash val="solid"/>
              <a:headEnd type="none" w="med" len="med"/>
              <a:tailEnd type="triangle" w="med" len="med"/>
            </a:ln>
          </p:spPr>
        </p:sp>
        <p:sp>
          <p:nvSpPr>
            <p:cNvPr id="5159" name="Line 61"/>
            <p:cNvSpPr/>
            <p:nvPr/>
          </p:nvSpPr>
          <p:spPr>
            <a:xfrm flipV="1">
              <a:off x="5179" y="3000"/>
              <a:ext cx="0" cy="204"/>
            </a:xfrm>
            <a:prstGeom prst="line">
              <a:avLst/>
            </a:prstGeom>
            <a:ln w="9525" cap="flat" cmpd="sng">
              <a:solidFill>
                <a:schemeClr val="tx1"/>
              </a:solidFill>
              <a:prstDash val="solid"/>
              <a:headEnd type="none" w="med" len="med"/>
              <a:tailEnd type="triangle" w="med" len="med"/>
            </a:ln>
          </p:spPr>
        </p:sp>
        <p:sp>
          <p:nvSpPr>
            <p:cNvPr id="5160" name="Line 62"/>
            <p:cNvSpPr/>
            <p:nvPr/>
          </p:nvSpPr>
          <p:spPr>
            <a:xfrm flipV="1">
              <a:off x="4571" y="3005"/>
              <a:ext cx="0" cy="204"/>
            </a:xfrm>
            <a:prstGeom prst="line">
              <a:avLst/>
            </a:prstGeom>
            <a:ln w="9525" cap="flat" cmpd="sng">
              <a:solidFill>
                <a:schemeClr val="tx1"/>
              </a:solidFill>
              <a:prstDash val="solid"/>
              <a:headEnd type="none" w="med" len="med"/>
              <a:tailEnd type="triangle" w="med" len="med"/>
            </a:ln>
          </p:spPr>
        </p:sp>
        <p:sp>
          <p:nvSpPr>
            <p:cNvPr id="5161" name="Line 63"/>
            <p:cNvSpPr/>
            <p:nvPr/>
          </p:nvSpPr>
          <p:spPr>
            <a:xfrm flipV="1">
              <a:off x="3947" y="3001"/>
              <a:ext cx="0" cy="204"/>
            </a:xfrm>
            <a:prstGeom prst="line">
              <a:avLst/>
            </a:prstGeom>
            <a:ln w="9525" cap="flat" cmpd="sng">
              <a:solidFill>
                <a:schemeClr val="tx1"/>
              </a:solidFill>
              <a:prstDash val="solid"/>
              <a:headEnd type="none" w="med" len="med"/>
              <a:tailEnd type="triangle" w="med" len="med"/>
            </a:ln>
          </p:spPr>
        </p:sp>
        <p:sp>
          <p:nvSpPr>
            <p:cNvPr id="5162" name="Line 64"/>
            <p:cNvSpPr/>
            <p:nvPr/>
          </p:nvSpPr>
          <p:spPr>
            <a:xfrm flipV="1">
              <a:off x="3324" y="3002"/>
              <a:ext cx="0" cy="204"/>
            </a:xfrm>
            <a:prstGeom prst="line">
              <a:avLst/>
            </a:prstGeom>
            <a:ln w="9525" cap="flat" cmpd="sng">
              <a:solidFill>
                <a:schemeClr val="tx1"/>
              </a:solidFill>
              <a:prstDash val="solid"/>
              <a:headEnd type="none" w="med" len="med"/>
              <a:tailEnd type="triangle" w="med" len="med"/>
            </a:ln>
          </p:spPr>
        </p:sp>
      </p:grpSp>
      <p:sp>
        <p:nvSpPr>
          <p:cNvPr id="5139" name="Rectangle 65"/>
          <p:cNvSpPr/>
          <p:nvPr/>
        </p:nvSpPr>
        <p:spPr>
          <a:xfrm>
            <a:off x="6453505" y="930275"/>
            <a:ext cx="5478780" cy="2863850"/>
          </a:xfrm>
          <a:prstGeom prst="rect">
            <a:avLst/>
          </a:prstGeom>
          <a:noFill/>
          <a:ln w="9525">
            <a:noFill/>
          </a:ln>
        </p:spPr>
        <p:txBody>
          <a:bodyPr/>
          <a:p>
            <a:pPr marL="342900" indent="-342900" algn="l">
              <a:lnSpc>
                <a:spcPct val="150000"/>
              </a:lnSpc>
              <a:buChar char="•"/>
            </a:pPr>
            <a:r>
              <a:rPr lang="zh-CN" altLang="en-US" b="1" dirty="0">
                <a:latin typeface="Times New Roman" pitchFamily="18" charset="0"/>
              </a:rPr>
              <a:t>保留站后读寄存器</a:t>
            </a:r>
            <a:endParaRPr lang="zh-CN" altLang="en-US" b="1" dirty="0">
              <a:latin typeface="Times New Roman" pitchFamily="18" charset="0"/>
            </a:endParaRPr>
          </a:p>
          <a:p>
            <a:pPr marL="742950" lvl="1" indent="-285750" algn="l" eaLnBrk="1" hangingPunct="1">
              <a:lnSpc>
                <a:spcPct val="150000"/>
              </a:lnSpc>
              <a:buChar char="•"/>
            </a:pPr>
            <a:r>
              <a:rPr lang="zh-CN" altLang="en-US" sz="2000" b="1" dirty="0">
                <a:latin typeface="Times New Roman" pitchFamily="18" charset="0"/>
              </a:rPr>
              <a:t>操作数全部准备号后才能读寄存器，</a:t>
            </a:r>
            <a:r>
              <a:rPr lang="zh-CN" altLang="en-US" sz="2000" b="1" dirty="0">
                <a:sym typeface="+mn-ea"/>
              </a:rPr>
              <a:t>保留站不用存储数据</a:t>
            </a:r>
            <a:endParaRPr lang="zh-CN" altLang="en-US" sz="2000" b="1" dirty="0">
              <a:latin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2"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153" name="Rectangle 2"/>
          <p:cNvSpPr>
            <a:spLocks noGrp="1"/>
          </p:cNvSpPr>
          <p:nvPr>
            <p:ph type="title"/>
          </p:nvPr>
        </p:nvSpPr>
        <p:spPr>
          <a:xfrm>
            <a:off x="946150" y="300038"/>
            <a:ext cx="10361613" cy="574675"/>
          </a:xfrm>
        </p:spPr>
        <p:txBody>
          <a:bodyPr vert="horz" wrap="square" lIns="91440" tIns="45720" rIns="91440" bIns="45720" anchor="ctr" anchorCtr="0"/>
          <a:p>
            <a:pPr eaLnBrk="1" hangingPunct="1"/>
            <a:r>
              <a:rPr lang="zh-CN" altLang="en-US" dirty="0"/>
              <a:t>保留站前读寄存器</a:t>
            </a:r>
            <a:endParaRPr lang="zh-CN" altLang="en-US" dirty="0"/>
          </a:p>
        </p:txBody>
      </p:sp>
      <p:sp>
        <p:nvSpPr>
          <p:cNvPr id="6154" name="Rectangle 3"/>
          <p:cNvSpPr>
            <a:spLocks noGrp="1"/>
          </p:cNvSpPr>
          <p:nvPr>
            <p:ph idx="1"/>
          </p:nvPr>
        </p:nvSpPr>
        <p:spPr>
          <a:xfrm>
            <a:off x="222250" y="1331913"/>
            <a:ext cx="7648575" cy="4937125"/>
          </a:xfrm>
        </p:spPr>
        <p:txBody>
          <a:bodyPr vert="horz" wrap="square" lIns="91440" tIns="45720" rIns="91440" bIns="45720" anchor="t" anchorCtr="0"/>
          <a:p>
            <a:pPr eaLnBrk="1" hangingPunct="1">
              <a:lnSpc>
                <a:spcPct val="150000"/>
              </a:lnSpc>
              <a:spcBef>
                <a:spcPct val="0"/>
              </a:spcBef>
            </a:pPr>
            <a:r>
              <a:rPr lang="zh-CN" altLang="en-US" sz="2400" dirty="0"/>
              <a:t>寄存器的输出作为保留站的输入</a:t>
            </a:r>
            <a:endParaRPr lang="zh-CN" altLang="en-US" sz="2400" dirty="0"/>
          </a:p>
          <a:p>
            <a:pPr lvl="1" eaLnBrk="1" hangingPunct="1">
              <a:lnSpc>
                <a:spcPct val="150000"/>
              </a:lnSpc>
              <a:spcBef>
                <a:spcPct val="0"/>
              </a:spcBef>
            </a:pPr>
            <a:r>
              <a:rPr lang="zh-CN" altLang="en-US" sz="2000" dirty="0"/>
              <a:t>操作数没有准备好就读寄存器，保留站侦听结果总线获取没写回的值</a:t>
            </a:r>
            <a:endParaRPr lang="zh-CN" altLang="en-US" sz="2000" dirty="0"/>
          </a:p>
          <a:p>
            <a:pPr lvl="1" eaLnBrk="1" hangingPunct="1">
              <a:lnSpc>
                <a:spcPct val="150000"/>
              </a:lnSpc>
              <a:spcBef>
                <a:spcPct val="0"/>
              </a:spcBef>
            </a:pPr>
            <a:r>
              <a:rPr lang="zh-CN" altLang="en-US" sz="2000" dirty="0"/>
              <a:t>有序读寄存器</a:t>
            </a:r>
            <a:endParaRPr lang="zh-CN" altLang="en-US" sz="2000" dirty="0"/>
          </a:p>
          <a:p>
            <a:pPr lvl="1" eaLnBrk="1" hangingPunct="1">
              <a:lnSpc>
                <a:spcPct val="150000"/>
              </a:lnSpc>
              <a:spcBef>
                <a:spcPct val="0"/>
              </a:spcBef>
            </a:pPr>
            <a:r>
              <a:rPr lang="zh-CN" altLang="en-US" sz="2000" dirty="0"/>
              <a:t>保留站中值的来源：寄存器、重命名寄存器、进入保留站时侦听、进入保留站后侦听</a:t>
            </a:r>
            <a:endParaRPr lang="zh-CN" altLang="en-US" sz="2000" dirty="0"/>
          </a:p>
          <a:p>
            <a:pPr lvl="1" eaLnBrk="1" hangingPunct="1">
              <a:lnSpc>
                <a:spcPct val="150000"/>
              </a:lnSpc>
              <a:spcBef>
                <a:spcPct val="0"/>
              </a:spcBef>
            </a:pPr>
            <a:r>
              <a:rPr lang="zh-CN" altLang="en-US" sz="2000" dirty="0"/>
              <a:t>保留站中有值域，因此较复杂</a:t>
            </a:r>
            <a:endParaRPr lang="zh-CN" altLang="en-US" sz="2000" dirty="0"/>
          </a:p>
          <a:p>
            <a:pPr lvl="1" eaLnBrk="1" hangingPunct="1">
              <a:lnSpc>
                <a:spcPct val="150000"/>
              </a:lnSpc>
              <a:spcBef>
                <a:spcPct val="0"/>
              </a:spcBef>
            </a:pPr>
            <a:r>
              <a:rPr lang="zh-CN" altLang="en-US" sz="2000" dirty="0"/>
              <a:t>寄存器读端口数为发射宽度</a:t>
            </a:r>
            <a:endParaRPr lang="zh-CN" altLang="en-US" sz="2000" dirty="0"/>
          </a:p>
        </p:txBody>
      </p:sp>
      <p:grpSp>
        <p:nvGrpSpPr>
          <p:cNvPr id="6155" name="Group 92"/>
          <p:cNvGrpSpPr/>
          <p:nvPr/>
        </p:nvGrpSpPr>
        <p:grpSpPr>
          <a:xfrm>
            <a:off x="7824788" y="3352800"/>
            <a:ext cx="4054475" cy="2741613"/>
            <a:chOff x="2992" y="1509"/>
            <a:chExt cx="2470" cy="2312"/>
          </a:xfrm>
        </p:grpSpPr>
        <p:graphicFrame>
          <p:nvGraphicFramePr>
            <p:cNvPr id="6146" name="Object 4"/>
            <p:cNvGraphicFramePr/>
            <p:nvPr/>
          </p:nvGraphicFramePr>
          <p:xfrm>
            <a:off x="2992" y="1982"/>
            <a:ext cx="616" cy="483"/>
          </p:xfrm>
          <a:graphic>
            <a:graphicData uri="http://schemas.openxmlformats.org/presentationml/2006/ole">
              <mc:AlternateContent xmlns:mc="http://schemas.openxmlformats.org/markup-compatibility/2006">
                <mc:Choice xmlns:v="urn:schemas-microsoft-com:vml" Requires="v">
                  <p:oleObj spid="_x0000_s3109" name="" r:id="rId1" imgW="984250" imgH="929640" progId="Word.Document.8">
                    <p:embed/>
                  </p:oleObj>
                </mc:Choice>
                <mc:Fallback>
                  <p:oleObj name="" r:id="rId1" imgW="984250" imgH="929640" progId="Word.Document.8">
                    <p:embed/>
                    <p:pic>
                      <p:nvPicPr>
                        <p:cNvPr id="0" name="图片 3108"/>
                        <p:cNvPicPr/>
                        <p:nvPr/>
                      </p:nvPicPr>
                      <p:blipFill>
                        <a:blip r:embed="rId2"/>
                        <a:stretch>
                          <a:fillRect/>
                        </a:stretch>
                      </p:blipFill>
                      <p:spPr>
                        <a:xfrm>
                          <a:off x="2992" y="1982"/>
                          <a:ext cx="616" cy="483"/>
                        </a:xfrm>
                        <a:prstGeom prst="rect">
                          <a:avLst/>
                        </a:prstGeom>
                        <a:noFill/>
                        <a:ln w="38100">
                          <a:noFill/>
                          <a:miter/>
                        </a:ln>
                      </p:spPr>
                    </p:pic>
                  </p:oleObj>
                </mc:Fallback>
              </mc:AlternateContent>
            </a:graphicData>
          </a:graphic>
        </p:graphicFrame>
        <p:grpSp>
          <p:nvGrpSpPr>
            <p:cNvPr id="6156" name="Group 94"/>
            <p:cNvGrpSpPr/>
            <p:nvPr/>
          </p:nvGrpSpPr>
          <p:grpSpPr>
            <a:xfrm>
              <a:off x="3093" y="1509"/>
              <a:ext cx="2369" cy="2312"/>
              <a:chOff x="3093" y="1509"/>
              <a:chExt cx="2369" cy="2312"/>
            </a:xfrm>
          </p:grpSpPr>
          <p:sp>
            <p:nvSpPr>
              <p:cNvPr id="6157" name="Line 95"/>
              <p:cNvSpPr/>
              <p:nvPr/>
            </p:nvSpPr>
            <p:spPr>
              <a:xfrm flipV="1">
                <a:off x="4234" y="3571"/>
                <a:ext cx="0" cy="250"/>
              </a:xfrm>
              <a:prstGeom prst="line">
                <a:avLst/>
              </a:prstGeom>
              <a:ln w="19050" cap="flat" cmpd="sng">
                <a:solidFill>
                  <a:schemeClr val="tx1"/>
                </a:solidFill>
                <a:prstDash val="solid"/>
                <a:headEnd type="none" w="med" len="med"/>
                <a:tailEnd type="triangle" w="med" len="med"/>
              </a:ln>
            </p:spPr>
          </p:sp>
          <p:graphicFrame>
            <p:nvGraphicFramePr>
              <p:cNvPr id="6147" name="Object 5"/>
              <p:cNvGraphicFramePr/>
              <p:nvPr/>
            </p:nvGraphicFramePr>
            <p:xfrm>
              <a:off x="3107" y="3202"/>
              <a:ext cx="2197" cy="467"/>
            </p:xfrm>
            <a:graphic>
              <a:graphicData uri="http://schemas.openxmlformats.org/presentationml/2006/ole">
                <mc:AlternateContent xmlns:mc="http://schemas.openxmlformats.org/markup-compatibility/2006">
                  <mc:Choice xmlns:v="urn:schemas-microsoft-com:vml" Requires="v">
                    <p:oleObj spid="_x0000_s3110" name="" r:id="rId3" imgW="3485515" imgH="946150" progId="Word.Document.8">
                      <p:embed/>
                    </p:oleObj>
                  </mc:Choice>
                  <mc:Fallback>
                    <p:oleObj name="" r:id="rId3" imgW="3485515" imgH="946150" progId="Word.Document.8">
                      <p:embed/>
                      <p:pic>
                        <p:nvPicPr>
                          <p:cNvPr id="0" name="图片 3109"/>
                          <p:cNvPicPr/>
                          <p:nvPr/>
                        </p:nvPicPr>
                        <p:blipFill>
                          <a:blip r:embed="rId4"/>
                          <a:stretch>
                            <a:fillRect/>
                          </a:stretch>
                        </p:blipFill>
                        <p:spPr>
                          <a:xfrm>
                            <a:off x="3107" y="3202"/>
                            <a:ext cx="2197" cy="467"/>
                          </a:xfrm>
                          <a:prstGeom prst="rect">
                            <a:avLst/>
                          </a:prstGeom>
                          <a:noFill/>
                          <a:ln w="38100">
                            <a:noFill/>
                            <a:miter/>
                          </a:ln>
                        </p:spPr>
                      </p:pic>
                    </p:oleObj>
                  </mc:Fallback>
                </mc:AlternateContent>
              </a:graphicData>
            </a:graphic>
          </p:graphicFrame>
          <p:sp>
            <p:nvSpPr>
              <p:cNvPr id="6158" name="Text Box 97"/>
              <p:cNvSpPr txBox="1"/>
              <p:nvPr/>
            </p:nvSpPr>
            <p:spPr>
              <a:xfrm>
                <a:off x="3093" y="150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6159" name="Text Box 98"/>
              <p:cNvSpPr txBox="1"/>
              <p:nvPr/>
            </p:nvSpPr>
            <p:spPr>
              <a:xfrm>
                <a:off x="3719" y="151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6160" name="Text Box 99"/>
              <p:cNvSpPr txBox="1"/>
              <p:nvPr/>
            </p:nvSpPr>
            <p:spPr>
              <a:xfrm>
                <a:off x="4340" y="1515"/>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6161" name="Text Box 100"/>
              <p:cNvSpPr txBox="1"/>
              <p:nvPr/>
            </p:nvSpPr>
            <p:spPr>
              <a:xfrm>
                <a:off x="4958" y="151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6162" name="Line 101"/>
              <p:cNvSpPr/>
              <p:nvPr/>
            </p:nvSpPr>
            <p:spPr>
              <a:xfrm flipH="1" flipV="1">
                <a:off x="3320" y="2364"/>
                <a:ext cx="0" cy="281"/>
              </a:xfrm>
              <a:prstGeom prst="line">
                <a:avLst/>
              </a:prstGeom>
              <a:ln w="9525" cap="flat" cmpd="sng">
                <a:solidFill>
                  <a:schemeClr val="tx1"/>
                </a:solidFill>
                <a:prstDash val="solid"/>
                <a:headEnd type="none" w="med" len="med"/>
                <a:tailEnd type="triangle" w="med" len="med"/>
              </a:ln>
            </p:spPr>
          </p:sp>
          <p:sp>
            <p:nvSpPr>
              <p:cNvPr id="6163" name="Line 102"/>
              <p:cNvSpPr/>
              <p:nvPr/>
            </p:nvSpPr>
            <p:spPr>
              <a:xfrm flipV="1">
                <a:off x="5185" y="1775"/>
                <a:ext cx="0" cy="204"/>
              </a:xfrm>
              <a:prstGeom prst="line">
                <a:avLst/>
              </a:prstGeom>
              <a:ln w="9525" cap="flat" cmpd="sng">
                <a:solidFill>
                  <a:schemeClr val="tx1"/>
                </a:solidFill>
                <a:prstDash val="solid"/>
                <a:headEnd type="none" w="med" len="med"/>
                <a:tailEnd type="triangle" w="med" len="med"/>
              </a:ln>
            </p:spPr>
          </p:sp>
          <p:sp>
            <p:nvSpPr>
              <p:cNvPr id="6164" name="Line 103"/>
              <p:cNvSpPr/>
              <p:nvPr/>
            </p:nvSpPr>
            <p:spPr>
              <a:xfrm flipV="1">
                <a:off x="4577" y="1780"/>
                <a:ext cx="0" cy="204"/>
              </a:xfrm>
              <a:prstGeom prst="line">
                <a:avLst/>
              </a:prstGeom>
              <a:ln w="9525" cap="flat" cmpd="sng">
                <a:solidFill>
                  <a:schemeClr val="tx1"/>
                </a:solidFill>
                <a:prstDash val="solid"/>
                <a:headEnd type="none" w="med" len="med"/>
                <a:tailEnd type="triangle" w="med" len="med"/>
              </a:ln>
            </p:spPr>
          </p:sp>
          <p:sp>
            <p:nvSpPr>
              <p:cNvPr id="6165" name="Line 104"/>
              <p:cNvSpPr/>
              <p:nvPr/>
            </p:nvSpPr>
            <p:spPr>
              <a:xfrm flipV="1">
                <a:off x="3953" y="1776"/>
                <a:ext cx="0" cy="204"/>
              </a:xfrm>
              <a:prstGeom prst="line">
                <a:avLst/>
              </a:prstGeom>
              <a:ln w="9525" cap="flat" cmpd="sng">
                <a:solidFill>
                  <a:schemeClr val="tx1"/>
                </a:solidFill>
                <a:prstDash val="solid"/>
                <a:headEnd type="none" w="med" len="med"/>
                <a:tailEnd type="triangle" w="med" len="med"/>
              </a:ln>
            </p:spPr>
          </p:sp>
          <p:sp>
            <p:nvSpPr>
              <p:cNvPr id="6166" name="Line 105"/>
              <p:cNvSpPr/>
              <p:nvPr/>
            </p:nvSpPr>
            <p:spPr>
              <a:xfrm flipV="1">
                <a:off x="3330" y="1777"/>
                <a:ext cx="0" cy="204"/>
              </a:xfrm>
              <a:prstGeom prst="line">
                <a:avLst/>
              </a:prstGeom>
              <a:ln w="9525" cap="flat" cmpd="sng">
                <a:solidFill>
                  <a:schemeClr val="tx1"/>
                </a:solidFill>
                <a:prstDash val="solid"/>
                <a:headEnd type="none" w="med" len="med"/>
                <a:tailEnd type="triangle" w="med" len="med"/>
              </a:ln>
            </p:spPr>
          </p:sp>
          <p:sp>
            <p:nvSpPr>
              <p:cNvPr id="6167" name="Text Box 106"/>
              <p:cNvSpPr txBox="1"/>
              <p:nvPr/>
            </p:nvSpPr>
            <p:spPr>
              <a:xfrm>
                <a:off x="4000" y="3267"/>
                <a:ext cx="422"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指令队列及译码</a:t>
                </a:r>
                <a:endParaRPr lang="zh-CN" altLang="en-US" sz="1000" b="1" dirty="0">
                  <a:latin typeface="Times New Roman" pitchFamily="18" charset="0"/>
                </a:endParaRPr>
              </a:p>
            </p:txBody>
          </p:sp>
          <p:graphicFrame>
            <p:nvGraphicFramePr>
              <p:cNvPr id="6148" name="Object 6"/>
              <p:cNvGraphicFramePr/>
              <p:nvPr/>
            </p:nvGraphicFramePr>
            <p:xfrm>
              <a:off x="4846" y="1982"/>
              <a:ext cx="616" cy="483"/>
            </p:xfrm>
            <a:graphic>
              <a:graphicData uri="http://schemas.openxmlformats.org/presentationml/2006/ole">
                <mc:AlternateContent xmlns:mc="http://schemas.openxmlformats.org/markup-compatibility/2006">
                  <mc:Choice xmlns:v="urn:schemas-microsoft-com:vml" Requires="v">
                    <p:oleObj spid="_x0000_s3111" name="" r:id="rId5" imgW="984250" imgH="929640" progId="Word.Document.8">
                      <p:embed/>
                    </p:oleObj>
                  </mc:Choice>
                  <mc:Fallback>
                    <p:oleObj name="" r:id="rId5" imgW="984250" imgH="929640" progId="Word.Document.8">
                      <p:embed/>
                      <p:pic>
                        <p:nvPicPr>
                          <p:cNvPr id="0" name="图片 3110"/>
                          <p:cNvPicPr/>
                          <p:nvPr/>
                        </p:nvPicPr>
                        <p:blipFill>
                          <a:blip r:embed="rId6"/>
                          <a:stretch>
                            <a:fillRect/>
                          </a:stretch>
                        </p:blipFill>
                        <p:spPr>
                          <a:xfrm>
                            <a:off x="4846" y="1982"/>
                            <a:ext cx="616" cy="483"/>
                          </a:xfrm>
                          <a:prstGeom prst="rect">
                            <a:avLst/>
                          </a:prstGeom>
                          <a:noFill/>
                          <a:ln w="38100">
                            <a:noFill/>
                            <a:miter/>
                          </a:ln>
                        </p:spPr>
                      </p:pic>
                    </p:oleObj>
                  </mc:Fallback>
                </mc:AlternateContent>
              </a:graphicData>
            </a:graphic>
          </p:graphicFrame>
          <p:sp>
            <p:nvSpPr>
              <p:cNvPr id="6168" name="Text Box 108"/>
              <p:cNvSpPr txBox="1"/>
              <p:nvPr/>
            </p:nvSpPr>
            <p:spPr>
              <a:xfrm>
                <a:off x="5022" y="2054"/>
                <a:ext cx="354"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6149" name="Object 7"/>
              <p:cNvGraphicFramePr/>
              <p:nvPr/>
            </p:nvGraphicFramePr>
            <p:xfrm>
              <a:off x="4249" y="1984"/>
              <a:ext cx="616" cy="483"/>
            </p:xfrm>
            <a:graphic>
              <a:graphicData uri="http://schemas.openxmlformats.org/presentationml/2006/ole">
                <mc:AlternateContent xmlns:mc="http://schemas.openxmlformats.org/markup-compatibility/2006">
                  <mc:Choice xmlns:v="urn:schemas-microsoft-com:vml" Requires="v">
                    <p:oleObj spid="_x0000_s3112" name="" r:id="rId7" imgW="984250" imgH="929640" progId="Word.Document.8">
                      <p:embed/>
                    </p:oleObj>
                  </mc:Choice>
                  <mc:Fallback>
                    <p:oleObj name="" r:id="rId7" imgW="984250" imgH="929640" progId="Word.Document.8">
                      <p:embed/>
                      <p:pic>
                        <p:nvPicPr>
                          <p:cNvPr id="0" name="图片 3111"/>
                          <p:cNvPicPr/>
                          <p:nvPr/>
                        </p:nvPicPr>
                        <p:blipFill>
                          <a:blip r:embed="rId2"/>
                          <a:stretch>
                            <a:fillRect/>
                          </a:stretch>
                        </p:blipFill>
                        <p:spPr>
                          <a:xfrm>
                            <a:off x="4249" y="1984"/>
                            <a:ext cx="616" cy="483"/>
                          </a:xfrm>
                          <a:prstGeom prst="rect">
                            <a:avLst/>
                          </a:prstGeom>
                          <a:noFill/>
                          <a:ln w="38100">
                            <a:noFill/>
                            <a:miter/>
                          </a:ln>
                        </p:spPr>
                      </p:pic>
                    </p:oleObj>
                  </mc:Fallback>
                </mc:AlternateContent>
              </a:graphicData>
            </a:graphic>
          </p:graphicFrame>
          <p:sp>
            <p:nvSpPr>
              <p:cNvPr id="6169" name="Text Box 110"/>
              <p:cNvSpPr txBox="1"/>
              <p:nvPr/>
            </p:nvSpPr>
            <p:spPr>
              <a:xfrm>
                <a:off x="4426" y="2063"/>
                <a:ext cx="342"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6150" name="Object 8"/>
              <p:cNvGraphicFramePr/>
              <p:nvPr/>
            </p:nvGraphicFramePr>
            <p:xfrm>
              <a:off x="3619" y="1979"/>
              <a:ext cx="616" cy="483"/>
            </p:xfrm>
            <a:graphic>
              <a:graphicData uri="http://schemas.openxmlformats.org/presentationml/2006/ole">
                <mc:AlternateContent xmlns:mc="http://schemas.openxmlformats.org/markup-compatibility/2006">
                  <mc:Choice xmlns:v="urn:schemas-microsoft-com:vml" Requires="v">
                    <p:oleObj spid="_x0000_s3113" name="" r:id="rId8" imgW="984250" imgH="929640" progId="Word.Document.8">
                      <p:embed/>
                    </p:oleObj>
                  </mc:Choice>
                  <mc:Fallback>
                    <p:oleObj name="" r:id="rId8" imgW="984250" imgH="929640" progId="Word.Document.8">
                      <p:embed/>
                      <p:pic>
                        <p:nvPicPr>
                          <p:cNvPr id="0" name="图片 3112"/>
                          <p:cNvPicPr/>
                          <p:nvPr/>
                        </p:nvPicPr>
                        <p:blipFill>
                          <a:blip r:embed="rId2"/>
                          <a:stretch>
                            <a:fillRect/>
                          </a:stretch>
                        </p:blipFill>
                        <p:spPr>
                          <a:xfrm>
                            <a:off x="3619" y="1979"/>
                            <a:ext cx="616" cy="483"/>
                          </a:xfrm>
                          <a:prstGeom prst="rect">
                            <a:avLst/>
                          </a:prstGeom>
                          <a:noFill/>
                          <a:ln w="38100">
                            <a:noFill/>
                            <a:miter/>
                          </a:ln>
                        </p:spPr>
                      </p:pic>
                    </p:oleObj>
                  </mc:Fallback>
                </mc:AlternateContent>
              </a:graphicData>
            </a:graphic>
          </p:graphicFrame>
          <p:sp>
            <p:nvSpPr>
              <p:cNvPr id="6170" name="Text Box 112"/>
              <p:cNvSpPr txBox="1"/>
              <p:nvPr/>
            </p:nvSpPr>
            <p:spPr>
              <a:xfrm>
                <a:off x="3795" y="2058"/>
                <a:ext cx="329"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sp>
            <p:nvSpPr>
              <p:cNvPr id="6171" name="Text Box 113"/>
              <p:cNvSpPr txBox="1"/>
              <p:nvPr/>
            </p:nvSpPr>
            <p:spPr>
              <a:xfrm>
                <a:off x="3153" y="2062"/>
                <a:ext cx="351" cy="260"/>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200" b="1" dirty="0">
                  <a:latin typeface="Times New Roman" pitchFamily="18" charset="0"/>
                </a:endParaRPr>
              </a:p>
            </p:txBody>
          </p:sp>
          <p:graphicFrame>
            <p:nvGraphicFramePr>
              <p:cNvPr id="6151" name="Object 9"/>
              <p:cNvGraphicFramePr/>
              <p:nvPr/>
            </p:nvGraphicFramePr>
            <p:xfrm>
              <a:off x="3131" y="2642"/>
              <a:ext cx="2197" cy="467"/>
            </p:xfrm>
            <a:graphic>
              <a:graphicData uri="http://schemas.openxmlformats.org/presentationml/2006/ole">
                <mc:AlternateContent xmlns:mc="http://schemas.openxmlformats.org/markup-compatibility/2006">
                  <mc:Choice xmlns:v="urn:schemas-microsoft-com:vml" Requires="v">
                    <p:oleObj spid="_x0000_s3114" name="" r:id="rId9" imgW="3485515" imgH="946150" progId="Word.Document.8">
                      <p:embed/>
                    </p:oleObj>
                  </mc:Choice>
                  <mc:Fallback>
                    <p:oleObj name="" r:id="rId9" imgW="3485515" imgH="946150" progId="Word.Document.8">
                      <p:embed/>
                      <p:pic>
                        <p:nvPicPr>
                          <p:cNvPr id="0" name="图片 3113"/>
                          <p:cNvPicPr/>
                          <p:nvPr/>
                        </p:nvPicPr>
                        <p:blipFill>
                          <a:blip r:embed="rId4"/>
                          <a:stretch>
                            <a:fillRect/>
                          </a:stretch>
                        </p:blipFill>
                        <p:spPr>
                          <a:xfrm>
                            <a:off x="3131" y="2642"/>
                            <a:ext cx="2197" cy="467"/>
                          </a:xfrm>
                          <a:prstGeom prst="rect">
                            <a:avLst/>
                          </a:prstGeom>
                          <a:noFill/>
                          <a:ln w="38100">
                            <a:noFill/>
                            <a:miter/>
                          </a:ln>
                        </p:spPr>
                      </p:pic>
                    </p:oleObj>
                  </mc:Fallback>
                </mc:AlternateContent>
              </a:graphicData>
            </a:graphic>
          </p:graphicFrame>
          <p:sp>
            <p:nvSpPr>
              <p:cNvPr id="6172" name="Text Box 115"/>
              <p:cNvSpPr txBox="1"/>
              <p:nvPr/>
            </p:nvSpPr>
            <p:spPr>
              <a:xfrm>
                <a:off x="3956" y="2771"/>
                <a:ext cx="553" cy="129"/>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寄存器</a:t>
                </a:r>
                <a:endParaRPr lang="zh-CN" altLang="en-US" sz="1400" b="1" dirty="0">
                  <a:latin typeface="Times New Roman" pitchFamily="18" charset="0"/>
                </a:endParaRPr>
              </a:p>
            </p:txBody>
          </p:sp>
          <p:sp>
            <p:nvSpPr>
              <p:cNvPr id="6173" name="Line 116"/>
              <p:cNvSpPr/>
              <p:nvPr/>
            </p:nvSpPr>
            <p:spPr>
              <a:xfrm flipH="1" flipV="1">
                <a:off x="3954" y="2351"/>
                <a:ext cx="0" cy="281"/>
              </a:xfrm>
              <a:prstGeom prst="line">
                <a:avLst/>
              </a:prstGeom>
              <a:ln w="9525" cap="flat" cmpd="sng">
                <a:solidFill>
                  <a:schemeClr val="tx1"/>
                </a:solidFill>
                <a:prstDash val="solid"/>
                <a:headEnd type="none" w="med" len="med"/>
                <a:tailEnd type="triangle" w="med" len="med"/>
              </a:ln>
            </p:spPr>
          </p:sp>
          <p:sp>
            <p:nvSpPr>
              <p:cNvPr id="6174" name="Line 117"/>
              <p:cNvSpPr/>
              <p:nvPr/>
            </p:nvSpPr>
            <p:spPr>
              <a:xfrm flipH="1" flipV="1">
                <a:off x="4580" y="2361"/>
                <a:ext cx="0" cy="281"/>
              </a:xfrm>
              <a:prstGeom prst="line">
                <a:avLst/>
              </a:prstGeom>
              <a:ln w="9525" cap="flat" cmpd="sng">
                <a:solidFill>
                  <a:schemeClr val="tx1"/>
                </a:solidFill>
                <a:prstDash val="solid"/>
                <a:headEnd type="none" w="med" len="med"/>
                <a:tailEnd type="triangle" w="med" len="med"/>
              </a:ln>
            </p:spPr>
          </p:sp>
          <p:sp>
            <p:nvSpPr>
              <p:cNvPr id="6175" name="Line 118"/>
              <p:cNvSpPr/>
              <p:nvPr/>
            </p:nvSpPr>
            <p:spPr>
              <a:xfrm flipH="1" flipV="1">
                <a:off x="5190" y="2356"/>
                <a:ext cx="0" cy="281"/>
              </a:xfrm>
              <a:prstGeom prst="line">
                <a:avLst/>
              </a:prstGeom>
              <a:ln w="9525" cap="flat" cmpd="sng">
                <a:solidFill>
                  <a:schemeClr val="tx1"/>
                </a:solidFill>
                <a:prstDash val="solid"/>
                <a:headEnd type="none" w="med" len="med"/>
                <a:tailEnd type="triangle" w="med" len="med"/>
              </a:ln>
            </p:spPr>
          </p:sp>
          <p:sp>
            <p:nvSpPr>
              <p:cNvPr id="6176" name="Line 119"/>
              <p:cNvSpPr/>
              <p:nvPr/>
            </p:nvSpPr>
            <p:spPr>
              <a:xfrm flipV="1">
                <a:off x="5180" y="3001"/>
                <a:ext cx="0" cy="204"/>
              </a:xfrm>
              <a:prstGeom prst="line">
                <a:avLst/>
              </a:prstGeom>
              <a:ln w="9525" cap="flat" cmpd="sng">
                <a:solidFill>
                  <a:schemeClr val="tx1"/>
                </a:solidFill>
                <a:prstDash val="solid"/>
                <a:headEnd type="none" w="med" len="med"/>
                <a:tailEnd type="triangle" w="med" len="med"/>
              </a:ln>
            </p:spPr>
          </p:sp>
          <p:sp>
            <p:nvSpPr>
              <p:cNvPr id="6177" name="Line 120"/>
              <p:cNvSpPr/>
              <p:nvPr/>
            </p:nvSpPr>
            <p:spPr>
              <a:xfrm flipV="1">
                <a:off x="4572" y="3006"/>
                <a:ext cx="0" cy="204"/>
              </a:xfrm>
              <a:prstGeom prst="line">
                <a:avLst/>
              </a:prstGeom>
              <a:ln w="9525" cap="flat" cmpd="sng">
                <a:solidFill>
                  <a:schemeClr val="tx1"/>
                </a:solidFill>
                <a:prstDash val="solid"/>
                <a:headEnd type="none" w="med" len="med"/>
                <a:tailEnd type="triangle" w="med" len="med"/>
              </a:ln>
            </p:spPr>
          </p:sp>
          <p:sp>
            <p:nvSpPr>
              <p:cNvPr id="6178" name="Line 121"/>
              <p:cNvSpPr/>
              <p:nvPr/>
            </p:nvSpPr>
            <p:spPr>
              <a:xfrm flipV="1">
                <a:off x="3948" y="3002"/>
                <a:ext cx="0" cy="204"/>
              </a:xfrm>
              <a:prstGeom prst="line">
                <a:avLst/>
              </a:prstGeom>
              <a:ln w="9525" cap="flat" cmpd="sng">
                <a:solidFill>
                  <a:schemeClr val="tx1"/>
                </a:solidFill>
                <a:prstDash val="solid"/>
                <a:headEnd type="none" w="med" len="med"/>
                <a:tailEnd type="triangle" w="med" len="med"/>
              </a:ln>
            </p:spPr>
          </p:sp>
          <p:sp>
            <p:nvSpPr>
              <p:cNvPr id="6179" name="Line 122"/>
              <p:cNvSpPr/>
              <p:nvPr/>
            </p:nvSpPr>
            <p:spPr>
              <a:xfrm flipV="1">
                <a:off x="3325" y="3003"/>
                <a:ext cx="0" cy="204"/>
              </a:xfrm>
              <a:prstGeom prst="line">
                <a:avLst/>
              </a:prstGeom>
              <a:ln w="9525" cap="flat" cmpd="sng">
                <a:solidFill>
                  <a:schemeClr val="tx1"/>
                </a:solidFill>
                <a:prstDash val="solid"/>
                <a:headEnd type="none" w="med" len="med"/>
                <a:tailEnd type="triangle" w="med" len="med"/>
              </a:ln>
            </p:spPr>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6"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7177" name="Rectangle 2"/>
          <p:cNvSpPr>
            <a:spLocks noGrp="1"/>
          </p:cNvSpPr>
          <p:nvPr>
            <p:ph type="title"/>
          </p:nvPr>
        </p:nvSpPr>
        <p:spPr>
          <a:xfrm>
            <a:off x="914400" y="95250"/>
            <a:ext cx="10361613" cy="598488"/>
          </a:xfrm>
        </p:spPr>
        <p:txBody>
          <a:bodyPr vert="horz" wrap="square" lIns="91440" tIns="45720" rIns="91440" bIns="45720" anchor="ctr" anchorCtr="0"/>
          <a:p>
            <a:pPr eaLnBrk="1" hangingPunct="1"/>
            <a:r>
              <a:rPr lang="zh-CN" altLang="en-US" dirty="0"/>
              <a:t>保留站后读寄存器</a:t>
            </a:r>
            <a:endParaRPr lang="zh-CN" altLang="en-US" dirty="0"/>
          </a:p>
        </p:txBody>
      </p:sp>
      <p:sp>
        <p:nvSpPr>
          <p:cNvPr id="7178" name="Rectangle 3"/>
          <p:cNvSpPr>
            <a:spLocks noGrp="1"/>
          </p:cNvSpPr>
          <p:nvPr>
            <p:ph idx="1"/>
          </p:nvPr>
        </p:nvSpPr>
        <p:spPr>
          <a:xfrm>
            <a:off x="254000" y="1398588"/>
            <a:ext cx="7624763" cy="4697412"/>
          </a:xfrm>
        </p:spPr>
        <p:txBody>
          <a:bodyPr vert="horz" wrap="square" lIns="91440" tIns="45720" rIns="91440" bIns="45720" anchor="t" anchorCtr="0"/>
          <a:p>
            <a:pPr eaLnBrk="1" hangingPunct="1">
              <a:lnSpc>
                <a:spcPct val="150000"/>
              </a:lnSpc>
              <a:spcBef>
                <a:spcPct val="0"/>
              </a:spcBef>
            </a:pPr>
            <a:r>
              <a:rPr lang="zh-CN" altLang="en-US" dirty="0"/>
              <a:t>保留站的输出作为寄存器的输入</a:t>
            </a:r>
            <a:endParaRPr lang="zh-CN" altLang="en-US" dirty="0"/>
          </a:p>
          <a:p>
            <a:pPr lvl="1" eaLnBrk="1" hangingPunct="1">
              <a:lnSpc>
                <a:spcPct val="150000"/>
              </a:lnSpc>
              <a:spcBef>
                <a:spcPct val="0"/>
              </a:spcBef>
            </a:pPr>
            <a:r>
              <a:rPr lang="zh-CN" altLang="en-US" dirty="0"/>
              <a:t>保留站确信所有值都已经准备好后再读寄存器，有可能有</a:t>
            </a:r>
            <a:r>
              <a:rPr lang="en-US" altLang="zh-CN" dirty="0"/>
              <a:t>Forward</a:t>
            </a:r>
            <a:r>
              <a:rPr lang="zh-CN" altLang="en-US" dirty="0"/>
              <a:t>的情况</a:t>
            </a:r>
            <a:endParaRPr lang="zh-CN" altLang="en-US" dirty="0"/>
          </a:p>
          <a:p>
            <a:pPr lvl="1" eaLnBrk="1" hangingPunct="1">
              <a:lnSpc>
                <a:spcPct val="150000"/>
              </a:lnSpc>
              <a:spcBef>
                <a:spcPct val="0"/>
              </a:spcBef>
            </a:pPr>
            <a:r>
              <a:rPr lang="zh-CN" altLang="en-US" dirty="0"/>
              <a:t>乱序读寄存器</a:t>
            </a:r>
            <a:endParaRPr lang="zh-CN" altLang="en-US" dirty="0"/>
          </a:p>
          <a:p>
            <a:pPr lvl="1" eaLnBrk="1" hangingPunct="1">
              <a:lnSpc>
                <a:spcPct val="150000"/>
              </a:lnSpc>
              <a:spcBef>
                <a:spcPct val="0"/>
              </a:spcBef>
            </a:pPr>
            <a:r>
              <a:rPr lang="zh-CN" altLang="en-US" dirty="0"/>
              <a:t>保留站中没有值域，比较简单</a:t>
            </a:r>
            <a:endParaRPr lang="zh-CN" altLang="en-US" dirty="0"/>
          </a:p>
          <a:p>
            <a:pPr lvl="1" eaLnBrk="1" hangingPunct="1">
              <a:lnSpc>
                <a:spcPct val="150000"/>
              </a:lnSpc>
              <a:spcBef>
                <a:spcPct val="0"/>
              </a:spcBef>
            </a:pPr>
            <a:r>
              <a:rPr lang="zh-CN" altLang="en-US" dirty="0"/>
              <a:t>寄存器读端口数为相应功能部件数</a:t>
            </a:r>
            <a:endParaRPr lang="zh-CN" altLang="en-US" dirty="0"/>
          </a:p>
          <a:p>
            <a:pPr lvl="1" eaLnBrk="1" hangingPunct="1">
              <a:lnSpc>
                <a:spcPct val="150000"/>
              </a:lnSpc>
              <a:spcBef>
                <a:spcPct val="0"/>
              </a:spcBef>
            </a:pPr>
            <a:r>
              <a:rPr lang="zh-CN" altLang="en-US" dirty="0">
                <a:solidFill>
                  <a:srgbClr val="FF0000"/>
                </a:solidFill>
                <a:cs typeface="宋体" panose="02000500000000000000" pitchFamily="2" charset="-122"/>
                <a:sym typeface="+mn-ea"/>
              </a:rPr>
              <a:t>保留站后读寄存器减少了一次从寄存器到保留站的值（高达</a:t>
            </a:r>
            <a:r>
              <a:rPr lang="en-US" altLang="zh-CN" dirty="0">
                <a:solidFill>
                  <a:srgbClr val="FF0000"/>
                </a:solidFill>
                <a:cs typeface="宋体" panose="02000500000000000000" pitchFamily="2" charset="-122"/>
                <a:sym typeface="+mn-ea"/>
              </a:rPr>
              <a:t>256</a:t>
            </a:r>
            <a:r>
              <a:rPr lang="zh-CN" altLang="en-US" dirty="0">
                <a:solidFill>
                  <a:srgbClr val="FF0000"/>
                </a:solidFill>
                <a:cs typeface="宋体" panose="02000500000000000000" pitchFamily="2" charset="-122"/>
                <a:sym typeface="+mn-ea"/>
              </a:rPr>
              <a:t>或</a:t>
            </a:r>
            <a:r>
              <a:rPr lang="en-US" altLang="zh-CN" dirty="0">
                <a:solidFill>
                  <a:srgbClr val="FF0000"/>
                </a:solidFill>
                <a:cs typeface="宋体" panose="02000500000000000000" pitchFamily="2" charset="-122"/>
                <a:sym typeface="+mn-ea"/>
              </a:rPr>
              <a:t>512</a:t>
            </a:r>
            <a:r>
              <a:rPr lang="zh-CN" altLang="en-US" dirty="0">
                <a:solidFill>
                  <a:srgbClr val="FF0000"/>
                </a:solidFill>
                <a:cs typeface="宋体" panose="02000500000000000000" pitchFamily="2" charset="-122"/>
                <a:sym typeface="+mn-ea"/>
              </a:rPr>
              <a:t>位）拷贝，大幅降低了功耗，现代处理器均采用该结构（</a:t>
            </a:r>
            <a:r>
              <a:rPr lang="en-US" altLang="zh-CN" dirty="0">
                <a:solidFill>
                  <a:srgbClr val="FF0000"/>
                </a:solidFill>
                <a:cs typeface="宋体" panose="02000500000000000000" pitchFamily="2" charset="-122"/>
                <a:sym typeface="+mn-ea"/>
              </a:rPr>
              <a:t>Intel</a:t>
            </a:r>
            <a:r>
              <a:rPr lang="zh-CN" altLang="en-US" dirty="0">
                <a:solidFill>
                  <a:srgbClr val="FF0000"/>
                </a:solidFill>
                <a:cs typeface="宋体" panose="02000500000000000000" pitchFamily="2" charset="-122"/>
                <a:sym typeface="+mn-ea"/>
              </a:rPr>
              <a:t>从</a:t>
            </a:r>
            <a:r>
              <a:rPr lang="en-US" altLang="zh-CN" dirty="0">
                <a:solidFill>
                  <a:srgbClr val="FF0000"/>
                </a:solidFill>
                <a:cs typeface="宋体" panose="02000500000000000000" pitchFamily="2" charset="-122"/>
                <a:sym typeface="+mn-ea"/>
              </a:rPr>
              <a:t>Haswell</a:t>
            </a:r>
            <a:r>
              <a:rPr lang="zh-CN" altLang="en-US" dirty="0">
                <a:solidFill>
                  <a:srgbClr val="FF0000"/>
                </a:solidFill>
                <a:cs typeface="宋体" panose="02000500000000000000" pitchFamily="2" charset="-122"/>
                <a:sym typeface="+mn-ea"/>
              </a:rPr>
              <a:t>开始转向该结构）</a:t>
            </a:r>
            <a:endParaRPr lang="zh-CN" altLang="en-US" b="1" dirty="0">
              <a:solidFill>
                <a:srgbClr val="FF0000"/>
              </a:solidFill>
              <a:latin typeface="宋体" panose="02000500000000000000" pitchFamily="2" charset="-122"/>
              <a:cs typeface="宋体" panose="02000500000000000000" pitchFamily="2" charset="-122"/>
            </a:endParaRPr>
          </a:p>
          <a:p>
            <a:pPr lvl="1" eaLnBrk="1" hangingPunct="1">
              <a:lnSpc>
                <a:spcPct val="150000"/>
              </a:lnSpc>
              <a:spcBef>
                <a:spcPct val="0"/>
              </a:spcBef>
            </a:pPr>
            <a:endParaRPr lang="zh-CN" altLang="en-US" b="1" dirty="0">
              <a:solidFill>
                <a:srgbClr val="FF0000"/>
              </a:solidFill>
              <a:latin typeface="宋体" panose="02000500000000000000" pitchFamily="2" charset="-122"/>
              <a:cs typeface="宋体" panose="02000500000000000000" pitchFamily="2" charset="-122"/>
            </a:endParaRPr>
          </a:p>
        </p:txBody>
      </p:sp>
      <p:grpSp>
        <p:nvGrpSpPr>
          <p:cNvPr id="7179" name="Group 87"/>
          <p:cNvGrpSpPr/>
          <p:nvPr/>
        </p:nvGrpSpPr>
        <p:grpSpPr>
          <a:xfrm>
            <a:off x="7808913" y="1804988"/>
            <a:ext cx="4089400" cy="2890837"/>
            <a:chOff x="2984" y="1509"/>
            <a:chExt cx="2470" cy="2312"/>
          </a:xfrm>
        </p:grpSpPr>
        <p:graphicFrame>
          <p:nvGraphicFramePr>
            <p:cNvPr id="7170" name="Object 4"/>
            <p:cNvGraphicFramePr/>
            <p:nvPr/>
          </p:nvGraphicFramePr>
          <p:xfrm>
            <a:off x="3115" y="3201"/>
            <a:ext cx="2197" cy="467"/>
          </p:xfrm>
          <a:graphic>
            <a:graphicData uri="http://schemas.openxmlformats.org/presentationml/2006/ole">
              <mc:AlternateContent xmlns:mc="http://schemas.openxmlformats.org/markup-compatibility/2006">
                <mc:Choice xmlns:v="urn:schemas-microsoft-com:vml" Requires="v">
                  <p:oleObj spid="_x0000_s3115" name="" r:id="rId1" imgW="3485515" imgH="946150" progId="Word.Document.8">
                    <p:embed/>
                  </p:oleObj>
                </mc:Choice>
                <mc:Fallback>
                  <p:oleObj name="" r:id="rId1" imgW="3485515" imgH="946150" progId="Word.Document.8">
                    <p:embed/>
                    <p:pic>
                      <p:nvPicPr>
                        <p:cNvPr id="0" name="图片 3114"/>
                        <p:cNvPicPr/>
                        <p:nvPr/>
                      </p:nvPicPr>
                      <p:blipFill>
                        <a:blip r:embed="rId2"/>
                        <a:stretch>
                          <a:fillRect/>
                        </a:stretch>
                      </p:blipFill>
                      <p:spPr>
                        <a:xfrm>
                          <a:off x="3115" y="3201"/>
                          <a:ext cx="2197" cy="467"/>
                        </a:xfrm>
                        <a:prstGeom prst="rect">
                          <a:avLst/>
                        </a:prstGeom>
                        <a:noFill/>
                        <a:ln w="38100">
                          <a:noFill/>
                          <a:miter/>
                        </a:ln>
                      </p:spPr>
                    </p:pic>
                  </p:oleObj>
                </mc:Fallback>
              </mc:AlternateContent>
            </a:graphicData>
          </a:graphic>
        </p:graphicFrame>
        <p:sp>
          <p:nvSpPr>
            <p:cNvPr id="7180" name="Text Box 89"/>
            <p:cNvSpPr txBox="1"/>
            <p:nvPr/>
          </p:nvSpPr>
          <p:spPr>
            <a:xfrm>
              <a:off x="3093" y="150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7181" name="Text Box 90"/>
            <p:cNvSpPr txBox="1"/>
            <p:nvPr/>
          </p:nvSpPr>
          <p:spPr>
            <a:xfrm>
              <a:off x="3719" y="151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7182" name="Text Box 91"/>
            <p:cNvSpPr txBox="1"/>
            <p:nvPr/>
          </p:nvSpPr>
          <p:spPr>
            <a:xfrm>
              <a:off x="4340" y="1515"/>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7183" name="Text Box 92"/>
            <p:cNvSpPr txBox="1"/>
            <p:nvPr/>
          </p:nvSpPr>
          <p:spPr>
            <a:xfrm>
              <a:off x="4958" y="151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Times New Roman" pitchFamily="18" charset="0"/>
                </a:rPr>
                <a:t>EU</a:t>
              </a:r>
              <a:endParaRPr lang="en-US" altLang="zh-CN" sz="1400" b="1" dirty="0">
                <a:latin typeface="Times New Roman" pitchFamily="18" charset="0"/>
              </a:endParaRPr>
            </a:p>
          </p:txBody>
        </p:sp>
        <p:sp>
          <p:nvSpPr>
            <p:cNvPr id="7184" name="Line 93"/>
            <p:cNvSpPr/>
            <p:nvPr/>
          </p:nvSpPr>
          <p:spPr>
            <a:xfrm flipH="1" flipV="1">
              <a:off x="3320" y="2364"/>
              <a:ext cx="0" cy="281"/>
            </a:xfrm>
            <a:prstGeom prst="line">
              <a:avLst/>
            </a:prstGeom>
            <a:ln w="9525" cap="flat" cmpd="sng">
              <a:solidFill>
                <a:schemeClr val="tx1"/>
              </a:solidFill>
              <a:prstDash val="solid"/>
              <a:headEnd type="none" w="med" len="med"/>
              <a:tailEnd type="triangle" w="med" len="med"/>
            </a:ln>
          </p:spPr>
        </p:sp>
        <p:sp>
          <p:nvSpPr>
            <p:cNvPr id="7185" name="Line 94"/>
            <p:cNvSpPr/>
            <p:nvPr/>
          </p:nvSpPr>
          <p:spPr>
            <a:xfrm flipV="1">
              <a:off x="4234" y="3571"/>
              <a:ext cx="0" cy="250"/>
            </a:xfrm>
            <a:prstGeom prst="line">
              <a:avLst/>
            </a:prstGeom>
            <a:ln w="19050" cap="flat" cmpd="sng">
              <a:solidFill>
                <a:schemeClr val="tx1"/>
              </a:solidFill>
              <a:prstDash val="solid"/>
              <a:headEnd type="none" w="med" len="med"/>
              <a:tailEnd type="triangle" w="med" len="med"/>
            </a:ln>
          </p:spPr>
        </p:sp>
        <p:sp>
          <p:nvSpPr>
            <p:cNvPr id="7186" name="Line 95"/>
            <p:cNvSpPr/>
            <p:nvPr/>
          </p:nvSpPr>
          <p:spPr>
            <a:xfrm flipV="1">
              <a:off x="5185" y="1775"/>
              <a:ext cx="0" cy="204"/>
            </a:xfrm>
            <a:prstGeom prst="line">
              <a:avLst/>
            </a:prstGeom>
            <a:ln w="9525" cap="flat" cmpd="sng">
              <a:solidFill>
                <a:schemeClr val="tx1"/>
              </a:solidFill>
              <a:prstDash val="solid"/>
              <a:headEnd type="none" w="med" len="med"/>
              <a:tailEnd type="triangle" w="med" len="med"/>
            </a:ln>
          </p:spPr>
        </p:sp>
        <p:sp>
          <p:nvSpPr>
            <p:cNvPr id="7187" name="Line 96"/>
            <p:cNvSpPr/>
            <p:nvPr/>
          </p:nvSpPr>
          <p:spPr>
            <a:xfrm flipV="1">
              <a:off x="4577" y="1780"/>
              <a:ext cx="0" cy="204"/>
            </a:xfrm>
            <a:prstGeom prst="line">
              <a:avLst/>
            </a:prstGeom>
            <a:ln w="9525" cap="flat" cmpd="sng">
              <a:solidFill>
                <a:schemeClr val="tx1"/>
              </a:solidFill>
              <a:prstDash val="solid"/>
              <a:headEnd type="none" w="med" len="med"/>
              <a:tailEnd type="triangle" w="med" len="med"/>
            </a:ln>
          </p:spPr>
        </p:sp>
        <p:sp>
          <p:nvSpPr>
            <p:cNvPr id="7188" name="Line 97"/>
            <p:cNvSpPr/>
            <p:nvPr/>
          </p:nvSpPr>
          <p:spPr>
            <a:xfrm flipV="1">
              <a:off x="3953" y="1776"/>
              <a:ext cx="0" cy="204"/>
            </a:xfrm>
            <a:prstGeom prst="line">
              <a:avLst/>
            </a:prstGeom>
            <a:ln w="9525" cap="flat" cmpd="sng">
              <a:solidFill>
                <a:schemeClr val="tx1"/>
              </a:solidFill>
              <a:prstDash val="solid"/>
              <a:headEnd type="none" w="med" len="med"/>
              <a:tailEnd type="triangle" w="med" len="med"/>
            </a:ln>
          </p:spPr>
        </p:sp>
        <p:sp>
          <p:nvSpPr>
            <p:cNvPr id="7189" name="Line 98"/>
            <p:cNvSpPr/>
            <p:nvPr/>
          </p:nvSpPr>
          <p:spPr>
            <a:xfrm flipV="1">
              <a:off x="3330" y="1777"/>
              <a:ext cx="0" cy="204"/>
            </a:xfrm>
            <a:prstGeom prst="line">
              <a:avLst/>
            </a:prstGeom>
            <a:ln w="9525" cap="flat" cmpd="sng">
              <a:solidFill>
                <a:schemeClr val="tx1"/>
              </a:solidFill>
              <a:prstDash val="solid"/>
              <a:headEnd type="none" w="med" len="med"/>
              <a:tailEnd type="triangle" w="med" len="med"/>
            </a:ln>
          </p:spPr>
        </p:sp>
        <p:sp>
          <p:nvSpPr>
            <p:cNvPr id="7190" name="Text Box 99"/>
            <p:cNvSpPr txBox="1"/>
            <p:nvPr/>
          </p:nvSpPr>
          <p:spPr>
            <a:xfrm>
              <a:off x="3993" y="3281"/>
              <a:ext cx="461"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指令队列及译码</a:t>
              </a:r>
              <a:endParaRPr lang="zh-CN" altLang="en-US" sz="1000" b="1" dirty="0">
                <a:latin typeface="Times New Roman" pitchFamily="18" charset="0"/>
              </a:endParaRPr>
            </a:p>
          </p:txBody>
        </p:sp>
        <p:graphicFrame>
          <p:nvGraphicFramePr>
            <p:cNvPr id="7171" name="Object 5"/>
            <p:cNvGraphicFramePr/>
            <p:nvPr/>
          </p:nvGraphicFramePr>
          <p:xfrm>
            <a:off x="4838" y="2637"/>
            <a:ext cx="616" cy="483"/>
          </p:xfrm>
          <a:graphic>
            <a:graphicData uri="http://schemas.openxmlformats.org/presentationml/2006/ole">
              <mc:AlternateContent xmlns:mc="http://schemas.openxmlformats.org/markup-compatibility/2006">
                <mc:Choice xmlns:v="urn:schemas-microsoft-com:vml" Requires="v">
                  <p:oleObj spid="_x0000_s3116" name="" r:id="rId3" imgW="984250" imgH="929640" progId="Word.Document.8">
                    <p:embed/>
                  </p:oleObj>
                </mc:Choice>
                <mc:Fallback>
                  <p:oleObj name="" r:id="rId3" imgW="984250" imgH="929640" progId="Word.Document.8">
                    <p:embed/>
                    <p:pic>
                      <p:nvPicPr>
                        <p:cNvPr id="0" name="图片 3115"/>
                        <p:cNvPicPr/>
                        <p:nvPr/>
                      </p:nvPicPr>
                      <p:blipFill>
                        <a:blip r:embed="rId4"/>
                        <a:stretch>
                          <a:fillRect/>
                        </a:stretch>
                      </p:blipFill>
                      <p:spPr>
                        <a:xfrm>
                          <a:off x="4838" y="2637"/>
                          <a:ext cx="616" cy="483"/>
                        </a:xfrm>
                        <a:prstGeom prst="rect">
                          <a:avLst/>
                        </a:prstGeom>
                        <a:noFill/>
                        <a:ln w="38100">
                          <a:noFill/>
                          <a:miter/>
                        </a:ln>
                      </p:spPr>
                    </p:pic>
                  </p:oleObj>
                </mc:Fallback>
              </mc:AlternateContent>
            </a:graphicData>
          </a:graphic>
        </p:graphicFrame>
        <p:sp>
          <p:nvSpPr>
            <p:cNvPr id="7191" name="Text Box 101"/>
            <p:cNvSpPr txBox="1"/>
            <p:nvPr/>
          </p:nvSpPr>
          <p:spPr>
            <a:xfrm>
              <a:off x="5007" y="2716"/>
              <a:ext cx="334"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7172" name="Object 6"/>
            <p:cNvGraphicFramePr/>
            <p:nvPr/>
          </p:nvGraphicFramePr>
          <p:xfrm>
            <a:off x="4241" y="2639"/>
            <a:ext cx="616" cy="483"/>
          </p:xfrm>
          <a:graphic>
            <a:graphicData uri="http://schemas.openxmlformats.org/presentationml/2006/ole">
              <mc:AlternateContent xmlns:mc="http://schemas.openxmlformats.org/markup-compatibility/2006">
                <mc:Choice xmlns:v="urn:schemas-microsoft-com:vml" Requires="v">
                  <p:oleObj spid="_x0000_s3117" name="" r:id="rId5" imgW="984250" imgH="929640" progId="Word.Document.8">
                    <p:embed/>
                  </p:oleObj>
                </mc:Choice>
                <mc:Fallback>
                  <p:oleObj name="" r:id="rId5" imgW="984250" imgH="929640" progId="Word.Document.8">
                    <p:embed/>
                    <p:pic>
                      <p:nvPicPr>
                        <p:cNvPr id="0" name="图片 3116"/>
                        <p:cNvPicPr/>
                        <p:nvPr/>
                      </p:nvPicPr>
                      <p:blipFill>
                        <a:blip r:embed="rId6"/>
                        <a:stretch>
                          <a:fillRect/>
                        </a:stretch>
                      </p:blipFill>
                      <p:spPr>
                        <a:xfrm>
                          <a:off x="4241" y="2639"/>
                          <a:ext cx="616" cy="483"/>
                        </a:xfrm>
                        <a:prstGeom prst="rect">
                          <a:avLst/>
                        </a:prstGeom>
                        <a:noFill/>
                        <a:ln w="38100">
                          <a:noFill/>
                          <a:miter/>
                        </a:ln>
                      </p:spPr>
                    </p:pic>
                  </p:oleObj>
                </mc:Fallback>
              </mc:AlternateContent>
            </a:graphicData>
          </a:graphic>
        </p:graphicFrame>
        <p:sp>
          <p:nvSpPr>
            <p:cNvPr id="7192" name="Text Box 103"/>
            <p:cNvSpPr txBox="1"/>
            <p:nvPr/>
          </p:nvSpPr>
          <p:spPr>
            <a:xfrm>
              <a:off x="4402" y="2718"/>
              <a:ext cx="342" cy="246"/>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7173" name="Object 7"/>
            <p:cNvGraphicFramePr/>
            <p:nvPr/>
          </p:nvGraphicFramePr>
          <p:xfrm>
            <a:off x="3611" y="2634"/>
            <a:ext cx="616" cy="483"/>
          </p:xfrm>
          <a:graphic>
            <a:graphicData uri="http://schemas.openxmlformats.org/presentationml/2006/ole">
              <mc:AlternateContent xmlns:mc="http://schemas.openxmlformats.org/markup-compatibility/2006">
                <mc:Choice xmlns:v="urn:schemas-microsoft-com:vml" Requires="v">
                  <p:oleObj spid="_x0000_s3118" name="" r:id="rId7" imgW="984250" imgH="929640" progId="Word.Document.8">
                    <p:embed/>
                  </p:oleObj>
                </mc:Choice>
                <mc:Fallback>
                  <p:oleObj name="" r:id="rId7" imgW="984250" imgH="929640" progId="Word.Document.8">
                    <p:embed/>
                    <p:pic>
                      <p:nvPicPr>
                        <p:cNvPr id="0" name="图片 3117"/>
                        <p:cNvPicPr/>
                        <p:nvPr/>
                      </p:nvPicPr>
                      <p:blipFill>
                        <a:blip r:embed="rId6"/>
                        <a:stretch>
                          <a:fillRect/>
                        </a:stretch>
                      </p:blipFill>
                      <p:spPr>
                        <a:xfrm>
                          <a:off x="3611" y="2634"/>
                          <a:ext cx="616" cy="483"/>
                        </a:xfrm>
                        <a:prstGeom prst="rect">
                          <a:avLst/>
                        </a:prstGeom>
                        <a:noFill/>
                        <a:ln w="38100">
                          <a:noFill/>
                          <a:miter/>
                        </a:ln>
                      </p:spPr>
                    </p:pic>
                  </p:oleObj>
                </mc:Fallback>
              </mc:AlternateContent>
            </a:graphicData>
          </a:graphic>
        </p:graphicFrame>
        <p:sp>
          <p:nvSpPr>
            <p:cNvPr id="7193" name="Text Box 105"/>
            <p:cNvSpPr txBox="1"/>
            <p:nvPr/>
          </p:nvSpPr>
          <p:spPr>
            <a:xfrm>
              <a:off x="3772" y="2705"/>
              <a:ext cx="349"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7174" name="Object 8"/>
            <p:cNvGraphicFramePr/>
            <p:nvPr/>
          </p:nvGraphicFramePr>
          <p:xfrm>
            <a:off x="2984" y="2637"/>
            <a:ext cx="616" cy="483"/>
          </p:xfrm>
          <a:graphic>
            <a:graphicData uri="http://schemas.openxmlformats.org/presentationml/2006/ole">
              <mc:AlternateContent xmlns:mc="http://schemas.openxmlformats.org/markup-compatibility/2006">
                <mc:Choice xmlns:v="urn:schemas-microsoft-com:vml" Requires="v">
                  <p:oleObj spid="_x0000_s3119" name="" r:id="rId8" imgW="984250" imgH="929640" progId="Word.Document.8">
                    <p:embed/>
                  </p:oleObj>
                </mc:Choice>
                <mc:Fallback>
                  <p:oleObj name="" r:id="rId8" imgW="984250" imgH="929640" progId="Word.Document.8">
                    <p:embed/>
                    <p:pic>
                      <p:nvPicPr>
                        <p:cNvPr id="0" name="图片 3118"/>
                        <p:cNvPicPr/>
                        <p:nvPr/>
                      </p:nvPicPr>
                      <p:blipFill>
                        <a:blip r:embed="rId6"/>
                        <a:stretch>
                          <a:fillRect/>
                        </a:stretch>
                      </p:blipFill>
                      <p:spPr>
                        <a:xfrm>
                          <a:off x="2984" y="2637"/>
                          <a:ext cx="616" cy="483"/>
                        </a:xfrm>
                        <a:prstGeom prst="rect">
                          <a:avLst/>
                        </a:prstGeom>
                        <a:noFill/>
                        <a:ln w="38100">
                          <a:noFill/>
                          <a:miter/>
                        </a:ln>
                      </p:spPr>
                    </p:pic>
                  </p:oleObj>
                </mc:Fallback>
              </mc:AlternateContent>
            </a:graphicData>
          </a:graphic>
        </p:graphicFrame>
        <p:sp>
          <p:nvSpPr>
            <p:cNvPr id="7194" name="Text Box 107"/>
            <p:cNvSpPr txBox="1"/>
            <p:nvPr/>
          </p:nvSpPr>
          <p:spPr>
            <a:xfrm>
              <a:off x="3153" y="2716"/>
              <a:ext cx="327" cy="244"/>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保留站及发射</a:t>
              </a:r>
              <a:endParaRPr lang="zh-CN" altLang="en-US" sz="1000" b="1" dirty="0">
                <a:latin typeface="Times New Roman" pitchFamily="18" charset="0"/>
              </a:endParaRPr>
            </a:p>
          </p:txBody>
        </p:sp>
        <p:graphicFrame>
          <p:nvGraphicFramePr>
            <p:cNvPr id="7175" name="Object 9"/>
            <p:cNvGraphicFramePr/>
            <p:nvPr/>
          </p:nvGraphicFramePr>
          <p:xfrm>
            <a:off x="3124" y="1979"/>
            <a:ext cx="2197" cy="467"/>
          </p:xfrm>
          <a:graphic>
            <a:graphicData uri="http://schemas.openxmlformats.org/presentationml/2006/ole">
              <mc:AlternateContent xmlns:mc="http://schemas.openxmlformats.org/markup-compatibility/2006">
                <mc:Choice xmlns:v="urn:schemas-microsoft-com:vml" Requires="v">
                  <p:oleObj spid="_x0000_s3120" name="" r:id="rId9" imgW="3485515" imgH="946150" progId="Word.Document.8">
                    <p:embed/>
                  </p:oleObj>
                </mc:Choice>
                <mc:Fallback>
                  <p:oleObj name="" r:id="rId9" imgW="3485515" imgH="946150" progId="Word.Document.8">
                    <p:embed/>
                    <p:pic>
                      <p:nvPicPr>
                        <p:cNvPr id="0" name="图片 3119"/>
                        <p:cNvPicPr/>
                        <p:nvPr/>
                      </p:nvPicPr>
                      <p:blipFill>
                        <a:blip r:embed="rId2"/>
                        <a:stretch>
                          <a:fillRect/>
                        </a:stretch>
                      </p:blipFill>
                      <p:spPr>
                        <a:xfrm>
                          <a:off x="3124" y="1979"/>
                          <a:ext cx="2197" cy="467"/>
                        </a:xfrm>
                        <a:prstGeom prst="rect">
                          <a:avLst/>
                        </a:prstGeom>
                        <a:noFill/>
                        <a:ln w="38100">
                          <a:noFill/>
                          <a:miter/>
                        </a:ln>
                      </p:spPr>
                    </p:pic>
                  </p:oleObj>
                </mc:Fallback>
              </mc:AlternateContent>
            </a:graphicData>
          </a:graphic>
        </p:graphicFrame>
        <p:sp>
          <p:nvSpPr>
            <p:cNvPr id="7195" name="Text Box 109"/>
            <p:cNvSpPr txBox="1"/>
            <p:nvPr/>
          </p:nvSpPr>
          <p:spPr>
            <a:xfrm>
              <a:off x="3972" y="2110"/>
              <a:ext cx="553" cy="123"/>
            </a:xfrm>
            <a:prstGeom prst="rect">
              <a:avLst/>
            </a:prstGeom>
            <a:solidFill>
              <a:schemeClr val="bg1"/>
            </a:solidFill>
            <a:ln w="9525">
              <a:noFill/>
            </a:ln>
          </p:spPr>
          <p:txBody>
            <a:bodyPr lIns="0" tIns="0" rIns="0" bIns="0">
              <a:spAutoFit/>
            </a:bodyPr>
            <a:p>
              <a:pPr>
                <a:spcBef>
                  <a:spcPct val="50000"/>
                </a:spcBef>
              </a:pPr>
              <a:r>
                <a:rPr lang="zh-CN" altLang="en-US" sz="1000" b="1" dirty="0">
                  <a:latin typeface="Times New Roman" pitchFamily="18" charset="0"/>
                </a:rPr>
                <a:t>寄存器</a:t>
              </a:r>
              <a:endParaRPr lang="zh-CN" altLang="en-US" sz="1000" b="1" dirty="0">
                <a:latin typeface="Times New Roman" pitchFamily="18" charset="0"/>
              </a:endParaRPr>
            </a:p>
          </p:txBody>
        </p:sp>
        <p:sp>
          <p:nvSpPr>
            <p:cNvPr id="7196" name="Line 110"/>
            <p:cNvSpPr/>
            <p:nvPr/>
          </p:nvSpPr>
          <p:spPr>
            <a:xfrm flipH="1" flipV="1">
              <a:off x="3954" y="2351"/>
              <a:ext cx="0" cy="281"/>
            </a:xfrm>
            <a:prstGeom prst="line">
              <a:avLst/>
            </a:prstGeom>
            <a:ln w="9525" cap="flat" cmpd="sng">
              <a:solidFill>
                <a:schemeClr val="tx1"/>
              </a:solidFill>
              <a:prstDash val="solid"/>
              <a:headEnd type="none" w="med" len="med"/>
              <a:tailEnd type="triangle" w="med" len="med"/>
            </a:ln>
          </p:spPr>
        </p:sp>
        <p:sp>
          <p:nvSpPr>
            <p:cNvPr id="7197" name="Line 111"/>
            <p:cNvSpPr/>
            <p:nvPr/>
          </p:nvSpPr>
          <p:spPr>
            <a:xfrm flipH="1" flipV="1">
              <a:off x="4580" y="2361"/>
              <a:ext cx="0" cy="281"/>
            </a:xfrm>
            <a:prstGeom prst="line">
              <a:avLst/>
            </a:prstGeom>
            <a:ln w="9525" cap="flat" cmpd="sng">
              <a:solidFill>
                <a:schemeClr val="tx1"/>
              </a:solidFill>
              <a:prstDash val="solid"/>
              <a:headEnd type="none" w="med" len="med"/>
              <a:tailEnd type="triangle" w="med" len="med"/>
            </a:ln>
          </p:spPr>
        </p:sp>
        <p:sp>
          <p:nvSpPr>
            <p:cNvPr id="7198" name="Line 112"/>
            <p:cNvSpPr/>
            <p:nvPr/>
          </p:nvSpPr>
          <p:spPr>
            <a:xfrm flipH="1" flipV="1">
              <a:off x="5190" y="2356"/>
              <a:ext cx="0" cy="281"/>
            </a:xfrm>
            <a:prstGeom prst="line">
              <a:avLst/>
            </a:prstGeom>
            <a:ln w="9525" cap="flat" cmpd="sng">
              <a:solidFill>
                <a:schemeClr val="tx1"/>
              </a:solidFill>
              <a:prstDash val="solid"/>
              <a:headEnd type="none" w="med" len="med"/>
              <a:tailEnd type="triangle" w="med" len="med"/>
            </a:ln>
          </p:spPr>
        </p:sp>
        <p:sp>
          <p:nvSpPr>
            <p:cNvPr id="7199" name="Line 113"/>
            <p:cNvSpPr/>
            <p:nvPr/>
          </p:nvSpPr>
          <p:spPr>
            <a:xfrm flipV="1">
              <a:off x="5179" y="3000"/>
              <a:ext cx="0" cy="204"/>
            </a:xfrm>
            <a:prstGeom prst="line">
              <a:avLst/>
            </a:prstGeom>
            <a:ln w="9525" cap="flat" cmpd="sng">
              <a:solidFill>
                <a:schemeClr val="tx1"/>
              </a:solidFill>
              <a:prstDash val="solid"/>
              <a:headEnd type="none" w="med" len="med"/>
              <a:tailEnd type="triangle" w="med" len="med"/>
            </a:ln>
          </p:spPr>
        </p:sp>
        <p:sp>
          <p:nvSpPr>
            <p:cNvPr id="7200" name="Line 114"/>
            <p:cNvSpPr/>
            <p:nvPr/>
          </p:nvSpPr>
          <p:spPr>
            <a:xfrm flipV="1">
              <a:off x="4571" y="3005"/>
              <a:ext cx="0" cy="204"/>
            </a:xfrm>
            <a:prstGeom prst="line">
              <a:avLst/>
            </a:prstGeom>
            <a:ln w="9525" cap="flat" cmpd="sng">
              <a:solidFill>
                <a:schemeClr val="tx1"/>
              </a:solidFill>
              <a:prstDash val="solid"/>
              <a:headEnd type="none" w="med" len="med"/>
              <a:tailEnd type="triangle" w="med" len="med"/>
            </a:ln>
          </p:spPr>
        </p:sp>
        <p:sp>
          <p:nvSpPr>
            <p:cNvPr id="7201" name="Line 115"/>
            <p:cNvSpPr/>
            <p:nvPr/>
          </p:nvSpPr>
          <p:spPr>
            <a:xfrm flipV="1">
              <a:off x="3947" y="3001"/>
              <a:ext cx="0" cy="204"/>
            </a:xfrm>
            <a:prstGeom prst="line">
              <a:avLst/>
            </a:prstGeom>
            <a:ln w="9525" cap="flat" cmpd="sng">
              <a:solidFill>
                <a:schemeClr val="tx1"/>
              </a:solidFill>
              <a:prstDash val="solid"/>
              <a:headEnd type="none" w="med" len="med"/>
              <a:tailEnd type="triangle" w="med" len="med"/>
            </a:ln>
          </p:spPr>
        </p:sp>
        <p:sp>
          <p:nvSpPr>
            <p:cNvPr id="7202" name="Line 116"/>
            <p:cNvSpPr/>
            <p:nvPr/>
          </p:nvSpPr>
          <p:spPr>
            <a:xfrm flipV="1">
              <a:off x="3324" y="3002"/>
              <a:ext cx="0" cy="204"/>
            </a:xfrm>
            <a:prstGeom prst="line">
              <a:avLst/>
            </a:prstGeom>
            <a:ln w="9525" cap="flat" cmpd="sng">
              <a:solidFill>
                <a:schemeClr val="tx1"/>
              </a:solidFill>
              <a:prstDash val="solid"/>
              <a:headEnd type="none" w="med" len="med"/>
              <a:tailEnd type="triangle" w="med" len="med"/>
            </a:ln>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6"/>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6627" name="Rectangle 1026"/>
          <p:cNvSpPr>
            <a:spLocks noGrp="1"/>
          </p:cNvSpPr>
          <p:nvPr>
            <p:ph type="title"/>
          </p:nvPr>
        </p:nvSpPr>
        <p:spPr/>
        <p:txBody>
          <a:bodyPr vert="horz" wrap="square" lIns="91440" tIns="45720" rIns="91440" bIns="45720" anchor="ctr" anchorCtr="0"/>
          <a:p>
            <a:pPr eaLnBrk="1" hangingPunct="1"/>
            <a:r>
              <a:rPr lang="zh-CN" altLang="en-US" dirty="0"/>
              <a:t>保留站前（后）读寄存器的处理器</a:t>
            </a:r>
            <a:endParaRPr lang="zh-CN" altLang="en-US" dirty="0"/>
          </a:p>
        </p:txBody>
      </p:sp>
      <p:sp>
        <p:nvSpPr>
          <p:cNvPr id="26628" name="Rectangle 1028"/>
          <p:cNvSpPr/>
          <p:nvPr/>
        </p:nvSpPr>
        <p:spPr>
          <a:xfrm>
            <a:off x="951230" y="6121400"/>
            <a:ext cx="10387965" cy="478155"/>
          </a:xfrm>
          <a:prstGeom prst="rect">
            <a:avLst/>
          </a:prstGeom>
          <a:noFill/>
          <a:ln w="9525">
            <a:noFill/>
          </a:ln>
        </p:spPr>
        <p:txBody>
          <a:bodyPr/>
          <a:p>
            <a:pPr marL="342900" indent="-342900" algn="l">
              <a:lnSpc>
                <a:spcPct val="110000"/>
              </a:lnSpc>
              <a:spcBef>
                <a:spcPct val="10000"/>
              </a:spcBef>
              <a:buChar char="•"/>
            </a:pPr>
            <a:r>
              <a:rPr lang="zh-CN" altLang="en-US" sz="1600" b="1" dirty="0">
                <a:solidFill>
                  <a:srgbClr val="FF0000"/>
                </a:solidFill>
                <a:latin typeface="宋体" panose="02000500000000000000" pitchFamily="2" charset="-122"/>
                <a:cs typeface="宋体" panose="02000500000000000000" pitchFamily="2" charset="-122"/>
              </a:rPr>
              <a:t>保留站后读寄存器减少了一次从寄存器到保留站的值（高达</a:t>
            </a:r>
            <a:r>
              <a:rPr lang="en-US" altLang="zh-CN" sz="1600" b="1" dirty="0">
                <a:solidFill>
                  <a:srgbClr val="FF0000"/>
                </a:solidFill>
                <a:latin typeface="宋体" panose="02000500000000000000" pitchFamily="2" charset="-122"/>
                <a:cs typeface="宋体" panose="02000500000000000000" pitchFamily="2" charset="-122"/>
              </a:rPr>
              <a:t>256</a:t>
            </a:r>
            <a:r>
              <a:rPr lang="zh-CN" altLang="en-US" sz="1600" b="1" dirty="0">
                <a:solidFill>
                  <a:srgbClr val="FF0000"/>
                </a:solidFill>
                <a:latin typeface="宋体" panose="02000500000000000000" pitchFamily="2" charset="-122"/>
                <a:cs typeface="宋体" panose="02000500000000000000" pitchFamily="2" charset="-122"/>
              </a:rPr>
              <a:t>或</a:t>
            </a:r>
            <a:r>
              <a:rPr lang="en-US" altLang="zh-CN" sz="1600" b="1" dirty="0">
                <a:solidFill>
                  <a:srgbClr val="FF0000"/>
                </a:solidFill>
                <a:latin typeface="宋体" panose="02000500000000000000" pitchFamily="2" charset="-122"/>
                <a:cs typeface="宋体" panose="02000500000000000000" pitchFamily="2" charset="-122"/>
              </a:rPr>
              <a:t>512</a:t>
            </a:r>
            <a:r>
              <a:rPr lang="zh-CN" altLang="en-US" sz="1600" b="1" dirty="0">
                <a:solidFill>
                  <a:srgbClr val="FF0000"/>
                </a:solidFill>
                <a:latin typeface="宋体" panose="02000500000000000000" pitchFamily="2" charset="-122"/>
                <a:cs typeface="宋体" panose="02000500000000000000" pitchFamily="2" charset="-122"/>
              </a:rPr>
              <a:t>位）拷贝，大幅降低了功耗</a:t>
            </a:r>
            <a:endParaRPr lang="zh-CN" altLang="en-US" sz="1600" b="1" dirty="0">
              <a:solidFill>
                <a:srgbClr val="FF0000"/>
              </a:solidFill>
              <a:latin typeface="宋体" panose="02000500000000000000" pitchFamily="2" charset="-122"/>
              <a:cs typeface="宋体" panose="02000500000000000000" pitchFamily="2" charset="-122"/>
            </a:endParaRPr>
          </a:p>
        </p:txBody>
      </p:sp>
      <p:graphicFrame>
        <p:nvGraphicFramePr>
          <p:cNvPr id="189470" name="Group 30"/>
          <p:cNvGraphicFramePr>
            <a:graphicFrameLocks noGrp="1"/>
          </p:cNvGraphicFramePr>
          <p:nvPr>
            <p:ph sz="half" idx="1"/>
          </p:nvPr>
        </p:nvGraphicFramePr>
        <p:xfrm>
          <a:off x="950913" y="1504315"/>
          <a:ext cx="10325871" cy="4591685"/>
        </p:xfrm>
        <a:graphic>
          <a:graphicData uri="http://schemas.openxmlformats.org/drawingml/2006/table">
            <a:tbl>
              <a:tblPr/>
              <a:tblGrid>
                <a:gridCol w="5142830"/>
                <a:gridCol w="5183041"/>
              </a:tblGrid>
              <a:tr h="52578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保留站前读寄存器</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保留站后读寄存器</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590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IBM360/91(1967)</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603(1993)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604(1993)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605(1993)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620(1996)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 2900 sup.(1995)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 K5(1995)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PM-1(Sparc64)(1995)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 Pro(1995)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Intel Core (2006)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Godson-1</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CDC 6600(1964)</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Power1(1990)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Power2(1993)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Lighting(1991)</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ES/9000(1992)</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Nx586(1994)</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PA8000(1996)</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R10000(1996)</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 21264(1997)</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Intel Netburst (2001) </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sv-S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AMD K7/K8 (2006)</a:t>
                      </a:r>
                      <a:endParaRPr kumimoji="1" lang="sv-S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sv-S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Godson-2</a:t>
                      </a:r>
                      <a:endParaRPr kumimoji="1" lang="sv-S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7651"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寄存器重命名方法</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8675" name="Rectangle 1026"/>
          <p:cNvSpPr/>
          <p:nvPr/>
        </p:nvSpPr>
        <p:spPr>
          <a:xfrm>
            <a:off x="928688" y="577850"/>
            <a:ext cx="10361612" cy="722313"/>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寄存器重命名技术</a:t>
            </a:r>
            <a:endParaRPr lang="zh-CN" altLang="en-US" sz="3600" dirty="0">
              <a:solidFill>
                <a:srgbClr val="FF3300"/>
              </a:solidFill>
              <a:latin typeface="Times New Roman" pitchFamily="18" charset="0"/>
              <a:ea typeface="黑体" panose="02000500000000000000" pitchFamily="49" charset="-122"/>
            </a:endParaRPr>
          </a:p>
        </p:txBody>
      </p:sp>
      <p:sp>
        <p:nvSpPr>
          <p:cNvPr id="28676" name="Rectangle 1027"/>
          <p:cNvSpPr/>
          <p:nvPr/>
        </p:nvSpPr>
        <p:spPr>
          <a:xfrm>
            <a:off x="449263" y="2082800"/>
            <a:ext cx="11383962" cy="3206750"/>
          </a:xfrm>
          <a:prstGeom prst="rect">
            <a:avLst/>
          </a:prstGeom>
          <a:noFill/>
          <a:ln w="9525">
            <a:noFill/>
          </a:ln>
        </p:spPr>
        <p:txBody>
          <a:bodyPr/>
          <a:p>
            <a:pPr marL="342900" indent="-342900" algn="l">
              <a:lnSpc>
                <a:spcPct val="150000"/>
              </a:lnSpc>
              <a:buChar char="•"/>
            </a:pPr>
            <a:r>
              <a:rPr lang="zh-CN" altLang="en-US" b="1" dirty="0">
                <a:latin typeface="宋体" panose="02000500000000000000" pitchFamily="2" charset="-122"/>
                <a:ea typeface="宋体" panose="02000500000000000000" pitchFamily="2" charset="-122"/>
                <a:cs typeface="宋体" panose="02000500000000000000" pitchFamily="2" charset="-122"/>
              </a:rPr>
              <a:t>双重作用</a:t>
            </a:r>
            <a:endParaRPr lang="zh-CN" altLang="en-US"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例外或转移猜测错误时取消后面操作</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解决</a:t>
            </a:r>
            <a:r>
              <a:rPr lang="en-US" altLang="zh-CN" sz="2000" b="1" dirty="0">
                <a:latin typeface="宋体" panose="02000500000000000000" pitchFamily="2" charset="-122"/>
                <a:ea typeface="宋体" panose="02000500000000000000" pitchFamily="2" charset="-122"/>
                <a:cs typeface="宋体" panose="02000500000000000000" pitchFamily="2" charset="-122"/>
              </a:rPr>
              <a:t>WAR</a:t>
            </a:r>
            <a:r>
              <a:rPr lang="zh-CN" altLang="en-US" sz="2000" b="1" dirty="0">
                <a:latin typeface="宋体" panose="02000500000000000000" pitchFamily="2" charset="-122"/>
                <a:ea typeface="宋体" panose="02000500000000000000" pitchFamily="2" charset="-122"/>
                <a:cs typeface="宋体" panose="02000500000000000000" pitchFamily="2" charset="-122"/>
              </a:rPr>
              <a:t>和</a:t>
            </a:r>
            <a:r>
              <a:rPr lang="en-US" altLang="zh-CN" sz="2000" b="1" dirty="0">
                <a:latin typeface="宋体" panose="02000500000000000000" pitchFamily="2" charset="-122"/>
                <a:ea typeface="宋体" panose="02000500000000000000" pitchFamily="2" charset="-122"/>
                <a:cs typeface="宋体" panose="02000500000000000000" pitchFamily="2" charset="-122"/>
              </a:rPr>
              <a:t>WAW</a:t>
            </a:r>
            <a:r>
              <a:rPr lang="zh-CN" altLang="en-US" sz="2000" b="1" dirty="0">
                <a:latin typeface="宋体" panose="02000500000000000000" pitchFamily="2" charset="-122"/>
                <a:ea typeface="宋体" panose="02000500000000000000" pitchFamily="2" charset="-122"/>
                <a:cs typeface="宋体" panose="02000500000000000000" pitchFamily="2" charset="-122"/>
              </a:rPr>
              <a:t>相关</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buChar char="•"/>
            </a:pPr>
            <a:r>
              <a:rPr lang="zh-CN" altLang="en-US" b="1" dirty="0">
                <a:latin typeface="宋体" panose="02000500000000000000" pitchFamily="2" charset="-122"/>
                <a:ea typeface="宋体" panose="02000500000000000000" pitchFamily="2" charset="-122"/>
                <a:cs typeface="宋体" panose="02000500000000000000" pitchFamily="2" charset="-122"/>
              </a:rPr>
              <a:t>核心思想</a:t>
            </a:r>
            <a:endParaRPr lang="zh-CN" altLang="en-US"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一个操作写寄存器时重命名到其他寄存器</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一个操作结束时再写到结构寄存器</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29699" name="Rectangle 2"/>
          <p:cNvSpPr>
            <a:spLocks noGrp="1"/>
          </p:cNvSpPr>
          <p:nvPr>
            <p:ph type="title"/>
          </p:nvPr>
        </p:nvSpPr>
        <p:spPr/>
        <p:txBody>
          <a:bodyPr vert="horz" wrap="square" lIns="91440" tIns="45720" rIns="91440" bIns="45720" anchor="ctr" anchorCtr="0"/>
          <a:p>
            <a:pPr eaLnBrk="1" hangingPunct="1"/>
            <a:r>
              <a:rPr lang="zh-CN" altLang="en-US" dirty="0"/>
              <a:t>重命名的方法</a:t>
            </a:r>
            <a:endParaRPr lang="zh-CN" altLang="en-US" dirty="0"/>
          </a:p>
        </p:txBody>
      </p:sp>
      <p:sp>
        <p:nvSpPr>
          <p:cNvPr id="29700" name="Rectangle 3"/>
          <p:cNvSpPr>
            <a:spLocks noGrp="1"/>
          </p:cNvSpPr>
          <p:nvPr>
            <p:ph idx="1"/>
          </p:nvPr>
        </p:nvSpPr>
        <p:spPr/>
        <p:txBody>
          <a:bodyPr vert="horz" wrap="square" lIns="91440" tIns="45720" rIns="91440" bIns="45720" anchor="t" anchorCtr="0"/>
          <a:p>
            <a:pPr eaLnBrk="1" hangingPunct="1">
              <a:lnSpc>
                <a:spcPct val="150000"/>
              </a:lnSpc>
              <a:spcBef>
                <a:spcPct val="0"/>
              </a:spcBef>
            </a:pPr>
            <a:r>
              <a:rPr lang="zh-CN" altLang="en-US" sz="2400" dirty="0"/>
              <a:t>重命名的方法多种多样，不拘一格</a:t>
            </a:r>
            <a:endParaRPr lang="zh-CN" altLang="en-US" sz="2400" dirty="0"/>
          </a:p>
          <a:p>
            <a:pPr lvl="1" eaLnBrk="1" hangingPunct="1">
              <a:lnSpc>
                <a:spcPct val="150000"/>
              </a:lnSpc>
              <a:spcBef>
                <a:spcPct val="0"/>
              </a:spcBef>
            </a:pPr>
            <a:r>
              <a:rPr lang="zh-CN" altLang="en-US" sz="2000" dirty="0"/>
              <a:t>软件重命名</a:t>
            </a:r>
            <a:endParaRPr lang="zh-CN" altLang="en-US" sz="2000" dirty="0"/>
          </a:p>
          <a:p>
            <a:pPr lvl="1" eaLnBrk="1" hangingPunct="1">
              <a:lnSpc>
                <a:spcPct val="150000"/>
              </a:lnSpc>
              <a:spcBef>
                <a:spcPct val="0"/>
              </a:spcBef>
            </a:pPr>
            <a:r>
              <a:rPr lang="zh-CN" altLang="en-US" sz="2000" dirty="0"/>
              <a:t>重命名到保留站</a:t>
            </a:r>
            <a:endParaRPr lang="zh-CN" altLang="en-US" sz="2000" dirty="0"/>
          </a:p>
          <a:p>
            <a:pPr lvl="1" eaLnBrk="1" hangingPunct="1">
              <a:lnSpc>
                <a:spcPct val="150000"/>
              </a:lnSpc>
              <a:spcBef>
                <a:spcPct val="0"/>
              </a:spcBef>
            </a:pPr>
            <a:r>
              <a:rPr lang="zh-CN" altLang="en-US" sz="2000" dirty="0"/>
              <a:t>重命名到</a:t>
            </a:r>
            <a:r>
              <a:rPr lang="en-US" altLang="zh-CN" sz="2000" dirty="0"/>
              <a:t>ROB</a:t>
            </a:r>
            <a:endParaRPr lang="en-US" altLang="zh-CN" sz="2000" dirty="0"/>
          </a:p>
          <a:p>
            <a:pPr lvl="1" eaLnBrk="1" hangingPunct="1">
              <a:lnSpc>
                <a:spcPct val="150000"/>
              </a:lnSpc>
              <a:spcBef>
                <a:spcPct val="0"/>
              </a:spcBef>
            </a:pPr>
            <a:r>
              <a:rPr lang="zh-CN" altLang="en-US" sz="2000" dirty="0"/>
              <a:t>重命名到发射队列</a:t>
            </a:r>
            <a:endParaRPr lang="zh-CN" altLang="en-US" sz="2000" dirty="0"/>
          </a:p>
          <a:p>
            <a:pPr lvl="1" eaLnBrk="1" hangingPunct="1">
              <a:lnSpc>
                <a:spcPct val="150000"/>
              </a:lnSpc>
              <a:spcBef>
                <a:spcPct val="0"/>
              </a:spcBef>
            </a:pPr>
            <a:r>
              <a:rPr lang="zh-CN" altLang="en-US" sz="2000" dirty="0"/>
              <a:t>建立物理寄存器到逻辑寄存器的映射</a:t>
            </a:r>
            <a:endParaRPr lang="zh-CN" altLang="en-US" sz="2000" dirty="0"/>
          </a:p>
          <a:p>
            <a:pPr eaLnBrk="1" hangingPunct="1">
              <a:lnSpc>
                <a:spcPct val="150000"/>
              </a:lnSpc>
              <a:spcBef>
                <a:spcPct val="0"/>
              </a:spcBef>
            </a:pPr>
            <a:r>
              <a:rPr lang="zh-CN" altLang="en-US" sz="2400" dirty="0">
                <a:solidFill>
                  <a:srgbClr val="FF3300"/>
                </a:solidFill>
              </a:rPr>
              <a:t>总之只要找到一个地方临时放一下数据</a:t>
            </a:r>
            <a:endParaRPr lang="zh-CN" altLang="en-US" sz="2400" dirty="0">
              <a:solidFill>
                <a:srgbClr val="FF3300"/>
              </a:solidFill>
            </a:endParaRPr>
          </a:p>
          <a:p>
            <a:pPr eaLnBrk="1" hangingPunct="1">
              <a:lnSpc>
                <a:spcPct val="150000"/>
              </a:lnSpc>
              <a:spcBef>
                <a:spcPct val="0"/>
              </a:spcBef>
            </a:pPr>
            <a:endParaRPr lang="en-US" altLang="zh-C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0723" name="Rectangle 2"/>
          <p:cNvSpPr/>
          <p:nvPr/>
        </p:nvSpPr>
        <p:spPr>
          <a:xfrm>
            <a:off x="846138" y="3308350"/>
            <a:ext cx="4540250" cy="1751013"/>
          </a:xfrm>
          <a:prstGeom prst="rect">
            <a:avLst/>
          </a:prstGeom>
          <a:noFill/>
          <a:ln w="12700" cap="flat" cmpd="sng">
            <a:solidFill>
              <a:schemeClr val="tx1"/>
            </a:solidFill>
            <a:prstDash val="solid"/>
            <a:miter/>
            <a:headEnd type="none" w="med" len="med"/>
            <a:tailEnd type="none" w="med" len="med"/>
          </a:ln>
        </p:spPr>
        <p:txBody>
          <a:bodyPr lIns="90487" tIns="44450" rIns="90487" bIns="44450"/>
          <a:p>
            <a:pPr marL="342900" indent="-342900" algn="l">
              <a:lnSpc>
                <a:spcPct val="90000"/>
              </a:lnSpc>
              <a:spcBef>
                <a:spcPct val="10000"/>
              </a:spcBef>
            </a:pPr>
            <a:r>
              <a:rPr lang="en-US" altLang="zh-CN" sz="1800" b="1" dirty="0">
                <a:latin typeface="宋体" panose="02000500000000000000" pitchFamily="2" charset="-122"/>
              </a:rPr>
              <a:t>LD		</a:t>
            </a:r>
            <a:r>
              <a:rPr lang="en-US" altLang="zh-CN" sz="1800" b="1" dirty="0">
                <a:solidFill>
                  <a:srgbClr val="FF0000"/>
                </a:solidFill>
                <a:latin typeface="宋体" panose="02000500000000000000" pitchFamily="2" charset="-122"/>
              </a:rPr>
              <a:t>F0</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MULTD	</a:t>
            </a:r>
            <a:r>
              <a:rPr lang="en-US" altLang="zh-CN" sz="1800" b="1" dirty="0">
                <a:solidFill>
                  <a:schemeClr val="accent2"/>
                </a:solidFill>
                <a:latin typeface="宋体" panose="02000500000000000000" pitchFamily="2" charset="-122"/>
              </a:rPr>
              <a:t>F4</a:t>
            </a:r>
            <a:r>
              <a:rPr lang="en-US" altLang="zh-CN" sz="1800" b="1" dirty="0">
                <a:latin typeface="宋体" panose="02000500000000000000" pitchFamily="2" charset="-122"/>
              </a:rPr>
              <a:t>	</a:t>
            </a:r>
            <a:r>
              <a:rPr lang="en-US" altLang="zh-CN" sz="1800" b="1" dirty="0">
                <a:solidFill>
                  <a:srgbClr val="FF0000"/>
                </a:solidFill>
                <a:latin typeface="宋体" panose="02000500000000000000" pitchFamily="2" charset="-122"/>
              </a:rPr>
              <a:t>F0</a:t>
            </a:r>
            <a:r>
              <a:rPr lang="en-US" altLang="zh-CN" sz="1800" b="1" dirty="0">
                <a:latin typeface="宋体" panose="02000500000000000000" pitchFamily="2" charset="-122"/>
              </a:rPr>
              <a:t>	F2</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SD		</a:t>
            </a:r>
            <a:r>
              <a:rPr lang="en-US" altLang="zh-CN" sz="1800" b="1" dirty="0">
                <a:solidFill>
                  <a:schemeClr val="accent2"/>
                </a:solidFill>
                <a:latin typeface="宋体" panose="02000500000000000000" pitchFamily="2" charset="-122"/>
              </a:rPr>
              <a:t>F4</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LD		</a:t>
            </a:r>
            <a:r>
              <a:rPr lang="en-US" altLang="zh-CN" sz="1800" b="1" dirty="0">
                <a:solidFill>
                  <a:srgbClr val="FF0000"/>
                </a:solidFill>
                <a:latin typeface="宋体" panose="02000500000000000000" pitchFamily="2" charset="-122"/>
              </a:rPr>
              <a:t>F0</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MULTD	</a:t>
            </a:r>
            <a:r>
              <a:rPr lang="en-US" altLang="zh-CN" sz="1800" b="1" dirty="0">
                <a:solidFill>
                  <a:schemeClr val="accent2"/>
                </a:solidFill>
                <a:latin typeface="宋体" panose="02000500000000000000" pitchFamily="2" charset="-122"/>
              </a:rPr>
              <a:t>F4</a:t>
            </a:r>
            <a:r>
              <a:rPr lang="en-US" altLang="zh-CN" sz="1800" b="1" dirty="0">
                <a:latin typeface="宋体" panose="02000500000000000000" pitchFamily="2" charset="-122"/>
              </a:rPr>
              <a:t>	</a:t>
            </a:r>
            <a:r>
              <a:rPr lang="en-US" altLang="zh-CN" sz="1800" b="1" dirty="0">
                <a:solidFill>
                  <a:srgbClr val="FF0000"/>
                </a:solidFill>
                <a:latin typeface="宋体" panose="02000500000000000000" pitchFamily="2" charset="-122"/>
              </a:rPr>
              <a:t>F0</a:t>
            </a:r>
            <a:r>
              <a:rPr lang="en-US" altLang="zh-CN" sz="1800" b="1" dirty="0">
                <a:latin typeface="宋体" panose="02000500000000000000" pitchFamily="2" charset="-122"/>
              </a:rPr>
              <a:t>	F2</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SD		</a:t>
            </a:r>
            <a:r>
              <a:rPr lang="en-US" altLang="zh-CN" sz="1800" b="1" dirty="0">
                <a:solidFill>
                  <a:schemeClr val="accent2"/>
                </a:solidFill>
                <a:latin typeface="宋体" panose="02000500000000000000" pitchFamily="2" charset="-122"/>
              </a:rPr>
              <a:t>F4</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p:txBody>
      </p:sp>
      <p:sp>
        <p:nvSpPr>
          <p:cNvPr id="30724" name="Rectangle 3"/>
          <p:cNvSpPr/>
          <p:nvPr/>
        </p:nvSpPr>
        <p:spPr>
          <a:xfrm>
            <a:off x="6729413" y="3351213"/>
            <a:ext cx="4540250" cy="1703387"/>
          </a:xfrm>
          <a:prstGeom prst="rect">
            <a:avLst/>
          </a:prstGeom>
          <a:noFill/>
          <a:ln w="12700" cap="flat" cmpd="sng">
            <a:solidFill>
              <a:schemeClr val="tx1"/>
            </a:solidFill>
            <a:prstDash val="solid"/>
            <a:miter/>
            <a:headEnd type="none" w="med" len="med"/>
            <a:tailEnd type="none" w="med" len="med"/>
          </a:ln>
        </p:spPr>
        <p:txBody>
          <a:bodyPr lIns="90487" tIns="44450" rIns="90487" bIns="44450"/>
          <a:p>
            <a:pPr marL="342900" indent="-342900" algn="l">
              <a:lnSpc>
                <a:spcPct val="90000"/>
              </a:lnSpc>
              <a:spcBef>
                <a:spcPct val="10000"/>
              </a:spcBef>
            </a:pPr>
            <a:r>
              <a:rPr lang="en-US" altLang="zh-CN" sz="1800" b="1" dirty="0">
                <a:latin typeface="宋体" panose="02000500000000000000" pitchFamily="2" charset="-122"/>
              </a:rPr>
              <a:t>LD		</a:t>
            </a:r>
            <a:r>
              <a:rPr lang="en-US" altLang="zh-CN" sz="1800" b="1" dirty="0">
                <a:solidFill>
                  <a:srgbClr val="FF0000"/>
                </a:solidFill>
                <a:latin typeface="宋体" panose="02000500000000000000" pitchFamily="2" charset="-122"/>
              </a:rPr>
              <a:t>F0</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MULTD	</a:t>
            </a:r>
            <a:r>
              <a:rPr lang="en-US" altLang="zh-CN" sz="1800" b="1" dirty="0">
                <a:solidFill>
                  <a:schemeClr val="accent2"/>
                </a:solidFill>
                <a:latin typeface="宋体" panose="02000500000000000000" pitchFamily="2" charset="-122"/>
              </a:rPr>
              <a:t>F4</a:t>
            </a:r>
            <a:r>
              <a:rPr lang="en-US" altLang="zh-CN" sz="1800" b="1" dirty="0">
                <a:latin typeface="宋体" panose="02000500000000000000" pitchFamily="2" charset="-122"/>
              </a:rPr>
              <a:t>	</a:t>
            </a:r>
            <a:r>
              <a:rPr lang="en-US" altLang="zh-CN" sz="1800" b="1" dirty="0">
                <a:solidFill>
                  <a:srgbClr val="FF0000"/>
                </a:solidFill>
                <a:latin typeface="宋体" panose="02000500000000000000" pitchFamily="2" charset="-122"/>
              </a:rPr>
              <a:t>F0</a:t>
            </a:r>
            <a:r>
              <a:rPr lang="en-US" altLang="zh-CN" sz="1800" b="1" dirty="0">
                <a:latin typeface="宋体" panose="02000500000000000000" pitchFamily="2" charset="-122"/>
              </a:rPr>
              <a:t>	F2</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SD		</a:t>
            </a:r>
            <a:r>
              <a:rPr lang="en-US" altLang="zh-CN" sz="1800" b="1" dirty="0">
                <a:solidFill>
                  <a:schemeClr val="accent2"/>
                </a:solidFill>
                <a:latin typeface="宋体" panose="02000500000000000000" pitchFamily="2" charset="-122"/>
              </a:rPr>
              <a:t>F4</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LD		</a:t>
            </a:r>
            <a:r>
              <a:rPr lang="en-US" altLang="zh-CN" sz="1800" b="1" dirty="0">
                <a:solidFill>
                  <a:srgbClr val="FF3300"/>
                </a:solidFill>
                <a:latin typeface="宋体" panose="02000500000000000000" pitchFamily="2" charset="-122"/>
              </a:rPr>
              <a:t>F6</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MULTD	</a:t>
            </a:r>
            <a:r>
              <a:rPr lang="en-US" altLang="zh-CN" sz="1800" b="1" dirty="0">
                <a:solidFill>
                  <a:schemeClr val="accent1"/>
                </a:solidFill>
                <a:latin typeface="宋体" panose="02000500000000000000" pitchFamily="2" charset="-122"/>
              </a:rPr>
              <a:t>F8</a:t>
            </a:r>
            <a:r>
              <a:rPr lang="en-US" altLang="zh-CN" sz="1800" b="1" dirty="0">
                <a:latin typeface="宋体" panose="02000500000000000000" pitchFamily="2" charset="-122"/>
              </a:rPr>
              <a:t>	</a:t>
            </a:r>
            <a:r>
              <a:rPr lang="en-US" altLang="zh-CN" sz="1800" b="1" dirty="0">
                <a:solidFill>
                  <a:srgbClr val="FF3300"/>
                </a:solidFill>
                <a:latin typeface="宋体" panose="02000500000000000000" pitchFamily="2" charset="-122"/>
              </a:rPr>
              <a:t>F6</a:t>
            </a:r>
            <a:r>
              <a:rPr lang="en-US" altLang="zh-CN" sz="1800" b="1" dirty="0">
                <a:latin typeface="宋体" panose="02000500000000000000" pitchFamily="2" charset="-122"/>
              </a:rPr>
              <a:t>	F2</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SD		</a:t>
            </a:r>
            <a:r>
              <a:rPr lang="en-US" altLang="zh-CN" sz="1800" b="1" dirty="0">
                <a:solidFill>
                  <a:schemeClr val="accent1"/>
                </a:solidFill>
                <a:latin typeface="宋体" panose="02000500000000000000" pitchFamily="2" charset="-122"/>
              </a:rPr>
              <a:t>F8</a:t>
            </a:r>
            <a:r>
              <a:rPr lang="en-US" altLang="zh-CN" sz="1800" b="1" dirty="0">
                <a:latin typeface="宋体" panose="02000500000000000000" pitchFamily="2" charset="-122"/>
              </a:rPr>
              <a:t>	0	R1</a:t>
            </a:r>
            <a:endParaRPr lang="en-US" altLang="zh-CN" sz="1800" b="1" dirty="0">
              <a:latin typeface="宋体" panose="02000500000000000000" pitchFamily="2" charset="-122"/>
            </a:endParaRPr>
          </a:p>
        </p:txBody>
      </p:sp>
      <p:sp>
        <p:nvSpPr>
          <p:cNvPr id="30725" name="Rectangle 4"/>
          <p:cNvSpPr/>
          <p:nvPr/>
        </p:nvSpPr>
        <p:spPr>
          <a:xfrm>
            <a:off x="914400" y="609600"/>
            <a:ext cx="10361613" cy="11430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软件寄存器重命名</a:t>
            </a:r>
            <a:endParaRPr lang="zh-CN" altLang="en-US" sz="3600" dirty="0">
              <a:solidFill>
                <a:srgbClr val="FF3300"/>
              </a:solidFill>
              <a:latin typeface="Times New Roman" pitchFamily="18" charset="0"/>
              <a:ea typeface="黑体" panose="02000500000000000000"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nvGraphicFramePr>
        <p:xfrm>
          <a:off x="594233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631063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8679815" y="2435860"/>
          <a:ext cx="2374900" cy="592455"/>
        </p:xfrm>
        <a:graphic>
          <a:graphicData uri="http://schemas.openxmlformats.org/drawingml/2006/table">
            <a:tbl>
              <a:tblPr firstRow="1" bandRow="1">
                <a:tableStyleId>{5C22544A-7EE6-4342-B048-85BDC9FD1C3A}</a:tableStyleId>
              </a:tblPr>
              <a:tblGrid>
                <a:gridCol w="208280"/>
                <a:gridCol w="422910"/>
                <a:gridCol w="340995"/>
                <a:gridCol w="484505"/>
                <a:gridCol w="341630"/>
                <a:gridCol w="576580"/>
              </a:tblGrid>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572008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9" name="表格 8"/>
          <p:cNvGraphicFramePr/>
          <p:nvPr/>
        </p:nvGraphicFramePr>
        <p:xfrm>
          <a:off x="8629650" y="3822700"/>
          <a:ext cx="2342515" cy="863600"/>
        </p:xfrm>
        <a:graphic>
          <a:graphicData uri="http://schemas.openxmlformats.org/drawingml/2006/table">
            <a:tbl>
              <a:tblPr firstRow="1" bandRow="1">
                <a:tableStyleId>{5C22544A-7EE6-4342-B048-85BDC9FD1C3A}</a:tableStyleId>
              </a:tblPr>
              <a:tblGrid>
                <a:gridCol w="221065"/>
                <a:gridCol w="382270"/>
                <a:gridCol w="387901"/>
                <a:gridCol w="1351279"/>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pSp>
        <p:nvGrpSpPr>
          <p:cNvPr id="2" name="组合 1"/>
          <p:cNvGrpSpPr/>
          <p:nvPr/>
        </p:nvGrpSpPr>
        <p:grpSpPr>
          <a:xfrm>
            <a:off x="3631565" y="1449705"/>
            <a:ext cx="7678420" cy="3862070"/>
            <a:chOff x="5719" y="2283"/>
            <a:chExt cx="12092" cy="6082"/>
          </a:xfrm>
        </p:grpSpPr>
        <p:sp>
          <p:nvSpPr>
            <p:cNvPr id="31751" name="Line 52"/>
            <p:cNvSpPr/>
            <p:nvPr/>
          </p:nvSpPr>
          <p:spPr>
            <a:xfrm flipV="1">
              <a:off x="1028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167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495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644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146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092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563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567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106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676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H="1" flipV="1">
              <a:off x="9927" y="4780"/>
              <a:ext cx="1" cy="613"/>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6402" y="4768"/>
              <a:ext cx="1" cy="647"/>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7785" y="2304"/>
              <a:ext cx="1" cy="5507"/>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142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854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955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327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5669" y="7811"/>
              <a:ext cx="2139" cy="1"/>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5677" y="7404"/>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5719" y="2301"/>
              <a:ext cx="12093" cy="3103"/>
              <a:chOff x="1701" y="512"/>
              <a:chExt cx="3628" cy="1241"/>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2010" y="1753"/>
                <a:ext cx="3319"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239"/>
                <a:chOff x="1701" y="512"/>
                <a:chExt cx="3494" cy="1239"/>
              </a:xfrm>
            </p:grpSpPr>
            <p:grpSp>
              <p:nvGrpSpPr>
                <p:cNvPr id="31776" name="Group 77"/>
                <p:cNvGrpSpPr/>
                <p:nvPr/>
              </p:nvGrpSpPr>
              <p:grpSpPr>
                <a:xfrm>
                  <a:off x="2019" y="512"/>
                  <a:ext cx="135" cy="1239"/>
                  <a:chOff x="2019" y="512"/>
                  <a:chExt cx="135" cy="123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H="1" flipV="1">
                    <a:off x="2019" y="1502"/>
                    <a:ext cx="3" cy="24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964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sp>
          <p:nvSpPr>
            <p:cNvPr id="47115" name="Line 15"/>
            <p:cNvSpPr/>
            <p:nvPr/>
          </p:nvSpPr>
          <p:spPr>
            <a:xfrm flipH="1" flipV="1">
              <a:off x="16080" y="5686"/>
              <a:ext cx="15" cy="340"/>
            </a:xfrm>
            <a:prstGeom prst="line">
              <a:avLst/>
            </a:prstGeom>
            <a:ln w="19050" cap="flat" cmpd="sng">
              <a:solidFill>
                <a:schemeClr val="accent2"/>
              </a:solidFill>
              <a:prstDash val="solid"/>
              <a:round/>
              <a:headEnd type="none" w="med" len="med"/>
              <a:tailEnd type="none" w="med" len="med"/>
            </a:ln>
          </p:spPr>
        </p:sp>
        <p:sp>
          <p:nvSpPr>
            <p:cNvPr id="47131" name="Line 36"/>
            <p:cNvSpPr/>
            <p:nvPr/>
          </p:nvSpPr>
          <p:spPr>
            <a:xfrm flipV="1">
              <a:off x="6373" y="7781"/>
              <a:ext cx="4711" cy="22"/>
            </a:xfrm>
            <a:prstGeom prst="line">
              <a:avLst/>
            </a:prstGeom>
            <a:ln w="19050" cap="flat" cmpd="sng">
              <a:solidFill>
                <a:schemeClr val="accent2"/>
              </a:solidFill>
              <a:prstDash val="solid"/>
              <a:round/>
              <a:headEnd type="none" w="med" len="med"/>
              <a:tailEnd type="none" w="med" len="med"/>
            </a:ln>
          </p:spPr>
        </p:sp>
        <p:sp>
          <p:nvSpPr>
            <p:cNvPr id="47133" name="Text Box 43"/>
            <p:cNvSpPr txBox="1"/>
            <p:nvPr/>
          </p:nvSpPr>
          <p:spPr>
            <a:xfrm>
              <a:off x="7116" y="7421"/>
              <a:ext cx="1715"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修改寄存器</a:t>
              </a:r>
              <a:endParaRPr lang="zh-CN" altLang="en-US" sz="1200" b="1" dirty="0">
                <a:solidFill>
                  <a:schemeClr val="accent2"/>
                </a:solidFill>
                <a:latin typeface="Times New Roman" pitchFamily="18" charset="0"/>
                <a:ea typeface="宋体" panose="02000500000000000000" pitchFamily="2" charset="-122"/>
              </a:endParaRPr>
            </a:p>
          </p:txBody>
        </p:sp>
        <p:sp>
          <p:nvSpPr>
            <p:cNvPr id="47143" name="Line 37"/>
            <p:cNvSpPr/>
            <p:nvPr/>
          </p:nvSpPr>
          <p:spPr>
            <a:xfrm flipH="1" flipV="1">
              <a:off x="11059" y="7383"/>
              <a:ext cx="13" cy="397"/>
            </a:xfrm>
            <a:prstGeom prst="line">
              <a:avLst/>
            </a:prstGeom>
            <a:ln w="19050" cap="flat" cmpd="sng">
              <a:solidFill>
                <a:schemeClr val="accent2"/>
              </a:solidFill>
              <a:prstDash val="solid"/>
              <a:round/>
              <a:headEnd type="none" w="med" len="med"/>
              <a:tailEnd type="triangle" w="med" len="med"/>
            </a:ln>
          </p:spPr>
        </p:sp>
        <p:sp>
          <p:nvSpPr>
            <p:cNvPr id="47144" name="Line 38"/>
            <p:cNvSpPr/>
            <p:nvPr/>
          </p:nvSpPr>
          <p:spPr>
            <a:xfrm>
              <a:off x="6317" y="5695"/>
              <a:ext cx="9799" cy="22"/>
            </a:xfrm>
            <a:prstGeom prst="line">
              <a:avLst/>
            </a:prstGeom>
            <a:ln w="19050" cap="flat" cmpd="sng">
              <a:solidFill>
                <a:schemeClr val="accent2"/>
              </a:solidFill>
              <a:prstDash val="solid"/>
              <a:round/>
              <a:headEnd type="none" w="med" len="med"/>
              <a:tailEnd type="none" w="med" len="med"/>
            </a:ln>
          </p:spPr>
        </p:sp>
        <p:sp>
          <p:nvSpPr>
            <p:cNvPr id="47146" name="Line 41"/>
            <p:cNvSpPr/>
            <p:nvPr/>
          </p:nvSpPr>
          <p:spPr>
            <a:xfrm flipH="1" flipV="1">
              <a:off x="6331" y="4769"/>
              <a:ext cx="23" cy="3046"/>
            </a:xfrm>
            <a:prstGeom prst="line">
              <a:avLst/>
            </a:prstGeom>
            <a:ln w="19050" cap="flat" cmpd="sng">
              <a:solidFill>
                <a:schemeClr val="accent2"/>
              </a:solidFill>
              <a:prstDash val="solid"/>
              <a:round/>
              <a:headEnd type="none" w="med" len="med"/>
              <a:tailEnd type="triangle" w="med" len="med"/>
            </a:ln>
          </p:spPr>
        </p:sp>
      </p:grpSp>
      <p:sp>
        <p:nvSpPr>
          <p:cNvPr id="46082" name="Rectangle 3"/>
          <p:cNvSpPr/>
          <p:nvPr/>
        </p:nvSpPr>
        <p:spPr>
          <a:xfrm>
            <a:off x="912813" y="420688"/>
            <a:ext cx="10361612" cy="523875"/>
          </a:xfrm>
          <a:prstGeom prst="rect">
            <a:avLst/>
          </a:prstGeom>
          <a:noFill/>
          <a:ln w="9525">
            <a:noFill/>
          </a:ln>
        </p:spPr>
        <p:txBody>
          <a:bodyPr anchor="ctr" anchorCtr="0"/>
          <a:p>
            <a:pPr algn="ctr"/>
            <a:r>
              <a:rPr lang="zh-CN" altLang="en-US" sz="3200" dirty="0">
                <a:solidFill>
                  <a:srgbClr val="FF0000"/>
                </a:solidFill>
                <a:latin typeface="Arial" panose="02080604020202020204" pitchFamily="34" charset="0"/>
                <a:ea typeface="黑体" panose="02000500000000000000" pitchFamily="49" charset="-122"/>
              </a:rPr>
              <a:t>重命名到</a:t>
            </a:r>
            <a:r>
              <a:rPr lang="en-US" altLang="zh-CN" sz="3200" dirty="0">
                <a:solidFill>
                  <a:srgbClr val="FF0000"/>
                </a:solidFill>
                <a:latin typeface="Arial" panose="02080604020202020204" pitchFamily="34" charset="0"/>
                <a:ea typeface="黑体" panose="02000500000000000000" pitchFamily="49" charset="-122"/>
              </a:rPr>
              <a:t>ROB</a:t>
            </a:r>
            <a:endParaRPr lang="zh-CN" altLang="en-US" sz="3200" dirty="0">
              <a:solidFill>
                <a:srgbClr val="FF0000"/>
              </a:solidFill>
              <a:latin typeface="Arial" panose="02080604020202020204" pitchFamily="34" charset="0"/>
              <a:ea typeface="黑体" panose="02000500000000000000"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930" cy="922020"/>
          </a:xfrm>
        </p:spPr>
        <p:txBody>
          <a:bodyPr/>
          <a:p>
            <a:r>
              <a:rPr lang="zh-CN" altLang="en-US" dirty="0">
                <a:latin typeface="Arial" panose="02080604020202020204" pitchFamily="34" charset="0"/>
                <a:ea typeface="黑体" panose="02000500000000000000" pitchFamily="49" charset="-122"/>
                <a:sym typeface="+mn-ea"/>
              </a:rPr>
              <a:t>重命名到保留站</a:t>
            </a:r>
            <a:endParaRPr lang="zh-CN" altLang="en-US" dirty="0">
              <a:latin typeface="Arial" panose="02080604020202020204" pitchFamily="34" charset="0"/>
              <a:ea typeface="黑体" panose="02000500000000000000" pitchFamily="49" charset="-122"/>
              <a:sym typeface="+mn-ea"/>
            </a:endParaRPr>
          </a:p>
        </p:txBody>
      </p:sp>
      <p:grpSp>
        <p:nvGrpSpPr>
          <p:cNvPr id="6" name="组合 5"/>
          <p:cNvGrpSpPr/>
          <p:nvPr/>
        </p:nvGrpSpPr>
        <p:grpSpPr>
          <a:xfrm>
            <a:off x="3532505" y="1449705"/>
            <a:ext cx="7679690" cy="3862070"/>
            <a:chOff x="7063" y="2283"/>
            <a:chExt cx="12094" cy="6082"/>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815" y="7393"/>
              <a:ext cx="0" cy="973"/>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a:off x="19135" y="2300"/>
              <a:ext cx="0" cy="5455"/>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35" y="7755"/>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7348"/>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92"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graphicFrame>
        <p:nvGraphicFramePr>
          <p:cNvPr id="3" name="表格 2"/>
          <p:cNvGraphicFramePr/>
          <p:nvPr/>
        </p:nvGraphicFramePr>
        <p:xfrm>
          <a:off x="58470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6215380" y="531177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85915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56248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4400" y="80645"/>
            <a:ext cx="10361930" cy="838200"/>
          </a:xfrm>
        </p:spPr>
        <p:txBody>
          <a:bodyPr/>
          <a:p>
            <a:r>
              <a:rPr kumimoji="1" lang="zh-CN" altLang="en-US"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rPr>
              <a:t>重命名到指令发射队列</a:t>
            </a:r>
            <a:endParaRPr kumimoji="1" lang="zh-CN" altLang="en-US" kern="1200" noProof="0">
              <a:ln>
                <a:noFill/>
              </a:ln>
              <a:solidFill>
                <a:srgbClr val="FF0000"/>
              </a:solidFill>
              <a:effectLst/>
              <a:uLnTx/>
              <a:uFillTx/>
              <a:latin typeface="黑体" panose="02000500000000000000" pitchFamily="49" charset="-122"/>
              <a:ea typeface="黑体" panose="02000500000000000000" pitchFamily="49" charset="-122"/>
              <a:cs typeface="黑体" panose="02000500000000000000" pitchFamily="49" charset="-122"/>
              <a:sym typeface="+mn-ea"/>
            </a:endParaRPr>
          </a:p>
        </p:txBody>
      </p:sp>
      <p:graphicFrame>
        <p:nvGraphicFramePr>
          <p:cNvPr id="3" name="表格 2"/>
          <p:cNvGraphicFramePr/>
          <p:nvPr/>
        </p:nvGraphicFramePr>
        <p:xfrm>
          <a:off x="5847080" y="3837940"/>
          <a:ext cx="2342515" cy="863600"/>
        </p:xfrm>
        <a:graphic>
          <a:graphicData uri="http://schemas.openxmlformats.org/drawingml/2006/table">
            <a:tbl>
              <a:tblPr firstRow="1" bandRow="1">
                <a:tableStyleId>{5C22544A-7EE6-4342-B048-85BDC9FD1C3A}</a:tableStyleId>
              </a:tblPr>
              <a:tblGrid>
                <a:gridCol w="365125"/>
                <a:gridCol w="450850"/>
                <a:gridCol w="1526540"/>
              </a:tblGrid>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2.0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5900">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3.0</a:t>
                      </a:r>
                      <a:endParaRPr lang="en-US" altLang="zh-CN" sz="1200" b="1">
                        <a:solidFill>
                          <a:schemeClr val="tx1"/>
                        </a:solidFill>
                        <a:latin typeface="宋体" panose="02000500000000000000" pitchFamily="2" charset="-122"/>
                        <a:ea typeface="宋体" panose="02000500000000000000" pitchFamily="2" charset="-122"/>
                      </a:endParaRPr>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4" name="表格 3"/>
          <p:cNvGraphicFramePr/>
          <p:nvPr/>
        </p:nvGraphicFramePr>
        <p:xfrm>
          <a:off x="6215380" y="5276215"/>
          <a:ext cx="1930400" cy="1280160"/>
        </p:xfrm>
        <a:graphic>
          <a:graphicData uri="http://schemas.openxmlformats.org/drawingml/2006/table">
            <a:tbl>
              <a:tblPr firstRow="1" bandRow="1">
                <a:tableStyleId>{5C22544A-7EE6-4342-B048-85BDC9FD1C3A}</a:tableStyleId>
              </a:tblPr>
              <a:tblGrid>
                <a:gridCol w="1930400"/>
              </a:tblGrid>
              <a:tr h="213360">
                <a:tc>
                  <a:txBody>
                    <a:bodyPr/>
                    <a:p>
                      <a:pPr indent="0">
                        <a:buNone/>
                      </a:pPr>
                      <a:r>
                        <a:rPr lang="en-US" sz="1200" b="1">
                          <a:solidFill>
                            <a:schemeClr val="tx1"/>
                          </a:solidFill>
                          <a:latin typeface="宋体" panose="02000500000000000000" pitchFamily="2" charset="-122"/>
                          <a:ea typeface="宋体" panose="02000500000000000000" pitchFamily="2" charset="-122"/>
                        </a:rPr>
                        <a:t>FDIV.D  </a:t>
                      </a:r>
                      <a:r>
                        <a:rPr lang="en-US" sz="1200" b="1">
                          <a:solidFill>
                            <a:srgbClr val="FF0000"/>
                          </a:solidFill>
                          <a:latin typeface="宋体" panose="02000500000000000000" pitchFamily="2" charset="-122"/>
                          <a:ea typeface="宋体" panose="02000500000000000000" pitchFamily="2" charset="-122"/>
                        </a:rPr>
                        <a:t>F0</a:t>
                      </a:r>
                      <a:r>
                        <a:rPr lang="en-US" sz="1200" b="1">
                          <a:solidFill>
                            <a:schemeClr val="tx1"/>
                          </a:solidFill>
                          <a:latin typeface="宋体" panose="02000500000000000000" pitchFamily="2" charset="-122"/>
                          <a:ea typeface="宋体" panose="02000500000000000000" pitchFamily="2" charset="-122"/>
                        </a:rPr>
                        <a:t>, F1, F2</a:t>
                      </a:r>
                      <a:endParaRPr lang="en-US" altLang="en-US" sz="1200" b="1">
                        <a:solidFill>
                          <a:schemeClr val="tx1"/>
                        </a:solidFill>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FADD.D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F1,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indent="0">
                        <a:buNone/>
                      </a:pPr>
                      <a:r>
                        <a:rPr lang="en-US" sz="1200" b="1">
                          <a:latin typeface="宋体" panose="02000500000000000000" pitchFamily="2" charset="-122"/>
                          <a:ea typeface="宋体" panose="02000500000000000000" pitchFamily="2" charset="-122"/>
                        </a:rPr>
                        <a:t>FMUL.D F3, </a:t>
                      </a:r>
                      <a:r>
                        <a:rPr lang="en-US" sz="1200" b="1">
                          <a:solidFill>
                            <a:srgbClr val="FF0000"/>
                          </a:solidFill>
                          <a:latin typeface="宋体" panose="02000500000000000000" pitchFamily="2" charset="-122"/>
                          <a:ea typeface="宋体" panose="02000500000000000000" pitchFamily="2" charset="-122"/>
                        </a:rPr>
                        <a:t>F0</a:t>
                      </a:r>
                      <a:r>
                        <a:rPr lang="en-US" sz="1200" b="1">
                          <a:latin typeface="宋体" panose="02000500000000000000" pitchFamily="2" charset="-122"/>
                          <a:ea typeface="宋体" panose="02000500000000000000" pitchFamily="2" charset="-122"/>
                        </a:rPr>
                        <a:t>, F2</a:t>
                      </a:r>
                      <a:endParaRPr lang="en-US" altLang="en-US" sz="1200" b="1">
                        <a:latin typeface="宋体" panose="02000500000000000000" pitchFamily="2" charset="-122"/>
                        <a:ea typeface="宋体" panose="02000500000000000000" pitchFamily="2" charset="-122"/>
                      </a:endParaRPr>
                    </a:p>
                  </a:txBody>
                  <a:tcPr marL="68580" marR="68580" marT="0" marB="0" vert="horz" anchor="t"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213360">
                <a:tc>
                  <a:txBody>
                    <a:bodyPr/>
                    <a:p>
                      <a:pPr>
                        <a:buNone/>
                      </a:pPr>
                      <a:endParaRPr lang="zh-CN" altLang="en-US" sz="1400" b="1"/>
                    </a:p>
                  </a:txBody>
                  <a:tcPr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5" name="表格 4"/>
          <p:cNvGraphicFramePr/>
          <p:nvPr/>
        </p:nvGraphicFramePr>
        <p:xfrm>
          <a:off x="8591550" y="243586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3</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2</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aphicFrame>
        <p:nvGraphicFramePr>
          <p:cNvPr id="7" name="表格 6"/>
          <p:cNvGraphicFramePr/>
          <p:nvPr/>
        </p:nvGraphicFramePr>
        <p:xfrm>
          <a:off x="5624830" y="2456180"/>
          <a:ext cx="2367915" cy="592455"/>
        </p:xfrm>
        <a:graphic>
          <a:graphicData uri="http://schemas.openxmlformats.org/drawingml/2006/table">
            <a:tbl>
              <a:tblPr firstRow="1" bandRow="1">
                <a:tableStyleId>{5C22544A-7EE6-4342-B048-85BDC9FD1C3A}</a:tableStyleId>
              </a:tblPr>
              <a:tblGrid>
                <a:gridCol w="201295"/>
                <a:gridCol w="422910"/>
                <a:gridCol w="340995"/>
                <a:gridCol w="484505"/>
                <a:gridCol w="341630"/>
                <a:gridCol w="576580"/>
              </a:tblGrid>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6</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OP</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Vj</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Qk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Vk</a:t>
                      </a:r>
                      <a:endParaRPr lang="en-US" altLang="zh-CN" sz="1200" b="1">
                        <a:solidFill>
                          <a:srgbClr val="FF0000"/>
                        </a:solidFill>
                        <a:latin typeface="宋体" panose="02000500000000000000" pitchFamily="2" charset="-122"/>
                        <a:ea typeface="宋体" panose="02000500000000000000" pitchFamily="2" charset="-122"/>
                      </a:endParaRPr>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5</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r h="197485">
                <a:tc>
                  <a:txBody>
                    <a:bodyPr/>
                    <a:p>
                      <a:pPr algn="r">
                        <a:buNone/>
                      </a:pPr>
                      <a:r>
                        <a:rPr lang="en-US" altLang="zh-CN" sz="1200" b="1">
                          <a:solidFill>
                            <a:schemeClr val="tx1"/>
                          </a:solidFill>
                          <a:latin typeface="宋体" panose="02000500000000000000" pitchFamily="2" charset="-122"/>
                          <a:ea typeface="宋体" panose="02000500000000000000" pitchFamily="2" charset="-122"/>
                        </a:rPr>
                        <a:t>4</a:t>
                      </a:r>
                      <a:endParaRPr lang="en-US" altLang="zh-CN" sz="1200" b="1">
                        <a:solidFill>
                          <a:schemeClr val="tx1"/>
                        </a:solidFill>
                        <a:latin typeface="宋体" panose="02000500000000000000" pitchFamily="2" charset="-122"/>
                        <a:ea typeface="宋体" panose="02000500000000000000" pitchFamily="2" charset="-122"/>
                      </a:endParaRPr>
                    </a:p>
                  </a:txBody>
                  <a:tcPr marL="0" marR="36195" marT="0" marB="0">
                    <a:lnL>
                      <a:noFill/>
                    </a:lnL>
                    <a:lnR w="12700">
                      <a:solidFill>
                        <a:schemeClr val="tx1"/>
                      </a:solidFill>
                      <a:prstDash val="solid"/>
                    </a:lnR>
                    <a:lnT>
                      <a:noFill/>
                    </a:lnT>
                    <a:lnB>
                      <a:noFill/>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c>
                  <a:txBody>
                    <a:bodyPr/>
                    <a:p>
                      <a:pPr>
                        <a:buNone/>
                      </a:pPr>
                      <a:endParaRPr lang="zh-CN" altLang="en-US" sz="1200" b="1"/>
                    </a:p>
                  </a:txBody>
                  <a:tcPr marL="0" marR="36195" marT="0" marB="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00000">
                        <a:alpha val="0"/>
                      </a:srgbClr>
                    </a:solidFill>
                  </a:tcPr>
                </a:tc>
              </a:tr>
            </a:tbl>
          </a:graphicData>
        </a:graphic>
      </p:graphicFrame>
      <p:grpSp>
        <p:nvGrpSpPr>
          <p:cNvPr id="8" name="组合 7"/>
          <p:cNvGrpSpPr/>
          <p:nvPr/>
        </p:nvGrpSpPr>
        <p:grpSpPr>
          <a:xfrm>
            <a:off x="3532505" y="1449705"/>
            <a:ext cx="7689850" cy="5360670"/>
            <a:chOff x="5563" y="2283"/>
            <a:chExt cx="12110" cy="8442"/>
          </a:xfrm>
        </p:grpSpPr>
        <p:grpSp>
          <p:nvGrpSpPr>
            <p:cNvPr id="6" name="组合 5"/>
            <p:cNvGrpSpPr/>
            <p:nvPr/>
          </p:nvGrpSpPr>
          <p:grpSpPr>
            <a:xfrm>
              <a:off x="5563" y="2283"/>
              <a:ext cx="12110" cy="8443"/>
              <a:chOff x="7063" y="2283"/>
              <a:chExt cx="12110" cy="8443"/>
            </a:xfrm>
          </p:grpSpPr>
          <p:sp>
            <p:nvSpPr>
              <p:cNvPr id="31751" name="Line 52"/>
              <p:cNvSpPr/>
              <p:nvPr/>
            </p:nvSpPr>
            <p:spPr>
              <a:xfrm flipV="1">
                <a:off x="11639" y="3333"/>
                <a:ext cx="0" cy="528"/>
              </a:xfrm>
              <a:prstGeom prst="line">
                <a:avLst/>
              </a:prstGeom>
              <a:ln w="9525" cap="flat" cmpd="sng">
                <a:solidFill>
                  <a:schemeClr val="tx1"/>
                </a:solidFill>
                <a:prstDash val="solid"/>
                <a:round/>
                <a:headEnd type="none" w="med" len="med"/>
                <a:tailEnd type="triangle" w="med" len="med"/>
              </a:ln>
            </p:spPr>
          </p:sp>
          <p:sp>
            <p:nvSpPr>
              <p:cNvPr id="31752" name="Line 53"/>
              <p:cNvSpPr/>
              <p:nvPr/>
            </p:nvSpPr>
            <p:spPr>
              <a:xfrm flipV="1">
                <a:off x="13025" y="3333"/>
                <a:ext cx="0" cy="528"/>
              </a:xfrm>
              <a:prstGeom prst="line">
                <a:avLst/>
              </a:prstGeom>
              <a:ln w="9525" cap="flat" cmpd="sng">
                <a:solidFill>
                  <a:schemeClr val="tx1"/>
                </a:solidFill>
                <a:prstDash val="solid"/>
                <a:round/>
                <a:headEnd type="none" w="med" len="med"/>
                <a:tailEnd type="triangle" w="med" len="med"/>
              </a:ln>
            </p:spPr>
          </p:sp>
          <p:sp>
            <p:nvSpPr>
              <p:cNvPr id="31753" name="Line 54"/>
              <p:cNvSpPr/>
              <p:nvPr/>
            </p:nvSpPr>
            <p:spPr>
              <a:xfrm flipV="1">
                <a:off x="16305" y="3313"/>
                <a:ext cx="0" cy="528"/>
              </a:xfrm>
              <a:prstGeom prst="line">
                <a:avLst/>
              </a:prstGeom>
              <a:ln w="9525" cap="flat" cmpd="sng">
                <a:solidFill>
                  <a:schemeClr val="tx1"/>
                </a:solidFill>
                <a:prstDash val="solid"/>
                <a:round/>
                <a:headEnd type="none" w="med" len="med"/>
                <a:tailEnd type="triangle" w="med" len="med"/>
              </a:ln>
            </p:spPr>
          </p:sp>
          <p:sp>
            <p:nvSpPr>
              <p:cNvPr id="31754" name="Line 55"/>
              <p:cNvSpPr/>
              <p:nvPr/>
            </p:nvSpPr>
            <p:spPr>
              <a:xfrm flipV="1">
                <a:off x="17798" y="3293"/>
                <a:ext cx="0" cy="528"/>
              </a:xfrm>
              <a:prstGeom prst="line">
                <a:avLst/>
              </a:prstGeom>
              <a:ln w="9525" cap="flat" cmpd="sng">
                <a:solidFill>
                  <a:schemeClr val="tx1"/>
                </a:solidFill>
                <a:prstDash val="solid"/>
                <a:round/>
                <a:headEnd type="none" w="med" len="med"/>
                <a:tailEnd type="triangle" w="med" len="med"/>
              </a:ln>
            </p:spPr>
          </p:sp>
          <p:sp>
            <p:nvSpPr>
              <p:cNvPr id="31755" name="Line 56"/>
              <p:cNvSpPr/>
              <p:nvPr/>
            </p:nvSpPr>
            <p:spPr>
              <a:xfrm flipV="1">
                <a:off x="12798" y="7393"/>
                <a:ext cx="18" cy="926"/>
              </a:xfrm>
              <a:prstGeom prst="line">
                <a:avLst/>
              </a:prstGeom>
              <a:ln w="19050" cap="flat" cmpd="sng">
                <a:solidFill>
                  <a:schemeClr val="tx1"/>
                </a:solidFill>
                <a:prstDash val="solid"/>
                <a:round/>
                <a:headEnd type="none" w="med" len="med"/>
                <a:tailEnd type="triangle" w="med" len="med"/>
              </a:ln>
            </p:spPr>
          </p:sp>
          <p:sp>
            <p:nvSpPr>
              <p:cNvPr id="31756" name="Line 57"/>
              <p:cNvSpPr/>
              <p:nvPr/>
            </p:nvSpPr>
            <p:spPr>
              <a:xfrm flipV="1">
                <a:off x="12275" y="4795"/>
                <a:ext cx="0" cy="390"/>
              </a:xfrm>
              <a:prstGeom prst="line">
                <a:avLst/>
              </a:prstGeom>
              <a:ln w="19050" cap="flat" cmpd="sng">
                <a:solidFill>
                  <a:schemeClr val="tx1"/>
                </a:solidFill>
                <a:prstDash val="solid"/>
                <a:round/>
                <a:headEnd type="none" w="med" len="med"/>
                <a:tailEnd type="triangle" w="med" len="med"/>
              </a:ln>
            </p:spPr>
          </p:sp>
          <p:sp>
            <p:nvSpPr>
              <p:cNvPr id="31757" name="Line 58"/>
              <p:cNvSpPr/>
              <p:nvPr/>
            </p:nvSpPr>
            <p:spPr>
              <a:xfrm flipV="1">
                <a:off x="16989" y="4783"/>
                <a:ext cx="0" cy="410"/>
              </a:xfrm>
              <a:prstGeom prst="line">
                <a:avLst/>
              </a:prstGeom>
              <a:ln w="19050" cap="flat" cmpd="sng">
                <a:solidFill>
                  <a:schemeClr val="tx1"/>
                </a:solidFill>
                <a:prstDash val="solid"/>
                <a:round/>
                <a:headEnd type="none" w="med" len="med"/>
                <a:tailEnd type="triangle" w="med" len="med"/>
              </a:ln>
            </p:spPr>
          </p:sp>
          <p:sp>
            <p:nvSpPr>
              <p:cNvPr id="31758" name="Line 59"/>
              <p:cNvSpPr/>
              <p:nvPr/>
            </p:nvSpPr>
            <p:spPr>
              <a:xfrm flipV="1">
                <a:off x="17029" y="2283"/>
                <a:ext cx="0" cy="583"/>
              </a:xfrm>
              <a:prstGeom prst="line">
                <a:avLst/>
              </a:prstGeom>
              <a:ln w="19050" cap="flat" cmpd="sng">
                <a:solidFill>
                  <a:srgbClr val="FF0000"/>
                </a:solidFill>
                <a:prstDash val="solid"/>
                <a:round/>
                <a:headEnd type="none" w="med" len="med"/>
                <a:tailEnd type="triangle" w="med" len="med"/>
              </a:ln>
            </p:spPr>
          </p:sp>
          <p:sp>
            <p:nvSpPr>
              <p:cNvPr id="31759" name="Line 60"/>
              <p:cNvSpPr/>
              <p:nvPr/>
            </p:nvSpPr>
            <p:spPr>
              <a:xfrm flipV="1">
                <a:off x="12412" y="2310"/>
                <a:ext cx="0" cy="583"/>
              </a:xfrm>
              <a:prstGeom prst="line">
                <a:avLst/>
              </a:prstGeom>
              <a:ln w="19050" cap="flat" cmpd="sng">
                <a:solidFill>
                  <a:schemeClr val="tx1"/>
                </a:solidFill>
                <a:prstDash val="solid"/>
                <a:round/>
                <a:headEnd type="none" w="med" len="med"/>
                <a:tailEnd type="triangle" w="med" len="med"/>
              </a:ln>
            </p:spPr>
          </p:sp>
          <p:sp>
            <p:nvSpPr>
              <p:cNvPr id="31760" name="Line 61"/>
              <p:cNvSpPr/>
              <p:nvPr/>
            </p:nvSpPr>
            <p:spPr>
              <a:xfrm>
                <a:off x="8119" y="2300"/>
                <a:ext cx="11039" cy="0"/>
              </a:xfrm>
              <a:prstGeom prst="line">
                <a:avLst/>
              </a:prstGeom>
              <a:ln w="19050" cap="flat" cmpd="sng">
                <a:solidFill>
                  <a:srgbClr val="FF0000"/>
                </a:solidFill>
                <a:prstDash val="solid"/>
                <a:round/>
                <a:headEnd type="none" w="med" len="med"/>
                <a:tailEnd type="none" w="med" len="med"/>
              </a:ln>
            </p:spPr>
          </p:sp>
          <p:sp>
            <p:nvSpPr>
              <p:cNvPr id="31761" name="Line 62"/>
              <p:cNvSpPr/>
              <p:nvPr/>
            </p:nvSpPr>
            <p:spPr>
              <a:xfrm flipV="1">
                <a:off x="11276" y="4780"/>
                <a:ext cx="0" cy="818"/>
              </a:xfrm>
              <a:prstGeom prst="line">
                <a:avLst/>
              </a:prstGeom>
              <a:ln w="19050" cap="flat" cmpd="sng">
                <a:solidFill>
                  <a:srgbClr val="FF0000"/>
                </a:solidFill>
                <a:prstDash val="solid"/>
                <a:round/>
                <a:headEnd type="none" w="med" len="med"/>
                <a:tailEnd type="triangle" w="med" len="med"/>
              </a:ln>
            </p:spPr>
          </p:sp>
          <p:sp>
            <p:nvSpPr>
              <p:cNvPr id="31762" name="Line 63"/>
              <p:cNvSpPr/>
              <p:nvPr/>
            </p:nvSpPr>
            <p:spPr>
              <a:xfrm flipV="1">
                <a:off x="17752" y="4768"/>
                <a:ext cx="0" cy="818"/>
              </a:xfrm>
              <a:prstGeom prst="line">
                <a:avLst/>
              </a:prstGeom>
              <a:ln w="19050" cap="flat" cmpd="sng">
                <a:solidFill>
                  <a:srgbClr val="FF0000"/>
                </a:solidFill>
                <a:prstDash val="solid"/>
                <a:round/>
                <a:headEnd type="none" w="med" len="med"/>
                <a:tailEnd type="triangle" w="med" len="med"/>
              </a:ln>
            </p:spPr>
          </p:sp>
          <p:sp>
            <p:nvSpPr>
              <p:cNvPr id="31763" name="Line 64"/>
              <p:cNvSpPr/>
              <p:nvPr/>
            </p:nvSpPr>
            <p:spPr>
              <a:xfrm flipH="1">
                <a:off x="19136" y="2300"/>
                <a:ext cx="11" cy="8361"/>
              </a:xfrm>
              <a:prstGeom prst="line">
                <a:avLst/>
              </a:prstGeom>
              <a:ln w="19050" cap="flat" cmpd="sng">
                <a:solidFill>
                  <a:srgbClr val="FF0000"/>
                </a:solidFill>
                <a:prstDash val="solid"/>
                <a:round/>
                <a:headEnd type="none" w="med" len="med"/>
                <a:tailEnd type="none" w="med" len="med"/>
              </a:ln>
            </p:spPr>
          </p:sp>
          <p:sp>
            <p:nvSpPr>
              <p:cNvPr id="31764" name="Line 65"/>
              <p:cNvSpPr/>
              <p:nvPr/>
            </p:nvSpPr>
            <p:spPr>
              <a:xfrm flipV="1">
                <a:off x="12779" y="5150"/>
                <a:ext cx="0" cy="915"/>
              </a:xfrm>
              <a:prstGeom prst="line">
                <a:avLst/>
              </a:prstGeom>
              <a:ln w="19050" cap="flat" cmpd="sng">
                <a:solidFill>
                  <a:schemeClr val="tx1"/>
                </a:solidFill>
                <a:prstDash val="solid"/>
                <a:round/>
                <a:headEnd type="none" w="med" len="med"/>
                <a:tailEnd type="triangle" w="med" len="med"/>
              </a:ln>
            </p:spPr>
          </p:sp>
          <p:sp>
            <p:nvSpPr>
              <p:cNvPr id="31765" name="Text Box 66"/>
              <p:cNvSpPr txBox="1"/>
              <p:nvPr/>
            </p:nvSpPr>
            <p:spPr>
              <a:xfrm>
                <a:off x="9896" y="3538"/>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加法保留站</a:t>
                </a:r>
                <a:endParaRPr lang="zh-CN" altLang="en-US" sz="1200" b="1" dirty="0">
                  <a:latin typeface="Times New Roman" pitchFamily="18" charset="0"/>
                  <a:ea typeface="宋体" panose="02000500000000000000" pitchFamily="2" charset="-122"/>
                </a:endParaRPr>
              </a:p>
            </p:txBody>
          </p:sp>
          <p:sp>
            <p:nvSpPr>
              <p:cNvPr id="31766" name="Text Box 67"/>
              <p:cNvSpPr txBox="1"/>
              <p:nvPr/>
            </p:nvSpPr>
            <p:spPr>
              <a:xfrm>
                <a:off x="10906" y="5788"/>
                <a:ext cx="1717" cy="290"/>
              </a:xfrm>
              <a:prstGeom prst="rect">
                <a:avLst/>
              </a:prstGeom>
              <a:noFill/>
              <a:ln w="9525">
                <a:noFill/>
              </a:ln>
              <a:extLst>
                <a:ext uri="{909E8E84-426E-40DD-AFC4-6F175D3DCCD1}">
                  <a14:hiddenFill xmlns:a14="http://schemas.microsoft.com/office/drawing/2010/main">
                    <a:solidFill>
                      <a:schemeClr val="bg1"/>
                    </a:solidFill>
                  </a14:hiddenFill>
                </a:ext>
              </a:extLst>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浮点寄存器</a:t>
                </a:r>
                <a:endParaRPr lang="zh-CN" altLang="en-US" sz="1200" b="1" dirty="0">
                  <a:latin typeface="Times New Roman" pitchFamily="18" charset="0"/>
                  <a:ea typeface="宋体" panose="02000500000000000000" pitchFamily="2" charset="-122"/>
                </a:endParaRPr>
              </a:p>
            </p:txBody>
          </p:sp>
          <p:sp>
            <p:nvSpPr>
              <p:cNvPr id="31767" name="Text Box 68"/>
              <p:cNvSpPr txBox="1"/>
              <p:nvPr/>
            </p:nvSpPr>
            <p:spPr>
              <a:xfrm>
                <a:off x="14629" y="3520"/>
                <a:ext cx="1637" cy="290"/>
              </a:xfrm>
              <a:prstGeom prst="rect">
                <a:avLst/>
              </a:prstGeom>
              <a:no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乘法保留站</a:t>
                </a:r>
                <a:endParaRPr lang="zh-CN" altLang="en-US" sz="1200" b="1" dirty="0">
                  <a:latin typeface="Times New Roman" pitchFamily="18" charset="0"/>
                  <a:ea typeface="宋体" panose="02000500000000000000" pitchFamily="2" charset="-122"/>
                </a:endParaRPr>
              </a:p>
            </p:txBody>
          </p:sp>
          <p:sp>
            <p:nvSpPr>
              <p:cNvPr id="31768" name="Line 69"/>
              <p:cNvSpPr/>
              <p:nvPr/>
            </p:nvSpPr>
            <p:spPr>
              <a:xfrm>
                <a:off x="13850" y="10673"/>
                <a:ext cx="5323" cy="0"/>
              </a:xfrm>
              <a:prstGeom prst="line">
                <a:avLst/>
              </a:prstGeom>
              <a:ln w="19050" cap="flat" cmpd="sng">
                <a:solidFill>
                  <a:srgbClr val="FF0000"/>
                </a:solidFill>
                <a:prstDash val="solid"/>
                <a:round/>
                <a:headEnd type="none" w="med" len="med"/>
                <a:tailEnd type="none" w="med" len="med"/>
              </a:ln>
            </p:spPr>
          </p:sp>
          <p:sp>
            <p:nvSpPr>
              <p:cNvPr id="31769" name="Line 70"/>
              <p:cNvSpPr/>
              <p:nvPr/>
            </p:nvSpPr>
            <p:spPr>
              <a:xfrm flipV="1">
                <a:off x="13835" y="10316"/>
                <a:ext cx="3" cy="410"/>
              </a:xfrm>
              <a:prstGeom prst="line">
                <a:avLst/>
              </a:prstGeom>
              <a:ln w="19050" cap="flat" cmpd="sng">
                <a:solidFill>
                  <a:srgbClr val="FF0000"/>
                </a:solidFill>
                <a:prstDash val="solid"/>
                <a:round/>
                <a:headEnd type="none" w="med" len="med"/>
                <a:tailEnd type="triangle" w="med" len="med"/>
              </a:ln>
            </p:spPr>
          </p:sp>
          <p:grpSp>
            <p:nvGrpSpPr>
              <p:cNvPr id="31772" name="Group 73"/>
              <p:cNvGrpSpPr/>
              <p:nvPr/>
            </p:nvGrpSpPr>
            <p:grpSpPr>
              <a:xfrm rot="0">
                <a:off x="7063" y="2295"/>
                <a:ext cx="12093" cy="3273"/>
                <a:chOff x="1701" y="512"/>
                <a:chExt cx="3628" cy="1309"/>
              </a:xfrm>
            </p:grpSpPr>
            <p:sp>
              <p:nvSpPr>
                <p:cNvPr id="31773" name="Line 74"/>
                <p:cNvSpPr/>
                <p:nvPr/>
              </p:nvSpPr>
              <p:spPr>
                <a:xfrm flipV="1">
                  <a:off x="2154" y="1661"/>
                  <a:ext cx="2518" cy="0"/>
                </a:xfrm>
                <a:prstGeom prst="line">
                  <a:avLst/>
                </a:prstGeom>
                <a:ln w="19050" cap="flat" cmpd="sng">
                  <a:solidFill>
                    <a:schemeClr val="tx1"/>
                  </a:solidFill>
                  <a:prstDash val="solid"/>
                  <a:round/>
                  <a:headEnd type="none" w="med" len="med"/>
                  <a:tailEnd type="none" w="med" len="med"/>
                </a:ln>
              </p:spPr>
            </p:sp>
            <p:sp>
              <p:nvSpPr>
                <p:cNvPr id="31774" name="Line 75"/>
                <p:cNvSpPr/>
                <p:nvPr/>
              </p:nvSpPr>
              <p:spPr>
                <a:xfrm flipV="1">
                  <a:off x="1949" y="1820"/>
                  <a:ext cx="3380" cy="0"/>
                </a:xfrm>
                <a:prstGeom prst="line">
                  <a:avLst/>
                </a:prstGeom>
                <a:ln w="19050" cap="flat" cmpd="sng">
                  <a:solidFill>
                    <a:srgbClr val="FF0000"/>
                  </a:solidFill>
                  <a:prstDash val="solid"/>
                  <a:round/>
                  <a:headEnd type="none" w="med" len="med"/>
                  <a:tailEnd type="none" w="med" len="med"/>
                </a:ln>
              </p:spPr>
            </p:sp>
            <p:grpSp>
              <p:nvGrpSpPr>
                <p:cNvPr id="31775" name="Group 76"/>
                <p:cNvGrpSpPr/>
                <p:nvPr/>
              </p:nvGrpSpPr>
              <p:grpSpPr>
                <a:xfrm>
                  <a:off x="1701" y="512"/>
                  <a:ext cx="3494" cy="1309"/>
                  <a:chOff x="1701" y="512"/>
                  <a:chExt cx="3494" cy="1309"/>
                </a:xfrm>
              </p:grpSpPr>
              <p:grpSp>
                <p:nvGrpSpPr>
                  <p:cNvPr id="31776" name="Group 77"/>
                  <p:cNvGrpSpPr/>
                  <p:nvPr/>
                </p:nvGrpSpPr>
                <p:grpSpPr>
                  <a:xfrm>
                    <a:off x="1950" y="512"/>
                    <a:ext cx="204" cy="1309"/>
                    <a:chOff x="1950" y="512"/>
                    <a:chExt cx="204" cy="1309"/>
                  </a:xfrm>
                </p:grpSpPr>
                <p:sp>
                  <p:nvSpPr>
                    <p:cNvPr id="31777" name="Line 78"/>
                    <p:cNvSpPr/>
                    <p:nvPr/>
                  </p:nvSpPr>
                  <p:spPr>
                    <a:xfrm flipV="1">
                      <a:off x="2022" y="512"/>
                      <a:ext cx="0" cy="233"/>
                    </a:xfrm>
                    <a:prstGeom prst="line">
                      <a:avLst/>
                    </a:prstGeom>
                    <a:ln w="19050" cap="flat" cmpd="sng">
                      <a:solidFill>
                        <a:schemeClr val="tx1"/>
                      </a:solidFill>
                      <a:prstDash val="solid"/>
                      <a:round/>
                      <a:headEnd type="none" w="med" len="med"/>
                      <a:tailEnd type="triangle" w="med" len="med"/>
                    </a:ln>
                  </p:spPr>
                </p:sp>
                <p:sp>
                  <p:nvSpPr>
                    <p:cNvPr id="31778" name="Line 79"/>
                    <p:cNvSpPr/>
                    <p:nvPr/>
                  </p:nvSpPr>
                  <p:spPr>
                    <a:xfrm flipV="1">
                      <a:off x="1950" y="1502"/>
                      <a:ext cx="0" cy="319"/>
                    </a:xfrm>
                    <a:prstGeom prst="line">
                      <a:avLst/>
                    </a:prstGeom>
                    <a:ln w="19050" cap="flat" cmpd="sng">
                      <a:solidFill>
                        <a:srgbClr val="FF0000"/>
                      </a:solidFill>
                      <a:prstDash val="solid"/>
                      <a:round/>
                      <a:headEnd type="none" w="med" len="med"/>
                      <a:tailEnd type="triangle" w="med" len="med"/>
                    </a:ln>
                  </p:spPr>
                </p:sp>
                <p:sp>
                  <p:nvSpPr>
                    <p:cNvPr id="31779" name="Line 80"/>
                    <p:cNvSpPr/>
                    <p:nvPr/>
                  </p:nvSpPr>
                  <p:spPr>
                    <a:xfrm flipV="1">
                      <a:off x="2154" y="1508"/>
                      <a:ext cx="0" cy="156"/>
                    </a:xfrm>
                    <a:prstGeom prst="line">
                      <a:avLst/>
                    </a:prstGeom>
                    <a:ln w="19050" cap="flat" cmpd="sng">
                      <a:solidFill>
                        <a:schemeClr val="tx1"/>
                      </a:solidFill>
                      <a:prstDash val="solid"/>
                      <a:round/>
                      <a:headEnd type="none" w="med" len="med"/>
                      <a:tailEnd type="triangle" w="med" len="med"/>
                    </a:ln>
                  </p:spPr>
                </p:sp>
              </p:grpSp>
              <p:sp>
                <p:nvSpPr>
                  <p:cNvPr id="31780" name="Text Box 81"/>
                  <p:cNvSpPr txBox="1"/>
                  <p:nvPr/>
                </p:nvSpPr>
                <p:spPr>
                  <a:xfrm>
                    <a:off x="2777" y="750"/>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浮点加</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减法器</a:t>
                    </a:r>
                    <a:endParaRPr lang="zh-CN" altLang="en-US" sz="1200" b="1" dirty="0">
                      <a:latin typeface="Times New Roman" pitchFamily="18" charset="0"/>
                      <a:ea typeface="宋体" panose="02000500000000000000" pitchFamily="2" charset="-122"/>
                    </a:endParaRPr>
                  </a:p>
                </p:txBody>
              </p:sp>
              <p:sp>
                <p:nvSpPr>
                  <p:cNvPr id="31781" name="Text Box 82"/>
                  <p:cNvSpPr txBox="1"/>
                  <p:nvPr/>
                </p:nvSpPr>
                <p:spPr>
                  <a:xfrm>
                    <a:off x="4181" y="737"/>
                    <a:ext cx="1014" cy="179"/>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1200" b="1" dirty="0">
                        <a:latin typeface="Times New Roman" pitchFamily="18" charset="0"/>
                        <a:ea typeface="宋体" panose="02000500000000000000" pitchFamily="2" charset="-122"/>
                      </a:rPr>
                      <a:t>浮点乘</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除法器</a:t>
                    </a:r>
                    <a:endParaRPr lang="zh-CN" altLang="en-US" sz="1200" b="1" dirty="0">
                      <a:latin typeface="Times New Roman" pitchFamily="18" charset="0"/>
                      <a:ea typeface="宋体" panose="02000500000000000000" pitchFamily="2" charset="-122"/>
                    </a:endParaRPr>
                  </a:p>
                </p:txBody>
              </p:sp>
              <p:sp>
                <p:nvSpPr>
                  <p:cNvPr id="31782" name="Text Box 83"/>
                  <p:cNvSpPr txBox="1"/>
                  <p:nvPr/>
                </p:nvSpPr>
                <p:spPr>
                  <a:xfrm>
                    <a:off x="1701" y="731"/>
                    <a:ext cx="664" cy="771"/>
                  </a:xfrm>
                  <a:prstGeom prst="rect">
                    <a:avLst/>
                  </a:prstGeom>
                  <a:solidFill>
                    <a:srgbClr val="EAEAEA"/>
                  </a:solidFill>
                  <a:ln w="9525" cap="flat" cmpd="sng">
                    <a:solidFill>
                      <a:schemeClr val="tx1"/>
                    </a:solidFill>
                    <a:prstDash val="solid"/>
                    <a:miter/>
                    <a:headEnd type="none" w="med" len="med"/>
                    <a:tailEnd type="none" w="med" len="med"/>
                  </a:ln>
                </p:spPr>
                <p:txBody>
                  <a:bodyPr anchor="t" anchorCtr="0"/>
                  <a:p>
                    <a:pPr algn="ctr">
                      <a:spcBef>
                        <a:spcPct val="50000"/>
                      </a:spcBef>
                    </a:pPr>
                    <a:endParaRPr lang="en-US" altLang="zh-CN" sz="1200"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定点</a:t>
                    </a:r>
                    <a:r>
                      <a:rPr lang="en-US" altLang="zh-CN" sz="1200" b="1" dirty="0">
                        <a:latin typeface="Times New Roman" pitchFamily="18" charset="0"/>
                        <a:ea typeface="宋体" panose="02000500000000000000" pitchFamily="2" charset="-122"/>
                      </a:rPr>
                      <a:t>/</a:t>
                    </a:r>
                    <a:r>
                      <a:rPr lang="zh-CN" altLang="en-US" sz="1200" b="1" dirty="0">
                        <a:latin typeface="Times New Roman" pitchFamily="18" charset="0"/>
                        <a:ea typeface="宋体" panose="02000500000000000000" pitchFamily="2" charset="-122"/>
                      </a:rPr>
                      <a:t>访存</a:t>
                    </a:r>
                    <a:endParaRPr lang="zh-CN" altLang="en-US" sz="1200" b="1" dirty="0">
                      <a:latin typeface="Times New Roman" pitchFamily="18" charset="0"/>
                      <a:ea typeface="宋体" panose="02000500000000000000" pitchFamily="2" charset="-122"/>
                    </a:endParaRPr>
                  </a:p>
                  <a:p>
                    <a:pPr algn="ctr">
                      <a:spcBef>
                        <a:spcPct val="50000"/>
                      </a:spcBef>
                    </a:pPr>
                    <a:r>
                      <a:rPr lang="zh-CN" altLang="en-US" sz="1200" b="1" dirty="0">
                        <a:latin typeface="Times New Roman" pitchFamily="18" charset="0"/>
                        <a:ea typeface="宋体" panose="02000500000000000000" pitchFamily="2" charset="-122"/>
                      </a:rPr>
                      <a:t>部件</a:t>
                    </a:r>
                    <a:endParaRPr lang="zh-CN" altLang="en-US" sz="1200" b="1" dirty="0">
                      <a:latin typeface="Times New Roman" pitchFamily="18" charset="0"/>
                      <a:ea typeface="宋体" panose="02000500000000000000" pitchFamily="2" charset="-122"/>
                    </a:endParaRPr>
                  </a:p>
                  <a:p>
                    <a:pPr algn="ctr">
                      <a:spcBef>
                        <a:spcPct val="50000"/>
                      </a:spcBef>
                    </a:pPr>
                    <a:endParaRPr lang="en-US" altLang="zh-CN" sz="1200" b="1" dirty="0">
                      <a:latin typeface="Times New Roman" pitchFamily="18" charset="0"/>
                      <a:ea typeface="宋体" panose="02000500000000000000" pitchFamily="2" charset="-122"/>
                    </a:endParaRPr>
                  </a:p>
                </p:txBody>
              </p:sp>
            </p:grpSp>
          </p:grpSp>
          <p:sp>
            <p:nvSpPr>
              <p:cNvPr id="31783" name="Text Box 84"/>
              <p:cNvSpPr txBox="1"/>
              <p:nvPr/>
            </p:nvSpPr>
            <p:spPr>
              <a:xfrm>
                <a:off x="10947" y="7945"/>
                <a:ext cx="1623"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latin typeface="Times New Roman" pitchFamily="18" charset="0"/>
                    <a:ea typeface="宋体" panose="02000500000000000000" pitchFamily="2" charset="-122"/>
                  </a:rPr>
                  <a:t>指令队列</a:t>
                </a:r>
                <a:endParaRPr lang="zh-CN" altLang="en-US" sz="1200" b="1" dirty="0">
                  <a:latin typeface="Times New Roman" pitchFamily="18" charset="0"/>
                  <a:ea typeface="宋体" panose="02000500000000000000" pitchFamily="2" charset="-122"/>
                </a:endParaRPr>
              </a:p>
            </p:txBody>
          </p:sp>
        </p:grpSp>
        <p:sp>
          <p:nvSpPr>
            <p:cNvPr id="64547" name="Line 36"/>
            <p:cNvSpPr/>
            <p:nvPr/>
          </p:nvSpPr>
          <p:spPr>
            <a:xfrm flipV="1">
              <a:off x="10777" y="7382"/>
              <a:ext cx="0" cy="965"/>
            </a:xfrm>
            <a:prstGeom prst="line">
              <a:avLst/>
            </a:prstGeom>
            <a:ln w="9525" cap="flat" cmpd="sng">
              <a:solidFill>
                <a:srgbClr val="0000FF"/>
              </a:solidFill>
              <a:prstDash val="solid"/>
              <a:round/>
              <a:headEnd type="none" w="med" len="med"/>
              <a:tailEnd type="triangle" w="med" len="med"/>
            </a:ln>
          </p:spPr>
        </p:sp>
        <p:sp>
          <p:nvSpPr>
            <p:cNvPr id="64548" name="Line 37"/>
            <p:cNvSpPr/>
            <p:nvPr/>
          </p:nvSpPr>
          <p:spPr>
            <a:xfrm flipV="1">
              <a:off x="5992" y="7840"/>
              <a:ext cx="4785" cy="3"/>
            </a:xfrm>
            <a:prstGeom prst="line">
              <a:avLst/>
            </a:prstGeom>
            <a:ln w="19050" cap="flat" cmpd="sng">
              <a:solidFill>
                <a:schemeClr val="accent2"/>
              </a:solidFill>
              <a:prstDash val="solid"/>
              <a:round/>
              <a:headEnd type="none" w="med" len="med"/>
              <a:tailEnd type="none" w="med" len="med"/>
            </a:ln>
          </p:spPr>
        </p:sp>
        <p:sp>
          <p:nvSpPr>
            <p:cNvPr id="64549" name="Line 38"/>
            <p:cNvSpPr/>
            <p:nvPr/>
          </p:nvSpPr>
          <p:spPr>
            <a:xfrm flipH="1" flipV="1">
              <a:off x="5993" y="4769"/>
              <a:ext cx="16" cy="3110"/>
            </a:xfrm>
            <a:prstGeom prst="line">
              <a:avLst/>
            </a:prstGeom>
            <a:ln w="19050" cap="flat" cmpd="sng">
              <a:solidFill>
                <a:schemeClr val="accent2"/>
              </a:solidFill>
              <a:prstDash val="solid"/>
              <a:round/>
              <a:headEnd type="none" w="med" len="med"/>
              <a:tailEnd type="triangle" w="med" len="med"/>
            </a:ln>
          </p:spPr>
        </p:sp>
        <p:sp>
          <p:nvSpPr>
            <p:cNvPr id="64550" name="Text Box 39"/>
            <p:cNvSpPr txBox="1"/>
            <p:nvPr/>
          </p:nvSpPr>
          <p:spPr>
            <a:xfrm>
              <a:off x="6144" y="6524"/>
              <a:ext cx="1402" cy="290"/>
            </a:xfrm>
            <a:prstGeom prst="rect">
              <a:avLst/>
            </a:prstGeom>
            <a:solidFill>
              <a:schemeClr val="bg1"/>
            </a:solidFill>
            <a:ln w="9525">
              <a:noFill/>
            </a:ln>
          </p:spPr>
          <p:txBody>
            <a:bodyPr lIns="0" tIns="0" rIns="0" bIns="0" anchor="t" anchorCtr="0">
              <a:spAutoFit/>
            </a:bodyPr>
            <a:p>
              <a:pPr>
                <a:spcBef>
                  <a:spcPct val="50000"/>
                </a:spcBef>
              </a:pPr>
              <a:r>
                <a:rPr lang="zh-CN" altLang="en-US" sz="1200" b="1" dirty="0">
                  <a:solidFill>
                    <a:schemeClr val="accent2"/>
                  </a:solidFill>
                  <a:latin typeface="Times New Roman" pitchFamily="18" charset="0"/>
                  <a:ea typeface="宋体" panose="02000500000000000000" pitchFamily="2" charset="-122"/>
                </a:rPr>
                <a:t>写存储器</a:t>
              </a:r>
              <a:endParaRPr lang="zh-CN" altLang="en-US" sz="1200" b="1" dirty="0">
                <a:solidFill>
                  <a:schemeClr val="accent2"/>
                </a:solidFill>
                <a:latin typeface="Times New Roman" pitchFamily="18" charset="0"/>
                <a:ea typeface="宋体" panose="02000500000000000000" pitchFamily="2" charset="-122"/>
              </a:endParaRPr>
            </a:p>
          </p:txBody>
        </p:sp>
        <p:sp>
          <p:nvSpPr>
            <p:cNvPr id="64551" name="Text Box 40"/>
            <p:cNvSpPr txBox="1"/>
            <p:nvPr/>
          </p:nvSpPr>
          <p:spPr>
            <a:xfrm>
              <a:off x="7982" y="7496"/>
              <a:ext cx="1820" cy="290"/>
            </a:xfrm>
            <a:prstGeom prst="rect">
              <a:avLst/>
            </a:prstGeom>
            <a:noFill/>
            <a:ln w="9525">
              <a:noFill/>
            </a:ln>
          </p:spPr>
          <p:txBody>
            <a:bodyPr lIns="0" tIns="0" rIns="0" bIns="0" anchor="t" anchorCtr="0">
              <a:spAutoFit/>
            </a:bodyPr>
            <a:p>
              <a:pPr>
                <a:spcBef>
                  <a:spcPct val="50000"/>
                </a:spcBef>
              </a:pPr>
              <a:r>
                <a:rPr lang="en-US" altLang="zh-CN" sz="1200" b="1" dirty="0">
                  <a:solidFill>
                    <a:schemeClr val="accent2"/>
                  </a:solidFill>
                  <a:latin typeface="Times New Roman" pitchFamily="18" charset="0"/>
                  <a:ea typeface="宋体" panose="02000500000000000000" pitchFamily="2" charset="-122"/>
                </a:rPr>
                <a:t>Commit</a:t>
              </a:r>
              <a:r>
                <a:rPr lang="zh-CN" altLang="zh-CN" sz="1200" b="1" dirty="0">
                  <a:solidFill>
                    <a:schemeClr val="accent2"/>
                  </a:solidFill>
                  <a:latin typeface="Times New Roman" pitchFamily="18" charset="0"/>
                  <a:ea typeface="宋体" panose="02000500000000000000" pitchFamily="2" charset="-122"/>
                </a:rPr>
                <a:t>总线</a:t>
              </a:r>
              <a:endParaRPr lang="zh-CN" altLang="en-US" sz="1200" b="1" dirty="0">
                <a:solidFill>
                  <a:schemeClr val="accent2"/>
                </a:solidFill>
                <a:latin typeface="Times New Roman" pitchFamily="18" charset="0"/>
                <a:ea typeface="宋体" panose="02000500000000000000" pitchFamily="2"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8915" name="Rectangle 2"/>
          <p:cNvSpPr/>
          <p:nvPr/>
        </p:nvSpPr>
        <p:spPr>
          <a:xfrm>
            <a:off x="914400" y="0"/>
            <a:ext cx="10361613" cy="1011238"/>
          </a:xfrm>
          <a:prstGeom prst="rect">
            <a:avLst/>
          </a:prstGeom>
          <a:noFill/>
          <a:ln w="9525">
            <a:noFill/>
          </a:ln>
        </p:spPr>
        <p:txBody>
          <a:bodyPr anchor="ctr" anchorCtr="0"/>
          <a:p>
            <a:pPr eaLnBrk="1" hangingPunct="1"/>
            <a:r>
              <a:rPr lang="zh-CN" altLang="en-US" sz="3600" dirty="0">
                <a:solidFill>
                  <a:srgbClr val="FF0000"/>
                </a:solidFill>
                <a:latin typeface="黑体" panose="02000500000000000000" pitchFamily="49" charset="-122"/>
                <a:ea typeface="黑体" panose="02000500000000000000" pitchFamily="49" charset="-122"/>
                <a:sym typeface="+mn-ea"/>
              </a:rPr>
              <a:t>建立逻辑寄存器到物理寄存器的映射</a:t>
            </a:r>
            <a:endParaRPr lang="zh-CN" altLang="en-US" sz="3600" dirty="0">
              <a:solidFill>
                <a:srgbClr val="FF0000"/>
              </a:solidFill>
              <a:latin typeface="黑体" panose="02000500000000000000" pitchFamily="49" charset="-122"/>
              <a:ea typeface="黑体" panose="02000500000000000000" pitchFamily="49" charset="-122"/>
              <a:sym typeface="+mn-ea"/>
            </a:endParaRPr>
          </a:p>
        </p:txBody>
      </p:sp>
      <p:sp>
        <p:nvSpPr>
          <p:cNvPr id="37892" name="Rectangle 3"/>
          <p:cNvSpPr>
            <a:spLocks noChangeArrowheads="1"/>
          </p:cNvSpPr>
          <p:nvPr/>
        </p:nvSpPr>
        <p:spPr bwMode="auto">
          <a:xfrm>
            <a:off x="438785" y="1086485"/>
            <a:ext cx="11412855" cy="3752850"/>
          </a:xfrm>
          <a:prstGeom prst="rect">
            <a:avLst/>
          </a:prstGeom>
          <a:noFill/>
          <a:ln w="9525">
            <a:noFill/>
            <a:miter lim="800000"/>
          </a:ln>
        </p:spPr>
        <p:txBody>
          <a:bodyPr/>
          <a:lstStyle/>
          <a:p>
            <a:pPr marL="342900" marR="0" lvl="0" indent="-342900" algn="l" defTabSz="914400" rtl="0" fontAlgn="base">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物理寄存器比结构寄存器（</a:t>
            </a:r>
            <a:r>
              <a:rPr kumimoji="1" lang="en-US" altLang="zh-CN"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32</a:t>
            </a:r>
            <a:r>
              <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项）多，根据需要分配给逻辑寄存器，通过重命名表建立映射关系</a:t>
            </a:r>
            <a:endPar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fontAlgn="base">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可以用</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CAM</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或</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RAM</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的方法，以</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CAM</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的方法为例</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fontAlgn="base">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项数与物理寄存器一样</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285750" marR="0" lvl="0" indent="-285750" algn="l" defTabSz="914400" rtl="0" fontAlgn="base">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重命名表主要包括三个域</a:t>
            </a:r>
            <a:endPar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85800" marR="0" lvl="1" indent="-228600" algn="l" defTabSz="914400" rtl="0" fontAlgn="base">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name</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：相应的逻辑寄存器号</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85800" marR="0" lvl="1" indent="-228600" algn="l" defTabSz="914400" rtl="0" fontAlgn="base">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state</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EMPTY</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：表示该寄存器没有被重命名（重命名后又已经被释放）；</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MAPPED</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：表示已经被重命名但结果没有写回；</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WRITEBACK</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：表示结果已经写回物理寄存器但没有提交到结构寄存器；</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COMMIT</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：表示结果已被确认</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85800" marR="0" lvl="1" indent="-228600" algn="l" defTabSz="914400" rtl="0" fontAlgn="base">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valid</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：在一个逻辑寄存器对应多个物理寄存器的情况下表示最新映射</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
        <p:nvSpPr>
          <p:cNvPr id="2" name="Rectangle 4"/>
          <p:cNvSpPr/>
          <p:nvPr/>
        </p:nvSpPr>
        <p:spPr>
          <a:xfrm>
            <a:off x="1296035" y="5400040"/>
            <a:ext cx="3844290" cy="1243965"/>
          </a:xfrm>
          <a:prstGeom prst="rect">
            <a:avLst/>
          </a:prstGeom>
          <a:solidFill>
            <a:schemeClr val="accent2">
              <a:lumMod val="20000"/>
              <a:lumOff val="80000"/>
            </a:schemeClr>
          </a:solidFill>
          <a:ln w="12700" cap="flat" cmpd="sng">
            <a:solidFill>
              <a:schemeClr val="tx1"/>
            </a:solidFill>
            <a:prstDash val="solid"/>
            <a:miter/>
            <a:headEnd type="none" w="med" len="med"/>
            <a:tailEnd type="none" w="med" len="med"/>
          </a:ln>
        </p:spPr>
        <p:txBody>
          <a:bodyPr lIns="90487" tIns="44450" rIns="90487" bIns="44450"/>
          <a:p>
            <a:pPr marL="342900" indent="-342900" algn="l">
              <a:lnSpc>
                <a:spcPct val="90000"/>
              </a:lnSpc>
              <a:spcBef>
                <a:spcPct val="10000"/>
              </a:spcBef>
            </a:pPr>
            <a:r>
              <a:rPr lang="en-US" altLang="zh-CN" sz="1800" b="1" dirty="0">
                <a:latin typeface="宋体" panose="02000500000000000000" pitchFamily="2" charset="-122"/>
              </a:rPr>
              <a:t>ADD	R1	R1	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ADD	R1	R1	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ADD	R1	R1	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ADD	R1	R1	1</a:t>
            </a:r>
            <a:endParaRPr lang="en-US" altLang="zh-CN" sz="1800" b="1" dirty="0">
              <a:latin typeface="宋体" panose="02000500000000000000" pitchFamily="2" charset="-122"/>
            </a:endParaRPr>
          </a:p>
        </p:txBody>
      </p:sp>
      <p:grpSp>
        <p:nvGrpSpPr>
          <p:cNvPr id="4" name="组合 3"/>
          <p:cNvGrpSpPr/>
          <p:nvPr/>
        </p:nvGrpSpPr>
        <p:grpSpPr>
          <a:xfrm>
            <a:off x="5285105" y="5367020"/>
            <a:ext cx="4903470" cy="1277620"/>
            <a:chOff x="8323" y="8452"/>
            <a:chExt cx="7722" cy="2012"/>
          </a:xfrm>
        </p:grpSpPr>
        <p:sp>
          <p:nvSpPr>
            <p:cNvPr id="3" name="Rectangle 6"/>
            <p:cNvSpPr/>
            <p:nvPr/>
          </p:nvSpPr>
          <p:spPr>
            <a:xfrm>
              <a:off x="9943" y="8452"/>
              <a:ext cx="6102" cy="2012"/>
            </a:xfrm>
            <a:prstGeom prst="rect">
              <a:avLst/>
            </a:prstGeom>
            <a:solidFill>
              <a:schemeClr val="accent2">
                <a:lumMod val="20000"/>
                <a:lumOff val="80000"/>
              </a:schemeClr>
            </a:solidFill>
            <a:ln w="12700" cap="flat" cmpd="sng">
              <a:solidFill>
                <a:schemeClr val="tx1"/>
              </a:solidFill>
              <a:prstDash val="solid"/>
              <a:miter/>
              <a:headEnd type="none" w="med" len="med"/>
              <a:tailEnd type="none" w="med" len="med"/>
            </a:ln>
          </p:spPr>
          <p:txBody>
            <a:bodyPr lIns="90487" tIns="44450" rIns="90487" bIns="44450"/>
            <a:p>
              <a:pPr marL="342900" indent="-342900" algn="l">
                <a:lnSpc>
                  <a:spcPct val="90000"/>
                </a:lnSpc>
                <a:spcBef>
                  <a:spcPct val="10000"/>
                </a:spcBef>
              </a:pPr>
              <a:r>
                <a:rPr lang="en-US" altLang="zh-CN" sz="1800" b="1" dirty="0">
                  <a:latin typeface="宋体" panose="02000500000000000000" pitchFamily="2" charset="-122"/>
                </a:rPr>
                <a:t>ADD	PR32	PR1	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ADD	PR33	PR32	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ADD	PR34	PR33	1</a:t>
              </a:r>
              <a:endParaRPr lang="en-US" altLang="zh-CN" sz="1800" b="1" dirty="0">
                <a:latin typeface="宋体" panose="02000500000000000000" pitchFamily="2" charset="-122"/>
              </a:endParaRPr>
            </a:p>
            <a:p>
              <a:pPr marL="342900" indent="-342900" algn="l">
                <a:lnSpc>
                  <a:spcPct val="90000"/>
                </a:lnSpc>
                <a:spcBef>
                  <a:spcPct val="10000"/>
                </a:spcBef>
              </a:pPr>
              <a:r>
                <a:rPr lang="en-US" altLang="zh-CN" sz="1800" b="1" dirty="0">
                  <a:latin typeface="宋体" panose="02000500000000000000" pitchFamily="2" charset="-122"/>
                </a:rPr>
                <a:t>ADD	PR35	PR34	1</a:t>
              </a:r>
              <a:endParaRPr lang="en-US" altLang="zh-CN" sz="1800" b="1" dirty="0">
                <a:latin typeface="宋体" panose="02000500000000000000" pitchFamily="2" charset="-122"/>
              </a:endParaRPr>
            </a:p>
          </p:txBody>
        </p:sp>
        <p:grpSp>
          <p:nvGrpSpPr>
            <p:cNvPr id="15" name="组合 14"/>
            <p:cNvGrpSpPr/>
            <p:nvPr/>
          </p:nvGrpSpPr>
          <p:grpSpPr>
            <a:xfrm rot="16200000">
              <a:off x="8341" y="8831"/>
              <a:ext cx="1418" cy="1455"/>
              <a:chOff x="1563" y="7228"/>
              <a:chExt cx="1418" cy="843"/>
            </a:xfrm>
            <a:solidFill>
              <a:schemeClr val="accent1">
                <a:lumMod val="40000"/>
                <a:lumOff val="60000"/>
              </a:schemeClr>
            </a:solidFill>
          </p:grpSpPr>
          <p:sp>
            <p:nvSpPr>
              <p:cNvPr id="51206" name="AutoShape 5"/>
              <p:cNvSpPr/>
              <p:nvPr/>
            </p:nvSpPr>
            <p:spPr>
              <a:xfrm>
                <a:off x="1563" y="7228"/>
                <a:ext cx="1418" cy="843"/>
              </a:xfrm>
              <a:prstGeom prst="downArrow">
                <a:avLst>
                  <a:gd name="adj1" fmla="val 50000"/>
                  <a:gd name="adj2" fmla="val 25000"/>
                </a:avLst>
              </a:prstGeom>
              <a:grp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5" name="文本框 4"/>
              <p:cNvSpPr txBox="1"/>
              <p:nvPr/>
            </p:nvSpPr>
            <p:spPr>
              <a:xfrm rot="5400000">
                <a:off x="1989" y="7280"/>
                <a:ext cx="586" cy="483"/>
              </a:xfrm>
              <a:prstGeom prst="rect">
                <a:avLst/>
              </a:prstGeom>
              <a:noFill/>
              <a:extLst>
                <a:ext uri="{909E8E84-426E-40DD-AFC4-6F175D3DCCD1}">
                  <a14:hiddenFill xmlns:a14="http://schemas.microsoft.com/office/drawing/2010/main">
                    <a:grpFill/>
                  </a14:hiddenFill>
                </a:ext>
              </a:extLst>
            </p:spPr>
            <p:txBody>
              <a:bodyPr wrap="square" rtlCol="0">
                <a:spAutoFit/>
              </a:bodyPr>
              <a:p>
                <a:r>
                  <a:rPr lang="zh-CN" altLang="en-US" sz="1400" b="1">
                    <a:solidFill>
                      <a:srgbClr val="FF0000"/>
                    </a:solidFill>
                  </a:rPr>
                  <a:t>查表</a:t>
                </a:r>
                <a:endParaRPr lang="zh-CN" altLang="en-US" sz="1400" b="1">
                  <a:solidFill>
                    <a:srgbClr val="FF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animEffect transition="in" filter="blinds(horizontal)">
                                      <p:cBhvr>
                                        <p:cTn id="7" dur="500"/>
                                        <p:tgtEl>
                                          <p:spTgt spid="3789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892">
                                            <p:txEl>
                                              <p:pRg st="1" end="1"/>
                                            </p:txEl>
                                          </p:spTgt>
                                        </p:tgtEl>
                                        <p:attrNameLst>
                                          <p:attrName>style.visibility</p:attrName>
                                        </p:attrNameLst>
                                      </p:cBhvr>
                                      <p:to>
                                        <p:strVal val="visible"/>
                                      </p:to>
                                    </p:set>
                                    <p:animEffect transition="in" filter="blinds(horizontal)">
                                      <p:cBhvr>
                                        <p:cTn id="10" dur="500"/>
                                        <p:tgtEl>
                                          <p:spTgt spid="3789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892">
                                            <p:txEl>
                                              <p:pRg st="2" end="2"/>
                                            </p:txEl>
                                          </p:spTgt>
                                        </p:tgtEl>
                                        <p:attrNameLst>
                                          <p:attrName>style.visibility</p:attrName>
                                        </p:attrNameLst>
                                      </p:cBhvr>
                                      <p:to>
                                        <p:strVal val="visible"/>
                                      </p:to>
                                    </p:set>
                                    <p:animEffect transition="in" filter="blinds(horizontal)">
                                      <p:cBhvr>
                                        <p:cTn id="13" dur="500"/>
                                        <p:tgtEl>
                                          <p:spTgt spid="3789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7892">
                                            <p:txEl>
                                              <p:pRg st="3" end="3"/>
                                            </p:txEl>
                                          </p:spTgt>
                                        </p:tgtEl>
                                        <p:attrNameLst>
                                          <p:attrName>style.visibility</p:attrName>
                                        </p:attrNameLst>
                                      </p:cBhvr>
                                      <p:to>
                                        <p:strVal val="visible"/>
                                      </p:to>
                                    </p:set>
                                    <p:animEffect transition="in" filter="wipe(down)">
                                      <p:cBhvr>
                                        <p:cTn id="28" dur="500"/>
                                        <p:tgtEl>
                                          <p:spTgt spid="37892">
                                            <p:txEl>
                                              <p:pRg st="3" end="3"/>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37892">
                                            <p:txEl>
                                              <p:pRg st="4" end="4"/>
                                            </p:txEl>
                                          </p:spTgt>
                                        </p:tgtEl>
                                        <p:attrNameLst>
                                          <p:attrName>style.visibility</p:attrName>
                                        </p:attrNameLst>
                                      </p:cBhvr>
                                      <p:to>
                                        <p:strVal val="visible"/>
                                      </p:to>
                                    </p:set>
                                    <p:animEffect transition="in" filter="wipe(down)">
                                      <p:cBhvr>
                                        <p:cTn id="31" dur="500"/>
                                        <p:tgtEl>
                                          <p:spTgt spid="37892">
                                            <p:txEl>
                                              <p:pRg st="4" end="4"/>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37892">
                                            <p:txEl>
                                              <p:pRg st="5" end="5"/>
                                            </p:txEl>
                                          </p:spTgt>
                                        </p:tgtEl>
                                        <p:attrNameLst>
                                          <p:attrName>style.visibility</p:attrName>
                                        </p:attrNameLst>
                                      </p:cBhvr>
                                      <p:to>
                                        <p:strVal val="visible"/>
                                      </p:to>
                                    </p:set>
                                    <p:animEffect transition="in" filter="wipe(down)">
                                      <p:cBhvr>
                                        <p:cTn id="34" dur="500"/>
                                        <p:tgtEl>
                                          <p:spTgt spid="37892">
                                            <p:txEl>
                                              <p:pRg st="5" end="5"/>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37892">
                                            <p:txEl>
                                              <p:pRg st="6" end="6"/>
                                            </p:txEl>
                                          </p:spTgt>
                                        </p:tgtEl>
                                        <p:attrNameLst>
                                          <p:attrName>style.visibility</p:attrName>
                                        </p:attrNameLst>
                                      </p:cBhvr>
                                      <p:to>
                                        <p:strVal val="visible"/>
                                      </p:to>
                                    </p:set>
                                    <p:animEffect transition="in" filter="wipe(down)">
                                      <p:cBhvr>
                                        <p:cTn id="37" dur="500"/>
                                        <p:tgtEl>
                                          <p:spTgt spid="378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nvGraphicFramePr>
        <p:xfrm>
          <a:off x="650240" y="2686685"/>
          <a:ext cx="1954530" cy="438912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8288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8288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8288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empty</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8288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8288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8288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7" name="表格 6"/>
          <p:cNvGraphicFramePr/>
          <p:nvPr/>
        </p:nvGraphicFramePr>
        <p:xfrm>
          <a:off x="2863850" y="268668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map</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8" name="表格 7"/>
          <p:cNvGraphicFramePr/>
          <p:nvPr/>
        </p:nvGraphicFramePr>
        <p:xfrm>
          <a:off x="5077460" y="268668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map</a:t>
                      </a:r>
                      <a:endParaRPr lang="en-US" altLang="zh-CN" sz="1200" b="1">
                        <a:solidFill>
                          <a:srgbClr val="FF0000"/>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map</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9" name="表格 8"/>
          <p:cNvGraphicFramePr/>
          <p:nvPr/>
        </p:nvGraphicFramePr>
        <p:xfrm>
          <a:off x="7291070" y="268668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map</a:t>
                      </a:r>
                      <a:endParaRPr lang="en-US" altLang="zh-CN" sz="1200" b="1">
                        <a:solidFill>
                          <a:srgbClr val="FF0000"/>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map</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10" name="表格 9"/>
          <p:cNvGraphicFramePr/>
          <p:nvPr/>
        </p:nvGraphicFramePr>
        <p:xfrm>
          <a:off x="9504680" y="268668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map</a:t>
                      </a:r>
                      <a:endParaRPr lang="en-US" altLang="zh-CN" sz="1200" b="1">
                        <a:solidFill>
                          <a:srgbClr val="FF0000"/>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0</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map</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sp>
        <p:nvSpPr>
          <p:cNvPr id="12296" name="Rectangle 1059"/>
          <p:cNvSpPr/>
          <p:nvPr/>
        </p:nvSpPr>
        <p:spPr>
          <a:xfrm>
            <a:off x="914400" y="137795"/>
            <a:ext cx="10361613" cy="636588"/>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物理寄存器堆重命名表结构及变化</a:t>
            </a:r>
            <a:endParaRPr lang="zh-CN" altLang="en-US" sz="3600" dirty="0">
              <a:solidFill>
                <a:srgbClr val="FF3300"/>
              </a:solidFill>
              <a:latin typeface="Times New Roman" pitchFamily="18" charset="0"/>
              <a:ea typeface="黑体" panose="02000500000000000000" pitchFamily="49" charset="-122"/>
            </a:endParaRPr>
          </a:p>
        </p:txBody>
      </p:sp>
      <p:sp>
        <p:nvSpPr>
          <p:cNvPr id="37892" name="Rectangle 3"/>
          <p:cNvSpPr>
            <a:spLocks noChangeArrowheads="1"/>
          </p:cNvSpPr>
          <p:nvPr/>
        </p:nvSpPr>
        <p:spPr bwMode="auto">
          <a:xfrm>
            <a:off x="339090" y="867410"/>
            <a:ext cx="11512550" cy="1513840"/>
          </a:xfrm>
          <a:prstGeom prst="rect">
            <a:avLst/>
          </a:prstGeom>
          <a:noFill/>
          <a:ln w="9525">
            <a:noFill/>
            <a:miter lim="800000"/>
          </a:ln>
        </p:spPr>
        <p:txBody>
          <a:bodyPr/>
          <a:p>
            <a:pPr marL="342900" marR="0" lvl="0" indent="-342900" algn="l" defTabSz="914400" rtl="0" fontAlgn="base">
              <a:lnSpc>
                <a:spcPct val="150000"/>
              </a:lnSpc>
              <a:spcBef>
                <a:spcPts val="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重命名表用</a:t>
            </a:r>
            <a:r>
              <a:rPr kumimoji="1"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CAM</a:t>
            </a:r>
            <a:r>
              <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的方法，项数与物理寄存器数量一样（本例为</a:t>
            </a:r>
            <a:r>
              <a:rPr kumimoji="1" lang="en-US" altLang="zh-CN"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64</a:t>
            </a:r>
            <a:r>
              <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个）</a:t>
            </a:r>
            <a:endPar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800100" marR="0" lvl="1" indent="-342900" algn="l" defTabSz="914400" rtl="0" fontAlgn="base">
              <a:lnSpc>
                <a:spcPct val="150000"/>
              </a:lnSpc>
              <a:spcBef>
                <a:spcPts val="0"/>
              </a:spcBef>
              <a:spcAft>
                <a:spcPct val="0"/>
              </a:spcAft>
              <a:buClrTx/>
              <a:buSzTx/>
              <a:buFontTx/>
              <a:buChar char="•"/>
              <a:defRPr/>
            </a:pPr>
            <a:r>
              <a:rPr kumimoji="1" lang="zh-CN" altLang="en-US"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每条指令为目标结构寄存器分配一个新的物理寄存器，一个逻辑寄存器可能对应多个物理寄存器</a:t>
            </a:r>
            <a:endParaRPr kumimoji="1" lang="zh-CN" altLang="en-US"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800100" marR="0" lvl="1" indent="-342900" algn="l" defTabSz="914400" rtl="0" fontAlgn="base">
              <a:lnSpc>
                <a:spcPct val="150000"/>
              </a:lnSpc>
              <a:spcBef>
                <a:spcPts val="0"/>
              </a:spcBef>
              <a:spcAft>
                <a:spcPct val="0"/>
              </a:spcAft>
              <a:buClrTx/>
              <a:buSzTx/>
              <a:buFontTx/>
              <a:buChar char="•"/>
              <a:defRPr/>
            </a:pPr>
            <a:r>
              <a:rPr kumimoji="1" lang="zh-CN" altLang="en-US"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任何一个逻辑寄存器有且仅有一个处于</a:t>
            </a:r>
            <a:r>
              <a:rPr kumimoji="1" lang="en-US" altLang="zh-CN"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COMMIT</a:t>
            </a:r>
            <a:r>
              <a:rPr kumimoji="1" lang="zh-CN" altLang="en-US"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（表示补课撤销的确定值）状态，有且仅有一个</a:t>
            </a:r>
            <a:r>
              <a:rPr kumimoji="1" lang="en-US" altLang="zh-CN"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Valid=1</a:t>
            </a:r>
            <a:r>
              <a:rPr kumimoji="1" lang="zh-CN" altLang="en-US"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（表示最新值）</a:t>
            </a:r>
            <a:endParaRPr kumimoji="1" lang="zh-CN" altLang="en-US" sz="14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fontAlgn="base">
              <a:lnSpc>
                <a:spcPct val="150000"/>
              </a:lnSpc>
              <a:spcBef>
                <a:spcPts val="0"/>
              </a:spcBef>
              <a:spcAft>
                <a:spcPct val="0"/>
              </a:spcAft>
              <a:buClrTx/>
              <a:buSzTx/>
              <a:buFontTx/>
              <a:buChar char="•"/>
              <a:defRPr/>
            </a:pPr>
            <a:r>
              <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连续重命名四条</a:t>
            </a:r>
            <a:r>
              <a:rPr kumimoji="1" lang="zh-CN" altLang="en-US" sz="18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a:t>
            </a:r>
            <a:r>
              <a:rPr lang="en-US" altLang="zh-CN" sz="1800" b="1" dirty="0">
                <a:solidFill>
                  <a:srgbClr val="FF0000"/>
                </a:solidFill>
                <a:latin typeface="宋体" panose="02000500000000000000" pitchFamily="2" charset="-122"/>
                <a:sym typeface="+mn-ea"/>
              </a:rPr>
              <a:t>ADD R1, R1, 1</a:t>
            </a:r>
            <a:r>
              <a:rPr kumimoji="1" lang="zh-CN" altLang="en-US" sz="1800" b="1" i="0" u="none" strike="noStrike" kern="1200" cap="none" spc="0" normalizeH="0" baseline="0" noProof="0" dirty="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指令的状态变化</a:t>
            </a:r>
            <a:endParaRPr kumimoji="1" lang="zh-CN" altLang="en-US" sz="18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 name="表格 9"/>
          <p:cNvGraphicFramePr/>
          <p:nvPr/>
        </p:nvGraphicFramePr>
        <p:xfrm>
          <a:off x="684530" y="2656840"/>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map</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sp>
        <p:nvSpPr>
          <p:cNvPr id="12296" name="Rectangle 1059"/>
          <p:cNvSpPr/>
          <p:nvPr/>
        </p:nvSpPr>
        <p:spPr>
          <a:xfrm>
            <a:off x="914400" y="137795"/>
            <a:ext cx="10361613" cy="636588"/>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物理寄存器堆重命名表结构及变化</a:t>
            </a:r>
            <a:endParaRPr lang="zh-CN" altLang="en-US" sz="3600" dirty="0">
              <a:solidFill>
                <a:srgbClr val="FF3300"/>
              </a:solidFill>
              <a:latin typeface="Times New Roman" pitchFamily="18" charset="0"/>
              <a:ea typeface="黑体" panose="02000500000000000000" pitchFamily="49" charset="-122"/>
            </a:endParaRPr>
          </a:p>
        </p:txBody>
      </p:sp>
      <p:sp>
        <p:nvSpPr>
          <p:cNvPr id="37892" name="Rectangle 3"/>
          <p:cNvSpPr>
            <a:spLocks noChangeArrowheads="1"/>
          </p:cNvSpPr>
          <p:nvPr/>
        </p:nvSpPr>
        <p:spPr bwMode="auto">
          <a:xfrm>
            <a:off x="684530" y="867410"/>
            <a:ext cx="11167110" cy="1674495"/>
          </a:xfrm>
          <a:prstGeom prst="rect">
            <a:avLst/>
          </a:prstGeom>
          <a:noFill/>
          <a:ln w="9525">
            <a:noFill/>
            <a:miter lim="800000"/>
          </a:ln>
        </p:spPr>
        <p:txBody>
          <a:bodyPr/>
          <a:p>
            <a:pPr marL="342900" marR="0" lvl="0" indent="-342900" algn="l" defTabSz="914400" rtl="0" fontAlgn="base">
              <a:lnSpc>
                <a:spcPct val="150000"/>
              </a:lnSpc>
              <a:spcBef>
                <a:spcPts val="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第</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2</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条</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lang="en-US" altLang="zh-CN" sz="1600" b="1" dirty="0">
                <a:solidFill>
                  <a:srgbClr val="FF0000"/>
                </a:solidFill>
                <a:latin typeface="宋体" panose="02000500000000000000" pitchFamily="2" charset="-122"/>
                <a:sym typeface="+mn-ea"/>
              </a:rPr>
              <a:t>ADD R1, R1, 1</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kumimoji="1" 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执行完写回后重命名表的状态</a:t>
            </a:r>
            <a:r>
              <a:rPr kumimoji="1" lang="zh-CN" sz="1600" b="1" noProof="0" dirty="0">
                <a:ln>
                  <a:noFill/>
                </a:ln>
                <a:effectLst/>
                <a:uLnTx/>
                <a:uFillTx/>
                <a:latin typeface="宋体" panose="02000500000000000000" pitchFamily="2" charset="-122"/>
                <a:cs typeface="宋体" panose="02000500000000000000" pitchFamily="2" charset="-122"/>
                <a:sym typeface="+mn-ea"/>
              </a:rPr>
              <a:t>（可以乱序执行和写回，此处假设第</a:t>
            </a:r>
            <a:r>
              <a:rPr kumimoji="1" lang="en-US" altLang="zh-CN" sz="1600" b="1" noProof="0" dirty="0">
                <a:ln>
                  <a:noFill/>
                </a:ln>
                <a:effectLst/>
                <a:uLnTx/>
                <a:uFillTx/>
                <a:latin typeface="宋体" panose="02000500000000000000" pitchFamily="2" charset="-122"/>
                <a:cs typeface="宋体" panose="02000500000000000000" pitchFamily="2" charset="-122"/>
                <a:sym typeface="+mn-ea"/>
              </a:rPr>
              <a:t>2</a:t>
            </a:r>
            <a:r>
              <a:rPr kumimoji="1" lang="zh-CN" sz="1600" b="1" noProof="0" dirty="0">
                <a:ln>
                  <a:noFill/>
                </a:ln>
                <a:effectLst/>
                <a:uLnTx/>
                <a:uFillTx/>
                <a:latin typeface="宋体" panose="02000500000000000000" pitchFamily="2" charset="-122"/>
                <a:cs typeface="宋体" panose="02000500000000000000" pitchFamily="2" charset="-122"/>
                <a:sym typeface="+mn-ea"/>
              </a:rPr>
              <a:t>条先写回）</a:t>
            </a:r>
            <a:endParaRPr kumimoji="1" 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fontAlgn="base">
              <a:lnSpc>
                <a:spcPct val="150000"/>
              </a:lnSpc>
              <a:spcBef>
                <a:spcPts val="0"/>
              </a:spcBef>
              <a:spcAft>
                <a:spcPct val="0"/>
              </a:spcAft>
              <a:buClrTx/>
              <a:buSzTx/>
              <a:buFontTx/>
              <a:buChar char="•"/>
              <a:defRPr/>
            </a:pPr>
            <a:r>
              <a:rPr kumimoji="1" lang="zh-CN" altLang="en-US" sz="1600" b="1" noProof="0" dirty="0">
                <a:ln>
                  <a:noFill/>
                </a:ln>
                <a:solidFill>
                  <a:schemeClr val="tx1"/>
                </a:solidFill>
                <a:effectLst/>
                <a:uLnTx/>
                <a:uFillTx/>
                <a:latin typeface="宋体" panose="02000500000000000000" pitchFamily="2" charset="-122"/>
                <a:cs typeface="宋体" panose="02000500000000000000" pitchFamily="2" charset="-122"/>
                <a:sym typeface="+mn-ea"/>
              </a:rPr>
              <a:t>四条</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lang="en-US" altLang="zh-CN" sz="1600" b="1" dirty="0">
                <a:solidFill>
                  <a:srgbClr val="FF0000"/>
                </a:solidFill>
                <a:latin typeface="宋体" panose="02000500000000000000" pitchFamily="2" charset="-122"/>
                <a:sym typeface="+mn-ea"/>
              </a:rPr>
              <a:t>ADD R1, R1, 1</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kumimoji="1" lang="zh-CN" altLang="en-US" sz="1600" b="1" noProof="0" dirty="0">
                <a:ln>
                  <a:noFill/>
                </a:ln>
                <a:solidFill>
                  <a:schemeClr val="tx1"/>
                </a:solidFill>
                <a:effectLst/>
                <a:uLnTx/>
                <a:uFillTx/>
                <a:latin typeface="宋体" panose="02000500000000000000" pitchFamily="2" charset="-122"/>
                <a:cs typeface="宋体" panose="02000500000000000000" pitchFamily="2" charset="-122"/>
                <a:sym typeface="+mn-ea"/>
              </a:rPr>
              <a:t>均</a:t>
            </a:r>
            <a:r>
              <a:rPr kumimoji="1" lang="zh-CN" sz="1600" b="1" noProof="0" dirty="0">
                <a:ln>
                  <a:noFill/>
                </a:ln>
                <a:effectLst/>
                <a:uLnTx/>
                <a:uFillTx/>
                <a:latin typeface="宋体" panose="02000500000000000000" pitchFamily="2" charset="-122"/>
                <a:cs typeface="宋体" panose="02000500000000000000" pitchFamily="2" charset="-122"/>
                <a:sym typeface="+mn-ea"/>
              </a:rPr>
              <a:t>执行完写回后重命名表的状态，此时后续指令再读</a:t>
            </a:r>
            <a:r>
              <a:rPr kumimoji="1" lang="en-US" altLang="zh-CN" sz="1600" b="1" noProof="0" dirty="0">
                <a:ln>
                  <a:noFill/>
                </a:ln>
                <a:effectLst/>
                <a:uLnTx/>
                <a:uFillTx/>
                <a:latin typeface="宋体" panose="02000500000000000000" pitchFamily="2" charset="-122"/>
                <a:cs typeface="宋体" panose="02000500000000000000" pitchFamily="2" charset="-122"/>
                <a:sym typeface="+mn-ea"/>
              </a:rPr>
              <a:t>R1</a:t>
            </a:r>
            <a:r>
              <a:rPr kumimoji="1" lang="zh-CN" altLang="en-US" sz="1600" b="1" noProof="0" dirty="0">
                <a:ln>
                  <a:noFill/>
                </a:ln>
                <a:effectLst/>
                <a:uLnTx/>
                <a:uFillTx/>
                <a:latin typeface="宋体" panose="02000500000000000000" pitchFamily="2" charset="-122"/>
                <a:cs typeface="宋体" panose="02000500000000000000" pitchFamily="2" charset="-122"/>
                <a:sym typeface="+mn-ea"/>
              </a:rPr>
              <a:t>可以直接从</a:t>
            </a:r>
            <a:r>
              <a:rPr kumimoji="1" lang="en-US" altLang="zh-CN" sz="1600" b="1" noProof="0" dirty="0">
                <a:ln>
                  <a:noFill/>
                </a:ln>
                <a:effectLst/>
                <a:uLnTx/>
                <a:uFillTx/>
                <a:latin typeface="宋体" panose="02000500000000000000" pitchFamily="2" charset="-122"/>
                <a:cs typeface="宋体" panose="02000500000000000000" pitchFamily="2" charset="-122"/>
                <a:sym typeface="+mn-ea"/>
              </a:rPr>
              <a:t>PR35</a:t>
            </a:r>
            <a:r>
              <a:rPr kumimoji="1" lang="zh-CN" altLang="en-US" sz="1600" b="1" noProof="0" dirty="0">
                <a:ln>
                  <a:noFill/>
                </a:ln>
                <a:effectLst/>
                <a:uLnTx/>
                <a:uFillTx/>
                <a:latin typeface="宋体" panose="02000500000000000000" pitchFamily="2" charset="-122"/>
                <a:cs typeface="宋体" panose="02000500000000000000" pitchFamily="2" charset="-122"/>
                <a:sym typeface="+mn-ea"/>
              </a:rPr>
              <a:t>读</a:t>
            </a:r>
            <a:endParaRPr kumimoji="1" lang="zh-CN" altLang="en-US" sz="1600" b="1" noProof="0" dirty="0">
              <a:ln>
                <a:noFill/>
              </a:ln>
              <a:effectLst/>
              <a:uLnTx/>
              <a:uFillTx/>
              <a:latin typeface="宋体" panose="02000500000000000000" pitchFamily="2" charset="-122"/>
              <a:cs typeface="宋体" panose="02000500000000000000" pitchFamily="2" charset="-122"/>
              <a:sym typeface="+mn-ea"/>
            </a:endParaRPr>
          </a:p>
          <a:p>
            <a:pPr marL="342900" marR="0" lvl="0" indent="-342900" algn="l" defTabSz="914400" rtl="0" fontAlgn="base">
              <a:lnSpc>
                <a:spcPct val="150000"/>
              </a:lnSpc>
              <a:spcBef>
                <a:spcPts val="0"/>
              </a:spcBef>
              <a:spcAft>
                <a:spcPct val="0"/>
              </a:spcAft>
              <a:buClrTx/>
              <a:buSzTx/>
              <a:buFontTx/>
              <a:buChar char="•"/>
              <a:defRPr/>
            </a:pPr>
            <a:r>
              <a:rPr kumimoji="1" lang="zh-CN" altLang="en-US" sz="1600" b="1" noProof="0" dirty="0">
                <a:ln>
                  <a:noFill/>
                </a:ln>
                <a:effectLst/>
                <a:uLnTx/>
                <a:uFillTx/>
                <a:latin typeface="宋体" panose="02000500000000000000" pitchFamily="2" charset="-122"/>
                <a:cs typeface="宋体" panose="02000500000000000000" pitchFamily="2" charset="-122"/>
                <a:sym typeface="+mn-ea"/>
              </a:rPr>
              <a:t>第</a:t>
            </a:r>
            <a:r>
              <a:rPr kumimoji="1" lang="en-US" altLang="zh-CN" sz="1600" b="1" noProof="0" dirty="0">
                <a:ln>
                  <a:noFill/>
                </a:ln>
                <a:effectLst/>
                <a:uLnTx/>
                <a:uFillTx/>
                <a:latin typeface="宋体" panose="02000500000000000000" pitchFamily="2" charset="-122"/>
                <a:cs typeface="宋体" panose="02000500000000000000" pitchFamily="2" charset="-122"/>
                <a:sym typeface="+mn-ea"/>
              </a:rPr>
              <a:t>1</a:t>
            </a:r>
            <a:r>
              <a:rPr kumimoji="1" lang="zh-CN" altLang="en-US" sz="1600" b="1" noProof="0" dirty="0">
                <a:ln>
                  <a:noFill/>
                </a:ln>
                <a:effectLst/>
                <a:uLnTx/>
                <a:uFillTx/>
                <a:latin typeface="宋体" panose="02000500000000000000" pitchFamily="2" charset="-122"/>
                <a:cs typeface="宋体" panose="02000500000000000000" pitchFamily="2" charset="-122"/>
                <a:sym typeface="+mn-ea"/>
              </a:rPr>
              <a:t>条</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lang="en-US" altLang="zh-CN" sz="1600" b="1" dirty="0">
                <a:solidFill>
                  <a:srgbClr val="FF0000"/>
                </a:solidFill>
                <a:latin typeface="宋体" panose="02000500000000000000" pitchFamily="2" charset="-122"/>
                <a:sym typeface="+mn-ea"/>
              </a:rPr>
              <a:t>ADD R1, R1, 1</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kumimoji="1" lang="zh-CN" altLang="en-US" sz="1600" b="1" noProof="0" dirty="0">
                <a:ln>
                  <a:noFill/>
                </a:ln>
                <a:effectLst/>
                <a:uLnTx/>
                <a:uFillTx/>
                <a:latin typeface="宋体" panose="02000500000000000000" pitchFamily="2" charset="-122"/>
                <a:cs typeface="宋体" panose="02000500000000000000" pitchFamily="2" charset="-122"/>
                <a:sym typeface="+mn-ea"/>
              </a:rPr>
              <a:t>提交后</a:t>
            </a:r>
            <a:r>
              <a:rPr kumimoji="1" lang="zh-CN" sz="1600" b="1" noProof="0" dirty="0">
                <a:ln>
                  <a:noFill/>
                </a:ln>
                <a:effectLst/>
                <a:uLnTx/>
                <a:uFillTx/>
                <a:latin typeface="宋体" panose="02000500000000000000" pitchFamily="2" charset="-122"/>
                <a:cs typeface="宋体" panose="02000500000000000000" pitchFamily="2" charset="-122"/>
                <a:sym typeface="+mn-ea"/>
              </a:rPr>
              <a:t>重命名表的状态（必须有序提交，释放原处于</a:t>
            </a:r>
            <a:r>
              <a:rPr kumimoji="1" lang="en-US" altLang="zh-CN" sz="1600" b="1" noProof="0" dirty="0">
                <a:ln>
                  <a:noFill/>
                </a:ln>
                <a:effectLst/>
                <a:uLnTx/>
                <a:uFillTx/>
                <a:latin typeface="宋体" panose="02000500000000000000" pitchFamily="2" charset="-122"/>
                <a:cs typeface="宋体" panose="02000500000000000000" pitchFamily="2" charset="-122"/>
                <a:sym typeface="+mn-ea"/>
              </a:rPr>
              <a:t>COMMIT</a:t>
            </a:r>
            <a:r>
              <a:rPr kumimoji="1" lang="zh-CN" altLang="en-US" sz="1600" b="1" noProof="0" dirty="0">
                <a:ln>
                  <a:noFill/>
                </a:ln>
                <a:effectLst/>
                <a:uLnTx/>
                <a:uFillTx/>
                <a:latin typeface="宋体" panose="02000500000000000000" pitchFamily="2" charset="-122"/>
                <a:cs typeface="宋体" panose="02000500000000000000" pitchFamily="2" charset="-122"/>
                <a:sym typeface="+mn-ea"/>
              </a:rPr>
              <a:t>状态的</a:t>
            </a:r>
            <a:r>
              <a:rPr kumimoji="1" lang="en-US" altLang="zh-CN" sz="1600" b="1" noProof="0" dirty="0">
                <a:ln>
                  <a:noFill/>
                </a:ln>
                <a:effectLst/>
                <a:uLnTx/>
                <a:uFillTx/>
                <a:latin typeface="宋体" panose="02000500000000000000" pitchFamily="2" charset="-122"/>
                <a:cs typeface="宋体" panose="02000500000000000000" pitchFamily="2" charset="-122"/>
                <a:sym typeface="+mn-ea"/>
              </a:rPr>
              <a:t>PR1</a:t>
            </a:r>
            <a:r>
              <a:rPr kumimoji="1" lang="zh-CN" altLang="en-US" sz="1600" b="1" noProof="0" dirty="0">
                <a:ln>
                  <a:noFill/>
                </a:ln>
                <a:effectLst/>
                <a:uLnTx/>
                <a:uFillTx/>
                <a:latin typeface="宋体" panose="02000500000000000000" pitchFamily="2" charset="-122"/>
                <a:cs typeface="宋体" panose="02000500000000000000" pitchFamily="2" charset="-122"/>
                <a:sym typeface="+mn-ea"/>
              </a:rPr>
              <a:t>）</a:t>
            </a:r>
            <a:endParaRPr kumimoji="1" lang="zh-CN" altLang="en-US" sz="1600" b="1" noProof="0" dirty="0">
              <a:ln>
                <a:noFill/>
              </a:ln>
              <a:effectLst/>
              <a:uLnTx/>
              <a:uFillTx/>
              <a:latin typeface="宋体" panose="02000500000000000000" pitchFamily="2" charset="-122"/>
              <a:cs typeface="宋体" panose="02000500000000000000" pitchFamily="2" charset="-122"/>
              <a:sym typeface="+mn-ea"/>
            </a:endParaRPr>
          </a:p>
          <a:p>
            <a:pPr marL="342900" marR="0" lvl="0" indent="-342900" algn="l" defTabSz="914400" rtl="0" fontAlgn="base">
              <a:lnSpc>
                <a:spcPct val="150000"/>
              </a:lnSpc>
              <a:spcBef>
                <a:spcPts val="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rPr>
              <a:t>假设第</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rPr>
              <a:t>2</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rPr>
              <a:t>条</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lang="en-US" altLang="zh-CN" sz="1600" b="1" dirty="0">
                <a:solidFill>
                  <a:srgbClr val="FF0000"/>
                </a:solidFill>
                <a:latin typeface="宋体" panose="02000500000000000000" pitchFamily="2" charset="-122"/>
                <a:sym typeface="+mn-ea"/>
              </a:rPr>
              <a:t>ADD R1, R1, 1</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rPr>
              <a:t>提交后，第</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rPr>
              <a:t>3</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rPr>
              <a:t>条</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lang="en-US" altLang="zh-CN" sz="1600" b="1" dirty="0">
                <a:solidFill>
                  <a:srgbClr val="FF0000"/>
                </a:solidFill>
                <a:latin typeface="宋体" panose="02000500000000000000" pitchFamily="2" charset="-122"/>
                <a:sym typeface="+mn-ea"/>
              </a:rPr>
              <a:t>ADD R1, R1, 1</a:t>
            </a:r>
            <a:r>
              <a:rPr kumimoji="1" lang="zh-CN" altLang="en-US" sz="1600" b="1" noProof="0" dirty="0">
                <a:ln>
                  <a:noFill/>
                </a:ln>
                <a:solidFill>
                  <a:srgbClr val="FF0000"/>
                </a:solidFill>
                <a:effectLst/>
                <a:uLnTx/>
                <a:uFillTx/>
                <a:latin typeface="宋体" panose="02000500000000000000" pitchFamily="2" charset="-122"/>
                <a:cs typeface="宋体" panose="02000500000000000000" pitchFamily="2" charset="-122"/>
                <a:sym typeface="+mn-ea"/>
              </a:rPr>
              <a:t>”</a:t>
            </a:r>
            <a:r>
              <a:rPr kumimoji="1" lang="zh-CN" altLang="en-US" sz="1600" b="1" noProof="0" dirty="0">
                <a:ln>
                  <a:noFill/>
                </a:ln>
                <a:solidFill>
                  <a:schemeClr val="tx1"/>
                </a:solidFill>
                <a:effectLst/>
                <a:uLnTx/>
                <a:uFillTx/>
                <a:latin typeface="宋体" panose="02000500000000000000" pitchFamily="2" charset="-122"/>
                <a:cs typeface="宋体" panose="02000500000000000000" pitchFamily="2" charset="-122"/>
                <a:sym typeface="+mn-ea"/>
              </a:rPr>
              <a:t>发生例外，提交后重命名表的状态</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sym typeface="+mn-ea"/>
            </a:endParaRPr>
          </a:p>
        </p:txBody>
      </p:sp>
      <p:graphicFrame>
        <p:nvGraphicFramePr>
          <p:cNvPr id="3" name="表格 2"/>
          <p:cNvGraphicFramePr/>
          <p:nvPr/>
        </p:nvGraphicFramePr>
        <p:xfrm>
          <a:off x="2949575" y="2656840"/>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map</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wtbk</a:t>
                      </a:r>
                      <a:endParaRPr lang="en-US" altLang="zh-CN" sz="1200" b="1">
                        <a:solidFill>
                          <a:srgbClr val="FF0000"/>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map</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4" name="表格 3"/>
          <p:cNvGraphicFramePr/>
          <p:nvPr/>
        </p:nvGraphicFramePr>
        <p:xfrm>
          <a:off x="5229225" y="266001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wtbk</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5" name="表格 4"/>
          <p:cNvGraphicFramePr/>
          <p:nvPr/>
        </p:nvGraphicFramePr>
        <p:xfrm>
          <a:off x="7508875" y="266001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cmt</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empty</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graphicFrame>
        <p:nvGraphicFramePr>
          <p:cNvPr id="6" name="表格 5"/>
          <p:cNvGraphicFramePr/>
          <p:nvPr/>
        </p:nvGraphicFramePr>
        <p:xfrm>
          <a:off x="9773920" y="266763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empty</a:t>
                      </a:r>
                      <a:endParaRPr lang="en-US" altLang="zh-CN" sz="1200" b="1">
                        <a:solidFill>
                          <a:srgbClr val="FF0000"/>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cmt</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1</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empty</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animEffect transition="in" filter="wipe(down)">
                                      <p:cBhvr>
                                        <p:cTn id="7" dur="500"/>
                                        <p:tgtEl>
                                          <p:spTgt spid="378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7892">
                                            <p:txEl>
                                              <p:pRg st="1" end="1"/>
                                            </p:txEl>
                                          </p:spTgt>
                                        </p:tgtEl>
                                        <p:attrNameLst>
                                          <p:attrName>style.visibility</p:attrName>
                                        </p:attrNameLst>
                                      </p:cBhvr>
                                      <p:to>
                                        <p:strVal val="visible"/>
                                      </p:to>
                                    </p:set>
                                    <p:animEffect transition="in" filter="wipe(down)">
                                      <p:cBhvr>
                                        <p:cTn id="17" dur="500"/>
                                        <p:tgtEl>
                                          <p:spTgt spid="3789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7892">
                                            <p:txEl>
                                              <p:pRg st="2" end="2"/>
                                            </p:txEl>
                                          </p:spTgt>
                                        </p:tgtEl>
                                        <p:attrNameLst>
                                          <p:attrName>style.visibility</p:attrName>
                                        </p:attrNameLst>
                                      </p:cBhvr>
                                      <p:to>
                                        <p:strVal val="visible"/>
                                      </p:to>
                                    </p:set>
                                    <p:animEffect transition="in" filter="wipe(down)">
                                      <p:cBhvr>
                                        <p:cTn id="27" dur="500"/>
                                        <p:tgtEl>
                                          <p:spTgt spid="3789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dow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7892">
                                            <p:txEl>
                                              <p:pRg st="3" end="3"/>
                                            </p:txEl>
                                          </p:spTgt>
                                        </p:tgtEl>
                                        <p:attrNameLst>
                                          <p:attrName>style.visibility</p:attrName>
                                        </p:attrNameLst>
                                      </p:cBhvr>
                                      <p:to>
                                        <p:strVal val="visible"/>
                                      </p:to>
                                    </p:set>
                                    <p:animEffect transition="in" filter="wipe(down)">
                                      <p:cBhvr>
                                        <p:cTn id="37" dur="500"/>
                                        <p:tgtEl>
                                          <p:spTgt spid="37892">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Rectangle 2"/>
          <p:cNvSpPr/>
          <p:nvPr/>
        </p:nvSpPr>
        <p:spPr>
          <a:xfrm>
            <a:off x="914718" y="298768"/>
            <a:ext cx="10361612" cy="773112"/>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硬件重命名的分类</a:t>
            </a:r>
            <a:endParaRPr lang="zh-CN" altLang="en-US" sz="3600" dirty="0">
              <a:solidFill>
                <a:srgbClr val="FF3300"/>
              </a:solidFill>
              <a:latin typeface="Times New Roman" pitchFamily="18" charset="0"/>
              <a:ea typeface="黑体" panose="02000500000000000000" pitchFamily="49" charset="-122"/>
            </a:endParaRPr>
          </a:p>
        </p:txBody>
      </p:sp>
      <p:sp>
        <p:nvSpPr>
          <p:cNvPr id="32772" name="Rectangle 3"/>
          <p:cNvSpPr/>
          <p:nvPr/>
        </p:nvSpPr>
        <p:spPr>
          <a:xfrm>
            <a:off x="914400" y="1222375"/>
            <a:ext cx="10361930" cy="4194175"/>
          </a:xfrm>
          <a:prstGeom prst="rect">
            <a:avLst/>
          </a:prstGeom>
          <a:noFill/>
          <a:ln w="9525">
            <a:noFill/>
          </a:ln>
        </p:spPr>
        <p:txBody>
          <a:bodyPr/>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重命名寄存器和结构寄存器分开</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800" b="1" dirty="0">
                <a:latin typeface="宋体" panose="02000500000000000000" pitchFamily="2" charset="-122"/>
                <a:ea typeface="宋体" panose="02000500000000000000" pitchFamily="2" charset="-122"/>
                <a:cs typeface="宋体" panose="02000500000000000000" pitchFamily="2" charset="-122"/>
              </a:rPr>
              <a:t>重命名到保留站、</a:t>
            </a:r>
            <a:r>
              <a:rPr lang="en-US" altLang="zh-CN" sz="1800" b="1" dirty="0">
                <a:latin typeface="宋体" panose="02000500000000000000" pitchFamily="2" charset="-122"/>
                <a:ea typeface="宋体" panose="02000500000000000000" pitchFamily="2" charset="-122"/>
                <a:cs typeface="宋体" panose="02000500000000000000" pitchFamily="2" charset="-122"/>
              </a:rPr>
              <a:t>ROB</a:t>
            </a:r>
            <a:r>
              <a:rPr lang="zh-CN" altLang="en-US" sz="1800" b="1" dirty="0">
                <a:latin typeface="宋体" panose="02000500000000000000" pitchFamily="2" charset="-122"/>
                <a:ea typeface="宋体" panose="02000500000000000000" pitchFamily="2" charset="-122"/>
                <a:cs typeface="宋体" panose="02000500000000000000" pitchFamily="2" charset="-122"/>
              </a:rPr>
              <a:t>、专门的重命名寄存器、发射队列</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重命名寄存器和结构寄存器不分开：</a:t>
            </a:r>
            <a:r>
              <a:rPr lang="zh-CN" altLang="en-US" sz="2000" b="1" dirty="0">
                <a:sym typeface="+mn-ea"/>
              </a:rPr>
              <a:t>建立逻辑寄存器到物理寄存器的映射</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800" b="1" dirty="0">
                <a:latin typeface="宋体" panose="02000500000000000000" pitchFamily="2" charset="-122"/>
                <a:ea typeface="宋体" panose="02000500000000000000" pitchFamily="2" charset="-122"/>
                <a:cs typeface="宋体" panose="02000500000000000000" pitchFamily="2" charset="-122"/>
              </a:rPr>
              <a:t>为每个逻辑寄存器动态分配物理寄存器，需要建立逻辑寄存器和物理寄存器之间的映射表</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800" b="1" dirty="0">
                <a:latin typeface="宋体" panose="02000500000000000000" pitchFamily="2" charset="-122"/>
                <a:ea typeface="宋体" panose="02000500000000000000" pitchFamily="2" charset="-122"/>
                <a:cs typeface="宋体" panose="02000500000000000000" pitchFamily="2" charset="-122"/>
              </a:rPr>
              <a:t>映射表可以是</a:t>
            </a:r>
            <a:r>
              <a:rPr lang="en-US" altLang="zh-CN" sz="1800" b="1" dirty="0">
                <a:latin typeface="宋体" panose="02000500000000000000" pitchFamily="2" charset="-122"/>
                <a:ea typeface="宋体" panose="02000500000000000000" pitchFamily="2" charset="-122"/>
                <a:cs typeface="宋体" panose="02000500000000000000" pitchFamily="2" charset="-122"/>
              </a:rPr>
              <a:t>RAM</a:t>
            </a:r>
            <a:r>
              <a:rPr lang="zh-CN" altLang="en-US" sz="1800" b="1" dirty="0">
                <a:latin typeface="宋体" panose="02000500000000000000" pitchFamily="2" charset="-122"/>
                <a:ea typeface="宋体" panose="02000500000000000000" pitchFamily="2" charset="-122"/>
                <a:cs typeface="宋体" panose="02000500000000000000" pitchFamily="2" charset="-122"/>
              </a:rPr>
              <a:t>的方式，即有逻辑寄存器那么多项，也可以是</a:t>
            </a:r>
            <a:r>
              <a:rPr lang="en-US" altLang="zh-CN" sz="1800" b="1" dirty="0">
                <a:latin typeface="宋体" panose="02000500000000000000" pitchFamily="2" charset="-122"/>
                <a:ea typeface="宋体" panose="02000500000000000000" pitchFamily="2" charset="-122"/>
                <a:cs typeface="宋体" panose="02000500000000000000" pitchFamily="2" charset="-122"/>
              </a:rPr>
              <a:t>CAM</a:t>
            </a:r>
            <a:r>
              <a:rPr lang="zh-CN" altLang="en-US" sz="1800" b="1" dirty="0">
                <a:latin typeface="宋体" panose="02000500000000000000" pitchFamily="2" charset="-122"/>
                <a:ea typeface="宋体" panose="02000500000000000000" pitchFamily="2" charset="-122"/>
                <a:cs typeface="宋体" panose="02000500000000000000" pitchFamily="2" charset="-122"/>
              </a:rPr>
              <a:t>的方式，即有物理寄存器那么多项</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800" b="1" dirty="0">
                <a:solidFill>
                  <a:srgbClr val="FF0000"/>
                </a:solidFill>
                <a:latin typeface="宋体" panose="02000500000000000000" pitchFamily="2" charset="-122"/>
                <a:cs typeface="宋体" panose="02000500000000000000" pitchFamily="2" charset="-122"/>
                <a:sym typeface="+mn-ea"/>
              </a:rPr>
              <a:t>使用物理寄存器堆减少了一次从提交时重命名寄存器到结构寄存器的值（高达</a:t>
            </a:r>
            <a:r>
              <a:rPr lang="en-US" altLang="zh-CN" sz="1800" b="1" dirty="0">
                <a:solidFill>
                  <a:srgbClr val="FF0000"/>
                </a:solidFill>
                <a:latin typeface="宋体" panose="02000500000000000000" pitchFamily="2" charset="-122"/>
                <a:cs typeface="宋体" panose="02000500000000000000" pitchFamily="2" charset="-122"/>
                <a:sym typeface="+mn-ea"/>
              </a:rPr>
              <a:t>256</a:t>
            </a:r>
            <a:r>
              <a:rPr lang="zh-CN" altLang="en-US" sz="1800" b="1" dirty="0">
                <a:solidFill>
                  <a:srgbClr val="FF0000"/>
                </a:solidFill>
                <a:latin typeface="宋体" panose="02000500000000000000" pitchFamily="2" charset="-122"/>
                <a:cs typeface="宋体" panose="02000500000000000000" pitchFamily="2" charset="-122"/>
                <a:sym typeface="+mn-ea"/>
              </a:rPr>
              <a:t>或</a:t>
            </a:r>
            <a:r>
              <a:rPr lang="en-US" altLang="zh-CN" sz="1800" b="1" dirty="0">
                <a:solidFill>
                  <a:srgbClr val="FF0000"/>
                </a:solidFill>
                <a:latin typeface="宋体" panose="02000500000000000000" pitchFamily="2" charset="-122"/>
                <a:cs typeface="宋体" panose="02000500000000000000" pitchFamily="2" charset="-122"/>
                <a:sym typeface="+mn-ea"/>
              </a:rPr>
              <a:t>512</a:t>
            </a:r>
            <a:r>
              <a:rPr lang="zh-CN" altLang="en-US" sz="1800" b="1" dirty="0">
                <a:solidFill>
                  <a:srgbClr val="FF0000"/>
                </a:solidFill>
                <a:latin typeface="宋体" panose="02000500000000000000" pitchFamily="2" charset="-122"/>
                <a:cs typeface="宋体" panose="02000500000000000000" pitchFamily="2" charset="-122"/>
                <a:sym typeface="+mn-ea"/>
              </a:rPr>
              <a:t>位）拷贝，大幅降低了功耗</a:t>
            </a:r>
            <a:endParaRPr lang="zh-CN" altLang="en-US" sz="18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73"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grpSp>
        <p:nvGrpSpPr>
          <p:cNvPr id="11274" name="Group 2"/>
          <p:cNvGrpSpPr/>
          <p:nvPr/>
        </p:nvGrpSpPr>
        <p:grpSpPr>
          <a:xfrm>
            <a:off x="3032125" y="1376363"/>
            <a:ext cx="5360988" cy="4408487"/>
            <a:chOff x="1433" y="1083"/>
            <a:chExt cx="2533" cy="2777"/>
          </a:xfrm>
        </p:grpSpPr>
        <p:sp>
          <p:nvSpPr>
            <p:cNvPr id="11277" name="Line 3"/>
            <p:cNvSpPr/>
            <p:nvPr/>
          </p:nvSpPr>
          <p:spPr>
            <a:xfrm flipH="1" flipV="1">
              <a:off x="3332" y="2632"/>
              <a:ext cx="7" cy="78"/>
            </a:xfrm>
            <a:prstGeom prst="line">
              <a:avLst/>
            </a:prstGeom>
            <a:ln w="19050" cap="flat" cmpd="sng">
              <a:solidFill>
                <a:schemeClr val="tx1"/>
              </a:solidFill>
              <a:prstDash val="solid"/>
              <a:headEnd type="none" w="med" len="med"/>
              <a:tailEnd type="none" w="med" len="med"/>
            </a:ln>
          </p:spPr>
        </p:sp>
        <p:graphicFrame>
          <p:nvGraphicFramePr>
            <p:cNvPr id="11266" name="Object 4"/>
            <p:cNvGraphicFramePr/>
            <p:nvPr/>
          </p:nvGraphicFramePr>
          <p:xfrm>
            <a:off x="2774" y="2681"/>
            <a:ext cx="1029" cy="475"/>
          </p:xfrm>
          <a:graphic>
            <a:graphicData uri="http://schemas.openxmlformats.org/presentationml/2006/ole">
              <mc:AlternateContent xmlns:mc="http://schemas.openxmlformats.org/markup-compatibility/2006">
                <mc:Choice xmlns:v="urn:schemas-microsoft-com:vml" Requires="v">
                  <p:oleObj spid="_x0000_s3134" name="" r:id="rId1" imgW="1638300" imgH="946150" progId="Word.Document.8">
                    <p:embed/>
                  </p:oleObj>
                </mc:Choice>
                <mc:Fallback>
                  <p:oleObj name="" r:id="rId1" imgW="1638300" imgH="946150" progId="Word.Document.8">
                    <p:embed/>
                    <p:pic>
                      <p:nvPicPr>
                        <p:cNvPr id="0" name="图片 3133"/>
                        <p:cNvPicPr/>
                        <p:nvPr/>
                      </p:nvPicPr>
                      <p:blipFill>
                        <a:blip r:embed="rId2"/>
                        <a:stretch>
                          <a:fillRect/>
                        </a:stretch>
                      </p:blipFill>
                      <p:spPr>
                        <a:xfrm>
                          <a:off x="2774" y="2681"/>
                          <a:ext cx="1029" cy="475"/>
                        </a:xfrm>
                        <a:prstGeom prst="rect">
                          <a:avLst/>
                        </a:prstGeom>
                        <a:solidFill>
                          <a:schemeClr val="bg1"/>
                        </a:solidFill>
                        <a:ln w="38100">
                          <a:noFill/>
                          <a:miter/>
                        </a:ln>
                      </p:spPr>
                    </p:pic>
                  </p:oleObj>
                </mc:Fallback>
              </mc:AlternateContent>
            </a:graphicData>
          </a:graphic>
        </p:graphicFrame>
        <p:graphicFrame>
          <p:nvGraphicFramePr>
            <p:cNvPr id="11267" name="Object 5"/>
            <p:cNvGraphicFramePr/>
            <p:nvPr/>
          </p:nvGraphicFramePr>
          <p:xfrm>
            <a:off x="1433" y="1725"/>
            <a:ext cx="616" cy="483"/>
          </p:xfrm>
          <a:graphic>
            <a:graphicData uri="http://schemas.openxmlformats.org/presentationml/2006/ole">
              <mc:AlternateContent xmlns:mc="http://schemas.openxmlformats.org/markup-compatibility/2006">
                <mc:Choice xmlns:v="urn:schemas-microsoft-com:vml" Requires="v">
                  <p:oleObj spid="_x0000_s3135" name="" r:id="rId3" imgW="984250" imgH="929640" progId="Word.Document.8">
                    <p:embed/>
                  </p:oleObj>
                </mc:Choice>
                <mc:Fallback>
                  <p:oleObj name="" r:id="rId3" imgW="984250" imgH="929640" progId="Word.Document.8">
                    <p:embed/>
                    <p:pic>
                      <p:nvPicPr>
                        <p:cNvPr id="0" name="图片 3134"/>
                        <p:cNvPicPr/>
                        <p:nvPr/>
                      </p:nvPicPr>
                      <p:blipFill>
                        <a:blip r:embed="rId4"/>
                        <a:stretch>
                          <a:fillRect/>
                        </a:stretch>
                      </p:blipFill>
                      <p:spPr>
                        <a:xfrm>
                          <a:off x="1433" y="1725"/>
                          <a:ext cx="616" cy="483"/>
                        </a:xfrm>
                        <a:prstGeom prst="rect">
                          <a:avLst/>
                        </a:prstGeom>
                        <a:noFill/>
                        <a:ln w="38100">
                          <a:noFill/>
                          <a:miter/>
                        </a:ln>
                      </p:spPr>
                    </p:pic>
                  </p:oleObj>
                </mc:Fallback>
              </mc:AlternateContent>
            </a:graphicData>
          </a:graphic>
        </p:graphicFrame>
        <p:sp>
          <p:nvSpPr>
            <p:cNvPr id="11278" name="Line 6"/>
            <p:cNvSpPr/>
            <p:nvPr/>
          </p:nvSpPr>
          <p:spPr>
            <a:xfrm flipV="1">
              <a:off x="2675" y="3610"/>
              <a:ext cx="0" cy="250"/>
            </a:xfrm>
            <a:prstGeom prst="line">
              <a:avLst/>
            </a:prstGeom>
            <a:ln w="19050" cap="flat" cmpd="sng">
              <a:solidFill>
                <a:schemeClr val="tx1"/>
              </a:solidFill>
              <a:prstDash val="solid"/>
              <a:headEnd type="none" w="med" len="med"/>
              <a:tailEnd type="triangle" w="med" len="med"/>
            </a:ln>
          </p:spPr>
        </p:sp>
        <p:graphicFrame>
          <p:nvGraphicFramePr>
            <p:cNvPr id="11268" name="Object 6"/>
            <p:cNvGraphicFramePr/>
            <p:nvPr/>
          </p:nvGraphicFramePr>
          <p:xfrm>
            <a:off x="1548" y="3241"/>
            <a:ext cx="2197" cy="467"/>
          </p:xfrm>
          <a:graphic>
            <a:graphicData uri="http://schemas.openxmlformats.org/presentationml/2006/ole">
              <mc:AlternateContent xmlns:mc="http://schemas.openxmlformats.org/markup-compatibility/2006">
                <mc:Choice xmlns:v="urn:schemas-microsoft-com:vml" Requires="v">
                  <p:oleObj spid="_x0000_s3136" name="" r:id="rId5" imgW="3485515" imgH="946150" progId="Word.Document.8">
                    <p:embed/>
                  </p:oleObj>
                </mc:Choice>
                <mc:Fallback>
                  <p:oleObj name="" r:id="rId5" imgW="3485515" imgH="946150" progId="Word.Document.8">
                    <p:embed/>
                    <p:pic>
                      <p:nvPicPr>
                        <p:cNvPr id="0" name="图片 3135"/>
                        <p:cNvPicPr/>
                        <p:nvPr/>
                      </p:nvPicPr>
                      <p:blipFill>
                        <a:blip r:embed="rId6"/>
                        <a:stretch>
                          <a:fillRect/>
                        </a:stretch>
                      </p:blipFill>
                      <p:spPr>
                        <a:xfrm>
                          <a:off x="1548" y="3241"/>
                          <a:ext cx="2197" cy="467"/>
                        </a:xfrm>
                        <a:prstGeom prst="rect">
                          <a:avLst/>
                        </a:prstGeom>
                        <a:noFill/>
                        <a:ln w="38100">
                          <a:noFill/>
                          <a:miter/>
                        </a:ln>
                      </p:spPr>
                    </p:pic>
                  </p:oleObj>
                </mc:Fallback>
              </mc:AlternateContent>
            </a:graphicData>
          </a:graphic>
        </p:graphicFrame>
        <p:sp>
          <p:nvSpPr>
            <p:cNvPr id="11279" name="Text Box 8"/>
            <p:cNvSpPr txBox="1"/>
            <p:nvPr/>
          </p:nvSpPr>
          <p:spPr>
            <a:xfrm>
              <a:off x="1534" y="1252"/>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1280" name="Text Box 9"/>
            <p:cNvSpPr txBox="1"/>
            <p:nvPr/>
          </p:nvSpPr>
          <p:spPr>
            <a:xfrm>
              <a:off x="2160" y="1254"/>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1281" name="Text Box 10"/>
            <p:cNvSpPr txBox="1"/>
            <p:nvPr/>
          </p:nvSpPr>
          <p:spPr>
            <a:xfrm>
              <a:off x="2781" y="1258"/>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1282" name="Text Box 11"/>
            <p:cNvSpPr txBox="1"/>
            <p:nvPr/>
          </p:nvSpPr>
          <p:spPr>
            <a:xfrm>
              <a:off x="3399" y="1253"/>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1283" name="Line 12"/>
            <p:cNvSpPr/>
            <p:nvPr/>
          </p:nvSpPr>
          <p:spPr>
            <a:xfrm flipH="1" flipV="1">
              <a:off x="1633" y="2099"/>
              <a:ext cx="1" cy="188"/>
            </a:xfrm>
            <a:prstGeom prst="line">
              <a:avLst/>
            </a:prstGeom>
            <a:ln w="9525" cap="flat" cmpd="sng">
              <a:solidFill>
                <a:schemeClr val="tx1"/>
              </a:solidFill>
              <a:prstDash val="solid"/>
              <a:headEnd type="none" w="med" len="med"/>
              <a:tailEnd type="triangle" w="med" len="med"/>
            </a:ln>
          </p:spPr>
        </p:sp>
        <p:sp>
          <p:nvSpPr>
            <p:cNvPr id="11284" name="Line 13"/>
            <p:cNvSpPr/>
            <p:nvPr/>
          </p:nvSpPr>
          <p:spPr>
            <a:xfrm flipV="1">
              <a:off x="3626" y="1518"/>
              <a:ext cx="0" cy="204"/>
            </a:xfrm>
            <a:prstGeom prst="line">
              <a:avLst/>
            </a:prstGeom>
            <a:ln w="9525" cap="flat" cmpd="sng">
              <a:solidFill>
                <a:schemeClr val="tx1"/>
              </a:solidFill>
              <a:prstDash val="solid"/>
              <a:headEnd type="none" w="med" len="med"/>
              <a:tailEnd type="triangle" w="med" len="med"/>
            </a:ln>
          </p:spPr>
        </p:sp>
        <p:sp>
          <p:nvSpPr>
            <p:cNvPr id="11285" name="Line 14"/>
            <p:cNvSpPr/>
            <p:nvPr/>
          </p:nvSpPr>
          <p:spPr>
            <a:xfrm flipV="1">
              <a:off x="3018" y="1523"/>
              <a:ext cx="0" cy="204"/>
            </a:xfrm>
            <a:prstGeom prst="line">
              <a:avLst/>
            </a:prstGeom>
            <a:ln w="9525" cap="flat" cmpd="sng">
              <a:solidFill>
                <a:schemeClr val="tx1"/>
              </a:solidFill>
              <a:prstDash val="solid"/>
              <a:headEnd type="none" w="med" len="med"/>
              <a:tailEnd type="triangle" w="med" len="med"/>
            </a:ln>
          </p:spPr>
        </p:sp>
        <p:sp>
          <p:nvSpPr>
            <p:cNvPr id="11286" name="Line 15"/>
            <p:cNvSpPr/>
            <p:nvPr/>
          </p:nvSpPr>
          <p:spPr>
            <a:xfrm flipV="1">
              <a:off x="2394" y="1519"/>
              <a:ext cx="0" cy="204"/>
            </a:xfrm>
            <a:prstGeom prst="line">
              <a:avLst/>
            </a:prstGeom>
            <a:ln w="9525" cap="flat" cmpd="sng">
              <a:solidFill>
                <a:schemeClr val="tx1"/>
              </a:solidFill>
              <a:prstDash val="solid"/>
              <a:headEnd type="none" w="med" len="med"/>
              <a:tailEnd type="triangle" w="med" len="med"/>
            </a:ln>
          </p:spPr>
        </p:sp>
        <p:sp>
          <p:nvSpPr>
            <p:cNvPr id="11287" name="Line 16"/>
            <p:cNvSpPr/>
            <p:nvPr/>
          </p:nvSpPr>
          <p:spPr>
            <a:xfrm flipV="1">
              <a:off x="1771" y="1520"/>
              <a:ext cx="0" cy="204"/>
            </a:xfrm>
            <a:prstGeom prst="line">
              <a:avLst/>
            </a:prstGeom>
            <a:ln w="9525" cap="flat" cmpd="sng">
              <a:solidFill>
                <a:schemeClr val="tx1"/>
              </a:solidFill>
              <a:prstDash val="solid"/>
              <a:headEnd type="none" w="med" len="med"/>
              <a:tailEnd type="triangle" w="med" len="med"/>
            </a:ln>
          </p:spPr>
        </p:sp>
        <p:sp>
          <p:nvSpPr>
            <p:cNvPr id="11288" name="Text Box 17"/>
            <p:cNvSpPr txBox="1"/>
            <p:nvPr/>
          </p:nvSpPr>
          <p:spPr>
            <a:xfrm>
              <a:off x="2442" y="3305"/>
              <a:ext cx="421" cy="233"/>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指令队列及译码</a:t>
              </a:r>
              <a:endParaRPr lang="zh-CN" altLang="en-US" sz="1200" b="1" dirty="0">
                <a:latin typeface="宋体" panose="02000500000000000000" pitchFamily="2" charset="-122"/>
              </a:endParaRPr>
            </a:p>
          </p:txBody>
        </p:sp>
        <p:graphicFrame>
          <p:nvGraphicFramePr>
            <p:cNvPr id="11269" name="Object 7"/>
            <p:cNvGraphicFramePr/>
            <p:nvPr/>
          </p:nvGraphicFramePr>
          <p:xfrm>
            <a:off x="3287" y="1725"/>
            <a:ext cx="616" cy="483"/>
          </p:xfrm>
          <a:graphic>
            <a:graphicData uri="http://schemas.openxmlformats.org/presentationml/2006/ole">
              <mc:AlternateContent xmlns:mc="http://schemas.openxmlformats.org/markup-compatibility/2006">
                <mc:Choice xmlns:v="urn:schemas-microsoft-com:vml" Requires="v">
                  <p:oleObj spid="_x0000_s3137" name="" r:id="rId7" imgW="984250" imgH="929640" progId="Word.Document.8">
                    <p:embed/>
                  </p:oleObj>
                </mc:Choice>
                <mc:Fallback>
                  <p:oleObj name="" r:id="rId7" imgW="984250" imgH="929640" progId="Word.Document.8">
                    <p:embed/>
                    <p:pic>
                      <p:nvPicPr>
                        <p:cNvPr id="0" name="图片 3136"/>
                        <p:cNvPicPr/>
                        <p:nvPr/>
                      </p:nvPicPr>
                      <p:blipFill>
                        <a:blip r:embed="rId8"/>
                        <a:stretch>
                          <a:fillRect/>
                        </a:stretch>
                      </p:blipFill>
                      <p:spPr>
                        <a:xfrm>
                          <a:off x="3287" y="1725"/>
                          <a:ext cx="616" cy="483"/>
                        </a:xfrm>
                        <a:prstGeom prst="rect">
                          <a:avLst/>
                        </a:prstGeom>
                        <a:noFill/>
                        <a:ln w="38100">
                          <a:noFill/>
                          <a:miter/>
                        </a:ln>
                      </p:spPr>
                    </p:pic>
                  </p:oleObj>
                </mc:Fallback>
              </mc:AlternateContent>
            </a:graphicData>
          </a:graphic>
        </p:graphicFrame>
        <p:sp>
          <p:nvSpPr>
            <p:cNvPr id="11289" name="Text Box 19"/>
            <p:cNvSpPr txBox="1"/>
            <p:nvPr/>
          </p:nvSpPr>
          <p:spPr>
            <a:xfrm>
              <a:off x="3464" y="1796"/>
              <a:ext cx="351" cy="233"/>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保留站及发射</a:t>
              </a:r>
              <a:endParaRPr lang="zh-CN" altLang="en-US" sz="1200" b="1" dirty="0">
                <a:latin typeface="宋体" panose="02000500000000000000" pitchFamily="2" charset="-122"/>
              </a:endParaRPr>
            </a:p>
          </p:txBody>
        </p:sp>
        <p:graphicFrame>
          <p:nvGraphicFramePr>
            <p:cNvPr id="11270" name="Object 8"/>
            <p:cNvGraphicFramePr/>
            <p:nvPr/>
          </p:nvGraphicFramePr>
          <p:xfrm>
            <a:off x="2690" y="1727"/>
            <a:ext cx="616" cy="483"/>
          </p:xfrm>
          <a:graphic>
            <a:graphicData uri="http://schemas.openxmlformats.org/presentationml/2006/ole">
              <mc:AlternateContent xmlns:mc="http://schemas.openxmlformats.org/markup-compatibility/2006">
                <mc:Choice xmlns:v="urn:schemas-microsoft-com:vml" Requires="v">
                  <p:oleObj spid="_x0000_s3138" name="" r:id="rId9" imgW="984250" imgH="929640" progId="Word.Document.8">
                    <p:embed/>
                  </p:oleObj>
                </mc:Choice>
                <mc:Fallback>
                  <p:oleObj name="" r:id="rId9" imgW="984250" imgH="929640" progId="Word.Document.8">
                    <p:embed/>
                    <p:pic>
                      <p:nvPicPr>
                        <p:cNvPr id="0" name="图片 3137"/>
                        <p:cNvPicPr/>
                        <p:nvPr/>
                      </p:nvPicPr>
                      <p:blipFill>
                        <a:blip r:embed="rId4"/>
                        <a:stretch>
                          <a:fillRect/>
                        </a:stretch>
                      </p:blipFill>
                      <p:spPr>
                        <a:xfrm>
                          <a:off x="2690" y="1727"/>
                          <a:ext cx="616" cy="483"/>
                        </a:xfrm>
                        <a:prstGeom prst="rect">
                          <a:avLst/>
                        </a:prstGeom>
                        <a:noFill/>
                        <a:ln w="38100">
                          <a:noFill/>
                          <a:miter/>
                        </a:ln>
                      </p:spPr>
                    </p:pic>
                  </p:oleObj>
                </mc:Fallback>
              </mc:AlternateContent>
            </a:graphicData>
          </a:graphic>
        </p:graphicFrame>
        <p:sp>
          <p:nvSpPr>
            <p:cNvPr id="11290" name="Text Box 21"/>
            <p:cNvSpPr txBox="1"/>
            <p:nvPr/>
          </p:nvSpPr>
          <p:spPr>
            <a:xfrm>
              <a:off x="2867" y="1806"/>
              <a:ext cx="343" cy="233"/>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保留站及发射</a:t>
              </a:r>
              <a:endParaRPr lang="zh-CN" altLang="en-US" sz="1200" b="1" dirty="0">
                <a:latin typeface="宋体" panose="02000500000000000000" pitchFamily="2" charset="-122"/>
              </a:endParaRPr>
            </a:p>
          </p:txBody>
        </p:sp>
        <p:graphicFrame>
          <p:nvGraphicFramePr>
            <p:cNvPr id="11271" name="Object 9"/>
            <p:cNvGraphicFramePr/>
            <p:nvPr/>
          </p:nvGraphicFramePr>
          <p:xfrm>
            <a:off x="2060" y="1722"/>
            <a:ext cx="616" cy="483"/>
          </p:xfrm>
          <a:graphic>
            <a:graphicData uri="http://schemas.openxmlformats.org/presentationml/2006/ole">
              <mc:AlternateContent xmlns:mc="http://schemas.openxmlformats.org/markup-compatibility/2006">
                <mc:Choice xmlns:v="urn:schemas-microsoft-com:vml" Requires="v">
                  <p:oleObj spid="_x0000_s3139" name="" r:id="rId10" imgW="984250" imgH="929640" progId="Word.Document.8">
                    <p:embed/>
                  </p:oleObj>
                </mc:Choice>
                <mc:Fallback>
                  <p:oleObj name="" r:id="rId10" imgW="984250" imgH="929640" progId="Word.Document.8">
                    <p:embed/>
                    <p:pic>
                      <p:nvPicPr>
                        <p:cNvPr id="0" name="图片 3138"/>
                        <p:cNvPicPr/>
                        <p:nvPr/>
                      </p:nvPicPr>
                      <p:blipFill>
                        <a:blip r:embed="rId4"/>
                        <a:stretch>
                          <a:fillRect/>
                        </a:stretch>
                      </p:blipFill>
                      <p:spPr>
                        <a:xfrm>
                          <a:off x="2060" y="1722"/>
                          <a:ext cx="616" cy="483"/>
                        </a:xfrm>
                        <a:prstGeom prst="rect">
                          <a:avLst/>
                        </a:prstGeom>
                        <a:noFill/>
                        <a:ln w="38100">
                          <a:noFill/>
                          <a:miter/>
                        </a:ln>
                      </p:spPr>
                    </p:pic>
                  </p:oleObj>
                </mc:Fallback>
              </mc:AlternateContent>
            </a:graphicData>
          </a:graphic>
        </p:graphicFrame>
        <p:sp>
          <p:nvSpPr>
            <p:cNvPr id="11291" name="Text Box 23"/>
            <p:cNvSpPr txBox="1"/>
            <p:nvPr/>
          </p:nvSpPr>
          <p:spPr>
            <a:xfrm>
              <a:off x="2237" y="1801"/>
              <a:ext cx="327" cy="233"/>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保留站及发射</a:t>
              </a:r>
              <a:endParaRPr lang="zh-CN" altLang="en-US" sz="1200" b="1" dirty="0">
                <a:latin typeface="宋体" panose="02000500000000000000" pitchFamily="2" charset="-122"/>
              </a:endParaRPr>
            </a:p>
          </p:txBody>
        </p:sp>
        <p:sp>
          <p:nvSpPr>
            <p:cNvPr id="11292" name="Text Box 24"/>
            <p:cNvSpPr txBox="1"/>
            <p:nvPr/>
          </p:nvSpPr>
          <p:spPr>
            <a:xfrm>
              <a:off x="1594" y="1804"/>
              <a:ext cx="351" cy="233"/>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保留站及发射</a:t>
              </a:r>
              <a:endParaRPr lang="zh-CN" altLang="en-US" sz="1200" b="1" dirty="0">
                <a:latin typeface="宋体" panose="02000500000000000000" pitchFamily="2" charset="-122"/>
              </a:endParaRPr>
            </a:p>
          </p:txBody>
        </p:sp>
        <p:graphicFrame>
          <p:nvGraphicFramePr>
            <p:cNvPr id="11272" name="Object 10"/>
            <p:cNvGraphicFramePr/>
            <p:nvPr/>
          </p:nvGraphicFramePr>
          <p:xfrm>
            <a:off x="1535" y="2681"/>
            <a:ext cx="1013" cy="460"/>
          </p:xfrm>
          <a:graphic>
            <a:graphicData uri="http://schemas.openxmlformats.org/presentationml/2006/ole">
              <mc:AlternateContent xmlns:mc="http://schemas.openxmlformats.org/markup-compatibility/2006">
                <mc:Choice xmlns:v="urn:schemas-microsoft-com:vml" Requires="v">
                  <p:oleObj spid="_x0000_s3140" name="" r:id="rId11" imgW="1618615" imgH="946150" progId="Word.Document.8">
                    <p:embed/>
                  </p:oleObj>
                </mc:Choice>
                <mc:Fallback>
                  <p:oleObj name="" r:id="rId11" imgW="1618615" imgH="946150" progId="Word.Document.8">
                    <p:embed/>
                    <p:pic>
                      <p:nvPicPr>
                        <p:cNvPr id="0" name="图片 3139"/>
                        <p:cNvPicPr/>
                        <p:nvPr/>
                      </p:nvPicPr>
                      <p:blipFill>
                        <a:blip r:embed="rId12"/>
                        <a:stretch>
                          <a:fillRect/>
                        </a:stretch>
                      </p:blipFill>
                      <p:spPr>
                        <a:xfrm>
                          <a:off x="1535" y="2681"/>
                          <a:ext cx="1013" cy="460"/>
                        </a:xfrm>
                        <a:prstGeom prst="rect">
                          <a:avLst/>
                        </a:prstGeom>
                        <a:noFill/>
                        <a:ln w="38100">
                          <a:noFill/>
                          <a:miter/>
                        </a:ln>
                      </p:spPr>
                    </p:pic>
                  </p:oleObj>
                </mc:Fallback>
              </mc:AlternateContent>
            </a:graphicData>
          </a:graphic>
        </p:graphicFrame>
        <p:sp>
          <p:nvSpPr>
            <p:cNvPr id="11293" name="Text Box 26"/>
            <p:cNvSpPr txBox="1"/>
            <p:nvPr/>
          </p:nvSpPr>
          <p:spPr>
            <a:xfrm>
              <a:off x="1658" y="2803"/>
              <a:ext cx="553" cy="116"/>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结构寄存器</a:t>
              </a:r>
              <a:endParaRPr lang="zh-CN" altLang="en-US" sz="1200" b="1" dirty="0">
                <a:latin typeface="宋体" panose="02000500000000000000" pitchFamily="2" charset="-122"/>
              </a:endParaRPr>
            </a:p>
          </p:txBody>
        </p:sp>
        <p:sp>
          <p:nvSpPr>
            <p:cNvPr id="11294" name="Line 27"/>
            <p:cNvSpPr/>
            <p:nvPr/>
          </p:nvSpPr>
          <p:spPr>
            <a:xfrm flipV="1">
              <a:off x="3013" y="3045"/>
              <a:ext cx="0" cy="110"/>
            </a:xfrm>
            <a:prstGeom prst="line">
              <a:avLst/>
            </a:prstGeom>
            <a:ln w="19050" cap="flat" cmpd="sng">
              <a:solidFill>
                <a:schemeClr val="tx1"/>
              </a:solidFill>
              <a:prstDash val="solid"/>
              <a:headEnd type="none" w="med" len="med"/>
              <a:tailEnd type="triangle" w="med" len="med"/>
            </a:ln>
          </p:spPr>
        </p:sp>
        <p:sp>
          <p:nvSpPr>
            <p:cNvPr id="11295" name="Line 28"/>
            <p:cNvSpPr/>
            <p:nvPr/>
          </p:nvSpPr>
          <p:spPr>
            <a:xfrm flipV="1">
              <a:off x="2389" y="3041"/>
              <a:ext cx="0" cy="204"/>
            </a:xfrm>
            <a:prstGeom prst="line">
              <a:avLst/>
            </a:prstGeom>
            <a:ln w="19050" cap="flat" cmpd="sng">
              <a:solidFill>
                <a:schemeClr val="tx1"/>
              </a:solidFill>
              <a:prstDash val="solid"/>
              <a:headEnd type="none" w="med" len="med"/>
              <a:tailEnd type="triangle" w="med" len="med"/>
            </a:ln>
          </p:spPr>
        </p:sp>
        <p:sp>
          <p:nvSpPr>
            <p:cNvPr id="11296" name="Text Box 29"/>
            <p:cNvSpPr txBox="1"/>
            <p:nvPr/>
          </p:nvSpPr>
          <p:spPr>
            <a:xfrm>
              <a:off x="2935" y="2798"/>
              <a:ext cx="584" cy="116"/>
            </a:xfrm>
            <a:prstGeom prst="rect">
              <a:avLst/>
            </a:prstGeom>
            <a:solidFill>
              <a:schemeClr val="bg1"/>
            </a:solidFill>
            <a:ln w="9525">
              <a:noFill/>
            </a:ln>
          </p:spPr>
          <p:txBody>
            <a:bodyPr lIns="0" tIns="0" rIns="0" bIns="0">
              <a:spAutoFit/>
            </a:bodyPr>
            <a:p>
              <a:pPr>
                <a:spcBef>
                  <a:spcPct val="50000"/>
                </a:spcBef>
              </a:pPr>
              <a:r>
                <a:rPr lang="zh-CN" altLang="en-US" sz="1200" b="1" dirty="0">
                  <a:solidFill>
                    <a:srgbClr val="FF0000"/>
                  </a:solidFill>
                  <a:latin typeface="宋体" panose="02000500000000000000" pitchFamily="2" charset="-122"/>
                </a:rPr>
                <a:t>重命名寄存器</a:t>
              </a:r>
              <a:endParaRPr lang="zh-CN" altLang="en-US" sz="1200" b="1" dirty="0">
                <a:solidFill>
                  <a:srgbClr val="FF0000"/>
                </a:solidFill>
                <a:latin typeface="宋体" panose="02000500000000000000" pitchFamily="2" charset="-122"/>
              </a:endParaRPr>
            </a:p>
          </p:txBody>
        </p:sp>
        <p:sp>
          <p:nvSpPr>
            <p:cNvPr id="11297" name="Line 30"/>
            <p:cNvSpPr/>
            <p:nvPr/>
          </p:nvSpPr>
          <p:spPr>
            <a:xfrm flipH="1">
              <a:off x="2501" y="2876"/>
              <a:ext cx="374" cy="0"/>
            </a:xfrm>
            <a:prstGeom prst="line">
              <a:avLst/>
            </a:prstGeom>
            <a:ln w="19050" cap="flat" cmpd="sng">
              <a:solidFill>
                <a:schemeClr val="tx1"/>
              </a:solidFill>
              <a:prstDash val="solid"/>
              <a:headEnd type="none" w="med" len="med"/>
              <a:tailEnd type="triangle" w="med" len="med"/>
            </a:ln>
          </p:spPr>
        </p:sp>
        <p:sp>
          <p:nvSpPr>
            <p:cNvPr id="11298" name="Line 31"/>
            <p:cNvSpPr/>
            <p:nvPr/>
          </p:nvSpPr>
          <p:spPr>
            <a:xfrm>
              <a:off x="2392" y="3156"/>
              <a:ext cx="623" cy="0"/>
            </a:xfrm>
            <a:prstGeom prst="line">
              <a:avLst/>
            </a:prstGeom>
            <a:ln w="19050" cap="flat" cmpd="sng">
              <a:solidFill>
                <a:schemeClr val="tx1"/>
              </a:solidFill>
              <a:prstDash val="solid"/>
              <a:headEnd type="none" w="med" len="med"/>
              <a:tailEnd type="none" w="med" len="med"/>
            </a:ln>
          </p:spPr>
        </p:sp>
        <p:sp>
          <p:nvSpPr>
            <p:cNvPr id="11299" name="Line 32"/>
            <p:cNvSpPr/>
            <p:nvPr/>
          </p:nvSpPr>
          <p:spPr>
            <a:xfrm>
              <a:off x="1776" y="1091"/>
              <a:ext cx="2190" cy="0"/>
            </a:xfrm>
            <a:prstGeom prst="line">
              <a:avLst/>
            </a:prstGeom>
            <a:ln w="19050" cap="flat" cmpd="sng">
              <a:solidFill>
                <a:schemeClr val="tx1"/>
              </a:solidFill>
              <a:prstDash val="solid"/>
              <a:headEnd type="none" w="med" len="med"/>
              <a:tailEnd type="none" w="med" len="med"/>
            </a:ln>
          </p:spPr>
        </p:sp>
        <p:sp>
          <p:nvSpPr>
            <p:cNvPr id="11300" name="Line 33"/>
            <p:cNvSpPr/>
            <p:nvPr/>
          </p:nvSpPr>
          <p:spPr>
            <a:xfrm>
              <a:off x="3966" y="1083"/>
              <a:ext cx="0" cy="1777"/>
            </a:xfrm>
            <a:prstGeom prst="line">
              <a:avLst/>
            </a:prstGeom>
            <a:ln w="19050" cap="flat" cmpd="sng">
              <a:solidFill>
                <a:schemeClr val="tx1"/>
              </a:solidFill>
              <a:prstDash val="solid"/>
              <a:headEnd type="none" w="med" len="med"/>
              <a:tailEnd type="none" w="med" len="med"/>
            </a:ln>
          </p:spPr>
        </p:sp>
        <p:sp>
          <p:nvSpPr>
            <p:cNvPr id="11301" name="Line 34"/>
            <p:cNvSpPr/>
            <p:nvPr/>
          </p:nvSpPr>
          <p:spPr>
            <a:xfrm>
              <a:off x="1635" y="2287"/>
              <a:ext cx="1871" cy="0"/>
            </a:xfrm>
            <a:prstGeom prst="line">
              <a:avLst/>
            </a:prstGeom>
            <a:ln w="19050" cap="flat" cmpd="sng">
              <a:solidFill>
                <a:schemeClr val="tx1"/>
              </a:solidFill>
              <a:prstDash val="solid"/>
              <a:headEnd type="none" w="med" len="med"/>
              <a:tailEnd type="none" w="med" len="med"/>
            </a:ln>
          </p:spPr>
        </p:sp>
        <p:sp>
          <p:nvSpPr>
            <p:cNvPr id="11302" name="Line 35"/>
            <p:cNvSpPr/>
            <p:nvPr/>
          </p:nvSpPr>
          <p:spPr>
            <a:xfrm flipH="1" flipV="1">
              <a:off x="2266" y="2086"/>
              <a:ext cx="1" cy="188"/>
            </a:xfrm>
            <a:prstGeom prst="line">
              <a:avLst/>
            </a:prstGeom>
            <a:ln w="9525" cap="flat" cmpd="sng">
              <a:solidFill>
                <a:schemeClr val="tx1"/>
              </a:solidFill>
              <a:prstDash val="solid"/>
              <a:headEnd type="none" w="med" len="med"/>
              <a:tailEnd type="triangle" w="med" len="med"/>
            </a:ln>
          </p:spPr>
        </p:sp>
        <p:sp>
          <p:nvSpPr>
            <p:cNvPr id="11303" name="Line 36"/>
            <p:cNvSpPr/>
            <p:nvPr/>
          </p:nvSpPr>
          <p:spPr>
            <a:xfrm flipH="1" flipV="1">
              <a:off x="2899" y="2104"/>
              <a:ext cx="0" cy="171"/>
            </a:xfrm>
            <a:prstGeom prst="line">
              <a:avLst/>
            </a:prstGeom>
            <a:ln w="9525" cap="flat" cmpd="sng">
              <a:solidFill>
                <a:schemeClr val="tx1"/>
              </a:solidFill>
              <a:prstDash val="solid"/>
              <a:headEnd type="none" w="med" len="med"/>
              <a:tailEnd type="triangle" w="med" len="med"/>
            </a:ln>
          </p:spPr>
        </p:sp>
        <p:sp>
          <p:nvSpPr>
            <p:cNvPr id="11304" name="Line 37"/>
            <p:cNvSpPr/>
            <p:nvPr/>
          </p:nvSpPr>
          <p:spPr>
            <a:xfrm flipH="1" flipV="1">
              <a:off x="3504" y="2099"/>
              <a:ext cx="1" cy="188"/>
            </a:xfrm>
            <a:prstGeom prst="line">
              <a:avLst/>
            </a:prstGeom>
            <a:ln w="9525" cap="flat" cmpd="sng">
              <a:solidFill>
                <a:schemeClr val="tx1"/>
              </a:solidFill>
              <a:prstDash val="solid"/>
              <a:headEnd type="none" w="med" len="med"/>
              <a:tailEnd type="triangle" w="med" len="med"/>
            </a:ln>
          </p:spPr>
        </p:sp>
        <p:sp>
          <p:nvSpPr>
            <p:cNvPr id="11305" name="Line 38"/>
            <p:cNvSpPr/>
            <p:nvPr/>
          </p:nvSpPr>
          <p:spPr>
            <a:xfrm flipV="1">
              <a:off x="1892" y="2190"/>
              <a:ext cx="2072" cy="7"/>
            </a:xfrm>
            <a:prstGeom prst="line">
              <a:avLst/>
            </a:prstGeom>
            <a:ln w="19050" cap="flat" cmpd="sng">
              <a:solidFill>
                <a:schemeClr val="tx1"/>
              </a:solidFill>
              <a:prstDash val="solid"/>
              <a:headEnd type="none" w="med" len="med"/>
              <a:tailEnd type="none" w="med" len="med"/>
            </a:ln>
          </p:spPr>
        </p:sp>
        <p:sp>
          <p:nvSpPr>
            <p:cNvPr id="11306" name="Line 39"/>
            <p:cNvSpPr/>
            <p:nvPr/>
          </p:nvSpPr>
          <p:spPr>
            <a:xfrm flipV="1">
              <a:off x="1890" y="2099"/>
              <a:ext cx="0" cy="95"/>
            </a:xfrm>
            <a:prstGeom prst="line">
              <a:avLst/>
            </a:prstGeom>
            <a:ln w="9525" cap="flat" cmpd="sng">
              <a:solidFill>
                <a:schemeClr val="tx1"/>
              </a:solidFill>
              <a:prstDash val="solid"/>
              <a:headEnd type="none" w="med" len="med"/>
              <a:tailEnd type="triangle" w="med" len="med"/>
            </a:ln>
          </p:spPr>
        </p:sp>
        <p:sp>
          <p:nvSpPr>
            <p:cNvPr id="11307" name="Line 40"/>
            <p:cNvSpPr/>
            <p:nvPr/>
          </p:nvSpPr>
          <p:spPr>
            <a:xfrm flipV="1">
              <a:off x="1776" y="1091"/>
              <a:ext cx="0" cy="164"/>
            </a:xfrm>
            <a:prstGeom prst="line">
              <a:avLst/>
            </a:prstGeom>
            <a:ln w="9525" cap="flat" cmpd="sng">
              <a:solidFill>
                <a:schemeClr val="tx1"/>
              </a:solidFill>
              <a:prstDash val="solid"/>
              <a:headEnd type="none" w="med" len="med"/>
              <a:tailEnd type="none" w="med" len="med"/>
            </a:ln>
          </p:spPr>
        </p:sp>
        <p:sp>
          <p:nvSpPr>
            <p:cNvPr id="11308" name="Line 41"/>
            <p:cNvSpPr/>
            <p:nvPr/>
          </p:nvSpPr>
          <p:spPr>
            <a:xfrm flipV="1">
              <a:off x="2409" y="1094"/>
              <a:ext cx="0" cy="164"/>
            </a:xfrm>
            <a:prstGeom prst="line">
              <a:avLst/>
            </a:prstGeom>
            <a:ln w="9525" cap="flat" cmpd="sng">
              <a:solidFill>
                <a:schemeClr val="tx1"/>
              </a:solidFill>
              <a:prstDash val="solid"/>
              <a:headEnd type="none" w="med" len="med"/>
              <a:tailEnd type="none" w="med" len="med"/>
            </a:ln>
          </p:spPr>
        </p:sp>
        <p:sp>
          <p:nvSpPr>
            <p:cNvPr id="11309" name="Line 42"/>
            <p:cNvSpPr/>
            <p:nvPr/>
          </p:nvSpPr>
          <p:spPr>
            <a:xfrm flipV="1">
              <a:off x="3012" y="1088"/>
              <a:ext cx="0" cy="164"/>
            </a:xfrm>
            <a:prstGeom prst="line">
              <a:avLst/>
            </a:prstGeom>
            <a:ln w="9525" cap="flat" cmpd="sng">
              <a:solidFill>
                <a:schemeClr val="tx1"/>
              </a:solidFill>
              <a:prstDash val="solid"/>
              <a:headEnd type="none" w="med" len="med"/>
              <a:tailEnd type="none" w="med" len="med"/>
            </a:ln>
          </p:spPr>
        </p:sp>
        <p:sp>
          <p:nvSpPr>
            <p:cNvPr id="11310" name="Line 43"/>
            <p:cNvSpPr/>
            <p:nvPr/>
          </p:nvSpPr>
          <p:spPr>
            <a:xfrm flipV="1">
              <a:off x="3630" y="1090"/>
              <a:ext cx="0" cy="164"/>
            </a:xfrm>
            <a:prstGeom prst="line">
              <a:avLst/>
            </a:prstGeom>
            <a:ln w="9525" cap="flat" cmpd="sng">
              <a:solidFill>
                <a:schemeClr val="tx1"/>
              </a:solidFill>
              <a:prstDash val="solid"/>
              <a:headEnd type="none" w="med" len="med"/>
              <a:tailEnd type="none" w="med" len="med"/>
            </a:ln>
          </p:spPr>
        </p:sp>
        <p:sp>
          <p:nvSpPr>
            <p:cNvPr id="11311" name="Line 44"/>
            <p:cNvSpPr/>
            <p:nvPr/>
          </p:nvSpPr>
          <p:spPr>
            <a:xfrm flipH="1" flipV="1">
              <a:off x="3743" y="2864"/>
              <a:ext cx="217" cy="0"/>
            </a:xfrm>
            <a:prstGeom prst="line">
              <a:avLst/>
            </a:prstGeom>
            <a:ln w="19050" cap="flat" cmpd="sng">
              <a:solidFill>
                <a:schemeClr val="tx1"/>
              </a:solidFill>
              <a:prstDash val="solid"/>
              <a:headEnd type="none" w="med" len="med"/>
              <a:tailEnd type="triangle" w="med" len="med"/>
            </a:ln>
          </p:spPr>
        </p:sp>
        <p:sp>
          <p:nvSpPr>
            <p:cNvPr id="11312" name="AutoShape 45"/>
            <p:cNvSpPr/>
            <p:nvPr/>
          </p:nvSpPr>
          <p:spPr>
            <a:xfrm>
              <a:off x="2532" y="2370"/>
              <a:ext cx="382" cy="117"/>
            </a:xfrm>
            <a:prstGeom prst="flowChartTerminator">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宋体" panose="02000500000000000000" pitchFamily="2" charset="-122"/>
              </a:endParaRPr>
            </a:p>
          </p:txBody>
        </p:sp>
        <p:sp>
          <p:nvSpPr>
            <p:cNvPr id="11313" name="Line 46"/>
            <p:cNvSpPr/>
            <p:nvPr/>
          </p:nvSpPr>
          <p:spPr>
            <a:xfrm flipV="1">
              <a:off x="2088" y="2580"/>
              <a:ext cx="0" cy="101"/>
            </a:xfrm>
            <a:prstGeom prst="line">
              <a:avLst/>
            </a:prstGeom>
            <a:ln w="19050" cap="flat" cmpd="sng">
              <a:solidFill>
                <a:schemeClr val="tx1"/>
              </a:solidFill>
              <a:prstDash val="solid"/>
              <a:headEnd type="none" w="med" len="med"/>
              <a:tailEnd type="none" w="med" len="med"/>
            </a:ln>
          </p:spPr>
        </p:sp>
        <p:sp>
          <p:nvSpPr>
            <p:cNvPr id="11314" name="Line 47"/>
            <p:cNvSpPr/>
            <p:nvPr/>
          </p:nvSpPr>
          <p:spPr>
            <a:xfrm>
              <a:off x="2088" y="2587"/>
              <a:ext cx="545" cy="0"/>
            </a:xfrm>
            <a:prstGeom prst="line">
              <a:avLst/>
            </a:prstGeom>
            <a:ln w="19050" cap="flat" cmpd="sng">
              <a:solidFill>
                <a:schemeClr val="tx1"/>
              </a:solidFill>
              <a:prstDash val="solid"/>
              <a:headEnd type="none" w="med" len="med"/>
              <a:tailEnd type="none" w="med" len="med"/>
            </a:ln>
          </p:spPr>
        </p:sp>
        <p:sp>
          <p:nvSpPr>
            <p:cNvPr id="11315" name="Line 48"/>
            <p:cNvSpPr/>
            <p:nvPr/>
          </p:nvSpPr>
          <p:spPr>
            <a:xfrm flipV="1">
              <a:off x="2719" y="2637"/>
              <a:ext cx="615" cy="8"/>
            </a:xfrm>
            <a:prstGeom prst="line">
              <a:avLst/>
            </a:prstGeom>
            <a:ln w="19050" cap="flat" cmpd="sng">
              <a:solidFill>
                <a:schemeClr val="tx1"/>
              </a:solidFill>
              <a:prstDash val="solid"/>
              <a:headEnd type="none" w="med" len="med"/>
              <a:tailEnd type="none" w="med" len="med"/>
            </a:ln>
          </p:spPr>
        </p:sp>
        <p:sp>
          <p:nvSpPr>
            <p:cNvPr id="11316" name="Line 49"/>
            <p:cNvSpPr/>
            <p:nvPr/>
          </p:nvSpPr>
          <p:spPr>
            <a:xfrm flipV="1">
              <a:off x="2628" y="2488"/>
              <a:ext cx="1" cy="101"/>
            </a:xfrm>
            <a:prstGeom prst="line">
              <a:avLst/>
            </a:prstGeom>
            <a:ln w="19050" cap="flat" cmpd="sng">
              <a:solidFill>
                <a:schemeClr val="tx1"/>
              </a:solidFill>
              <a:prstDash val="solid"/>
              <a:headEnd type="none" w="med" len="med"/>
              <a:tailEnd type="triangle" w="med" len="med"/>
            </a:ln>
          </p:spPr>
        </p:sp>
        <p:sp>
          <p:nvSpPr>
            <p:cNvPr id="11317" name="Line 50"/>
            <p:cNvSpPr/>
            <p:nvPr/>
          </p:nvSpPr>
          <p:spPr>
            <a:xfrm flipH="1" flipV="1">
              <a:off x="2724" y="2483"/>
              <a:ext cx="7" cy="163"/>
            </a:xfrm>
            <a:prstGeom prst="line">
              <a:avLst/>
            </a:prstGeom>
            <a:ln w="19050" cap="flat" cmpd="sng">
              <a:solidFill>
                <a:schemeClr val="tx1"/>
              </a:solidFill>
              <a:prstDash val="solid"/>
              <a:headEnd type="none" w="med" len="med"/>
              <a:tailEnd type="triangle" w="med" len="med"/>
            </a:ln>
          </p:spPr>
        </p:sp>
        <p:sp>
          <p:nvSpPr>
            <p:cNvPr id="11318" name="Line 51"/>
            <p:cNvSpPr/>
            <p:nvPr/>
          </p:nvSpPr>
          <p:spPr>
            <a:xfrm flipV="1">
              <a:off x="2726" y="2278"/>
              <a:ext cx="2" cy="94"/>
            </a:xfrm>
            <a:prstGeom prst="line">
              <a:avLst/>
            </a:prstGeom>
            <a:ln w="19050" cap="flat" cmpd="sng">
              <a:solidFill>
                <a:schemeClr val="tx1"/>
              </a:solidFill>
              <a:prstDash val="solid"/>
              <a:headEnd type="none" w="med" len="med"/>
              <a:tailEnd type="triangle" w="med" len="med"/>
            </a:ln>
          </p:spPr>
        </p:sp>
        <p:sp>
          <p:nvSpPr>
            <p:cNvPr id="11319" name="Line 52"/>
            <p:cNvSpPr/>
            <p:nvPr/>
          </p:nvSpPr>
          <p:spPr>
            <a:xfrm flipV="1">
              <a:off x="2509" y="2094"/>
              <a:ext cx="0" cy="95"/>
            </a:xfrm>
            <a:prstGeom prst="line">
              <a:avLst/>
            </a:prstGeom>
            <a:ln w="9525" cap="flat" cmpd="sng">
              <a:solidFill>
                <a:schemeClr val="tx1"/>
              </a:solidFill>
              <a:prstDash val="solid"/>
              <a:headEnd type="none" w="med" len="med"/>
              <a:tailEnd type="triangle" w="med" len="med"/>
            </a:ln>
          </p:spPr>
        </p:sp>
        <p:sp>
          <p:nvSpPr>
            <p:cNvPr id="11320" name="Line 53"/>
            <p:cNvSpPr/>
            <p:nvPr/>
          </p:nvSpPr>
          <p:spPr>
            <a:xfrm flipV="1">
              <a:off x="3142" y="2096"/>
              <a:ext cx="0" cy="95"/>
            </a:xfrm>
            <a:prstGeom prst="line">
              <a:avLst/>
            </a:prstGeom>
            <a:ln w="9525" cap="flat" cmpd="sng">
              <a:solidFill>
                <a:schemeClr val="tx1"/>
              </a:solidFill>
              <a:prstDash val="solid"/>
              <a:headEnd type="none" w="med" len="med"/>
              <a:tailEnd type="triangle" w="med" len="med"/>
            </a:ln>
          </p:spPr>
        </p:sp>
        <p:sp>
          <p:nvSpPr>
            <p:cNvPr id="11321" name="Line 54"/>
            <p:cNvSpPr/>
            <p:nvPr/>
          </p:nvSpPr>
          <p:spPr>
            <a:xfrm flipV="1">
              <a:off x="3746" y="2099"/>
              <a:ext cx="0" cy="95"/>
            </a:xfrm>
            <a:prstGeom prst="line">
              <a:avLst/>
            </a:prstGeom>
            <a:ln w="9525" cap="flat" cmpd="sng">
              <a:solidFill>
                <a:schemeClr val="tx1"/>
              </a:solidFill>
              <a:prstDash val="solid"/>
              <a:headEnd type="none" w="med" len="med"/>
              <a:tailEnd type="triangle" w="med" len="med"/>
            </a:ln>
          </p:spPr>
        </p:sp>
        <p:sp>
          <p:nvSpPr>
            <p:cNvPr id="11322" name="Line 55"/>
            <p:cNvSpPr/>
            <p:nvPr/>
          </p:nvSpPr>
          <p:spPr>
            <a:xfrm flipV="1">
              <a:off x="2835" y="2574"/>
              <a:ext cx="1129" cy="7"/>
            </a:xfrm>
            <a:prstGeom prst="line">
              <a:avLst/>
            </a:prstGeom>
            <a:ln w="19050" cap="flat" cmpd="sng">
              <a:solidFill>
                <a:schemeClr val="tx1"/>
              </a:solidFill>
              <a:prstDash val="solid"/>
              <a:headEnd type="none" w="med" len="med"/>
              <a:tailEnd type="none" w="med" len="med"/>
            </a:ln>
          </p:spPr>
        </p:sp>
        <p:sp>
          <p:nvSpPr>
            <p:cNvPr id="11323" name="Line 56"/>
            <p:cNvSpPr/>
            <p:nvPr/>
          </p:nvSpPr>
          <p:spPr>
            <a:xfrm flipV="1">
              <a:off x="2828" y="2488"/>
              <a:ext cx="1" cy="101"/>
            </a:xfrm>
            <a:prstGeom prst="line">
              <a:avLst/>
            </a:prstGeom>
            <a:ln w="19050" cap="flat" cmpd="sng">
              <a:solidFill>
                <a:schemeClr val="tx1"/>
              </a:solidFill>
              <a:prstDash val="solid"/>
              <a:headEnd type="none" w="med" len="med"/>
              <a:tailEnd type="triangle" w="med" len="med"/>
            </a:ln>
          </p:spPr>
        </p:sp>
      </p:grpSp>
      <p:sp>
        <p:nvSpPr>
          <p:cNvPr id="11275" name="Rectangle 57"/>
          <p:cNvSpPr/>
          <p:nvPr/>
        </p:nvSpPr>
        <p:spPr>
          <a:xfrm>
            <a:off x="979488" y="431800"/>
            <a:ext cx="10361612" cy="574675"/>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独立重命名寄存器</a:t>
            </a:r>
            <a:endParaRPr lang="zh-CN" altLang="en-US" sz="3600" dirty="0">
              <a:solidFill>
                <a:srgbClr val="FF3300"/>
              </a:solidFill>
              <a:latin typeface="Times New Roman" pitchFamily="18" charset="0"/>
              <a:ea typeface="黑体" panose="02000500000000000000" pitchFamily="49" charset="-122"/>
            </a:endParaRPr>
          </a:p>
        </p:txBody>
      </p:sp>
      <p:sp>
        <p:nvSpPr>
          <p:cNvPr id="11276" name="AutoShape 59"/>
          <p:cNvSpPr/>
          <p:nvPr/>
        </p:nvSpPr>
        <p:spPr>
          <a:xfrm>
            <a:off x="8478838" y="2809875"/>
            <a:ext cx="1682750" cy="927100"/>
          </a:xfrm>
          <a:prstGeom prst="cloudCallout">
            <a:avLst>
              <a:gd name="adj1" fmla="val -184968"/>
              <a:gd name="adj2" fmla="val 24486"/>
            </a:avLst>
          </a:prstGeom>
          <a:solidFill>
            <a:schemeClr val="accent1"/>
          </a:solidFill>
          <a:ln w="9525" cap="flat" cmpd="sng">
            <a:solidFill>
              <a:schemeClr val="tx1"/>
            </a:solidFill>
            <a:prstDash val="solid"/>
            <a:headEnd type="none" w="med" len="med"/>
            <a:tailEnd type="none" w="med" len="med"/>
          </a:ln>
        </p:spPr>
        <p:txBody>
          <a:bodyPr wrap="none" anchor="ctr" anchorCtr="0"/>
          <a:p>
            <a:r>
              <a:rPr lang="zh-CN" altLang="en-US" sz="1600" b="1" dirty="0">
                <a:solidFill>
                  <a:srgbClr val="FF3300"/>
                </a:solidFill>
                <a:latin typeface="Times New Roman" pitchFamily="18" charset="0"/>
              </a:rPr>
              <a:t>译码阶段</a:t>
            </a:r>
            <a:endParaRPr lang="zh-CN" altLang="en-US" sz="1600" b="1" dirty="0">
              <a:solidFill>
                <a:srgbClr val="FF3300"/>
              </a:solidFill>
              <a:latin typeface="Times New Roman" pitchFamily="18" charset="0"/>
            </a:endParaRPr>
          </a:p>
          <a:p>
            <a:r>
              <a:rPr lang="zh-CN" altLang="en-US" sz="1600" b="1" dirty="0">
                <a:solidFill>
                  <a:srgbClr val="FF3300"/>
                </a:solidFill>
                <a:latin typeface="Times New Roman" pitchFamily="18" charset="0"/>
              </a:rPr>
              <a:t>延迟很长</a:t>
            </a:r>
            <a:endParaRPr lang="zh-CN" altLang="en-US" dirty="0">
              <a:latin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3795" name="Rectangle 2"/>
          <p:cNvSpPr/>
          <p:nvPr/>
        </p:nvSpPr>
        <p:spPr>
          <a:xfrm>
            <a:off x="979488" y="0"/>
            <a:ext cx="10361612" cy="1006475"/>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独立重命名寄存器的重命名算法（</a:t>
            </a:r>
            <a:r>
              <a:rPr lang="en-US" altLang="zh-CN" sz="3600" dirty="0">
                <a:solidFill>
                  <a:srgbClr val="FF3300"/>
                </a:solidFill>
                <a:latin typeface="Times New Roman" pitchFamily="18" charset="0"/>
                <a:ea typeface="黑体" panose="02000500000000000000" pitchFamily="49" charset="-122"/>
              </a:rPr>
              <a:t>1</a:t>
            </a:r>
            <a:r>
              <a:rPr lang="zh-CN" altLang="en-US" sz="3600" dirty="0">
                <a:solidFill>
                  <a:srgbClr val="FF3300"/>
                </a:solidFill>
                <a:latin typeface="Times New Roman" pitchFamily="18" charset="0"/>
                <a:ea typeface="黑体" panose="02000500000000000000" pitchFamily="49" charset="-122"/>
              </a:rPr>
              <a:t>）</a:t>
            </a:r>
            <a:endParaRPr lang="zh-CN" altLang="en-US" sz="3600" dirty="0">
              <a:solidFill>
                <a:srgbClr val="FF3300"/>
              </a:solidFill>
              <a:latin typeface="Times New Roman" pitchFamily="18" charset="0"/>
              <a:ea typeface="黑体" panose="02000500000000000000" pitchFamily="49" charset="-122"/>
            </a:endParaRPr>
          </a:p>
        </p:txBody>
      </p:sp>
      <p:sp>
        <p:nvSpPr>
          <p:cNvPr id="33796" name="Rectangle 3"/>
          <p:cNvSpPr/>
          <p:nvPr/>
        </p:nvSpPr>
        <p:spPr>
          <a:xfrm>
            <a:off x="887413" y="1106488"/>
            <a:ext cx="10669587" cy="5626100"/>
          </a:xfrm>
          <a:prstGeom prst="rect">
            <a:avLst/>
          </a:prstGeom>
          <a:noFill/>
          <a:ln w="9525">
            <a:noFill/>
          </a:ln>
        </p:spPr>
        <p:txBody>
          <a:bodyPr/>
          <a:p>
            <a:pPr marL="342900" indent="-342900" algn="l" fontAlgn="base">
              <a:lnSpc>
                <a:spcPct val="150000"/>
              </a:lnSpc>
              <a:spcBef>
                <a:spcPts val="600"/>
              </a:spcBef>
            </a:pPr>
            <a:r>
              <a:rPr lang="zh-CN" altLang="en-US" sz="2000" b="1" dirty="0">
                <a:solidFill>
                  <a:srgbClr val="FF3300"/>
                </a:solidFill>
                <a:latin typeface="Times New Roman" pitchFamily="18" charset="0"/>
              </a:rPr>
              <a:t>假设保留站前读寄存器</a:t>
            </a:r>
            <a:endParaRPr lang="zh-CN" altLang="en-US" sz="2000" b="1" dirty="0">
              <a:solidFill>
                <a:srgbClr val="FF3300"/>
              </a:solidFill>
              <a:latin typeface="Times New Roman" pitchFamily="18" charset="0"/>
            </a:endParaRPr>
          </a:p>
          <a:p>
            <a:pPr marL="342900" indent="-342900" algn="l" fontAlgn="base">
              <a:lnSpc>
                <a:spcPct val="150000"/>
              </a:lnSpc>
              <a:spcBef>
                <a:spcPts val="600"/>
              </a:spcBef>
              <a:buChar char="•"/>
            </a:pPr>
            <a:r>
              <a:rPr lang="zh-CN" altLang="en-US" sz="2000" b="1" dirty="0">
                <a:latin typeface="Times New Roman" pitchFamily="18" charset="0"/>
              </a:rPr>
              <a:t>译码阶段</a:t>
            </a:r>
            <a:endParaRPr lang="zh-CN" altLang="en-US" sz="20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为目标寄存器分配一个空闲的重命名寄存器（保留栈</a:t>
            </a:r>
            <a:r>
              <a:rPr lang="zh-CN" altLang="en-US" sz="1600" b="1" dirty="0">
                <a:latin typeface="宋体" panose="02000500000000000000" pitchFamily="2" charset="-122"/>
                <a:cs typeface="宋体" panose="02000500000000000000" pitchFamily="2" charset="-122"/>
              </a:rPr>
              <a:t>、</a:t>
            </a:r>
            <a:r>
              <a:rPr lang="en-US" altLang="zh-CN" sz="1600" b="1" dirty="0">
                <a:latin typeface="宋体" panose="02000500000000000000" pitchFamily="2" charset="-122"/>
                <a:cs typeface="宋体" panose="02000500000000000000" pitchFamily="2" charset="-122"/>
              </a:rPr>
              <a:t>ROB</a:t>
            </a:r>
            <a:r>
              <a:rPr lang="zh-CN" altLang="en-US" sz="1600" b="1" dirty="0">
                <a:latin typeface="Times New Roman" pitchFamily="18" charset="0"/>
              </a:rPr>
              <a:t>或独立的重命名寄存器）</a:t>
            </a:r>
            <a:endParaRPr lang="zh-CN" altLang="en-US" sz="16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为源寄存器找到相应的重命名或结构寄存器号</a:t>
            </a:r>
            <a:endParaRPr lang="zh-CN" altLang="en-US" sz="16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读操作数（注意三种操作数来源）并送入保留站</a:t>
            </a:r>
            <a:endParaRPr lang="zh-CN" altLang="en-US" sz="1600" b="1" dirty="0">
              <a:latin typeface="Times New Roman" pitchFamily="18" charset="0"/>
            </a:endParaRPr>
          </a:p>
          <a:p>
            <a:pPr marL="342900" indent="-342900" algn="l" fontAlgn="base">
              <a:lnSpc>
                <a:spcPct val="150000"/>
              </a:lnSpc>
              <a:spcBef>
                <a:spcPts val="600"/>
              </a:spcBef>
              <a:buChar char="•"/>
            </a:pPr>
            <a:r>
              <a:rPr lang="zh-CN" altLang="en-US" sz="2000" b="1" dirty="0">
                <a:latin typeface="Times New Roman" pitchFamily="18" charset="0"/>
              </a:rPr>
              <a:t>发射阶段</a:t>
            </a:r>
            <a:endParaRPr lang="zh-CN" altLang="en-US" sz="20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在保留站中找操作数准备好的操作进行运算，不涉及重命名</a:t>
            </a:r>
            <a:endParaRPr lang="zh-CN" altLang="en-US" sz="1600" b="1" dirty="0">
              <a:latin typeface="Times New Roman" pitchFamily="18" charset="0"/>
            </a:endParaRPr>
          </a:p>
          <a:p>
            <a:pPr marL="342900" indent="-342900" algn="l" fontAlgn="base">
              <a:lnSpc>
                <a:spcPct val="150000"/>
              </a:lnSpc>
              <a:spcBef>
                <a:spcPts val="600"/>
              </a:spcBef>
              <a:buChar char="•"/>
            </a:pPr>
            <a:r>
              <a:rPr lang="zh-CN" altLang="en-US" sz="2000" b="1" dirty="0">
                <a:latin typeface="Times New Roman" pitchFamily="18" charset="0"/>
              </a:rPr>
              <a:t>执行阶段</a:t>
            </a:r>
            <a:endParaRPr lang="zh-CN" altLang="en-US" sz="20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执行结果写回到重命名寄存器</a:t>
            </a:r>
            <a:endParaRPr lang="zh-CN" altLang="en-US" sz="16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写回到侦听该重命名寄存器值的保留站</a:t>
            </a:r>
            <a:endParaRPr lang="zh-CN" altLang="en-US" sz="1600" b="1" dirty="0">
              <a:latin typeface="Times New Roman" pitchFamily="18" charset="0"/>
            </a:endParaRPr>
          </a:p>
          <a:p>
            <a:pPr marL="742950" lvl="1" indent="-285750" algn="l" fontAlgn="base">
              <a:lnSpc>
                <a:spcPct val="150000"/>
              </a:lnSpc>
              <a:spcBef>
                <a:spcPts val="600"/>
              </a:spcBef>
              <a:buChar char="•"/>
            </a:pPr>
            <a:r>
              <a:rPr lang="zh-CN" altLang="en-US" sz="1600" b="1" dirty="0">
                <a:latin typeface="Times New Roman" pitchFamily="18" charset="0"/>
              </a:rPr>
              <a:t>不写回结构寄存器</a:t>
            </a:r>
            <a:endParaRPr lang="zh-CN" altLang="en-US" sz="1600" b="1" dirty="0">
              <a:latin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4819" name="Rectangle 2"/>
          <p:cNvSpPr>
            <a:spLocks noGrp="1"/>
          </p:cNvSpPr>
          <p:nvPr>
            <p:ph type="title"/>
          </p:nvPr>
        </p:nvSpPr>
        <p:spPr>
          <a:xfrm>
            <a:off x="914400" y="98425"/>
            <a:ext cx="10361613" cy="993775"/>
          </a:xfrm>
        </p:spPr>
        <p:txBody>
          <a:bodyPr vert="horz" wrap="square" lIns="91440" tIns="45720" rIns="91440" bIns="45720" anchor="ctr" anchorCtr="0"/>
          <a:p>
            <a:pPr eaLnBrk="1" hangingPunct="1"/>
            <a:r>
              <a:rPr lang="zh-CN" altLang="en-US" dirty="0"/>
              <a:t>独立重命名寄存器的重命名算法（</a:t>
            </a:r>
            <a:r>
              <a:rPr lang="en-US" altLang="zh-CN" dirty="0"/>
              <a:t>2</a:t>
            </a:r>
            <a:r>
              <a:rPr lang="zh-CN" altLang="en-US" dirty="0"/>
              <a:t>）</a:t>
            </a:r>
            <a:endParaRPr lang="zh-CN" altLang="en-US" dirty="0"/>
          </a:p>
        </p:txBody>
      </p:sp>
      <p:sp>
        <p:nvSpPr>
          <p:cNvPr id="34820" name="Rectangle 3"/>
          <p:cNvSpPr>
            <a:spLocks noGrp="1"/>
          </p:cNvSpPr>
          <p:nvPr>
            <p:ph idx="1"/>
          </p:nvPr>
        </p:nvSpPr>
        <p:spPr>
          <a:xfrm>
            <a:off x="914400" y="1524000"/>
            <a:ext cx="10361613" cy="4375150"/>
          </a:xfrm>
        </p:spPr>
        <p:txBody>
          <a:bodyPr vert="horz" wrap="square" lIns="91440" tIns="45720" rIns="91440" bIns="45720" anchor="t" anchorCtr="0"/>
          <a:p>
            <a:pPr eaLnBrk="1" hangingPunct="1">
              <a:lnSpc>
                <a:spcPct val="150000"/>
              </a:lnSpc>
            </a:pPr>
            <a:r>
              <a:rPr lang="zh-CN" altLang="en-US" dirty="0"/>
              <a:t>提交阶段</a:t>
            </a:r>
            <a:endParaRPr lang="zh-CN" altLang="en-US" dirty="0"/>
          </a:p>
          <a:p>
            <a:pPr lvl="1" eaLnBrk="1" hangingPunct="1">
              <a:lnSpc>
                <a:spcPct val="150000"/>
              </a:lnSpc>
            </a:pPr>
            <a:r>
              <a:rPr lang="zh-CN" altLang="en-US" dirty="0"/>
              <a:t>把重命名寄存器的值写回到相应的结构寄存器</a:t>
            </a:r>
            <a:endParaRPr lang="zh-CN" altLang="en-US" dirty="0"/>
          </a:p>
          <a:p>
            <a:pPr lvl="1" eaLnBrk="1" hangingPunct="1">
              <a:lnSpc>
                <a:spcPct val="150000"/>
              </a:lnSpc>
            </a:pPr>
            <a:r>
              <a:rPr lang="zh-CN" altLang="en-US" dirty="0"/>
              <a:t>释放相应的重命名寄存器</a:t>
            </a:r>
            <a:endParaRPr lang="zh-CN" altLang="en-US" dirty="0"/>
          </a:p>
          <a:p>
            <a:pPr eaLnBrk="1" hangingPunct="1">
              <a:lnSpc>
                <a:spcPct val="150000"/>
              </a:lnSpc>
            </a:pPr>
            <a:r>
              <a:rPr lang="zh-CN" altLang="en-US" dirty="0"/>
              <a:t>转移猜错或例外</a:t>
            </a:r>
            <a:endParaRPr lang="zh-CN" altLang="en-US" dirty="0"/>
          </a:p>
          <a:p>
            <a:pPr lvl="1" eaLnBrk="1" hangingPunct="1">
              <a:lnSpc>
                <a:spcPct val="150000"/>
              </a:lnSpc>
            </a:pPr>
            <a:r>
              <a:rPr lang="zh-CN" altLang="en-US" dirty="0"/>
              <a:t>取消后面的已经建立的重命名关系</a:t>
            </a:r>
            <a:endParaRPr lang="zh-CN" altLang="en-US" dirty="0"/>
          </a:p>
          <a:p>
            <a:pPr lvl="1" eaLnBrk="1" hangingPunct="1">
              <a:lnSpc>
                <a:spcPct val="150000"/>
              </a:lnSpc>
            </a:pPr>
            <a:r>
              <a:rPr lang="zh-CN" altLang="en-US" dirty="0"/>
              <a:t>把结构寄存器的状态都置为有效</a:t>
            </a:r>
            <a:endParaRPr lang="zh-CN" altLang="en-US" dirty="0"/>
          </a:p>
          <a:p>
            <a:pPr lvl="1" eaLnBrk="1" hangingPunct="1">
              <a:lnSpc>
                <a:spcPct val="150000"/>
              </a:lnSpc>
            </a:pPr>
            <a:r>
              <a:rPr lang="zh-CN" altLang="en-US" dirty="0"/>
              <a:t>把重命名寄存器的状态都置为空</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5843" name="Rectangle 2"/>
          <p:cNvSpPr>
            <a:spLocks noGrp="1"/>
          </p:cNvSpPr>
          <p:nvPr>
            <p:ph type="title"/>
          </p:nvPr>
        </p:nvSpPr>
        <p:spPr>
          <a:xfrm>
            <a:off x="914400" y="96838"/>
            <a:ext cx="10361613" cy="925512"/>
          </a:xfrm>
        </p:spPr>
        <p:txBody>
          <a:bodyPr vert="horz" wrap="square" lIns="91440" tIns="45720" rIns="91440" bIns="45720" anchor="ctr" anchorCtr="0"/>
          <a:p>
            <a:pPr eaLnBrk="1" hangingPunct="1"/>
            <a:r>
              <a:rPr lang="zh-CN" altLang="en-US" dirty="0"/>
              <a:t>独立重命名寄存器的重命名算法（</a:t>
            </a:r>
            <a:r>
              <a:rPr lang="en-US" altLang="zh-CN" dirty="0"/>
              <a:t>3</a:t>
            </a:r>
            <a:r>
              <a:rPr lang="zh-CN" altLang="en-US" dirty="0"/>
              <a:t>）</a:t>
            </a:r>
            <a:endParaRPr lang="zh-CN" altLang="en-US" dirty="0"/>
          </a:p>
        </p:txBody>
      </p:sp>
      <p:sp>
        <p:nvSpPr>
          <p:cNvPr id="35844" name="Rectangle 3"/>
          <p:cNvSpPr>
            <a:spLocks noGrp="1"/>
          </p:cNvSpPr>
          <p:nvPr>
            <p:ph idx="1"/>
          </p:nvPr>
        </p:nvSpPr>
        <p:spPr>
          <a:xfrm>
            <a:off x="633730" y="1252220"/>
            <a:ext cx="6404610" cy="5102860"/>
          </a:xfrm>
        </p:spPr>
        <p:txBody>
          <a:bodyPr vert="horz" wrap="square" lIns="91440" tIns="45720" rIns="91440" bIns="45720" anchor="t" anchorCtr="0"/>
          <a:p>
            <a:pPr eaLnBrk="1" hangingPunct="1">
              <a:lnSpc>
                <a:spcPct val="150000"/>
              </a:lnSpc>
            </a:pPr>
            <a:r>
              <a:rPr lang="zh-CN" altLang="en-US" dirty="0"/>
              <a:t>重命名寄存器的状态</a:t>
            </a:r>
            <a:endParaRPr lang="zh-CN" altLang="en-US" dirty="0"/>
          </a:p>
          <a:p>
            <a:pPr lvl="1" eaLnBrk="1" hangingPunct="1">
              <a:lnSpc>
                <a:spcPct val="150000"/>
              </a:lnSpc>
            </a:pPr>
            <a:r>
              <a:rPr lang="en-US" altLang="zh-CN" dirty="0"/>
              <a:t>EMPTY</a:t>
            </a:r>
            <a:r>
              <a:rPr lang="zh-CN" altLang="en-US" dirty="0"/>
              <a:t>：表示该寄存器没有被重命名（或重命名后又已经被释放）</a:t>
            </a:r>
            <a:endParaRPr lang="zh-CN" altLang="en-US" dirty="0"/>
          </a:p>
          <a:p>
            <a:pPr lvl="1" eaLnBrk="1" hangingPunct="1">
              <a:lnSpc>
                <a:spcPct val="150000"/>
              </a:lnSpc>
            </a:pPr>
            <a:r>
              <a:rPr lang="en-US" altLang="zh-CN" dirty="0"/>
              <a:t>MAPPED</a:t>
            </a:r>
            <a:r>
              <a:rPr lang="zh-CN" altLang="en-US" dirty="0"/>
              <a:t>：表示已经被重命名但结果没有写回</a:t>
            </a:r>
            <a:endParaRPr lang="zh-CN" altLang="en-US" dirty="0"/>
          </a:p>
          <a:p>
            <a:pPr lvl="1" eaLnBrk="1" hangingPunct="1">
              <a:lnSpc>
                <a:spcPct val="150000"/>
              </a:lnSpc>
            </a:pPr>
            <a:r>
              <a:rPr lang="en-US" altLang="zh-CN" dirty="0"/>
              <a:t>WRITEBACK</a:t>
            </a:r>
            <a:r>
              <a:rPr lang="zh-CN" altLang="en-US" dirty="0"/>
              <a:t>：表示结果已经写回重命名寄存器但没有提交到结构寄存器</a:t>
            </a:r>
            <a:endParaRPr lang="zh-CN" altLang="en-US" dirty="0"/>
          </a:p>
          <a:p>
            <a:pPr eaLnBrk="1" hangingPunct="1">
              <a:lnSpc>
                <a:spcPct val="150000"/>
              </a:lnSpc>
            </a:pPr>
            <a:r>
              <a:rPr lang="zh-CN" altLang="en-US" dirty="0"/>
              <a:t>结构寄存器的状态</a:t>
            </a:r>
            <a:endParaRPr lang="zh-CN" altLang="en-US" dirty="0"/>
          </a:p>
          <a:p>
            <a:pPr lvl="1" eaLnBrk="1" hangingPunct="1">
              <a:lnSpc>
                <a:spcPct val="150000"/>
              </a:lnSpc>
            </a:pPr>
            <a:r>
              <a:rPr lang="en-US" altLang="zh-CN" dirty="0"/>
              <a:t>VALID</a:t>
            </a:r>
            <a:r>
              <a:rPr lang="zh-CN" altLang="en-US" dirty="0"/>
              <a:t>：表示相应寄存器的值可用</a:t>
            </a:r>
            <a:endParaRPr lang="zh-CN" altLang="en-US" dirty="0"/>
          </a:p>
          <a:p>
            <a:pPr lvl="1" eaLnBrk="1" hangingPunct="1">
              <a:lnSpc>
                <a:spcPct val="150000"/>
              </a:lnSpc>
            </a:pPr>
            <a:r>
              <a:rPr lang="en-US" altLang="zh-CN" dirty="0"/>
              <a:t>INVALID</a:t>
            </a:r>
            <a:r>
              <a:rPr lang="zh-CN" altLang="en-US" dirty="0"/>
              <a:t>：表示相应寄存器的值不可用</a:t>
            </a:r>
            <a:endParaRPr lang="zh-CN" altLang="en-US" dirty="0"/>
          </a:p>
          <a:p>
            <a:pPr eaLnBrk="1" hangingPunct="1">
              <a:lnSpc>
                <a:spcPct val="150000"/>
              </a:lnSpc>
            </a:pPr>
            <a:r>
              <a:rPr lang="zh-CN" altLang="en-US" dirty="0"/>
              <a:t>映射关系</a:t>
            </a:r>
            <a:endParaRPr lang="zh-CN" altLang="en-US" dirty="0"/>
          </a:p>
          <a:p>
            <a:pPr lvl="1" eaLnBrk="1" hangingPunct="1">
              <a:lnSpc>
                <a:spcPct val="150000"/>
              </a:lnSpc>
            </a:pPr>
            <a:r>
              <a:rPr lang="zh-CN" altLang="en-US" dirty="0"/>
              <a:t>在结构寄存器中增加一个指向重命名寄存器的重命名寄存器号域（如</a:t>
            </a:r>
            <a:r>
              <a:rPr lang="en-US" altLang="zh-CN" dirty="0"/>
              <a:t>ROB</a:t>
            </a:r>
            <a:r>
              <a:rPr lang="zh-CN" altLang="en-US" dirty="0"/>
              <a:t>号）</a:t>
            </a:r>
            <a:endParaRPr lang="zh-CN" altLang="en-US" dirty="0"/>
          </a:p>
        </p:txBody>
      </p:sp>
      <p:pic>
        <p:nvPicPr>
          <p:cNvPr id="2" name="图片 1"/>
          <p:cNvPicPr>
            <a:picLocks noChangeAspect="1"/>
          </p:cNvPicPr>
          <p:nvPr/>
        </p:nvPicPr>
        <p:blipFill>
          <a:blip r:embed="rId1"/>
          <a:stretch>
            <a:fillRect/>
          </a:stretch>
        </p:blipFill>
        <p:spPr>
          <a:xfrm>
            <a:off x="7038340" y="2382520"/>
            <a:ext cx="5099685" cy="347789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grpSp>
        <p:nvGrpSpPr>
          <p:cNvPr id="12295" name="Group 1026"/>
          <p:cNvGrpSpPr/>
          <p:nvPr/>
        </p:nvGrpSpPr>
        <p:grpSpPr>
          <a:xfrm>
            <a:off x="3609975" y="2017713"/>
            <a:ext cx="5164138" cy="3887787"/>
            <a:chOff x="3093" y="1372"/>
            <a:chExt cx="2440" cy="2449"/>
          </a:xfrm>
        </p:grpSpPr>
        <p:graphicFrame>
          <p:nvGraphicFramePr>
            <p:cNvPr id="12290" name="Object 1027"/>
            <p:cNvGraphicFramePr/>
            <p:nvPr/>
          </p:nvGraphicFramePr>
          <p:xfrm>
            <a:off x="3115" y="3201"/>
            <a:ext cx="2197" cy="467"/>
          </p:xfrm>
          <a:graphic>
            <a:graphicData uri="http://schemas.openxmlformats.org/presentationml/2006/ole">
              <mc:AlternateContent xmlns:mc="http://schemas.openxmlformats.org/markup-compatibility/2006">
                <mc:Choice xmlns:v="urn:schemas-microsoft-com:vml" Requires="v">
                  <p:oleObj spid="_x0000_s3096" name="" r:id="rId1" imgW="3485515" imgH="946150" progId="Word.Document.8">
                    <p:embed/>
                  </p:oleObj>
                </mc:Choice>
                <mc:Fallback>
                  <p:oleObj name="" r:id="rId1" imgW="3485515" imgH="946150" progId="Word.Document.8">
                    <p:embed/>
                    <p:pic>
                      <p:nvPicPr>
                        <p:cNvPr id="0" name="图片 3095"/>
                        <p:cNvPicPr/>
                        <p:nvPr/>
                      </p:nvPicPr>
                      <p:blipFill>
                        <a:blip r:embed="rId2"/>
                        <a:stretch>
                          <a:fillRect/>
                        </a:stretch>
                      </p:blipFill>
                      <p:spPr>
                        <a:xfrm>
                          <a:off x="3115" y="3201"/>
                          <a:ext cx="2197" cy="467"/>
                        </a:xfrm>
                        <a:prstGeom prst="rect">
                          <a:avLst/>
                        </a:prstGeom>
                        <a:noFill/>
                        <a:ln w="38100">
                          <a:noFill/>
                          <a:miter/>
                        </a:ln>
                      </p:spPr>
                    </p:pic>
                  </p:oleObj>
                </mc:Fallback>
              </mc:AlternateContent>
            </a:graphicData>
          </a:graphic>
        </p:graphicFrame>
        <p:sp>
          <p:nvSpPr>
            <p:cNvPr id="12297" name="Text Box 1028"/>
            <p:cNvSpPr txBox="1"/>
            <p:nvPr/>
          </p:nvSpPr>
          <p:spPr>
            <a:xfrm>
              <a:off x="3093" y="1509"/>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2298" name="Text Box 1029"/>
            <p:cNvSpPr txBox="1"/>
            <p:nvPr/>
          </p:nvSpPr>
          <p:spPr>
            <a:xfrm>
              <a:off x="3719" y="1511"/>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2299" name="Text Box 1030"/>
            <p:cNvSpPr txBox="1"/>
            <p:nvPr/>
          </p:nvSpPr>
          <p:spPr>
            <a:xfrm>
              <a:off x="4340" y="1515"/>
              <a:ext cx="467" cy="261"/>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2300" name="Text Box 1031"/>
            <p:cNvSpPr txBox="1"/>
            <p:nvPr/>
          </p:nvSpPr>
          <p:spPr>
            <a:xfrm>
              <a:off x="4958" y="1510"/>
              <a:ext cx="467" cy="268"/>
            </a:xfrm>
            <a:prstGeom prst="rect">
              <a:avLst/>
            </a:prstGeom>
            <a:noFill/>
            <a:ln w="9525" cap="flat" cmpd="sng">
              <a:solidFill>
                <a:schemeClr val="tx1"/>
              </a:solidFill>
              <a:prstDash val="solid"/>
              <a:miter/>
              <a:headEnd type="none" w="med" len="med"/>
              <a:tailEnd type="none" w="med" len="med"/>
            </a:ln>
          </p:spPr>
          <p:txBody>
            <a:bodyPr lIns="0" tIns="0" rIns="0" bIns="0"/>
            <a:p>
              <a:pPr>
                <a:spcBef>
                  <a:spcPct val="50000"/>
                </a:spcBef>
              </a:pPr>
              <a:r>
                <a:rPr lang="en-US" altLang="zh-CN" sz="1400" b="1" dirty="0">
                  <a:latin typeface="宋体" panose="02000500000000000000" pitchFamily="2" charset="-122"/>
                </a:rPr>
                <a:t>EU</a:t>
              </a:r>
              <a:endParaRPr lang="en-US" altLang="zh-CN" sz="1400" b="1" dirty="0">
                <a:latin typeface="宋体" panose="02000500000000000000" pitchFamily="2" charset="-122"/>
              </a:endParaRPr>
            </a:p>
          </p:txBody>
        </p:sp>
        <p:sp>
          <p:nvSpPr>
            <p:cNvPr id="12301" name="Line 1032"/>
            <p:cNvSpPr/>
            <p:nvPr/>
          </p:nvSpPr>
          <p:spPr>
            <a:xfrm flipV="1">
              <a:off x="4234" y="3571"/>
              <a:ext cx="0" cy="250"/>
            </a:xfrm>
            <a:prstGeom prst="line">
              <a:avLst/>
            </a:prstGeom>
            <a:ln w="19050" cap="flat" cmpd="sng">
              <a:solidFill>
                <a:schemeClr val="tx1"/>
              </a:solidFill>
              <a:prstDash val="solid"/>
              <a:headEnd type="none" w="med" len="med"/>
              <a:tailEnd type="triangle" w="med" len="med"/>
            </a:ln>
          </p:spPr>
        </p:sp>
        <p:sp>
          <p:nvSpPr>
            <p:cNvPr id="12302" name="Line 1033"/>
            <p:cNvSpPr/>
            <p:nvPr/>
          </p:nvSpPr>
          <p:spPr>
            <a:xfrm flipV="1">
              <a:off x="5185" y="1775"/>
              <a:ext cx="0" cy="204"/>
            </a:xfrm>
            <a:prstGeom prst="line">
              <a:avLst/>
            </a:prstGeom>
            <a:ln w="9525" cap="flat" cmpd="sng">
              <a:solidFill>
                <a:schemeClr val="tx1"/>
              </a:solidFill>
              <a:prstDash val="solid"/>
              <a:headEnd type="none" w="med" len="med"/>
              <a:tailEnd type="triangle" w="med" len="med"/>
            </a:ln>
          </p:spPr>
        </p:sp>
        <p:sp>
          <p:nvSpPr>
            <p:cNvPr id="12303" name="Line 1034"/>
            <p:cNvSpPr/>
            <p:nvPr/>
          </p:nvSpPr>
          <p:spPr>
            <a:xfrm flipV="1">
              <a:off x="4577" y="1780"/>
              <a:ext cx="0" cy="204"/>
            </a:xfrm>
            <a:prstGeom prst="line">
              <a:avLst/>
            </a:prstGeom>
            <a:ln w="9525" cap="flat" cmpd="sng">
              <a:solidFill>
                <a:schemeClr val="tx1"/>
              </a:solidFill>
              <a:prstDash val="solid"/>
              <a:headEnd type="none" w="med" len="med"/>
              <a:tailEnd type="triangle" w="med" len="med"/>
            </a:ln>
          </p:spPr>
        </p:sp>
        <p:sp>
          <p:nvSpPr>
            <p:cNvPr id="12304" name="Line 1035"/>
            <p:cNvSpPr/>
            <p:nvPr/>
          </p:nvSpPr>
          <p:spPr>
            <a:xfrm flipV="1">
              <a:off x="3953" y="1776"/>
              <a:ext cx="0" cy="204"/>
            </a:xfrm>
            <a:prstGeom prst="line">
              <a:avLst/>
            </a:prstGeom>
            <a:ln w="9525" cap="flat" cmpd="sng">
              <a:solidFill>
                <a:schemeClr val="tx1"/>
              </a:solidFill>
              <a:prstDash val="solid"/>
              <a:headEnd type="none" w="med" len="med"/>
              <a:tailEnd type="triangle" w="med" len="med"/>
            </a:ln>
          </p:spPr>
        </p:sp>
        <p:sp>
          <p:nvSpPr>
            <p:cNvPr id="12305" name="Line 1036"/>
            <p:cNvSpPr/>
            <p:nvPr/>
          </p:nvSpPr>
          <p:spPr>
            <a:xfrm flipV="1">
              <a:off x="3330" y="1777"/>
              <a:ext cx="0" cy="204"/>
            </a:xfrm>
            <a:prstGeom prst="line">
              <a:avLst/>
            </a:prstGeom>
            <a:ln w="9525" cap="flat" cmpd="sng">
              <a:solidFill>
                <a:schemeClr val="tx1"/>
              </a:solidFill>
              <a:prstDash val="solid"/>
              <a:headEnd type="none" w="med" len="med"/>
              <a:tailEnd type="triangle" w="med" len="med"/>
            </a:ln>
          </p:spPr>
        </p:sp>
        <p:sp>
          <p:nvSpPr>
            <p:cNvPr id="12306" name="Text Box 1037"/>
            <p:cNvSpPr txBox="1"/>
            <p:nvPr/>
          </p:nvSpPr>
          <p:spPr>
            <a:xfrm>
              <a:off x="3993" y="3282"/>
              <a:ext cx="616" cy="233"/>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指令队列、译码及</a:t>
              </a:r>
              <a:r>
                <a:rPr lang="zh-CN" altLang="en-US" sz="1200" b="1" dirty="0">
                  <a:solidFill>
                    <a:srgbClr val="FF3300"/>
                  </a:solidFill>
                  <a:latin typeface="宋体" panose="02000500000000000000" pitchFamily="2" charset="-122"/>
                </a:rPr>
                <a:t>重命名表</a:t>
              </a:r>
              <a:endParaRPr lang="zh-CN" altLang="en-US" sz="1400" b="1" dirty="0">
                <a:solidFill>
                  <a:srgbClr val="FF3300"/>
                </a:solidFill>
                <a:latin typeface="宋体" panose="02000500000000000000" pitchFamily="2" charset="-122"/>
              </a:endParaRPr>
            </a:p>
          </p:txBody>
        </p:sp>
        <p:graphicFrame>
          <p:nvGraphicFramePr>
            <p:cNvPr id="12291" name="Object 1038"/>
            <p:cNvGraphicFramePr/>
            <p:nvPr/>
          </p:nvGraphicFramePr>
          <p:xfrm>
            <a:off x="4457" y="2551"/>
            <a:ext cx="616" cy="483"/>
          </p:xfrm>
          <a:graphic>
            <a:graphicData uri="http://schemas.openxmlformats.org/presentationml/2006/ole">
              <mc:AlternateContent xmlns:mc="http://schemas.openxmlformats.org/markup-compatibility/2006">
                <mc:Choice xmlns:v="urn:schemas-microsoft-com:vml" Requires="v">
                  <p:oleObj spid="_x0000_s3141" name="" r:id="rId3" imgW="984250" imgH="929640" progId="Word.Document.8">
                    <p:embed/>
                  </p:oleObj>
                </mc:Choice>
                <mc:Fallback>
                  <p:oleObj name="" r:id="rId3" imgW="984250" imgH="929640" progId="Word.Document.8">
                    <p:embed/>
                    <p:pic>
                      <p:nvPicPr>
                        <p:cNvPr id="0" name="图片 3140"/>
                        <p:cNvPicPr/>
                        <p:nvPr/>
                      </p:nvPicPr>
                      <p:blipFill>
                        <a:blip r:embed="rId4"/>
                        <a:stretch>
                          <a:fillRect/>
                        </a:stretch>
                      </p:blipFill>
                      <p:spPr>
                        <a:xfrm>
                          <a:off x="4457" y="2551"/>
                          <a:ext cx="616" cy="483"/>
                        </a:xfrm>
                        <a:prstGeom prst="rect">
                          <a:avLst/>
                        </a:prstGeom>
                        <a:noFill/>
                        <a:ln w="38100">
                          <a:noFill/>
                          <a:miter/>
                        </a:ln>
                      </p:spPr>
                    </p:pic>
                  </p:oleObj>
                </mc:Fallback>
              </mc:AlternateContent>
            </a:graphicData>
          </a:graphic>
        </p:graphicFrame>
        <p:sp>
          <p:nvSpPr>
            <p:cNvPr id="12307" name="Text Box 1039"/>
            <p:cNvSpPr txBox="1"/>
            <p:nvPr/>
          </p:nvSpPr>
          <p:spPr>
            <a:xfrm>
              <a:off x="4634" y="2670"/>
              <a:ext cx="343" cy="116"/>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保留站</a:t>
              </a:r>
              <a:endParaRPr lang="zh-CN" altLang="en-US" sz="1200" b="1" dirty="0">
                <a:latin typeface="宋体" panose="02000500000000000000" pitchFamily="2" charset="-122"/>
              </a:endParaRPr>
            </a:p>
          </p:txBody>
        </p:sp>
        <p:graphicFrame>
          <p:nvGraphicFramePr>
            <p:cNvPr id="12292" name="Object 1040"/>
            <p:cNvGraphicFramePr/>
            <p:nvPr/>
          </p:nvGraphicFramePr>
          <p:xfrm>
            <a:off x="3379" y="2530"/>
            <a:ext cx="616" cy="483"/>
          </p:xfrm>
          <a:graphic>
            <a:graphicData uri="http://schemas.openxmlformats.org/presentationml/2006/ole">
              <mc:AlternateContent xmlns:mc="http://schemas.openxmlformats.org/markup-compatibility/2006">
                <mc:Choice xmlns:v="urn:schemas-microsoft-com:vml" Requires="v">
                  <p:oleObj spid="_x0000_s3142" name="" r:id="rId5" imgW="984250" imgH="929640" progId="Word.Document.8">
                    <p:embed/>
                  </p:oleObj>
                </mc:Choice>
                <mc:Fallback>
                  <p:oleObj name="" r:id="rId5" imgW="984250" imgH="929640" progId="Word.Document.8">
                    <p:embed/>
                    <p:pic>
                      <p:nvPicPr>
                        <p:cNvPr id="0" name="图片 3141"/>
                        <p:cNvPicPr/>
                        <p:nvPr/>
                      </p:nvPicPr>
                      <p:blipFill>
                        <a:blip r:embed="rId4"/>
                        <a:stretch>
                          <a:fillRect/>
                        </a:stretch>
                      </p:blipFill>
                      <p:spPr>
                        <a:xfrm>
                          <a:off x="3379" y="2530"/>
                          <a:ext cx="616" cy="483"/>
                        </a:xfrm>
                        <a:prstGeom prst="rect">
                          <a:avLst/>
                        </a:prstGeom>
                        <a:noFill/>
                        <a:ln w="38100">
                          <a:noFill/>
                          <a:miter/>
                        </a:ln>
                      </p:spPr>
                    </p:pic>
                  </p:oleObj>
                </mc:Fallback>
              </mc:AlternateContent>
            </a:graphicData>
          </a:graphic>
        </p:graphicFrame>
        <p:sp>
          <p:nvSpPr>
            <p:cNvPr id="12308" name="Text Box 1041"/>
            <p:cNvSpPr txBox="1"/>
            <p:nvPr/>
          </p:nvSpPr>
          <p:spPr>
            <a:xfrm>
              <a:off x="3556" y="2665"/>
              <a:ext cx="350" cy="116"/>
            </a:xfrm>
            <a:prstGeom prst="rect">
              <a:avLst/>
            </a:prstGeom>
            <a:solidFill>
              <a:schemeClr val="bg1"/>
            </a:solidFill>
            <a:ln w="9525">
              <a:noFill/>
            </a:ln>
          </p:spPr>
          <p:txBody>
            <a:bodyPr lIns="0" tIns="0" rIns="0" bIns="0">
              <a:spAutoFit/>
            </a:bodyPr>
            <a:p>
              <a:pPr>
                <a:spcBef>
                  <a:spcPct val="50000"/>
                </a:spcBef>
              </a:pPr>
              <a:r>
                <a:rPr lang="zh-CN" altLang="en-US" sz="1200" b="1" dirty="0">
                  <a:latin typeface="宋体" panose="02000500000000000000" pitchFamily="2" charset="-122"/>
                </a:rPr>
                <a:t>保留站</a:t>
              </a:r>
              <a:endParaRPr lang="zh-CN" altLang="en-US" sz="1200" b="1" dirty="0">
                <a:latin typeface="宋体" panose="02000500000000000000" pitchFamily="2" charset="-122"/>
              </a:endParaRPr>
            </a:p>
          </p:txBody>
        </p:sp>
        <p:graphicFrame>
          <p:nvGraphicFramePr>
            <p:cNvPr id="12293" name="Object 1042"/>
            <p:cNvGraphicFramePr/>
            <p:nvPr/>
          </p:nvGraphicFramePr>
          <p:xfrm>
            <a:off x="3124" y="1979"/>
            <a:ext cx="2197" cy="467"/>
          </p:xfrm>
          <a:graphic>
            <a:graphicData uri="http://schemas.openxmlformats.org/presentationml/2006/ole">
              <mc:AlternateContent xmlns:mc="http://schemas.openxmlformats.org/markup-compatibility/2006">
                <mc:Choice xmlns:v="urn:schemas-microsoft-com:vml" Requires="v">
                  <p:oleObj spid="_x0000_s3143" name="" r:id="rId6" imgW="3485515" imgH="946150" progId="Word.Document.8">
                    <p:embed/>
                  </p:oleObj>
                </mc:Choice>
                <mc:Fallback>
                  <p:oleObj name="" r:id="rId6" imgW="3485515" imgH="946150" progId="Word.Document.8">
                    <p:embed/>
                    <p:pic>
                      <p:nvPicPr>
                        <p:cNvPr id="0" name="图片 3142"/>
                        <p:cNvPicPr/>
                        <p:nvPr/>
                      </p:nvPicPr>
                      <p:blipFill>
                        <a:blip r:embed="rId2"/>
                        <a:stretch>
                          <a:fillRect/>
                        </a:stretch>
                      </p:blipFill>
                      <p:spPr>
                        <a:xfrm>
                          <a:off x="3124" y="1979"/>
                          <a:ext cx="2197" cy="467"/>
                        </a:xfrm>
                        <a:prstGeom prst="rect">
                          <a:avLst/>
                        </a:prstGeom>
                        <a:noFill/>
                        <a:ln w="38100">
                          <a:noFill/>
                          <a:miter/>
                        </a:ln>
                      </p:spPr>
                    </p:pic>
                  </p:oleObj>
                </mc:Fallback>
              </mc:AlternateContent>
            </a:graphicData>
          </a:graphic>
        </p:graphicFrame>
        <p:sp>
          <p:nvSpPr>
            <p:cNvPr id="12309" name="Text Box 1043"/>
            <p:cNvSpPr txBox="1"/>
            <p:nvPr/>
          </p:nvSpPr>
          <p:spPr>
            <a:xfrm>
              <a:off x="3884" y="2094"/>
              <a:ext cx="678" cy="116"/>
            </a:xfrm>
            <a:prstGeom prst="rect">
              <a:avLst/>
            </a:prstGeom>
            <a:solidFill>
              <a:schemeClr val="bg1"/>
            </a:solidFill>
            <a:ln w="9525">
              <a:noFill/>
            </a:ln>
          </p:spPr>
          <p:txBody>
            <a:bodyPr lIns="0" tIns="0" rIns="0" bIns="0">
              <a:spAutoFit/>
            </a:bodyPr>
            <a:p>
              <a:pPr>
                <a:spcBef>
                  <a:spcPct val="50000"/>
                </a:spcBef>
              </a:pPr>
              <a:r>
                <a:rPr lang="zh-CN" altLang="en-US" sz="1200" b="1" dirty="0">
                  <a:solidFill>
                    <a:srgbClr val="FF0000"/>
                  </a:solidFill>
                  <a:latin typeface="宋体" panose="02000500000000000000" pitchFamily="2" charset="-122"/>
                </a:rPr>
                <a:t>物理寄存器堆</a:t>
              </a:r>
              <a:endParaRPr lang="zh-CN" altLang="en-US" sz="1200" b="1" dirty="0">
                <a:solidFill>
                  <a:srgbClr val="FF0000"/>
                </a:solidFill>
                <a:latin typeface="宋体" panose="02000500000000000000" pitchFamily="2" charset="-122"/>
              </a:endParaRPr>
            </a:p>
          </p:txBody>
        </p:sp>
        <p:sp>
          <p:nvSpPr>
            <p:cNvPr id="12310" name="Line 1044"/>
            <p:cNvSpPr/>
            <p:nvPr/>
          </p:nvSpPr>
          <p:spPr>
            <a:xfrm flipH="1" flipV="1">
              <a:off x="3730" y="2343"/>
              <a:ext cx="0" cy="180"/>
            </a:xfrm>
            <a:prstGeom prst="line">
              <a:avLst/>
            </a:prstGeom>
            <a:ln w="9525" cap="flat" cmpd="sng">
              <a:solidFill>
                <a:schemeClr val="tx1"/>
              </a:solidFill>
              <a:prstDash val="solid"/>
              <a:headEnd type="none" w="med" len="med"/>
              <a:tailEnd type="triangle" w="med" len="med"/>
            </a:ln>
          </p:spPr>
        </p:sp>
        <p:sp>
          <p:nvSpPr>
            <p:cNvPr id="12311" name="Line 1045"/>
            <p:cNvSpPr/>
            <p:nvPr/>
          </p:nvSpPr>
          <p:spPr>
            <a:xfrm flipV="1">
              <a:off x="4796" y="2353"/>
              <a:ext cx="0" cy="187"/>
            </a:xfrm>
            <a:prstGeom prst="line">
              <a:avLst/>
            </a:prstGeom>
            <a:ln w="9525" cap="flat" cmpd="sng">
              <a:solidFill>
                <a:schemeClr val="tx1"/>
              </a:solidFill>
              <a:prstDash val="solid"/>
              <a:headEnd type="none" w="med" len="med"/>
              <a:tailEnd type="triangle" w="med" len="med"/>
            </a:ln>
          </p:spPr>
        </p:sp>
        <p:sp>
          <p:nvSpPr>
            <p:cNvPr id="12312" name="Line 1046"/>
            <p:cNvSpPr/>
            <p:nvPr/>
          </p:nvSpPr>
          <p:spPr>
            <a:xfrm flipV="1">
              <a:off x="4691" y="2911"/>
              <a:ext cx="0" cy="290"/>
            </a:xfrm>
            <a:prstGeom prst="line">
              <a:avLst/>
            </a:prstGeom>
            <a:ln w="9525" cap="flat" cmpd="sng">
              <a:solidFill>
                <a:schemeClr val="tx1"/>
              </a:solidFill>
              <a:prstDash val="solid"/>
              <a:headEnd type="none" w="med" len="med"/>
              <a:tailEnd type="triangle" w="med" len="med"/>
            </a:ln>
          </p:spPr>
        </p:sp>
        <p:sp>
          <p:nvSpPr>
            <p:cNvPr id="12313" name="Line 1047"/>
            <p:cNvSpPr/>
            <p:nvPr/>
          </p:nvSpPr>
          <p:spPr>
            <a:xfrm flipV="1">
              <a:off x="3587" y="2900"/>
              <a:ext cx="0" cy="305"/>
            </a:xfrm>
            <a:prstGeom prst="line">
              <a:avLst/>
            </a:prstGeom>
            <a:ln w="9525" cap="flat" cmpd="sng">
              <a:solidFill>
                <a:schemeClr val="tx1"/>
              </a:solidFill>
              <a:prstDash val="solid"/>
              <a:headEnd type="none" w="med" len="med"/>
              <a:tailEnd type="triangle" w="med" len="med"/>
            </a:ln>
          </p:spPr>
        </p:sp>
        <p:sp>
          <p:nvSpPr>
            <p:cNvPr id="12314" name="Line 1048"/>
            <p:cNvSpPr/>
            <p:nvPr/>
          </p:nvSpPr>
          <p:spPr>
            <a:xfrm>
              <a:off x="3336" y="1372"/>
              <a:ext cx="2197" cy="0"/>
            </a:xfrm>
            <a:prstGeom prst="line">
              <a:avLst/>
            </a:prstGeom>
            <a:ln w="19050" cap="flat" cmpd="sng">
              <a:solidFill>
                <a:schemeClr val="tx1"/>
              </a:solidFill>
              <a:prstDash val="solid"/>
              <a:headEnd type="none" w="med" len="med"/>
              <a:tailEnd type="none" w="med" len="med"/>
            </a:ln>
          </p:spPr>
        </p:sp>
        <p:sp>
          <p:nvSpPr>
            <p:cNvPr id="12315" name="Line 1049"/>
            <p:cNvSpPr/>
            <p:nvPr/>
          </p:nvSpPr>
          <p:spPr>
            <a:xfrm>
              <a:off x="3335" y="1380"/>
              <a:ext cx="0" cy="132"/>
            </a:xfrm>
            <a:prstGeom prst="line">
              <a:avLst/>
            </a:prstGeom>
            <a:ln w="9525" cap="flat" cmpd="sng">
              <a:solidFill>
                <a:schemeClr val="tx1"/>
              </a:solidFill>
              <a:prstDash val="solid"/>
              <a:headEnd type="none" w="med" len="med"/>
              <a:tailEnd type="none" w="med" len="med"/>
            </a:ln>
          </p:spPr>
        </p:sp>
        <p:sp>
          <p:nvSpPr>
            <p:cNvPr id="12316" name="Line 1050"/>
            <p:cNvSpPr/>
            <p:nvPr/>
          </p:nvSpPr>
          <p:spPr>
            <a:xfrm>
              <a:off x="3953" y="1382"/>
              <a:ext cx="0" cy="132"/>
            </a:xfrm>
            <a:prstGeom prst="line">
              <a:avLst/>
            </a:prstGeom>
            <a:ln w="9525" cap="flat" cmpd="sng">
              <a:solidFill>
                <a:schemeClr val="tx1"/>
              </a:solidFill>
              <a:prstDash val="solid"/>
              <a:headEnd type="none" w="med" len="med"/>
              <a:tailEnd type="none" w="med" len="med"/>
            </a:ln>
          </p:spPr>
        </p:sp>
        <p:sp>
          <p:nvSpPr>
            <p:cNvPr id="12317" name="Line 1051"/>
            <p:cNvSpPr/>
            <p:nvPr/>
          </p:nvSpPr>
          <p:spPr>
            <a:xfrm>
              <a:off x="4563" y="1376"/>
              <a:ext cx="0" cy="132"/>
            </a:xfrm>
            <a:prstGeom prst="line">
              <a:avLst/>
            </a:prstGeom>
            <a:ln w="9525" cap="flat" cmpd="sng">
              <a:solidFill>
                <a:schemeClr val="tx1"/>
              </a:solidFill>
              <a:prstDash val="solid"/>
              <a:headEnd type="none" w="med" len="med"/>
              <a:tailEnd type="none" w="med" len="med"/>
            </a:ln>
          </p:spPr>
        </p:sp>
        <p:sp>
          <p:nvSpPr>
            <p:cNvPr id="12318" name="Line 1052"/>
            <p:cNvSpPr/>
            <p:nvPr/>
          </p:nvSpPr>
          <p:spPr>
            <a:xfrm>
              <a:off x="5182" y="1380"/>
              <a:ext cx="0" cy="132"/>
            </a:xfrm>
            <a:prstGeom prst="line">
              <a:avLst/>
            </a:prstGeom>
            <a:ln w="9525" cap="flat" cmpd="sng">
              <a:solidFill>
                <a:schemeClr val="tx1"/>
              </a:solidFill>
              <a:prstDash val="solid"/>
              <a:headEnd type="none" w="med" len="med"/>
              <a:tailEnd type="none" w="med" len="med"/>
            </a:ln>
          </p:spPr>
        </p:sp>
        <p:sp>
          <p:nvSpPr>
            <p:cNvPr id="12319" name="Line 1053"/>
            <p:cNvSpPr/>
            <p:nvPr/>
          </p:nvSpPr>
          <p:spPr>
            <a:xfrm>
              <a:off x="5525" y="1372"/>
              <a:ext cx="0" cy="2010"/>
            </a:xfrm>
            <a:prstGeom prst="line">
              <a:avLst/>
            </a:prstGeom>
            <a:ln w="19050" cap="flat" cmpd="sng">
              <a:solidFill>
                <a:schemeClr val="tx1"/>
              </a:solidFill>
              <a:prstDash val="solid"/>
              <a:headEnd type="none" w="med" len="med"/>
              <a:tailEnd type="none" w="med" len="med"/>
            </a:ln>
          </p:spPr>
        </p:sp>
        <p:sp>
          <p:nvSpPr>
            <p:cNvPr id="12320" name="Line 1054"/>
            <p:cNvSpPr/>
            <p:nvPr/>
          </p:nvSpPr>
          <p:spPr>
            <a:xfrm flipH="1">
              <a:off x="3866" y="3056"/>
              <a:ext cx="1659" cy="0"/>
            </a:xfrm>
            <a:prstGeom prst="line">
              <a:avLst/>
            </a:prstGeom>
            <a:ln w="19050" cap="flat" cmpd="sng">
              <a:solidFill>
                <a:schemeClr val="tx1"/>
              </a:solidFill>
              <a:prstDash val="solid"/>
              <a:headEnd type="none" w="med" len="med"/>
              <a:tailEnd type="none" w="med" len="med"/>
            </a:ln>
          </p:spPr>
        </p:sp>
        <p:sp>
          <p:nvSpPr>
            <p:cNvPr id="12321" name="Line 1055"/>
            <p:cNvSpPr/>
            <p:nvPr/>
          </p:nvSpPr>
          <p:spPr>
            <a:xfrm flipH="1" flipV="1">
              <a:off x="3873" y="2907"/>
              <a:ext cx="0" cy="140"/>
            </a:xfrm>
            <a:prstGeom prst="line">
              <a:avLst/>
            </a:prstGeom>
            <a:ln w="19050" cap="flat" cmpd="sng">
              <a:solidFill>
                <a:schemeClr val="tx1"/>
              </a:solidFill>
              <a:prstDash val="solid"/>
              <a:headEnd type="none" w="med" len="med"/>
              <a:tailEnd type="triangle" w="med" len="med"/>
            </a:ln>
          </p:spPr>
        </p:sp>
        <p:sp>
          <p:nvSpPr>
            <p:cNvPr id="12322" name="Line 1056"/>
            <p:cNvSpPr/>
            <p:nvPr/>
          </p:nvSpPr>
          <p:spPr>
            <a:xfrm flipH="1" flipV="1">
              <a:off x="4952" y="2917"/>
              <a:ext cx="0" cy="140"/>
            </a:xfrm>
            <a:prstGeom prst="line">
              <a:avLst/>
            </a:prstGeom>
            <a:ln w="19050" cap="flat" cmpd="sng">
              <a:solidFill>
                <a:schemeClr val="tx1"/>
              </a:solidFill>
              <a:prstDash val="solid"/>
              <a:headEnd type="none" w="med" len="med"/>
              <a:tailEnd type="triangle" w="med" len="med"/>
            </a:ln>
          </p:spPr>
        </p:sp>
        <p:sp>
          <p:nvSpPr>
            <p:cNvPr id="12323" name="Line 1057"/>
            <p:cNvSpPr/>
            <p:nvPr/>
          </p:nvSpPr>
          <p:spPr>
            <a:xfrm flipH="1" flipV="1">
              <a:off x="4328" y="2337"/>
              <a:ext cx="0" cy="718"/>
            </a:xfrm>
            <a:prstGeom prst="line">
              <a:avLst/>
            </a:prstGeom>
            <a:ln w="19050" cap="flat" cmpd="sng">
              <a:solidFill>
                <a:schemeClr val="tx1"/>
              </a:solidFill>
              <a:prstDash val="solid"/>
              <a:headEnd type="none" w="med" len="med"/>
              <a:tailEnd type="triangle" w="med" len="med"/>
            </a:ln>
          </p:spPr>
        </p:sp>
        <p:sp>
          <p:nvSpPr>
            <p:cNvPr id="12324" name="Line 1058"/>
            <p:cNvSpPr/>
            <p:nvPr/>
          </p:nvSpPr>
          <p:spPr>
            <a:xfrm flipH="1">
              <a:off x="5244" y="3374"/>
              <a:ext cx="273" cy="0"/>
            </a:xfrm>
            <a:prstGeom prst="line">
              <a:avLst/>
            </a:prstGeom>
            <a:ln w="19050" cap="flat" cmpd="sng">
              <a:solidFill>
                <a:schemeClr val="tx1"/>
              </a:solidFill>
              <a:prstDash val="solid"/>
              <a:headEnd type="none" w="med" len="med"/>
              <a:tailEnd type="triangle" w="med" len="med"/>
            </a:ln>
          </p:spPr>
        </p:sp>
      </p:grpSp>
      <p:sp>
        <p:nvSpPr>
          <p:cNvPr id="12296" name="Rectangle 1059"/>
          <p:cNvSpPr/>
          <p:nvPr/>
        </p:nvSpPr>
        <p:spPr>
          <a:xfrm>
            <a:off x="914400" y="555625"/>
            <a:ext cx="10361613" cy="636588"/>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建立结构寄存器到物理寄存器堆的映射</a:t>
            </a:r>
            <a:endParaRPr lang="zh-CN" altLang="en-US" sz="3600" dirty="0">
              <a:solidFill>
                <a:srgbClr val="FF3300"/>
              </a:solidFill>
              <a:latin typeface="Times New Roman" pitchFamily="18" charset="0"/>
              <a:ea typeface="黑体" panose="02000500000000000000"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6867" name="Rectangle 2"/>
          <p:cNvSpPr/>
          <p:nvPr/>
        </p:nvSpPr>
        <p:spPr>
          <a:xfrm>
            <a:off x="979488" y="0"/>
            <a:ext cx="10361612" cy="1006475"/>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使用物理寄存器堆的重命名算法（</a:t>
            </a:r>
            <a:r>
              <a:rPr lang="en-US" altLang="zh-CN" sz="3600" dirty="0">
                <a:solidFill>
                  <a:srgbClr val="FF3300"/>
                </a:solidFill>
                <a:latin typeface="Times New Roman" pitchFamily="18" charset="0"/>
                <a:ea typeface="黑体" panose="02000500000000000000" pitchFamily="49" charset="-122"/>
              </a:rPr>
              <a:t>1</a:t>
            </a:r>
            <a:r>
              <a:rPr lang="zh-CN" altLang="en-US" sz="3600" dirty="0">
                <a:solidFill>
                  <a:srgbClr val="FF3300"/>
                </a:solidFill>
                <a:latin typeface="Times New Roman" pitchFamily="18" charset="0"/>
                <a:ea typeface="黑体" panose="02000500000000000000" pitchFamily="49" charset="-122"/>
              </a:rPr>
              <a:t>）</a:t>
            </a:r>
            <a:endParaRPr lang="zh-CN" altLang="en-US" sz="3600" dirty="0">
              <a:solidFill>
                <a:srgbClr val="FF3300"/>
              </a:solidFill>
              <a:latin typeface="Times New Roman" pitchFamily="18" charset="0"/>
              <a:ea typeface="黑体" panose="02000500000000000000" pitchFamily="49" charset="-122"/>
            </a:endParaRPr>
          </a:p>
        </p:txBody>
      </p:sp>
      <p:sp>
        <p:nvSpPr>
          <p:cNvPr id="36868" name="Rectangle 3"/>
          <p:cNvSpPr/>
          <p:nvPr/>
        </p:nvSpPr>
        <p:spPr>
          <a:xfrm>
            <a:off x="887413" y="1016000"/>
            <a:ext cx="10999787" cy="5716588"/>
          </a:xfrm>
          <a:prstGeom prst="rect">
            <a:avLst/>
          </a:prstGeom>
          <a:noFill/>
          <a:ln w="9525">
            <a:noFill/>
          </a:ln>
        </p:spPr>
        <p:txBody>
          <a:bodyPr/>
          <a:p>
            <a:pPr marL="342900" indent="-342900" algn="l" fontAlgn="base">
              <a:lnSpc>
                <a:spcPct val="150000"/>
              </a:lnSpc>
              <a:spcBef>
                <a:spcPts val="600"/>
              </a:spcBef>
            </a:pPr>
            <a:r>
              <a:rPr lang="zh-CN" altLang="en-US" sz="2000" b="1" dirty="0">
                <a:solidFill>
                  <a:srgbClr val="FF3300"/>
                </a:solidFill>
                <a:latin typeface="宋体" panose="02000500000000000000" pitchFamily="2" charset="-122"/>
                <a:ea typeface="宋体" panose="02000500000000000000" pitchFamily="2" charset="-122"/>
                <a:cs typeface="宋体" panose="02000500000000000000" pitchFamily="2" charset="-122"/>
              </a:rPr>
              <a:t>假设保留站后读寄存器</a:t>
            </a:r>
            <a:endParaRPr lang="zh-CN" altLang="en-US" sz="2000" b="1" dirty="0">
              <a:solidFill>
                <a:srgbClr val="FF3300"/>
              </a:solidFill>
              <a:latin typeface="宋体" panose="02000500000000000000" pitchFamily="2" charset="-122"/>
              <a:ea typeface="宋体" panose="02000500000000000000" pitchFamily="2" charset="-122"/>
              <a:cs typeface="宋体" panose="02000500000000000000" pitchFamily="2" charset="-122"/>
            </a:endParaRPr>
          </a:p>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译码阶段</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把目标寄存器映射到一个空闲的物理寄存器</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为源寄存器根据依赖关系找到相应的物理寄存器号</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把重命名后的寄存器号写入保留站</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发射阶段</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判断所需的操作数是否已经准备好，或（</a:t>
            </a:r>
            <a:r>
              <a:rPr lang="en-US" altLang="zh-CN" sz="1600" b="1" dirty="0">
                <a:latin typeface="宋体" panose="02000500000000000000" pitchFamily="2" charset="-122"/>
                <a:ea typeface="宋体" panose="02000500000000000000" pitchFamily="2" charset="-122"/>
                <a:cs typeface="宋体" panose="02000500000000000000" pitchFamily="2" charset="-122"/>
              </a:rPr>
              <a:t>Forwarding</a:t>
            </a:r>
            <a:r>
              <a:rPr lang="zh-CN" altLang="en-US" sz="1600" b="1" dirty="0">
                <a:latin typeface="宋体" panose="02000500000000000000" pitchFamily="2" charset="-122"/>
                <a:ea typeface="宋体" panose="02000500000000000000" pitchFamily="2" charset="-122"/>
                <a:cs typeface="宋体" panose="02000500000000000000" pitchFamily="2" charset="-122"/>
              </a:rPr>
              <a:t>情况下）正在写回</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从物理寄存器或结果总线中读寄存器的值</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执行阶段</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执行结果根据目标物理寄存器号写回到物理寄存器</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不用写回到保留站</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7891" name="Rectangle 2"/>
          <p:cNvSpPr/>
          <p:nvPr/>
        </p:nvSpPr>
        <p:spPr>
          <a:xfrm>
            <a:off x="914400" y="288925"/>
            <a:ext cx="10361613" cy="636588"/>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使用物理寄存器堆的重命名算法（</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a:t>
            </a:r>
            <a:endParaRPr lang="zh-CN" altLang="en-US" sz="3600" dirty="0">
              <a:solidFill>
                <a:srgbClr val="FF3300"/>
              </a:solidFill>
              <a:latin typeface="Times New Roman" pitchFamily="18" charset="0"/>
              <a:ea typeface="黑体" panose="02000500000000000000" pitchFamily="49" charset="-122"/>
            </a:endParaRPr>
          </a:p>
        </p:txBody>
      </p:sp>
      <p:sp>
        <p:nvSpPr>
          <p:cNvPr id="37892" name="Rectangle 3"/>
          <p:cNvSpPr/>
          <p:nvPr/>
        </p:nvSpPr>
        <p:spPr>
          <a:xfrm>
            <a:off x="914400" y="1524000"/>
            <a:ext cx="11004550" cy="4375150"/>
          </a:xfrm>
          <a:prstGeom prst="rect">
            <a:avLst/>
          </a:prstGeom>
          <a:noFill/>
          <a:ln w="9525">
            <a:noFill/>
          </a:ln>
        </p:spPr>
        <p:txBody>
          <a:bodyPr/>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提交阶段</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修改重命名表确认目标寄存器的重命名关系</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释放老的目标寄存器重命名关系</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fontAlgn="base">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转移猜错或例外</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修改重命名表取消后面的已经建立的重命名关系</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把状态为</a:t>
            </a:r>
            <a:r>
              <a:rPr lang="en-US" altLang="zh-CN" sz="1600" b="1" dirty="0">
                <a:latin typeface="宋体" panose="02000500000000000000" pitchFamily="2" charset="-122"/>
                <a:ea typeface="宋体" panose="02000500000000000000" pitchFamily="2" charset="-122"/>
                <a:cs typeface="宋体" panose="02000500000000000000" pitchFamily="2" charset="-122"/>
              </a:rPr>
              <a:t>MAPPED</a:t>
            </a:r>
            <a:r>
              <a:rPr lang="zh-CN" altLang="en-US" sz="1600" b="1" dirty="0">
                <a:latin typeface="宋体" panose="02000500000000000000" pitchFamily="2" charset="-122"/>
                <a:ea typeface="宋体" panose="02000500000000000000" pitchFamily="2" charset="-122"/>
                <a:cs typeface="宋体" panose="02000500000000000000" pitchFamily="2" charset="-122"/>
              </a:rPr>
              <a:t>或</a:t>
            </a:r>
            <a:r>
              <a:rPr lang="en-US" altLang="zh-CN" sz="1600" b="1" dirty="0">
                <a:latin typeface="宋体" panose="02000500000000000000" pitchFamily="2" charset="-122"/>
                <a:ea typeface="宋体" panose="02000500000000000000" pitchFamily="2" charset="-122"/>
                <a:cs typeface="宋体" panose="02000500000000000000" pitchFamily="2" charset="-122"/>
              </a:rPr>
              <a:t>WRITEBACK</a:t>
            </a:r>
            <a:r>
              <a:rPr lang="zh-CN" altLang="en-US" sz="1600" b="1" dirty="0">
                <a:latin typeface="宋体" panose="02000500000000000000" pitchFamily="2" charset="-122"/>
                <a:ea typeface="宋体" panose="02000500000000000000" pitchFamily="2" charset="-122"/>
                <a:cs typeface="宋体" panose="02000500000000000000" pitchFamily="2" charset="-122"/>
              </a:rPr>
              <a:t>的都置为</a:t>
            </a:r>
            <a:r>
              <a:rPr lang="en-US" altLang="zh-CN" sz="1600" b="1" dirty="0">
                <a:latin typeface="宋体" panose="02000500000000000000" pitchFamily="2" charset="-122"/>
                <a:ea typeface="宋体" panose="02000500000000000000" pitchFamily="2" charset="-122"/>
                <a:cs typeface="宋体" panose="02000500000000000000" pitchFamily="2" charset="-122"/>
              </a:rPr>
              <a:t>EMPTY</a:t>
            </a:r>
            <a:endParaRPr lang="en-US" altLang="zh-CN"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fontAlgn="base">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确认状态为</a:t>
            </a:r>
            <a:r>
              <a:rPr lang="en-US" altLang="zh-CN" sz="1600" b="1" dirty="0">
                <a:latin typeface="宋体" panose="02000500000000000000" pitchFamily="2" charset="-122"/>
                <a:ea typeface="宋体" panose="02000500000000000000" pitchFamily="2" charset="-122"/>
                <a:cs typeface="宋体" panose="02000500000000000000" pitchFamily="2" charset="-122"/>
              </a:rPr>
              <a:t>COMMIT</a:t>
            </a:r>
            <a:r>
              <a:rPr lang="zh-CN" altLang="en-US" sz="1600" b="1" dirty="0">
                <a:latin typeface="宋体" panose="02000500000000000000" pitchFamily="2" charset="-122"/>
                <a:ea typeface="宋体" panose="02000500000000000000" pitchFamily="2" charset="-122"/>
                <a:cs typeface="宋体" panose="02000500000000000000" pitchFamily="2" charset="-122"/>
              </a:rPr>
              <a:t>的映射为相应逻辑寄存器的最新映射</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8915" name="Rectangle 2"/>
          <p:cNvSpPr/>
          <p:nvPr/>
        </p:nvSpPr>
        <p:spPr>
          <a:xfrm>
            <a:off x="914400" y="0"/>
            <a:ext cx="10361613" cy="1011238"/>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使用物理寄存器堆的重命名算法（</a:t>
            </a:r>
            <a:r>
              <a:rPr lang="en-US" altLang="zh-CN" sz="3600" dirty="0">
                <a:solidFill>
                  <a:srgbClr val="FF3300"/>
                </a:solidFill>
                <a:latin typeface="Times New Roman" pitchFamily="18" charset="0"/>
                <a:ea typeface="黑体" panose="02000500000000000000" pitchFamily="49" charset="-122"/>
              </a:rPr>
              <a:t>3</a:t>
            </a:r>
            <a:r>
              <a:rPr lang="zh-CN" altLang="en-US" sz="3600" dirty="0">
                <a:solidFill>
                  <a:srgbClr val="FF3300"/>
                </a:solidFill>
                <a:latin typeface="Times New Roman" pitchFamily="18" charset="0"/>
                <a:ea typeface="黑体" panose="02000500000000000000" pitchFamily="49" charset="-122"/>
              </a:rPr>
              <a:t>）</a:t>
            </a:r>
            <a:endParaRPr lang="zh-CN" altLang="en-US" sz="3600" dirty="0">
              <a:solidFill>
                <a:srgbClr val="FF3300"/>
              </a:solidFill>
              <a:latin typeface="Times New Roman" pitchFamily="18" charset="0"/>
              <a:ea typeface="黑体" panose="02000500000000000000" pitchFamily="49" charset="-122"/>
            </a:endParaRPr>
          </a:p>
        </p:txBody>
      </p:sp>
      <p:sp>
        <p:nvSpPr>
          <p:cNvPr id="37892" name="Rectangle 3"/>
          <p:cNvSpPr>
            <a:spLocks noChangeArrowheads="1"/>
          </p:cNvSpPr>
          <p:nvPr/>
        </p:nvSpPr>
        <p:spPr bwMode="auto">
          <a:xfrm>
            <a:off x="436880" y="1332230"/>
            <a:ext cx="7128510" cy="5362575"/>
          </a:xfrm>
          <a:prstGeom prst="rect">
            <a:avLst/>
          </a:prstGeom>
          <a:noFill/>
          <a:ln w="9525">
            <a:noFill/>
            <a:miter lim="800000"/>
          </a:ln>
        </p:spPr>
        <p:txBody>
          <a:bodyPr/>
          <a:lstStyle/>
          <a:p>
            <a:pPr marL="342900" marR="0" lvl="0" indent="-342900" algn="l" defTabSz="914400" rtl="0" fontAlgn="base">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核心是重命名表</a:t>
            </a:r>
            <a:endPar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fontAlgn="base">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可以用</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CAM</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或</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RAM</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的方法，以</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CAM</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的方法为例</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fontAlgn="base">
              <a:lnSpc>
                <a:spcPct val="150000"/>
              </a:lnSpc>
              <a:spcBef>
                <a:spcPts val="600"/>
              </a:spcBef>
              <a:spcAft>
                <a:spcPct val="0"/>
              </a:spcAft>
              <a:buClrTx/>
              <a:buSzTx/>
              <a:buFontTx/>
              <a:buChar char="•"/>
              <a:defRPr/>
            </a:pP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项数与物理寄存器一样</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285750" marR="0" lvl="0" indent="-285750" algn="l" defTabSz="914400" rtl="0" fontAlgn="base">
              <a:lnSpc>
                <a:spcPct val="150000"/>
              </a:lnSpc>
              <a:spcBef>
                <a:spcPts val="60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主要包括三个域</a:t>
            </a:r>
            <a:endParaRPr kumimoji="1" lang="zh-CN" altLang="en-US" sz="20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85800" marR="0" lvl="1" indent="-228600" algn="l" defTabSz="914400" rtl="0" fontAlgn="base">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name</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：相应的逻辑寄存器号</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85800" marR="0" lvl="1" indent="-228600" algn="l" defTabSz="914400" rtl="0" fontAlgn="base">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state</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EMPTY</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：表示该寄存器没有被重命名（重命名后又已经被释放）；</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MAPPED</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：表示已经被重命名但结果没有写回；</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WRITEBACK</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：表示结果已经写回重命名寄存器但没有提交到结构寄存器；</a:t>
            </a: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COMMIT</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：表示结果已经被确认</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685800" marR="0" lvl="1" indent="-228600" algn="l" defTabSz="914400" rtl="0" fontAlgn="base">
              <a:lnSpc>
                <a:spcPct val="150000"/>
              </a:lnSpc>
              <a:spcBef>
                <a:spcPts val="600"/>
              </a:spcBef>
              <a:spcAft>
                <a:spcPct val="0"/>
              </a:spcAft>
              <a:buClrTx/>
              <a:buSzTx/>
              <a:buFontTx/>
              <a:buChar char="•"/>
              <a:defRPr/>
            </a:pPr>
            <a:r>
              <a:rPr kumimoji="1" lang="en-US" altLang="zh-CN"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valid</a:t>
            </a:r>
            <a:r>
              <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：在一个逻辑寄存器对应多个物理寄存器的情况下表示最新映射</a:t>
            </a:r>
            <a:endParaRPr kumimoji="1" lang="zh-CN" altLang="en-US" sz="1600" b="1" i="0" u="none" strike="noStrike" kern="1200" cap="none" spc="0" normalizeH="0" baseline="0" noProof="0" dirty="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graphicFrame>
        <p:nvGraphicFramePr>
          <p:cNvPr id="5" name="表格 4"/>
          <p:cNvGraphicFramePr/>
          <p:nvPr/>
        </p:nvGraphicFramePr>
        <p:xfrm>
          <a:off x="8851265" y="1725295"/>
          <a:ext cx="1954530" cy="7680960"/>
        </p:xfrm>
        <a:graphic>
          <a:graphicData uri="http://schemas.openxmlformats.org/drawingml/2006/table">
            <a:tbl>
              <a:tblPr firstRow="1" bandRow="1">
                <a:tableStyleId>{5C22544A-7EE6-4342-B048-85BDC9FD1C3A}</a:tableStyleId>
              </a:tblPr>
              <a:tblGrid>
                <a:gridCol w="295275"/>
                <a:gridCol w="553085"/>
                <a:gridCol w="553085"/>
                <a:gridCol w="553085"/>
              </a:tblGrid>
              <a:tr h="182880">
                <a:tc>
                  <a:txBody>
                    <a:bodyPr/>
                    <a:p>
                      <a:pPr algn="r">
                        <a:buNone/>
                      </a:pP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a:noFill/>
                    </a:lnR>
                    <a:lnT>
                      <a:noFill/>
                    </a:lnT>
                    <a:lnB>
                      <a:noFill/>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name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state</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valid</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a:noFill/>
                    </a:lnL>
                    <a:lnR>
                      <a:noFill/>
                    </a:lnR>
                    <a:lnT>
                      <a:noFill/>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solidFill>
                            <a:schemeClr val="tx1"/>
                          </a:solidFill>
                          <a:latin typeface="宋体" panose="02000500000000000000" pitchFamily="2" charset="-122"/>
                          <a:ea typeface="宋体" panose="02000500000000000000" pitchFamily="2" charset="-122"/>
                        </a:rPr>
                        <a:t>63</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61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52400">
                <a:tc>
                  <a:txBody>
                    <a:bodyPr/>
                    <a:p>
                      <a:pPr algn="r">
                        <a:buNone/>
                      </a:pPr>
                      <a:r>
                        <a:rPr lang="en-US" altLang="zh-CN" sz="1200" b="1">
                          <a:latin typeface="宋体" panose="02000500000000000000" pitchFamily="2" charset="-122"/>
                          <a:ea typeface="宋体" panose="02000500000000000000" pitchFamily="2" charset="-122"/>
                        </a:rPr>
                        <a:t>60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36</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sym typeface="+mn-ea"/>
                        </a:rPr>
                        <a:t>empty</a:t>
                      </a: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zh-CN" altLang="en-US"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35</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34</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sym typeface="+mn-ea"/>
                        </a:rPr>
                        <a:t>wtbk</a:t>
                      </a:r>
                      <a:endParaRPr lang="en-US" altLang="zh-CN" sz="1200" b="1">
                        <a:solidFill>
                          <a:schemeClr val="tx1"/>
                        </a:solidFill>
                        <a:latin typeface="宋体" panose="02000500000000000000" pitchFamily="2" charset="-122"/>
                        <a:ea typeface="宋体" panose="02000500000000000000" pitchFamily="2" charset="-122"/>
                        <a:sym typeface="+mn-ea"/>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82880">
                <a:tc>
                  <a:txBody>
                    <a:bodyPr/>
                    <a:p>
                      <a:pPr algn="r">
                        <a:buNone/>
                      </a:pPr>
                      <a:r>
                        <a:rPr lang="en-US" altLang="zh-CN" sz="1200" b="1">
                          <a:latin typeface="宋体" panose="02000500000000000000" pitchFamily="2" charset="-122"/>
                          <a:ea typeface="宋体" panose="02000500000000000000" pitchFamily="2" charset="-122"/>
                        </a:rPr>
                        <a:t>32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1</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cmt</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chemeClr val="tx1"/>
                          </a:solidFill>
                          <a:latin typeface="宋体" panose="02000500000000000000" pitchFamily="2" charset="-122"/>
                          <a:ea typeface="宋体" panose="02000500000000000000" pitchFamily="2" charset="-122"/>
                        </a:rPr>
                        <a:t>0</a:t>
                      </a:r>
                      <a:endParaRPr lang="en-US" altLang="zh-CN" sz="1200" b="1">
                        <a:solidFill>
                          <a:schemeClr val="tx1"/>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rowSpan="3" gridSpan="3">
                  <a:txBody>
                    <a:bodyPr/>
                    <a:p>
                      <a:pPr algn="ctr">
                        <a:buNone/>
                      </a:pPr>
                      <a:endParaRPr lang="en-US" altLang="zh-CN" sz="1200" b="1">
                        <a:latin typeface="宋体" panose="02000500000000000000" pitchFamily="2" charset="-122"/>
                        <a:ea typeface="宋体" panose="02000500000000000000" pitchFamily="2" charset="-122"/>
                      </a:endParaRPr>
                    </a:p>
                    <a:p>
                      <a:pPr algn="ct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3"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endParaRPr lang="zh-CN" altLang="en-US"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vMerge="1" gridSpan="3">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hMerge="1">
                  <a:tcPr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37160">
                <a:tc>
                  <a:txBody>
                    <a:bodyPr/>
                    <a:p>
                      <a:pPr algn="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3</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2</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solidFill>
                            <a:srgbClr val="FF0000"/>
                          </a:solidFill>
                          <a:latin typeface="宋体" panose="02000500000000000000" pitchFamily="2" charset="-122"/>
                          <a:ea typeface="宋体" panose="02000500000000000000" pitchFamily="2" charset="-122"/>
                        </a:rPr>
                        <a:t>empty</a:t>
                      </a:r>
                      <a:endParaRPr lang="en-US" altLang="zh-CN" sz="1200" b="1">
                        <a:solidFill>
                          <a:srgbClr val="FF0000"/>
                        </a:solidFill>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r h="137160">
                <a:tc>
                  <a:txBody>
                    <a:bodyPr/>
                    <a:p>
                      <a:pPr algn="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a:noFill/>
                    </a:lnL>
                    <a:lnR w="12700" cmpd="sng">
                      <a:solidFill>
                        <a:schemeClr val="tx1"/>
                      </a:solidFill>
                      <a:prstDash val="solid"/>
                    </a:lnR>
                    <a:lnT>
                      <a:noFill/>
                    </a:lnT>
                    <a:lnB>
                      <a:noFill/>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0</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cmt</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algn="ctr">
                        <a:buNone/>
                      </a:pPr>
                      <a:r>
                        <a:rPr lang="en-US" altLang="zh-CN" sz="1200" b="1">
                          <a:latin typeface="宋体" panose="02000500000000000000" pitchFamily="2" charset="-122"/>
                          <a:ea typeface="宋体" panose="02000500000000000000" pitchFamily="2" charset="-122"/>
                        </a:rPr>
                        <a:t>1</a:t>
                      </a:r>
                      <a:endParaRPr lang="en-US" altLang="zh-CN" sz="1200" b="1">
                        <a:latin typeface="宋体" panose="02000500000000000000" pitchFamily="2" charset="-122"/>
                        <a:ea typeface="宋体" panose="02000500000000000000" pitchFamily="2" charset="-122"/>
                      </a:endParaRPr>
                    </a:p>
                  </a:txBody>
                  <a:tcPr marL="36195" marR="36195" marT="0" marB="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6"/>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39939" name="Rectangle 1026"/>
          <p:cNvSpPr>
            <a:spLocks noGrp="1"/>
          </p:cNvSpPr>
          <p:nvPr>
            <p:ph type="title"/>
          </p:nvPr>
        </p:nvSpPr>
        <p:spPr/>
        <p:txBody>
          <a:bodyPr vert="horz" wrap="square" lIns="91440" tIns="45720" rIns="91440" bIns="45720" anchor="ctr" anchorCtr="0"/>
          <a:p>
            <a:pPr eaLnBrk="1" hangingPunct="1"/>
            <a:r>
              <a:rPr lang="zh-CN" altLang="en-US" dirty="0"/>
              <a:t>不同处理器的重命名方法</a:t>
            </a:r>
            <a:endParaRPr lang="zh-CN" altLang="en-US" dirty="0"/>
          </a:p>
        </p:txBody>
      </p:sp>
      <p:graphicFrame>
        <p:nvGraphicFramePr>
          <p:cNvPr id="196673" name="Group 65"/>
          <p:cNvGraphicFramePr>
            <a:graphicFrameLocks noGrp="1"/>
          </p:cNvGraphicFramePr>
          <p:nvPr>
            <p:ph sz="half" idx="1"/>
          </p:nvPr>
        </p:nvGraphicFramePr>
        <p:xfrm>
          <a:off x="792163" y="1504950"/>
          <a:ext cx="10484602" cy="4378325"/>
        </p:xfrm>
        <a:graphic>
          <a:graphicData uri="http://schemas.openxmlformats.org/drawingml/2006/table">
            <a:tbl>
              <a:tblPr/>
              <a:tblGrid>
                <a:gridCol w="3619029"/>
                <a:gridCol w="3375645"/>
                <a:gridCol w="3489928"/>
              </a:tblGrid>
              <a:tr h="411163">
                <a:tc gridSpan="3">
                  <a:txBody>
                    <a:bodyPr/>
                    <a:lstStyle/>
                    <a:p>
                      <a:pPr marL="342900" marR="0" lvl="0" indent="-342900" algn="ctr" defTabSz="914400" rtl="0" eaLnBrk="1" fontAlgn="base" latinLnBrk="0" hangingPunct="1">
                        <a:lnSpc>
                          <a:spcPct val="100000"/>
                        </a:lnSpc>
                        <a:spcBef>
                          <a:spcPct val="0"/>
                        </a:spcBef>
                        <a:spcAft>
                          <a:spcPct val="0"/>
                        </a:spcAft>
                        <a:buClrTx/>
                        <a:buSzTx/>
                        <a:buFontTx/>
                        <a:buNone/>
                      </a:pPr>
                      <a:endParaRPr kumimoji="1" lang="zh-CN"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cap="flat">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r h="414338">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使用物理寄存器堆</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单独的重命名寄存器</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412750">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专设重命名寄存器</a:t>
                      </a:r>
                      <a:endParaRPr kumimoji="1" lang="zh-CN" altLang="en-US"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重命名到</a:t>
                      </a:r>
                      <a:r>
                        <a:rPr kumimoji="1" lang="en-US" altLang="zh-CN" sz="2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ROB</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685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Power1(1990)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Power2(1993)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ES/9000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nX586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PM1(Sparc64,1995)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R10000</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R12000</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 21264(1998)</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pt-BR"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AMD K8 FP</a:t>
                      </a:r>
                      <a:endParaRPr kumimoji="1" lang="pt-BR"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Godson-2(2003)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603(1993)</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604(1995)</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PowerPC 620(1996)</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Power3(1998)</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PA8000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PA8200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PA8500</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AMD K8 Int</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Am29000 (1995)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K5(1995)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M1(1995)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K6(1997)</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de-DE"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 Pro(1995)</a:t>
                      </a:r>
                      <a:endParaRPr kumimoji="1" lang="de-DE"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 II(1997)</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Pentium III(1999)</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Intel Core</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cs typeface="Times New Roman"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1" lang="en-US" altLang="zh-CN" sz="2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Godson-1</a:t>
                      </a:r>
                      <a:endParaRPr kumimoji="1" lang="en-US" altLang="zh-CN" sz="2000" b="0" i="0" u="none" strike="noStrike" cap="none" normalizeH="0" baseline="0" smtClean="0">
                        <a:ln>
                          <a:noFill/>
                        </a:ln>
                        <a:solidFill>
                          <a:schemeClr val="tx1"/>
                        </a:solidFill>
                        <a:effectLst/>
                        <a:latin typeface="Times New Roman" pitchFamily="18" charset="0"/>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6628" name="Rectangle 1028"/>
          <p:cNvSpPr/>
          <p:nvPr/>
        </p:nvSpPr>
        <p:spPr>
          <a:xfrm>
            <a:off x="915035" y="6121400"/>
            <a:ext cx="10284460" cy="635000"/>
          </a:xfrm>
          <a:prstGeom prst="rect">
            <a:avLst/>
          </a:prstGeom>
          <a:noFill/>
          <a:ln w="9525">
            <a:noFill/>
          </a:ln>
        </p:spPr>
        <p:txBody>
          <a:bodyPr/>
          <a:p>
            <a:pPr marL="342900" indent="-342900" algn="l">
              <a:lnSpc>
                <a:spcPct val="110000"/>
              </a:lnSpc>
              <a:spcBef>
                <a:spcPct val="10000"/>
              </a:spcBef>
              <a:buChar char="•"/>
            </a:pPr>
            <a:r>
              <a:rPr lang="zh-CN" altLang="en-US" sz="1600" b="1" dirty="0">
                <a:solidFill>
                  <a:srgbClr val="FF0000"/>
                </a:solidFill>
                <a:latin typeface="宋体" panose="02000500000000000000" pitchFamily="2" charset="-122"/>
                <a:cs typeface="宋体" panose="02000500000000000000" pitchFamily="2" charset="-122"/>
              </a:rPr>
              <a:t>使用物理寄存器堆减少了一次从重命名寄存器到结构寄存器的值（高达</a:t>
            </a:r>
            <a:r>
              <a:rPr lang="en-US" altLang="zh-CN" sz="1600" b="1" dirty="0">
                <a:solidFill>
                  <a:srgbClr val="FF0000"/>
                </a:solidFill>
                <a:latin typeface="宋体" panose="02000500000000000000" pitchFamily="2" charset="-122"/>
                <a:cs typeface="宋体" panose="02000500000000000000" pitchFamily="2" charset="-122"/>
              </a:rPr>
              <a:t>256</a:t>
            </a:r>
            <a:r>
              <a:rPr lang="zh-CN" altLang="en-US" sz="1600" b="1" dirty="0">
                <a:solidFill>
                  <a:srgbClr val="FF0000"/>
                </a:solidFill>
                <a:latin typeface="宋体" panose="02000500000000000000" pitchFamily="2" charset="-122"/>
                <a:cs typeface="宋体" panose="02000500000000000000" pitchFamily="2" charset="-122"/>
              </a:rPr>
              <a:t>或</a:t>
            </a:r>
            <a:r>
              <a:rPr lang="en-US" altLang="zh-CN" sz="1600" b="1" dirty="0">
                <a:solidFill>
                  <a:srgbClr val="FF0000"/>
                </a:solidFill>
                <a:latin typeface="宋体" panose="02000500000000000000" pitchFamily="2" charset="-122"/>
                <a:cs typeface="宋体" panose="02000500000000000000" pitchFamily="2" charset="-122"/>
              </a:rPr>
              <a:t>512</a:t>
            </a:r>
            <a:r>
              <a:rPr lang="zh-CN" altLang="en-US" sz="1600" b="1" dirty="0">
                <a:solidFill>
                  <a:srgbClr val="FF0000"/>
                </a:solidFill>
                <a:latin typeface="宋体" panose="02000500000000000000" pitchFamily="2" charset="-122"/>
                <a:cs typeface="宋体" panose="02000500000000000000" pitchFamily="2" charset="-122"/>
              </a:rPr>
              <a:t>位）拷贝，大幅降低了功耗</a:t>
            </a:r>
            <a:endParaRPr lang="zh-CN" altLang="en-US" sz="16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0963"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常见处理器的数据通路</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1987" name="Rectangle 2"/>
          <p:cNvSpPr>
            <a:spLocks noGrp="1"/>
          </p:cNvSpPr>
          <p:nvPr>
            <p:ph type="title"/>
          </p:nvPr>
        </p:nvSpPr>
        <p:spPr/>
        <p:txBody>
          <a:bodyPr vert="horz" wrap="square" lIns="91440" tIns="45720" rIns="91440" bIns="45720" anchor="ctr" anchorCtr="0"/>
          <a:p>
            <a:pPr eaLnBrk="1" hangingPunct="1"/>
            <a:r>
              <a:rPr lang="zh-CN" altLang="en-US" dirty="0"/>
              <a:t>乱序执行的数据通路</a:t>
            </a:r>
            <a:endParaRPr lang="zh-CN" altLang="en-US" dirty="0"/>
          </a:p>
        </p:txBody>
      </p:sp>
      <p:sp>
        <p:nvSpPr>
          <p:cNvPr id="41988" name="Rectangle 3"/>
          <p:cNvSpPr>
            <a:spLocks noGrp="1"/>
          </p:cNvSpPr>
          <p:nvPr>
            <p:ph idx="1"/>
          </p:nvPr>
        </p:nvSpPr>
        <p:spPr>
          <a:xfrm>
            <a:off x="566738" y="1981200"/>
            <a:ext cx="11387137" cy="4114800"/>
          </a:xfrm>
        </p:spPr>
        <p:txBody>
          <a:bodyPr vert="horz" wrap="square" lIns="91440" tIns="45720" rIns="91440" bIns="45720" anchor="t" anchorCtr="0"/>
          <a:p>
            <a:pPr eaLnBrk="1" hangingPunct="1">
              <a:lnSpc>
                <a:spcPct val="150000"/>
              </a:lnSpc>
            </a:pPr>
            <a:r>
              <a:rPr lang="zh-CN" altLang="en-US" sz="2400" dirty="0"/>
              <a:t>三方面考虑</a:t>
            </a:r>
            <a:endParaRPr lang="zh-CN" altLang="en-US" sz="2400" dirty="0"/>
          </a:p>
          <a:p>
            <a:pPr lvl="1" eaLnBrk="1" hangingPunct="1">
              <a:lnSpc>
                <a:spcPct val="150000"/>
              </a:lnSpc>
            </a:pPr>
            <a:r>
              <a:rPr lang="zh-CN" altLang="en-US" sz="2000" dirty="0"/>
              <a:t>保留站结构（独立、分组、全局）</a:t>
            </a:r>
            <a:endParaRPr lang="zh-CN" altLang="en-US" sz="2000" dirty="0"/>
          </a:p>
          <a:p>
            <a:pPr lvl="1" eaLnBrk="1" hangingPunct="1">
              <a:lnSpc>
                <a:spcPct val="150000"/>
              </a:lnSpc>
            </a:pPr>
            <a:r>
              <a:rPr lang="zh-CN" altLang="en-US" sz="2000" dirty="0"/>
              <a:t>读操作数时机（译码、发射）</a:t>
            </a:r>
            <a:endParaRPr lang="zh-CN" altLang="en-US" sz="2000" dirty="0"/>
          </a:p>
          <a:p>
            <a:pPr lvl="1" eaLnBrk="1" hangingPunct="1">
              <a:lnSpc>
                <a:spcPct val="150000"/>
              </a:lnSpc>
            </a:pPr>
            <a:r>
              <a:rPr lang="zh-CN" altLang="en-US" sz="2000" dirty="0"/>
              <a:t>重命名方式（重命名寄存器与结构寄存器分开、不分开）</a:t>
            </a:r>
            <a:endParaRPr lang="zh-CN" altLang="en-US" sz="2000" dirty="0"/>
          </a:p>
          <a:p>
            <a:pPr eaLnBrk="1" hangingPunct="1">
              <a:lnSpc>
                <a:spcPct val="150000"/>
              </a:lnSpc>
            </a:pPr>
            <a:r>
              <a:rPr lang="zh-CN" altLang="en-US" sz="2400" dirty="0"/>
              <a:t>因此一共有</a:t>
            </a:r>
            <a:r>
              <a:rPr lang="en-US" altLang="zh-CN" sz="2400" dirty="0"/>
              <a:t>12</a:t>
            </a:r>
            <a:r>
              <a:rPr lang="zh-CN" altLang="en-US" sz="2400" dirty="0"/>
              <a:t>种组合</a:t>
            </a:r>
            <a:endParaRPr lang="zh-CN"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13316" name="Rectangle 2"/>
          <p:cNvSpPr>
            <a:spLocks noGrp="1"/>
          </p:cNvSpPr>
          <p:nvPr>
            <p:ph type="title"/>
          </p:nvPr>
        </p:nvSpPr>
        <p:spPr/>
        <p:txBody>
          <a:bodyPr vert="horz" wrap="square" lIns="91440" tIns="45720" rIns="91440" bIns="45720" anchor="ctr" anchorCtr="0"/>
          <a:p>
            <a:pPr eaLnBrk="1" hangingPunct="1"/>
            <a:r>
              <a:rPr lang="zh-CN" altLang="en-US" dirty="0"/>
              <a:t>数据通路类型</a:t>
            </a:r>
            <a:endParaRPr lang="zh-CN" altLang="en-US" dirty="0"/>
          </a:p>
        </p:txBody>
      </p:sp>
      <p:sp>
        <p:nvSpPr>
          <p:cNvPr id="5" name="Rectangle 3"/>
          <p:cNvSpPr txBox="1">
            <a:spLocks noChangeArrowheads="1"/>
          </p:cNvSpPr>
          <p:nvPr/>
        </p:nvSpPr>
        <p:spPr bwMode="auto">
          <a:xfrm>
            <a:off x="566738" y="5283200"/>
            <a:ext cx="11387138" cy="1038225"/>
          </a:xfrm>
          <a:prstGeom prst="rect">
            <a:avLst/>
          </a:prstGeom>
          <a:noFill/>
          <a:ln w="9525">
            <a:noFill/>
            <a:miter lim="800000"/>
          </a:ln>
        </p:spPr>
        <p:txBody>
          <a:bodyPr/>
          <a:lstStyle/>
          <a:p>
            <a:pPr marL="342900" marR="0" indent="-342900" algn="l" defTabSz="914400">
              <a:lnSpc>
                <a:spcPct val="150000"/>
              </a:lnSpc>
              <a:buClrTx/>
              <a:buSzTx/>
              <a:buFontTx/>
              <a:buChar char="•"/>
              <a:defRPr/>
            </a:pPr>
            <a:r>
              <a:rPr kumimoji="1" lang="zh-CN" altLang="en-US" sz="1800" b="1" kern="0" cap="none" spc="0" normalizeH="0" baseline="0" noProof="0" dirty="0">
                <a:solidFill>
                  <a:srgbClr val="7030A0"/>
                </a:solidFill>
                <a:latin typeface="+mn-lt"/>
                <a:ea typeface="+mn-ea"/>
                <a:cs typeface="+mn-cs"/>
              </a:rPr>
              <a:t>保留站后读操作数可以减少一次源操作数拷贝（从寄存器到保留站）</a:t>
            </a:r>
            <a:endParaRPr kumimoji="1" lang="en-US" altLang="zh-CN" sz="1800" b="1" kern="0" cap="none" spc="0" normalizeH="0" baseline="0" noProof="0" dirty="0">
              <a:solidFill>
                <a:srgbClr val="7030A0"/>
              </a:solidFill>
              <a:latin typeface="+mn-lt"/>
              <a:ea typeface="+mn-ea"/>
              <a:cs typeface="+mn-cs"/>
            </a:endParaRPr>
          </a:p>
          <a:p>
            <a:pPr marL="342900" marR="0" indent="-342900" algn="l" defTabSz="914400">
              <a:lnSpc>
                <a:spcPct val="150000"/>
              </a:lnSpc>
              <a:buClrTx/>
              <a:buSzTx/>
              <a:buFontTx/>
              <a:buChar char="•"/>
              <a:defRPr/>
            </a:pPr>
            <a:r>
              <a:rPr kumimoji="1" lang="zh-CN" altLang="en-US" sz="1800" b="1" kern="0" cap="none" spc="0" normalizeH="0" baseline="0" noProof="0" dirty="0">
                <a:solidFill>
                  <a:srgbClr val="7030A0"/>
                </a:solidFill>
                <a:latin typeface="+mn-lt"/>
                <a:ea typeface="+mn-ea"/>
                <a:cs typeface="+mn-cs"/>
              </a:rPr>
              <a:t>物理寄存器堆可以减少一次结果操作数拷贝（从物理寄存器到结构寄存器）</a:t>
            </a:r>
            <a:endParaRPr kumimoji="1" lang="zh-CN" altLang="en-US" sz="1800" b="1" kern="0" cap="none" spc="0" normalizeH="0" baseline="0" noProof="0" dirty="0">
              <a:solidFill>
                <a:srgbClr val="7030A0"/>
              </a:solidFill>
              <a:latin typeface="+mn-lt"/>
              <a:ea typeface="+mn-ea"/>
              <a:cs typeface="+mn-cs"/>
            </a:endParaRPr>
          </a:p>
        </p:txBody>
      </p:sp>
      <p:graphicFrame>
        <p:nvGraphicFramePr>
          <p:cNvPr id="2" name="表格 1"/>
          <p:cNvGraphicFramePr/>
          <p:nvPr/>
        </p:nvGraphicFramePr>
        <p:xfrm>
          <a:off x="914400" y="1477010"/>
          <a:ext cx="9725660" cy="3599180"/>
        </p:xfrm>
        <a:graphic>
          <a:graphicData uri="http://schemas.openxmlformats.org/drawingml/2006/table">
            <a:tbl>
              <a:tblPr firstRow="1" bandRow="1">
                <a:tableStyleId>{5C22544A-7EE6-4342-B048-85BDC9FD1C3A}</a:tableStyleId>
              </a:tblPr>
              <a:tblGrid>
                <a:gridCol w="2431415"/>
                <a:gridCol w="2431415"/>
                <a:gridCol w="2431415"/>
                <a:gridCol w="2431415"/>
              </a:tblGrid>
              <a:tr h="520700">
                <a:tc>
                  <a:txBody>
                    <a:bodyPr/>
                    <a:p>
                      <a:pPr indent="0" algn="ctr">
                        <a:buNone/>
                      </a:pP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lgn="ctr">
                        <a:buNone/>
                      </a:pPr>
                      <a:r>
                        <a:rPr lang="en-US" sz="1600" b="1">
                          <a:solidFill>
                            <a:srgbClr val="FF0000"/>
                          </a:solidFill>
                          <a:latin typeface="宋体" panose="02000500000000000000" pitchFamily="2" charset="-122"/>
                          <a:ea typeface="宋体" panose="02000500000000000000" pitchFamily="2" charset="-122"/>
                        </a:rPr>
                        <a:t>单项保留站</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lgn="ctr">
                        <a:buNone/>
                      </a:pPr>
                      <a:r>
                        <a:rPr lang="en-US" sz="1600" b="1">
                          <a:solidFill>
                            <a:srgbClr val="FF0000"/>
                          </a:solidFill>
                          <a:latin typeface="宋体" panose="02000500000000000000" pitchFamily="2" charset="-122"/>
                          <a:ea typeface="宋体" panose="02000500000000000000" pitchFamily="2" charset="-122"/>
                        </a:rPr>
                        <a:t>分组保留站</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lgn="ctr">
                        <a:buNone/>
                      </a:pPr>
                      <a:r>
                        <a:rPr lang="en-US" sz="1600" b="1">
                          <a:solidFill>
                            <a:srgbClr val="FF0000"/>
                          </a:solidFill>
                          <a:latin typeface="宋体" panose="02000500000000000000" pitchFamily="2" charset="-122"/>
                          <a:ea typeface="宋体" panose="02000500000000000000" pitchFamily="2" charset="-122"/>
                        </a:rPr>
                        <a:t>全局保留站</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66750">
                <a:tc>
                  <a:txBody>
                    <a:bodyPr/>
                    <a:p>
                      <a:pPr indent="0">
                        <a:buNone/>
                      </a:pPr>
                      <a:r>
                        <a:rPr lang="en-US" sz="1600" b="1">
                          <a:solidFill>
                            <a:srgbClr val="FF0000"/>
                          </a:solidFill>
                          <a:latin typeface="宋体" panose="02000500000000000000" pitchFamily="2" charset="-122"/>
                          <a:ea typeface="宋体" panose="02000500000000000000" pitchFamily="2" charset="-122"/>
                        </a:rPr>
                        <a:t>保留站前读操作数独立重命名寄存器</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PPC603, PPC604, PPC620, K5, Godson-1</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66750">
                <a:tc>
                  <a:txBody>
                    <a:bodyPr/>
                    <a:p>
                      <a:pPr indent="0">
                        <a:buNone/>
                      </a:pPr>
                      <a:r>
                        <a:rPr lang="en-US" sz="1600" b="1">
                          <a:solidFill>
                            <a:srgbClr val="FF0000"/>
                          </a:solidFill>
                          <a:latin typeface="宋体" panose="02000500000000000000" pitchFamily="2" charset="-122"/>
                          <a:ea typeface="宋体" panose="02000500000000000000" pitchFamily="2" charset="-122"/>
                        </a:rPr>
                        <a:t>保留站前读操作数物理寄存器堆</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666115">
                <a:tc>
                  <a:txBody>
                    <a:bodyPr/>
                    <a:p>
                      <a:pPr indent="0">
                        <a:buNone/>
                      </a:pPr>
                      <a:r>
                        <a:rPr lang="en-US" sz="1600" b="1">
                          <a:solidFill>
                            <a:srgbClr val="FF0000"/>
                          </a:solidFill>
                          <a:latin typeface="宋体" panose="02000500000000000000" pitchFamily="2" charset="-122"/>
                          <a:ea typeface="宋体" panose="02000500000000000000" pitchFamily="2" charset="-122"/>
                        </a:rPr>
                        <a:t>保留站后读操作数独立重命名寄存器</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 </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PA-8700</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indent="0">
                        <a:buNone/>
                      </a:pPr>
                      <a:r>
                        <a:rPr lang="en-US" sz="1600" b="1">
                          <a:latin typeface="宋体" panose="02000500000000000000" pitchFamily="2" charset="-122"/>
                          <a:ea typeface="宋体" panose="02000500000000000000" pitchFamily="2" charset="-122"/>
                        </a:rPr>
                        <a:t>Pentium Pro</a:t>
                      </a:r>
                      <a:endParaRPr lang="en-US" altLang="en-US" sz="1600" b="1">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1078865">
                <a:tc>
                  <a:txBody>
                    <a:bodyPr/>
                    <a:p>
                      <a:pPr indent="0">
                        <a:buNone/>
                      </a:pPr>
                      <a:r>
                        <a:rPr lang="en-US" sz="1600" b="1">
                          <a:solidFill>
                            <a:srgbClr val="FF0000"/>
                          </a:solidFill>
                          <a:latin typeface="宋体" panose="02000500000000000000" pitchFamily="2" charset="-122"/>
                          <a:ea typeface="宋体" panose="02000500000000000000" pitchFamily="2" charset="-122"/>
                        </a:rPr>
                        <a:t>保留站后读操作数物理寄存器堆</a:t>
                      </a:r>
                      <a:endParaRPr lang="en-US" altLang="en-US" sz="1600" b="1">
                        <a:solidFill>
                          <a:srgbClr val="FF0000"/>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indent="0">
                        <a:buNone/>
                      </a:pPr>
                      <a:r>
                        <a:rPr lang="en-US" sz="1600" b="1">
                          <a:solidFill>
                            <a:schemeClr val="accent2"/>
                          </a:solidFill>
                          <a:latin typeface="宋体" panose="02000500000000000000" pitchFamily="2" charset="-122"/>
                          <a:ea typeface="宋体" panose="02000500000000000000" pitchFamily="2" charset="-122"/>
                        </a:rPr>
                        <a:t>Apple M1/2</a:t>
                      </a:r>
                      <a:r>
                        <a:rPr lang="zh-CN" altLang="en-US" sz="1600" b="1">
                          <a:solidFill>
                            <a:schemeClr val="accent2"/>
                          </a:solidFill>
                          <a:latin typeface="宋体" panose="02000500000000000000" pitchFamily="2" charset="-122"/>
                          <a:ea typeface="宋体" panose="02000500000000000000" pitchFamily="2" charset="-122"/>
                        </a:rPr>
                        <a:t>（</a:t>
                      </a:r>
                      <a:r>
                        <a:rPr lang="en-US" altLang="zh-CN" sz="1600" b="1">
                          <a:solidFill>
                            <a:schemeClr val="accent2"/>
                          </a:solidFill>
                          <a:latin typeface="宋体" panose="02000500000000000000" pitchFamily="2" charset="-122"/>
                          <a:ea typeface="宋体" panose="02000500000000000000" pitchFamily="2" charset="-122"/>
                        </a:rPr>
                        <a:t>2</a:t>
                      </a:r>
                      <a:r>
                        <a:rPr lang="zh-CN" altLang="en-US" sz="1600" b="1">
                          <a:solidFill>
                            <a:schemeClr val="accent2"/>
                          </a:solidFill>
                          <a:latin typeface="宋体" panose="02000500000000000000" pitchFamily="2" charset="-122"/>
                          <a:ea typeface="宋体" panose="02000500000000000000" pitchFamily="2" charset="-122"/>
                        </a:rPr>
                        <a:t>×</a:t>
                      </a:r>
                      <a:r>
                        <a:rPr lang="en-US" altLang="zh-CN" sz="1600" b="1">
                          <a:solidFill>
                            <a:schemeClr val="accent2"/>
                          </a:solidFill>
                          <a:latin typeface="宋体" panose="02000500000000000000" pitchFamily="2" charset="-122"/>
                          <a:ea typeface="宋体" panose="02000500000000000000" pitchFamily="2" charset="-122"/>
                        </a:rPr>
                        <a:t>2</a:t>
                      </a:r>
                      <a:r>
                        <a:rPr lang="zh-CN" altLang="en-US" sz="1600" b="1">
                          <a:solidFill>
                            <a:schemeClr val="accent2"/>
                          </a:solidFill>
                          <a:latin typeface="宋体" panose="02000500000000000000" pitchFamily="2" charset="-122"/>
                          <a:ea typeface="宋体" panose="02000500000000000000" pitchFamily="2" charset="-122"/>
                        </a:rPr>
                        <a:t>），</a:t>
                      </a:r>
                      <a:endParaRPr lang="zh-CN" altLang="en-US" sz="1600" b="1">
                        <a:solidFill>
                          <a:schemeClr val="accent2"/>
                        </a:solidFill>
                        <a:latin typeface="宋体" panose="02000500000000000000" pitchFamily="2" charset="-122"/>
                        <a:ea typeface="宋体" panose="02000500000000000000" pitchFamily="2" charset="-122"/>
                      </a:endParaRPr>
                    </a:p>
                    <a:p>
                      <a:pPr indent="0">
                        <a:buNone/>
                      </a:pPr>
                      <a:r>
                        <a:rPr lang="zh-CN" altLang="en-US" sz="1600" b="1">
                          <a:solidFill>
                            <a:schemeClr val="accent2"/>
                          </a:solidFill>
                          <a:latin typeface="宋体" panose="02000500000000000000" pitchFamily="2" charset="-122"/>
                          <a:ea typeface="宋体" panose="02000500000000000000" pitchFamily="2" charset="-122"/>
                        </a:rPr>
                        <a:t>龙芯</a:t>
                      </a:r>
                      <a:r>
                        <a:rPr lang="en-US" altLang="zh-CN" sz="1600" b="1">
                          <a:solidFill>
                            <a:schemeClr val="accent2"/>
                          </a:solidFill>
                          <a:latin typeface="宋体" panose="02000500000000000000" pitchFamily="2" charset="-122"/>
                          <a:ea typeface="宋体" panose="02000500000000000000" pitchFamily="2" charset="-122"/>
                        </a:rPr>
                        <a:t>LA864</a:t>
                      </a:r>
                      <a:r>
                        <a:rPr lang="zh-CN" altLang="en-US" sz="1600" b="1">
                          <a:solidFill>
                            <a:schemeClr val="accent2"/>
                          </a:solidFill>
                          <a:latin typeface="宋体" panose="02000500000000000000" pitchFamily="2" charset="-122"/>
                          <a:ea typeface="宋体" panose="02000500000000000000" pitchFamily="2" charset="-122"/>
                        </a:rPr>
                        <a:t>（</a:t>
                      </a:r>
                      <a:r>
                        <a:rPr lang="en-US" altLang="zh-CN" sz="1600" b="1">
                          <a:solidFill>
                            <a:schemeClr val="accent2"/>
                          </a:solidFill>
                          <a:latin typeface="宋体" panose="02000500000000000000" pitchFamily="2" charset="-122"/>
                          <a:ea typeface="宋体" panose="02000500000000000000" pitchFamily="2" charset="-122"/>
                        </a:rPr>
                        <a:t>2</a:t>
                      </a:r>
                      <a:r>
                        <a:rPr lang="zh-CN" altLang="en-US" sz="1600" b="1">
                          <a:solidFill>
                            <a:schemeClr val="accent2"/>
                          </a:solidFill>
                          <a:latin typeface="宋体" panose="02000500000000000000" pitchFamily="2" charset="-122"/>
                          <a:ea typeface="宋体" panose="02000500000000000000" pitchFamily="2" charset="-122"/>
                        </a:rPr>
                        <a:t>×</a:t>
                      </a:r>
                      <a:r>
                        <a:rPr lang="en-US" altLang="zh-CN" sz="1600" b="1">
                          <a:solidFill>
                            <a:schemeClr val="accent2"/>
                          </a:solidFill>
                          <a:latin typeface="宋体" panose="02000500000000000000" pitchFamily="2" charset="-122"/>
                          <a:ea typeface="宋体" panose="02000500000000000000" pitchFamily="2" charset="-122"/>
                        </a:rPr>
                        <a:t>2</a:t>
                      </a:r>
                      <a:r>
                        <a:rPr lang="zh-CN" altLang="en-US" sz="1600" b="1">
                          <a:solidFill>
                            <a:schemeClr val="accent2"/>
                          </a:solidFill>
                          <a:latin typeface="宋体" panose="02000500000000000000" pitchFamily="2" charset="-122"/>
                          <a:ea typeface="宋体" panose="02000500000000000000" pitchFamily="2" charset="-122"/>
                        </a:rPr>
                        <a:t>）</a:t>
                      </a:r>
                      <a:endParaRPr lang="zh-CN" altLang="en-US" sz="1600" b="1">
                        <a:solidFill>
                          <a:schemeClr val="accent2"/>
                        </a:solidFill>
                        <a:latin typeface="宋体" panose="02000500000000000000" pitchFamily="2" charset="-122"/>
                        <a:ea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indent="0">
                        <a:buNone/>
                      </a:pPr>
                      <a:r>
                        <a:rPr lang="en-US" sz="1600" b="1">
                          <a:latin typeface="宋体" panose="02000500000000000000" pitchFamily="2" charset="-122"/>
                          <a:ea typeface="宋体" panose="02000500000000000000" pitchFamily="2" charset="-122"/>
                        </a:rPr>
                        <a:t>Power4, Alpha 21264, MIPS R10000</a:t>
                      </a:r>
                      <a:r>
                        <a:rPr lang="zh-CN" altLang="en-US" sz="1600" b="1">
                          <a:latin typeface="宋体" panose="02000500000000000000" pitchFamily="2" charset="-122"/>
                          <a:ea typeface="宋体" panose="02000500000000000000" pitchFamily="2" charset="-122"/>
                        </a:rPr>
                        <a:t>；</a:t>
                      </a:r>
                      <a:endParaRPr lang="en-US" sz="1600" b="1">
                        <a:latin typeface="宋体" panose="02000500000000000000" pitchFamily="2" charset="-122"/>
                        <a:ea typeface="宋体" panose="02000500000000000000" pitchFamily="2" charset="-122"/>
                      </a:endParaRPr>
                    </a:p>
                    <a:p>
                      <a:pPr indent="0">
                        <a:buNone/>
                      </a:pPr>
                      <a:r>
                        <a:rPr lang="en-US" altLang="zh-CN" sz="1600" b="1">
                          <a:solidFill>
                            <a:schemeClr val="accent2"/>
                          </a:solidFill>
                          <a:latin typeface="宋体" panose="02000500000000000000" pitchFamily="2" charset="-122"/>
                          <a:ea typeface="宋体" panose="02000500000000000000" pitchFamily="2" charset="-122"/>
                        </a:rPr>
                        <a:t>AMD</a:t>
                      </a:r>
                      <a:r>
                        <a:rPr lang="zh-CN" altLang="en-US" sz="1600" b="1">
                          <a:solidFill>
                            <a:schemeClr val="accent2"/>
                          </a:solidFill>
                          <a:latin typeface="宋体" panose="02000500000000000000" pitchFamily="2" charset="-122"/>
                          <a:ea typeface="宋体" panose="02000500000000000000" pitchFamily="2" charset="-122"/>
                        </a:rPr>
                        <a:t>，</a:t>
                      </a:r>
                      <a:r>
                        <a:rPr lang="en-US" altLang="zh-CN" sz="1600" b="1">
                          <a:solidFill>
                            <a:schemeClr val="accent2"/>
                          </a:solidFill>
                          <a:latin typeface="宋体" panose="02000500000000000000" pitchFamily="2" charset="-122"/>
                          <a:ea typeface="宋体" panose="02000500000000000000" pitchFamily="2" charset="-122"/>
                        </a:rPr>
                        <a:t>Intel Lake</a:t>
                      </a:r>
                      <a:r>
                        <a:rPr lang="zh-CN" altLang="en-US" sz="1600" b="1">
                          <a:solidFill>
                            <a:schemeClr val="accent2"/>
                          </a:solidFill>
                          <a:latin typeface="宋体" panose="02000500000000000000" pitchFamily="2" charset="-122"/>
                          <a:ea typeface="宋体" panose="02000500000000000000" pitchFamily="2" charset="-122"/>
                        </a:rPr>
                        <a:t>系列</a:t>
                      </a:r>
                      <a:r>
                        <a:rPr lang="en-US" altLang="zh-CN" sz="1600" b="1">
                          <a:solidFill>
                            <a:schemeClr val="accent2"/>
                          </a:solidFill>
                          <a:latin typeface="宋体" panose="02000500000000000000" pitchFamily="2" charset="-122"/>
                          <a:ea typeface="宋体" panose="02000500000000000000" pitchFamily="2" charset="-122"/>
                        </a:rPr>
                        <a:t>(?)</a:t>
                      </a:r>
                      <a:r>
                        <a:rPr lang="zh-CN" altLang="en-US" sz="1600" b="1">
                          <a:solidFill>
                            <a:schemeClr val="accent2"/>
                          </a:solidFill>
                          <a:latin typeface="宋体" panose="02000500000000000000" pitchFamily="2" charset="-122"/>
                          <a:ea typeface="宋体" panose="02000500000000000000" pitchFamily="2" charset="-122"/>
                        </a:rPr>
                        <a:t>，</a:t>
                      </a:r>
                      <a:endParaRPr lang="zh-CN" altLang="en-US" sz="1600" b="1">
                        <a:solidFill>
                          <a:schemeClr val="accent2"/>
                        </a:solidFill>
                        <a:latin typeface="宋体" panose="02000500000000000000" pitchFamily="2" charset="-122"/>
                        <a:ea typeface="宋体" panose="02000500000000000000" pitchFamily="2" charset="-122"/>
                      </a:endParaRPr>
                    </a:p>
                    <a:p>
                      <a:pPr indent="0">
                        <a:buNone/>
                      </a:pPr>
                      <a:r>
                        <a:rPr lang="zh-CN" altLang="en-US" sz="1600" b="1">
                          <a:solidFill>
                            <a:schemeClr val="accent2"/>
                          </a:solidFill>
                          <a:latin typeface="宋体" panose="02000500000000000000" pitchFamily="2" charset="-122"/>
                          <a:ea typeface="宋体" panose="02000500000000000000" pitchFamily="2" charset="-122"/>
                          <a:sym typeface="+mn-ea"/>
                        </a:rPr>
                        <a:t>龙芯</a:t>
                      </a:r>
                      <a:r>
                        <a:rPr lang="en-US" altLang="zh-CN" sz="1600" b="1">
                          <a:solidFill>
                            <a:schemeClr val="accent2"/>
                          </a:solidFill>
                          <a:latin typeface="宋体" panose="02000500000000000000" pitchFamily="2" charset="-122"/>
                          <a:ea typeface="宋体" panose="02000500000000000000" pitchFamily="2" charset="-122"/>
                          <a:sym typeface="+mn-ea"/>
                        </a:rPr>
                        <a:t>LA464/664</a:t>
                      </a:r>
                      <a:endParaRPr lang="en-US" altLang="zh-CN" sz="1600" b="1">
                        <a:solidFill>
                          <a:schemeClr val="accent2"/>
                        </a:solidFill>
                        <a:latin typeface="宋体" panose="02000500000000000000" pitchFamily="2" charset="-122"/>
                        <a:ea typeface="宋体" panose="02000500000000000000" pitchFamily="2" charset="-122"/>
                        <a:sym typeface="+mn-ea"/>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c>
                  <a:txBody>
                    <a:bodyPr/>
                    <a:p>
                      <a:pPr indent="0">
                        <a:buNone/>
                      </a:pPr>
                      <a:r>
                        <a:rPr lang="en-US" sz="1600" b="1">
                          <a:latin typeface="宋体" panose="02000500000000000000" pitchFamily="2" charset="-122"/>
                          <a:ea typeface="宋体" panose="02000500000000000000" pitchFamily="2" charset="-122"/>
                          <a:cs typeface="宋体" panose="02000500000000000000" pitchFamily="2" charset="-122"/>
                        </a:rPr>
                        <a:t>Intel Haswell</a:t>
                      </a:r>
                      <a:r>
                        <a:rPr lang="zh-CN" altLang="en-US" sz="1600" b="1">
                          <a:latin typeface="宋体" panose="02000500000000000000" pitchFamily="2" charset="-122"/>
                          <a:ea typeface="宋体" panose="02000500000000000000" pitchFamily="2" charset="-122"/>
                          <a:cs typeface="宋体" panose="02000500000000000000" pitchFamily="2" charset="-122"/>
                        </a:rPr>
                        <a:t>以前</a:t>
                      </a:r>
                      <a:endParaRPr lang="zh-CN" altLang="en-US" sz="1600" b="1">
                        <a:latin typeface="宋体" panose="02000500000000000000" pitchFamily="2" charset="-122"/>
                        <a:ea typeface="宋体" panose="02000500000000000000" pitchFamily="2" charset="-122"/>
                        <a:cs typeface="宋体" panose="02000500000000000000" pitchFamily="2" charset="-122"/>
                      </a:endParaRPr>
                    </a:p>
                  </a:txBody>
                  <a:tcPr marL="68580" marR="68580" marT="0" marB="0" vert="horz"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lumMod val="20000"/>
                        <a:lumOff val="80000"/>
                      </a:schemeClr>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3011" name="Rectangle 46"/>
          <p:cNvSpPr/>
          <p:nvPr/>
        </p:nvSpPr>
        <p:spPr>
          <a:xfrm>
            <a:off x="914400" y="227013"/>
            <a:ext cx="10361613" cy="6350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常见处理器的数据通路（早期）</a:t>
            </a:r>
            <a:endParaRPr lang="zh-CN" altLang="en-US" sz="3600" dirty="0">
              <a:solidFill>
                <a:srgbClr val="FF3300"/>
              </a:solidFill>
              <a:latin typeface="Times New Roman" pitchFamily="18" charset="0"/>
              <a:ea typeface="黑体" panose="02000500000000000000" pitchFamily="49" charset="-122"/>
            </a:endParaRPr>
          </a:p>
        </p:txBody>
      </p:sp>
      <p:graphicFrame>
        <p:nvGraphicFramePr>
          <p:cNvPr id="246971" name="Group 187"/>
          <p:cNvGraphicFramePr>
            <a:graphicFrameLocks noGrp="1"/>
          </p:cNvGraphicFramePr>
          <p:nvPr/>
        </p:nvGraphicFramePr>
        <p:xfrm>
          <a:off x="554038" y="1001713"/>
          <a:ext cx="11053912" cy="5516563"/>
        </p:xfrm>
        <a:graphic>
          <a:graphicData uri="http://schemas.openxmlformats.org/drawingml/2006/table">
            <a:tbl>
              <a:tblPr/>
              <a:tblGrid>
                <a:gridCol w="1290999"/>
                <a:gridCol w="3223264"/>
                <a:gridCol w="2700515"/>
                <a:gridCol w="3839134"/>
              </a:tblGrid>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CPU</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保留栈</a:t>
                      </a: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a:t>
                      </a:r>
                      <a:r>
                        <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队列</a:t>
                      </a: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/ROB</a:t>
                      </a:r>
                      <a:endParaRPr kumimoji="1" lang="en-US" altLang="zh-CN" sz="1000" b="0"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寄存器</a:t>
                      </a:r>
                      <a:endPar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运算部件</a:t>
                      </a:r>
                      <a:endPar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47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龙芯</a:t>
                      </a: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2</a:t>
                      </a:r>
                      <a:r>
                        <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号</a:t>
                      </a:r>
                      <a:endParaRPr kumimoji="1" lang="zh-CN" altLang="en-US"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In-flight window(64)</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issue queue(16)</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issue queue(16)</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regfile (64 4w8r)</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regfile (64 4w8r)</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arith./logic,shift/branch</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add/logic,shift/mult/div</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load/store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madd/div/sqrt/comp/media/</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madd/</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122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ALPHA 21264</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In-flight window(80)</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issue queue(20)</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issue queue(15)</a:t>
                      </a:r>
                      <a:endParaRPr kumimoji="1" lang="en-US" altLang="zh-CN" sz="10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Int. regfile (80 4r6w)</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regfile (72, 4r4w)</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arith./logic,shift/branch, mult.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add/logic,shift/branch,MVI/PLZ</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arith./logic load/store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arith./logic load/store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add, div, sqrt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mult.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47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MIPS R10000</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Integer queue(16)</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Address queue(16)</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queue(16)</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regfile (64 7r3w)</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Cond. file (64x1 2r3w)</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regfile(64 5r3w)</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arith./logic,shift/branch</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arith./logic,mult/div</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add, sub,comp,conversion</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mult, div, sqrt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load/store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47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HP PA-8700</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ALU Reorder Buffer(28)</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Memory Reorder Buffer(28) </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arch. reg. </a:t>
                      </a:r>
                      <a:r>
                        <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(32, 4w8r)</a:t>
                      </a:r>
                      <a:endPar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ren. reg. (56, 4w9r)</a:t>
                      </a:r>
                      <a:endPar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de-DE"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arch. reg. (32, 4w8r)</a:t>
                      </a:r>
                      <a:endParaRPr kumimoji="1" lang="de-DE"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de-DE"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ren. reg. (56, 4w9r)</a:t>
                      </a:r>
                      <a:endParaRPr kumimoji="1" lang="de-DE"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arith./logic units </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shift merge units</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FP MAC units</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FP div/sqrt units</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load/store units</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47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ULTRA SPARC-III</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Instruction queue(20)</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Miss queue(4)</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Int reg (144 3w7r) </a:t>
                      </a:r>
                      <a:endPar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regfile (32, 5r4w)</a:t>
                      </a:r>
                      <a:endParaRPr kumimoji="1" lang="pt-BR"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arith.,logic,shift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branch</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load/store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adder, graphic</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 div/sqrt, mult, graphic</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747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POWER 4</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fixed point &amp; load/store (4x9)</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floating-point (4x5)</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Branch execution(1x12)</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CR logical(2x5)</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in flight win(200=20x5)</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GPRS (80)</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FPRS (72) CRS (32)</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Link/count (16) </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FPSCR(20)</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XER(24)</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fixed-piont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floating-point</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2 load/store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1 branch  </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rPr>
                        <a:t>1 CR</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Times New Roman" pitchFamily="18" charset="0"/>
                      </a:endParaRPr>
                    </a:p>
                  </a:txBody>
                  <a:tcPr marL="121904" marR="12190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xfrm>
            <a:off x="914400" y="26988"/>
            <a:ext cx="10361613" cy="819150"/>
          </a:xfrm>
        </p:spPr>
        <p:txBody>
          <a:bodyPr vert="horz" wrap="square" lIns="91440" tIns="45720" rIns="91440" bIns="45720" anchor="ctr" anchorCtr="0"/>
          <a:p>
            <a:r>
              <a:rPr lang="zh-CN" altLang="en-US" dirty="0"/>
              <a:t>典型处理器的数据通路</a:t>
            </a:r>
            <a:endParaRPr lang="zh-CN" altLang="en-US" dirty="0"/>
          </a:p>
        </p:txBody>
      </p:sp>
      <p:graphicFrame>
        <p:nvGraphicFramePr>
          <p:cNvPr id="4" name="内容占位符 3"/>
          <p:cNvGraphicFramePr>
            <a:graphicFrameLocks noGrp="1"/>
          </p:cNvGraphicFramePr>
          <p:nvPr>
            <p:ph idx="1"/>
          </p:nvPr>
        </p:nvGraphicFramePr>
        <p:xfrm>
          <a:off x="198438" y="790575"/>
          <a:ext cx="11764963" cy="5904091"/>
        </p:xfrm>
        <a:graphic>
          <a:graphicData uri="http://schemas.openxmlformats.org/drawingml/2006/table">
            <a:tbl>
              <a:tblPr/>
              <a:tblGrid>
                <a:gridCol w="1432358"/>
                <a:gridCol w="3113636"/>
                <a:gridCol w="2460605"/>
                <a:gridCol w="2480838"/>
                <a:gridCol w="2277414"/>
              </a:tblGrid>
              <a:tr h="190455">
                <a:tc>
                  <a:txBody>
                    <a:bodyPr/>
                    <a:lstStyle/>
                    <a:p>
                      <a:pPr algn="ctr">
                        <a:spcAft>
                          <a:spcPts val="0"/>
                        </a:spcAft>
                      </a:pP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solidFill>
                            <a:schemeClr val="accent2"/>
                          </a:solidFill>
                          <a:latin typeface="+mn-ea"/>
                          <a:ea typeface="+mn-ea"/>
                          <a:cs typeface="Times New Roman"/>
                        </a:rPr>
                        <a:t>Intel </a:t>
                      </a:r>
                      <a:r>
                        <a:rPr lang="en-US" sz="1200" b="1" kern="100" dirty="0" err="1">
                          <a:solidFill>
                            <a:schemeClr val="accent2"/>
                          </a:solidFill>
                          <a:latin typeface="+mn-ea"/>
                          <a:ea typeface="+mn-ea"/>
                          <a:cs typeface="Times New Roman"/>
                        </a:rPr>
                        <a:t>Sandybridge</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solidFill>
                            <a:schemeClr val="accent2"/>
                          </a:solidFill>
                          <a:latin typeface="+mn-ea"/>
                          <a:ea typeface="+mn-ea"/>
                          <a:cs typeface="Times New Roman"/>
                        </a:rPr>
                        <a:t>AMD </a:t>
                      </a:r>
                      <a:r>
                        <a:rPr lang="en-US" sz="1200" b="1" kern="100" dirty="0" err="1">
                          <a:solidFill>
                            <a:schemeClr val="accent2"/>
                          </a:solidFill>
                          <a:latin typeface="+mn-ea"/>
                          <a:ea typeface="+mn-ea"/>
                          <a:cs typeface="Times New Roman"/>
                        </a:rPr>
                        <a:t>BullDozer</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solidFill>
                            <a:schemeClr val="accent2"/>
                          </a:solidFill>
                          <a:latin typeface="+mn-ea"/>
                          <a:ea typeface="+mn-ea"/>
                          <a:cs typeface="Times New Roman"/>
                        </a:rPr>
                        <a:t>IBM Power7</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b="1" kern="100" dirty="0" smtClean="0">
                          <a:solidFill>
                            <a:schemeClr val="accent2"/>
                          </a:solidFill>
                          <a:latin typeface="+mn-ea"/>
                          <a:ea typeface="+mn-ea"/>
                          <a:cs typeface="Times New Roman"/>
                        </a:rPr>
                        <a:t>GS464E</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455">
                <a:tc gridSpan="5">
                  <a:txBody>
                    <a:bodyPr/>
                    <a:lstStyle/>
                    <a:p>
                      <a:pPr indent="449580" algn="just">
                        <a:spcAft>
                          <a:spcPts val="0"/>
                        </a:spcAft>
                      </a:pPr>
                      <a:r>
                        <a:rPr lang="zh-CN" sz="1200" b="1" kern="100" dirty="0">
                          <a:solidFill>
                            <a:schemeClr val="accent2"/>
                          </a:solidFill>
                          <a:latin typeface="+mn-ea"/>
                          <a:ea typeface="+mn-ea"/>
                          <a:cs typeface="Times New Roman"/>
                        </a:rPr>
                        <a:t>前端</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cPr/>
                </a:tc>
                <a:tc hMerge="1">
                  <a:tcPr/>
                </a:tc>
                <a:tc hMerge="1">
                  <a:tcPr/>
                </a:tc>
                <a:tc hMerge="1">
                  <a:tcPr/>
                </a:tc>
              </a:tr>
              <a:tr h="190455">
                <a:tc>
                  <a:txBody>
                    <a:bodyPr/>
                    <a:lstStyle/>
                    <a:p>
                      <a:pPr algn="ctr">
                        <a:spcAft>
                          <a:spcPts val="0"/>
                        </a:spcAft>
                      </a:pPr>
                      <a:r>
                        <a:rPr lang="zh-CN" sz="1200" b="1" kern="100" dirty="0">
                          <a:solidFill>
                            <a:schemeClr val="accent2"/>
                          </a:solidFill>
                          <a:latin typeface="+mn-ea"/>
                          <a:ea typeface="+mn-ea"/>
                          <a:cs typeface="Times New Roman"/>
                        </a:rPr>
                        <a:t>取指宽度</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16 </a:t>
                      </a:r>
                      <a:r>
                        <a:rPr lang="zh-CN" sz="1200" b="1" kern="100" dirty="0">
                          <a:latin typeface="+mn-ea"/>
                          <a:ea typeface="+mn-ea"/>
                          <a:cs typeface="Times New Roman"/>
                        </a:rPr>
                        <a:t>字节</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 </a:t>
                      </a:r>
                      <a:r>
                        <a:rPr lang="zh-CN" sz="1200" b="1" kern="100" dirty="0">
                          <a:latin typeface="+mn-ea"/>
                          <a:ea typeface="+mn-ea"/>
                          <a:cs typeface="Times New Roman"/>
                        </a:rPr>
                        <a:t>字节</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 </a:t>
                      </a:r>
                      <a:r>
                        <a:rPr lang="zh-CN" sz="1200" b="1" kern="100" dirty="0">
                          <a:latin typeface="+mn-ea"/>
                          <a:ea typeface="+mn-ea"/>
                          <a:cs typeface="Times New Roman"/>
                        </a:rPr>
                        <a:t>指令</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 </a:t>
                      </a:r>
                      <a:r>
                        <a:rPr lang="zh-CN" sz="1200" b="1" kern="100" dirty="0">
                          <a:latin typeface="+mn-ea"/>
                          <a:ea typeface="+mn-ea"/>
                          <a:cs typeface="Times New Roman"/>
                        </a:rPr>
                        <a:t>指令</a:t>
                      </a:r>
                      <a:r>
                        <a:rPr lang="en-US" sz="1200" b="1" kern="100" dirty="0">
                          <a:latin typeface="+mn-ea"/>
                          <a:ea typeface="+mn-ea"/>
                          <a:cs typeface="Times New Roman"/>
                        </a:rPr>
                        <a:t>/</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455">
                <a:tc>
                  <a:txBody>
                    <a:bodyPr/>
                    <a:lstStyle/>
                    <a:p>
                      <a:pPr algn="ctr">
                        <a:spcAft>
                          <a:spcPts val="0"/>
                        </a:spcAft>
                      </a:pPr>
                      <a:r>
                        <a:rPr lang="zh-CN" sz="1200" b="1" kern="100" dirty="0">
                          <a:solidFill>
                            <a:schemeClr val="accent2"/>
                          </a:solidFill>
                          <a:latin typeface="+mn-ea"/>
                          <a:ea typeface="+mn-ea"/>
                          <a:cs typeface="Times New Roman"/>
                        </a:rPr>
                        <a:t>一级指令缓存</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32KB, 8 </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64KB, 2</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smtClean="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32KB, 4 </a:t>
                      </a:r>
                      <a:r>
                        <a:rPr lang="zh-CN" sz="1200" b="1" kern="100" dirty="0">
                          <a:latin typeface="+mn-ea"/>
                          <a:ea typeface="+mn-ea"/>
                          <a:cs typeface="Times New Roman"/>
                        </a:rPr>
                        <a:t>路</a:t>
                      </a:r>
                      <a:r>
                        <a:rPr lang="en-US" sz="1200" b="1" kern="100" dirty="0">
                          <a:latin typeface="+mn-ea"/>
                          <a:ea typeface="+mn-ea"/>
                          <a:cs typeface="Times New Roman"/>
                        </a:rPr>
                        <a:t>, 128B/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64KB, 4 </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0908">
                <a:tc>
                  <a:txBody>
                    <a:bodyPr/>
                    <a:lstStyle/>
                    <a:p>
                      <a:pPr algn="ctr">
                        <a:spcAft>
                          <a:spcPts val="0"/>
                        </a:spcAft>
                      </a:pPr>
                      <a:r>
                        <a:rPr lang="zh-CN" sz="1200" b="1" kern="100" dirty="0">
                          <a:solidFill>
                            <a:schemeClr val="accent2"/>
                          </a:solidFill>
                          <a:latin typeface="+mn-ea"/>
                          <a:ea typeface="+mn-ea"/>
                          <a:cs typeface="Times New Roman"/>
                        </a:rPr>
                        <a:t>指令</a:t>
                      </a:r>
                      <a:r>
                        <a:rPr lang="en-US" sz="1200" b="1" kern="100" dirty="0">
                          <a:solidFill>
                            <a:schemeClr val="accent2"/>
                          </a:solidFill>
                          <a:latin typeface="+mn-ea"/>
                          <a:ea typeface="+mn-ea"/>
                          <a:cs typeface="Times New Roman"/>
                        </a:rPr>
                        <a:t>TLB</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a:t>
                      </a:r>
                      <a:r>
                        <a:rPr lang="en-US" sz="1200" b="1" kern="100" dirty="0">
                          <a:latin typeface="+mn-ea"/>
                          <a:ea typeface="+mn-ea"/>
                          <a:cs typeface="Times New Roman"/>
                        </a:rPr>
                        <a:t>, 4 </a:t>
                      </a:r>
                      <a:r>
                        <a:rPr lang="zh-CN" sz="1200" b="1" kern="100" dirty="0">
                          <a:latin typeface="+mn-ea"/>
                          <a:ea typeface="+mn-ea"/>
                          <a:cs typeface="Times New Roman"/>
                        </a:rPr>
                        <a:t>路</a:t>
                      </a:r>
                      <a:r>
                        <a:rPr lang="en-US" sz="1200" b="1" kern="100" dirty="0">
                          <a:latin typeface="+mn-ea"/>
                          <a:ea typeface="+mn-ea"/>
                          <a:cs typeface="Times New Roman"/>
                        </a:rPr>
                        <a:t>, L1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72 </a:t>
                      </a:r>
                      <a:r>
                        <a:rPr lang="zh-CN" sz="1200" b="1" kern="100" dirty="0">
                          <a:latin typeface="+mn-ea"/>
                          <a:ea typeface="+mn-ea"/>
                          <a:cs typeface="Times New Roman"/>
                        </a:rPr>
                        <a:t>项</a:t>
                      </a:r>
                      <a:r>
                        <a:rPr lang="en-US" sz="1200" b="1" kern="100" dirty="0">
                          <a:latin typeface="+mn-ea"/>
                          <a:ea typeface="+mn-ea"/>
                          <a:cs typeface="Times New Roman"/>
                        </a:rPr>
                        <a:t>, </a:t>
                      </a:r>
                      <a:r>
                        <a:rPr lang="zh-CN" sz="1200" b="1" kern="100" dirty="0">
                          <a:latin typeface="+mn-ea"/>
                          <a:ea typeface="+mn-ea"/>
                          <a:cs typeface="Times New Roman"/>
                        </a:rPr>
                        <a:t>全相联</a:t>
                      </a:r>
                      <a:r>
                        <a:rPr lang="en-US" sz="1200" b="1" kern="100" dirty="0">
                          <a:latin typeface="+mn-ea"/>
                          <a:ea typeface="+mn-ea"/>
                          <a:cs typeface="Times New Roman"/>
                        </a:rPr>
                        <a:t>, </a:t>
                      </a:r>
                      <a:r>
                        <a:rPr lang="en-US" sz="1200" b="1" kern="100" dirty="0" smtClean="0">
                          <a:latin typeface="+mn-ea"/>
                          <a:ea typeface="+mn-ea"/>
                          <a:cs typeface="Times New Roman"/>
                        </a:rPr>
                        <a:t>L1 ITLB</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512 </a:t>
                      </a:r>
                      <a:r>
                        <a:rPr lang="zh-CN" sz="1200" b="1" kern="100" dirty="0">
                          <a:latin typeface="+mn-ea"/>
                          <a:ea typeface="+mn-ea"/>
                          <a:cs typeface="Times New Roman"/>
                        </a:rPr>
                        <a:t>项</a:t>
                      </a:r>
                      <a:r>
                        <a:rPr lang="en-US" sz="1200" b="1" kern="100" dirty="0">
                          <a:latin typeface="+mn-ea"/>
                          <a:ea typeface="+mn-ea"/>
                          <a:cs typeface="Times New Roman"/>
                        </a:rPr>
                        <a:t>, 4 </a:t>
                      </a:r>
                      <a:r>
                        <a:rPr lang="zh-CN" sz="1200" b="1" kern="100" dirty="0">
                          <a:latin typeface="+mn-ea"/>
                          <a:ea typeface="+mn-ea"/>
                          <a:cs typeface="Times New Roman"/>
                        </a:rPr>
                        <a:t>路</a:t>
                      </a:r>
                      <a:r>
                        <a:rPr lang="en-US" sz="1200" b="1" kern="100" dirty="0">
                          <a:latin typeface="+mn-ea"/>
                          <a:ea typeface="+mn-ea"/>
                          <a:cs typeface="Times New Roman"/>
                        </a:rPr>
                        <a:t>, L2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 </a:t>
                      </a:r>
                      <a:r>
                        <a:rPr lang="zh-CN" sz="1200" b="1" kern="100" dirty="0">
                          <a:latin typeface="+mn-ea"/>
                          <a:ea typeface="+mn-ea"/>
                          <a:cs typeface="Times New Roman"/>
                        </a:rPr>
                        <a:t>项</a:t>
                      </a:r>
                      <a:r>
                        <a:rPr lang="en-US" sz="1200" b="1" kern="100" dirty="0">
                          <a:latin typeface="+mn-ea"/>
                          <a:ea typeface="+mn-ea"/>
                          <a:cs typeface="Times New Roman"/>
                        </a:rPr>
                        <a:t>, 2 </a:t>
                      </a:r>
                      <a:r>
                        <a:rPr lang="zh-CN" sz="1200" b="1" kern="100" dirty="0">
                          <a:latin typeface="+mn-ea"/>
                          <a:ea typeface="+mn-ea"/>
                          <a:cs typeface="Times New Roman"/>
                        </a:rPr>
                        <a:t>路</a:t>
                      </a:r>
                      <a:r>
                        <a:rPr lang="en-US" sz="1200" b="1" kern="100" dirty="0">
                          <a:latin typeface="+mn-ea"/>
                          <a:ea typeface="+mn-ea"/>
                          <a:cs typeface="Times New Roman"/>
                        </a:rPr>
                        <a:t>, L1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64 </a:t>
                      </a:r>
                      <a:r>
                        <a:rPr lang="zh-CN" sz="1200" b="1" kern="100" dirty="0">
                          <a:latin typeface="+mn-ea"/>
                          <a:ea typeface="+mn-ea"/>
                          <a:cs typeface="Times New Roman"/>
                        </a:rPr>
                        <a:t>项</a:t>
                      </a:r>
                      <a:r>
                        <a:rPr lang="en-US" sz="1200" b="1" kern="100" dirty="0">
                          <a:latin typeface="+mn-ea"/>
                          <a:ea typeface="+mn-ea"/>
                          <a:cs typeface="Times New Roman"/>
                        </a:rPr>
                        <a:t>, </a:t>
                      </a:r>
                      <a:r>
                        <a:rPr lang="zh-CN" sz="1200" b="1" kern="100" dirty="0">
                          <a:latin typeface="+mn-ea"/>
                          <a:ea typeface="+mn-ea"/>
                          <a:cs typeface="Times New Roman"/>
                        </a:rPr>
                        <a:t>全相联</a:t>
                      </a:r>
                      <a:r>
                        <a:rPr lang="en-US" sz="1200" b="1" kern="100" dirty="0">
                          <a:latin typeface="+mn-ea"/>
                          <a:ea typeface="+mn-ea"/>
                          <a:cs typeface="Times New Roman"/>
                        </a:rPr>
                        <a:t>, L1 ITLB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2726">
                <a:tc>
                  <a:txBody>
                    <a:bodyPr/>
                    <a:lstStyle/>
                    <a:p>
                      <a:pPr algn="ctr">
                        <a:spcAft>
                          <a:spcPts val="0"/>
                        </a:spcAft>
                      </a:pPr>
                      <a:r>
                        <a:rPr lang="zh-CN" sz="1200" b="1" kern="100" dirty="0">
                          <a:solidFill>
                            <a:schemeClr val="accent2"/>
                          </a:solidFill>
                          <a:latin typeface="+mn-ea"/>
                          <a:ea typeface="+mn-ea"/>
                          <a:cs typeface="Times New Roman"/>
                        </a:rPr>
                        <a:t>分支预取</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BTB (8K-16K?</a:t>
                      </a:r>
                      <a:r>
                        <a:rPr lang="zh-CN" sz="1200" b="1" kern="100" dirty="0">
                          <a:latin typeface="+mn-ea"/>
                          <a:ea typeface="+mn-ea"/>
                          <a:cs typeface="Times New Roman"/>
                        </a:rPr>
                        <a:t>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间接目标队列</a:t>
                      </a:r>
                      <a:r>
                        <a:rPr lang="en-US" sz="1200" b="1" kern="100" dirty="0">
                          <a:latin typeface="+mn-ea"/>
                          <a:ea typeface="+mn-ea"/>
                          <a:cs typeface="Times New Roman"/>
                        </a:rPr>
                        <a:t> (? </a:t>
                      </a:r>
                      <a:r>
                        <a:rPr lang="zh-CN" sz="1200" b="1" kern="100" dirty="0">
                          <a:latin typeface="+mn-ea"/>
                          <a:ea typeface="+mn-ea"/>
                          <a:cs typeface="Times New Roman"/>
                        </a:rPr>
                        <a:t>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RAS (? </a:t>
                      </a:r>
                      <a:r>
                        <a:rPr lang="zh-CN" sz="1200" b="1" kern="100" dirty="0">
                          <a:latin typeface="+mn-ea"/>
                          <a:ea typeface="+mn-ea"/>
                          <a:cs typeface="Times New Roman"/>
                        </a:rPr>
                        <a:t>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循环检测</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512 </a:t>
                      </a:r>
                      <a:r>
                        <a:rPr lang="zh-CN" sz="1200" b="1" kern="100" dirty="0">
                          <a:latin typeface="+mn-ea"/>
                          <a:ea typeface="+mn-ea"/>
                          <a:cs typeface="Times New Roman"/>
                        </a:rPr>
                        <a:t>项</a:t>
                      </a:r>
                      <a:r>
                        <a:rPr lang="en-US" sz="1200" b="1" kern="100" dirty="0">
                          <a:latin typeface="+mn-ea"/>
                          <a:ea typeface="+mn-ea"/>
                          <a:cs typeface="Times New Roman"/>
                        </a:rPr>
                        <a:t>, 4 </a:t>
                      </a:r>
                      <a:r>
                        <a:rPr lang="zh-CN" sz="1200" b="1" kern="100" dirty="0">
                          <a:latin typeface="+mn-ea"/>
                          <a:ea typeface="+mn-ea"/>
                          <a:cs typeface="Times New Roman"/>
                        </a:rPr>
                        <a:t>路</a:t>
                      </a:r>
                      <a:r>
                        <a:rPr lang="en-US" sz="1200" b="1" kern="100" dirty="0">
                          <a:latin typeface="+mn-ea"/>
                          <a:ea typeface="+mn-ea"/>
                          <a:cs typeface="Times New Roman"/>
                        </a:rPr>
                        <a:t> L1 BTB</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5120 </a:t>
                      </a:r>
                      <a:r>
                        <a:rPr lang="zh-CN" sz="1200" b="1" kern="100" dirty="0">
                          <a:latin typeface="+mn-ea"/>
                          <a:ea typeface="+mn-ea"/>
                          <a:cs typeface="Times New Roman"/>
                        </a:rPr>
                        <a:t>项</a:t>
                      </a:r>
                      <a:r>
                        <a:rPr lang="en-US" sz="1200" b="1" kern="100" dirty="0">
                          <a:latin typeface="+mn-ea"/>
                          <a:ea typeface="+mn-ea"/>
                          <a:cs typeface="Times New Roman"/>
                        </a:rPr>
                        <a:t>, 5 </a:t>
                      </a:r>
                      <a:r>
                        <a:rPr lang="zh-CN" sz="1200" b="1" kern="100" dirty="0">
                          <a:latin typeface="+mn-ea"/>
                          <a:ea typeface="+mn-ea"/>
                          <a:cs typeface="Times New Roman"/>
                        </a:rPr>
                        <a:t>路</a:t>
                      </a:r>
                      <a:r>
                        <a:rPr lang="en-US" sz="1200" b="1" kern="100" dirty="0">
                          <a:latin typeface="+mn-ea"/>
                          <a:ea typeface="+mn-ea"/>
                          <a:cs typeface="Times New Roman"/>
                        </a:rPr>
                        <a:t> L2 BTB</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512 </a:t>
                      </a:r>
                      <a:r>
                        <a:rPr lang="zh-CN" sz="1200" b="1" kern="100" dirty="0">
                          <a:latin typeface="+mn-ea"/>
                          <a:ea typeface="+mn-ea"/>
                          <a:cs typeface="Times New Roman"/>
                        </a:rPr>
                        <a:t>项 间接目标队列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24 </a:t>
                      </a:r>
                      <a:r>
                        <a:rPr lang="zh-CN" sz="1200" b="1" kern="100" dirty="0">
                          <a:latin typeface="+mn-ea"/>
                          <a:ea typeface="+mn-ea"/>
                          <a:cs typeface="Times New Roman"/>
                        </a:rPr>
                        <a:t>项</a:t>
                      </a:r>
                      <a:r>
                        <a:rPr lang="en-US" sz="1200" b="1" kern="100" dirty="0">
                          <a:latin typeface="+mn-ea"/>
                          <a:ea typeface="+mn-ea"/>
                          <a:cs typeface="Times New Roman"/>
                        </a:rPr>
                        <a:t> RAS</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循环检测</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8K </a:t>
                      </a:r>
                      <a:r>
                        <a:rPr lang="zh-CN" sz="1200" b="1" kern="100" dirty="0">
                          <a:latin typeface="+mn-ea"/>
                          <a:ea typeface="+mn-ea"/>
                          <a:cs typeface="Times New Roman"/>
                        </a:rPr>
                        <a:t>项本地</a:t>
                      </a:r>
                      <a:r>
                        <a:rPr lang="en-US" sz="1200" b="1" kern="100" dirty="0">
                          <a:latin typeface="+mn-ea"/>
                          <a:ea typeface="+mn-ea"/>
                          <a:cs typeface="Times New Roman"/>
                        </a:rPr>
                        <a:t> BHT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16K </a:t>
                      </a:r>
                      <a:r>
                        <a:rPr lang="zh-CN" sz="1200" b="1" kern="100" dirty="0">
                          <a:latin typeface="+mn-ea"/>
                          <a:ea typeface="+mn-ea"/>
                          <a:cs typeface="Times New Roman"/>
                        </a:rPr>
                        <a:t>项全局</a:t>
                      </a:r>
                      <a:r>
                        <a:rPr lang="en-US" sz="1200" b="1" kern="100" dirty="0">
                          <a:latin typeface="+mn-ea"/>
                          <a:ea typeface="+mn-ea"/>
                          <a:cs typeface="Times New Roman"/>
                        </a:rPr>
                        <a:t>BHT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8K </a:t>
                      </a:r>
                      <a:r>
                        <a:rPr lang="zh-CN" sz="1200" b="1" kern="100" dirty="0">
                          <a:latin typeface="+mn-ea"/>
                          <a:ea typeface="+mn-ea"/>
                          <a:cs typeface="Times New Roman"/>
                        </a:rPr>
                        <a:t>项 全局</a:t>
                      </a:r>
                      <a:r>
                        <a:rPr lang="en-US" sz="1200" b="1" kern="100" dirty="0">
                          <a:latin typeface="+mn-ea"/>
                          <a:ea typeface="+mn-ea"/>
                          <a:cs typeface="Times New Roman"/>
                        </a:rPr>
                        <a:t> </a:t>
                      </a:r>
                      <a:r>
                        <a:rPr lang="en-US" sz="1200" b="1" kern="100" dirty="0" err="1">
                          <a:latin typeface="+mn-ea"/>
                          <a:ea typeface="+mn-ea"/>
                          <a:cs typeface="Times New Roman"/>
                        </a:rPr>
                        <a:t>sel</a:t>
                      </a:r>
                      <a:r>
                        <a:rPr lang="en-US" sz="1200" b="1" kern="100" dirty="0">
                          <a:latin typeface="+mn-ea"/>
                          <a:ea typeface="+mn-ea"/>
                          <a:cs typeface="Times New Roman"/>
                        </a:rPr>
                        <a: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项间接目标队列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 </a:t>
                      </a:r>
                      <a:r>
                        <a:rPr lang="zh-CN" sz="1200" b="1" kern="100" dirty="0">
                          <a:latin typeface="+mn-ea"/>
                          <a:ea typeface="+mn-ea"/>
                          <a:cs typeface="Times New Roman"/>
                        </a:rPr>
                        <a:t>项</a:t>
                      </a:r>
                      <a:r>
                        <a:rPr lang="en-US" sz="1200" b="1" kern="100" dirty="0">
                          <a:latin typeface="+mn-ea"/>
                          <a:ea typeface="+mn-ea"/>
                          <a:cs typeface="Times New Roman"/>
                        </a:rPr>
                        <a:t> RAS</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8K</a:t>
                      </a:r>
                      <a:r>
                        <a:rPr lang="zh-CN" sz="1200" b="1" kern="100" dirty="0">
                          <a:latin typeface="+mn-ea"/>
                          <a:ea typeface="+mn-ea"/>
                          <a:cs typeface="Times New Roman"/>
                        </a:rPr>
                        <a:t>项本地</a:t>
                      </a:r>
                      <a:r>
                        <a:rPr lang="en-US" sz="1200" b="1" kern="100" dirty="0">
                          <a:latin typeface="+mn-ea"/>
                          <a:ea typeface="+mn-ea"/>
                          <a:cs typeface="Times New Roman"/>
                        </a:rPr>
                        <a:t> BHT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8K</a:t>
                      </a:r>
                      <a:r>
                        <a:rPr lang="zh-CN" sz="1200" b="1" kern="100" dirty="0">
                          <a:latin typeface="+mn-ea"/>
                          <a:ea typeface="+mn-ea"/>
                          <a:cs typeface="Times New Roman"/>
                        </a:rPr>
                        <a:t>项全局</a:t>
                      </a:r>
                      <a:r>
                        <a:rPr lang="en-US" sz="1200" b="1" kern="100" dirty="0">
                          <a:latin typeface="+mn-ea"/>
                          <a:ea typeface="+mn-ea"/>
                          <a:cs typeface="Times New Roman"/>
                        </a:rPr>
                        <a:t>BHT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8K</a:t>
                      </a:r>
                      <a:r>
                        <a:rPr lang="zh-CN" sz="1200" b="1" kern="100" dirty="0">
                          <a:latin typeface="+mn-ea"/>
                          <a:ea typeface="+mn-ea"/>
                          <a:cs typeface="Times New Roman"/>
                        </a:rPr>
                        <a:t>项 全局</a:t>
                      </a:r>
                      <a:r>
                        <a:rPr lang="en-US" sz="1200" b="1" kern="100" dirty="0">
                          <a:latin typeface="+mn-ea"/>
                          <a:ea typeface="+mn-ea"/>
                          <a:cs typeface="Times New Roman"/>
                        </a:rPr>
                        <a:t> </a:t>
                      </a:r>
                      <a:r>
                        <a:rPr lang="en-US" sz="1200" b="1" kern="100" dirty="0" err="1">
                          <a:latin typeface="+mn-ea"/>
                          <a:ea typeface="+mn-ea"/>
                          <a:cs typeface="Times New Roman"/>
                        </a:rPr>
                        <a:t>sel</a:t>
                      </a:r>
                      <a:r>
                        <a:rPr lang="en-US" sz="1200" b="1" kern="100" dirty="0">
                          <a:latin typeface="+mn-ea"/>
                          <a:ea typeface="+mn-ea"/>
                          <a:cs typeface="Times New Roman"/>
                        </a:rPr>
                        <a:t> </a:t>
                      </a:r>
                      <a:r>
                        <a:rPr lang="zh-CN" sz="1200" b="1" kern="100" dirty="0">
                          <a:latin typeface="+mn-ea"/>
                          <a:ea typeface="+mn-ea"/>
                          <a:cs typeface="Times New Roman"/>
                        </a:rPr>
                        <a:t>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a:t>
                      </a:r>
                      <a:r>
                        <a:rPr lang="zh-CN" sz="1200" b="1" kern="100" dirty="0">
                          <a:latin typeface="+mn-ea"/>
                          <a:ea typeface="+mn-ea"/>
                          <a:cs typeface="Times New Roman"/>
                        </a:rPr>
                        <a:t>项间接目标队列</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a:t>
                      </a:r>
                      <a:r>
                        <a:rPr lang="zh-CN" sz="1200" b="1" kern="100" dirty="0">
                          <a:latin typeface="+mn-ea"/>
                          <a:ea typeface="+mn-ea"/>
                          <a:cs typeface="Times New Roman"/>
                        </a:rPr>
                        <a:t>项</a:t>
                      </a:r>
                      <a:r>
                        <a:rPr lang="en-US" sz="1200" b="1" kern="100" dirty="0">
                          <a:latin typeface="+mn-ea"/>
                          <a:ea typeface="+mn-ea"/>
                          <a:cs typeface="Times New Roman"/>
                        </a:rPr>
                        <a:t> RAS</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循环检测</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455">
                <a:tc gridSpan="5">
                  <a:txBody>
                    <a:bodyPr/>
                    <a:lstStyle/>
                    <a:p>
                      <a:pPr indent="281305" algn="l">
                        <a:spcAft>
                          <a:spcPts val="0"/>
                        </a:spcAft>
                      </a:pPr>
                      <a:r>
                        <a:rPr lang="zh-CN" sz="1200" b="1" kern="100" dirty="0">
                          <a:solidFill>
                            <a:schemeClr val="accent2"/>
                          </a:solidFill>
                          <a:latin typeface="+mn-ea"/>
                          <a:ea typeface="+mn-ea"/>
                          <a:cs typeface="Times New Roman"/>
                        </a:rPr>
                        <a:t>乱序执行</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cPr/>
                </a:tc>
                <a:tc hMerge="1">
                  <a:tcPr/>
                </a:tc>
                <a:tc hMerge="1">
                  <a:tcPr/>
                </a:tc>
                <a:tc hMerge="1">
                  <a:tcPr/>
                </a:tc>
              </a:tr>
              <a:tr h="190455">
                <a:tc>
                  <a:txBody>
                    <a:bodyPr/>
                    <a:lstStyle/>
                    <a:p>
                      <a:pPr algn="ctr">
                        <a:spcAft>
                          <a:spcPts val="0"/>
                        </a:spcAft>
                      </a:pPr>
                      <a:r>
                        <a:rPr lang="en-US" sz="1200" b="1" kern="100" dirty="0">
                          <a:solidFill>
                            <a:schemeClr val="accent2"/>
                          </a:solidFill>
                          <a:latin typeface="+mn-ea"/>
                          <a:ea typeface="+mn-ea"/>
                          <a:cs typeface="Times New Roman"/>
                        </a:rPr>
                        <a:t>Reorder</a:t>
                      </a:r>
                      <a:r>
                        <a:rPr lang="zh-CN" sz="1200" b="1" kern="100" dirty="0">
                          <a:solidFill>
                            <a:schemeClr val="accent2"/>
                          </a:solidFill>
                          <a:latin typeface="+mn-ea"/>
                          <a:ea typeface="+mn-ea"/>
                          <a:cs typeface="Times New Roman"/>
                        </a:rPr>
                        <a:t>缓存</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168 </a:t>
                      </a:r>
                      <a:r>
                        <a:rPr lang="zh-CN" sz="1200" b="1" kern="100">
                          <a:latin typeface="+mn-ea"/>
                          <a:ea typeface="+mn-ea"/>
                          <a:cs typeface="Times New Roman"/>
                        </a:rPr>
                        <a:t>项</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120 </a:t>
                      </a:r>
                      <a:r>
                        <a:rPr lang="zh-CN" sz="1200" b="1" kern="100" dirty="0">
                          <a:latin typeface="+mn-ea"/>
                          <a:ea typeface="+mn-ea"/>
                          <a:cs typeface="Times New Roman"/>
                        </a:rPr>
                        <a:t>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1363">
                <a:tc>
                  <a:txBody>
                    <a:bodyPr/>
                    <a:lstStyle/>
                    <a:p>
                      <a:pPr algn="ctr">
                        <a:spcAft>
                          <a:spcPts val="0"/>
                        </a:spcAft>
                      </a:pPr>
                      <a:r>
                        <a:rPr lang="zh-CN" sz="1200" b="1" kern="100" dirty="0">
                          <a:solidFill>
                            <a:schemeClr val="accent2"/>
                          </a:solidFill>
                          <a:latin typeface="+mn-ea"/>
                          <a:ea typeface="+mn-ea"/>
                          <a:cs typeface="Times New Roman"/>
                        </a:rPr>
                        <a:t>发射队列</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54-</a:t>
                      </a:r>
                      <a:r>
                        <a:rPr lang="zh-CN" sz="1200" b="1" kern="100" dirty="0">
                          <a:latin typeface="+mn-ea"/>
                          <a:ea typeface="+mn-ea"/>
                          <a:cs typeface="Times New Roman"/>
                        </a:rPr>
                        <a:t>项 统一</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60-</a:t>
                      </a:r>
                      <a:r>
                        <a:rPr lang="zh-CN" sz="1200" b="1" kern="100" dirty="0">
                          <a:latin typeface="+mn-ea"/>
                          <a:ea typeface="+mn-ea"/>
                          <a:cs typeface="Times New Roman"/>
                        </a:rPr>
                        <a:t>项 浮点</a:t>
                      </a:r>
                      <a:r>
                        <a:rPr lang="en-US" sz="1200" b="1" kern="100" dirty="0">
                          <a:latin typeface="+mn-ea"/>
                          <a:ea typeface="+mn-ea"/>
                          <a:cs typeface="Times New Roman"/>
                        </a:rPr>
                        <a:t>(</a:t>
                      </a:r>
                      <a:r>
                        <a:rPr lang="zh-CN" sz="1200" b="1" kern="100" dirty="0">
                          <a:latin typeface="+mn-ea"/>
                          <a:ea typeface="+mn-ea"/>
                          <a:cs typeface="Times New Roman"/>
                        </a:rPr>
                        <a:t>共享</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40-</a:t>
                      </a:r>
                      <a:r>
                        <a:rPr lang="zh-CN" sz="1200" b="1" kern="100" dirty="0">
                          <a:latin typeface="+mn-ea"/>
                          <a:ea typeface="+mn-ea"/>
                          <a:cs typeface="Times New Roman"/>
                        </a:rPr>
                        <a:t>项 定点</a:t>
                      </a:r>
                      <a:r>
                        <a:rPr lang="en-US" sz="1200" b="1" kern="100" dirty="0">
                          <a:latin typeface="+mn-ea"/>
                          <a:ea typeface="+mn-ea"/>
                          <a:cs typeface="Times New Roman"/>
                        </a:rPr>
                        <a:t>, </a:t>
                      </a:r>
                      <a:r>
                        <a:rPr lang="zh-CN" sz="1200" b="1" kern="100" dirty="0">
                          <a:latin typeface="+mn-ea"/>
                          <a:ea typeface="+mn-ea"/>
                          <a:cs typeface="Times New Roman"/>
                        </a:rPr>
                        <a:t>访存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48-</a:t>
                      </a:r>
                      <a:r>
                        <a:rPr lang="zh-CN" sz="1200" b="1" kern="100" dirty="0">
                          <a:latin typeface="+mn-ea"/>
                          <a:ea typeface="+mn-ea"/>
                          <a:cs typeface="Times New Roman"/>
                        </a:rPr>
                        <a:t>项 标准</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smtClean="0">
                          <a:latin typeface="+mn-ea"/>
                          <a:ea typeface="+mn-ea"/>
                          <a:cs typeface="Times New Roman"/>
                        </a:rPr>
                        <a:t>32-</a:t>
                      </a:r>
                      <a:r>
                        <a:rPr lang="zh-CN" sz="1200" b="1" kern="100" dirty="0">
                          <a:latin typeface="+mn-ea"/>
                          <a:ea typeface="+mn-ea"/>
                          <a:cs typeface="Times New Roman"/>
                        </a:rPr>
                        <a:t>项 </a:t>
                      </a:r>
                      <a:r>
                        <a:rPr lang="zh-CN" sz="1200" b="1" kern="100" dirty="0" smtClean="0">
                          <a:latin typeface="+mn-ea"/>
                          <a:ea typeface="+mn-ea"/>
                          <a:cs typeface="Times New Roman"/>
                        </a:rPr>
                        <a:t>浮点</a:t>
                      </a:r>
                      <a:r>
                        <a:rPr lang="en-US" altLang="zh-CN" sz="1200" b="1" kern="100" dirty="0" smtClean="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smtClean="0">
                          <a:latin typeface="+mn-ea"/>
                          <a:ea typeface="+mn-ea"/>
                          <a:cs typeface="Times New Roman"/>
                        </a:rPr>
                        <a:t>32-</a:t>
                      </a:r>
                      <a:r>
                        <a:rPr lang="zh-CN" sz="1200" b="1" kern="100" dirty="0">
                          <a:latin typeface="+mn-ea"/>
                          <a:ea typeface="+mn-ea"/>
                          <a:cs typeface="Times New Roman"/>
                        </a:rPr>
                        <a:t>项 </a:t>
                      </a:r>
                      <a:r>
                        <a:rPr lang="zh-CN" sz="1200" b="1" kern="100" dirty="0" smtClean="0">
                          <a:latin typeface="+mn-ea"/>
                          <a:ea typeface="+mn-ea"/>
                          <a:cs typeface="Times New Roman"/>
                        </a:rPr>
                        <a:t>定点</a:t>
                      </a:r>
                      <a:r>
                        <a:rPr lang="en-US" altLang="zh-CN" sz="1200" b="1" kern="100" dirty="0" smtClean="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32-</a:t>
                      </a:r>
                      <a:r>
                        <a:rPr lang="zh-CN" sz="1200" b="1" kern="100" dirty="0">
                          <a:latin typeface="+mn-ea"/>
                          <a:ea typeface="+mn-ea"/>
                          <a:cs typeface="Times New Roman"/>
                        </a:rPr>
                        <a:t>项 访</a:t>
                      </a:r>
                      <a:r>
                        <a:rPr lang="zh-CN" sz="1200" b="1" kern="100" dirty="0" smtClean="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52273">
                <a:tc>
                  <a:txBody>
                    <a:bodyPr/>
                    <a:lstStyle/>
                    <a:p>
                      <a:pPr algn="ctr">
                        <a:spcAft>
                          <a:spcPts val="0"/>
                        </a:spcAft>
                      </a:pPr>
                      <a:r>
                        <a:rPr lang="zh-CN" sz="1200" b="1" kern="100" dirty="0">
                          <a:solidFill>
                            <a:schemeClr val="accent2"/>
                          </a:solidFill>
                          <a:latin typeface="+mn-ea"/>
                          <a:ea typeface="+mn-ea"/>
                          <a:cs typeface="Times New Roman"/>
                        </a:rPr>
                        <a:t>寄存器重命名</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160 </a:t>
                      </a:r>
                      <a:r>
                        <a:rPr lang="zh-CN" sz="1200" b="1" kern="100" dirty="0">
                          <a:latin typeface="+mn-ea"/>
                          <a:ea typeface="+mn-ea"/>
                          <a:cs typeface="Times New Roman"/>
                        </a:rPr>
                        <a:t>定点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144 </a:t>
                      </a:r>
                      <a:r>
                        <a:rPr lang="zh-CN" sz="1200" b="1" kern="100" dirty="0">
                          <a:latin typeface="+mn-ea"/>
                          <a:ea typeface="+mn-ea"/>
                          <a:cs typeface="Times New Roman"/>
                        </a:rPr>
                        <a:t>浮点</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96 </a:t>
                      </a:r>
                      <a:r>
                        <a:rPr lang="zh-CN" sz="1200" b="1" kern="100">
                          <a:latin typeface="+mn-ea"/>
                          <a:ea typeface="+mn-ea"/>
                          <a:cs typeface="Times New Roman"/>
                        </a:rPr>
                        <a:t>定点</a:t>
                      </a:r>
                      <a:r>
                        <a:rPr lang="en-US" sz="1200" b="1" kern="100">
                          <a:latin typeface="+mn-ea"/>
                          <a:ea typeface="+mn-ea"/>
                          <a:cs typeface="Times New Roman"/>
                        </a:rPr>
                        <a:t>; </a:t>
                      </a:r>
                      <a:endParaRPr lang="zh-CN" sz="1200" b="1" kern="100">
                        <a:latin typeface="+mn-ea"/>
                        <a:ea typeface="+mn-ea"/>
                        <a:cs typeface="Times New Roman"/>
                      </a:endParaRPr>
                    </a:p>
                    <a:p>
                      <a:pPr algn="l">
                        <a:spcAft>
                          <a:spcPts val="0"/>
                        </a:spcAft>
                      </a:pPr>
                      <a:r>
                        <a:rPr lang="en-US" sz="1200" b="1" kern="100">
                          <a:latin typeface="+mn-ea"/>
                          <a:ea typeface="+mn-ea"/>
                          <a:cs typeface="Times New Roman"/>
                        </a:rPr>
                        <a:t>160 </a:t>
                      </a:r>
                      <a:r>
                        <a:rPr lang="zh-CN" sz="1200" b="1" kern="100">
                          <a:latin typeface="+mn-ea"/>
                          <a:ea typeface="+mn-ea"/>
                          <a:cs typeface="Times New Roman"/>
                        </a:rPr>
                        <a:t>浮点</a:t>
                      </a:r>
                      <a:r>
                        <a:rPr lang="en-US" sz="1200" b="1" kern="100">
                          <a:latin typeface="+mn-ea"/>
                          <a:ea typeface="+mn-ea"/>
                          <a:cs typeface="Times New Roman"/>
                        </a:rPr>
                        <a:t>(</a:t>
                      </a:r>
                      <a:r>
                        <a:rPr lang="zh-CN" sz="1200" b="1" kern="100">
                          <a:latin typeface="+mn-ea"/>
                          <a:ea typeface="+mn-ea"/>
                          <a:cs typeface="Times New Roman"/>
                        </a:rPr>
                        <a:t>双核共享</a:t>
                      </a:r>
                      <a:r>
                        <a:rPr lang="en-US" sz="1200" b="1" kern="100">
                          <a:latin typeface="+mn-ea"/>
                          <a:ea typeface="+mn-ea"/>
                          <a:cs typeface="Times New Roman"/>
                        </a:rPr>
                        <a:t>)</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80 </a:t>
                      </a:r>
                      <a:r>
                        <a:rPr lang="zh-CN" sz="1200" b="1" kern="100" dirty="0">
                          <a:latin typeface="+mn-ea"/>
                          <a:ea typeface="+mn-ea"/>
                          <a:cs typeface="Times New Roman"/>
                        </a:rPr>
                        <a:t>定点</a:t>
                      </a:r>
                      <a:r>
                        <a:rPr lang="en-US" sz="1200" b="1" kern="100" dirty="0">
                          <a:latin typeface="+mn-ea"/>
                          <a:ea typeface="+mn-ea"/>
                          <a:cs typeface="Times New Roman"/>
                        </a:rPr>
                        <a:t>,</a:t>
                      </a:r>
                      <a:r>
                        <a:rPr lang="zh-CN" sz="1200" b="1" kern="100" dirty="0">
                          <a:latin typeface="+mn-ea"/>
                          <a:ea typeface="+mn-ea"/>
                          <a:cs typeface="Times New Roman"/>
                        </a:rPr>
                        <a:t>浮点</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56 CR; </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40 XER,</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24 </a:t>
                      </a:r>
                      <a:r>
                        <a:rPr lang="en-US" sz="1200" b="1" kern="100" dirty="0" err="1">
                          <a:latin typeface="+mn-ea"/>
                          <a:ea typeface="+mn-ea"/>
                          <a:cs typeface="Times New Roman"/>
                        </a:rPr>
                        <a:t>Link&amp;Count</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定点</a:t>
                      </a:r>
                      <a:r>
                        <a:rPr lang="en-US" sz="1200" b="1" kern="100" dirty="0">
                          <a:latin typeface="+mn-ea"/>
                          <a:ea typeface="+mn-ea"/>
                          <a:cs typeface="Times New Roman"/>
                        </a:rPr>
                        <a:t>; </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16 Acc; </a:t>
                      </a:r>
                      <a:endParaRPr lang="en-US" sz="1200" b="1" kern="100" dirty="0" smtClean="0">
                        <a:latin typeface="+mn-ea"/>
                        <a:ea typeface="+mn-ea"/>
                        <a:cs typeface="Times New Roman"/>
                      </a:endParaRPr>
                    </a:p>
                    <a:p>
                      <a:pPr algn="l">
                        <a:spcAft>
                          <a:spcPts val="0"/>
                        </a:spcAft>
                      </a:pPr>
                      <a:r>
                        <a:rPr lang="en-US" sz="1200" b="1" kern="100" dirty="0" smtClean="0">
                          <a:latin typeface="+mn-ea"/>
                          <a:ea typeface="+mn-ea"/>
                          <a:cs typeface="Times New Roman"/>
                        </a:rPr>
                        <a:t>32 </a:t>
                      </a:r>
                      <a:r>
                        <a:rPr lang="en-US" sz="1200" b="1" kern="100" dirty="0" err="1">
                          <a:latin typeface="+mn-ea"/>
                          <a:ea typeface="+mn-ea"/>
                          <a:cs typeface="Times New Roman"/>
                        </a:rPr>
                        <a:t>DSPCtrl</a:t>
                      </a:r>
                      <a:r>
                        <a:rPr lang="en-US" sz="1200" b="1" kern="100" dirty="0">
                          <a:latin typeface="+mn-ea"/>
                          <a:ea typeface="+mn-ea"/>
                          <a:cs typeface="Times New Roman"/>
                        </a:rPr>
                        <a:t>; </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32 FCR</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455">
                <a:tc gridSpan="5">
                  <a:txBody>
                    <a:bodyPr/>
                    <a:lstStyle/>
                    <a:p>
                      <a:pPr indent="281305" algn="l">
                        <a:spcAft>
                          <a:spcPts val="0"/>
                        </a:spcAft>
                      </a:pPr>
                      <a:r>
                        <a:rPr lang="zh-CN" sz="1200" b="1" kern="100" dirty="0">
                          <a:solidFill>
                            <a:schemeClr val="accent2"/>
                          </a:solidFill>
                          <a:latin typeface="+mn-ea"/>
                          <a:ea typeface="+mn-ea"/>
                          <a:cs typeface="Times New Roman"/>
                        </a:rPr>
                        <a:t>执行单元</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hMerge="1">
                  <a:tcPr/>
                </a:tc>
                <a:tc hMerge="1">
                  <a:tcPr/>
                </a:tc>
                <a:tc hMerge="1">
                  <a:tcPr/>
                </a:tc>
                <a:tc hMerge="1">
                  <a:tcPr/>
                </a:tc>
              </a:tr>
              <a:tr h="1333181">
                <a:tc>
                  <a:txBody>
                    <a:bodyPr/>
                    <a:lstStyle/>
                    <a:p>
                      <a:pPr algn="ctr">
                        <a:spcAft>
                          <a:spcPts val="0"/>
                        </a:spcAft>
                      </a:pPr>
                      <a:r>
                        <a:rPr lang="zh-CN" altLang="en-US" sz="1200" b="1" kern="100" dirty="0" smtClean="0">
                          <a:solidFill>
                            <a:schemeClr val="accent2"/>
                          </a:solidFill>
                          <a:latin typeface="+mn-ea"/>
                          <a:ea typeface="+mn-ea"/>
                          <a:cs typeface="Times New Roman"/>
                        </a:rPr>
                        <a:t>执行单元个数</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ALU/LEA/Shift/128</a:t>
                      </a:r>
                      <a:r>
                        <a:rPr lang="zh-CN" sz="1200" b="1" kern="100" dirty="0">
                          <a:latin typeface="+mn-ea"/>
                          <a:ea typeface="+mn-ea"/>
                          <a:cs typeface="Times New Roman"/>
                        </a:rPr>
                        <a:t>位</a:t>
                      </a:r>
                      <a:r>
                        <a:rPr lang="en-US" sz="1200" b="1" kern="100" dirty="0">
                          <a:latin typeface="+mn-ea"/>
                          <a:ea typeface="+mn-ea"/>
                          <a:cs typeface="Times New Roman"/>
                        </a:rPr>
                        <a:t> MUL/128</a:t>
                      </a:r>
                      <a:r>
                        <a:rPr lang="zh-CN" sz="1200" b="1" kern="100" dirty="0">
                          <a:latin typeface="+mn-ea"/>
                          <a:ea typeface="+mn-ea"/>
                          <a:cs typeface="Times New Roman"/>
                        </a:rPr>
                        <a:t>位</a:t>
                      </a:r>
                      <a:r>
                        <a:rPr lang="en-US" sz="1200" b="1" kern="100" dirty="0">
                          <a:latin typeface="+mn-ea"/>
                          <a:ea typeface="+mn-ea"/>
                          <a:cs typeface="Times New Roman"/>
                        </a:rPr>
                        <a:t> Shift/256</a:t>
                      </a:r>
                      <a:r>
                        <a:rPr lang="zh-CN" sz="1200" b="1" kern="100" dirty="0" smtClean="0">
                          <a:latin typeface="+mn-ea"/>
                          <a:ea typeface="+mn-ea"/>
                          <a:cs typeface="Times New Roman"/>
                        </a:rPr>
                        <a:t>位</a:t>
                      </a:r>
                      <a:r>
                        <a:rPr lang="en-US" sz="1200" b="1" kern="100" dirty="0" smtClean="0">
                          <a:latin typeface="+mn-ea"/>
                          <a:ea typeface="+mn-ea"/>
                          <a:cs typeface="Times New Roman"/>
                        </a:rPr>
                        <a:t>FMUL/256</a:t>
                      </a:r>
                      <a:r>
                        <a:rPr lang="zh-CN" sz="1200" b="1" kern="100" dirty="0" smtClean="0">
                          <a:latin typeface="+mn-ea"/>
                          <a:ea typeface="+mn-ea"/>
                          <a:cs typeface="Times New Roman"/>
                        </a:rPr>
                        <a:t>位</a:t>
                      </a:r>
                      <a:r>
                        <a:rPr lang="en-US" sz="1200" b="1" kern="100" dirty="0" smtClean="0">
                          <a:latin typeface="+mn-ea"/>
                          <a:ea typeface="+mn-ea"/>
                          <a:cs typeface="Times New Roman"/>
                        </a:rPr>
                        <a:t>Blend </a:t>
                      </a:r>
                      <a:r>
                        <a:rPr lang="en-US" sz="1200" b="1" kern="100" dirty="0" smtClean="0">
                          <a:solidFill>
                            <a:schemeClr val="accent2"/>
                          </a:solidFill>
                          <a:latin typeface="+mn-ea"/>
                          <a:ea typeface="+mn-ea"/>
                          <a:cs typeface="Times New Roman"/>
                        </a:rPr>
                        <a:t>+</a:t>
                      </a:r>
                      <a:r>
                        <a:rPr lang="en-US" sz="1200" b="1" kern="100" dirty="0" smtClean="0">
                          <a:latin typeface="+mn-ea"/>
                          <a:ea typeface="+mn-ea"/>
                          <a:cs typeface="Times New Roman"/>
                        </a:rPr>
                        <a:t> </a:t>
                      </a:r>
                      <a:endParaRPr lang="en-US" sz="1200" b="1" kern="100" dirty="0" smtClean="0">
                        <a:latin typeface="+mn-ea"/>
                        <a:ea typeface="+mn-ea"/>
                        <a:cs typeface="Times New Roman"/>
                      </a:endParaRPr>
                    </a:p>
                    <a:p>
                      <a:pPr algn="l">
                        <a:spcAft>
                          <a:spcPts val="0"/>
                        </a:spcAft>
                      </a:pPr>
                      <a:r>
                        <a:rPr lang="en-US" sz="1200" b="1" kern="100" dirty="0" smtClean="0">
                          <a:latin typeface="+mn-ea"/>
                          <a:ea typeface="+mn-ea"/>
                          <a:cs typeface="Times New Roman"/>
                        </a:rPr>
                        <a:t>ALU/LEA/Shift/128</a:t>
                      </a:r>
                      <a:r>
                        <a:rPr lang="zh-CN" sz="1200" b="1" kern="100" dirty="0">
                          <a:latin typeface="+mn-ea"/>
                          <a:ea typeface="+mn-ea"/>
                          <a:cs typeface="Times New Roman"/>
                        </a:rPr>
                        <a:t>位</a:t>
                      </a:r>
                      <a:r>
                        <a:rPr lang="en-US" sz="1200" b="1" kern="100" dirty="0">
                          <a:latin typeface="+mn-ea"/>
                          <a:ea typeface="+mn-ea"/>
                          <a:cs typeface="Times New Roman"/>
                        </a:rPr>
                        <a:t> </a:t>
                      </a:r>
                      <a:r>
                        <a:rPr lang="en-US" sz="1200" b="1" kern="100" dirty="0" smtClean="0">
                          <a:latin typeface="+mn-ea"/>
                          <a:ea typeface="+mn-ea"/>
                          <a:cs typeface="Times New Roman"/>
                        </a:rPr>
                        <a:t>ALU /</a:t>
                      </a:r>
                      <a:r>
                        <a:rPr lang="en-US" sz="1200" b="1" kern="100" dirty="0">
                          <a:latin typeface="+mn-ea"/>
                          <a:ea typeface="+mn-ea"/>
                          <a:cs typeface="Times New Roman"/>
                        </a:rPr>
                        <a:t>128bit Shuffle/256</a:t>
                      </a:r>
                      <a:r>
                        <a:rPr lang="zh-CN" sz="1200" b="1" kern="100" dirty="0">
                          <a:latin typeface="+mn-ea"/>
                          <a:ea typeface="+mn-ea"/>
                          <a:cs typeface="Times New Roman"/>
                        </a:rPr>
                        <a:t>位</a:t>
                      </a:r>
                      <a:r>
                        <a:rPr lang="en-US" sz="1200" b="1" kern="100" dirty="0">
                          <a:latin typeface="+mn-ea"/>
                          <a:ea typeface="+mn-ea"/>
                          <a:cs typeface="Times New Roman"/>
                        </a:rPr>
                        <a:t> FADD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smtClean="0">
                          <a:latin typeface="+mn-ea"/>
                          <a:ea typeface="+mn-ea"/>
                          <a:cs typeface="Times New Roman"/>
                        </a:rPr>
                        <a:t>ALU/Shift/Branch</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 ALU/128bit Shuffle/256</a:t>
                      </a:r>
                      <a:r>
                        <a:rPr lang="zh-CN" sz="1200" b="1" kern="100" dirty="0">
                          <a:latin typeface="+mn-ea"/>
                          <a:ea typeface="+mn-ea"/>
                          <a:cs typeface="Times New Roman"/>
                        </a:rPr>
                        <a:t>位</a:t>
                      </a:r>
                      <a:r>
                        <a:rPr lang="en-US" sz="1200" b="1" kern="100" dirty="0">
                          <a:latin typeface="+mn-ea"/>
                          <a:ea typeface="+mn-ea"/>
                          <a:cs typeface="Times New Roman"/>
                        </a:rPr>
                        <a:t> Shuffle/256</a:t>
                      </a:r>
                      <a:r>
                        <a:rPr lang="zh-CN" sz="1200" b="1" kern="100" dirty="0">
                          <a:latin typeface="+mn-ea"/>
                          <a:ea typeface="+mn-ea"/>
                          <a:cs typeface="Times New Roman"/>
                        </a:rPr>
                        <a:t>位</a:t>
                      </a:r>
                      <a:r>
                        <a:rPr lang="en-US" sz="1200" b="1" kern="100" dirty="0">
                          <a:latin typeface="+mn-ea"/>
                          <a:ea typeface="+mn-ea"/>
                          <a:cs typeface="Times New Roman"/>
                        </a:rPr>
                        <a:t> Blend</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ALU/IMUL/Branch </a:t>
                      </a:r>
                      <a:r>
                        <a:rPr lang="en-US" sz="1200" b="1" kern="100" dirty="0" smtClean="0">
                          <a:solidFill>
                            <a:schemeClr val="accent2"/>
                          </a:solidFill>
                          <a:latin typeface="+mn-ea"/>
                          <a:ea typeface="+mn-ea"/>
                          <a:cs typeface="Times New Roman"/>
                        </a:rPr>
                        <a:t>+ </a:t>
                      </a:r>
                      <a:r>
                        <a:rPr lang="en-US" sz="1200" b="1" kern="100" dirty="0" smtClean="0">
                          <a:latin typeface="+mn-ea"/>
                          <a:ea typeface="+mn-ea"/>
                          <a:cs typeface="Times New Roman"/>
                        </a:rPr>
                        <a:t>ALU/IDIV/Count </a:t>
                      </a:r>
                      <a:r>
                        <a:rPr lang="en-US" sz="1200" b="1" kern="100" dirty="0" smtClean="0">
                          <a:solidFill>
                            <a:schemeClr val="accent2"/>
                          </a:solidFill>
                          <a:latin typeface="+mn-ea"/>
                          <a:ea typeface="+mn-ea"/>
                          <a:cs typeface="Times New Roman"/>
                        </a:rPr>
                        <a:t>+ </a:t>
                      </a:r>
                      <a:endParaRPr lang="en-US" sz="1200" b="1" kern="100" dirty="0" smtClean="0">
                        <a:solidFill>
                          <a:schemeClr val="accent2"/>
                        </a:solidFill>
                        <a:latin typeface="+mn-ea"/>
                        <a:ea typeface="+mn-ea"/>
                        <a:cs typeface="Times New Roman"/>
                      </a:endParaRPr>
                    </a:p>
                    <a:p>
                      <a:pPr algn="l">
                        <a:spcAft>
                          <a:spcPts val="0"/>
                        </a:spcAft>
                      </a:pPr>
                      <a:r>
                        <a:rPr lang="en-US" sz="1200" b="1" kern="100" dirty="0" smtClean="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FMAC/128</a:t>
                      </a:r>
                      <a:r>
                        <a:rPr lang="zh-CN" sz="1200" b="1" kern="100" dirty="0">
                          <a:latin typeface="+mn-ea"/>
                          <a:ea typeface="+mn-ea"/>
                          <a:cs typeface="Times New Roman"/>
                        </a:rPr>
                        <a:t>位</a:t>
                      </a:r>
                      <a:r>
                        <a:rPr lang="en-US" sz="1200" b="1" kern="100" dirty="0">
                          <a:latin typeface="+mn-ea"/>
                          <a:ea typeface="+mn-ea"/>
                          <a:cs typeface="Times New Roman"/>
                        </a:rPr>
                        <a:t> IMAC </a:t>
                      </a:r>
                      <a:r>
                        <a:rPr lang="en-US" sz="1200" b="1" kern="100" dirty="0">
                          <a:solidFill>
                            <a:schemeClr val="accent2"/>
                          </a:solidFill>
                          <a:latin typeface="+mn-ea"/>
                          <a:ea typeface="+mn-ea"/>
                          <a:cs typeface="Times New Roman"/>
                        </a:rPr>
                        <a:t>+</a:t>
                      </a:r>
                      <a:r>
                        <a:rPr lang="en-US" sz="1200" b="1" kern="100" dirty="0">
                          <a:latin typeface="+mn-ea"/>
                          <a:ea typeface="+mn-ea"/>
                          <a:cs typeface="Times New Roman"/>
                        </a:rPr>
                        <a:t> </a:t>
                      </a:r>
                      <a:r>
                        <a:rPr lang="en-US" sz="1200" b="1" kern="100" dirty="0" smtClean="0">
                          <a:latin typeface="+mn-ea"/>
                          <a:ea typeface="+mn-ea"/>
                          <a:cs typeface="Times New Roman"/>
                        </a:rPr>
                        <a:t>128</a:t>
                      </a:r>
                      <a:r>
                        <a:rPr lang="zh-CN" sz="1200" b="1" kern="100" dirty="0" smtClean="0">
                          <a:latin typeface="+mn-ea"/>
                          <a:ea typeface="+mn-ea"/>
                          <a:cs typeface="Times New Roman"/>
                        </a:rPr>
                        <a:t>位</a:t>
                      </a:r>
                      <a:r>
                        <a:rPr lang="en-US" sz="1200" b="1" kern="100" dirty="0" smtClean="0">
                          <a:latin typeface="+mn-ea"/>
                          <a:ea typeface="+mn-ea"/>
                          <a:cs typeface="Times New Roman"/>
                        </a:rPr>
                        <a:t>FMAC/128</a:t>
                      </a:r>
                      <a:r>
                        <a:rPr lang="zh-CN" sz="1200" b="1" kern="100" dirty="0">
                          <a:latin typeface="+mn-ea"/>
                          <a:ea typeface="+mn-ea"/>
                          <a:cs typeface="Times New Roman"/>
                        </a:rPr>
                        <a:t>位</a:t>
                      </a:r>
                      <a:r>
                        <a:rPr lang="en-US" sz="1200" b="1" kern="100" dirty="0">
                          <a:latin typeface="+mn-ea"/>
                          <a:ea typeface="+mn-ea"/>
                          <a:cs typeface="Times New Roman"/>
                        </a:rPr>
                        <a:t> XBAR </a:t>
                      </a:r>
                      <a:r>
                        <a:rPr lang="en-US" sz="1200" b="1" kern="100" dirty="0">
                          <a:solidFill>
                            <a:schemeClr val="accent2"/>
                          </a:solidFill>
                          <a:latin typeface="+mn-ea"/>
                          <a:ea typeface="+mn-ea"/>
                          <a:cs typeface="Times New Roman"/>
                        </a:rPr>
                        <a:t>+</a:t>
                      </a:r>
                      <a:r>
                        <a:rPr lang="en-US" sz="1200" b="1" kern="100" dirty="0">
                          <a:latin typeface="+mn-ea"/>
                          <a:ea typeface="+mn-ea"/>
                          <a:cs typeface="Times New Roman"/>
                        </a:rPr>
                        <a:t> </a:t>
                      </a:r>
                      <a:endParaRPr lang="en-US" sz="1200" b="1" kern="100" dirty="0" smtClean="0">
                        <a:latin typeface="+mn-ea"/>
                        <a:ea typeface="+mn-ea"/>
                        <a:cs typeface="Times New Roman"/>
                      </a:endParaRPr>
                    </a:p>
                    <a:p>
                      <a:pPr algn="l">
                        <a:spcAft>
                          <a:spcPts val="0"/>
                        </a:spcAft>
                      </a:pPr>
                      <a:r>
                        <a:rPr lang="en-US" sz="1200" b="1" kern="100" dirty="0" smtClean="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 MMX </a:t>
                      </a:r>
                      <a:r>
                        <a:rPr lang="en-US" sz="1200" b="1" kern="100" dirty="0">
                          <a:solidFill>
                            <a:schemeClr val="accent2"/>
                          </a:solidFill>
                          <a:latin typeface="+mn-ea"/>
                          <a:ea typeface="+mn-ea"/>
                          <a:cs typeface="Times New Roman"/>
                        </a:rPr>
                        <a:t>+ </a:t>
                      </a:r>
                      <a:endParaRPr lang="en-US" sz="1200" b="1" kern="100" dirty="0" smtClean="0">
                        <a:solidFill>
                          <a:schemeClr val="accent2"/>
                        </a:solidFill>
                        <a:latin typeface="+mn-ea"/>
                        <a:ea typeface="+mn-ea"/>
                        <a:cs typeface="Times New Roman"/>
                      </a:endParaRPr>
                    </a:p>
                    <a:p>
                      <a:pPr algn="l">
                        <a:spcAft>
                          <a:spcPts val="0"/>
                        </a:spcAft>
                      </a:pPr>
                      <a:r>
                        <a:rPr lang="en-US" sz="1200" b="1" kern="100" dirty="0" smtClean="0">
                          <a:latin typeface="+mn-ea"/>
                          <a:ea typeface="+mn-ea"/>
                          <a:cs typeface="Times New Roman"/>
                        </a:rPr>
                        <a:t>128</a:t>
                      </a:r>
                      <a:r>
                        <a:rPr lang="zh-CN" sz="1200" b="1" kern="100" dirty="0">
                          <a:latin typeface="+mn-ea"/>
                          <a:ea typeface="+mn-ea"/>
                          <a:cs typeface="Times New Roman"/>
                        </a:rPr>
                        <a:t>位</a:t>
                      </a:r>
                      <a:r>
                        <a:rPr lang="en-US" sz="1200" b="1" kern="100" dirty="0">
                          <a:latin typeface="+mn-ea"/>
                          <a:ea typeface="+mn-ea"/>
                          <a:cs typeface="Times New Roman"/>
                        </a:rPr>
                        <a:t> MMX/128</a:t>
                      </a:r>
                      <a:r>
                        <a:rPr lang="zh-CN" sz="1200" b="1" kern="100" dirty="0">
                          <a:latin typeface="+mn-ea"/>
                          <a:ea typeface="+mn-ea"/>
                          <a:cs typeface="Times New Roman"/>
                        </a:rPr>
                        <a:t>位</a:t>
                      </a:r>
                      <a:r>
                        <a:rPr lang="en-US" sz="1200" b="1" kern="100" dirty="0">
                          <a:latin typeface="+mn-ea"/>
                          <a:ea typeface="+mn-ea"/>
                          <a:cs typeface="Times New Roman"/>
                        </a:rPr>
                        <a:t> FSTO</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定点</a:t>
                      </a:r>
                      <a:r>
                        <a:rPr lang="en-US" sz="1200" b="1" kern="100" dirty="0">
                          <a:latin typeface="+mn-ea"/>
                          <a:ea typeface="+mn-ea"/>
                          <a:cs typeface="Times New Roman"/>
                        </a:rPr>
                        <a:t>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r>
                        <a:rPr lang="en-US" sz="1200" b="1" kern="100" dirty="0">
                          <a:latin typeface="+mn-ea"/>
                          <a:ea typeface="+mn-ea"/>
                          <a:cs typeface="Times New Roman"/>
                        </a:rPr>
                        <a:t>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1 </a:t>
                      </a:r>
                      <a:r>
                        <a:rPr lang="zh-CN" sz="1200" b="1" kern="100" dirty="0">
                          <a:latin typeface="+mn-ea"/>
                          <a:ea typeface="+mn-ea"/>
                          <a:cs typeface="Times New Roman"/>
                        </a:rPr>
                        <a:t>转移</a:t>
                      </a:r>
                      <a:r>
                        <a:rPr lang="en-US" sz="1200" b="1" kern="100" dirty="0">
                          <a:latin typeface="+mn-ea"/>
                          <a:ea typeface="+mn-ea"/>
                          <a:cs typeface="Times New Roman"/>
                        </a:rPr>
                        <a:t>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1 CR</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定点</a:t>
                      </a:r>
                      <a:r>
                        <a:rPr lang="en-US" sz="1200" b="1" kern="100" dirty="0">
                          <a:latin typeface="+mn-ea"/>
                          <a:ea typeface="+mn-ea"/>
                          <a:cs typeface="Times New Roman"/>
                        </a:rPr>
                        <a:t>/</a:t>
                      </a:r>
                      <a:r>
                        <a:rPr lang="zh-CN" sz="1200" b="1" kern="100" dirty="0">
                          <a:latin typeface="+mn-ea"/>
                          <a:ea typeface="+mn-ea"/>
                          <a:cs typeface="Times New Roman"/>
                        </a:rPr>
                        <a:t>转移</a:t>
                      </a:r>
                      <a:r>
                        <a:rPr lang="en-US" sz="1200" b="1" kern="100" dirty="0">
                          <a:latin typeface="+mn-ea"/>
                          <a:ea typeface="+mn-ea"/>
                          <a:cs typeface="Times New Roman"/>
                        </a:rPr>
                        <a:t>/DSP </a:t>
                      </a:r>
                      <a:r>
                        <a:rPr lang="en-US" sz="1200" b="1" kern="100" dirty="0">
                          <a:solidFill>
                            <a:schemeClr val="accent2"/>
                          </a:solidFill>
                          <a:latin typeface="+mn-ea"/>
                          <a:ea typeface="+mn-ea"/>
                          <a:cs typeface="Times New Roman"/>
                        </a:rPr>
                        <a:t>+</a:t>
                      </a:r>
                      <a:endParaRPr lang="zh-CN" sz="1200" b="1" kern="100" dirty="0">
                        <a:solidFill>
                          <a:schemeClr val="accent2"/>
                        </a:solidFill>
                        <a:latin typeface="+mn-ea"/>
                        <a:ea typeface="+mn-ea"/>
                        <a:cs typeface="Times New Roman"/>
                      </a:endParaRPr>
                    </a:p>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0455">
                <a:tc>
                  <a:txBody>
                    <a:bodyPr/>
                    <a:lstStyle/>
                    <a:p>
                      <a:pPr algn="ctr">
                        <a:spcAft>
                          <a:spcPts val="0"/>
                        </a:spcAft>
                      </a:pPr>
                      <a:r>
                        <a:rPr lang="zh-CN" sz="1200" b="1" kern="100" dirty="0">
                          <a:solidFill>
                            <a:schemeClr val="accent2"/>
                          </a:solidFill>
                          <a:latin typeface="+mn-ea"/>
                          <a:ea typeface="+mn-ea"/>
                          <a:cs typeface="Times New Roman"/>
                        </a:rPr>
                        <a:t>向量</a:t>
                      </a:r>
                      <a:r>
                        <a:rPr lang="zh-CN" sz="1200" b="1" kern="100" dirty="0" smtClean="0">
                          <a:solidFill>
                            <a:schemeClr val="accent2"/>
                          </a:solidFill>
                          <a:latin typeface="+mn-ea"/>
                          <a:ea typeface="+mn-ea"/>
                          <a:cs typeface="Times New Roman"/>
                        </a:rPr>
                        <a:t>部件宽度</a:t>
                      </a:r>
                      <a:endParaRPr lang="zh-CN" sz="1200"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a:latin typeface="+mn-ea"/>
                          <a:ea typeface="+mn-ea"/>
                          <a:cs typeface="Times New Roman"/>
                        </a:rPr>
                        <a:t>256</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a:latin typeface="+mn-ea"/>
                          <a:ea typeface="+mn-ea"/>
                          <a:cs typeface="Times New Roman"/>
                        </a:rPr>
                        <a:t>128</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a:latin typeface="+mn-ea"/>
                          <a:ea typeface="+mn-ea"/>
                          <a:cs typeface="Times New Roman"/>
                        </a:rPr>
                        <a:t>128</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100" dirty="0">
                          <a:latin typeface="+mn-ea"/>
                          <a:ea typeface="+mn-ea"/>
                          <a:cs typeface="Times New Roman"/>
                        </a:rPr>
                        <a:t>256</a:t>
                      </a:r>
                      <a:r>
                        <a:rPr lang="zh-CN" sz="1200" b="1" kern="100" dirty="0">
                          <a:latin typeface="+mn-ea"/>
                          <a:ea typeface="+mn-ea"/>
                          <a:cs typeface="Times New Roman"/>
                        </a:rPr>
                        <a:t>位</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anchor="ctr" anchorCtr="0"/>
          <a:p>
            <a:r>
              <a:rPr lang="zh-CN" altLang="en-US" dirty="0"/>
              <a:t>典型处理器的数据通路</a:t>
            </a:r>
            <a:endParaRPr lang="zh-CN" altLang="en-US" dirty="0"/>
          </a:p>
        </p:txBody>
      </p:sp>
      <p:graphicFrame>
        <p:nvGraphicFramePr>
          <p:cNvPr id="4" name="内容占位符 3"/>
          <p:cNvGraphicFramePr>
            <a:graphicFrameLocks noGrp="1"/>
          </p:cNvGraphicFramePr>
          <p:nvPr>
            <p:ph idx="1"/>
          </p:nvPr>
        </p:nvGraphicFramePr>
        <p:xfrm>
          <a:off x="160338" y="1196975"/>
          <a:ext cx="11579225" cy="5080000"/>
        </p:xfrm>
        <a:graphic>
          <a:graphicData uri="http://schemas.openxmlformats.org/drawingml/2006/table">
            <a:tbl>
              <a:tblPr/>
              <a:tblGrid>
                <a:gridCol w="2187461"/>
                <a:gridCol w="2279258"/>
                <a:gridCol w="2051332"/>
                <a:gridCol w="2552769"/>
                <a:gridCol w="2507184"/>
              </a:tblGrid>
              <a:tr h="354157">
                <a:tc>
                  <a:txBody>
                    <a:bodyPr/>
                    <a:lstStyle/>
                    <a:p>
                      <a:pPr algn="ctr">
                        <a:spcAft>
                          <a:spcPts val="0"/>
                        </a:spcAft>
                      </a:pP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a:spcAft>
                          <a:spcPts val="0"/>
                        </a:spcAft>
                      </a:pPr>
                      <a:r>
                        <a:rPr lang="en-US" sz="1200" b="1" kern="100" dirty="0">
                          <a:solidFill>
                            <a:schemeClr val="accent2"/>
                          </a:solidFill>
                          <a:latin typeface="+mn-ea"/>
                          <a:ea typeface="+mn-ea"/>
                          <a:cs typeface="Times New Roman"/>
                        </a:rPr>
                        <a:t>Intel </a:t>
                      </a:r>
                      <a:r>
                        <a:rPr lang="en-US" sz="1200" b="1" kern="100" dirty="0" err="1">
                          <a:solidFill>
                            <a:schemeClr val="accent2"/>
                          </a:solidFill>
                          <a:latin typeface="+mn-ea"/>
                          <a:ea typeface="+mn-ea"/>
                          <a:cs typeface="Times New Roman"/>
                        </a:rPr>
                        <a:t>Sandybridge</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tcPr>
                </a:tc>
                <a:tc>
                  <a:txBody>
                    <a:bodyPr/>
                    <a:lstStyle/>
                    <a:p>
                      <a:pPr algn="ctr">
                        <a:spcAft>
                          <a:spcPts val="0"/>
                        </a:spcAft>
                      </a:pPr>
                      <a:r>
                        <a:rPr lang="en-US" sz="1200" b="1" kern="100" dirty="0">
                          <a:solidFill>
                            <a:schemeClr val="accent2"/>
                          </a:solidFill>
                          <a:latin typeface="+mn-ea"/>
                          <a:ea typeface="+mn-ea"/>
                          <a:cs typeface="Times New Roman"/>
                        </a:rPr>
                        <a:t>AMD </a:t>
                      </a:r>
                      <a:r>
                        <a:rPr lang="en-US" sz="1200" b="1" kern="100" dirty="0" err="1">
                          <a:solidFill>
                            <a:schemeClr val="accent2"/>
                          </a:solidFill>
                          <a:latin typeface="+mn-ea"/>
                          <a:ea typeface="+mn-ea"/>
                          <a:cs typeface="Times New Roman"/>
                        </a:rPr>
                        <a:t>BullDozer</a:t>
                      </a:r>
                      <a:endParaRPr lang="zh-CN" sz="1200" b="1" kern="100" dirty="0">
                        <a:solidFill>
                          <a:schemeClr val="accent2"/>
                        </a:solidFill>
                        <a:latin typeface="+mn-ea"/>
                        <a:ea typeface="+mn-ea"/>
                        <a:cs typeface="Times New Roman"/>
                      </a:endParaRPr>
                    </a:p>
                  </a:txBody>
                  <a:tcPr marL="42410" marR="42410" marT="0" marB="0" anchor="ctr"/>
                </a:tc>
                <a:tc>
                  <a:txBody>
                    <a:bodyPr/>
                    <a:lstStyle/>
                    <a:p>
                      <a:pPr algn="ctr">
                        <a:spcAft>
                          <a:spcPts val="0"/>
                        </a:spcAft>
                      </a:pPr>
                      <a:r>
                        <a:rPr lang="en-US" sz="1200" b="1" kern="100" dirty="0">
                          <a:solidFill>
                            <a:schemeClr val="accent2"/>
                          </a:solidFill>
                          <a:latin typeface="+mn-ea"/>
                          <a:ea typeface="+mn-ea"/>
                          <a:cs typeface="Times New Roman"/>
                        </a:rPr>
                        <a:t>IBM Power7</a:t>
                      </a:r>
                      <a:endParaRPr lang="zh-CN" sz="1200" b="1" kern="100" dirty="0">
                        <a:solidFill>
                          <a:schemeClr val="accent2"/>
                        </a:solidFill>
                        <a:latin typeface="+mn-ea"/>
                        <a:ea typeface="+mn-ea"/>
                        <a:cs typeface="Times New Roman"/>
                      </a:endParaRPr>
                    </a:p>
                  </a:txBody>
                  <a:tcPr marL="42410" marR="42410" marT="0" marB="0" anchor="ctr"/>
                </a:tc>
                <a:tc>
                  <a:txBody>
                    <a:bodyPr/>
                    <a:lstStyle/>
                    <a:p>
                      <a:pPr algn="ctr">
                        <a:spcAft>
                          <a:spcPts val="0"/>
                        </a:spcAft>
                      </a:pPr>
                      <a:r>
                        <a:rPr lang="en-US" altLang="zh-CN" sz="1200" b="1" kern="100" dirty="0" smtClean="0">
                          <a:solidFill>
                            <a:schemeClr val="accent2"/>
                          </a:solidFill>
                          <a:latin typeface="+mn-ea"/>
                          <a:ea typeface="+mn-ea"/>
                          <a:cs typeface="Times New Roman"/>
                        </a:rPr>
                        <a:t>GS464E</a:t>
                      </a:r>
                      <a:endParaRPr lang="zh-CN" sz="1200" b="1" kern="100" dirty="0">
                        <a:solidFill>
                          <a:schemeClr val="accent2"/>
                        </a:solidFill>
                        <a:latin typeface="+mn-ea"/>
                        <a:ea typeface="+mn-ea"/>
                        <a:cs typeface="Times New Roman"/>
                      </a:endParaRPr>
                    </a:p>
                  </a:txBody>
                  <a:tcPr marL="42410" marR="42410" marT="0" marB="0" anchor="ctr"/>
                </a:tc>
              </a:tr>
              <a:tr h="249381">
                <a:tc>
                  <a:txBody>
                    <a:bodyPr/>
                    <a:lstStyle/>
                    <a:p>
                      <a:pPr algn="ctr">
                        <a:spcAft>
                          <a:spcPts val="0"/>
                        </a:spcAft>
                      </a:pPr>
                      <a:r>
                        <a:rPr lang="zh-CN" sz="1200" b="1" kern="100" dirty="0">
                          <a:solidFill>
                            <a:schemeClr val="accent2"/>
                          </a:solidFill>
                          <a:latin typeface="+mn-ea"/>
                          <a:ea typeface="+mn-ea"/>
                          <a:cs typeface="Times New Roman"/>
                        </a:rPr>
                        <a:t>访存执行单元</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取</a:t>
                      </a:r>
                      <a:r>
                        <a:rPr lang="en-US" sz="1200" b="1" kern="100" dirty="0">
                          <a:latin typeface="+mn-ea"/>
                          <a:ea typeface="+mn-ea"/>
                          <a:cs typeface="Times New Roman"/>
                        </a:rPr>
                        <a:t>+ 1 </a:t>
                      </a:r>
                      <a:r>
                        <a:rPr lang="zh-CN" sz="1200" b="1" kern="100" dirty="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取</a:t>
                      </a:r>
                      <a:r>
                        <a:rPr lang="en-US" sz="1200" b="1" kern="100" dirty="0">
                          <a:latin typeface="+mn-ea"/>
                          <a:ea typeface="+mn-ea"/>
                          <a:cs typeface="Times New Roman"/>
                        </a:rPr>
                        <a:t>/</a:t>
                      </a:r>
                      <a:r>
                        <a:rPr lang="zh-CN" sz="1200" b="1" kern="100" dirty="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 </a:t>
                      </a:r>
                      <a:r>
                        <a:rPr lang="zh-CN" sz="1200" b="1" kern="100" dirty="0">
                          <a:latin typeface="+mn-ea"/>
                          <a:ea typeface="+mn-ea"/>
                          <a:cs typeface="Times New Roman"/>
                        </a:rPr>
                        <a:t>取</a:t>
                      </a:r>
                      <a:r>
                        <a:rPr lang="en-US" sz="1200" b="1" kern="100" dirty="0">
                          <a:latin typeface="+mn-ea"/>
                          <a:ea typeface="+mn-ea"/>
                          <a:cs typeface="Times New Roman"/>
                        </a:rPr>
                        <a:t>/</a:t>
                      </a:r>
                      <a:r>
                        <a:rPr lang="zh-CN" sz="1200" b="1" kern="100" dirty="0">
                          <a:latin typeface="+mn-ea"/>
                          <a:ea typeface="+mn-ea"/>
                          <a:cs typeface="Times New Roman"/>
                        </a:rPr>
                        <a:t>存</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2 </a:t>
                      </a:r>
                      <a:r>
                        <a:rPr lang="zh-CN" sz="1200" b="1" kern="100">
                          <a:latin typeface="+mn-ea"/>
                          <a:ea typeface="+mn-ea"/>
                          <a:cs typeface="Times New Roman"/>
                        </a:rPr>
                        <a:t>取</a:t>
                      </a:r>
                      <a:r>
                        <a:rPr lang="en-US" sz="1200" b="1" kern="100">
                          <a:latin typeface="+mn-ea"/>
                          <a:ea typeface="+mn-ea"/>
                          <a:cs typeface="Times New Roman"/>
                        </a:rPr>
                        <a:t>/</a:t>
                      </a:r>
                      <a:r>
                        <a:rPr lang="zh-CN" sz="1200" b="1" kern="100">
                          <a:latin typeface="+mn-ea"/>
                          <a:ea typeface="+mn-ea"/>
                          <a:cs typeface="Times New Roman"/>
                        </a:rPr>
                        <a:t>存</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r>
              <a:tr h="498763">
                <a:tc>
                  <a:txBody>
                    <a:bodyPr/>
                    <a:lstStyle/>
                    <a:p>
                      <a:pPr algn="ctr">
                        <a:spcAft>
                          <a:spcPts val="0"/>
                        </a:spcAft>
                      </a:pPr>
                      <a:r>
                        <a:rPr lang="en-US" sz="1200" b="1" kern="100" dirty="0">
                          <a:solidFill>
                            <a:schemeClr val="accent2"/>
                          </a:solidFill>
                          <a:latin typeface="+mn-ea"/>
                          <a:ea typeface="+mn-ea"/>
                          <a:cs typeface="Times New Roman"/>
                        </a:rPr>
                        <a:t>Load/Store</a:t>
                      </a:r>
                      <a:r>
                        <a:rPr lang="zh-CN" sz="1200" b="1" kern="100" dirty="0">
                          <a:solidFill>
                            <a:schemeClr val="accent2"/>
                          </a:solidFill>
                          <a:latin typeface="+mn-ea"/>
                          <a:ea typeface="+mn-ea"/>
                          <a:cs typeface="Times New Roman"/>
                        </a:rPr>
                        <a:t>队列</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a:t>
                      </a:r>
                      <a:r>
                        <a:rPr lang="zh-CN" sz="1200" b="1" kern="100" dirty="0">
                          <a:latin typeface="+mn-ea"/>
                          <a:ea typeface="+mn-ea"/>
                          <a:cs typeface="Times New Roman"/>
                        </a:rPr>
                        <a:t>项</a:t>
                      </a:r>
                      <a:r>
                        <a:rPr lang="en-US" sz="1200" b="1" kern="100" dirty="0">
                          <a:latin typeface="+mn-ea"/>
                          <a:ea typeface="+mn-ea"/>
                          <a:cs typeface="Times New Roman"/>
                        </a:rPr>
                        <a:t> Load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36-</a:t>
                      </a:r>
                      <a:r>
                        <a:rPr lang="zh-CN" sz="1200" b="1" kern="100" dirty="0">
                          <a:latin typeface="+mn-ea"/>
                          <a:ea typeface="+mn-ea"/>
                          <a:cs typeface="Times New Roman"/>
                        </a:rPr>
                        <a:t>项</a:t>
                      </a:r>
                      <a:r>
                        <a:rPr lang="en-US" sz="1200" b="1" kern="100" dirty="0">
                          <a:latin typeface="+mn-ea"/>
                          <a:ea typeface="+mn-ea"/>
                          <a:cs typeface="Times New Roman"/>
                        </a:rPr>
                        <a:t> Store</a:t>
                      </a:r>
                      <a:r>
                        <a:rPr lang="zh-CN" sz="1200" b="1" kern="100" dirty="0">
                          <a:latin typeface="+mn-ea"/>
                          <a:ea typeface="+mn-ea"/>
                          <a:cs typeface="Times New Roman"/>
                        </a:rPr>
                        <a:t>队列</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40-</a:t>
                      </a:r>
                      <a:r>
                        <a:rPr lang="zh-CN" sz="1200" b="1" kern="100" dirty="0">
                          <a:latin typeface="+mn-ea"/>
                          <a:ea typeface="+mn-ea"/>
                          <a:cs typeface="Times New Roman"/>
                        </a:rPr>
                        <a:t>项</a:t>
                      </a:r>
                      <a:r>
                        <a:rPr lang="en-US" sz="1200" b="1" kern="100" dirty="0">
                          <a:latin typeface="+mn-ea"/>
                          <a:ea typeface="+mn-ea"/>
                          <a:cs typeface="Times New Roman"/>
                        </a:rPr>
                        <a:t> Load </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24-</a:t>
                      </a:r>
                      <a:r>
                        <a:rPr lang="zh-CN" sz="1200" b="1" kern="100" dirty="0">
                          <a:latin typeface="+mn-ea"/>
                          <a:ea typeface="+mn-ea"/>
                          <a:cs typeface="Times New Roman"/>
                        </a:rPr>
                        <a:t>项</a:t>
                      </a:r>
                      <a:r>
                        <a:rPr lang="en-US" sz="1200" b="1" kern="100" dirty="0">
                          <a:latin typeface="+mn-ea"/>
                          <a:ea typeface="+mn-ea"/>
                          <a:cs typeface="Times New Roman"/>
                        </a:rPr>
                        <a:t> Store </a:t>
                      </a:r>
                      <a:r>
                        <a:rPr lang="zh-CN" sz="1200" b="1" kern="100" dirty="0">
                          <a:latin typeface="+mn-ea"/>
                          <a:ea typeface="+mn-ea"/>
                          <a:cs typeface="Times New Roman"/>
                        </a:rPr>
                        <a:t>队列</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a:t>
                      </a:r>
                      <a:r>
                        <a:rPr lang="zh-CN" sz="1200" b="1" kern="100" dirty="0">
                          <a:latin typeface="+mn-ea"/>
                          <a:ea typeface="+mn-ea"/>
                          <a:cs typeface="Times New Roman"/>
                        </a:rPr>
                        <a:t>项</a:t>
                      </a:r>
                      <a:r>
                        <a:rPr lang="en-US" sz="1200" b="1" kern="100" dirty="0">
                          <a:latin typeface="+mn-ea"/>
                          <a:ea typeface="+mn-ea"/>
                          <a:cs typeface="Times New Roman"/>
                        </a:rPr>
                        <a:t> Load</a:t>
                      </a:r>
                      <a:r>
                        <a:rPr lang="zh-CN" sz="1200" b="1" kern="100" dirty="0">
                          <a:latin typeface="+mn-ea"/>
                          <a:ea typeface="+mn-ea"/>
                          <a:cs typeface="Times New Roman"/>
                        </a:rPr>
                        <a:t>队列</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32-</a:t>
                      </a:r>
                      <a:r>
                        <a:rPr lang="zh-CN" sz="1200" b="1" kern="100" dirty="0">
                          <a:latin typeface="+mn-ea"/>
                          <a:ea typeface="+mn-ea"/>
                          <a:cs typeface="Times New Roman"/>
                        </a:rPr>
                        <a:t>项</a:t>
                      </a:r>
                      <a:r>
                        <a:rPr lang="en-US" sz="1200" b="1" kern="100" dirty="0">
                          <a:latin typeface="+mn-ea"/>
                          <a:ea typeface="+mn-ea"/>
                          <a:cs typeface="Times New Roman"/>
                        </a:rPr>
                        <a:t> Store </a:t>
                      </a:r>
                      <a:r>
                        <a:rPr lang="zh-CN" sz="1200" b="1" kern="100" dirty="0">
                          <a:latin typeface="+mn-ea"/>
                          <a:ea typeface="+mn-ea"/>
                          <a:cs typeface="Times New Roman"/>
                        </a:rPr>
                        <a:t>队列</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64-</a:t>
                      </a:r>
                      <a:r>
                        <a:rPr lang="zh-CN" sz="1200" b="1" kern="100">
                          <a:latin typeface="+mn-ea"/>
                          <a:ea typeface="+mn-ea"/>
                          <a:cs typeface="Times New Roman"/>
                        </a:rPr>
                        <a:t>项 取</a:t>
                      </a:r>
                      <a:r>
                        <a:rPr lang="en-US" sz="1200" b="1" kern="100">
                          <a:latin typeface="+mn-ea"/>
                          <a:ea typeface="+mn-ea"/>
                          <a:cs typeface="Times New Roman"/>
                        </a:rPr>
                        <a:t>/</a:t>
                      </a:r>
                      <a:r>
                        <a:rPr lang="zh-CN" sz="1200" b="1" kern="100">
                          <a:latin typeface="+mn-ea"/>
                          <a:ea typeface="+mn-ea"/>
                          <a:cs typeface="Times New Roman"/>
                        </a:rPr>
                        <a:t>存 队列</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1365">
                <a:tc>
                  <a:txBody>
                    <a:bodyPr/>
                    <a:lstStyle/>
                    <a:p>
                      <a:pPr algn="ctr">
                        <a:spcAft>
                          <a:spcPts val="0"/>
                        </a:spcAft>
                      </a:pPr>
                      <a:r>
                        <a:rPr lang="en-US" sz="1200" b="1" kern="100" dirty="0">
                          <a:solidFill>
                            <a:schemeClr val="accent2"/>
                          </a:solidFill>
                          <a:latin typeface="+mn-ea"/>
                          <a:ea typeface="+mn-ea"/>
                          <a:cs typeface="Times New Roman"/>
                        </a:rPr>
                        <a:t>Load/Store </a:t>
                      </a:r>
                      <a:r>
                        <a:rPr lang="zh-CN" sz="1200" b="1" kern="100" dirty="0">
                          <a:solidFill>
                            <a:schemeClr val="accent2"/>
                          </a:solidFill>
                          <a:latin typeface="+mn-ea"/>
                          <a:ea typeface="+mn-ea"/>
                          <a:cs typeface="Times New Roman"/>
                        </a:rPr>
                        <a:t>宽度</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位</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位</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256 </a:t>
                      </a:r>
                      <a:r>
                        <a:rPr lang="zh-CN" sz="1200" b="1" kern="100" dirty="0">
                          <a:latin typeface="+mn-ea"/>
                          <a:ea typeface="+mn-ea"/>
                          <a:cs typeface="Times New Roman"/>
                        </a:rPr>
                        <a:t>位</a:t>
                      </a:r>
                      <a:r>
                        <a:rPr lang="en-US" sz="1200" b="1" kern="100" dirty="0">
                          <a:latin typeface="+mn-ea"/>
                          <a:ea typeface="+mn-ea"/>
                          <a:cs typeface="Times New Roman"/>
                        </a:rPr>
                        <a:t> load,</a:t>
                      </a:r>
                      <a:endParaRPr lang="zh-CN" sz="1200" b="1" kern="100" dirty="0">
                        <a:latin typeface="+mn-ea"/>
                        <a:ea typeface="+mn-ea"/>
                        <a:cs typeface="Times New Roman"/>
                      </a:endParaRPr>
                    </a:p>
                    <a:p>
                      <a:pPr algn="l">
                        <a:spcAft>
                          <a:spcPts val="0"/>
                        </a:spcAft>
                      </a:pPr>
                      <a:r>
                        <a:rPr lang="en-US" sz="1200" b="1" kern="100" dirty="0">
                          <a:latin typeface="+mn-ea"/>
                          <a:ea typeface="+mn-ea"/>
                          <a:cs typeface="Times New Roman"/>
                        </a:rPr>
                        <a:t>128 </a:t>
                      </a:r>
                      <a:r>
                        <a:rPr lang="zh-CN" sz="1200" b="1" kern="100" dirty="0">
                          <a:latin typeface="+mn-ea"/>
                          <a:ea typeface="+mn-ea"/>
                          <a:cs typeface="Times New Roman"/>
                        </a:rPr>
                        <a:t>位</a:t>
                      </a:r>
                      <a:r>
                        <a:rPr lang="en-US" sz="1200" b="1" kern="100" dirty="0">
                          <a:latin typeface="+mn-ea"/>
                          <a:ea typeface="+mn-ea"/>
                          <a:cs typeface="Times New Roman"/>
                        </a:rPr>
                        <a:t> Store</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256 </a:t>
                      </a:r>
                      <a:r>
                        <a:rPr lang="zh-CN" sz="1200" b="1" kern="100">
                          <a:latin typeface="+mn-ea"/>
                          <a:ea typeface="+mn-ea"/>
                          <a:cs typeface="Times New Roman"/>
                        </a:rPr>
                        <a:t>位</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2047">
                <a:tc>
                  <a:txBody>
                    <a:bodyPr/>
                    <a:lstStyle/>
                    <a:p>
                      <a:pPr algn="ctr">
                        <a:spcAft>
                          <a:spcPts val="0"/>
                        </a:spcAft>
                      </a:pPr>
                      <a:r>
                        <a:rPr lang="en-US" sz="1200" b="1" kern="100" dirty="0">
                          <a:solidFill>
                            <a:schemeClr val="accent2"/>
                          </a:solidFill>
                          <a:latin typeface="+mn-ea"/>
                          <a:ea typeface="+mn-ea"/>
                          <a:cs typeface="Times New Roman"/>
                        </a:rPr>
                        <a:t>TLB</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100</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L1 DTLB,</a:t>
                      </a:r>
                      <a:endParaRPr lang="zh-CN" sz="1200" b="1" kern="100" dirty="0">
                        <a:latin typeface="+mn-ea"/>
                        <a:ea typeface="+mn-ea"/>
                        <a:cs typeface="Times New Roman"/>
                      </a:endParaRPr>
                    </a:p>
                    <a:p>
                      <a:pPr algn="l">
                        <a:spcAft>
                          <a:spcPts val="0"/>
                        </a:spcAft>
                      </a:pPr>
                      <a:r>
                        <a:rPr lang="en-US" sz="1200" b="1" kern="100" dirty="0" smtClean="0">
                          <a:latin typeface="+mn-ea"/>
                          <a:ea typeface="+mn-ea"/>
                          <a:cs typeface="Times New Roman"/>
                        </a:rPr>
                        <a:t>512</a:t>
                      </a:r>
                      <a:r>
                        <a:rPr lang="zh-CN" sz="1200" b="1" kern="100" dirty="0" smtClean="0">
                          <a:latin typeface="+mn-ea"/>
                          <a:ea typeface="+mn-ea"/>
                          <a:cs typeface="Times New Roman"/>
                        </a:rPr>
                        <a:t>项</a:t>
                      </a:r>
                      <a:r>
                        <a:rPr lang="en-US" sz="1200" b="1" kern="100" dirty="0" smtClean="0">
                          <a:latin typeface="+mn-ea"/>
                          <a:ea typeface="+mn-ea"/>
                          <a:cs typeface="Times New Roman"/>
                        </a:rPr>
                        <a:t>4</a:t>
                      </a:r>
                      <a:r>
                        <a:rPr lang="zh-CN" sz="1200" b="1" kern="100" dirty="0">
                          <a:latin typeface="+mn-ea"/>
                          <a:ea typeface="+mn-ea"/>
                          <a:cs typeface="Times New Roman"/>
                        </a:rPr>
                        <a:t>路</a:t>
                      </a:r>
                      <a:r>
                        <a:rPr lang="en-US" sz="1200" b="1" kern="100" dirty="0">
                          <a:latin typeface="+mn-ea"/>
                          <a:ea typeface="+mn-ea"/>
                          <a:cs typeface="Times New Roman"/>
                        </a:rPr>
                        <a:t>, L2 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32</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L1 DTLB,</a:t>
                      </a:r>
                      <a:endParaRPr lang="zh-CN" sz="1200" b="1" kern="100" dirty="0">
                        <a:latin typeface="+mn-ea"/>
                        <a:ea typeface="+mn-ea"/>
                        <a:cs typeface="Times New Roman"/>
                      </a:endParaRPr>
                    </a:p>
                    <a:p>
                      <a:pPr algn="l">
                        <a:spcAft>
                          <a:spcPts val="0"/>
                        </a:spcAft>
                      </a:pPr>
                      <a:r>
                        <a:rPr lang="en-US" sz="1200" b="1" kern="100" dirty="0" smtClean="0">
                          <a:latin typeface="+mn-ea"/>
                          <a:ea typeface="+mn-ea"/>
                          <a:cs typeface="Times New Roman"/>
                        </a:rPr>
                        <a:t>1024</a:t>
                      </a:r>
                      <a:r>
                        <a:rPr lang="zh-CN" sz="1200" b="1" kern="100" dirty="0" smtClean="0">
                          <a:latin typeface="+mn-ea"/>
                          <a:ea typeface="+mn-ea"/>
                          <a:cs typeface="Times New Roman"/>
                        </a:rPr>
                        <a:t>项</a:t>
                      </a:r>
                      <a:r>
                        <a:rPr lang="en-US" sz="1200" b="1" kern="100" dirty="0" smtClean="0">
                          <a:latin typeface="+mn-ea"/>
                          <a:ea typeface="+mn-ea"/>
                          <a:cs typeface="Times New Roman"/>
                        </a:rPr>
                        <a:t>8</a:t>
                      </a:r>
                      <a:r>
                        <a:rPr lang="zh-CN" sz="1200" b="1" kern="100" dirty="0">
                          <a:latin typeface="+mn-ea"/>
                          <a:ea typeface="+mn-ea"/>
                          <a:cs typeface="Times New Roman"/>
                        </a:rPr>
                        <a:t>路</a:t>
                      </a:r>
                      <a:r>
                        <a:rPr lang="en-US" sz="1200" b="1" kern="100" dirty="0">
                          <a:latin typeface="+mn-ea"/>
                          <a:ea typeface="+mn-ea"/>
                          <a:cs typeface="Times New Roman"/>
                        </a:rPr>
                        <a:t>, L2 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smtClean="0">
                          <a:latin typeface="+mn-ea"/>
                          <a:ea typeface="+mn-ea"/>
                          <a:cs typeface="Times New Roman"/>
                        </a:rPr>
                        <a:t>64</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L1 DTLB,</a:t>
                      </a:r>
                      <a:endParaRPr lang="zh-CN" sz="1200" b="1" kern="100" dirty="0">
                        <a:latin typeface="+mn-ea"/>
                        <a:ea typeface="+mn-ea"/>
                        <a:cs typeface="Times New Roman"/>
                      </a:endParaRPr>
                    </a:p>
                    <a:p>
                      <a:pPr algn="l">
                        <a:spcAft>
                          <a:spcPts val="0"/>
                        </a:spcAft>
                      </a:pPr>
                      <a:r>
                        <a:rPr lang="en-US" sz="1200" b="1" kern="100" dirty="0" smtClean="0">
                          <a:latin typeface="+mn-ea"/>
                          <a:ea typeface="+mn-ea"/>
                          <a:cs typeface="Times New Roman"/>
                        </a:rPr>
                        <a:t>512</a:t>
                      </a:r>
                      <a:r>
                        <a:rPr lang="zh-CN" sz="1200" b="1" kern="100" dirty="0" smtClean="0">
                          <a:latin typeface="+mn-ea"/>
                          <a:ea typeface="+mn-ea"/>
                          <a:cs typeface="Times New Roman"/>
                        </a:rPr>
                        <a:t>项</a:t>
                      </a:r>
                      <a:r>
                        <a:rPr lang="en-US" sz="1200" b="1" kern="100" dirty="0" smtClean="0">
                          <a:latin typeface="+mn-ea"/>
                          <a:ea typeface="+mn-ea"/>
                          <a:cs typeface="Times New Roman"/>
                        </a:rPr>
                        <a:t>4</a:t>
                      </a:r>
                      <a:r>
                        <a:rPr lang="zh-CN" sz="1200" b="1" kern="100" dirty="0">
                          <a:latin typeface="+mn-ea"/>
                          <a:ea typeface="+mn-ea"/>
                          <a:cs typeface="Times New Roman"/>
                        </a:rPr>
                        <a:t>路</a:t>
                      </a:r>
                      <a:r>
                        <a:rPr lang="en-US" sz="1200" b="1" kern="100" dirty="0">
                          <a:latin typeface="+mn-ea"/>
                          <a:ea typeface="+mn-ea"/>
                          <a:cs typeface="Times New Roman"/>
                        </a:rPr>
                        <a:t>, L2 TLB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256-</a:t>
                      </a:r>
                      <a:r>
                        <a:rPr lang="zh-CN" sz="1200" b="1" kern="100" dirty="0" smtClean="0">
                          <a:latin typeface="+mn-ea"/>
                          <a:ea typeface="+mn-ea"/>
                          <a:cs typeface="Times New Roman"/>
                        </a:rPr>
                        <a:t>项全</a:t>
                      </a:r>
                      <a:r>
                        <a:rPr lang="zh-CN" sz="1200" b="1" kern="100" dirty="0">
                          <a:latin typeface="+mn-ea"/>
                          <a:ea typeface="+mn-ea"/>
                          <a:cs typeface="Times New Roman"/>
                        </a:rPr>
                        <a:t>相联</a:t>
                      </a:r>
                      <a:r>
                        <a:rPr lang="en-US" sz="1200" b="1" kern="100" dirty="0">
                          <a:latin typeface="+mn-ea"/>
                          <a:ea typeface="+mn-ea"/>
                          <a:cs typeface="Times New Roman"/>
                        </a:rPr>
                        <a:t>, </a:t>
                      </a:r>
                      <a:r>
                        <a:rPr lang="en-US" sz="1200" b="1" kern="100" dirty="0" smtClean="0">
                          <a:latin typeface="+mn-ea"/>
                          <a:ea typeface="+mn-ea"/>
                          <a:cs typeface="Times New Roman"/>
                        </a:rPr>
                        <a:t>TLB</a:t>
                      </a:r>
                      <a:endParaRPr lang="en-US" sz="1200" b="1" kern="100" dirty="0" smtClean="0">
                        <a:latin typeface="+mn-ea"/>
                        <a:ea typeface="+mn-ea"/>
                        <a:cs typeface="Times New Roman"/>
                      </a:endParaRPr>
                    </a:p>
                    <a:p>
                      <a:pPr algn="l">
                        <a:spcAft>
                          <a:spcPts val="0"/>
                        </a:spcAft>
                      </a:pPr>
                      <a:r>
                        <a:rPr lang="zh-CN" altLang="en-US" sz="1200" b="1" kern="100" dirty="0" smtClean="0">
                          <a:latin typeface="+mn-ea"/>
                          <a:ea typeface="+mn-ea"/>
                          <a:cs typeface="Times New Roman"/>
                        </a:rPr>
                        <a:t>每项两页</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0682">
                <a:tc>
                  <a:txBody>
                    <a:bodyPr/>
                    <a:lstStyle/>
                    <a:p>
                      <a:pPr algn="ctr">
                        <a:spcAft>
                          <a:spcPts val="0"/>
                        </a:spcAft>
                      </a:pPr>
                      <a:r>
                        <a:rPr lang="zh-CN" sz="1200" b="1" kern="100">
                          <a:solidFill>
                            <a:schemeClr val="accent2"/>
                          </a:solidFill>
                          <a:latin typeface="+mn-ea"/>
                          <a:ea typeface="+mn-ea"/>
                          <a:cs typeface="Times New Roman"/>
                        </a:rPr>
                        <a:t>一级数据缓存</a:t>
                      </a:r>
                      <a:endParaRPr lang="zh-CN" sz="1200" b="1" kern="10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32KB, 8 </a:t>
                      </a:r>
                      <a:r>
                        <a:rPr lang="zh-CN" sz="1200" b="1" kern="100">
                          <a:latin typeface="+mn-ea"/>
                          <a:ea typeface="+mn-ea"/>
                          <a:cs typeface="Times New Roman"/>
                        </a:rPr>
                        <a:t>路</a:t>
                      </a:r>
                      <a:r>
                        <a:rPr lang="en-US" sz="1200" b="1" kern="100">
                          <a:latin typeface="+mn-ea"/>
                          <a:ea typeface="+mn-ea"/>
                          <a:cs typeface="Times New Roman"/>
                        </a:rPr>
                        <a:t>, 64B/</a:t>
                      </a:r>
                      <a:r>
                        <a:rPr lang="zh-CN" sz="1200" b="1" kern="100">
                          <a:latin typeface="+mn-ea"/>
                          <a:ea typeface="+mn-ea"/>
                          <a:cs typeface="Times New Roman"/>
                        </a:rPr>
                        <a:t>行</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16KB, 4</a:t>
                      </a:r>
                      <a:r>
                        <a:rPr lang="zh-CN" sz="1200" b="1" kern="100">
                          <a:latin typeface="+mn-ea"/>
                          <a:ea typeface="+mn-ea"/>
                          <a:cs typeface="Times New Roman"/>
                        </a:rPr>
                        <a:t>路</a:t>
                      </a:r>
                      <a:r>
                        <a:rPr lang="en-US" sz="1200" b="1" kern="100">
                          <a:latin typeface="+mn-ea"/>
                          <a:ea typeface="+mn-ea"/>
                          <a:cs typeface="Times New Roman"/>
                        </a:rPr>
                        <a:t>, 64B/</a:t>
                      </a:r>
                      <a:r>
                        <a:rPr lang="zh-CN" sz="1200" b="1" kern="100">
                          <a:latin typeface="+mn-ea"/>
                          <a:ea typeface="+mn-ea"/>
                          <a:cs typeface="Times New Roman"/>
                        </a:rPr>
                        <a:t>行</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32KB, 8 </a:t>
                      </a:r>
                      <a:r>
                        <a:rPr lang="zh-CN" sz="1200" b="1" kern="100" dirty="0">
                          <a:latin typeface="+mn-ea"/>
                          <a:ea typeface="+mn-ea"/>
                          <a:cs typeface="Times New Roman"/>
                        </a:rPr>
                        <a:t>路</a:t>
                      </a:r>
                      <a:r>
                        <a:rPr lang="en-US" sz="1200" b="1" kern="100" dirty="0">
                          <a:latin typeface="+mn-ea"/>
                          <a:ea typeface="+mn-ea"/>
                          <a:cs typeface="Times New Roman"/>
                        </a:rPr>
                        <a:t>, 128B/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64KB, 4 </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1365">
                <a:tc>
                  <a:txBody>
                    <a:bodyPr/>
                    <a:lstStyle/>
                    <a:p>
                      <a:pPr algn="ctr">
                        <a:spcAft>
                          <a:spcPts val="0"/>
                        </a:spcAft>
                      </a:pPr>
                      <a:r>
                        <a:rPr lang="zh-CN" sz="1200" b="1" kern="100" dirty="0">
                          <a:solidFill>
                            <a:schemeClr val="accent2"/>
                          </a:solidFill>
                          <a:latin typeface="+mn-ea"/>
                          <a:ea typeface="+mn-ea"/>
                          <a:cs typeface="Times New Roman"/>
                        </a:rPr>
                        <a:t>二级缓存</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b="1" kern="100" dirty="0" smtClean="0">
                          <a:latin typeface="+mn-ea"/>
                          <a:ea typeface="+mn-ea"/>
                          <a:cs typeface="Times New Roman"/>
                        </a:rPr>
                        <a:t>每核</a:t>
                      </a:r>
                      <a:r>
                        <a:rPr lang="en-US" sz="1200" b="1" kern="100" dirty="0">
                          <a:latin typeface="+mn-ea"/>
                          <a:ea typeface="+mn-ea"/>
                          <a:cs typeface="Times New Roman"/>
                        </a:rPr>
                        <a:t>256KB, 8</a:t>
                      </a:r>
                      <a:r>
                        <a:rPr lang="zh-CN" sz="1200" b="1" kern="100" dirty="0">
                          <a:latin typeface="+mn-ea"/>
                          <a:ea typeface="+mn-ea"/>
                          <a:cs typeface="Times New Roman"/>
                        </a:rPr>
                        <a:t>路</a:t>
                      </a:r>
                      <a:r>
                        <a:rPr lang="en-US" sz="1200" b="1" kern="100" dirty="0">
                          <a:latin typeface="+mn-ea"/>
                          <a:ea typeface="+mn-ea"/>
                          <a:cs typeface="Times New Roman"/>
                        </a:rPr>
                        <a:t>, 64B/</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altLang="en-US" sz="1200" b="1" kern="100" dirty="0" smtClean="0">
                          <a:latin typeface="+mn-ea"/>
                          <a:ea typeface="+mn-ea"/>
                          <a:cs typeface="Times New Roman"/>
                        </a:rPr>
                        <a:t>双</a:t>
                      </a:r>
                      <a:r>
                        <a:rPr lang="zh-CN" sz="1200" b="1" kern="100" dirty="0" smtClean="0">
                          <a:latin typeface="+mn-ea"/>
                          <a:ea typeface="+mn-ea"/>
                          <a:cs typeface="Times New Roman"/>
                        </a:rPr>
                        <a:t>核</a:t>
                      </a:r>
                      <a:r>
                        <a:rPr lang="zh-CN" sz="1200" b="1" kern="100" dirty="0">
                          <a:latin typeface="+mn-ea"/>
                          <a:ea typeface="+mn-ea"/>
                          <a:cs typeface="Times New Roman"/>
                        </a:rPr>
                        <a:t>共享</a:t>
                      </a:r>
                      <a:r>
                        <a:rPr lang="en-US" sz="1200" b="1" kern="100" dirty="0">
                          <a:latin typeface="+mn-ea"/>
                          <a:ea typeface="+mn-ea"/>
                          <a:cs typeface="Times New Roman"/>
                        </a:rPr>
                        <a:t>2MB, 16 </a:t>
                      </a:r>
                      <a:r>
                        <a:rPr lang="zh-CN" sz="1200" b="1" kern="100" dirty="0" smtClean="0">
                          <a:latin typeface="+mn-ea"/>
                          <a:ea typeface="+mn-ea"/>
                          <a:cs typeface="Times New Roman"/>
                        </a:rPr>
                        <a:t>路</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b="1" kern="100" dirty="0" smtClean="0">
                          <a:latin typeface="+mn-ea"/>
                          <a:ea typeface="+mn-ea"/>
                          <a:cs typeface="Times New Roman"/>
                        </a:rPr>
                        <a:t>每核</a:t>
                      </a:r>
                      <a:r>
                        <a:rPr lang="en-US" sz="1200" b="1" kern="100" dirty="0">
                          <a:latin typeface="+mn-ea"/>
                          <a:ea typeface="+mn-ea"/>
                          <a:cs typeface="Times New Roman"/>
                        </a:rPr>
                        <a:t>256KB, 8</a:t>
                      </a:r>
                      <a:r>
                        <a:rPr lang="zh-CN" sz="1200" b="1" kern="100" dirty="0">
                          <a:latin typeface="+mn-ea"/>
                          <a:ea typeface="+mn-ea"/>
                          <a:cs typeface="Times New Roman"/>
                        </a:rPr>
                        <a:t>路</a:t>
                      </a:r>
                      <a:r>
                        <a:rPr lang="en-US" sz="1200" b="1" kern="100" dirty="0">
                          <a:latin typeface="+mn-ea"/>
                          <a:ea typeface="+mn-ea"/>
                          <a:cs typeface="Times New Roman"/>
                        </a:rPr>
                        <a:t>, </a:t>
                      </a:r>
                      <a:r>
                        <a:rPr lang="en-US" sz="1200" b="1" kern="100" dirty="0" smtClean="0">
                          <a:latin typeface="+mn-ea"/>
                          <a:ea typeface="+mn-ea"/>
                          <a:cs typeface="Times New Roman"/>
                        </a:rPr>
                        <a:t>28B</a:t>
                      </a:r>
                      <a:r>
                        <a:rPr lang="en-US" sz="1200" b="1" kern="100" dirty="0">
                          <a:latin typeface="+mn-ea"/>
                          <a:ea typeface="+mn-ea"/>
                          <a:cs typeface="Times New Roman"/>
                        </a:rPr>
                        <a:t>/</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b="1" kern="100" dirty="0" smtClean="0">
                          <a:latin typeface="+mn-ea"/>
                          <a:ea typeface="+mn-ea"/>
                          <a:cs typeface="Times New Roman"/>
                        </a:rPr>
                        <a:t>每核</a:t>
                      </a:r>
                      <a:r>
                        <a:rPr lang="en-US" sz="1200" b="1" kern="100" dirty="0">
                          <a:latin typeface="+mn-ea"/>
                          <a:ea typeface="+mn-ea"/>
                          <a:cs typeface="Times New Roman"/>
                        </a:rPr>
                        <a:t>256KB, 16</a:t>
                      </a:r>
                      <a:r>
                        <a:rPr lang="zh-CN" sz="1200" b="1" kern="100" dirty="0">
                          <a:latin typeface="+mn-ea"/>
                          <a:ea typeface="+mn-ea"/>
                          <a:cs typeface="Times New Roman"/>
                        </a:rPr>
                        <a:t>路</a:t>
                      </a:r>
                      <a:r>
                        <a:rPr lang="en-US" sz="1200" b="1" kern="100" dirty="0" smtClean="0">
                          <a:latin typeface="+mn-ea"/>
                          <a:ea typeface="+mn-ea"/>
                          <a:cs typeface="Times New Roman"/>
                        </a:rPr>
                        <a:t>,64B</a:t>
                      </a:r>
                      <a:r>
                        <a:rPr lang="en-US" sz="1200" b="1" kern="100" dirty="0">
                          <a:latin typeface="+mn-ea"/>
                          <a:ea typeface="+mn-ea"/>
                          <a:cs typeface="Times New Roman"/>
                        </a:rPr>
                        <a:t>/</a:t>
                      </a:r>
                      <a:r>
                        <a:rPr lang="zh-CN" sz="1200" b="1" kern="100" dirty="0">
                          <a:latin typeface="+mn-ea"/>
                          <a:ea typeface="+mn-ea"/>
                          <a:cs typeface="Times New Roman"/>
                        </a:rPr>
                        <a:t>行</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9381">
                <a:tc>
                  <a:txBody>
                    <a:bodyPr/>
                    <a:lstStyle/>
                    <a:p>
                      <a:pPr algn="ctr">
                        <a:spcAft>
                          <a:spcPts val="0"/>
                        </a:spcAft>
                      </a:pPr>
                      <a:r>
                        <a:rPr lang="zh-CN" sz="1200" b="1" kern="100">
                          <a:solidFill>
                            <a:schemeClr val="accent2"/>
                          </a:solidFill>
                          <a:latin typeface="+mn-ea"/>
                          <a:ea typeface="+mn-ea"/>
                          <a:cs typeface="Times New Roman"/>
                        </a:rPr>
                        <a:t>三级缓存</a:t>
                      </a:r>
                      <a:endParaRPr lang="zh-CN" sz="1200" b="1" kern="10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8</a:t>
                      </a:r>
                      <a:r>
                        <a:rPr lang="zh-CN" sz="1200" b="1" kern="100">
                          <a:latin typeface="+mn-ea"/>
                          <a:ea typeface="+mn-ea"/>
                          <a:cs typeface="Times New Roman"/>
                        </a:rPr>
                        <a:t>个核</a:t>
                      </a:r>
                      <a:r>
                        <a:rPr lang="en-US" sz="1200" b="1" kern="100">
                          <a:latin typeface="+mn-ea"/>
                          <a:ea typeface="+mn-ea"/>
                          <a:cs typeface="Times New Roman"/>
                        </a:rPr>
                        <a:t>20 MB</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4</a:t>
                      </a:r>
                      <a:r>
                        <a:rPr lang="zh-CN" sz="1200" b="1" kern="100">
                          <a:latin typeface="+mn-ea"/>
                          <a:ea typeface="+mn-ea"/>
                          <a:cs typeface="Times New Roman"/>
                        </a:rPr>
                        <a:t>个核</a:t>
                      </a:r>
                      <a:r>
                        <a:rPr lang="en-US" sz="1200" b="1" kern="100">
                          <a:latin typeface="+mn-ea"/>
                          <a:ea typeface="+mn-ea"/>
                          <a:cs typeface="Times New Roman"/>
                        </a:rPr>
                        <a:t>8 MB</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a:t>
                      </a:r>
                      <a:r>
                        <a:rPr lang="zh-CN" sz="1200" b="1" kern="100" dirty="0">
                          <a:latin typeface="+mn-ea"/>
                          <a:ea typeface="+mn-ea"/>
                          <a:cs typeface="Times New Roman"/>
                        </a:rPr>
                        <a:t>个核</a:t>
                      </a:r>
                      <a:r>
                        <a:rPr lang="en-US" sz="1200" b="1" kern="100" dirty="0">
                          <a:latin typeface="+mn-ea"/>
                          <a:ea typeface="+mn-ea"/>
                          <a:cs typeface="Times New Roman"/>
                        </a:rPr>
                        <a:t>32 MB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4</a:t>
                      </a:r>
                      <a:r>
                        <a:rPr lang="zh-CN" sz="1200" b="1" kern="100" dirty="0">
                          <a:latin typeface="+mn-ea"/>
                          <a:ea typeface="+mn-ea"/>
                          <a:cs typeface="Times New Roman"/>
                        </a:rPr>
                        <a:t>个核</a:t>
                      </a:r>
                      <a:r>
                        <a:rPr lang="en-US" sz="1200" b="1" kern="100" dirty="0">
                          <a:latin typeface="+mn-ea"/>
                          <a:ea typeface="+mn-ea"/>
                          <a:cs typeface="Times New Roman"/>
                        </a:rPr>
                        <a:t>4 MB</a:t>
                      </a:r>
                      <a:r>
                        <a:rPr lang="zh-CN" sz="1200" b="1" kern="100" dirty="0">
                          <a:latin typeface="+mn-ea"/>
                          <a:ea typeface="+mn-ea"/>
                          <a:cs typeface="Times New Roman"/>
                        </a:rPr>
                        <a:t>～</a:t>
                      </a:r>
                      <a:r>
                        <a:rPr lang="en-US" sz="1200" b="1" kern="100" dirty="0">
                          <a:latin typeface="+mn-ea"/>
                          <a:ea typeface="+mn-ea"/>
                          <a:cs typeface="Times New Roman"/>
                        </a:rPr>
                        <a:t>8MB</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1365">
                <a:tc>
                  <a:txBody>
                    <a:bodyPr/>
                    <a:lstStyle/>
                    <a:p>
                      <a:pPr algn="ctr">
                        <a:spcAft>
                          <a:spcPts val="0"/>
                        </a:spcAft>
                      </a:pPr>
                      <a:r>
                        <a:rPr lang="zh-CN" sz="1200" b="1" kern="100" dirty="0">
                          <a:solidFill>
                            <a:schemeClr val="accent2"/>
                          </a:solidFill>
                          <a:latin typeface="+mn-ea"/>
                          <a:ea typeface="+mn-ea"/>
                          <a:cs typeface="Times New Roman"/>
                        </a:rPr>
                        <a:t>一级数据缓存同时处理缺失请求数</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10</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8</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a:spcAft>
                          <a:spcPts val="0"/>
                        </a:spcAft>
                      </a:pPr>
                      <a:r>
                        <a:rPr lang="en-US" sz="1200" b="1" kern="100" dirty="0">
                          <a:latin typeface="+mn-ea"/>
                          <a:ea typeface="+mn-ea"/>
                          <a:cs typeface="Times New Roman"/>
                        </a:rPr>
                        <a:t>Unified 16</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1365">
                <a:tc>
                  <a:txBody>
                    <a:bodyPr/>
                    <a:lstStyle/>
                    <a:p>
                      <a:pPr algn="ctr">
                        <a:spcAft>
                          <a:spcPts val="0"/>
                        </a:spcAft>
                      </a:pPr>
                      <a:r>
                        <a:rPr lang="zh-CN" sz="1200" b="1" kern="100" dirty="0">
                          <a:solidFill>
                            <a:schemeClr val="accent2"/>
                          </a:solidFill>
                          <a:latin typeface="+mn-ea"/>
                          <a:ea typeface="+mn-ea"/>
                          <a:cs typeface="Times New Roman"/>
                        </a:rPr>
                        <a:t>二级缓存同时处理缺失请求数</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16</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23</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24</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r>
              <a:tr h="461365">
                <a:tc>
                  <a:txBody>
                    <a:bodyPr/>
                    <a:lstStyle/>
                    <a:p>
                      <a:pPr algn="ctr">
                        <a:spcAft>
                          <a:spcPts val="0"/>
                        </a:spcAft>
                      </a:pPr>
                      <a:r>
                        <a:rPr lang="zh-CN" sz="1200" b="1" kern="100" dirty="0">
                          <a:solidFill>
                            <a:schemeClr val="accent2"/>
                          </a:solidFill>
                          <a:latin typeface="+mn-ea"/>
                          <a:ea typeface="+mn-ea"/>
                          <a:cs typeface="Times New Roman"/>
                        </a:rPr>
                        <a:t>一级</a:t>
                      </a:r>
                      <a:r>
                        <a:rPr lang="en-US" sz="1200" b="1" kern="100" dirty="0">
                          <a:solidFill>
                            <a:schemeClr val="accent2"/>
                          </a:solidFill>
                          <a:latin typeface="+mn-ea"/>
                          <a:ea typeface="+mn-ea"/>
                          <a:cs typeface="Times New Roman"/>
                        </a:rPr>
                        <a:t> Load-to-use </a:t>
                      </a:r>
                      <a:r>
                        <a:rPr lang="zh-CN" sz="1200" b="1" kern="100" dirty="0">
                          <a:solidFill>
                            <a:schemeClr val="accent2"/>
                          </a:solidFill>
                          <a:latin typeface="+mn-ea"/>
                          <a:ea typeface="+mn-ea"/>
                          <a:cs typeface="Times New Roman"/>
                        </a:rPr>
                        <a:t>延迟</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b="1" kern="100">
                          <a:latin typeface="+mn-ea"/>
                          <a:ea typeface="+mn-ea"/>
                          <a:cs typeface="Times New Roman"/>
                        </a:rPr>
                        <a:t>定点</a:t>
                      </a:r>
                      <a:r>
                        <a:rPr lang="en-US" sz="1200" b="1" kern="100">
                          <a:latin typeface="+mn-ea"/>
                          <a:ea typeface="+mn-ea"/>
                          <a:cs typeface="Times New Roman"/>
                        </a:rPr>
                        <a:t>4</a:t>
                      </a:r>
                      <a:r>
                        <a:rPr lang="zh-CN" sz="1200" b="1" kern="100">
                          <a:latin typeface="+mn-ea"/>
                          <a:ea typeface="+mn-ea"/>
                          <a:cs typeface="Times New Roman"/>
                        </a:rPr>
                        <a:t>时钟周期</a:t>
                      </a:r>
                      <a:r>
                        <a:rPr lang="en-US" sz="1200" b="1" kern="100">
                          <a:latin typeface="+mn-ea"/>
                          <a:ea typeface="+mn-ea"/>
                          <a:cs typeface="Times New Roman"/>
                        </a:rPr>
                        <a:t>,</a:t>
                      </a:r>
                      <a:endParaRPr lang="zh-CN" sz="1200" b="1" kern="100">
                        <a:latin typeface="+mn-ea"/>
                        <a:ea typeface="+mn-ea"/>
                        <a:cs typeface="Times New Roman"/>
                      </a:endParaRPr>
                    </a:p>
                    <a:p>
                      <a:pPr algn="l">
                        <a:spcAft>
                          <a:spcPts val="0"/>
                        </a:spcAft>
                      </a:pPr>
                      <a:r>
                        <a:rPr lang="zh-CN" sz="1200" b="1" kern="100">
                          <a:latin typeface="+mn-ea"/>
                          <a:ea typeface="+mn-ea"/>
                          <a:cs typeface="Times New Roman"/>
                        </a:rPr>
                        <a:t>浮点</a:t>
                      </a:r>
                      <a:r>
                        <a:rPr lang="en-US" sz="1200" b="1" kern="100">
                          <a:latin typeface="+mn-ea"/>
                          <a:ea typeface="+mn-ea"/>
                          <a:cs typeface="Times New Roman"/>
                        </a:rPr>
                        <a:t>/</a:t>
                      </a:r>
                      <a:r>
                        <a:rPr lang="zh-CN" sz="1200" b="1" kern="100">
                          <a:latin typeface="+mn-ea"/>
                          <a:ea typeface="+mn-ea"/>
                          <a:cs typeface="Times New Roman"/>
                        </a:rPr>
                        <a:t>向量</a:t>
                      </a:r>
                      <a:r>
                        <a:rPr lang="en-US" sz="1200" b="1" kern="100">
                          <a:latin typeface="+mn-ea"/>
                          <a:ea typeface="+mn-ea"/>
                          <a:cs typeface="Times New Roman"/>
                        </a:rPr>
                        <a:t>5</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4</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b="1" kern="100">
                          <a:latin typeface="+mn-ea"/>
                          <a:ea typeface="+mn-ea"/>
                          <a:cs typeface="Times New Roman"/>
                        </a:rPr>
                        <a:t>定点</a:t>
                      </a:r>
                      <a:r>
                        <a:rPr lang="en-US" sz="1200" b="1" kern="100">
                          <a:latin typeface="+mn-ea"/>
                          <a:ea typeface="+mn-ea"/>
                          <a:cs typeface="Times New Roman"/>
                        </a:rPr>
                        <a:t>2</a:t>
                      </a:r>
                      <a:r>
                        <a:rPr lang="zh-CN" sz="1200" b="1" kern="100">
                          <a:latin typeface="+mn-ea"/>
                          <a:ea typeface="+mn-ea"/>
                          <a:cs typeface="Times New Roman"/>
                        </a:rPr>
                        <a:t>时钟周期</a:t>
                      </a:r>
                      <a:r>
                        <a:rPr lang="en-US" sz="1200" b="1" kern="100">
                          <a:latin typeface="+mn-ea"/>
                          <a:ea typeface="+mn-ea"/>
                          <a:cs typeface="Times New Roman"/>
                        </a:rPr>
                        <a:t>,</a:t>
                      </a:r>
                      <a:endParaRPr lang="zh-CN" sz="1200" b="1" kern="100">
                        <a:latin typeface="+mn-ea"/>
                        <a:ea typeface="+mn-ea"/>
                        <a:cs typeface="Times New Roman"/>
                      </a:endParaRPr>
                    </a:p>
                    <a:p>
                      <a:pPr algn="l">
                        <a:spcAft>
                          <a:spcPts val="0"/>
                        </a:spcAft>
                      </a:pPr>
                      <a:r>
                        <a:rPr lang="zh-CN" sz="1200" b="1" kern="100">
                          <a:latin typeface="+mn-ea"/>
                          <a:ea typeface="+mn-ea"/>
                          <a:cs typeface="Times New Roman"/>
                        </a:rPr>
                        <a:t>浮点</a:t>
                      </a:r>
                      <a:r>
                        <a:rPr lang="en-US" sz="1200" b="1" kern="100">
                          <a:latin typeface="+mn-ea"/>
                          <a:ea typeface="+mn-ea"/>
                          <a:cs typeface="Times New Roman"/>
                        </a:rPr>
                        <a:t>/</a:t>
                      </a:r>
                      <a:r>
                        <a:rPr lang="zh-CN" sz="1200" b="1" kern="100">
                          <a:latin typeface="+mn-ea"/>
                          <a:ea typeface="+mn-ea"/>
                          <a:cs typeface="Times New Roman"/>
                        </a:rPr>
                        <a:t>向量</a:t>
                      </a:r>
                      <a:r>
                        <a:rPr lang="en-US" sz="1200" b="1" kern="100">
                          <a:latin typeface="+mn-ea"/>
                          <a:ea typeface="+mn-ea"/>
                          <a:cs typeface="Times New Roman"/>
                        </a:rPr>
                        <a:t>3 </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200" b="1" kern="100" dirty="0">
                          <a:latin typeface="+mn-ea"/>
                          <a:ea typeface="+mn-ea"/>
                          <a:cs typeface="Times New Roman"/>
                        </a:rPr>
                        <a:t>定点</a:t>
                      </a:r>
                      <a:r>
                        <a:rPr lang="en-US" sz="1200" b="1" kern="100" dirty="0">
                          <a:latin typeface="+mn-ea"/>
                          <a:ea typeface="+mn-ea"/>
                          <a:cs typeface="Times New Roman"/>
                        </a:rPr>
                        <a:t>3</a:t>
                      </a:r>
                      <a:r>
                        <a:rPr lang="zh-CN" sz="1200" b="1" kern="100" dirty="0">
                          <a:latin typeface="+mn-ea"/>
                          <a:ea typeface="+mn-ea"/>
                          <a:cs typeface="Times New Roman"/>
                        </a:rPr>
                        <a:t>时钟周期</a:t>
                      </a:r>
                      <a:r>
                        <a:rPr lang="en-US" sz="1200" b="1" kern="100" dirty="0">
                          <a:latin typeface="+mn-ea"/>
                          <a:ea typeface="+mn-ea"/>
                          <a:cs typeface="Times New Roman"/>
                        </a:rPr>
                        <a:t>,</a:t>
                      </a:r>
                      <a:endParaRPr lang="zh-CN" sz="1200" b="1" kern="100" dirty="0">
                        <a:latin typeface="+mn-ea"/>
                        <a:ea typeface="+mn-ea"/>
                        <a:cs typeface="Times New Roman"/>
                      </a:endParaRPr>
                    </a:p>
                    <a:p>
                      <a:pPr algn="l">
                        <a:spcAft>
                          <a:spcPts val="0"/>
                        </a:spcAft>
                      </a:pPr>
                      <a:r>
                        <a:rPr lang="zh-CN" sz="1200" b="1" kern="100" dirty="0">
                          <a:latin typeface="+mn-ea"/>
                          <a:ea typeface="+mn-ea"/>
                          <a:cs typeface="Times New Roman"/>
                        </a:rPr>
                        <a:t>浮点</a:t>
                      </a:r>
                      <a:r>
                        <a:rPr lang="en-US" sz="1200" b="1" kern="100" dirty="0">
                          <a:latin typeface="+mn-ea"/>
                          <a:ea typeface="+mn-ea"/>
                          <a:cs typeface="Times New Roman"/>
                        </a:rPr>
                        <a:t>/</a:t>
                      </a:r>
                      <a:r>
                        <a:rPr lang="zh-CN" sz="1200" b="1" kern="100" dirty="0">
                          <a:latin typeface="+mn-ea"/>
                          <a:ea typeface="+mn-ea"/>
                          <a:cs typeface="Times New Roman"/>
                        </a:rPr>
                        <a:t>向量</a:t>
                      </a:r>
                      <a:r>
                        <a:rPr lang="en-US" sz="1200" b="1" kern="100" dirty="0">
                          <a:latin typeface="+mn-ea"/>
                          <a:ea typeface="+mn-ea"/>
                          <a:cs typeface="Times New Roman"/>
                        </a:rPr>
                        <a:t>5 </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8763">
                <a:tc>
                  <a:txBody>
                    <a:bodyPr/>
                    <a:lstStyle/>
                    <a:p>
                      <a:pPr algn="ctr">
                        <a:spcAft>
                          <a:spcPts val="0"/>
                        </a:spcAft>
                      </a:pPr>
                      <a:r>
                        <a:rPr lang="zh-CN" sz="1200" b="1" kern="100" dirty="0">
                          <a:solidFill>
                            <a:schemeClr val="accent2"/>
                          </a:solidFill>
                          <a:latin typeface="+mn-ea"/>
                          <a:ea typeface="+mn-ea"/>
                          <a:cs typeface="Times New Roman"/>
                        </a:rPr>
                        <a:t>二级</a:t>
                      </a:r>
                      <a:r>
                        <a:rPr lang="en-US" sz="1200" b="1" kern="100" dirty="0">
                          <a:solidFill>
                            <a:schemeClr val="accent2"/>
                          </a:solidFill>
                          <a:latin typeface="+mn-ea"/>
                          <a:ea typeface="+mn-ea"/>
                          <a:cs typeface="Times New Roman"/>
                        </a:rPr>
                        <a:t> Load-to-use </a:t>
                      </a:r>
                      <a:r>
                        <a:rPr lang="zh-CN" sz="1200" b="1" kern="100" dirty="0">
                          <a:solidFill>
                            <a:schemeClr val="accent2"/>
                          </a:solidFill>
                          <a:latin typeface="+mn-ea"/>
                          <a:ea typeface="+mn-ea"/>
                          <a:cs typeface="Times New Roman"/>
                        </a:rPr>
                        <a:t>延迟</a:t>
                      </a:r>
                      <a:endParaRPr lang="zh-CN" sz="1200" b="1" kern="100" dirty="0">
                        <a:solidFill>
                          <a:schemeClr val="accent2"/>
                        </a:solidFill>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12 </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18-20 </a:t>
                      </a:r>
                      <a:r>
                        <a:rPr lang="zh-CN" sz="1200" b="1" kern="100">
                          <a:latin typeface="+mn-ea"/>
                          <a:ea typeface="+mn-ea"/>
                          <a:cs typeface="Times New Roman"/>
                        </a:rPr>
                        <a:t>时钟周期</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a:latin typeface="+mn-ea"/>
                          <a:ea typeface="+mn-ea"/>
                          <a:cs typeface="Times New Roman"/>
                        </a:rPr>
                        <a:t>8</a:t>
                      </a:r>
                      <a:endParaRPr lang="zh-CN" sz="1200" b="1" kern="10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100" dirty="0">
                          <a:latin typeface="+mn-ea"/>
                          <a:ea typeface="+mn-ea"/>
                          <a:cs typeface="Times New Roman"/>
                        </a:rPr>
                        <a:t>17 </a:t>
                      </a:r>
                      <a:r>
                        <a:rPr lang="zh-CN" sz="1200" b="1" kern="100" dirty="0">
                          <a:latin typeface="+mn-ea"/>
                          <a:ea typeface="+mn-ea"/>
                          <a:cs typeface="Times New Roman"/>
                        </a:rPr>
                        <a:t>时钟周期</a:t>
                      </a:r>
                      <a:endParaRPr lang="zh-CN" sz="1200" b="1" kern="100" dirty="0">
                        <a:latin typeface="+mn-ea"/>
                        <a:ea typeface="+mn-ea"/>
                        <a:cs typeface="Times New Roman"/>
                      </a:endParaRPr>
                    </a:p>
                  </a:txBody>
                  <a:tcPr marL="42410" marR="424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1"/>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46083" name="图片 29" descr="http://www.realworldtech.com/includes/images/articles/sandy-bridge-7.png"/>
          <p:cNvPicPr>
            <a:picLocks noChangeAspect="1"/>
          </p:cNvPicPr>
          <p:nvPr/>
        </p:nvPicPr>
        <p:blipFill>
          <a:blip r:embed="rId1"/>
          <a:stretch>
            <a:fillRect/>
          </a:stretch>
        </p:blipFill>
        <p:spPr>
          <a:xfrm>
            <a:off x="195263" y="0"/>
            <a:ext cx="3703637" cy="6683375"/>
          </a:xfrm>
          <a:prstGeom prst="rect">
            <a:avLst/>
          </a:prstGeom>
          <a:noFill/>
          <a:ln w="9525">
            <a:noFill/>
          </a:ln>
        </p:spPr>
      </p:pic>
      <p:pic>
        <p:nvPicPr>
          <p:cNvPr id="46084" name="图片 15" descr="http://www.realworldtech.com/includes/images/articles/sandy-bridge-4.png"/>
          <p:cNvPicPr>
            <a:picLocks noChangeAspect="1"/>
          </p:cNvPicPr>
          <p:nvPr/>
        </p:nvPicPr>
        <p:blipFill>
          <a:blip r:embed="rId2"/>
          <a:stretch>
            <a:fillRect/>
          </a:stretch>
        </p:blipFill>
        <p:spPr>
          <a:xfrm>
            <a:off x="5056188" y="282575"/>
            <a:ext cx="6751637" cy="622935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1"/>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47107" name="Picture 2"/>
          <p:cNvPicPr>
            <a:picLocks noChangeAspect="1"/>
          </p:cNvPicPr>
          <p:nvPr/>
        </p:nvPicPr>
        <p:blipFill>
          <a:blip r:embed="rId1"/>
          <a:stretch>
            <a:fillRect/>
          </a:stretch>
        </p:blipFill>
        <p:spPr>
          <a:xfrm>
            <a:off x="1308100" y="1177925"/>
            <a:ext cx="9963150" cy="5611813"/>
          </a:xfrm>
          <a:prstGeom prst="rect">
            <a:avLst/>
          </a:prstGeom>
          <a:noFill/>
          <a:ln w="9525">
            <a:noFill/>
          </a:ln>
        </p:spPr>
      </p:pic>
      <p:sp>
        <p:nvSpPr>
          <p:cNvPr id="47108" name="Rectangle 46"/>
          <p:cNvSpPr/>
          <p:nvPr/>
        </p:nvSpPr>
        <p:spPr>
          <a:xfrm>
            <a:off x="914400" y="227013"/>
            <a:ext cx="10361613" cy="635000"/>
          </a:xfrm>
          <a:prstGeom prst="rect">
            <a:avLst/>
          </a:prstGeom>
          <a:noFill/>
          <a:ln w="9525">
            <a:noFill/>
          </a:ln>
        </p:spPr>
        <p:txBody>
          <a:bodyPr anchor="ctr" anchorCtr="0"/>
          <a:p>
            <a:r>
              <a:rPr lang="en-US" altLang="zh-CN" sz="3600" dirty="0">
                <a:solidFill>
                  <a:srgbClr val="FF3300"/>
                </a:solidFill>
                <a:latin typeface="Times New Roman" pitchFamily="18" charset="0"/>
                <a:ea typeface="黑体" panose="02000500000000000000" pitchFamily="49" charset="-122"/>
              </a:rPr>
              <a:t>Intel</a:t>
            </a:r>
            <a:r>
              <a:rPr lang="zh-CN" altLang="en-US" sz="3600" dirty="0">
                <a:solidFill>
                  <a:srgbClr val="FF3300"/>
                </a:solidFill>
                <a:latin typeface="Times New Roman" pitchFamily="18" charset="0"/>
                <a:ea typeface="黑体" panose="02000500000000000000" pitchFamily="49" charset="-122"/>
              </a:rPr>
              <a:t>最近处理器的队列大小</a:t>
            </a:r>
            <a:endParaRPr lang="zh-CN" altLang="en-US" sz="3600" dirty="0">
              <a:solidFill>
                <a:srgbClr val="FF3300"/>
              </a:solidFill>
              <a:latin typeface="Times New Roman" pitchFamily="18" charset="0"/>
              <a:ea typeface="黑体" panose="02000500000000000000"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643" y="438150"/>
            <a:ext cx="10361613" cy="1143000"/>
          </a:xfrm>
        </p:spPr>
        <p:txBody>
          <a:bodyPr/>
          <a:lstStyle/>
          <a:p>
            <a:pPr>
              <a:defRPr/>
            </a:pPr>
            <a:r>
              <a:rPr lang="zh-CN" altLang="en-US" dirty="0" smtClean="0">
                <a:latin typeface="+mj-ea"/>
              </a:rPr>
              <a:t>龙芯</a:t>
            </a:r>
            <a:r>
              <a:rPr lang="en-US" altLang="zh-CN" dirty="0" smtClean="0">
                <a:latin typeface="+mj-ea"/>
              </a:rPr>
              <a:t>LA664</a:t>
            </a:r>
            <a:r>
              <a:rPr lang="zh-CN" altLang="en-US" dirty="0" smtClean="0">
                <a:latin typeface="+mj-ea"/>
              </a:rPr>
              <a:t>队列大小</a:t>
            </a:r>
            <a:endParaRPr lang="zh-CN" altLang="en-US" dirty="0">
              <a:latin typeface="+mj-ea"/>
            </a:endParaRPr>
          </a:p>
        </p:txBody>
      </p:sp>
      <p:graphicFrame>
        <p:nvGraphicFramePr>
          <p:cNvPr id="3" name="内容占位符 3"/>
          <p:cNvGraphicFramePr/>
          <p:nvPr/>
        </p:nvGraphicFramePr>
        <p:xfrm>
          <a:off x="1497330" y="1562100"/>
          <a:ext cx="8785225" cy="4289425"/>
        </p:xfrm>
        <a:graphic>
          <a:graphicData uri="http://schemas.openxmlformats.org/drawingml/2006/table">
            <a:tbl>
              <a:tblPr firstRow="1" bandRow="1">
                <a:tableStyleId>{5C22544A-7EE6-4342-B048-85BDC9FD1C3A}</a:tableStyleId>
              </a:tblPr>
              <a:tblGrid>
                <a:gridCol w="5019675"/>
                <a:gridCol w="1939925"/>
                <a:gridCol w="1825625"/>
              </a:tblGrid>
              <a:tr h="476633">
                <a:tc>
                  <a:txBody>
                    <a:bodyPr/>
                    <a:lstStyle/>
                    <a:p>
                      <a:pPr>
                        <a:buNone/>
                      </a:pPr>
                      <a:endParaRPr lang="zh-CN" altLang="en-US" sz="1800" b="1" dirty="0">
                        <a:latin typeface="+mn-ea"/>
                        <a:ea typeface="+mn-ea"/>
                      </a:endParaRPr>
                    </a:p>
                  </a:txBody>
                  <a:tcPr/>
                </a:tc>
                <a:tc>
                  <a:txBody>
                    <a:bodyPr/>
                    <a:lstStyle/>
                    <a:p>
                      <a:pPr algn="ctr">
                        <a:buNone/>
                      </a:pPr>
                      <a:r>
                        <a:rPr lang="en-US" altLang="zh-CN" sz="1800" b="1" dirty="0">
                          <a:solidFill>
                            <a:schemeClr val="accent2"/>
                          </a:solidFill>
                          <a:latin typeface="+mn-ea"/>
                          <a:ea typeface="+mn-ea"/>
                        </a:rPr>
                        <a:t>LA464V</a:t>
                      </a:r>
                      <a:endParaRPr lang="en-US" altLang="zh-CN" sz="1800" b="1" dirty="0">
                        <a:solidFill>
                          <a:schemeClr val="accent2"/>
                        </a:solidFill>
                        <a:latin typeface="+mn-ea"/>
                        <a:ea typeface="+mn-ea"/>
                      </a:endParaRPr>
                    </a:p>
                  </a:txBody>
                  <a:tcPr anchor="ctr"/>
                </a:tc>
                <a:tc>
                  <a:txBody>
                    <a:bodyPr/>
                    <a:lstStyle/>
                    <a:p>
                      <a:pPr algn="ctr">
                        <a:buNone/>
                      </a:pPr>
                      <a:r>
                        <a:rPr lang="en-US" altLang="zh-CN" sz="1800" b="1">
                          <a:solidFill>
                            <a:srgbClr val="FF0000"/>
                          </a:solidFill>
                          <a:latin typeface="+mn-ea"/>
                          <a:ea typeface="+mn-ea"/>
                        </a:rPr>
                        <a:t>LA664</a:t>
                      </a:r>
                      <a:endParaRPr lang="en-US" altLang="zh-CN" sz="1800" b="1">
                        <a:solidFill>
                          <a:srgbClr val="FF0000"/>
                        </a:solidFill>
                        <a:latin typeface="+mn-ea"/>
                        <a:ea typeface="+mn-ea"/>
                      </a:endParaRPr>
                    </a:p>
                  </a:txBody>
                  <a:tcPr anchor="ctr"/>
                </a:tc>
              </a:tr>
              <a:tr h="476633">
                <a:tc>
                  <a:txBody>
                    <a:bodyPr/>
                    <a:lstStyle/>
                    <a:p>
                      <a:pPr marL="161925">
                        <a:buNone/>
                      </a:pPr>
                      <a:r>
                        <a:rPr lang="zh-CN" altLang="en-US" sz="1800" b="1" dirty="0">
                          <a:latin typeface="+mn-ea"/>
                          <a:ea typeface="+mn-ea"/>
                        </a:rPr>
                        <a:t>发射宽度</a:t>
                      </a:r>
                      <a:endParaRPr lang="zh-CN" altLang="en-US" sz="1800" b="1" dirty="0">
                        <a:latin typeface="+mn-ea"/>
                        <a:ea typeface="+mn-ea"/>
                      </a:endParaRPr>
                    </a:p>
                  </a:txBody>
                  <a:tcPr marL="36000" marR="36000" anchor="ctr"/>
                </a:tc>
                <a:tc>
                  <a:txBody>
                    <a:bodyPr/>
                    <a:lstStyle/>
                    <a:p>
                      <a:pPr algn="ctr">
                        <a:buNone/>
                      </a:pPr>
                      <a:r>
                        <a:rPr lang="en-US" altLang="zh-CN" sz="1800" b="1">
                          <a:solidFill>
                            <a:schemeClr val="accent2"/>
                          </a:solidFill>
                          <a:latin typeface="+mn-ea"/>
                          <a:ea typeface="+mn-ea"/>
                        </a:rPr>
                        <a:t>4</a:t>
                      </a:r>
                      <a:endParaRPr lang="en-US" altLang="zh-CN" sz="1800" b="1">
                        <a:solidFill>
                          <a:schemeClr val="accent2"/>
                        </a:solidFill>
                        <a:latin typeface="+mn-ea"/>
                        <a:ea typeface="+mn-ea"/>
                      </a:endParaRPr>
                    </a:p>
                  </a:txBody>
                  <a:tcPr marL="36000" marR="36000" anchor="ctr"/>
                </a:tc>
                <a:tc>
                  <a:txBody>
                    <a:bodyPr/>
                    <a:lstStyle/>
                    <a:p>
                      <a:pPr algn="ctr">
                        <a:buNone/>
                      </a:pPr>
                      <a:r>
                        <a:rPr lang="en-US" altLang="zh-CN" sz="1800" b="1">
                          <a:solidFill>
                            <a:srgbClr val="FF0000"/>
                          </a:solidFill>
                          <a:latin typeface="+mn-ea"/>
                          <a:ea typeface="+mn-ea"/>
                        </a:rPr>
                        <a:t>6</a:t>
                      </a:r>
                      <a:endParaRPr lang="en-US" altLang="zh-CN" sz="1800" b="1">
                        <a:solidFill>
                          <a:srgbClr val="FF0000"/>
                        </a:solidFill>
                        <a:latin typeface="+mn-ea"/>
                        <a:ea typeface="+mn-ea"/>
                      </a:endParaRPr>
                    </a:p>
                  </a:txBody>
                  <a:tcPr marL="36000" marR="36000" anchor="ctr"/>
                </a:tc>
              </a:tr>
              <a:tr h="476633">
                <a:tc>
                  <a:txBody>
                    <a:bodyPr/>
                    <a:lstStyle/>
                    <a:p>
                      <a:pPr marL="161925" algn="l">
                        <a:buClrTx/>
                        <a:buSzTx/>
                        <a:buFontTx/>
                        <a:buNone/>
                      </a:pPr>
                      <a:r>
                        <a:rPr lang="en-US" altLang="zh-CN" sz="1800" b="1" dirty="0">
                          <a:latin typeface="+mn-ea"/>
                          <a:ea typeface="+mn-ea"/>
                        </a:rPr>
                        <a:t>ROB</a:t>
                      </a:r>
                      <a:r>
                        <a:rPr lang="zh-CN" altLang="en-US" sz="1800" b="1" dirty="0">
                          <a:latin typeface="+mn-ea"/>
                          <a:ea typeface="+mn-ea"/>
                        </a:rPr>
                        <a:t>项数</a:t>
                      </a:r>
                      <a:endParaRPr lang="zh-CN" altLang="en-US" sz="1800" b="1" dirty="0">
                        <a:latin typeface="+mn-ea"/>
                        <a:ea typeface="+mn-ea"/>
                      </a:endParaRPr>
                    </a:p>
                  </a:txBody>
                  <a:tcPr marL="36000" marR="36000" anchor="ctr"/>
                </a:tc>
                <a:tc>
                  <a:txBody>
                    <a:bodyPr/>
                    <a:lstStyle/>
                    <a:p>
                      <a:pPr algn="ctr">
                        <a:buNone/>
                      </a:pPr>
                      <a:r>
                        <a:rPr lang="en-US" altLang="zh-CN" sz="1800" b="1" dirty="0">
                          <a:solidFill>
                            <a:schemeClr val="accent2"/>
                          </a:solidFill>
                          <a:latin typeface="+mn-ea"/>
                          <a:ea typeface="+mn-ea"/>
                        </a:rPr>
                        <a:t>128</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a:solidFill>
                            <a:srgbClr val="FF0000"/>
                          </a:solidFill>
                          <a:latin typeface="+mn-ea"/>
                          <a:ea typeface="+mn-ea"/>
                        </a:rPr>
                        <a:t>256</a:t>
                      </a:r>
                      <a:endParaRPr lang="en-US" altLang="zh-CN" sz="1800" b="1">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a:latin typeface="+mn-ea"/>
                          <a:ea typeface="+mn-ea"/>
                        </a:rPr>
                        <a:t>定点物理寄存器数</a:t>
                      </a:r>
                      <a:endParaRPr lang="zh-CN" altLang="en-US" sz="1800" b="1" dirty="0">
                        <a:latin typeface="+mn-ea"/>
                        <a:ea typeface="+mn-ea"/>
                      </a:endParaRPr>
                    </a:p>
                  </a:txBody>
                  <a:tcPr marL="36000" marR="36000" anchor="ctr"/>
                </a:tc>
                <a:tc>
                  <a:txBody>
                    <a:bodyPr/>
                    <a:lstStyle/>
                    <a:p>
                      <a:pPr algn="ctr">
                        <a:buNone/>
                      </a:pPr>
                      <a:r>
                        <a:rPr lang="en-US" altLang="zh-CN" sz="1800" b="1" dirty="0">
                          <a:solidFill>
                            <a:schemeClr val="accent2"/>
                          </a:solidFill>
                          <a:latin typeface="+mn-ea"/>
                          <a:ea typeface="+mn-ea"/>
                        </a:rPr>
                        <a:t>128</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a:solidFill>
                            <a:srgbClr val="FF0000"/>
                          </a:solidFill>
                          <a:latin typeface="+mn-ea"/>
                          <a:ea typeface="+mn-ea"/>
                        </a:rPr>
                        <a:t>192</a:t>
                      </a:r>
                      <a:endParaRPr lang="en-US" altLang="zh-CN" sz="1800" b="1">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a:latin typeface="+mn-ea"/>
                          <a:ea typeface="+mn-ea"/>
                        </a:rPr>
                        <a:t>向量物理寄存器数</a:t>
                      </a:r>
                      <a:endParaRPr lang="zh-CN" altLang="en-US" sz="1800" b="1" dirty="0">
                        <a:latin typeface="+mn-ea"/>
                        <a:ea typeface="+mn-ea"/>
                      </a:endParaRPr>
                    </a:p>
                  </a:txBody>
                  <a:tcPr marL="36000" marR="36000" anchor="ctr"/>
                </a:tc>
                <a:tc>
                  <a:txBody>
                    <a:bodyPr/>
                    <a:lstStyle/>
                    <a:p>
                      <a:pPr algn="ctr">
                        <a:buNone/>
                      </a:pPr>
                      <a:r>
                        <a:rPr lang="en-US" altLang="zh-CN" sz="1800" b="1" dirty="0">
                          <a:solidFill>
                            <a:schemeClr val="accent2"/>
                          </a:solidFill>
                          <a:latin typeface="+mn-ea"/>
                          <a:ea typeface="+mn-ea"/>
                        </a:rPr>
                        <a:t>128</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dirty="0">
                          <a:solidFill>
                            <a:srgbClr val="FF0000"/>
                          </a:solidFill>
                          <a:latin typeface="+mn-ea"/>
                          <a:ea typeface="+mn-ea"/>
                        </a:rPr>
                        <a:t>192</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zh-CN" altLang="en-US" sz="1800" b="1" dirty="0">
                          <a:latin typeface="+mn-ea"/>
                          <a:ea typeface="+mn-ea"/>
                        </a:rPr>
                        <a:t>发射队列</a:t>
                      </a:r>
                      <a:r>
                        <a:rPr lang="zh-CN" altLang="en-US" sz="1800" b="1" dirty="0" smtClean="0">
                          <a:latin typeface="+mn-ea"/>
                          <a:ea typeface="+mn-ea"/>
                        </a:rPr>
                        <a:t>项数（访存</a:t>
                      </a:r>
                      <a:r>
                        <a:rPr lang="en-US" altLang="zh-CN" sz="1800" b="1" dirty="0" smtClean="0">
                          <a:latin typeface="+mn-ea"/>
                          <a:ea typeface="+mn-ea"/>
                        </a:rPr>
                        <a:t>+</a:t>
                      </a:r>
                      <a:r>
                        <a:rPr lang="zh-CN" altLang="en-US" sz="1800" b="1" dirty="0" smtClean="0">
                          <a:latin typeface="+mn-ea"/>
                          <a:ea typeface="+mn-ea"/>
                        </a:rPr>
                        <a:t>定点</a:t>
                      </a:r>
                      <a:r>
                        <a:rPr lang="en-US" altLang="zh-CN" sz="1800" b="1" dirty="0" smtClean="0">
                          <a:latin typeface="+mn-ea"/>
                          <a:ea typeface="+mn-ea"/>
                        </a:rPr>
                        <a:t>+</a:t>
                      </a:r>
                      <a:r>
                        <a:rPr lang="zh-CN" altLang="en-US" sz="1800" b="1" dirty="0" smtClean="0">
                          <a:latin typeface="+mn-ea"/>
                          <a:ea typeface="+mn-ea"/>
                        </a:rPr>
                        <a:t>向量）</a:t>
                      </a:r>
                      <a:endParaRPr lang="zh-CN" altLang="en-US" sz="1800" b="1" dirty="0">
                        <a:latin typeface="+mn-ea"/>
                        <a:ea typeface="+mn-ea"/>
                      </a:endParaRPr>
                    </a:p>
                  </a:txBody>
                  <a:tcPr marL="36000" marR="36000" anchor="ctr"/>
                </a:tc>
                <a:tc>
                  <a:txBody>
                    <a:bodyPr/>
                    <a:lstStyle/>
                    <a:p>
                      <a:pPr algn="ctr">
                        <a:buNone/>
                      </a:pPr>
                      <a:r>
                        <a:rPr lang="en-US" altLang="zh-CN" sz="1800" b="1" dirty="0" smtClean="0">
                          <a:solidFill>
                            <a:schemeClr val="accent2"/>
                          </a:solidFill>
                          <a:latin typeface="+mn-ea"/>
                          <a:ea typeface="+mn-ea"/>
                        </a:rPr>
                        <a:t>32+32+32</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dirty="0" smtClean="0">
                          <a:solidFill>
                            <a:srgbClr val="FF0000"/>
                          </a:solidFill>
                          <a:latin typeface="+mn-ea"/>
                          <a:ea typeface="+mn-ea"/>
                        </a:rPr>
                        <a:t>48+48+48</a:t>
                      </a:r>
                      <a:endParaRPr lang="en-US" altLang="zh-CN" sz="1800" b="1" dirty="0">
                        <a:solidFill>
                          <a:srgbClr val="FF0000"/>
                        </a:solidFill>
                        <a:latin typeface="+mn-ea"/>
                        <a:ea typeface="+mn-ea"/>
                      </a:endParaRPr>
                    </a:p>
                  </a:txBody>
                  <a:tcPr marL="36000" marR="36000" anchor="ctr"/>
                </a:tc>
              </a:tr>
              <a:tr h="476250">
                <a:tc>
                  <a:txBody>
                    <a:bodyPr/>
                    <a:lstStyle/>
                    <a:p>
                      <a:pPr marL="161925" algn="l">
                        <a:buClrTx/>
                        <a:buSzTx/>
                        <a:buFontTx/>
                        <a:buNone/>
                      </a:pPr>
                      <a:r>
                        <a:rPr lang="zh-CN" altLang="en-US" sz="1800" b="1" dirty="0" smtClean="0">
                          <a:latin typeface="+mn-ea"/>
                          <a:ea typeface="+mn-ea"/>
                        </a:rPr>
                        <a:t>功能部件数（访存</a:t>
                      </a:r>
                      <a:r>
                        <a:rPr lang="en-US" altLang="zh-CN" sz="1800" b="1" dirty="0" smtClean="0">
                          <a:latin typeface="+mn-ea"/>
                          <a:ea typeface="+mn-ea"/>
                        </a:rPr>
                        <a:t>+</a:t>
                      </a:r>
                      <a:r>
                        <a:rPr lang="zh-CN" altLang="en-US" sz="1800" b="1" dirty="0" smtClean="0">
                          <a:latin typeface="+mn-ea"/>
                          <a:ea typeface="+mn-ea"/>
                        </a:rPr>
                        <a:t>定点</a:t>
                      </a:r>
                      <a:r>
                        <a:rPr lang="en-US" altLang="zh-CN" sz="1800" b="1" dirty="0" smtClean="0">
                          <a:latin typeface="+mn-ea"/>
                          <a:ea typeface="+mn-ea"/>
                        </a:rPr>
                        <a:t>+</a:t>
                      </a:r>
                      <a:r>
                        <a:rPr lang="zh-CN" altLang="en-US" sz="1800" b="1" dirty="0" smtClean="0">
                          <a:latin typeface="+mn-ea"/>
                          <a:ea typeface="+mn-ea"/>
                        </a:rPr>
                        <a:t>向量）</a:t>
                      </a:r>
                      <a:endParaRPr lang="zh-CN" altLang="en-US" sz="1800" b="1" dirty="0">
                        <a:latin typeface="+mn-ea"/>
                        <a:ea typeface="+mn-ea"/>
                      </a:endParaRPr>
                    </a:p>
                  </a:txBody>
                  <a:tcPr marL="36000" marR="36000" anchor="ctr"/>
                </a:tc>
                <a:tc>
                  <a:txBody>
                    <a:bodyPr/>
                    <a:lstStyle/>
                    <a:p>
                      <a:pPr algn="ctr">
                        <a:buNone/>
                      </a:pPr>
                      <a:r>
                        <a:rPr lang="en-US" altLang="zh-CN" sz="1800" b="1" dirty="0" smtClean="0">
                          <a:solidFill>
                            <a:schemeClr val="accent2"/>
                          </a:solidFill>
                          <a:latin typeface="+mn-ea"/>
                          <a:ea typeface="+mn-ea"/>
                        </a:rPr>
                        <a:t>2+4+2</a:t>
                      </a:r>
                      <a:endParaRPr lang="en-US" altLang="zh-CN" sz="1800" b="1" dirty="0">
                        <a:solidFill>
                          <a:schemeClr val="accent2"/>
                        </a:solidFill>
                        <a:latin typeface="+mn-ea"/>
                        <a:ea typeface="+mn-ea"/>
                      </a:endParaRPr>
                    </a:p>
                  </a:txBody>
                  <a:tcPr marL="36000" marR="36000" anchor="ctr"/>
                </a:tc>
                <a:tc>
                  <a:txBody>
                    <a:bodyPr/>
                    <a:lstStyle/>
                    <a:p>
                      <a:pPr algn="ctr">
                        <a:buNone/>
                      </a:pPr>
                      <a:r>
                        <a:rPr lang="en-US" altLang="zh-CN" sz="1800" b="1" dirty="0" smtClean="0">
                          <a:solidFill>
                            <a:srgbClr val="FF0000"/>
                          </a:solidFill>
                          <a:latin typeface="+mn-ea"/>
                          <a:ea typeface="+mn-ea"/>
                        </a:rPr>
                        <a:t>4+4+4</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en-US" altLang="zh-CN" sz="1800" b="1" dirty="0">
                          <a:latin typeface="+mn-ea"/>
                          <a:ea typeface="+mn-ea"/>
                        </a:rPr>
                        <a:t>load</a:t>
                      </a:r>
                      <a:r>
                        <a:rPr lang="zh-CN" altLang="en-US" sz="1800" b="1" dirty="0">
                          <a:latin typeface="+mn-ea"/>
                          <a:ea typeface="+mn-ea"/>
                        </a:rPr>
                        <a:t>队列项数</a:t>
                      </a:r>
                      <a:endParaRPr lang="zh-CN" altLang="en-US" sz="1800" b="1" dirty="0">
                        <a:latin typeface="+mn-ea"/>
                        <a:ea typeface="+mn-ea"/>
                      </a:endParaRPr>
                    </a:p>
                  </a:txBody>
                  <a:tcPr marL="36000" marR="36000" anchor="ctr"/>
                </a:tc>
                <a:tc>
                  <a:txBody>
                    <a:bodyPr/>
                    <a:lstStyle/>
                    <a:p>
                      <a:pPr algn="ctr">
                        <a:buNone/>
                      </a:pPr>
                      <a:r>
                        <a:rPr lang="en-US" altLang="zh-CN" sz="1800" b="1">
                          <a:solidFill>
                            <a:schemeClr val="accent2"/>
                          </a:solidFill>
                          <a:latin typeface="+mn-ea"/>
                          <a:ea typeface="+mn-ea"/>
                        </a:rPr>
                        <a:t>64</a:t>
                      </a:r>
                      <a:endParaRPr lang="en-US" altLang="zh-CN" sz="1800" b="1">
                        <a:solidFill>
                          <a:schemeClr val="accent2"/>
                        </a:solidFill>
                        <a:latin typeface="+mn-ea"/>
                        <a:ea typeface="+mn-ea"/>
                      </a:endParaRPr>
                    </a:p>
                  </a:txBody>
                  <a:tcPr marL="36000" marR="36000" anchor="ctr"/>
                </a:tc>
                <a:tc>
                  <a:txBody>
                    <a:bodyPr/>
                    <a:lstStyle/>
                    <a:p>
                      <a:pPr algn="ctr">
                        <a:buNone/>
                      </a:pPr>
                      <a:r>
                        <a:rPr lang="en-US" altLang="zh-CN" sz="1800" b="1" dirty="0" smtClean="0">
                          <a:solidFill>
                            <a:srgbClr val="FF0000"/>
                          </a:solidFill>
                          <a:latin typeface="+mn-ea"/>
                          <a:ea typeface="+mn-ea"/>
                        </a:rPr>
                        <a:t>80</a:t>
                      </a:r>
                      <a:endParaRPr lang="en-US" altLang="zh-CN" sz="1800" b="1" dirty="0">
                        <a:solidFill>
                          <a:srgbClr val="FF0000"/>
                        </a:solidFill>
                        <a:latin typeface="+mn-ea"/>
                        <a:ea typeface="+mn-ea"/>
                      </a:endParaRPr>
                    </a:p>
                  </a:txBody>
                  <a:tcPr marL="36000" marR="36000" anchor="ctr"/>
                </a:tc>
              </a:tr>
              <a:tr h="476633">
                <a:tc>
                  <a:txBody>
                    <a:bodyPr/>
                    <a:lstStyle/>
                    <a:p>
                      <a:pPr marL="161925" algn="l">
                        <a:buClrTx/>
                        <a:buSzTx/>
                        <a:buFontTx/>
                        <a:buNone/>
                      </a:pPr>
                      <a:r>
                        <a:rPr lang="en-US" altLang="zh-CN" sz="1800" b="1" dirty="0">
                          <a:latin typeface="+mn-ea"/>
                          <a:ea typeface="+mn-ea"/>
                        </a:rPr>
                        <a:t>store</a:t>
                      </a:r>
                      <a:r>
                        <a:rPr lang="zh-CN" altLang="en-US" sz="1800" b="1" dirty="0">
                          <a:latin typeface="+mn-ea"/>
                          <a:ea typeface="+mn-ea"/>
                        </a:rPr>
                        <a:t>队列项数</a:t>
                      </a:r>
                      <a:endParaRPr lang="zh-CN" altLang="en-US" sz="1800" b="1" dirty="0">
                        <a:latin typeface="+mn-ea"/>
                        <a:ea typeface="+mn-ea"/>
                      </a:endParaRPr>
                    </a:p>
                  </a:txBody>
                  <a:tcPr marL="36000" marR="36000" anchor="ctr"/>
                </a:tc>
                <a:tc>
                  <a:txBody>
                    <a:bodyPr/>
                    <a:lstStyle/>
                    <a:p>
                      <a:pPr algn="ctr">
                        <a:buNone/>
                      </a:pPr>
                      <a:r>
                        <a:rPr lang="en-US" altLang="zh-CN" sz="1800" b="1">
                          <a:solidFill>
                            <a:schemeClr val="accent2"/>
                          </a:solidFill>
                          <a:latin typeface="+mn-ea"/>
                          <a:ea typeface="+mn-ea"/>
                        </a:rPr>
                        <a:t>48</a:t>
                      </a:r>
                      <a:endParaRPr lang="en-US" altLang="zh-CN" sz="1800" b="1">
                        <a:solidFill>
                          <a:schemeClr val="accent2"/>
                        </a:solidFill>
                        <a:latin typeface="+mn-ea"/>
                        <a:ea typeface="+mn-ea"/>
                      </a:endParaRPr>
                    </a:p>
                  </a:txBody>
                  <a:tcPr marL="36000" marR="36000" anchor="ctr"/>
                </a:tc>
                <a:tc>
                  <a:txBody>
                    <a:bodyPr/>
                    <a:lstStyle/>
                    <a:p>
                      <a:pPr algn="ctr">
                        <a:buNone/>
                      </a:pPr>
                      <a:r>
                        <a:rPr lang="en-US" altLang="zh-CN" sz="1800" b="1" dirty="0">
                          <a:solidFill>
                            <a:srgbClr val="FF0000"/>
                          </a:solidFill>
                          <a:latin typeface="+mn-ea"/>
                          <a:ea typeface="+mn-ea"/>
                        </a:rPr>
                        <a:t>64</a:t>
                      </a:r>
                      <a:endParaRPr lang="en-US" altLang="zh-CN" sz="1800" b="1" dirty="0">
                        <a:solidFill>
                          <a:srgbClr val="FF0000"/>
                        </a:solidFill>
                        <a:latin typeface="+mn-ea"/>
                        <a:ea typeface="+mn-ea"/>
                      </a:endParaRPr>
                    </a:p>
                  </a:txBody>
                  <a:tcPr marL="36000" marR="36000" anchor="ctr"/>
                </a:tc>
              </a:tr>
            </a:tbl>
          </a:graphicData>
        </a:graphic>
      </p:graphicFrame>
      <p:sp>
        <p:nvSpPr>
          <p:cNvPr id="4" name="圆角矩形 3"/>
          <p:cNvSpPr>
            <a:spLocks noChangeArrowheads="1"/>
          </p:cNvSpPr>
          <p:nvPr/>
        </p:nvSpPr>
        <p:spPr bwMode="auto">
          <a:xfrm>
            <a:off x="1450975" y="2491105"/>
            <a:ext cx="8877300" cy="1885315"/>
          </a:xfrm>
          <a:prstGeom prst="roundRect">
            <a:avLst>
              <a:gd name="adj" fmla="val 16667"/>
            </a:avLst>
          </a:prstGeom>
          <a:noFill/>
          <a:ln w="38100">
            <a:solidFill>
              <a:srgbClr val="FF0000"/>
            </a:solidFill>
            <a:rou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500" fill="hold"/>
                                        <p:tgtEl>
                                          <p:spTgt spid="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nodePh="1">
                                  <p:stCondLst>
                                    <p:cond delay="0"/>
                                  </p:stCondLst>
                                  <p:endCondLst>
                                    <p:cond evt="begin" delay="0">
                                      <p:tn val="11"/>
                                    </p:cond>
                                  </p:end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autoUpdateAnimBg="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8131"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多发射结构数据通路</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49155" name="Rectangle 2"/>
          <p:cNvSpPr>
            <a:spLocks noGrp="1"/>
          </p:cNvSpPr>
          <p:nvPr>
            <p:ph type="title"/>
          </p:nvPr>
        </p:nvSpPr>
        <p:spPr>
          <a:xfrm>
            <a:off x="914400" y="95250"/>
            <a:ext cx="10361613" cy="585788"/>
          </a:xfrm>
        </p:spPr>
        <p:txBody>
          <a:bodyPr vert="horz" wrap="square" lIns="91440" tIns="45720" rIns="91440" bIns="45720" anchor="ctr" anchorCtr="0"/>
          <a:p>
            <a:pPr eaLnBrk="1" hangingPunct="1"/>
            <a:r>
              <a:rPr lang="zh-CN" altLang="en-US" dirty="0"/>
              <a:t>多发射的情况</a:t>
            </a:r>
            <a:endParaRPr lang="zh-CN" altLang="en-US" dirty="0"/>
          </a:p>
        </p:txBody>
      </p:sp>
      <p:sp>
        <p:nvSpPr>
          <p:cNvPr id="49156" name="Rectangle 3"/>
          <p:cNvSpPr>
            <a:spLocks noGrp="1"/>
          </p:cNvSpPr>
          <p:nvPr>
            <p:ph idx="1"/>
          </p:nvPr>
        </p:nvSpPr>
        <p:spPr>
          <a:xfrm>
            <a:off x="569595" y="1241425"/>
            <a:ext cx="11621135" cy="4854575"/>
          </a:xfrm>
        </p:spPr>
        <p:txBody>
          <a:bodyPr vert="horz" wrap="square" lIns="91440" tIns="45720" rIns="91440" bIns="45720" anchor="t" anchorCtr="0"/>
          <a:p>
            <a:pPr eaLnBrk="1" hangingPunct="1">
              <a:lnSpc>
                <a:spcPct val="150000"/>
              </a:lnSpc>
            </a:pPr>
            <a:r>
              <a:rPr lang="zh-CN" altLang="en-US" dirty="0"/>
              <a:t>数据通路变宽</a:t>
            </a:r>
            <a:endParaRPr lang="zh-CN" altLang="en-US" dirty="0"/>
          </a:p>
          <a:p>
            <a:pPr lvl="1" eaLnBrk="1" hangingPunct="1">
              <a:lnSpc>
                <a:spcPct val="150000"/>
              </a:lnSpc>
            </a:pPr>
            <a:r>
              <a:rPr lang="en-US" altLang="zh-CN" dirty="0"/>
              <a:t>Alpha21264</a:t>
            </a:r>
            <a:r>
              <a:rPr lang="zh-CN" altLang="en-US" dirty="0"/>
              <a:t>：取指</a:t>
            </a:r>
            <a:r>
              <a:rPr lang="en-US" altLang="zh-CN" dirty="0"/>
              <a:t>4</a:t>
            </a:r>
            <a:r>
              <a:rPr lang="zh-CN" altLang="en-US" dirty="0"/>
              <a:t>条，发射</a:t>
            </a:r>
            <a:r>
              <a:rPr lang="en-US" altLang="zh-CN" dirty="0"/>
              <a:t>6</a:t>
            </a:r>
            <a:r>
              <a:rPr lang="zh-CN" altLang="en-US" dirty="0"/>
              <a:t>条，写回</a:t>
            </a:r>
            <a:r>
              <a:rPr lang="en-US" altLang="zh-CN" dirty="0"/>
              <a:t>6</a:t>
            </a:r>
            <a:r>
              <a:rPr lang="zh-CN" altLang="en-US" dirty="0"/>
              <a:t>条，</a:t>
            </a:r>
            <a:r>
              <a:rPr lang="en-US" altLang="zh-CN" dirty="0"/>
              <a:t>Commit 11</a:t>
            </a:r>
            <a:r>
              <a:rPr lang="zh-CN" altLang="en-US" dirty="0"/>
              <a:t>条</a:t>
            </a:r>
            <a:endParaRPr lang="zh-CN" altLang="en-US" dirty="0"/>
          </a:p>
          <a:p>
            <a:pPr lvl="1" eaLnBrk="1" hangingPunct="1">
              <a:lnSpc>
                <a:spcPct val="150000"/>
              </a:lnSpc>
            </a:pPr>
            <a:r>
              <a:rPr lang="zh-CN" altLang="en-US" dirty="0"/>
              <a:t>寄存器读端口变多</a:t>
            </a:r>
            <a:endParaRPr lang="zh-CN" altLang="en-US" dirty="0"/>
          </a:p>
          <a:p>
            <a:pPr lvl="1" eaLnBrk="1" hangingPunct="1">
              <a:lnSpc>
                <a:spcPct val="150000"/>
              </a:lnSpc>
            </a:pPr>
            <a:r>
              <a:rPr lang="zh-CN" altLang="en-US" dirty="0"/>
              <a:t>访存端口要求也增加，如</a:t>
            </a:r>
            <a:r>
              <a:rPr lang="en-US" altLang="zh-CN" dirty="0"/>
              <a:t>Alpha</a:t>
            </a:r>
            <a:r>
              <a:rPr lang="zh-CN" altLang="en-US" dirty="0"/>
              <a:t>有两个访存部件，通过倍频实现</a:t>
            </a:r>
            <a:endParaRPr lang="zh-CN" altLang="en-US" dirty="0"/>
          </a:p>
          <a:p>
            <a:pPr eaLnBrk="1" hangingPunct="1">
              <a:lnSpc>
                <a:spcPct val="150000"/>
              </a:lnSpc>
            </a:pPr>
            <a:r>
              <a:rPr lang="zh-CN" altLang="en-US" dirty="0"/>
              <a:t>同一拍发射的指令之间的相关</a:t>
            </a:r>
            <a:endParaRPr lang="zh-CN" altLang="en-US" dirty="0"/>
          </a:p>
          <a:p>
            <a:pPr lvl="1" eaLnBrk="1" hangingPunct="1">
              <a:lnSpc>
                <a:spcPct val="150000"/>
              </a:lnSpc>
            </a:pPr>
            <a:r>
              <a:rPr lang="zh-CN" altLang="en-US" dirty="0"/>
              <a:t>如在重命名阶段发生同一拍之间的相关</a:t>
            </a:r>
            <a:endParaRPr lang="en-US" altLang="zh-CN" dirty="0"/>
          </a:p>
          <a:p>
            <a:pPr eaLnBrk="1" hangingPunct="1">
              <a:lnSpc>
                <a:spcPct val="150000"/>
              </a:lnSpc>
            </a:pPr>
            <a:r>
              <a:rPr lang="zh-CN" altLang="en-US" dirty="0"/>
              <a:t>流水线复杂度与发射宽度成平方关系</a:t>
            </a:r>
            <a:endParaRPr lang="en-US" altLang="zh-CN" dirty="0"/>
          </a:p>
          <a:p>
            <a:pPr lvl="1" eaLnBrk="1" hangingPunct="1">
              <a:lnSpc>
                <a:spcPct val="150000"/>
              </a:lnSpc>
            </a:pPr>
            <a:r>
              <a:rPr lang="zh-CN" altLang="en-US" dirty="0"/>
              <a:t>如发射队列（保留站）变大*（读端口变多</a:t>
            </a:r>
            <a:r>
              <a:rPr lang="en-US" altLang="zh-CN" dirty="0"/>
              <a:t>+</a:t>
            </a:r>
            <a:r>
              <a:rPr lang="zh-CN" altLang="en-US" dirty="0"/>
              <a:t>侦听端口变多）</a:t>
            </a:r>
            <a:endParaRPr lang="en-US" altLang="zh-CN" dirty="0"/>
          </a:p>
          <a:p>
            <a:pPr lvl="1" eaLnBrk="1" hangingPunct="1">
              <a:lnSpc>
                <a:spcPct val="150000"/>
              </a:lnSpc>
            </a:pPr>
            <a:r>
              <a:rPr lang="zh-CN" altLang="en-US" dirty="0"/>
              <a:t>如寄存器重命名端口变多*同一拍重命名指令相关</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0179" name="Rectangle 1026"/>
          <p:cNvSpPr>
            <a:spLocks noGrp="1"/>
          </p:cNvSpPr>
          <p:nvPr>
            <p:ph type="title"/>
          </p:nvPr>
        </p:nvSpPr>
        <p:spPr/>
        <p:txBody>
          <a:bodyPr vert="horz" wrap="square" lIns="91440" tIns="45720" rIns="91440" bIns="45720" anchor="ctr" anchorCtr="0"/>
          <a:p>
            <a:pPr eaLnBrk="1" hangingPunct="1"/>
            <a:r>
              <a:rPr lang="zh-CN" altLang="en-US" dirty="0"/>
              <a:t>多发射时的寄存器重命名</a:t>
            </a:r>
            <a:endParaRPr lang="zh-CN" altLang="en-US" dirty="0"/>
          </a:p>
        </p:txBody>
      </p:sp>
      <p:sp>
        <p:nvSpPr>
          <p:cNvPr id="50180" name="Rectangle 1027"/>
          <p:cNvSpPr>
            <a:spLocks noGrp="1"/>
          </p:cNvSpPr>
          <p:nvPr>
            <p:ph idx="1"/>
          </p:nvPr>
        </p:nvSpPr>
        <p:spPr>
          <a:xfrm>
            <a:off x="914400" y="1981200"/>
            <a:ext cx="10939463" cy="4114800"/>
          </a:xfrm>
        </p:spPr>
        <p:txBody>
          <a:bodyPr vert="horz" wrap="square" lIns="91440" tIns="45720" rIns="91440" bIns="45720" anchor="t" anchorCtr="0"/>
          <a:p>
            <a:pPr eaLnBrk="1" hangingPunct="1">
              <a:lnSpc>
                <a:spcPct val="150000"/>
              </a:lnSpc>
            </a:pPr>
            <a:r>
              <a:rPr lang="zh-CN" altLang="en-US" dirty="0"/>
              <a:t>假设开始时与逻辑寄存器</a:t>
            </a:r>
            <a:r>
              <a:rPr lang="en-US" altLang="zh-CN" dirty="0"/>
              <a:t>R1,R2,R3</a:t>
            </a:r>
            <a:r>
              <a:rPr lang="zh-CN" altLang="en-US" dirty="0"/>
              <a:t>对应的最近的物理寄存器分别为</a:t>
            </a:r>
            <a:r>
              <a:rPr lang="en-US" altLang="zh-CN" dirty="0"/>
              <a:t>PR1,PR2,PR3, </a:t>
            </a:r>
            <a:r>
              <a:rPr lang="zh-CN" altLang="en-US" dirty="0"/>
              <a:t>在同一拍中对如下指令进行寄存器重命名：</a:t>
            </a:r>
            <a:endParaRPr lang="zh-CN" altLang="en-US" dirty="0"/>
          </a:p>
          <a:p>
            <a:pPr lvl="1" eaLnBrk="1" hangingPunct="1">
              <a:lnSpc>
                <a:spcPct val="150000"/>
              </a:lnSpc>
              <a:buNone/>
            </a:pPr>
            <a:r>
              <a:rPr lang="en-US" altLang="zh-CN" dirty="0"/>
              <a:t>ADD  R1</a:t>
            </a:r>
            <a:r>
              <a:rPr lang="zh-CN" altLang="en-US" dirty="0"/>
              <a:t>，</a:t>
            </a:r>
            <a:r>
              <a:rPr lang="en-US" altLang="zh-CN" dirty="0"/>
              <a:t>R1</a:t>
            </a:r>
            <a:r>
              <a:rPr lang="zh-CN" altLang="en-US" dirty="0"/>
              <a:t>，</a:t>
            </a:r>
            <a:r>
              <a:rPr lang="en-US" altLang="zh-CN" dirty="0"/>
              <a:t>R1</a:t>
            </a:r>
            <a:endParaRPr lang="en-US" altLang="zh-CN" dirty="0"/>
          </a:p>
          <a:p>
            <a:pPr lvl="1" eaLnBrk="1" hangingPunct="1">
              <a:lnSpc>
                <a:spcPct val="150000"/>
              </a:lnSpc>
              <a:buNone/>
            </a:pPr>
            <a:r>
              <a:rPr lang="en-US" altLang="zh-CN" dirty="0"/>
              <a:t>ADD  R1</a:t>
            </a:r>
            <a:r>
              <a:rPr lang="zh-CN" altLang="en-US" dirty="0"/>
              <a:t>，</a:t>
            </a:r>
            <a:r>
              <a:rPr lang="en-US" altLang="zh-CN" dirty="0"/>
              <a:t>R1</a:t>
            </a:r>
            <a:r>
              <a:rPr lang="zh-CN" altLang="en-US" dirty="0"/>
              <a:t>，</a:t>
            </a:r>
            <a:r>
              <a:rPr lang="en-US" altLang="zh-CN" dirty="0"/>
              <a:t>R1</a:t>
            </a:r>
            <a:endParaRPr lang="en-US" altLang="zh-CN" dirty="0"/>
          </a:p>
          <a:p>
            <a:pPr lvl="1" eaLnBrk="1" hangingPunct="1">
              <a:lnSpc>
                <a:spcPct val="150000"/>
              </a:lnSpc>
              <a:buNone/>
            </a:pPr>
            <a:r>
              <a:rPr lang="en-US" altLang="zh-CN" dirty="0"/>
              <a:t>ADD  R1</a:t>
            </a:r>
            <a:r>
              <a:rPr lang="zh-CN" altLang="en-US" dirty="0"/>
              <a:t>，</a:t>
            </a:r>
            <a:r>
              <a:rPr lang="en-US" altLang="zh-CN" dirty="0"/>
              <a:t>R1</a:t>
            </a:r>
            <a:r>
              <a:rPr lang="zh-CN" altLang="en-US" dirty="0"/>
              <a:t>，</a:t>
            </a:r>
            <a:r>
              <a:rPr lang="en-US" altLang="zh-CN" dirty="0"/>
              <a:t>R1</a:t>
            </a:r>
            <a:endParaRPr lang="en-US" altLang="zh-CN" dirty="0"/>
          </a:p>
          <a:p>
            <a:pPr lvl="1" eaLnBrk="1" hangingPunct="1">
              <a:lnSpc>
                <a:spcPct val="150000"/>
              </a:lnSpc>
              <a:buNone/>
            </a:pPr>
            <a:r>
              <a:rPr lang="en-US" altLang="zh-CN" dirty="0"/>
              <a:t>ADD  R1</a:t>
            </a:r>
            <a:r>
              <a:rPr lang="zh-CN" altLang="en-US" dirty="0"/>
              <a:t>，</a:t>
            </a:r>
            <a:r>
              <a:rPr lang="en-US" altLang="zh-CN" dirty="0"/>
              <a:t>R1</a:t>
            </a:r>
            <a:r>
              <a:rPr lang="zh-CN" altLang="en-US" dirty="0"/>
              <a:t>，</a:t>
            </a:r>
            <a:r>
              <a:rPr lang="en-US" altLang="zh-CN" dirty="0"/>
              <a:t>R1</a:t>
            </a:r>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矩形 17"/>
          <p:cNvSpPr/>
          <p:nvPr/>
        </p:nvSpPr>
        <p:spPr>
          <a:xfrm>
            <a:off x="3930650" y="2754630"/>
            <a:ext cx="7996555" cy="3928110"/>
          </a:xfrm>
          <a:prstGeom prst="rect">
            <a:avLst/>
          </a:prstGeom>
          <a:solidFill>
            <a:schemeClr val="accent2">
              <a:lumMod val="20000"/>
              <a:lumOff val="80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endParaRPr>
          </a:p>
        </p:txBody>
      </p:sp>
      <p:sp>
        <p:nvSpPr>
          <p:cNvPr id="16" name="矩形 15"/>
          <p:cNvSpPr/>
          <p:nvPr/>
        </p:nvSpPr>
        <p:spPr>
          <a:xfrm>
            <a:off x="1023620" y="2787015"/>
            <a:ext cx="2277110" cy="3928110"/>
          </a:xfrm>
          <a:prstGeom prst="rect">
            <a:avLst/>
          </a:prstGeom>
          <a:solidFill>
            <a:schemeClr val="accent2">
              <a:lumMod val="20000"/>
              <a:lumOff val="80000"/>
            </a:schemeClr>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endParaRPr>
          </a:p>
        </p:txBody>
      </p:sp>
      <p:grpSp>
        <p:nvGrpSpPr>
          <p:cNvPr id="15" name="组合 14"/>
          <p:cNvGrpSpPr/>
          <p:nvPr/>
        </p:nvGrpSpPr>
        <p:grpSpPr>
          <a:xfrm rot="0">
            <a:off x="1544955" y="4446905"/>
            <a:ext cx="900430" cy="534670"/>
            <a:chOff x="1563" y="7228"/>
            <a:chExt cx="1418" cy="842"/>
          </a:xfrm>
          <a:solidFill>
            <a:schemeClr val="accent1">
              <a:lumMod val="40000"/>
              <a:lumOff val="60000"/>
            </a:schemeClr>
          </a:solidFill>
        </p:grpSpPr>
        <p:sp>
          <p:nvSpPr>
            <p:cNvPr id="51206" name="AutoShape 5"/>
            <p:cNvSpPr/>
            <p:nvPr/>
          </p:nvSpPr>
          <p:spPr>
            <a:xfrm>
              <a:off x="1563" y="7228"/>
              <a:ext cx="1418" cy="843"/>
            </a:xfrm>
            <a:prstGeom prst="downArrow">
              <a:avLst>
                <a:gd name="adj1" fmla="val 50000"/>
                <a:gd name="adj2" fmla="val 25000"/>
              </a:avLst>
            </a:prstGeom>
            <a:grp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5" name="文本框 4"/>
            <p:cNvSpPr txBox="1"/>
            <p:nvPr/>
          </p:nvSpPr>
          <p:spPr>
            <a:xfrm>
              <a:off x="1718" y="7348"/>
              <a:ext cx="1128" cy="483"/>
            </a:xfrm>
            <a:prstGeom prst="rect">
              <a:avLst/>
            </a:prstGeom>
            <a:noFill/>
            <a:extLst>
              <a:ext uri="{909E8E84-426E-40DD-AFC4-6F175D3DCCD1}">
                <a14:hiddenFill xmlns:a14="http://schemas.microsoft.com/office/drawing/2010/main">
                  <a:grpFill/>
                </a14:hiddenFill>
              </a:ext>
            </a:extLst>
          </p:spPr>
          <p:txBody>
            <a:bodyPr wrap="square" rtlCol="0">
              <a:spAutoFit/>
            </a:bodyPr>
            <a:p>
              <a:r>
                <a:rPr lang="zh-CN" altLang="en-US" sz="1400" b="1">
                  <a:solidFill>
                    <a:srgbClr val="FF0000"/>
                  </a:solidFill>
                </a:rPr>
                <a:t>查表</a:t>
              </a:r>
              <a:endParaRPr lang="zh-CN" altLang="en-US" sz="1400" b="1">
                <a:solidFill>
                  <a:srgbClr val="FF0000"/>
                </a:solidFill>
              </a:endParaRPr>
            </a:p>
          </p:txBody>
        </p:sp>
      </p:grpSp>
      <p:sp>
        <p:nvSpPr>
          <p:cNvPr id="51202"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1203" name="Rectangle 2"/>
          <p:cNvSpPr>
            <a:spLocks noGrp="1"/>
          </p:cNvSpPr>
          <p:nvPr>
            <p:ph idx="1"/>
          </p:nvPr>
        </p:nvSpPr>
        <p:spPr>
          <a:xfrm>
            <a:off x="1155700" y="2785110"/>
            <a:ext cx="2360930" cy="1511300"/>
          </a:xfrm>
        </p:spPr>
        <p:txBody>
          <a:bodyPr vert="horz" wrap="square" lIns="91440" tIns="45720" rIns="91440" bIns="45720" anchor="t" anchorCtr="0"/>
          <a:p>
            <a:pPr eaLnBrk="1" hangingPunct="1">
              <a:lnSpc>
                <a:spcPct val="100000"/>
              </a:lnSpc>
              <a:buNone/>
            </a:pPr>
            <a:r>
              <a:rPr lang="en-US" altLang="zh-CN" sz="1800" dirty="0"/>
              <a:t>add r01,r01,r01</a:t>
            </a:r>
            <a:endParaRPr lang="en-US" altLang="zh-CN" sz="1800" dirty="0"/>
          </a:p>
          <a:p>
            <a:pPr eaLnBrk="1" hangingPunct="1">
              <a:lnSpc>
                <a:spcPct val="100000"/>
              </a:lnSpc>
              <a:buNone/>
            </a:pPr>
            <a:r>
              <a:rPr lang="en-US" altLang="zh-CN" sz="1800" dirty="0"/>
              <a:t>add r01,r01,r01</a:t>
            </a:r>
            <a:endParaRPr lang="en-US" altLang="zh-CN" sz="1800" dirty="0"/>
          </a:p>
          <a:p>
            <a:pPr eaLnBrk="1" hangingPunct="1">
              <a:lnSpc>
                <a:spcPct val="100000"/>
              </a:lnSpc>
              <a:buNone/>
            </a:pPr>
            <a:r>
              <a:rPr lang="en-US" altLang="zh-CN" sz="1800" dirty="0"/>
              <a:t>add r01,r01,r01</a:t>
            </a:r>
            <a:endParaRPr lang="en-US" altLang="zh-CN" sz="1800" dirty="0"/>
          </a:p>
          <a:p>
            <a:pPr eaLnBrk="1" hangingPunct="1">
              <a:lnSpc>
                <a:spcPct val="100000"/>
              </a:lnSpc>
              <a:buNone/>
            </a:pPr>
            <a:r>
              <a:rPr lang="en-US" altLang="zh-CN" sz="1800" dirty="0"/>
              <a:t>add r01,r01,r01</a:t>
            </a:r>
            <a:endParaRPr lang="en-US" altLang="zh-CN" sz="1800" dirty="0"/>
          </a:p>
        </p:txBody>
      </p:sp>
      <p:sp>
        <p:nvSpPr>
          <p:cNvPr id="51205" name="Rectangle 4"/>
          <p:cNvSpPr/>
          <p:nvPr/>
        </p:nvSpPr>
        <p:spPr>
          <a:xfrm>
            <a:off x="1155700" y="5186045"/>
            <a:ext cx="2261870" cy="1482725"/>
          </a:xfrm>
          <a:prstGeom prst="rect">
            <a:avLst/>
          </a:prstGeom>
          <a:noFill/>
          <a:ln w="9525">
            <a:noFill/>
          </a:ln>
        </p:spPr>
        <p:txBody>
          <a:bodyPr/>
          <a:p>
            <a:pPr marL="342900" indent="-342900" algn="l">
              <a:lnSpc>
                <a:spcPct val="110000"/>
              </a:lnSpc>
              <a:spcBef>
                <a:spcPct val="10000"/>
              </a:spcBef>
            </a:pPr>
            <a:r>
              <a:rPr lang="en-US" altLang="zh-CN" sz="1800" b="1" dirty="0">
                <a:latin typeface="宋体" panose="02000500000000000000" pitchFamily="2" charset="-122"/>
              </a:rPr>
              <a:t>add pr32,pr01,pr01</a:t>
            </a:r>
            <a:endParaRPr lang="en-US" altLang="zh-CN" sz="1800" b="1" dirty="0">
              <a:latin typeface="宋体" panose="02000500000000000000" pitchFamily="2" charset="-122"/>
            </a:endParaRPr>
          </a:p>
          <a:p>
            <a:pPr marL="342900" indent="-342900" algn="l">
              <a:lnSpc>
                <a:spcPct val="110000"/>
              </a:lnSpc>
              <a:spcBef>
                <a:spcPct val="10000"/>
              </a:spcBef>
            </a:pPr>
            <a:r>
              <a:rPr lang="en-US" altLang="zh-CN" sz="1800" b="1" dirty="0">
                <a:latin typeface="宋体" panose="02000500000000000000" pitchFamily="2" charset="-122"/>
              </a:rPr>
              <a:t>add pr33,pr32,pr32</a:t>
            </a:r>
            <a:endParaRPr lang="en-US" altLang="zh-CN" sz="1800" b="1" dirty="0">
              <a:latin typeface="宋体" panose="02000500000000000000" pitchFamily="2" charset="-122"/>
            </a:endParaRPr>
          </a:p>
          <a:p>
            <a:pPr marL="342900" indent="-342900" algn="l">
              <a:lnSpc>
                <a:spcPct val="110000"/>
              </a:lnSpc>
              <a:spcBef>
                <a:spcPct val="10000"/>
              </a:spcBef>
            </a:pPr>
            <a:r>
              <a:rPr lang="en-US" altLang="zh-CN" sz="1800" b="1" dirty="0">
                <a:latin typeface="宋体" panose="02000500000000000000" pitchFamily="2" charset="-122"/>
              </a:rPr>
              <a:t>add pr34,pr33,pr33</a:t>
            </a:r>
            <a:endParaRPr lang="en-US" altLang="zh-CN" sz="1800" b="1" dirty="0">
              <a:latin typeface="宋体" panose="02000500000000000000" pitchFamily="2" charset="-122"/>
            </a:endParaRPr>
          </a:p>
          <a:p>
            <a:pPr marL="342900" indent="-342900" algn="l">
              <a:lnSpc>
                <a:spcPct val="110000"/>
              </a:lnSpc>
              <a:spcBef>
                <a:spcPct val="10000"/>
              </a:spcBef>
            </a:pPr>
            <a:r>
              <a:rPr lang="en-US" altLang="zh-CN" sz="1800" b="1" dirty="0">
                <a:latin typeface="宋体" panose="02000500000000000000" pitchFamily="2" charset="-122"/>
              </a:rPr>
              <a:t>add pr35,pr34,pr34</a:t>
            </a:r>
            <a:endParaRPr lang="en-US" altLang="zh-CN" sz="1800" b="1" dirty="0">
              <a:latin typeface="宋体" panose="02000500000000000000" pitchFamily="2" charset="-122"/>
            </a:endParaRPr>
          </a:p>
        </p:txBody>
      </p:sp>
      <p:grpSp>
        <p:nvGrpSpPr>
          <p:cNvPr id="13" name="组合 12"/>
          <p:cNvGrpSpPr/>
          <p:nvPr/>
        </p:nvGrpSpPr>
        <p:grpSpPr>
          <a:xfrm>
            <a:off x="4170045" y="3157220"/>
            <a:ext cx="7757160" cy="3140075"/>
            <a:chOff x="5637" y="3697"/>
            <a:chExt cx="12216" cy="4945"/>
          </a:xfrm>
        </p:grpSpPr>
        <p:sp>
          <p:nvSpPr>
            <p:cNvPr id="51204" name="Rectangle 3"/>
            <p:cNvSpPr/>
            <p:nvPr/>
          </p:nvSpPr>
          <p:spPr>
            <a:xfrm>
              <a:off x="5637" y="5686"/>
              <a:ext cx="11953" cy="923"/>
            </a:xfrm>
            <a:prstGeom prst="rect">
              <a:avLst/>
            </a:prstGeom>
            <a:noFill/>
            <a:ln w="9525">
              <a:noFill/>
            </a:ln>
          </p:spPr>
          <p:txBody>
            <a:bodyPr/>
            <a:p>
              <a:pPr marL="342900" indent="-342900" algn="l">
                <a:lnSpc>
                  <a:spcPct val="110000"/>
                </a:lnSpc>
                <a:spcBef>
                  <a:spcPct val="10000"/>
                </a:spcBef>
              </a:pPr>
              <a:r>
                <a:rPr lang="en-US" altLang="zh-CN" sz="1800" b="1" dirty="0">
                  <a:latin typeface="宋体" panose="02000500000000000000" pitchFamily="2" charset="-122"/>
                </a:rPr>
                <a:t>add pr32,pr01,pr01; add pr33,pr01,pr01; add pr34,pr01,pr01; add pr35,pr01,pr01</a:t>
              </a:r>
              <a:endParaRPr lang="en-US" altLang="zh-CN" sz="1800" b="1" dirty="0">
                <a:latin typeface="宋体" panose="02000500000000000000" pitchFamily="2" charset="-122"/>
              </a:endParaRPr>
            </a:p>
          </p:txBody>
        </p:sp>
        <p:sp>
          <p:nvSpPr>
            <p:cNvPr id="2" name="Rectangle 2"/>
            <p:cNvSpPr>
              <a:spLocks noGrp="1"/>
            </p:cNvSpPr>
            <p:nvPr/>
          </p:nvSpPr>
          <p:spPr>
            <a:xfrm>
              <a:off x="5637" y="3697"/>
              <a:ext cx="11752" cy="783"/>
            </a:xfrm>
            <a:prstGeom prst="rect">
              <a:avLst/>
            </a:prstGeom>
            <a:noFill/>
            <a:ln w="9525">
              <a:noFill/>
            </a:ln>
          </p:spPr>
          <p:txBody>
            <a:bodyPr vert="horz" wrap="square" lIns="91440" tIns="45720" rIns="91440" bIns="45720" anchor="t" anchorCtr="0"/>
            <a:lstStyle>
              <a:lvl1pPr marL="342900" indent="-342900" algn="l" rtl="0" eaLnBrk="0" fontAlgn="base" latinLnBrk="0" hangingPunct="0">
                <a:lnSpc>
                  <a:spcPct val="150000"/>
                </a:lnSpc>
                <a:spcBef>
                  <a:spcPts val="600"/>
                </a:spcBef>
                <a:spcAft>
                  <a:spcPct val="0"/>
                </a:spcAft>
                <a:buChar char="•"/>
                <a:defRPr kumimoji="1" sz="2000" b="1">
                  <a:solidFill>
                    <a:schemeClr val="tx1"/>
                  </a:solidFill>
                  <a:latin typeface="宋体" panose="02000500000000000000" pitchFamily="2" charset="-122"/>
                  <a:ea typeface="宋体" panose="02000500000000000000" pitchFamily="2" charset="-122"/>
                  <a:cs typeface="+mn-cs"/>
                </a:defRPr>
              </a:lvl1pPr>
              <a:lvl2pPr marL="742950" indent="-285750" algn="l" rtl="0" eaLnBrk="0" fontAlgn="base" latinLnBrk="0" hangingPunct="0">
                <a:lnSpc>
                  <a:spcPct val="150000"/>
                </a:lnSpc>
                <a:spcBef>
                  <a:spcPts val="600"/>
                </a:spcBef>
                <a:spcAft>
                  <a:spcPct val="0"/>
                </a:spcAft>
                <a:buChar char="•"/>
                <a:defRPr kumimoji="1" sz="1600" b="1">
                  <a:solidFill>
                    <a:schemeClr val="tx1"/>
                  </a:solidFill>
                  <a:latin typeface="宋体" panose="02000500000000000000" pitchFamily="2" charset="-122"/>
                  <a:ea typeface="宋体" panose="02000500000000000000" pitchFamily="2" charset="-122"/>
                </a:defRPr>
              </a:lvl2pPr>
              <a:lvl3pPr marL="914400" indent="0" algn="l" rtl="0" eaLnBrk="0" fontAlgn="base" latinLnBrk="0" hangingPunct="0">
                <a:lnSpc>
                  <a:spcPct val="150000"/>
                </a:lnSpc>
                <a:spcBef>
                  <a:spcPts val="600"/>
                </a:spcBef>
                <a:spcAft>
                  <a:spcPct val="0"/>
                </a:spcAft>
                <a:buNone/>
                <a:defRPr kumimoji="1" sz="16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00000"/>
                </a:lnSpc>
                <a:buNone/>
              </a:pPr>
              <a:r>
                <a:rPr lang="en-US" altLang="zh-CN" sz="1800" dirty="0"/>
                <a:t>add r01,r01,r01; add r01,r01,r01; add r01,r01,r01; add r01,r01,r01</a:t>
              </a:r>
              <a:endParaRPr lang="en-US" altLang="zh-CN" sz="1800" dirty="0"/>
            </a:p>
          </p:txBody>
        </p:sp>
        <p:sp>
          <p:nvSpPr>
            <p:cNvPr id="3" name="Rectangle 4"/>
            <p:cNvSpPr/>
            <p:nvPr/>
          </p:nvSpPr>
          <p:spPr>
            <a:xfrm>
              <a:off x="5837" y="7806"/>
              <a:ext cx="12016" cy="836"/>
            </a:xfrm>
            <a:prstGeom prst="rect">
              <a:avLst/>
            </a:prstGeom>
            <a:noFill/>
            <a:ln w="9525">
              <a:noFill/>
            </a:ln>
          </p:spPr>
          <p:txBody>
            <a:bodyPr/>
            <a:p>
              <a:pPr marL="342900" indent="-342900" algn="l">
                <a:lnSpc>
                  <a:spcPct val="110000"/>
                </a:lnSpc>
                <a:spcBef>
                  <a:spcPct val="10000"/>
                </a:spcBef>
              </a:pPr>
              <a:r>
                <a:rPr lang="en-US" altLang="zh-CN" sz="1800" b="1" dirty="0">
                  <a:latin typeface="宋体" panose="02000500000000000000" pitchFamily="2" charset="-122"/>
                </a:rPr>
                <a:t>add pr32,pr01,pr01; add pr33,pr32,pr32; add pr34,pr33,pr33; add pr35,pr34,pr34</a:t>
              </a:r>
              <a:endParaRPr lang="en-US" altLang="zh-CN" sz="1800" b="1" dirty="0">
                <a:latin typeface="宋体" panose="02000500000000000000" pitchFamily="2" charset="-122"/>
              </a:endParaRPr>
            </a:p>
          </p:txBody>
        </p:sp>
        <p:grpSp>
          <p:nvGrpSpPr>
            <p:cNvPr id="10" name="组合 9"/>
            <p:cNvGrpSpPr/>
            <p:nvPr/>
          </p:nvGrpSpPr>
          <p:grpSpPr>
            <a:xfrm>
              <a:off x="9605" y="6753"/>
              <a:ext cx="1418" cy="843"/>
              <a:chOff x="1503" y="4843"/>
              <a:chExt cx="1418" cy="843"/>
            </a:xfrm>
          </p:grpSpPr>
          <p:sp>
            <p:nvSpPr>
              <p:cNvPr id="11" name="AutoShape 5"/>
              <p:cNvSpPr/>
              <p:nvPr/>
            </p:nvSpPr>
            <p:spPr>
              <a:xfrm>
                <a:off x="1503" y="4843"/>
                <a:ext cx="1418" cy="843"/>
              </a:xfrm>
              <a:prstGeom prst="downArrow">
                <a:avLst>
                  <a:gd name="adj1" fmla="val 50000"/>
                  <a:gd name="adj2" fmla="val 25000"/>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12" name="文本框 11"/>
              <p:cNvSpPr txBox="1"/>
              <p:nvPr/>
            </p:nvSpPr>
            <p:spPr>
              <a:xfrm>
                <a:off x="1673" y="4963"/>
                <a:ext cx="1128" cy="483"/>
              </a:xfrm>
              <a:prstGeom prst="rect">
                <a:avLst/>
              </a:prstGeom>
              <a:noFill/>
            </p:spPr>
            <p:txBody>
              <a:bodyPr wrap="square" rtlCol="0">
                <a:spAutoFit/>
              </a:bodyPr>
              <a:p>
                <a:r>
                  <a:rPr lang="zh-CN" altLang="en-US" sz="1400" b="1">
                    <a:solidFill>
                      <a:srgbClr val="FF0000"/>
                    </a:solidFill>
                  </a:rPr>
                  <a:t>纠正</a:t>
                </a:r>
                <a:endParaRPr lang="zh-CN" altLang="en-US" sz="1400" b="1">
                  <a:solidFill>
                    <a:srgbClr val="FF0000"/>
                  </a:solidFill>
                </a:endParaRPr>
              </a:p>
            </p:txBody>
          </p:sp>
        </p:grpSp>
      </p:grpSp>
      <p:sp>
        <p:nvSpPr>
          <p:cNvPr id="50179" name="Rectangle 1026"/>
          <p:cNvSpPr>
            <a:spLocks noGrp="1"/>
          </p:cNvSpPr>
          <p:nvPr>
            <p:ph type="title"/>
          </p:nvPr>
        </p:nvSpPr>
        <p:spPr/>
        <p:txBody>
          <a:bodyPr vert="horz" wrap="square" lIns="91440" tIns="45720" rIns="91440" bIns="45720" anchor="ctr" anchorCtr="0"/>
          <a:p>
            <a:pPr eaLnBrk="1" hangingPunct="1"/>
            <a:r>
              <a:rPr lang="zh-CN" altLang="en-US" dirty="0"/>
              <a:t>单发射和多发射的寄存器重命名</a:t>
            </a:r>
            <a:endParaRPr lang="zh-CN" altLang="en-US" dirty="0"/>
          </a:p>
        </p:txBody>
      </p:sp>
      <p:sp>
        <p:nvSpPr>
          <p:cNvPr id="14" name="Rectangle 1027"/>
          <p:cNvSpPr>
            <a:spLocks noGrp="1"/>
          </p:cNvSpPr>
          <p:nvPr/>
        </p:nvSpPr>
        <p:spPr>
          <a:xfrm>
            <a:off x="895985" y="1348105"/>
            <a:ext cx="10939780" cy="1353185"/>
          </a:xfrm>
          <a:prstGeom prst="rect">
            <a:avLst/>
          </a:prstGeom>
          <a:noFill/>
          <a:ln w="9525">
            <a:noFill/>
          </a:ln>
        </p:spPr>
        <p:txBody>
          <a:bodyPr vert="horz" wrap="square" lIns="91440" tIns="45720" rIns="91440" bIns="45720" anchor="t" anchorCtr="0"/>
          <a:lstStyle>
            <a:lvl1pPr marL="342900" indent="-342900" algn="l" rtl="0" eaLnBrk="0" fontAlgn="base" latinLnBrk="0" hangingPunct="0">
              <a:lnSpc>
                <a:spcPct val="150000"/>
              </a:lnSpc>
              <a:spcBef>
                <a:spcPts val="600"/>
              </a:spcBef>
              <a:spcAft>
                <a:spcPct val="0"/>
              </a:spcAft>
              <a:buChar char="•"/>
              <a:defRPr kumimoji="1" sz="2000" b="1">
                <a:solidFill>
                  <a:schemeClr val="tx1"/>
                </a:solidFill>
                <a:latin typeface="宋体" panose="02000500000000000000" pitchFamily="2" charset="-122"/>
                <a:ea typeface="宋体" panose="02000500000000000000" pitchFamily="2" charset="-122"/>
                <a:cs typeface="+mn-cs"/>
              </a:defRPr>
            </a:lvl1pPr>
            <a:lvl2pPr marL="742950" indent="-285750" algn="l" rtl="0" eaLnBrk="0" fontAlgn="base" latinLnBrk="0" hangingPunct="0">
              <a:lnSpc>
                <a:spcPct val="150000"/>
              </a:lnSpc>
              <a:spcBef>
                <a:spcPts val="600"/>
              </a:spcBef>
              <a:spcAft>
                <a:spcPct val="0"/>
              </a:spcAft>
              <a:buChar char="•"/>
              <a:defRPr kumimoji="1" sz="1600" b="1">
                <a:solidFill>
                  <a:schemeClr val="tx1"/>
                </a:solidFill>
                <a:latin typeface="宋体" panose="02000500000000000000" pitchFamily="2" charset="-122"/>
                <a:ea typeface="宋体" panose="02000500000000000000" pitchFamily="2" charset="-122"/>
              </a:defRPr>
            </a:lvl2pPr>
            <a:lvl3pPr marL="914400" indent="0" algn="l" rtl="0" eaLnBrk="0" fontAlgn="base" latinLnBrk="0" hangingPunct="0">
              <a:lnSpc>
                <a:spcPct val="150000"/>
              </a:lnSpc>
              <a:spcBef>
                <a:spcPts val="600"/>
              </a:spcBef>
              <a:spcAft>
                <a:spcPct val="0"/>
              </a:spcAft>
              <a:buNone/>
              <a:defRPr kumimoji="1" sz="16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lnSpc>
                <a:spcPct val="150000"/>
              </a:lnSpc>
            </a:pPr>
            <a:r>
              <a:rPr lang="zh-CN" altLang="en-US" dirty="0"/>
              <a:t>单发射只要“上下看”，多发射还要“左右看”</a:t>
            </a:r>
            <a:endParaRPr lang="zh-CN" altLang="en-US" dirty="0"/>
          </a:p>
          <a:p>
            <a:pPr eaLnBrk="1" hangingPunct="1">
              <a:lnSpc>
                <a:spcPct val="150000"/>
              </a:lnSpc>
            </a:pPr>
            <a:r>
              <a:rPr lang="zh-CN" altLang="en-US" dirty="0"/>
              <a:t>多发射要每次从表中找多个空项：延迟线性增加（</a:t>
            </a:r>
            <a:r>
              <a:rPr lang="en-US" altLang="zh-CN" dirty="0">
                <a:solidFill>
                  <a:srgbClr val="FF0000"/>
                </a:solidFill>
              </a:rPr>
              <a:t>vs. log</a:t>
            </a:r>
            <a:r>
              <a:rPr lang="zh-CN" altLang="en-US" dirty="0">
                <a:solidFill>
                  <a:srgbClr val="FF0000"/>
                </a:solidFill>
              </a:rPr>
              <a:t>增加</a:t>
            </a:r>
            <a:r>
              <a:rPr lang="zh-CN" altLang="en-US" dirty="0"/>
              <a:t>）</a:t>
            </a:r>
            <a:endParaRPr lang="zh-CN" altLang="en-US" dirty="0"/>
          </a:p>
          <a:p>
            <a:pPr lvl="1" eaLnBrk="1" hangingPunct="1">
              <a:lnSpc>
                <a:spcPct val="150000"/>
              </a:lnSpc>
              <a:spcBef>
                <a:spcPct val="0"/>
              </a:spcBef>
              <a:buNone/>
            </a:pPr>
            <a:endParaRPr lang="zh-CN" altLang="en-US" dirty="0"/>
          </a:p>
        </p:txBody>
      </p:sp>
      <p:grpSp>
        <p:nvGrpSpPr>
          <p:cNvPr id="19" name="组合 18"/>
          <p:cNvGrpSpPr/>
          <p:nvPr/>
        </p:nvGrpSpPr>
        <p:grpSpPr>
          <a:xfrm rot="0">
            <a:off x="6689725" y="3769995"/>
            <a:ext cx="900430" cy="534670"/>
            <a:chOff x="1563" y="7228"/>
            <a:chExt cx="1418" cy="842"/>
          </a:xfrm>
          <a:solidFill>
            <a:schemeClr val="accent1">
              <a:lumMod val="40000"/>
              <a:lumOff val="60000"/>
            </a:schemeClr>
          </a:solidFill>
        </p:grpSpPr>
        <p:sp>
          <p:nvSpPr>
            <p:cNvPr id="20" name="AutoShape 5"/>
            <p:cNvSpPr/>
            <p:nvPr/>
          </p:nvSpPr>
          <p:spPr>
            <a:xfrm>
              <a:off x="1563" y="7228"/>
              <a:ext cx="1418" cy="843"/>
            </a:xfrm>
            <a:prstGeom prst="downArrow">
              <a:avLst>
                <a:gd name="adj1" fmla="val 50000"/>
                <a:gd name="adj2" fmla="val 25000"/>
              </a:avLst>
            </a:prstGeom>
            <a:grpFill/>
            <a:ln w="9525" cap="flat" cmpd="sng">
              <a:solidFill>
                <a:schemeClr val="tx1"/>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
          <p:nvSpPr>
            <p:cNvPr id="21" name="文本框 20"/>
            <p:cNvSpPr txBox="1"/>
            <p:nvPr/>
          </p:nvSpPr>
          <p:spPr>
            <a:xfrm>
              <a:off x="1718" y="7348"/>
              <a:ext cx="1128" cy="483"/>
            </a:xfrm>
            <a:prstGeom prst="rect">
              <a:avLst/>
            </a:prstGeom>
            <a:noFill/>
            <a:extLst>
              <a:ext uri="{909E8E84-426E-40DD-AFC4-6F175D3DCCD1}">
                <a14:hiddenFill xmlns:a14="http://schemas.microsoft.com/office/drawing/2010/main">
                  <a:grpFill/>
                </a14:hiddenFill>
              </a:ext>
            </a:extLst>
          </p:spPr>
          <p:txBody>
            <a:bodyPr wrap="square" rtlCol="0">
              <a:spAutoFit/>
            </a:bodyPr>
            <a:p>
              <a:r>
                <a:rPr lang="zh-CN" altLang="en-US" sz="1400" b="1">
                  <a:solidFill>
                    <a:srgbClr val="FF0000"/>
                  </a:solidFill>
                </a:rPr>
                <a:t>查表</a:t>
              </a:r>
              <a:endParaRPr lang="zh-CN" altLang="en-US" sz="1400" b="1">
                <a:solidFill>
                  <a:srgbClr val="FF0000"/>
                </a:solidFill>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xfrm>
            <a:off x="914400" y="50800"/>
            <a:ext cx="10361613" cy="920750"/>
          </a:xfrm>
        </p:spPr>
        <p:txBody>
          <a:bodyPr vert="horz" wrap="square" lIns="91440" tIns="45720" rIns="91440" bIns="45720" anchor="ctr" anchorCtr="0"/>
          <a:p>
            <a:r>
              <a:rPr lang="zh-CN" altLang="en-US" dirty="0"/>
              <a:t>多发射的其它设计问题</a:t>
            </a:r>
            <a:endParaRPr lang="zh-CN" altLang="en-US" dirty="0"/>
          </a:p>
        </p:txBody>
      </p:sp>
      <p:sp>
        <p:nvSpPr>
          <p:cNvPr id="52227" name="内容占位符 2"/>
          <p:cNvSpPr>
            <a:spLocks noGrp="1"/>
          </p:cNvSpPr>
          <p:nvPr>
            <p:ph idx="1"/>
          </p:nvPr>
        </p:nvSpPr>
        <p:spPr>
          <a:xfrm>
            <a:off x="361950" y="1038225"/>
            <a:ext cx="11407775" cy="5554663"/>
          </a:xfrm>
        </p:spPr>
        <p:txBody>
          <a:bodyPr vert="horz" wrap="square" lIns="91440" tIns="45720" rIns="91440" bIns="45720" anchor="t" anchorCtr="0"/>
          <a:p>
            <a:pPr>
              <a:lnSpc>
                <a:spcPct val="150000"/>
              </a:lnSpc>
            </a:pPr>
            <a:r>
              <a:rPr lang="zh-CN" altLang="en-US" dirty="0"/>
              <a:t>同时提交多条指令</a:t>
            </a:r>
            <a:endParaRPr lang="en-US" altLang="zh-CN" dirty="0"/>
          </a:p>
          <a:p>
            <a:pPr lvl="1">
              <a:lnSpc>
                <a:spcPct val="150000"/>
              </a:lnSpc>
            </a:pPr>
            <a:r>
              <a:rPr lang="zh-CN" altLang="en-US" dirty="0"/>
              <a:t>重命名把有序变成无序，要除了“前后看”，还要“左右看”</a:t>
            </a:r>
            <a:endParaRPr lang="en-US" altLang="zh-CN" dirty="0"/>
          </a:p>
          <a:p>
            <a:pPr lvl="1">
              <a:lnSpc>
                <a:spcPct val="150000"/>
              </a:lnSpc>
            </a:pPr>
            <a:r>
              <a:rPr lang="zh-CN" altLang="en-US" dirty="0"/>
              <a:t>提交把无序变成有序，也要“左右看”：同一拍可以提交多条，第二条是否提交要看第一条是否提交，等等</a:t>
            </a:r>
            <a:endParaRPr lang="en-US" altLang="zh-CN" dirty="0"/>
          </a:p>
          <a:p>
            <a:pPr>
              <a:lnSpc>
                <a:spcPct val="150000"/>
              </a:lnSpc>
            </a:pPr>
            <a:r>
              <a:rPr lang="zh-CN" altLang="en-US" dirty="0"/>
              <a:t>指令发射和读寄存器</a:t>
            </a:r>
            <a:endParaRPr lang="en-US" altLang="zh-CN" dirty="0"/>
          </a:p>
          <a:p>
            <a:pPr lvl="1">
              <a:lnSpc>
                <a:spcPct val="150000"/>
              </a:lnSpc>
            </a:pPr>
            <a:r>
              <a:rPr lang="zh-CN" altLang="en-US" dirty="0"/>
              <a:t>多端口寄存器是物理设计的难点：会增加延迟、面积、功耗，四发射结构一般至少需要四写八读的寄存器堆</a:t>
            </a:r>
            <a:endParaRPr lang="en-US" altLang="zh-CN" dirty="0"/>
          </a:p>
          <a:p>
            <a:pPr lvl="1">
              <a:lnSpc>
                <a:spcPct val="150000"/>
              </a:lnSpc>
            </a:pPr>
            <a:r>
              <a:rPr lang="zh-CN" altLang="en-US" dirty="0"/>
              <a:t>指令发射逻辑：从保留站中同时找出多条数据准备好的指令，为了性能要适当考虑在数据准备好的情况下前面的指令先发射</a:t>
            </a:r>
            <a:endParaRPr lang="en-US" altLang="zh-CN" dirty="0"/>
          </a:p>
          <a:p>
            <a:pPr>
              <a:lnSpc>
                <a:spcPct val="150000"/>
              </a:lnSpc>
            </a:pPr>
            <a:r>
              <a:rPr lang="zh-CN" altLang="en-US" dirty="0"/>
              <a:t>多功能部件</a:t>
            </a:r>
            <a:endParaRPr lang="en-US" altLang="zh-CN" dirty="0"/>
          </a:p>
          <a:p>
            <a:pPr lvl="1">
              <a:lnSpc>
                <a:spcPct val="150000"/>
              </a:lnSpc>
            </a:pPr>
            <a:r>
              <a:rPr lang="zh-CN" altLang="en-US" dirty="0"/>
              <a:t>增加回端口：寄存器堆、重命名寄存器表、</a:t>
            </a:r>
            <a:r>
              <a:rPr lang="en-US" altLang="zh-CN" dirty="0"/>
              <a:t>ROB</a:t>
            </a:r>
            <a:r>
              <a:rPr lang="zh-CN" altLang="en-US" dirty="0"/>
              <a:t>、发射队列</a:t>
            </a:r>
            <a:endParaRPr lang="en-US" altLang="zh-CN" dirty="0"/>
          </a:p>
          <a:p>
            <a:pPr lvl="1">
              <a:lnSpc>
                <a:spcPct val="150000"/>
              </a:lnSpc>
            </a:pPr>
            <a:r>
              <a:rPr lang="zh-CN" altLang="en-US" dirty="0"/>
              <a:t>尤其是多访存部件会大大增加设计复杂度</a:t>
            </a:r>
            <a:endParaRPr lang="zh-CN" altLang="en-US" dirty="0"/>
          </a:p>
        </p:txBody>
      </p:sp>
      <p:sp>
        <p:nvSpPr>
          <p:cNvPr id="52228"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3251" name="Rectangle 2"/>
          <p:cNvSpPr>
            <a:spLocks noGrp="1"/>
          </p:cNvSpPr>
          <p:nvPr>
            <p:ph type="title"/>
          </p:nvPr>
        </p:nvSpPr>
        <p:spPr>
          <a:xfrm>
            <a:off x="1204913" y="2700338"/>
            <a:ext cx="10361612" cy="1143000"/>
          </a:xfrm>
        </p:spPr>
        <p:txBody>
          <a:bodyPr vert="horz" wrap="square" lIns="91440" tIns="45720" rIns="91440" bIns="45720" anchor="ctr" anchorCtr="0"/>
          <a:p>
            <a:pPr eaLnBrk="1" hangingPunct="1"/>
            <a:r>
              <a:rPr lang="zh-CN" altLang="en-US" dirty="0"/>
              <a:t>龙芯</a:t>
            </a:r>
            <a:r>
              <a:rPr lang="en-US" altLang="zh-CN" dirty="0"/>
              <a:t>2</a:t>
            </a:r>
            <a:r>
              <a:rPr lang="zh-CN" altLang="en-US" dirty="0"/>
              <a:t>号多发射结构简介</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4275" name="Rectangle 2"/>
          <p:cNvSpPr>
            <a:spLocks noGrp="1"/>
          </p:cNvSpPr>
          <p:nvPr>
            <p:ph type="title"/>
          </p:nvPr>
        </p:nvSpPr>
        <p:spPr/>
        <p:txBody>
          <a:bodyPr vert="horz" wrap="square" lIns="91440" tIns="45720" rIns="91440" bIns="45720" anchor="ctr" anchorCtr="0"/>
          <a:p>
            <a:pPr eaLnBrk="1" hangingPunct="1"/>
            <a:r>
              <a:rPr lang="zh-CN" altLang="en-US" dirty="0"/>
              <a:t>龙芯</a:t>
            </a:r>
            <a:r>
              <a:rPr lang="en-US" altLang="zh-CN" dirty="0"/>
              <a:t>2</a:t>
            </a:r>
            <a:r>
              <a:rPr lang="zh-CN" altLang="en-US" dirty="0"/>
              <a:t>号数据通路（早期）</a:t>
            </a:r>
            <a:endParaRPr lang="zh-CN" altLang="en-US" dirty="0"/>
          </a:p>
        </p:txBody>
      </p:sp>
      <p:sp>
        <p:nvSpPr>
          <p:cNvPr id="54276" name="Rectangle 3"/>
          <p:cNvSpPr>
            <a:spLocks noGrp="1"/>
          </p:cNvSpPr>
          <p:nvPr>
            <p:ph idx="1"/>
          </p:nvPr>
        </p:nvSpPr>
        <p:spPr/>
        <p:txBody>
          <a:bodyPr vert="horz" wrap="square" lIns="91440" tIns="45720" rIns="91440" bIns="45720" anchor="t" anchorCtr="0"/>
          <a:p>
            <a:pPr eaLnBrk="1" hangingPunct="1">
              <a:lnSpc>
                <a:spcPct val="150000"/>
              </a:lnSpc>
            </a:pPr>
            <a:r>
              <a:rPr lang="zh-CN" altLang="en-US" sz="2400" dirty="0"/>
              <a:t>分组保留站</a:t>
            </a:r>
            <a:endParaRPr lang="zh-CN" altLang="en-US" sz="2400" dirty="0"/>
          </a:p>
          <a:p>
            <a:pPr lvl="1" eaLnBrk="1" hangingPunct="1">
              <a:lnSpc>
                <a:spcPct val="150000"/>
              </a:lnSpc>
            </a:pPr>
            <a:r>
              <a:rPr lang="zh-CN" altLang="en-US" sz="2000" dirty="0"/>
              <a:t>定点、浮点</a:t>
            </a:r>
            <a:endParaRPr lang="zh-CN" altLang="en-US" sz="2000" dirty="0"/>
          </a:p>
          <a:p>
            <a:pPr eaLnBrk="1" hangingPunct="1">
              <a:lnSpc>
                <a:spcPct val="150000"/>
              </a:lnSpc>
            </a:pPr>
            <a:r>
              <a:rPr lang="zh-CN" altLang="en-US" sz="2400" dirty="0"/>
              <a:t>保留站后读操作数</a:t>
            </a:r>
            <a:endParaRPr lang="zh-CN" altLang="en-US" sz="2400" dirty="0"/>
          </a:p>
          <a:p>
            <a:pPr eaLnBrk="1" hangingPunct="1">
              <a:lnSpc>
                <a:spcPct val="150000"/>
              </a:lnSpc>
            </a:pPr>
            <a:r>
              <a:rPr lang="zh-CN" altLang="en-US" sz="2400" dirty="0"/>
              <a:t>物理寄存器堆</a:t>
            </a:r>
            <a:endParaRPr lang="zh-CN" alt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55299" name="Picture 2" descr="841286100824181"/>
          <p:cNvPicPr>
            <a:picLocks noChangeAspect="1"/>
          </p:cNvPicPr>
          <p:nvPr/>
        </p:nvPicPr>
        <p:blipFill>
          <a:blip r:embed="rId1"/>
          <a:stretch>
            <a:fillRect/>
          </a:stretch>
        </p:blipFill>
        <p:spPr>
          <a:xfrm>
            <a:off x="487363" y="1350963"/>
            <a:ext cx="11123612" cy="5173662"/>
          </a:xfrm>
          <a:prstGeom prst="rect">
            <a:avLst/>
          </a:prstGeom>
          <a:noFill/>
          <a:ln w="9525">
            <a:noFill/>
          </a:ln>
        </p:spPr>
      </p:pic>
      <p:sp>
        <p:nvSpPr>
          <p:cNvPr id="55300" name="Rectangle 3"/>
          <p:cNvSpPr/>
          <p:nvPr/>
        </p:nvSpPr>
        <p:spPr>
          <a:xfrm>
            <a:off x="914400" y="95250"/>
            <a:ext cx="10361613" cy="1143000"/>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龙芯</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号处理器核结构图</a:t>
            </a:r>
            <a:endParaRPr lang="zh-CN" altLang="en-US" sz="3600" dirty="0">
              <a:solidFill>
                <a:srgbClr val="FF3300"/>
              </a:solidFill>
              <a:latin typeface="Times New Roman" pitchFamily="18" charset="0"/>
              <a:ea typeface="黑体" panose="02000500000000000000"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6323" name="Rectangle 2"/>
          <p:cNvSpPr/>
          <p:nvPr/>
        </p:nvSpPr>
        <p:spPr>
          <a:xfrm>
            <a:off x="914400" y="250825"/>
            <a:ext cx="10361613" cy="587375"/>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龙芯</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号指令流水线</a:t>
            </a:r>
            <a:endParaRPr lang="zh-CN" altLang="en-US" sz="3600" dirty="0">
              <a:solidFill>
                <a:srgbClr val="FF3300"/>
              </a:solidFill>
              <a:latin typeface="Times New Roman" pitchFamily="18" charset="0"/>
              <a:ea typeface="黑体" panose="02000500000000000000" pitchFamily="49" charset="-122"/>
            </a:endParaRPr>
          </a:p>
        </p:txBody>
      </p:sp>
      <p:sp>
        <p:nvSpPr>
          <p:cNvPr id="56324" name="Rectangle 4"/>
          <p:cNvSpPr/>
          <p:nvPr/>
        </p:nvSpPr>
        <p:spPr>
          <a:xfrm>
            <a:off x="78740" y="1146175"/>
            <a:ext cx="11902440" cy="5711825"/>
          </a:xfrm>
          <a:prstGeom prst="rect">
            <a:avLst/>
          </a:prstGeom>
          <a:noFill/>
          <a:ln w="9525">
            <a:noFill/>
          </a:ln>
        </p:spPr>
        <p:txBody>
          <a:bodyPr/>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取指：</a:t>
            </a:r>
            <a:r>
              <a:rPr lang="zh-CN" altLang="en-US" sz="1600" b="1" dirty="0">
                <a:latin typeface="宋体" panose="02000500000000000000" pitchFamily="2" charset="-122"/>
                <a:cs typeface="宋体" panose="02000500000000000000" pitchFamily="2" charset="-122"/>
              </a:rPr>
              <a:t>根据程序计数器（</a:t>
            </a:r>
            <a:r>
              <a:rPr lang="en-US" altLang="zh-CN" sz="1600" b="1" dirty="0">
                <a:latin typeface="宋体" panose="02000500000000000000" pitchFamily="2" charset="-122"/>
                <a:cs typeface="宋体" panose="02000500000000000000" pitchFamily="2" charset="-122"/>
              </a:rPr>
              <a:t>PC</a:t>
            </a:r>
            <a:r>
              <a:rPr lang="zh-CN" altLang="en-US" sz="1600" b="1" dirty="0">
                <a:latin typeface="宋体" panose="02000500000000000000" pitchFamily="2" charset="-122"/>
                <a:cs typeface="宋体" panose="02000500000000000000" pitchFamily="2" charset="-122"/>
              </a:rPr>
              <a:t>）来访问指令</a:t>
            </a:r>
            <a:r>
              <a:rPr lang="en-US" altLang="zh-CN" sz="1600" b="1" dirty="0">
                <a:latin typeface="宋体" panose="02000500000000000000" pitchFamily="2" charset="-122"/>
                <a:cs typeface="宋体" panose="02000500000000000000" pitchFamily="2" charset="-122"/>
              </a:rPr>
              <a:t>Cache</a:t>
            </a:r>
            <a:r>
              <a:rPr lang="zh-CN" altLang="en-US" sz="1600" b="1" dirty="0">
                <a:latin typeface="宋体" panose="02000500000000000000" pitchFamily="2" charset="-122"/>
                <a:cs typeface="宋体" panose="02000500000000000000" pitchFamily="2" charset="-122"/>
              </a:rPr>
              <a:t>和指令</a:t>
            </a:r>
            <a:r>
              <a:rPr lang="en-US" altLang="zh-CN" sz="1600" b="1" dirty="0">
                <a:latin typeface="宋体" panose="02000500000000000000" pitchFamily="2" charset="-122"/>
                <a:cs typeface="宋体" panose="02000500000000000000" pitchFamily="2" charset="-122"/>
              </a:rPr>
              <a:t>TLB</a:t>
            </a:r>
            <a:r>
              <a:rPr lang="zh-CN" altLang="en-US" sz="1600" b="1" dirty="0">
                <a:latin typeface="宋体" panose="02000500000000000000" pitchFamily="2" charset="-122"/>
                <a:cs typeface="宋体" panose="02000500000000000000" pitchFamily="2" charset="-122"/>
              </a:rPr>
              <a:t>，如果</a:t>
            </a:r>
            <a:r>
              <a:rPr lang="en-US" altLang="zh-CN" sz="1600" b="1" dirty="0">
                <a:latin typeface="宋体" panose="02000500000000000000" pitchFamily="2" charset="-122"/>
                <a:cs typeface="宋体" panose="02000500000000000000" pitchFamily="2" charset="-122"/>
              </a:rPr>
              <a:t>TLB</a:t>
            </a:r>
            <a:r>
              <a:rPr lang="zh-CN" altLang="en-US" sz="1600" b="1" dirty="0">
                <a:latin typeface="宋体" panose="02000500000000000000" pitchFamily="2" charset="-122"/>
                <a:cs typeface="宋体" panose="02000500000000000000" pitchFamily="2" charset="-122"/>
              </a:rPr>
              <a:t>和</a:t>
            </a:r>
            <a:r>
              <a:rPr lang="en-US" altLang="zh-CN" sz="1600" b="1" dirty="0">
                <a:latin typeface="宋体" panose="02000500000000000000" pitchFamily="2" charset="-122"/>
                <a:cs typeface="宋体" panose="02000500000000000000" pitchFamily="2" charset="-122"/>
              </a:rPr>
              <a:t>Cache</a:t>
            </a:r>
            <a:r>
              <a:rPr lang="zh-CN" altLang="en-US" sz="1600" b="1" dirty="0">
                <a:latin typeface="宋体" panose="02000500000000000000" pitchFamily="2" charset="-122"/>
                <a:cs typeface="宋体" panose="02000500000000000000" pitchFamily="2" charset="-122"/>
              </a:rPr>
              <a:t>命中，就从指令</a:t>
            </a:r>
            <a:r>
              <a:rPr lang="en-US" altLang="zh-CN" sz="1600" b="1" dirty="0">
                <a:latin typeface="宋体" panose="02000500000000000000" pitchFamily="2" charset="-122"/>
                <a:cs typeface="宋体" panose="02000500000000000000" pitchFamily="2" charset="-122"/>
              </a:rPr>
              <a:t>Cache</a:t>
            </a:r>
            <a:r>
              <a:rPr lang="zh-CN" altLang="en-US" sz="1600" b="1" dirty="0">
                <a:latin typeface="宋体" panose="02000500000000000000" pitchFamily="2" charset="-122"/>
                <a:cs typeface="宋体" panose="02000500000000000000" pitchFamily="2" charset="-122"/>
              </a:rPr>
              <a:t>中取四条指令到指令寄存器</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预译码：</a:t>
            </a:r>
            <a:r>
              <a:rPr lang="zh-CN" altLang="en-US" sz="1600" b="1" dirty="0">
                <a:latin typeface="宋体" panose="02000500000000000000" pitchFamily="2" charset="-122"/>
                <a:cs typeface="宋体" panose="02000500000000000000" pitchFamily="2" charset="-122"/>
              </a:rPr>
              <a:t>对分支指令进行转移猜测</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译码：</a:t>
            </a:r>
            <a:r>
              <a:rPr lang="zh-CN" altLang="en-US" sz="1600" b="1" dirty="0">
                <a:latin typeface="宋体" panose="02000500000000000000" pitchFamily="2" charset="-122"/>
                <a:cs typeface="宋体" panose="02000500000000000000" pitchFamily="2" charset="-122"/>
              </a:rPr>
              <a:t>指令寄存器里的四条指令被译码成处理器内部指令格式</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寄存器重命名：</a:t>
            </a:r>
            <a:r>
              <a:rPr lang="zh-CN" altLang="en-US" sz="1600" b="1" dirty="0">
                <a:latin typeface="宋体" panose="02000500000000000000" pitchFamily="2" charset="-122"/>
                <a:cs typeface="宋体" panose="02000500000000000000" pitchFamily="2" charset="-122"/>
              </a:rPr>
              <a:t>为每个逻辑目标寄存器分配一个物理寄存器，并且将逻辑源寄存器重命名为该寄存器最新映射的物理寄存器</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调度：</a:t>
            </a:r>
            <a:r>
              <a:rPr lang="zh-CN" altLang="en-US" sz="1600" b="1" dirty="0">
                <a:latin typeface="宋体" panose="02000500000000000000" pitchFamily="2" charset="-122"/>
                <a:cs typeface="宋体" panose="02000500000000000000" pitchFamily="2" charset="-122"/>
              </a:rPr>
              <a:t>重命名后的指令被调度到定点或者浮点保留站中等待执行，同样也送到重排序队列（</a:t>
            </a:r>
            <a:r>
              <a:rPr lang="en-US" altLang="zh-CN" sz="1600" b="1" dirty="0">
                <a:latin typeface="宋体" panose="02000500000000000000" pitchFamily="2" charset="-122"/>
                <a:cs typeface="宋体" panose="02000500000000000000" pitchFamily="2" charset="-122"/>
              </a:rPr>
              <a:t>ROQ</a:t>
            </a:r>
            <a:r>
              <a:rPr lang="zh-CN" altLang="en-US" sz="1600" b="1" dirty="0">
                <a:latin typeface="宋体" panose="02000500000000000000" pitchFamily="2" charset="-122"/>
                <a:cs typeface="宋体" panose="02000500000000000000" pitchFamily="2" charset="-122"/>
              </a:rPr>
              <a:t>）中以保证按序完成，分支指令和访存指令还分别发送到分支队列和访存重排序队列</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发射：</a:t>
            </a:r>
            <a:r>
              <a:rPr lang="zh-CN" altLang="en-US" sz="1600" b="1" dirty="0">
                <a:latin typeface="宋体" panose="02000500000000000000" pitchFamily="2" charset="-122"/>
                <a:cs typeface="宋体" panose="02000500000000000000" pitchFamily="2" charset="-122"/>
              </a:rPr>
              <a:t>从定点或浮点保留站中选取操作数都准备好的指令并发射，操作数没有准备好的指令在保留站侦听结果总线和前递总线</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latin typeface="宋体" panose="02000500000000000000" pitchFamily="2" charset="-122"/>
                <a:cs typeface="宋体" panose="02000500000000000000" pitchFamily="2" charset="-122"/>
              </a:rPr>
              <a:t>读寄存器：已发射的指令从物理寄存器堆中读取源操作数并发送到相应的功能单元</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执行：</a:t>
            </a:r>
            <a:r>
              <a:rPr lang="zh-CN" altLang="en-US" sz="1600" b="1" dirty="0">
                <a:latin typeface="宋体" panose="02000500000000000000" pitchFamily="2" charset="-122"/>
                <a:cs typeface="宋体" panose="02000500000000000000" pitchFamily="2" charset="-122"/>
              </a:rPr>
              <a:t>根据指令要求进行运算，运算结果写回寄存器堆，并通知保留站和寄存器重命名表相应的物理寄存器已经写回，执行阶段可能需要多拍</a:t>
            </a:r>
            <a:endParaRPr lang="zh-CN" altLang="en-US" sz="1600" b="1" dirty="0">
              <a:latin typeface="宋体" panose="02000500000000000000" pitchFamily="2" charset="-122"/>
              <a:cs typeface="宋体" panose="02000500000000000000" pitchFamily="2" charset="-122"/>
            </a:endParaRPr>
          </a:p>
          <a:p>
            <a:pPr marL="342900" indent="-342900" algn="l">
              <a:lnSpc>
                <a:spcPct val="150000"/>
              </a:lnSpc>
              <a:spcBef>
                <a:spcPts val="0"/>
              </a:spcBef>
              <a:buChar char="•"/>
            </a:pPr>
            <a:r>
              <a:rPr lang="zh-CN" altLang="en-US" sz="1600" b="1" dirty="0">
                <a:solidFill>
                  <a:srgbClr val="FF0000"/>
                </a:solidFill>
                <a:latin typeface="宋体" panose="02000500000000000000" pitchFamily="2" charset="-122"/>
                <a:cs typeface="宋体" panose="02000500000000000000" pitchFamily="2" charset="-122"/>
              </a:rPr>
              <a:t>提交：</a:t>
            </a:r>
            <a:r>
              <a:rPr lang="zh-CN" altLang="en-US" sz="1600" b="1" dirty="0">
                <a:latin typeface="宋体" panose="02000500000000000000" pitchFamily="2" charset="-122"/>
                <a:cs typeface="宋体" panose="02000500000000000000" pitchFamily="2" charset="-122"/>
              </a:rPr>
              <a:t>按照</a:t>
            </a:r>
            <a:r>
              <a:rPr lang="en-US" altLang="zh-CN" sz="1600" b="1" dirty="0">
                <a:latin typeface="宋体" panose="02000500000000000000" pitchFamily="2" charset="-122"/>
                <a:cs typeface="宋体" panose="02000500000000000000" pitchFamily="2" charset="-122"/>
              </a:rPr>
              <a:t>ROQ</a:t>
            </a:r>
            <a:r>
              <a:rPr lang="zh-CN" altLang="en-US" sz="1600" b="1" dirty="0">
                <a:latin typeface="宋体" panose="02000500000000000000" pitchFamily="2" charset="-122"/>
                <a:cs typeface="宋体" panose="02000500000000000000" pitchFamily="2" charset="-122"/>
              </a:rPr>
              <a:t>记录的程序顺序提交执行完的指令，每拍可提交四条指令，提交的指令送往寄存器重命名表用于确认它的目的寄存器的重命名关系并释放原来分配给同一逻辑寄存器的物理寄存器，送往访存队列允许那些提交的存数指令写入</a:t>
            </a:r>
            <a:r>
              <a:rPr lang="en-US" altLang="zh-CN" sz="1600" b="1" dirty="0">
                <a:latin typeface="宋体" panose="02000500000000000000" pitchFamily="2" charset="-122"/>
                <a:cs typeface="宋体" panose="02000500000000000000" pitchFamily="2" charset="-122"/>
              </a:rPr>
              <a:t>Cache </a:t>
            </a:r>
            <a:r>
              <a:rPr lang="zh-CN" altLang="en-US" sz="1600" b="1" dirty="0">
                <a:latin typeface="宋体" panose="02000500000000000000" pitchFamily="2" charset="-122"/>
                <a:cs typeface="宋体" panose="02000500000000000000" pitchFamily="2" charset="-122"/>
              </a:rPr>
              <a:t>或内存 </a:t>
            </a:r>
            <a:endParaRPr lang="zh-CN" altLang="en-US" sz="1600" b="1" dirty="0">
              <a:latin typeface="宋体" panose="02000500000000000000" pitchFamily="2" charset="-122"/>
              <a:cs typeface="宋体" panose="02000500000000000000"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7347" name="Rectangle 2"/>
          <p:cNvSpPr>
            <a:spLocks noGrp="1"/>
          </p:cNvSpPr>
          <p:nvPr>
            <p:ph type="title"/>
          </p:nvPr>
        </p:nvSpPr>
        <p:spPr>
          <a:xfrm>
            <a:off x="863600" y="292100"/>
            <a:ext cx="10361613" cy="709613"/>
          </a:xfrm>
        </p:spPr>
        <p:txBody>
          <a:bodyPr vert="horz" wrap="square" lIns="91440" tIns="45720" rIns="91440" bIns="45720" anchor="ctr" anchorCtr="0"/>
          <a:p>
            <a:pPr eaLnBrk="1" hangingPunct="1"/>
            <a:r>
              <a:rPr lang="zh-CN" altLang="en-US" dirty="0"/>
              <a:t>寄存器重命名</a:t>
            </a:r>
            <a:endParaRPr lang="zh-CN" altLang="en-US" dirty="0"/>
          </a:p>
        </p:txBody>
      </p:sp>
      <p:sp>
        <p:nvSpPr>
          <p:cNvPr id="57348" name="Rectangle 3"/>
          <p:cNvSpPr>
            <a:spLocks noGrp="1"/>
          </p:cNvSpPr>
          <p:nvPr>
            <p:ph idx="1"/>
          </p:nvPr>
        </p:nvSpPr>
        <p:spPr>
          <a:xfrm>
            <a:off x="260350" y="1109345"/>
            <a:ext cx="11562080" cy="5716905"/>
          </a:xfrm>
        </p:spPr>
        <p:txBody>
          <a:bodyPr vert="horz" wrap="square" lIns="91440" tIns="45720" rIns="91440" bIns="45720" anchor="t" anchorCtr="0"/>
          <a:p>
            <a:pPr eaLnBrk="1" hangingPunct="1">
              <a:lnSpc>
                <a:spcPct val="150000"/>
              </a:lnSpc>
              <a:spcBef>
                <a:spcPct val="0"/>
              </a:spcBef>
            </a:pPr>
            <a:r>
              <a:rPr lang="zh-CN" altLang="en-US" sz="2000" dirty="0"/>
              <a:t>功能</a:t>
            </a:r>
            <a:endParaRPr lang="zh-CN" altLang="en-US" sz="2000" dirty="0"/>
          </a:p>
          <a:p>
            <a:pPr lvl="1" eaLnBrk="1" hangingPunct="1">
              <a:lnSpc>
                <a:spcPct val="150000"/>
              </a:lnSpc>
              <a:spcBef>
                <a:spcPct val="0"/>
              </a:spcBef>
            </a:pPr>
            <a:r>
              <a:rPr lang="zh-CN" altLang="en-US" dirty="0"/>
              <a:t>把逻辑寄存器号转化为物理寄存器号</a:t>
            </a:r>
            <a:endParaRPr lang="zh-CN" altLang="en-US" dirty="0"/>
          </a:p>
          <a:p>
            <a:pPr lvl="1" eaLnBrk="1" hangingPunct="1">
              <a:lnSpc>
                <a:spcPct val="150000"/>
              </a:lnSpc>
              <a:spcBef>
                <a:spcPct val="0"/>
              </a:spcBef>
            </a:pPr>
            <a:r>
              <a:rPr lang="zh-CN" altLang="en-US" dirty="0"/>
              <a:t>消除</a:t>
            </a:r>
            <a:r>
              <a:rPr lang="en-US" altLang="zh-CN" dirty="0"/>
              <a:t>WAR</a:t>
            </a:r>
            <a:r>
              <a:rPr lang="zh-CN" altLang="en-US" dirty="0"/>
              <a:t>和</a:t>
            </a:r>
            <a:r>
              <a:rPr lang="en-US" altLang="zh-CN" dirty="0"/>
              <a:t>WAW</a:t>
            </a:r>
            <a:r>
              <a:rPr lang="zh-CN" altLang="en-US" dirty="0"/>
              <a:t>相关，建立</a:t>
            </a:r>
            <a:r>
              <a:rPr lang="en-US" altLang="zh-CN" dirty="0"/>
              <a:t>RAW</a:t>
            </a:r>
            <a:r>
              <a:rPr lang="zh-CN" altLang="en-US" dirty="0"/>
              <a:t>相关关系</a:t>
            </a:r>
            <a:endParaRPr lang="zh-CN" altLang="en-US" dirty="0"/>
          </a:p>
          <a:p>
            <a:pPr eaLnBrk="1" hangingPunct="1">
              <a:lnSpc>
                <a:spcPct val="150000"/>
              </a:lnSpc>
              <a:spcBef>
                <a:spcPct val="0"/>
              </a:spcBef>
            </a:pPr>
            <a:r>
              <a:rPr lang="zh-CN" altLang="zh-CN" sz="2000" dirty="0"/>
              <a:t>使用</a:t>
            </a:r>
            <a:r>
              <a:rPr lang="en-US" altLang="zh-CN" sz="2000" dirty="0"/>
              <a:t>CAM</a:t>
            </a:r>
            <a:r>
              <a:rPr lang="zh-CN" altLang="zh-CN" sz="2000" dirty="0"/>
              <a:t>寄存器重命名表，每项包括如下内容</a:t>
            </a:r>
            <a:endParaRPr lang="zh-CN" altLang="zh-CN" sz="2000" dirty="0"/>
          </a:p>
          <a:p>
            <a:pPr lvl="1" eaLnBrk="1" hangingPunct="1">
              <a:lnSpc>
                <a:spcPct val="150000"/>
              </a:lnSpc>
              <a:spcBef>
                <a:spcPct val="0"/>
              </a:spcBef>
            </a:pPr>
            <a:r>
              <a:rPr lang="en-US" altLang="zh-CN" dirty="0"/>
              <a:t>State</a:t>
            </a:r>
            <a:r>
              <a:rPr lang="zh-CN" altLang="en-US" dirty="0"/>
              <a:t>：四个状态</a:t>
            </a:r>
            <a:r>
              <a:rPr lang="en-US" altLang="zh-CN" dirty="0"/>
              <a:t>EMPTY</a:t>
            </a:r>
            <a:r>
              <a:rPr lang="zh-CN" altLang="en-US" dirty="0"/>
              <a:t>、</a:t>
            </a:r>
            <a:r>
              <a:rPr lang="en-US" altLang="zh-CN" dirty="0"/>
              <a:t>MAPPED</a:t>
            </a:r>
            <a:r>
              <a:rPr lang="zh-CN" altLang="en-US" dirty="0"/>
              <a:t>、</a:t>
            </a:r>
            <a:r>
              <a:rPr lang="en-US" altLang="zh-CN" dirty="0"/>
              <a:t>WRITEBACK</a:t>
            </a:r>
            <a:r>
              <a:rPr lang="zh-CN" altLang="en-US" dirty="0"/>
              <a:t>、</a:t>
            </a:r>
            <a:r>
              <a:rPr lang="en-US" altLang="zh-CN" dirty="0"/>
              <a:t>COMMIT</a:t>
            </a:r>
            <a:endParaRPr lang="zh-CN" altLang="en-US" dirty="0"/>
          </a:p>
          <a:p>
            <a:pPr lvl="1" eaLnBrk="1" hangingPunct="1">
              <a:lnSpc>
                <a:spcPct val="150000"/>
              </a:lnSpc>
              <a:spcBef>
                <a:spcPct val="0"/>
              </a:spcBef>
            </a:pPr>
            <a:r>
              <a:rPr lang="en-US" altLang="zh-CN" dirty="0"/>
              <a:t>Name</a:t>
            </a:r>
            <a:r>
              <a:rPr lang="zh-CN" altLang="en-US" dirty="0"/>
              <a:t>：该物理寄存器对应的逻辑寄存器号</a:t>
            </a:r>
            <a:endParaRPr lang="zh-CN" altLang="en-US" dirty="0"/>
          </a:p>
          <a:p>
            <a:pPr lvl="1" eaLnBrk="1" hangingPunct="1">
              <a:lnSpc>
                <a:spcPct val="150000"/>
              </a:lnSpc>
              <a:spcBef>
                <a:spcPct val="0"/>
              </a:spcBef>
            </a:pPr>
            <a:r>
              <a:rPr lang="en-US" altLang="zh-CN" dirty="0"/>
              <a:t>valid</a:t>
            </a:r>
            <a:r>
              <a:rPr lang="zh-CN" altLang="en-US" dirty="0"/>
              <a:t>：在多个物理寄存器对应一个逻辑寄存器时表示哪个是最近被映射的</a:t>
            </a:r>
            <a:endParaRPr lang="zh-CN" altLang="en-US" dirty="0"/>
          </a:p>
          <a:p>
            <a:pPr lvl="1" eaLnBrk="1" hangingPunct="1">
              <a:lnSpc>
                <a:spcPct val="150000"/>
              </a:lnSpc>
              <a:spcBef>
                <a:spcPct val="0"/>
              </a:spcBef>
            </a:pPr>
            <a:r>
              <a:rPr lang="zh-CN" altLang="en-US" dirty="0"/>
              <a:t>其它：用于转移取消等</a:t>
            </a:r>
            <a:endParaRPr lang="zh-CN" altLang="en-US" dirty="0"/>
          </a:p>
          <a:p>
            <a:pPr eaLnBrk="1" hangingPunct="1">
              <a:lnSpc>
                <a:spcPct val="150000"/>
              </a:lnSpc>
              <a:spcBef>
                <a:spcPct val="0"/>
              </a:spcBef>
            </a:pPr>
            <a:r>
              <a:rPr lang="zh-CN" altLang="en-US" sz="2000" dirty="0"/>
              <a:t>操作</a:t>
            </a:r>
            <a:endParaRPr lang="zh-CN" altLang="en-US" sz="2000" dirty="0"/>
          </a:p>
          <a:p>
            <a:pPr lvl="1" eaLnBrk="1" hangingPunct="1">
              <a:lnSpc>
                <a:spcPct val="150000"/>
              </a:lnSpc>
              <a:spcBef>
                <a:spcPct val="0"/>
              </a:spcBef>
            </a:pPr>
            <a:r>
              <a:rPr lang="zh-CN" altLang="en-US" dirty="0"/>
              <a:t>重命名：为目标寄存器分配一个空闲物理寄存器（状态置为</a:t>
            </a:r>
            <a:r>
              <a:rPr lang="en-US" altLang="zh-CN" dirty="0"/>
              <a:t>MAPPED</a:t>
            </a:r>
            <a:r>
              <a:rPr lang="zh-CN" altLang="en-US" dirty="0"/>
              <a:t>，</a:t>
            </a:r>
            <a:r>
              <a:rPr lang="en-US" altLang="zh-CN" dirty="0"/>
              <a:t>valid</a:t>
            </a:r>
            <a:r>
              <a:rPr lang="zh-CN" altLang="en-US" dirty="0"/>
              <a:t>置为</a:t>
            </a:r>
            <a:r>
              <a:rPr lang="en-US" altLang="zh-CN" dirty="0"/>
              <a:t>1</a:t>
            </a:r>
            <a:r>
              <a:rPr lang="zh-CN" altLang="en-US" dirty="0"/>
              <a:t>，原映射</a:t>
            </a:r>
            <a:r>
              <a:rPr lang="en-US" altLang="zh-CN" dirty="0"/>
              <a:t>valid</a:t>
            </a:r>
            <a:r>
              <a:rPr lang="zh-CN" altLang="en-US" dirty="0"/>
              <a:t>置为</a:t>
            </a:r>
            <a:r>
              <a:rPr lang="en-US" altLang="zh-CN" dirty="0"/>
              <a:t>0</a:t>
            </a:r>
            <a:r>
              <a:rPr lang="zh-CN" altLang="en-US" dirty="0"/>
              <a:t>），为源寄存器根据依赖关系找到相应物理寄存器号</a:t>
            </a:r>
            <a:endParaRPr lang="zh-CN" altLang="en-US" dirty="0"/>
          </a:p>
          <a:p>
            <a:pPr lvl="1" eaLnBrk="1" hangingPunct="1">
              <a:lnSpc>
                <a:spcPct val="150000"/>
              </a:lnSpc>
              <a:spcBef>
                <a:spcPct val="0"/>
              </a:spcBef>
            </a:pPr>
            <a:r>
              <a:rPr lang="zh-CN" altLang="en-US" dirty="0"/>
              <a:t>执行：把目标寄存器的标记为写回（状态置为</a:t>
            </a:r>
            <a:r>
              <a:rPr lang="en-US" altLang="zh-CN" dirty="0"/>
              <a:t>WTBK</a:t>
            </a:r>
            <a:r>
              <a:rPr lang="zh-CN" altLang="en-US" dirty="0"/>
              <a:t>）</a:t>
            </a:r>
            <a:endParaRPr lang="zh-CN" altLang="en-US" dirty="0"/>
          </a:p>
          <a:p>
            <a:pPr lvl="1" eaLnBrk="1" hangingPunct="1">
              <a:lnSpc>
                <a:spcPct val="150000"/>
              </a:lnSpc>
              <a:spcBef>
                <a:spcPct val="0"/>
              </a:spcBef>
            </a:pPr>
            <a:r>
              <a:rPr lang="zh-CN" altLang="en-US" dirty="0"/>
              <a:t>提交：把目标寄存器的值变成软件可见（状态置为</a:t>
            </a:r>
            <a:r>
              <a:rPr lang="en-US" altLang="zh-CN" dirty="0"/>
              <a:t>COMMIT</a:t>
            </a:r>
            <a:r>
              <a:rPr lang="zh-CN" altLang="en-US" dirty="0"/>
              <a:t>），释放原来的重命名寄存器（状态置为</a:t>
            </a:r>
            <a:r>
              <a:rPr lang="en-US" altLang="zh-CN" dirty="0"/>
              <a:t>EMPTY</a:t>
            </a:r>
            <a:r>
              <a:rPr lang="zh-CN" altLang="en-US" dirty="0"/>
              <a:t>）</a:t>
            </a:r>
            <a:endParaRPr lang="zh-CN" altLang="en-US" dirty="0"/>
          </a:p>
          <a:p>
            <a:pPr lvl="1" eaLnBrk="1" hangingPunct="1">
              <a:lnSpc>
                <a:spcPct val="150000"/>
              </a:lnSpc>
              <a:spcBef>
                <a:spcPct val="0"/>
              </a:spcBef>
            </a:pPr>
            <a:r>
              <a:rPr lang="zh-CN" altLang="en-US" dirty="0"/>
              <a:t>转移猜错或例外：取消后面的已经建立的重命名关系</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8371" name="Rectangle 2"/>
          <p:cNvSpPr>
            <a:spLocks noGrp="1"/>
          </p:cNvSpPr>
          <p:nvPr>
            <p:ph type="title"/>
          </p:nvPr>
        </p:nvSpPr>
        <p:spPr>
          <a:xfrm>
            <a:off x="1084263" y="254000"/>
            <a:ext cx="10361612" cy="876300"/>
          </a:xfrm>
        </p:spPr>
        <p:txBody>
          <a:bodyPr vert="horz" wrap="square" lIns="91440" tIns="45720" rIns="91440" bIns="45720" anchor="ctr" anchorCtr="0"/>
          <a:p>
            <a:pPr eaLnBrk="1" hangingPunct="1"/>
            <a:r>
              <a:rPr lang="zh-CN" altLang="en-US" dirty="0"/>
              <a:t>重命名主要通路</a:t>
            </a:r>
            <a:endParaRPr lang="zh-CN" altLang="en-US" dirty="0"/>
          </a:p>
        </p:txBody>
      </p:sp>
      <p:graphicFrame>
        <p:nvGraphicFramePr>
          <p:cNvPr id="58372" name="内容占位符 58371"/>
          <p:cNvGraphicFramePr/>
          <p:nvPr>
            <p:ph sz="half"/>
          </p:nvPr>
        </p:nvGraphicFramePr>
        <p:xfrm>
          <a:off x="2359025" y="3460750"/>
          <a:ext cx="2238375" cy="1509713"/>
        </p:xfrm>
        <a:graphic>
          <a:graphicData uri="http://schemas.openxmlformats.org/drawingml/2006/table">
            <a:tbl>
              <a:tblPr/>
              <a:tblGrid>
                <a:gridCol w="461963"/>
                <a:gridCol w="279400"/>
                <a:gridCol w="957262"/>
                <a:gridCol w="539750"/>
              </a:tblGrid>
              <a:tr h="249238">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lnSpc>
                          <a:spcPct val="110000"/>
                        </a:lnSpc>
                        <a:spcBef>
                          <a:spcPct val="10000"/>
                        </a:spcBef>
                        <a:buNone/>
                      </a:pPr>
                      <a:r>
                        <a:rPr lang="en-US" altLang="zh-CN" sz="1200" b="1" dirty="0">
                          <a:latin typeface="Times New Roman" pitchFamily="18" charset="0"/>
                        </a:rPr>
                        <a:t>st</a:t>
                      </a:r>
                      <a:endParaRPr lang="en-US" altLang="zh-CN" sz="12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lnSpc>
                          <a:spcPct val="110000"/>
                        </a:lnSpc>
                        <a:spcBef>
                          <a:spcPct val="10000"/>
                        </a:spcBef>
                        <a:buNone/>
                      </a:pPr>
                      <a:r>
                        <a:rPr lang="en-US" altLang="zh-CN" sz="1200" b="1" dirty="0">
                          <a:latin typeface="Times New Roman" pitchFamily="18" charset="0"/>
                        </a:rPr>
                        <a:t>v</a:t>
                      </a:r>
                      <a:endParaRPr lang="en-US" altLang="zh-CN" sz="12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lnSpc>
                          <a:spcPct val="110000"/>
                        </a:lnSpc>
                        <a:spcBef>
                          <a:spcPct val="10000"/>
                        </a:spcBef>
                        <a:buNone/>
                      </a:pPr>
                      <a:r>
                        <a:rPr lang="en-US" altLang="zh-CN" sz="1200" b="1" dirty="0">
                          <a:latin typeface="Times New Roman" pitchFamily="18" charset="0"/>
                        </a:rPr>
                        <a:t>name</a:t>
                      </a:r>
                      <a:endParaRPr lang="en-US" altLang="zh-CN" sz="12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lnSpc>
                          <a:spcPct val="110000"/>
                        </a:lnSpc>
                        <a:spcBef>
                          <a:spcPct val="10000"/>
                        </a:spcBef>
                        <a:buNone/>
                      </a:pPr>
                      <a:r>
                        <a:rPr lang="en-US" altLang="zh-CN" sz="1200" b="1" dirty="0">
                          <a:latin typeface="Times New Roman" pitchFamily="18" charset="0"/>
                        </a:rPr>
                        <a:t>……</a:t>
                      </a:r>
                      <a:endParaRPr lang="en-US" altLang="zh-CN" sz="12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79387">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8097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79388">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8097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79387">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8097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79388">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l" eaLnBrk="1" hangingPunct="1">
                        <a:lnSpc>
                          <a:spcPct val="110000"/>
                        </a:lnSpc>
                        <a:spcBef>
                          <a:spcPct val="10000"/>
                        </a:spcBef>
                        <a:buNone/>
                      </a:pPr>
                      <a:endParaRPr lang="zh-CN" altLang="zh-CN" sz="800" b="1" dirty="0">
                        <a:latin typeface="Times New Roman" pitchFamily="18" charset="0"/>
                      </a:endParaRPr>
                    </a:p>
                  </a:txBody>
                  <a:tcPr marL="23997" marR="23997" marT="18000" marB="180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58419" name="Group 50"/>
          <p:cNvGrpSpPr/>
          <p:nvPr/>
        </p:nvGrpSpPr>
        <p:grpSpPr>
          <a:xfrm>
            <a:off x="1481138" y="4965700"/>
            <a:ext cx="9705975" cy="1049338"/>
            <a:chOff x="700" y="3360"/>
            <a:chExt cx="4586" cy="661"/>
          </a:xfrm>
        </p:grpSpPr>
        <p:grpSp>
          <p:nvGrpSpPr>
            <p:cNvPr id="58575" name="Group 51"/>
            <p:cNvGrpSpPr/>
            <p:nvPr/>
          </p:nvGrpSpPr>
          <p:grpSpPr>
            <a:xfrm>
              <a:off x="805" y="3845"/>
              <a:ext cx="4118" cy="176"/>
              <a:chOff x="429" y="3453"/>
              <a:chExt cx="4118" cy="176"/>
            </a:xfrm>
          </p:grpSpPr>
          <p:grpSp>
            <p:nvGrpSpPr>
              <p:cNvPr id="58613" name="Group 52"/>
              <p:cNvGrpSpPr/>
              <p:nvPr/>
            </p:nvGrpSpPr>
            <p:grpSpPr>
              <a:xfrm>
                <a:off x="429" y="3453"/>
                <a:ext cx="1030" cy="176"/>
                <a:chOff x="429" y="3453"/>
                <a:chExt cx="1030" cy="176"/>
              </a:xfrm>
            </p:grpSpPr>
            <p:sp>
              <p:nvSpPr>
                <p:cNvPr id="58644" name="Rectangle 53"/>
                <p:cNvSpPr/>
                <p:nvPr/>
              </p:nvSpPr>
              <p:spPr>
                <a:xfrm>
                  <a:off x="1122" y="3453"/>
                  <a:ext cx="337"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src2</a:t>
                  </a:r>
                  <a:endParaRPr lang="en-US" altLang="zh-CN" sz="1600" b="1" dirty="0">
                    <a:latin typeface="宋体" panose="02000500000000000000" pitchFamily="2" charset="-122"/>
                  </a:endParaRPr>
                </a:p>
              </p:txBody>
            </p:sp>
            <p:sp>
              <p:nvSpPr>
                <p:cNvPr id="58645" name="Rectangle 54"/>
                <p:cNvSpPr/>
                <p:nvPr/>
              </p:nvSpPr>
              <p:spPr>
                <a:xfrm>
                  <a:off x="784" y="3453"/>
                  <a:ext cx="338"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src1</a:t>
                  </a:r>
                  <a:endParaRPr lang="en-US" altLang="zh-CN" sz="1600" b="1" dirty="0">
                    <a:latin typeface="宋体" panose="02000500000000000000" pitchFamily="2" charset="-122"/>
                  </a:endParaRPr>
                </a:p>
              </p:txBody>
            </p:sp>
            <p:sp>
              <p:nvSpPr>
                <p:cNvPr id="58646" name="Rectangle 55"/>
                <p:cNvSpPr/>
                <p:nvPr/>
              </p:nvSpPr>
              <p:spPr>
                <a:xfrm>
                  <a:off x="429" y="3453"/>
                  <a:ext cx="355"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dest</a:t>
                  </a:r>
                  <a:endParaRPr lang="en-US" altLang="zh-CN" sz="1600" b="1" dirty="0">
                    <a:latin typeface="宋体" panose="02000500000000000000" pitchFamily="2" charset="-122"/>
                  </a:endParaRPr>
                </a:p>
              </p:txBody>
            </p:sp>
            <p:sp>
              <p:nvSpPr>
                <p:cNvPr id="58647" name="Line 56"/>
                <p:cNvSpPr/>
                <p:nvPr/>
              </p:nvSpPr>
              <p:spPr>
                <a:xfrm>
                  <a:off x="429" y="3453"/>
                  <a:ext cx="1030" cy="0"/>
                </a:xfrm>
                <a:prstGeom prst="line">
                  <a:avLst/>
                </a:prstGeom>
                <a:ln w="28575" cap="sq" cmpd="sng">
                  <a:solidFill>
                    <a:schemeClr val="tx1"/>
                  </a:solidFill>
                  <a:prstDash val="solid"/>
                  <a:headEnd type="none" w="med" len="med"/>
                  <a:tailEnd type="none" w="med" len="med"/>
                </a:ln>
              </p:spPr>
            </p:sp>
            <p:sp>
              <p:nvSpPr>
                <p:cNvPr id="58648" name="Line 57"/>
                <p:cNvSpPr/>
                <p:nvPr/>
              </p:nvSpPr>
              <p:spPr>
                <a:xfrm>
                  <a:off x="429" y="3629"/>
                  <a:ext cx="1030" cy="0"/>
                </a:xfrm>
                <a:prstGeom prst="line">
                  <a:avLst/>
                </a:prstGeom>
                <a:ln w="28575" cap="sq" cmpd="sng">
                  <a:solidFill>
                    <a:schemeClr val="tx1"/>
                  </a:solidFill>
                  <a:prstDash val="solid"/>
                  <a:headEnd type="none" w="med" len="med"/>
                  <a:tailEnd type="none" w="med" len="med"/>
                </a:ln>
              </p:spPr>
            </p:sp>
            <p:sp>
              <p:nvSpPr>
                <p:cNvPr id="58649" name="Line 58"/>
                <p:cNvSpPr/>
                <p:nvPr/>
              </p:nvSpPr>
              <p:spPr>
                <a:xfrm>
                  <a:off x="429" y="3453"/>
                  <a:ext cx="0" cy="176"/>
                </a:xfrm>
                <a:prstGeom prst="line">
                  <a:avLst/>
                </a:prstGeom>
                <a:ln w="28575" cap="sq" cmpd="sng">
                  <a:solidFill>
                    <a:schemeClr val="tx1"/>
                  </a:solidFill>
                  <a:prstDash val="solid"/>
                  <a:headEnd type="none" w="med" len="med"/>
                  <a:tailEnd type="none" w="med" len="med"/>
                </a:ln>
              </p:spPr>
            </p:sp>
            <p:sp>
              <p:nvSpPr>
                <p:cNvPr id="58650" name="Line 59"/>
                <p:cNvSpPr/>
                <p:nvPr/>
              </p:nvSpPr>
              <p:spPr>
                <a:xfrm>
                  <a:off x="784" y="3453"/>
                  <a:ext cx="0" cy="176"/>
                </a:xfrm>
                <a:prstGeom prst="line">
                  <a:avLst/>
                </a:prstGeom>
                <a:ln w="12700" cap="flat" cmpd="sng">
                  <a:solidFill>
                    <a:schemeClr val="tx1"/>
                  </a:solidFill>
                  <a:prstDash val="solid"/>
                  <a:headEnd type="none" w="med" len="med"/>
                  <a:tailEnd type="none" w="med" len="med"/>
                </a:ln>
              </p:spPr>
            </p:sp>
            <p:sp>
              <p:nvSpPr>
                <p:cNvPr id="58651" name="Line 60"/>
                <p:cNvSpPr/>
                <p:nvPr/>
              </p:nvSpPr>
              <p:spPr>
                <a:xfrm>
                  <a:off x="1122" y="3453"/>
                  <a:ext cx="0" cy="176"/>
                </a:xfrm>
                <a:prstGeom prst="line">
                  <a:avLst/>
                </a:prstGeom>
                <a:ln w="12700" cap="flat" cmpd="sng">
                  <a:solidFill>
                    <a:schemeClr val="tx1"/>
                  </a:solidFill>
                  <a:prstDash val="solid"/>
                  <a:headEnd type="none" w="med" len="med"/>
                  <a:tailEnd type="none" w="med" len="med"/>
                </a:ln>
              </p:spPr>
            </p:sp>
            <p:sp>
              <p:nvSpPr>
                <p:cNvPr id="58652" name="Line 61"/>
                <p:cNvSpPr/>
                <p:nvPr/>
              </p:nvSpPr>
              <p:spPr>
                <a:xfrm>
                  <a:off x="1459" y="3453"/>
                  <a:ext cx="0" cy="176"/>
                </a:xfrm>
                <a:prstGeom prst="line">
                  <a:avLst/>
                </a:prstGeom>
                <a:ln w="28575" cap="sq" cmpd="sng">
                  <a:solidFill>
                    <a:schemeClr val="tx1"/>
                  </a:solidFill>
                  <a:prstDash val="solid"/>
                  <a:headEnd type="none" w="med" len="med"/>
                  <a:tailEnd type="none" w="med" len="med"/>
                </a:ln>
              </p:spPr>
            </p:sp>
          </p:grpSp>
          <p:grpSp>
            <p:nvGrpSpPr>
              <p:cNvPr id="58614" name="Group 62"/>
              <p:cNvGrpSpPr/>
              <p:nvPr/>
            </p:nvGrpSpPr>
            <p:grpSpPr>
              <a:xfrm>
                <a:off x="1461" y="3453"/>
                <a:ext cx="1030" cy="176"/>
                <a:chOff x="429" y="3453"/>
                <a:chExt cx="1030" cy="176"/>
              </a:xfrm>
            </p:grpSpPr>
            <p:sp>
              <p:nvSpPr>
                <p:cNvPr id="58635" name="Rectangle 63"/>
                <p:cNvSpPr/>
                <p:nvPr/>
              </p:nvSpPr>
              <p:spPr>
                <a:xfrm>
                  <a:off x="1122" y="3453"/>
                  <a:ext cx="337"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src2</a:t>
                  </a:r>
                  <a:endParaRPr lang="en-US" altLang="zh-CN" sz="1600" b="1" dirty="0">
                    <a:latin typeface="宋体" panose="02000500000000000000" pitchFamily="2" charset="-122"/>
                  </a:endParaRPr>
                </a:p>
              </p:txBody>
            </p:sp>
            <p:sp>
              <p:nvSpPr>
                <p:cNvPr id="58636" name="Rectangle 64"/>
                <p:cNvSpPr/>
                <p:nvPr/>
              </p:nvSpPr>
              <p:spPr>
                <a:xfrm>
                  <a:off x="784" y="3453"/>
                  <a:ext cx="338"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src1</a:t>
                  </a:r>
                  <a:endParaRPr lang="en-US" altLang="zh-CN" sz="1600" b="1" dirty="0">
                    <a:latin typeface="宋体" panose="02000500000000000000" pitchFamily="2" charset="-122"/>
                  </a:endParaRPr>
                </a:p>
              </p:txBody>
            </p:sp>
            <p:sp>
              <p:nvSpPr>
                <p:cNvPr id="58637" name="Rectangle 65"/>
                <p:cNvSpPr/>
                <p:nvPr/>
              </p:nvSpPr>
              <p:spPr>
                <a:xfrm>
                  <a:off x="429" y="3453"/>
                  <a:ext cx="355"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dest</a:t>
                  </a:r>
                  <a:endParaRPr lang="en-US" altLang="zh-CN" sz="1600" b="1" dirty="0">
                    <a:latin typeface="宋体" panose="02000500000000000000" pitchFamily="2" charset="-122"/>
                  </a:endParaRPr>
                </a:p>
              </p:txBody>
            </p:sp>
            <p:sp>
              <p:nvSpPr>
                <p:cNvPr id="58638" name="Line 66"/>
                <p:cNvSpPr/>
                <p:nvPr/>
              </p:nvSpPr>
              <p:spPr>
                <a:xfrm>
                  <a:off x="429" y="3453"/>
                  <a:ext cx="1030" cy="0"/>
                </a:xfrm>
                <a:prstGeom prst="line">
                  <a:avLst/>
                </a:prstGeom>
                <a:ln w="28575" cap="sq" cmpd="sng">
                  <a:solidFill>
                    <a:schemeClr val="tx1"/>
                  </a:solidFill>
                  <a:prstDash val="solid"/>
                  <a:headEnd type="none" w="med" len="med"/>
                  <a:tailEnd type="none" w="med" len="med"/>
                </a:ln>
              </p:spPr>
            </p:sp>
            <p:sp>
              <p:nvSpPr>
                <p:cNvPr id="58639" name="Line 67"/>
                <p:cNvSpPr/>
                <p:nvPr/>
              </p:nvSpPr>
              <p:spPr>
                <a:xfrm>
                  <a:off x="429" y="3629"/>
                  <a:ext cx="1030" cy="0"/>
                </a:xfrm>
                <a:prstGeom prst="line">
                  <a:avLst/>
                </a:prstGeom>
                <a:ln w="28575" cap="sq" cmpd="sng">
                  <a:solidFill>
                    <a:schemeClr val="tx1"/>
                  </a:solidFill>
                  <a:prstDash val="solid"/>
                  <a:headEnd type="none" w="med" len="med"/>
                  <a:tailEnd type="none" w="med" len="med"/>
                </a:ln>
              </p:spPr>
            </p:sp>
            <p:sp>
              <p:nvSpPr>
                <p:cNvPr id="58640" name="Line 68"/>
                <p:cNvSpPr/>
                <p:nvPr/>
              </p:nvSpPr>
              <p:spPr>
                <a:xfrm>
                  <a:off x="429" y="3453"/>
                  <a:ext cx="0" cy="176"/>
                </a:xfrm>
                <a:prstGeom prst="line">
                  <a:avLst/>
                </a:prstGeom>
                <a:ln w="28575" cap="sq" cmpd="sng">
                  <a:solidFill>
                    <a:schemeClr val="tx1"/>
                  </a:solidFill>
                  <a:prstDash val="solid"/>
                  <a:headEnd type="none" w="med" len="med"/>
                  <a:tailEnd type="none" w="med" len="med"/>
                </a:ln>
              </p:spPr>
            </p:sp>
            <p:sp>
              <p:nvSpPr>
                <p:cNvPr id="58641" name="Line 69"/>
                <p:cNvSpPr/>
                <p:nvPr/>
              </p:nvSpPr>
              <p:spPr>
                <a:xfrm>
                  <a:off x="784" y="3453"/>
                  <a:ext cx="0" cy="176"/>
                </a:xfrm>
                <a:prstGeom prst="line">
                  <a:avLst/>
                </a:prstGeom>
                <a:ln w="12700" cap="flat" cmpd="sng">
                  <a:solidFill>
                    <a:schemeClr val="tx1"/>
                  </a:solidFill>
                  <a:prstDash val="solid"/>
                  <a:headEnd type="none" w="med" len="med"/>
                  <a:tailEnd type="none" w="med" len="med"/>
                </a:ln>
              </p:spPr>
            </p:sp>
            <p:sp>
              <p:nvSpPr>
                <p:cNvPr id="58642" name="Line 70"/>
                <p:cNvSpPr/>
                <p:nvPr/>
              </p:nvSpPr>
              <p:spPr>
                <a:xfrm>
                  <a:off x="1122" y="3453"/>
                  <a:ext cx="0" cy="176"/>
                </a:xfrm>
                <a:prstGeom prst="line">
                  <a:avLst/>
                </a:prstGeom>
                <a:ln w="12700" cap="flat" cmpd="sng">
                  <a:solidFill>
                    <a:schemeClr val="tx1"/>
                  </a:solidFill>
                  <a:prstDash val="solid"/>
                  <a:headEnd type="none" w="med" len="med"/>
                  <a:tailEnd type="none" w="med" len="med"/>
                </a:ln>
              </p:spPr>
            </p:sp>
            <p:sp>
              <p:nvSpPr>
                <p:cNvPr id="58643" name="Line 71"/>
                <p:cNvSpPr/>
                <p:nvPr/>
              </p:nvSpPr>
              <p:spPr>
                <a:xfrm>
                  <a:off x="1459" y="3453"/>
                  <a:ext cx="0" cy="176"/>
                </a:xfrm>
                <a:prstGeom prst="line">
                  <a:avLst/>
                </a:prstGeom>
                <a:ln w="28575" cap="sq" cmpd="sng">
                  <a:solidFill>
                    <a:schemeClr val="tx1"/>
                  </a:solidFill>
                  <a:prstDash val="solid"/>
                  <a:headEnd type="none" w="med" len="med"/>
                  <a:tailEnd type="none" w="med" len="med"/>
                </a:ln>
              </p:spPr>
            </p:sp>
          </p:grpSp>
          <p:grpSp>
            <p:nvGrpSpPr>
              <p:cNvPr id="58615" name="Group 72"/>
              <p:cNvGrpSpPr/>
              <p:nvPr/>
            </p:nvGrpSpPr>
            <p:grpSpPr>
              <a:xfrm>
                <a:off x="2485" y="3453"/>
                <a:ext cx="1030" cy="176"/>
                <a:chOff x="429" y="3453"/>
                <a:chExt cx="1030" cy="176"/>
              </a:xfrm>
            </p:grpSpPr>
            <p:sp>
              <p:nvSpPr>
                <p:cNvPr id="58626" name="Rectangle 73"/>
                <p:cNvSpPr/>
                <p:nvPr/>
              </p:nvSpPr>
              <p:spPr>
                <a:xfrm>
                  <a:off x="1122" y="3453"/>
                  <a:ext cx="337"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src2</a:t>
                  </a:r>
                  <a:endParaRPr lang="en-US" altLang="zh-CN" sz="1600" b="1" dirty="0">
                    <a:latin typeface="宋体" panose="02000500000000000000" pitchFamily="2" charset="-122"/>
                  </a:endParaRPr>
                </a:p>
              </p:txBody>
            </p:sp>
            <p:sp>
              <p:nvSpPr>
                <p:cNvPr id="58627" name="Rectangle 74"/>
                <p:cNvSpPr/>
                <p:nvPr/>
              </p:nvSpPr>
              <p:spPr>
                <a:xfrm>
                  <a:off x="784" y="3453"/>
                  <a:ext cx="338"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src1</a:t>
                  </a:r>
                  <a:endParaRPr lang="en-US" altLang="zh-CN" sz="1600" b="1" dirty="0">
                    <a:latin typeface="宋体" panose="02000500000000000000" pitchFamily="2" charset="-122"/>
                  </a:endParaRPr>
                </a:p>
              </p:txBody>
            </p:sp>
            <p:sp>
              <p:nvSpPr>
                <p:cNvPr id="58628" name="Rectangle 75"/>
                <p:cNvSpPr/>
                <p:nvPr/>
              </p:nvSpPr>
              <p:spPr>
                <a:xfrm>
                  <a:off x="429" y="3453"/>
                  <a:ext cx="355"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dest</a:t>
                  </a:r>
                  <a:endParaRPr lang="en-US" altLang="zh-CN" sz="1600" b="1" dirty="0">
                    <a:latin typeface="宋体" panose="02000500000000000000" pitchFamily="2" charset="-122"/>
                  </a:endParaRPr>
                </a:p>
              </p:txBody>
            </p:sp>
            <p:sp>
              <p:nvSpPr>
                <p:cNvPr id="58629" name="Line 76"/>
                <p:cNvSpPr/>
                <p:nvPr/>
              </p:nvSpPr>
              <p:spPr>
                <a:xfrm>
                  <a:off x="429" y="3453"/>
                  <a:ext cx="1030" cy="0"/>
                </a:xfrm>
                <a:prstGeom prst="line">
                  <a:avLst/>
                </a:prstGeom>
                <a:ln w="28575" cap="sq" cmpd="sng">
                  <a:solidFill>
                    <a:schemeClr val="tx1"/>
                  </a:solidFill>
                  <a:prstDash val="solid"/>
                  <a:headEnd type="none" w="med" len="med"/>
                  <a:tailEnd type="none" w="med" len="med"/>
                </a:ln>
              </p:spPr>
            </p:sp>
            <p:sp>
              <p:nvSpPr>
                <p:cNvPr id="58630" name="Line 77"/>
                <p:cNvSpPr/>
                <p:nvPr/>
              </p:nvSpPr>
              <p:spPr>
                <a:xfrm>
                  <a:off x="429" y="3629"/>
                  <a:ext cx="1030" cy="0"/>
                </a:xfrm>
                <a:prstGeom prst="line">
                  <a:avLst/>
                </a:prstGeom>
                <a:ln w="28575" cap="sq" cmpd="sng">
                  <a:solidFill>
                    <a:schemeClr val="tx1"/>
                  </a:solidFill>
                  <a:prstDash val="solid"/>
                  <a:headEnd type="none" w="med" len="med"/>
                  <a:tailEnd type="none" w="med" len="med"/>
                </a:ln>
              </p:spPr>
            </p:sp>
            <p:sp>
              <p:nvSpPr>
                <p:cNvPr id="58631" name="Line 78"/>
                <p:cNvSpPr/>
                <p:nvPr/>
              </p:nvSpPr>
              <p:spPr>
                <a:xfrm>
                  <a:off x="429" y="3453"/>
                  <a:ext cx="0" cy="176"/>
                </a:xfrm>
                <a:prstGeom prst="line">
                  <a:avLst/>
                </a:prstGeom>
                <a:ln w="28575" cap="sq" cmpd="sng">
                  <a:solidFill>
                    <a:schemeClr val="tx1"/>
                  </a:solidFill>
                  <a:prstDash val="solid"/>
                  <a:headEnd type="none" w="med" len="med"/>
                  <a:tailEnd type="none" w="med" len="med"/>
                </a:ln>
              </p:spPr>
            </p:sp>
            <p:sp>
              <p:nvSpPr>
                <p:cNvPr id="58632" name="Line 79"/>
                <p:cNvSpPr/>
                <p:nvPr/>
              </p:nvSpPr>
              <p:spPr>
                <a:xfrm>
                  <a:off x="784" y="3453"/>
                  <a:ext cx="0" cy="176"/>
                </a:xfrm>
                <a:prstGeom prst="line">
                  <a:avLst/>
                </a:prstGeom>
                <a:ln w="12700" cap="flat" cmpd="sng">
                  <a:solidFill>
                    <a:schemeClr val="tx1"/>
                  </a:solidFill>
                  <a:prstDash val="solid"/>
                  <a:headEnd type="none" w="med" len="med"/>
                  <a:tailEnd type="none" w="med" len="med"/>
                </a:ln>
              </p:spPr>
            </p:sp>
            <p:sp>
              <p:nvSpPr>
                <p:cNvPr id="58633" name="Line 80"/>
                <p:cNvSpPr/>
                <p:nvPr/>
              </p:nvSpPr>
              <p:spPr>
                <a:xfrm>
                  <a:off x="1122" y="3453"/>
                  <a:ext cx="0" cy="176"/>
                </a:xfrm>
                <a:prstGeom prst="line">
                  <a:avLst/>
                </a:prstGeom>
                <a:ln w="12700" cap="flat" cmpd="sng">
                  <a:solidFill>
                    <a:schemeClr val="tx1"/>
                  </a:solidFill>
                  <a:prstDash val="solid"/>
                  <a:headEnd type="none" w="med" len="med"/>
                  <a:tailEnd type="none" w="med" len="med"/>
                </a:ln>
              </p:spPr>
            </p:sp>
            <p:sp>
              <p:nvSpPr>
                <p:cNvPr id="58634" name="Line 81"/>
                <p:cNvSpPr/>
                <p:nvPr/>
              </p:nvSpPr>
              <p:spPr>
                <a:xfrm>
                  <a:off x="1459" y="3453"/>
                  <a:ext cx="0" cy="176"/>
                </a:xfrm>
                <a:prstGeom prst="line">
                  <a:avLst/>
                </a:prstGeom>
                <a:ln w="28575" cap="sq" cmpd="sng">
                  <a:solidFill>
                    <a:schemeClr val="tx1"/>
                  </a:solidFill>
                  <a:prstDash val="solid"/>
                  <a:headEnd type="none" w="med" len="med"/>
                  <a:tailEnd type="none" w="med" len="med"/>
                </a:ln>
              </p:spPr>
            </p:sp>
          </p:grpSp>
          <p:grpSp>
            <p:nvGrpSpPr>
              <p:cNvPr id="58616" name="Group 82"/>
              <p:cNvGrpSpPr/>
              <p:nvPr/>
            </p:nvGrpSpPr>
            <p:grpSpPr>
              <a:xfrm>
                <a:off x="3517" y="3453"/>
                <a:ext cx="1030" cy="176"/>
                <a:chOff x="429" y="3453"/>
                <a:chExt cx="1030" cy="176"/>
              </a:xfrm>
            </p:grpSpPr>
            <p:sp>
              <p:nvSpPr>
                <p:cNvPr id="58617" name="Rectangle 83"/>
                <p:cNvSpPr/>
                <p:nvPr/>
              </p:nvSpPr>
              <p:spPr>
                <a:xfrm>
                  <a:off x="1122" y="3453"/>
                  <a:ext cx="337"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src2</a:t>
                  </a:r>
                  <a:endParaRPr lang="en-US" altLang="zh-CN" sz="1600" b="1" dirty="0">
                    <a:latin typeface="宋体" panose="02000500000000000000" pitchFamily="2" charset="-122"/>
                  </a:endParaRPr>
                </a:p>
              </p:txBody>
            </p:sp>
            <p:sp>
              <p:nvSpPr>
                <p:cNvPr id="58618" name="Rectangle 84"/>
                <p:cNvSpPr/>
                <p:nvPr/>
              </p:nvSpPr>
              <p:spPr>
                <a:xfrm>
                  <a:off x="784" y="3453"/>
                  <a:ext cx="338"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src1</a:t>
                  </a:r>
                  <a:endParaRPr lang="en-US" altLang="zh-CN" sz="1600" b="1" dirty="0">
                    <a:latin typeface="宋体" panose="02000500000000000000" pitchFamily="2" charset="-122"/>
                  </a:endParaRPr>
                </a:p>
              </p:txBody>
            </p:sp>
            <p:sp>
              <p:nvSpPr>
                <p:cNvPr id="58619" name="Rectangle 85"/>
                <p:cNvSpPr/>
                <p:nvPr/>
              </p:nvSpPr>
              <p:spPr>
                <a:xfrm>
                  <a:off x="429" y="3453"/>
                  <a:ext cx="355" cy="176"/>
                </a:xfrm>
                <a:prstGeom prst="rect">
                  <a:avLst/>
                </a:prstGeom>
                <a:noFill/>
                <a:ln w="9525">
                  <a:noFill/>
                </a:ln>
              </p:spPr>
              <p:txBody>
                <a:bodyPr lIns="18000" tIns="18000" rIns="18000" bIns="18000"/>
                <a:p>
                  <a:pPr>
                    <a:lnSpc>
                      <a:spcPct val="110000"/>
                    </a:lnSpc>
                    <a:spcBef>
                      <a:spcPct val="10000"/>
                    </a:spcBef>
                  </a:pPr>
                  <a:r>
                    <a:rPr lang="en-US" altLang="zh-CN" sz="1600" b="1" dirty="0">
                      <a:latin typeface="宋体" panose="02000500000000000000" pitchFamily="2" charset="-122"/>
                    </a:rPr>
                    <a:t>dest</a:t>
                  </a:r>
                  <a:endParaRPr lang="en-US" altLang="zh-CN" sz="1600" b="1" dirty="0">
                    <a:latin typeface="宋体" panose="02000500000000000000" pitchFamily="2" charset="-122"/>
                  </a:endParaRPr>
                </a:p>
              </p:txBody>
            </p:sp>
            <p:sp>
              <p:nvSpPr>
                <p:cNvPr id="58620" name="Line 86"/>
                <p:cNvSpPr/>
                <p:nvPr/>
              </p:nvSpPr>
              <p:spPr>
                <a:xfrm>
                  <a:off x="429" y="3453"/>
                  <a:ext cx="1030" cy="0"/>
                </a:xfrm>
                <a:prstGeom prst="line">
                  <a:avLst/>
                </a:prstGeom>
                <a:ln w="28575" cap="sq" cmpd="sng">
                  <a:solidFill>
                    <a:schemeClr val="tx1"/>
                  </a:solidFill>
                  <a:prstDash val="solid"/>
                  <a:headEnd type="none" w="med" len="med"/>
                  <a:tailEnd type="none" w="med" len="med"/>
                </a:ln>
              </p:spPr>
            </p:sp>
            <p:sp>
              <p:nvSpPr>
                <p:cNvPr id="58621" name="Line 87"/>
                <p:cNvSpPr/>
                <p:nvPr/>
              </p:nvSpPr>
              <p:spPr>
                <a:xfrm>
                  <a:off x="429" y="3629"/>
                  <a:ext cx="1030" cy="0"/>
                </a:xfrm>
                <a:prstGeom prst="line">
                  <a:avLst/>
                </a:prstGeom>
                <a:ln w="28575" cap="sq" cmpd="sng">
                  <a:solidFill>
                    <a:schemeClr val="tx1"/>
                  </a:solidFill>
                  <a:prstDash val="solid"/>
                  <a:headEnd type="none" w="med" len="med"/>
                  <a:tailEnd type="none" w="med" len="med"/>
                </a:ln>
              </p:spPr>
            </p:sp>
            <p:sp>
              <p:nvSpPr>
                <p:cNvPr id="58622" name="Line 88"/>
                <p:cNvSpPr/>
                <p:nvPr/>
              </p:nvSpPr>
              <p:spPr>
                <a:xfrm>
                  <a:off x="429" y="3453"/>
                  <a:ext cx="0" cy="176"/>
                </a:xfrm>
                <a:prstGeom prst="line">
                  <a:avLst/>
                </a:prstGeom>
                <a:ln w="28575" cap="sq" cmpd="sng">
                  <a:solidFill>
                    <a:schemeClr val="tx1"/>
                  </a:solidFill>
                  <a:prstDash val="solid"/>
                  <a:headEnd type="none" w="med" len="med"/>
                  <a:tailEnd type="none" w="med" len="med"/>
                </a:ln>
              </p:spPr>
            </p:sp>
            <p:sp>
              <p:nvSpPr>
                <p:cNvPr id="58623" name="Line 89"/>
                <p:cNvSpPr/>
                <p:nvPr/>
              </p:nvSpPr>
              <p:spPr>
                <a:xfrm>
                  <a:off x="784" y="3453"/>
                  <a:ext cx="0" cy="176"/>
                </a:xfrm>
                <a:prstGeom prst="line">
                  <a:avLst/>
                </a:prstGeom>
                <a:ln w="12700" cap="flat" cmpd="sng">
                  <a:solidFill>
                    <a:schemeClr val="tx1"/>
                  </a:solidFill>
                  <a:prstDash val="solid"/>
                  <a:headEnd type="none" w="med" len="med"/>
                  <a:tailEnd type="none" w="med" len="med"/>
                </a:ln>
              </p:spPr>
            </p:sp>
            <p:sp>
              <p:nvSpPr>
                <p:cNvPr id="58624" name="Line 90"/>
                <p:cNvSpPr/>
                <p:nvPr/>
              </p:nvSpPr>
              <p:spPr>
                <a:xfrm>
                  <a:off x="1122" y="3453"/>
                  <a:ext cx="0" cy="176"/>
                </a:xfrm>
                <a:prstGeom prst="line">
                  <a:avLst/>
                </a:prstGeom>
                <a:ln w="12700" cap="flat" cmpd="sng">
                  <a:solidFill>
                    <a:schemeClr val="tx1"/>
                  </a:solidFill>
                  <a:prstDash val="solid"/>
                  <a:headEnd type="none" w="med" len="med"/>
                  <a:tailEnd type="none" w="med" len="med"/>
                </a:ln>
              </p:spPr>
            </p:sp>
            <p:sp>
              <p:nvSpPr>
                <p:cNvPr id="58625" name="Line 91"/>
                <p:cNvSpPr/>
                <p:nvPr/>
              </p:nvSpPr>
              <p:spPr>
                <a:xfrm>
                  <a:off x="1459" y="3453"/>
                  <a:ext cx="0" cy="176"/>
                </a:xfrm>
                <a:prstGeom prst="line">
                  <a:avLst/>
                </a:prstGeom>
                <a:ln w="28575" cap="sq" cmpd="sng">
                  <a:solidFill>
                    <a:schemeClr val="tx1"/>
                  </a:solidFill>
                  <a:prstDash val="solid"/>
                  <a:headEnd type="none" w="med" len="med"/>
                  <a:tailEnd type="none" w="med" len="med"/>
                </a:ln>
              </p:spPr>
            </p:sp>
          </p:grpSp>
        </p:grpSp>
        <p:sp>
          <p:nvSpPr>
            <p:cNvPr id="58576" name="Line 92"/>
            <p:cNvSpPr/>
            <p:nvPr/>
          </p:nvSpPr>
          <p:spPr>
            <a:xfrm flipV="1">
              <a:off x="700" y="3593"/>
              <a:ext cx="4586" cy="8"/>
            </a:xfrm>
            <a:prstGeom prst="line">
              <a:avLst/>
            </a:prstGeom>
            <a:ln w="38100" cap="flat" cmpd="sng">
              <a:solidFill>
                <a:schemeClr val="tx1"/>
              </a:solidFill>
              <a:prstDash val="solid"/>
              <a:headEnd type="triangle" w="med" len="med"/>
              <a:tailEnd type="triangle" w="med" len="med"/>
            </a:ln>
          </p:spPr>
        </p:sp>
        <p:sp>
          <p:nvSpPr>
            <p:cNvPr id="58577" name="Line 93"/>
            <p:cNvSpPr/>
            <p:nvPr/>
          </p:nvSpPr>
          <p:spPr>
            <a:xfrm flipV="1">
              <a:off x="976" y="3608"/>
              <a:ext cx="0" cy="232"/>
            </a:xfrm>
            <a:prstGeom prst="line">
              <a:avLst/>
            </a:prstGeom>
            <a:ln w="9525" cap="flat" cmpd="sng">
              <a:solidFill>
                <a:schemeClr val="accent2"/>
              </a:solidFill>
              <a:prstDash val="solid"/>
              <a:headEnd type="none" w="med" len="med"/>
              <a:tailEnd type="triangle" w="med" len="med"/>
            </a:ln>
          </p:spPr>
        </p:sp>
        <p:sp>
          <p:nvSpPr>
            <p:cNvPr id="58578" name="Line 94"/>
            <p:cNvSpPr/>
            <p:nvPr/>
          </p:nvSpPr>
          <p:spPr>
            <a:xfrm flipV="1">
              <a:off x="1328" y="3608"/>
              <a:ext cx="0" cy="232"/>
            </a:xfrm>
            <a:prstGeom prst="line">
              <a:avLst/>
            </a:prstGeom>
            <a:ln w="9525" cap="flat" cmpd="sng">
              <a:solidFill>
                <a:schemeClr val="tx1"/>
              </a:solidFill>
              <a:prstDash val="solid"/>
              <a:headEnd type="none" w="med" len="med"/>
              <a:tailEnd type="triangle" w="med" len="med"/>
            </a:ln>
          </p:spPr>
        </p:sp>
        <p:sp>
          <p:nvSpPr>
            <p:cNvPr id="58579" name="Line 95"/>
            <p:cNvSpPr/>
            <p:nvPr/>
          </p:nvSpPr>
          <p:spPr>
            <a:xfrm flipV="1">
              <a:off x="1664" y="3608"/>
              <a:ext cx="0" cy="232"/>
            </a:xfrm>
            <a:prstGeom prst="line">
              <a:avLst/>
            </a:prstGeom>
            <a:ln w="9525" cap="flat" cmpd="sng">
              <a:solidFill>
                <a:schemeClr val="tx1"/>
              </a:solidFill>
              <a:prstDash val="solid"/>
              <a:headEnd type="none" w="med" len="med"/>
              <a:tailEnd type="triangle" w="med" len="med"/>
            </a:ln>
          </p:spPr>
        </p:sp>
        <p:sp>
          <p:nvSpPr>
            <p:cNvPr id="58580" name="Line 96"/>
            <p:cNvSpPr/>
            <p:nvPr/>
          </p:nvSpPr>
          <p:spPr>
            <a:xfrm flipV="1">
              <a:off x="2008" y="3600"/>
              <a:ext cx="0" cy="232"/>
            </a:xfrm>
            <a:prstGeom prst="line">
              <a:avLst/>
            </a:prstGeom>
            <a:ln w="9525" cap="flat" cmpd="sng">
              <a:solidFill>
                <a:schemeClr val="accent2"/>
              </a:solidFill>
              <a:prstDash val="solid"/>
              <a:headEnd type="none" w="med" len="med"/>
              <a:tailEnd type="triangle" w="med" len="med"/>
            </a:ln>
          </p:spPr>
        </p:sp>
        <p:sp>
          <p:nvSpPr>
            <p:cNvPr id="58581" name="Line 97"/>
            <p:cNvSpPr/>
            <p:nvPr/>
          </p:nvSpPr>
          <p:spPr>
            <a:xfrm flipV="1">
              <a:off x="2360" y="3600"/>
              <a:ext cx="0" cy="232"/>
            </a:xfrm>
            <a:prstGeom prst="line">
              <a:avLst/>
            </a:prstGeom>
            <a:ln w="9525" cap="flat" cmpd="sng">
              <a:solidFill>
                <a:schemeClr val="tx1"/>
              </a:solidFill>
              <a:prstDash val="solid"/>
              <a:headEnd type="none" w="med" len="med"/>
              <a:tailEnd type="triangle" w="med" len="med"/>
            </a:ln>
          </p:spPr>
        </p:sp>
        <p:sp>
          <p:nvSpPr>
            <p:cNvPr id="58582" name="Line 98"/>
            <p:cNvSpPr/>
            <p:nvPr/>
          </p:nvSpPr>
          <p:spPr>
            <a:xfrm flipV="1">
              <a:off x="2696" y="3600"/>
              <a:ext cx="0" cy="232"/>
            </a:xfrm>
            <a:prstGeom prst="line">
              <a:avLst/>
            </a:prstGeom>
            <a:ln w="9525" cap="flat" cmpd="sng">
              <a:solidFill>
                <a:schemeClr val="tx1"/>
              </a:solidFill>
              <a:prstDash val="solid"/>
              <a:headEnd type="none" w="med" len="med"/>
              <a:tailEnd type="triangle" w="med" len="med"/>
            </a:ln>
          </p:spPr>
        </p:sp>
        <p:sp>
          <p:nvSpPr>
            <p:cNvPr id="58583" name="Line 99"/>
            <p:cNvSpPr/>
            <p:nvPr/>
          </p:nvSpPr>
          <p:spPr>
            <a:xfrm flipV="1">
              <a:off x="3032" y="3600"/>
              <a:ext cx="0" cy="232"/>
            </a:xfrm>
            <a:prstGeom prst="line">
              <a:avLst/>
            </a:prstGeom>
            <a:ln w="9525" cap="flat" cmpd="sng">
              <a:solidFill>
                <a:schemeClr val="accent2"/>
              </a:solidFill>
              <a:prstDash val="solid"/>
              <a:headEnd type="none" w="med" len="med"/>
              <a:tailEnd type="triangle" w="med" len="med"/>
            </a:ln>
          </p:spPr>
        </p:sp>
        <p:sp>
          <p:nvSpPr>
            <p:cNvPr id="58584" name="Line 100"/>
            <p:cNvSpPr/>
            <p:nvPr/>
          </p:nvSpPr>
          <p:spPr>
            <a:xfrm flipV="1">
              <a:off x="3384" y="3600"/>
              <a:ext cx="0" cy="232"/>
            </a:xfrm>
            <a:prstGeom prst="line">
              <a:avLst/>
            </a:prstGeom>
            <a:ln w="9525" cap="flat" cmpd="sng">
              <a:solidFill>
                <a:schemeClr val="tx1"/>
              </a:solidFill>
              <a:prstDash val="solid"/>
              <a:headEnd type="none" w="med" len="med"/>
              <a:tailEnd type="triangle" w="med" len="med"/>
            </a:ln>
          </p:spPr>
        </p:sp>
        <p:sp>
          <p:nvSpPr>
            <p:cNvPr id="58585" name="Line 101"/>
            <p:cNvSpPr/>
            <p:nvPr/>
          </p:nvSpPr>
          <p:spPr>
            <a:xfrm flipV="1">
              <a:off x="3720" y="3600"/>
              <a:ext cx="0" cy="232"/>
            </a:xfrm>
            <a:prstGeom prst="line">
              <a:avLst/>
            </a:prstGeom>
            <a:ln w="9525" cap="flat" cmpd="sng">
              <a:solidFill>
                <a:schemeClr val="tx1"/>
              </a:solidFill>
              <a:prstDash val="solid"/>
              <a:headEnd type="none" w="med" len="med"/>
              <a:tailEnd type="triangle" w="med" len="med"/>
            </a:ln>
          </p:spPr>
        </p:sp>
        <p:sp>
          <p:nvSpPr>
            <p:cNvPr id="58586" name="Line 102"/>
            <p:cNvSpPr/>
            <p:nvPr/>
          </p:nvSpPr>
          <p:spPr>
            <a:xfrm flipV="1">
              <a:off x="4056" y="3608"/>
              <a:ext cx="0" cy="232"/>
            </a:xfrm>
            <a:prstGeom prst="line">
              <a:avLst/>
            </a:prstGeom>
            <a:ln w="9525" cap="flat" cmpd="sng">
              <a:solidFill>
                <a:schemeClr val="accent2"/>
              </a:solidFill>
              <a:prstDash val="solid"/>
              <a:headEnd type="none" w="med" len="med"/>
              <a:tailEnd type="triangle" w="med" len="med"/>
            </a:ln>
          </p:spPr>
        </p:sp>
        <p:sp>
          <p:nvSpPr>
            <p:cNvPr id="58587" name="Line 103"/>
            <p:cNvSpPr/>
            <p:nvPr/>
          </p:nvSpPr>
          <p:spPr>
            <a:xfrm flipV="1">
              <a:off x="4408" y="3608"/>
              <a:ext cx="0" cy="232"/>
            </a:xfrm>
            <a:prstGeom prst="line">
              <a:avLst/>
            </a:prstGeom>
            <a:ln w="9525" cap="flat" cmpd="sng">
              <a:solidFill>
                <a:schemeClr val="tx1"/>
              </a:solidFill>
              <a:prstDash val="solid"/>
              <a:headEnd type="none" w="med" len="med"/>
              <a:tailEnd type="triangle" w="med" len="med"/>
            </a:ln>
          </p:spPr>
        </p:sp>
        <p:sp>
          <p:nvSpPr>
            <p:cNvPr id="58588" name="Line 104"/>
            <p:cNvSpPr/>
            <p:nvPr/>
          </p:nvSpPr>
          <p:spPr>
            <a:xfrm flipV="1">
              <a:off x="4744" y="3608"/>
              <a:ext cx="0" cy="232"/>
            </a:xfrm>
            <a:prstGeom prst="line">
              <a:avLst/>
            </a:prstGeom>
            <a:ln w="9525" cap="flat" cmpd="sng">
              <a:solidFill>
                <a:schemeClr val="tx1"/>
              </a:solidFill>
              <a:prstDash val="solid"/>
              <a:headEnd type="none" w="med" len="med"/>
              <a:tailEnd type="triangle" w="med" len="med"/>
            </a:ln>
          </p:spPr>
        </p:sp>
        <p:sp>
          <p:nvSpPr>
            <p:cNvPr id="58589" name="Line 105"/>
            <p:cNvSpPr/>
            <p:nvPr/>
          </p:nvSpPr>
          <p:spPr>
            <a:xfrm flipV="1">
              <a:off x="1416" y="3360"/>
              <a:ext cx="0" cy="232"/>
            </a:xfrm>
            <a:prstGeom prst="line">
              <a:avLst/>
            </a:prstGeom>
            <a:ln w="9525" cap="flat" cmpd="sng">
              <a:solidFill>
                <a:schemeClr val="tx1"/>
              </a:solidFill>
              <a:prstDash val="solid"/>
              <a:headEnd type="none" w="med" len="med"/>
              <a:tailEnd type="triangle" w="med" len="med"/>
            </a:ln>
          </p:spPr>
        </p:sp>
        <p:sp>
          <p:nvSpPr>
            <p:cNvPr id="58590" name="Line 106"/>
            <p:cNvSpPr/>
            <p:nvPr/>
          </p:nvSpPr>
          <p:spPr>
            <a:xfrm flipV="1">
              <a:off x="1456" y="3360"/>
              <a:ext cx="0" cy="232"/>
            </a:xfrm>
            <a:prstGeom prst="line">
              <a:avLst/>
            </a:prstGeom>
            <a:ln w="9525" cap="flat" cmpd="sng">
              <a:solidFill>
                <a:schemeClr val="tx1"/>
              </a:solidFill>
              <a:prstDash val="solid"/>
              <a:headEnd type="none" w="med" len="med"/>
              <a:tailEnd type="triangle" w="med" len="med"/>
            </a:ln>
          </p:spPr>
        </p:sp>
        <p:sp>
          <p:nvSpPr>
            <p:cNvPr id="58591" name="Line 107"/>
            <p:cNvSpPr/>
            <p:nvPr/>
          </p:nvSpPr>
          <p:spPr>
            <a:xfrm flipV="1">
              <a:off x="1496" y="3360"/>
              <a:ext cx="0" cy="232"/>
            </a:xfrm>
            <a:prstGeom prst="line">
              <a:avLst/>
            </a:prstGeom>
            <a:ln w="9525" cap="flat" cmpd="sng">
              <a:solidFill>
                <a:schemeClr val="tx1"/>
              </a:solidFill>
              <a:prstDash val="solid"/>
              <a:headEnd type="none" w="med" len="med"/>
              <a:tailEnd type="triangle" w="med" len="med"/>
            </a:ln>
          </p:spPr>
        </p:sp>
        <p:sp>
          <p:nvSpPr>
            <p:cNvPr id="58592" name="Line 108"/>
            <p:cNvSpPr/>
            <p:nvPr/>
          </p:nvSpPr>
          <p:spPr>
            <a:xfrm flipV="1">
              <a:off x="1536" y="3360"/>
              <a:ext cx="0" cy="232"/>
            </a:xfrm>
            <a:prstGeom prst="line">
              <a:avLst/>
            </a:prstGeom>
            <a:ln w="9525" cap="flat" cmpd="sng">
              <a:solidFill>
                <a:schemeClr val="tx1"/>
              </a:solidFill>
              <a:prstDash val="solid"/>
              <a:headEnd type="none" w="med" len="med"/>
              <a:tailEnd type="triangle" w="med" len="med"/>
            </a:ln>
          </p:spPr>
        </p:sp>
        <p:sp>
          <p:nvSpPr>
            <p:cNvPr id="58593" name="Line 109"/>
            <p:cNvSpPr/>
            <p:nvPr/>
          </p:nvSpPr>
          <p:spPr>
            <a:xfrm flipV="1">
              <a:off x="1576" y="3360"/>
              <a:ext cx="0" cy="232"/>
            </a:xfrm>
            <a:prstGeom prst="line">
              <a:avLst/>
            </a:prstGeom>
            <a:ln w="9525" cap="flat" cmpd="sng">
              <a:solidFill>
                <a:schemeClr val="tx1"/>
              </a:solidFill>
              <a:prstDash val="solid"/>
              <a:headEnd type="none" w="med" len="med"/>
              <a:tailEnd type="triangle" w="med" len="med"/>
            </a:ln>
          </p:spPr>
        </p:sp>
        <p:sp>
          <p:nvSpPr>
            <p:cNvPr id="58594" name="Line 110"/>
            <p:cNvSpPr/>
            <p:nvPr/>
          </p:nvSpPr>
          <p:spPr>
            <a:xfrm flipV="1">
              <a:off x="1616" y="3360"/>
              <a:ext cx="0" cy="232"/>
            </a:xfrm>
            <a:prstGeom prst="line">
              <a:avLst/>
            </a:prstGeom>
            <a:ln w="9525" cap="flat" cmpd="sng">
              <a:solidFill>
                <a:schemeClr val="tx1"/>
              </a:solidFill>
              <a:prstDash val="solid"/>
              <a:headEnd type="none" w="med" len="med"/>
              <a:tailEnd type="triangle" w="med" len="med"/>
            </a:ln>
          </p:spPr>
        </p:sp>
        <p:sp>
          <p:nvSpPr>
            <p:cNvPr id="58595" name="Line 111"/>
            <p:cNvSpPr/>
            <p:nvPr/>
          </p:nvSpPr>
          <p:spPr>
            <a:xfrm flipV="1">
              <a:off x="1656" y="3360"/>
              <a:ext cx="0" cy="232"/>
            </a:xfrm>
            <a:prstGeom prst="line">
              <a:avLst/>
            </a:prstGeom>
            <a:ln w="9525" cap="flat" cmpd="sng">
              <a:solidFill>
                <a:schemeClr val="tx1"/>
              </a:solidFill>
              <a:prstDash val="solid"/>
              <a:headEnd type="none" w="med" len="med"/>
              <a:tailEnd type="triangle" w="med" len="med"/>
            </a:ln>
          </p:spPr>
        </p:sp>
        <p:sp>
          <p:nvSpPr>
            <p:cNvPr id="58596" name="Line 112"/>
            <p:cNvSpPr/>
            <p:nvPr/>
          </p:nvSpPr>
          <p:spPr>
            <a:xfrm flipV="1">
              <a:off x="1696" y="3360"/>
              <a:ext cx="0" cy="232"/>
            </a:xfrm>
            <a:prstGeom prst="line">
              <a:avLst/>
            </a:prstGeom>
            <a:ln w="9525" cap="flat" cmpd="sng">
              <a:solidFill>
                <a:schemeClr val="tx1"/>
              </a:solidFill>
              <a:prstDash val="solid"/>
              <a:headEnd type="none" w="med" len="med"/>
              <a:tailEnd type="triangle" w="med" len="med"/>
            </a:ln>
          </p:spPr>
        </p:sp>
        <p:sp>
          <p:nvSpPr>
            <p:cNvPr id="58597" name="Line 113"/>
            <p:cNvSpPr/>
            <p:nvPr/>
          </p:nvSpPr>
          <p:spPr>
            <a:xfrm flipV="1">
              <a:off x="1736" y="3360"/>
              <a:ext cx="0" cy="232"/>
            </a:xfrm>
            <a:prstGeom prst="line">
              <a:avLst/>
            </a:prstGeom>
            <a:ln w="9525" cap="flat" cmpd="sng">
              <a:solidFill>
                <a:schemeClr val="tx1"/>
              </a:solidFill>
              <a:prstDash val="solid"/>
              <a:headEnd type="none" w="med" len="med"/>
              <a:tailEnd type="triangle" w="med" len="med"/>
            </a:ln>
          </p:spPr>
        </p:sp>
        <p:sp>
          <p:nvSpPr>
            <p:cNvPr id="58598" name="Line 114"/>
            <p:cNvSpPr/>
            <p:nvPr/>
          </p:nvSpPr>
          <p:spPr>
            <a:xfrm flipV="1">
              <a:off x="1776" y="3360"/>
              <a:ext cx="0" cy="232"/>
            </a:xfrm>
            <a:prstGeom prst="line">
              <a:avLst/>
            </a:prstGeom>
            <a:ln w="9525" cap="flat" cmpd="sng">
              <a:solidFill>
                <a:schemeClr val="tx1"/>
              </a:solidFill>
              <a:prstDash val="solid"/>
              <a:headEnd type="none" w="med" len="med"/>
              <a:tailEnd type="triangle" w="med" len="med"/>
            </a:ln>
          </p:spPr>
        </p:sp>
        <p:sp>
          <p:nvSpPr>
            <p:cNvPr id="58599" name="Line 115"/>
            <p:cNvSpPr/>
            <p:nvPr/>
          </p:nvSpPr>
          <p:spPr>
            <a:xfrm flipV="1">
              <a:off x="1816" y="3360"/>
              <a:ext cx="0" cy="232"/>
            </a:xfrm>
            <a:prstGeom prst="line">
              <a:avLst/>
            </a:prstGeom>
            <a:ln w="9525" cap="flat" cmpd="sng">
              <a:solidFill>
                <a:schemeClr val="tx1"/>
              </a:solidFill>
              <a:prstDash val="solid"/>
              <a:headEnd type="none" w="med" len="med"/>
              <a:tailEnd type="triangle" w="med" len="med"/>
            </a:ln>
          </p:spPr>
        </p:sp>
        <p:sp>
          <p:nvSpPr>
            <p:cNvPr id="58600" name="Line 116"/>
            <p:cNvSpPr/>
            <p:nvPr/>
          </p:nvSpPr>
          <p:spPr>
            <a:xfrm flipV="1">
              <a:off x="1856" y="3360"/>
              <a:ext cx="0" cy="232"/>
            </a:xfrm>
            <a:prstGeom prst="line">
              <a:avLst/>
            </a:prstGeom>
            <a:ln w="9525" cap="flat" cmpd="sng">
              <a:solidFill>
                <a:schemeClr val="tx1"/>
              </a:solidFill>
              <a:prstDash val="solid"/>
              <a:headEnd type="none" w="med" len="med"/>
              <a:tailEnd type="triangle" w="med" len="med"/>
            </a:ln>
          </p:spPr>
        </p:sp>
        <p:sp>
          <p:nvSpPr>
            <p:cNvPr id="58601" name="Line 117"/>
            <p:cNvSpPr/>
            <p:nvPr/>
          </p:nvSpPr>
          <p:spPr>
            <a:xfrm flipV="1">
              <a:off x="3520" y="3360"/>
              <a:ext cx="0" cy="232"/>
            </a:xfrm>
            <a:prstGeom prst="line">
              <a:avLst/>
            </a:prstGeom>
            <a:ln w="9525" cap="flat" cmpd="sng">
              <a:solidFill>
                <a:schemeClr val="tx1"/>
              </a:solidFill>
              <a:prstDash val="solid"/>
              <a:headEnd type="none" w="med" len="med"/>
              <a:tailEnd type="triangle" w="med" len="med"/>
            </a:ln>
          </p:spPr>
        </p:sp>
        <p:sp>
          <p:nvSpPr>
            <p:cNvPr id="58602" name="Line 118"/>
            <p:cNvSpPr/>
            <p:nvPr/>
          </p:nvSpPr>
          <p:spPr>
            <a:xfrm flipV="1">
              <a:off x="3560" y="3360"/>
              <a:ext cx="0" cy="232"/>
            </a:xfrm>
            <a:prstGeom prst="line">
              <a:avLst/>
            </a:prstGeom>
            <a:ln w="9525" cap="flat" cmpd="sng">
              <a:solidFill>
                <a:schemeClr val="tx1"/>
              </a:solidFill>
              <a:prstDash val="solid"/>
              <a:headEnd type="none" w="med" len="med"/>
              <a:tailEnd type="triangle" w="med" len="med"/>
            </a:ln>
          </p:spPr>
        </p:sp>
        <p:sp>
          <p:nvSpPr>
            <p:cNvPr id="58603" name="Line 119"/>
            <p:cNvSpPr/>
            <p:nvPr/>
          </p:nvSpPr>
          <p:spPr>
            <a:xfrm flipV="1">
              <a:off x="3600" y="3360"/>
              <a:ext cx="0" cy="232"/>
            </a:xfrm>
            <a:prstGeom prst="line">
              <a:avLst/>
            </a:prstGeom>
            <a:ln w="9525" cap="flat" cmpd="sng">
              <a:solidFill>
                <a:schemeClr val="tx1"/>
              </a:solidFill>
              <a:prstDash val="solid"/>
              <a:headEnd type="none" w="med" len="med"/>
              <a:tailEnd type="triangle" w="med" len="med"/>
            </a:ln>
          </p:spPr>
        </p:sp>
        <p:sp>
          <p:nvSpPr>
            <p:cNvPr id="58604" name="Line 120"/>
            <p:cNvSpPr/>
            <p:nvPr/>
          </p:nvSpPr>
          <p:spPr>
            <a:xfrm flipV="1">
              <a:off x="3640" y="3360"/>
              <a:ext cx="0" cy="232"/>
            </a:xfrm>
            <a:prstGeom prst="line">
              <a:avLst/>
            </a:prstGeom>
            <a:ln w="9525" cap="flat" cmpd="sng">
              <a:solidFill>
                <a:schemeClr val="tx1"/>
              </a:solidFill>
              <a:prstDash val="solid"/>
              <a:headEnd type="none" w="med" len="med"/>
              <a:tailEnd type="triangle" w="med" len="med"/>
            </a:ln>
          </p:spPr>
        </p:sp>
        <p:sp>
          <p:nvSpPr>
            <p:cNvPr id="58605" name="Line 121"/>
            <p:cNvSpPr/>
            <p:nvPr/>
          </p:nvSpPr>
          <p:spPr>
            <a:xfrm flipV="1">
              <a:off x="3680" y="3360"/>
              <a:ext cx="0" cy="232"/>
            </a:xfrm>
            <a:prstGeom prst="line">
              <a:avLst/>
            </a:prstGeom>
            <a:ln w="9525" cap="flat" cmpd="sng">
              <a:solidFill>
                <a:schemeClr val="tx1"/>
              </a:solidFill>
              <a:prstDash val="solid"/>
              <a:headEnd type="none" w="med" len="med"/>
              <a:tailEnd type="triangle" w="med" len="med"/>
            </a:ln>
          </p:spPr>
        </p:sp>
        <p:sp>
          <p:nvSpPr>
            <p:cNvPr id="58606" name="Line 122"/>
            <p:cNvSpPr/>
            <p:nvPr/>
          </p:nvSpPr>
          <p:spPr>
            <a:xfrm flipV="1">
              <a:off x="3720" y="3360"/>
              <a:ext cx="0" cy="232"/>
            </a:xfrm>
            <a:prstGeom prst="line">
              <a:avLst/>
            </a:prstGeom>
            <a:ln w="9525" cap="flat" cmpd="sng">
              <a:solidFill>
                <a:schemeClr val="tx1"/>
              </a:solidFill>
              <a:prstDash val="solid"/>
              <a:headEnd type="none" w="med" len="med"/>
              <a:tailEnd type="triangle" w="med" len="med"/>
            </a:ln>
          </p:spPr>
        </p:sp>
        <p:sp>
          <p:nvSpPr>
            <p:cNvPr id="58607" name="Line 123"/>
            <p:cNvSpPr/>
            <p:nvPr/>
          </p:nvSpPr>
          <p:spPr>
            <a:xfrm flipV="1">
              <a:off x="3760" y="3360"/>
              <a:ext cx="0" cy="232"/>
            </a:xfrm>
            <a:prstGeom prst="line">
              <a:avLst/>
            </a:prstGeom>
            <a:ln w="9525" cap="flat" cmpd="sng">
              <a:solidFill>
                <a:schemeClr val="tx1"/>
              </a:solidFill>
              <a:prstDash val="solid"/>
              <a:headEnd type="none" w="med" len="med"/>
              <a:tailEnd type="triangle" w="med" len="med"/>
            </a:ln>
          </p:spPr>
        </p:sp>
        <p:sp>
          <p:nvSpPr>
            <p:cNvPr id="58608" name="Line 124"/>
            <p:cNvSpPr/>
            <p:nvPr/>
          </p:nvSpPr>
          <p:spPr>
            <a:xfrm flipV="1">
              <a:off x="3800" y="3360"/>
              <a:ext cx="0" cy="232"/>
            </a:xfrm>
            <a:prstGeom prst="line">
              <a:avLst/>
            </a:prstGeom>
            <a:ln w="9525" cap="flat" cmpd="sng">
              <a:solidFill>
                <a:schemeClr val="tx1"/>
              </a:solidFill>
              <a:prstDash val="solid"/>
              <a:headEnd type="none" w="med" len="med"/>
              <a:tailEnd type="triangle" w="med" len="med"/>
            </a:ln>
          </p:spPr>
        </p:sp>
        <p:sp>
          <p:nvSpPr>
            <p:cNvPr id="58609" name="Line 125"/>
            <p:cNvSpPr/>
            <p:nvPr/>
          </p:nvSpPr>
          <p:spPr>
            <a:xfrm flipV="1">
              <a:off x="3840" y="3360"/>
              <a:ext cx="0" cy="232"/>
            </a:xfrm>
            <a:prstGeom prst="line">
              <a:avLst/>
            </a:prstGeom>
            <a:ln w="9525" cap="flat" cmpd="sng">
              <a:solidFill>
                <a:schemeClr val="tx1"/>
              </a:solidFill>
              <a:prstDash val="solid"/>
              <a:headEnd type="none" w="med" len="med"/>
              <a:tailEnd type="triangle" w="med" len="med"/>
            </a:ln>
          </p:spPr>
        </p:sp>
        <p:sp>
          <p:nvSpPr>
            <p:cNvPr id="58610" name="Line 126"/>
            <p:cNvSpPr/>
            <p:nvPr/>
          </p:nvSpPr>
          <p:spPr>
            <a:xfrm flipV="1">
              <a:off x="3880" y="3360"/>
              <a:ext cx="0" cy="232"/>
            </a:xfrm>
            <a:prstGeom prst="line">
              <a:avLst/>
            </a:prstGeom>
            <a:ln w="9525" cap="flat" cmpd="sng">
              <a:solidFill>
                <a:schemeClr val="tx1"/>
              </a:solidFill>
              <a:prstDash val="solid"/>
              <a:headEnd type="none" w="med" len="med"/>
              <a:tailEnd type="triangle" w="med" len="med"/>
            </a:ln>
          </p:spPr>
        </p:sp>
        <p:sp>
          <p:nvSpPr>
            <p:cNvPr id="58611" name="Line 127"/>
            <p:cNvSpPr/>
            <p:nvPr/>
          </p:nvSpPr>
          <p:spPr>
            <a:xfrm flipV="1">
              <a:off x="3920" y="3360"/>
              <a:ext cx="0" cy="232"/>
            </a:xfrm>
            <a:prstGeom prst="line">
              <a:avLst/>
            </a:prstGeom>
            <a:ln w="9525" cap="flat" cmpd="sng">
              <a:solidFill>
                <a:schemeClr val="tx1"/>
              </a:solidFill>
              <a:prstDash val="solid"/>
              <a:headEnd type="none" w="med" len="med"/>
              <a:tailEnd type="triangle" w="med" len="med"/>
            </a:ln>
          </p:spPr>
        </p:sp>
        <p:sp>
          <p:nvSpPr>
            <p:cNvPr id="58612" name="Line 128"/>
            <p:cNvSpPr/>
            <p:nvPr/>
          </p:nvSpPr>
          <p:spPr>
            <a:xfrm flipV="1">
              <a:off x="3960" y="3360"/>
              <a:ext cx="0" cy="232"/>
            </a:xfrm>
            <a:prstGeom prst="line">
              <a:avLst/>
            </a:prstGeom>
            <a:ln w="9525" cap="flat" cmpd="sng">
              <a:solidFill>
                <a:schemeClr val="tx1"/>
              </a:solidFill>
              <a:prstDash val="solid"/>
              <a:headEnd type="none" w="med" len="med"/>
              <a:tailEnd type="triangle" w="med" len="med"/>
            </a:ln>
          </p:spPr>
        </p:sp>
      </p:grpSp>
      <p:grpSp>
        <p:nvGrpSpPr>
          <p:cNvPr id="58420" name="Group 129"/>
          <p:cNvGrpSpPr/>
          <p:nvPr/>
        </p:nvGrpSpPr>
        <p:grpSpPr>
          <a:xfrm>
            <a:off x="6823075" y="3441700"/>
            <a:ext cx="2201863" cy="1524000"/>
            <a:chOff x="2912" y="2008"/>
            <a:chExt cx="1040" cy="960"/>
          </a:xfrm>
        </p:grpSpPr>
        <p:sp>
          <p:nvSpPr>
            <p:cNvPr id="58555" name="Rectangle 130"/>
            <p:cNvSpPr/>
            <p:nvPr/>
          </p:nvSpPr>
          <p:spPr>
            <a:xfrm>
              <a:off x="2912" y="2008"/>
              <a:ext cx="1040" cy="960"/>
            </a:xfrm>
            <a:prstGeom prst="rect">
              <a:avLst/>
            </a:prstGeom>
            <a:noFill/>
            <a:ln w="28575" cap="flat" cmpd="sng">
              <a:solidFill>
                <a:schemeClr val="tx1"/>
              </a:solidFill>
              <a:prstDash val="solid"/>
              <a:miter/>
              <a:headEnd type="none" w="med" len="med"/>
              <a:tailEnd type="none" w="med" len="med"/>
            </a:ln>
          </p:spPr>
          <p:txBody>
            <a:bodyPr wrap="none" anchor="ctr" anchorCtr="0"/>
            <a:p>
              <a:endParaRPr lang="zh-CN" altLang="en-US" dirty="0">
                <a:latin typeface="Times New Roman" pitchFamily="18" charset="0"/>
              </a:endParaRPr>
            </a:p>
          </p:txBody>
        </p:sp>
        <p:grpSp>
          <p:nvGrpSpPr>
            <p:cNvPr id="58556" name="Group 131"/>
            <p:cNvGrpSpPr/>
            <p:nvPr/>
          </p:nvGrpSpPr>
          <p:grpSpPr>
            <a:xfrm>
              <a:off x="3080" y="2152"/>
              <a:ext cx="760" cy="678"/>
              <a:chOff x="2920" y="1960"/>
              <a:chExt cx="760" cy="678"/>
            </a:xfrm>
          </p:grpSpPr>
          <p:grpSp>
            <p:nvGrpSpPr>
              <p:cNvPr id="58557" name="Group 132"/>
              <p:cNvGrpSpPr/>
              <p:nvPr/>
            </p:nvGrpSpPr>
            <p:grpSpPr>
              <a:xfrm>
                <a:off x="2920" y="2472"/>
                <a:ext cx="168" cy="166"/>
                <a:chOff x="128" y="1960"/>
                <a:chExt cx="240" cy="248"/>
              </a:xfrm>
            </p:grpSpPr>
            <p:sp>
              <p:nvSpPr>
                <p:cNvPr id="58573" name="Oval 133"/>
                <p:cNvSpPr/>
                <p:nvPr/>
              </p:nvSpPr>
              <p:spPr>
                <a:xfrm>
                  <a:off x="128" y="1960"/>
                  <a:ext cx="240" cy="2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58574" name="Text Box 134"/>
                <p:cNvSpPr txBox="1"/>
                <p:nvPr/>
              </p:nvSpPr>
              <p:spPr>
                <a:xfrm>
                  <a:off x="194" y="1969"/>
                  <a:ext cx="143" cy="230"/>
                </a:xfrm>
                <a:prstGeom prst="rect">
                  <a:avLst/>
                </a:prstGeom>
                <a:noFill/>
                <a:ln w="9525">
                  <a:noFill/>
                </a:ln>
              </p:spPr>
              <p:txBody>
                <a:bodyPr lIns="0" tIns="0" rIns="0" bIns="0">
                  <a:spAutoFit/>
                </a:bodyPr>
                <a:p>
                  <a:pPr algn="l">
                    <a:spcBef>
                      <a:spcPct val="50000"/>
                    </a:spcBef>
                  </a:pPr>
                  <a:r>
                    <a:rPr lang="en-US" altLang="zh-CN" sz="1600" b="1" dirty="0">
                      <a:latin typeface="Times New Roman" pitchFamily="18" charset="0"/>
                    </a:rPr>
                    <a:t>=</a:t>
                  </a:r>
                  <a:endParaRPr lang="en-US" altLang="zh-CN" sz="1600" b="1" dirty="0">
                    <a:latin typeface="Times New Roman" pitchFamily="18" charset="0"/>
                  </a:endParaRPr>
                </a:p>
              </p:txBody>
            </p:sp>
          </p:grpSp>
          <p:grpSp>
            <p:nvGrpSpPr>
              <p:cNvPr id="58558" name="Group 135"/>
              <p:cNvGrpSpPr/>
              <p:nvPr/>
            </p:nvGrpSpPr>
            <p:grpSpPr>
              <a:xfrm>
                <a:off x="3216" y="2472"/>
                <a:ext cx="168" cy="166"/>
                <a:chOff x="128" y="1960"/>
                <a:chExt cx="240" cy="248"/>
              </a:xfrm>
            </p:grpSpPr>
            <p:sp>
              <p:nvSpPr>
                <p:cNvPr id="58571" name="Oval 136"/>
                <p:cNvSpPr/>
                <p:nvPr/>
              </p:nvSpPr>
              <p:spPr>
                <a:xfrm>
                  <a:off x="128" y="1960"/>
                  <a:ext cx="240" cy="2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58572" name="Text Box 137"/>
                <p:cNvSpPr txBox="1"/>
                <p:nvPr/>
              </p:nvSpPr>
              <p:spPr>
                <a:xfrm>
                  <a:off x="194" y="1969"/>
                  <a:ext cx="143" cy="230"/>
                </a:xfrm>
                <a:prstGeom prst="rect">
                  <a:avLst/>
                </a:prstGeom>
                <a:noFill/>
                <a:ln w="9525">
                  <a:noFill/>
                </a:ln>
              </p:spPr>
              <p:txBody>
                <a:bodyPr lIns="0" tIns="0" rIns="0" bIns="0">
                  <a:spAutoFit/>
                </a:bodyPr>
                <a:p>
                  <a:pPr algn="l">
                    <a:spcBef>
                      <a:spcPct val="50000"/>
                    </a:spcBef>
                  </a:pPr>
                  <a:r>
                    <a:rPr lang="en-US" altLang="zh-CN" sz="1600" b="1" dirty="0">
                      <a:latin typeface="Times New Roman" pitchFamily="18" charset="0"/>
                    </a:rPr>
                    <a:t>=</a:t>
                  </a:r>
                  <a:endParaRPr lang="en-US" altLang="zh-CN" sz="1600" b="1" dirty="0">
                    <a:latin typeface="Times New Roman" pitchFamily="18" charset="0"/>
                  </a:endParaRPr>
                </a:p>
              </p:txBody>
            </p:sp>
          </p:grpSp>
          <p:grpSp>
            <p:nvGrpSpPr>
              <p:cNvPr id="58559" name="Group 138"/>
              <p:cNvGrpSpPr/>
              <p:nvPr/>
            </p:nvGrpSpPr>
            <p:grpSpPr>
              <a:xfrm>
                <a:off x="3216" y="2232"/>
                <a:ext cx="168" cy="166"/>
                <a:chOff x="128" y="1960"/>
                <a:chExt cx="240" cy="248"/>
              </a:xfrm>
            </p:grpSpPr>
            <p:sp>
              <p:nvSpPr>
                <p:cNvPr id="58569" name="Oval 139"/>
                <p:cNvSpPr/>
                <p:nvPr/>
              </p:nvSpPr>
              <p:spPr>
                <a:xfrm>
                  <a:off x="128" y="1960"/>
                  <a:ext cx="240" cy="2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58570" name="Text Box 140"/>
                <p:cNvSpPr txBox="1"/>
                <p:nvPr/>
              </p:nvSpPr>
              <p:spPr>
                <a:xfrm>
                  <a:off x="194" y="1969"/>
                  <a:ext cx="143" cy="230"/>
                </a:xfrm>
                <a:prstGeom prst="rect">
                  <a:avLst/>
                </a:prstGeom>
                <a:noFill/>
                <a:ln w="9525">
                  <a:noFill/>
                </a:ln>
              </p:spPr>
              <p:txBody>
                <a:bodyPr lIns="0" tIns="0" rIns="0" bIns="0">
                  <a:spAutoFit/>
                </a:bodyPr>
                <a:p>
                  <a:pPr algn="l">
                    <a:spcBef>
                      <a:spcPct val="50000"/>
                    </a:spcBef>
                  </a:pPr>
                  <a:r>
                    <a:rPr lang="en-US" altLang="zh-CN" sz="1600" b="1" dirty="0">
                      <a:latin typeface="Times New Roman" pitchFamily="18" charset="0"/>
                    </a:rPr>
                    <a:t>=</a:t>
                  </a:r>
                  <a:endParaRPr lang="en-US" altLang="zh-CN" sz="1600" b="1" dirty="0">
                    <a:latin typeface="Times New Roman" pitchFamily="18" charset="0"/>
                  </a:endParaRPr>
                </a:p>
              </p:txBody>
            </p:sp>
          </p:grpSp>
          <p:grpSp>
            <p:nvGrpSpPr>
              <p:cNvPr id="58560" name="Group 141"/>
              <p:cNvGrpSpPr/>
              <p:nvPr/>
            </p:nvGrpSpPr>
            <p:grpSpPr>
              <a:xfrm>
                <a:off x="3504" y="2224"/>
                <a:ext cx="168" cy="166"/>
                <a:chOff x="128" y="1960"/>
                <a:chExt cx="240" cy="248"/>
              </a:xfrm>
            </p:grpSpPr>
            <p:sp>
              <p:nvSpPr>
                <p:cNvPr id="58567" name="Oval 142"/>
                <p:cNvSpPr/>
                <p:nvPr/>
              </p:nvSpPr>
              <p:spPr>
                <a:xfrm>
                  <a:off x="128" y="1960"/>
                  <a:ext cx="240" cy="2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58568" name="Text Box 143"/>
                <p:cNvSpPr txBox="1"/>
                <p:nvPr/>
              </p:nvSpPr>
              <p:spPr>
                <a:xfrm>
                  <a:off x="194" y="1969"/>
                  <a:ext cx="143" cy="230"/>
                </a:xfrm>
                <a:prstGeom prst="rect">
                  <a:avLst/>
                </a:prstGeom>
                <a:noFill/>
                <a:ln w="9525">
                  <a:noFill/>
                </a:ln>
              </p:spPr>
              <p:txBody>
                <a:bodyPr lIns="0" tIns="0" rIns="0" bIns="0">
                  <a:spAutoFit/>
                </a:bodyPr>
                <a:p>
                  <a:pPr algn="l">
                    <a:spcBef>
                      <a:spcPct val="50000"/>
                    </a:spcBef>
                  </a:pPr>
                  <a:r>
                    <a:rPr lang="en-US" altLang="zh-CN" sz="1600" b="1" dirty="0">
                      <a:latin typeface="Times New Roman" pitchFamily="18" charset="0"/>
                    </a:rPr>
                    <a:t>=</a:t>
                  </a:r>
                  <a:endParaRPr lang="en-US" altLang="zh-CN" sz="1600" b="1" dirty="0">
                    <a:latin typeface="Times New Roman" pitchFamily="18" charset="0"/>
                  </a:endParaRPr>
                </a:p>
              </p:txBody>
            </p:sp>
          </p:grpSp>
          <p:grpSp>
            <p:nvGrpSpPr>
              <p:cNvPr id="58561" name="Group 144"/>
              <p:cNvGrpSpPr/>
              <p:nvPr/>
            </p:nvGrpSpPr>
            <p:grpSpPr>
              <a:xfrm>
                <a:off x="3512" y="2472"/>
                <a:ext cx="168" cy="166"/>
                <a:chOff x="128" y="1960"/>
                <a:chExt cx="240" cy="248"/>
              </a:xfrm>
            </p:grpSpPr>
            <p:sp>
              <p:nvSpPr>
                <p:cNvPr id="58565" name="Oval 145"/>
                <p:cNvSpPr/>
                <p:nvPr/>
              </p:nvSpPr>
              <p:spPr>
                <a:xfrm>
                  <a:off x="128" y="1960"/>
                  <a:ext cx="240" cy="2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58566" name="Text Box 146"/>
                <p:cNvSpPr txBox="1"/>
                <p:nvPr/>
              </p:nvSpPr>
              <p:spPr>
                <a:xfrm>
                  <a:off x="194" y="1969"/>
                  <a:ext cx="143" cy="230"/>
                </a:xfrm>
                <a:prstGeom prst="rect">
                  <a:avLst/>
                </a:prstGeom>
                <a:noFill/>
                <a:ln w="9525">
                  <a:noFill/>
                </a:ln>
              </p:spPr>
              <p:txBody>
                <a:bodyPr lIns="0" tIns="0" rIns="0" bIns="0">
                  <a:spAutoFit/>
                </a:bodyPr>
                <a:p>
                  <a:pPr algn="l">
                    <a:spcBef>
                      <a:spcPct val="50000"/>
                    </a:spcBef>
                  </a:pPr>
                  <a:r>
                    <a:rPr lang="en-US" altLang="zh-CN" sz="1600" b="1" dirty="0">
                      <a:latin typeface="Times New Roman" pitchFamily="18" charset="0"/>
                    </a:rPr>
                    <a:t>=</a:t>
                  </a:r>
                  <a:endParaRPr lang="en-US" altLang="zh-CN" sz="1600" b="1" dirty="0">
                    <a:latin typeface="Times New Roman" pitchFamily="18" charset="0"/>
                  </a:endParaRPr>
                </a:p>
              </p:txBody>
            </p:sp>
          </p:grpSp>
          <p:grpSp>
            <p:nvGrpSpPr>
              <p:cNvPr id="58562" name="Group 147"/>
              <p:cNvGrpSpPr/>
              <p:nvPr/>
            </p:nvGrpSpPr>
            <p:grpSpPr>
              <a:xfrm>
                <a:off x="3496" y="1960"/>
                <a:ext cx="168" cy="166"/>
                <a:chOff x="128" y="1960"/>
                <a:chExt cx="240" cy="248"/>
              </a:xfrm>
            </p:grpSpPr>
            <p:sp>
              <p:nvSpPr>
                <p:cNvPr id="58563" name="Oval 148"/>
                <p:cNvSpPr/>
                <p:nvPr/>
              </p:nvSpPr>
              <p:spPr>
                <a:xfrm>
                  <a:off x="128" y="1960"/>
                  <a:ext cx="240" cy="24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58564" name="Text Box 149"/>
                <p:cNvSpPr txBox="1"/>
                <p:nvPr/>
              </p:nvSpPr>
              <p:spPr>
                <a:xfrm>
                  <a:off x="194" y="1969"/>
                  <a:ext cx="143" cy="230"/>
                </a:xfrm>
                <a:prstGeom prst="rect">
                  <a:avLst/>
                </a:prstGeom>
                <a:noFill/>
                <a:ln w="9525">
                  <a:noFill/>
                </a:ln>
              </p:spPr>
              <p:txBody>
                <a:bodyPr lIns="0" tIns="0" rIns="0" bIns="0">
                  <a:spAutoFit/>
                </a:bodyPr>
                <a:p>
                  <a:pPr algn="l">
                    <a:spcBef>
                      <a:spcPct val="50000"/>
                    </a:spcBef>
                  </a:pPr>
                  <a:r>
                    <a:rPr lang="en-US" altLang="zh-CN" sz="1600" b="1" dirty="0">
                      <a:latin typeface="Times New Roman" pitchFamily="18" charset="0"/>
                    </a:rPr>
                    <a:t>=</a:t>
                  </a:r>
                  <a:endParaRPr lang="en-US" altLang="zh-CN" sz="1600" b="1" dirty="0">
                    <a:latin typeface="Times New Roman" pitchFamily="18" charset="0"/>
                  </a:endParaRPr>
                </a:p>
              </p:txBody>
            </p:sp>
          </p:grpSp>
        </p:grpSp>
      </p:grpSp>
      <p:grpSp>
        <p:nvGrpSpPr>
          <p:cNvPr id="58421" name="Group 150"/>
          <p:cNvGrpSpPr/>
          <p:nvPr/>
        </p:nvGrpSpPr>
        <p:grpSpPr>
          <a:xfrm>
            <a:off x="1465263" y="1689100"/>
            <a:ext cx="9874250" cy="1778000"/>
            <a:chOff x="692" y="1296"/>
            <a:chExt cx="4666" cy="1120"/>
          </a:xfrm>
        </p:grpSpPr>
        <p:grpSp>
          <p:nvGrpSpPr>
            <p:cNvPr id="58424" name="Group 151"/>
            <p:cNvGrpSpPr/>
            <p:nvPr/>
          </p:nvGrpSpPr>
          <p:grpSpPr>
            <a:xfrm>
              <a:off x="1392" y="2112"/>
              <a:ext cx="440" cy="304"/>
              <a:chOff x="1512" y="2176"/>
              <a:chExt cx="440" cy="240"/>
            </a:xfrm>
          </p:grpSpPr>
          <p:sp>
            <p:nvSpPr>
              <p:cNvPr id="58543" name="Line 152"/>
              <p:cNvSpPr/>
              <p:nvPr/>
            </p:nvSpPr>
            <p:spPr>
              <a:xfrm flipV="1">
                <a:off x="1512" y="2176"/>
                <a:ext cx="0" cy="240"/>
              </a:xfrm>
              <a:prstGeom prst="line">
                <a:avLst/>
              </a:prstGeom>
              <a:ln w="9525" cap="flat" cmpd="sng">
                <a:solidFill>
                  <a:schemeClr val="tx1"/>
                </a:solidFill>
                <a:prstDash val="solid"/>
                <a:headEnd type="none" w="med" len="med"/>
                <a:tailEnd type="triangle" w="med" len="med"/>
              </a:ln>
            </p:spPr>
          </p:sp>
          <p:sp>
            <p:nvSpPr>
              <p:cNvPr id="58544" name="Line 153"/>
              <p:cNvSpPr/>
              <p:nvPr/>
            </p:nvSpPr>
            <p:spPr>
              <a:xfrm flipV="1">
                <a:off x="1552" y="2176"/>
                <a:ext cx="0" cy="240"/>
              </a:xfrm>
              <a:prstGeom prst="line">
                <a:avLst/>
              </a:prstGeom>
              <a:ln w="9525" cap="flat" cmpd="sng">
                <a:solidFill>
                  <a:schemeClr val="tx1"/>
                </a:solidFill>
                <a:prstDash val="solid"/>
                <a:headEnd type="none" w="med" len="med"/>
                <a:tailEnd type="triangle" w="med" len="med"/>
              </a:ln>
            </p:spPr>
          </p:sp>
          <p:sp>
            <p:nvSpPr>
              <p:cNvPr id="58545" name="Line 154"/>
              <p:cNvSpPr/>
              <p:nvPr/>
            </p:nvSpPr>
            <p:spPr>
              <a:xfrm flipV="1">
                <a:off x="1592" y="2176"/>
                <a:ext cx="0" cy="240"/>
              </a:xfrm>
              <a:prstGeom prst="line">
                <a:avLst/>
              </a:prstGeom>
              <a:ln w="9525" cap="flat" cmpd="sng">
                <a:solidFill>
                  <a:schemeClr val="tx1"/>
                </a:solidFill>
                <a:prstDash val="solid"/>
                <a:headEnd type="none" w="med" len="med"/>
                <a:tailEnd type="triangle" w="med" len="med"/>
              </a:ln>
            </p:spPr>
          </p:sp>
          <p:sp>
            <p:nvSpPr>
              <p:cNvPr id="58546" name="Line 155"/>
              <p:cNvSpPr/>
              <p:nvPr/>
            </p:nvSpPr>
            <p:spPr>
              <a:xfrm flipV="1">
                <a:off x="1632" y="2176"/>
                <a:ext cx="0" cy="240"/>
              </a:xfrm>
              <a:prstGeom prst="line">
                <a:avLst/>
              </a:prstGeom>
              <a:ln w="9525" cap="flat" cmpd="sng">
                <a:solidFill>
                  <a:schemeClr val="tx1"/>
                </a:solidFill>
                <a:prstDash val="solid"/>
                <a:headEnd type="none" w="med" len="med"/>
                <a:tailEnd type="triangle" w="med" len="med"/>
              </a:ln>
            </p:spPr>
          </p:sp>
          <p:sp>
            <p:nvSpPr>
              <p:cNvPr id="58547" name="Line 156"/>
              <p:cNvSpPr/>
              <p:nvPr/>
            </p:nvSpPr>
            <p:spPr>
              <a:xfrm flipV="1">
                <a:off x="1672" y="2176"/>
                <a:ext cx="0" cy="232"/>
              </a:xfrm>
              <a:prstGeom prst="line">
                <a:avLst/>
              </a:prstGeom>
              <a:ln w="9525" cap="flat" cmpd="sng">
                <a:solidFill>
                  <a:schemeClr val="tx1"/>
                </a:solidFill>
                <a:prstDash val="solid"/>
                <a:headEnd type="none" w="med" len="med"/>
                <a:tailEnd type="triangle" w="med" len="med"/>
              </a:ln>
            </p:spPr>
          </p:sp>
          <p:sp>
            <p:nvSpPr>
              <p:cNvPr id="58548" name="Line 157"/>
              <p:cNvSpPr/>
              <p:nvPr/>
            </p:nvSpPr>
            <p:spPr>
              <a:xfrm flipV="1">
                <a:off x="1712" y="2176"/>
                <a:ext cx="0" cy="232"/>
              </a:xfrm>
              <a:prstGeom prst="line">
                <a:avLst/>
              </a:prstGeom>
              <a:ln w="9525" cap="flat" cmpd="sng">
                <a:solidFill>
                  <a:schemeClr val="tx1"/>
                </a:solidFill>
                <a:prstDash val="solid"/>
                <a:headEnd type="none" w="med" len="med"/>
                <a:tailEnd type="triangle" w="med" len="med"/>
              </a:ln>
            </p:spPr>
          </p:sp>
          <p:sp>
            <p:nvSpPr>
              <p:cNvPr id="58549" name="Line 158"/>
              <p:cNvSpPr/>
              <p:nvPr/>
            </p:nvSpPr>
            <p:spPr>
              <a:xfrm flipV="1">
                <a:off x="1752" y="2176"/>
                <a:ext cx="0" cy="232"/>
              </a:xfrm>
              <a:prstGeom prst="line">
                <a:avLst/>
              </a:prstGeom>
              <a:ln w="9525" cap="flat" cmpd="sng">
                <a:solidFill>
                  <a:schemeClr val="tx1"/>
                </a:solidFill>
                <a:prstDash val="solid"/>
                <a:headEnd type="none" w="med" len="med"/>
                <a:tailEnd type="triangle" w="med" len="med"/>
              </a:ln>
            </p:spPr>
          </p:sp>
          <p:sp>
            <p:nvSpPr>
              <p:cNvPr id="58550" name="Line 159"/>
              <p:cNvSpPr/>
              <p:nvPr/>
            </p:nvSpPr>
            <p:spPr>
              <a:xfrm flipV="1">
                <a:off x="1792" y="2176"/>
                <a:ext cx="0" cy="232"/>
              </a:xfrm>
              <a:prstGeom prst="line">
                <a:avLst/>
              </a:prstGeom>
              <a:ln w="9525" cap="flat" cmpd="sng">
                <a:solidFill>
                  <a:schemeClr val="tx1"/>
                </a:solidFill>
                <a:prstDash val="solid"/>
                <a:headEnd type="none" w="med" len="med"/>
                <a:tailEnd type="triangle" w="med" len="med"/>
              </a:ln>
            </p:spPr>
          </p:sp>
          <p:sp>
            <p:nvSpPr>
              <p:cNvPr id="58551" name="Line 160"/>
              <p:cNvSpPr/>
              <p:nvPr/>
            </p:nvSpPr>
            <p:spPr>
              <a:xfrm flipV="1">
                <a:off x="1832" y="2176"/>
                <a:ext cx="0" cy="232"/>
              </a:xfrm>
              <a:prstGeom prst="line">
                <a:avLst/>
              </a:prstGeom>
              <a:ln w="9525" cap="flat" cmpd="sng">
                <a:solidFill>
                  <a:schemeClr val="tx1"/>
                </a:solidFill>
                <a:prstDash val="solid"/>
                <a:headEnd type="none" w="med" len="med"/>
                <a:tailEnd type="triangle" w="med" len="med"/>
              </a:ln>
            </p:spPr>
          </p:sp>
          <p:sp>
            <p:nvSpPr>
              <p:cNvPr id="58552" name="Line 161"/>
              <p:cNvSpPr/>
              <p:nvPr/>
            </p:nvSpPr>
            <p:spPr>
              <a:xfrm flipV="1">
                <a:off x="1872" y="2176"/>
                <a:ext cx="0" cy="232"/>
              </a:xfrm>
              <a:prstGeom prst="line">
                <a:avLst/>
              </a:prstGeom>
              <a:ln w="9525" cap="flat" cmpd="sng">
                <a:solidFill>
                  <a:schemeClr val="tx1"/>
                </a:solidFill>
                <a:prstDash val="solid"/>
                <a:headEnd type="none" w="med" len="med"/>
                <a:tailEnd type="triangle" w="med" len="med"/>
              </a:ln>
            </p:spPr>
          </p:sp>
          <p:sp>
            <p:nvSpPr>
              <p:cNvPr id="58553" name="Line 162"/>
              <p:cNvSpPr/>
              <p:nvPr/>
            </p:nvSpPr>
            <p:spPr>
              <a:xfrm flipV="1">
                <a:off x="1912" y="2176"/>
                <a:ext cx="0" cy="232"/>
              </a:xfrm>
              <a:prstGeom prst="line">
                <a:avLst/>
              </a:prstGeom>
              <a:ln w="9525" cap="flat" cmpd="sng">
                <a:solidFill>
                  <a:schemeClr val="tx1"/>
                </a:solidFill>
                <a:prstDash val="solid"/>
                <a:headEnd type="none" w="med" len="med"/>
                <a:tailEnd type="triangle" w="med" len="med"/>
              </a:ln>
            </p:spPr>
          </p:sp>
          <p:sp>
            <p:nvSpPr>
              <p:cNvPr id="58554" name="Line 163"/>
              <p:cNvSpPr/>
              <p:nvPr/>
            </p:nvSpPr>
            <p:spPr>
              <a:xfrm flipV="1">
                <a:off x="1952" y="2176"/>
                <a:ext cx="0" cy="232"/>
              </a:xfrm>
              <a:prstGeom prst="line">
                <a:avLst/>
              </a:prstGeom>
              <a:ln w="9525" cap="flat" cmpd="sng">
                <a:solidFill>
                  <a:schemeClr val="tx1"/>
                </a:solidFill>
                <a:prstDash val="solid"/>
                <a:headEnd type="none" w="med" len="med"/>
                <a:tailEnd type="triangle" w="med" len="med"/>
              </a:ln>
            </p:spPr>
          </p:sp>
        </p:grpSp>
        <p:sp>
          <p:nvSpPr>
            <p:cNvPr id="58425" name="Line 164"/>
            <p:cNvSpPr/>
            <p:nvPr/>
          </p:nvSpPr>
          <p:spPr>
            <a:xfrm flipV="1">
              <a:off x="1192" y="1984"/>
              <a:ext cx="0" cy="416"/>
            </a:xfrm>
            <a:prstGeom prst="line">
              <a:avLst/>
            </a:prstGeom>
            <a:ln w="9525" cap="flat" cmpd="sng">
              <a:solidFill>
                <a:srgbClr val="FF0000"/>
              </a:solidFill>
              <a:prstDash val="solid"/>
              <a:headEnd type="none" w="med" len="med"/>
              <a:tailEnd type="triangle" w="med" len="med"/>
            </a:ln>
          </p:spPr>
        </p:sp>
        <p:sp>
          <p:nvSpPr>
            <p:cNvPr id="58426" name="Line 165"/>
            <p:cNvSpPr/>
            <p:nvPr/>
          </p:nvSpPr>
          <p:spPr>
            <a:xfrm flipV="1">
              <a:off x="692" y="2097"/>
              <a:ext cx="4650" cy="8"/>
            </a:xfrm>
            <a:prstGeom prst="line">
              <a:avLst/>
            </a:prstGeom>
            <a:ln w="38100" cap="flat" cmpd="sng">
              <a:solidFill>
                <a:schemeClr val="tx1"/>
              </a:solidFill>
              <a:prstDash val="solid"/>
              <a:headEnd type="triangle" w="med" len="med"/>
              <a:tailEnd type="triangle" w="med" len="med"/>
            </a:ln>
          </p:spPr>
        </p:sp>
        <p:sp>
          <p:nvSpPr>
            <p:cNvPr id="58427" name="Line 166"/>
            <p:cNvSpPr/>
            <p:nvPr/>
          </p:nvSpPr>
          <p:spPr>
            <a:xfrm flipV="1">
              <a:off x="1232" y="1984"/>
              <a:ext cx="0" cy="416"/>
            </a:xfrm>
            <a:prstGeom prst="line">
              <a:avLst/>
            </a:prstGeom>
            <a:ln w="9525" cap="flat" cmpd="sng">
              <a:solidFill>
                <a:srgbClr val="FF0000"/>
              </a:solidFill>
              <a:prstDash val="solid"/>
              <a:headEnd type="none" w="med" len="med"/>
              <a:tailEnd type="triangle" w="med" len="med"/>
            </a:ln>
          </p:spPr>
        </p:sp>
        <p:sp>
          <p:nvSpPr>
            <p:cNvPr id="58428" name="Line 167"/>
            <p:cNvSpPr/>
            <p:nvPr/>
          </p:nvSpPr>
          <p:spPr>
            <a:xfrm flipV="1">
              <a:off x="1272" y="1984"/>
              <a:ext cx="0" cy="416"/>
            </a:xfrm>
            <a:prstGeom prst="line">
              <a:avLst/>
            </a:prstGeom>
            <a:ln w="9525" cap="flat" cmpd="sng">
              <a:solidFill>
                <a:srgbClr val="FF0000"/>
              </a:solidFill>
              <a:prstDash val="solid"/>
              <a:headEnd type="none" w="med" len="med"/>
              <a:tailEnd type="triangle" w="med" len="med"/>
            </a:ln>
          </p:spPr>
        </p:sp>
        <p:sp>
          <p:nvSpPr>
            <p:cNvPr id="58429" name="Line 168"/>
            <p:cNvSpPr/>
            <p:nvPr/>
          </p:nvSpPr>
          <p:spPr>
            <a:xfrm flipV="1">
              <a:off x="1312" y="1984"/>
              <a:ext cx="0" cy="416"/>
            </a:xfrm>
            <a:prstGeom prst="line">
              <a:avLst/>
            </a:prstGeom>
            <a:ln w="9525" cap="flat" cmpd="sng">
              <a:solidFill>
                <a:srgbClr val="FF0000"/>
              </a:solidFill>
              <a:prstDash val="solid"/>
              <a:headEnd type="none" w="med" len="med"/>
              <a:tailEnd type="triangle" w="med" len="med"/>
            </a:ln>
          </p:spPr>
        </p:sp>
        <p:sp>
          <p:nvSpPr>
            <p:cNvPr id="58430" name="Line 169"/>
            <p:cNvSpPr/>
            <p:nvPr/>
          </p:nvSpPr>
          <p:spPr>
            <a:xfrm>
              <a:off x="692" y="1977"/>
              <a:ext cx="4666" cy="0"/>
            </a:xfrm>
            <a:prstGeom prst="line">
              <a:avLst/>
            </a:prstGeom>
            <a:ln w="38100" cap="flat" cmpd="sng">
              <a:solidFill>
                <a:srgbClr val="FF0000"/>
              </a:solidFill>
              <a:prstDash val="solid"/>
              <a:headEnd type="triangle" w="med" len="med"/>
              <a:tailEnd type="triangle" w="med" len="med"/>
            </a:ln>
          </p:spPr>
        </p:sp>
        <p:grpSp>
          <p:nvGrpSpPr>
            <p:cNvPr id="58431" name="Group 170"/>
            <p:cNvGrpSpPr/>
            <p:nvPr/>
          </p:nvGrpSpPr>
          <p:grpSpPr>
            <a:xfrm>
              <a:off x="1736" y="1536"/>
              <a:ext cx="1112" cy="192"/>
              <a:chOff x="792" y="1568"/>
              <a:chExt cx="1112" cy="192"/>
            </a:xfrm>
          </p:grpSpPr>
          <p:grpSp>
            <p:nvGrpSpPr>
              <p:cNvPr id="58534" name="Group 171"/>
              <p:cNvGrpSpPr/>
              <p:nvPr/>
            </p:nvGrpSpPr>
            <p:grpSpPr>
              <a:xfrm>
                <a:off x="792" y="1568"/>
                <a:ext cx="360" cy="192"/>
                <a:chOff x="720" y="1616"/>
                <a:chExt cx="392" cy="192"/>
              </a:xfrm>
            </p:grpSpPr>
            <p:sp>
              <p:nvSpPr>
                <p:cNvPr id="58541" name="AutoShape 172"/>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42" name="Text Box 173"/>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nvGrpSpPr>
              <p:cNvPr id="58535" name="Group 174"/>
              <p:cNvGrpSpPr/>
              <p:nvPr/>
            </p:nvGrpSpPr>
            <p:grpSpPr>
              <a:xfrm>
                <a:off x="1168" y="1568"/>
                <a:ext cx="360" cy="192"/>
                <a:chOff x="720" y="1616"/>
                <a:chExt cx="392" cy="192"/>
              </a:xfrm>
            </p:grpSpPr>
            <p:sp>
              <p:nvSpPr>
                <p:cNvPr id="58539" name="AutoShape 175"/>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40" name="Text Box 176"/>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nvGrpSpPr>
              <p:cNvPr id="58536" name="Group 177"/>
              <p:cNvGrpSpPr/>
              <p:nvPr/>
            </p:nvGrpSpPr>
            <p:grpSpPr>
              <a:xfrm>
                <a:off x="1544" y="1568"/>
                <a:ext cx="360" cy="192"/>
                <a:chOff x="720" y="1616"/>
                <a:chExt cx="392" cy="192"/>
              </a:xfrm>
            </p:grpSpPr>
            <p:sp>
              <p:nvSpPr>
                <p:cNvPr id="58537" name="AutoShape 178"/>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38" name="Text Box 179"/>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grpSp>
          <p:nvGrpSpPr>
            <p:cNvPr id="58432" name="Group 180"/>
            <p:cNvGrpSpPr/>
            <p:nvPr/>
          </p:nvGrpSpPr>
          <p:grpSpPr>
            <a:xfrm>
              <a:off x="2888" y="1536"/>
              <a:ext cx="1112" cy="192"/>
              <a:chOff x="792" y="1568"/>
              <a:chExt cx="1112" cy="192"/>
            </a:xfrm>
          </p:grpSpPr>
          <p:grpSp>
            <p:nvGrpSpPr>
              <p:cNvPr id="58525" name="Group 181"/>
              <p:cNvGrpSpPr/>
              <p:nvPr/>
            </p:nvGrpSpPr>
            <p:grpSpPr>
              <a:xfrm>
                <a:off x="792" y="1568"/>
                <a:ext cx="360" cy="192"/>
                <a:chOff x="720" y="1616"/>
                <a:chExt cx="392" cy="192"/>
              </a:xfrm>
            </p:grpSpPr>
            <p:sp>
              <p:nvSpPr>
                <p:cNvPr id="58532" name="AutoShape 182"/>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33" name="Text Box 183"/>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nvGrpSpPr>
              <p:cNvPr id="58526" name="Group 184"/>
              <p:cNvGrpSpPr/>
              <p:nvPr/>
            </p:nvGrpSpPr>
            <p:grpSpPr>
              <a:xfrm>
                <a:off x="1168" y="1568"/>
                <a:ext cx="360" cy="192"/>
                <a:chOff x="720" y="1616"/>
                <a:chExt cx="392" cy="192"/>
              </a:xfrm>
            </p:grpSpPr>
            <p:sp>
              <p:nvSpPr>
                <p:cNvPr id="58530" name="AutoShape 185"/>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31" name="Text Box 186"/>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nvGrpSpPr>
              <p:cNvPr id="58527" name="Group 187"/>
              <p:cNvGrpSpPr/>
              <p:nvPr/>
            </p:nvGrpSpPr>
            <p:grpSpPr>
              <a:xfrm>
                <a:off x="1544" y="1568"/>
                <a:ext cx="360" cy="192"/>
                <a:chOff x="720" y="1616"/>
                <a:chExt cx="392" cy="192"/>
              </a:xfrm>
            </p:grpSpPr>
            <p:sp>
              <p:nvSpPr>
                <p:cNvPr id="58528" name="AutoShape 188"/>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29" name="Text Box 189"/>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grpSp>
          <p:nvGrpSpPr>
            <p:cNvPr id="58433" name="Group 190"/>
            <p:cNvGrpSpPr/>
            <p:nvPr/>
          </p:nvGrpSpPr>
          <p:grpSpPr>
            <a:xfrm>
              <a:off x="4080" y="1536"/>
              <a:ext cx="1112" cy="192"/>
              <a:chOff x="792" y="1568"/>
              <a:chExt cx="1112" cy="192"/>
            </a:xfrm>
          </p:grpSpPr>
          <p:grpSp>
            <p:nvGrpSpPr>
              <p:cNvPr id="58516" name="Group 191"/>
              <p:cNvGrpSpPr/>
              <p:nvPr/>
            </p:nvGrpSpPr>
            <p:grpSpPr>
              <a:xfrm>
                <a:off x="792" y="1568"/>
                <a:ext cx="360" cy="192"/>
                <a:chOff x="720" y="1616"/>
                <a:chExt cx="392" cy="192"/>
              </a:xfrm>
            </p:grpSpPr>
            <p:sp>
              <p:nvSpPr>
                <p:cNvPr id="58523" name="AutoShape 192"/>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24" name="Text Box 193"/>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nvGrpSpPr>
              <p:cNvPr id="58517" name="Group 194"/>
              <p:cNvGrpSpPr/>
              <p:nvPr/>
            </p:nvGrpSpPr>
            <p:grpSpPr>
              <a:xfrm>
                <a:off x="1168" y="1568"/>
                <a:ext cx="360" cy="192"/>
                <a:chOff x="720" y="1616"/>
                <a:chExt cx="392" cy="192"/>
              </a:xfrm>
            </p:grpSpPr>
            <p:sp>
              <p:nvSpPr>
                <p:cNvPr id="58521" name="AutoShape 195"/>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22" name="Text Box 196"/>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nvGrpSpPr>
              <p:cNvPr id="58518" name="Group 197"/>
              <p:cNvGrpSpPr/>
              <p:nvPr/>
            </p:nvGrpSpPr>
            <p:grpSpPr>
              <a:xfrm>
                <a:off x="1544" y="1568"/>
                <a:ext cx="360" cy="192"/>
                <a:chOff x="720" y="1616"/>
                <a:chExt cx="392" cy="192"/>
              </a:xfrm>
            </p:grpSpPr>
            <p:sp>
              <p:nvSpPr>
                <p:cNvPr id="58519" name="AutoShape 198"/>
                <p:cNvSpPr/>
                <p:nvPr/>
              </p:nvSpPr>
              <p:spPr>
                <a:xfrm>
                  <a:off x="720" y="1616"/>
                  <a:ext cx="392" cy="192"/>
                </a:xfrm>
                <a:prstGeom prst="octagon">
                  <a:avLst>
                    <a:gd name="adj" fmla="val 29287"/>
                  </a:avLst>
                </a:prstGeom>
                <a:no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宋体" panose="02000500000000000000" pitchFamily="2" charset="-122"/>
                  </a:endParaRPr>
                </a:p>
              </p:txBody>
            </p:sp>
            <p:sp>
              <p:nvSpPr>
                <p:cNvPr id="58520" name="Text Box 199"/>
                <p:cNvSpPr txBox="1"/>
                <p:nvPr/>
              </p:nvSpPr>
              <p:spPr>
                <a:xfrm>
                  <a:off x="792" y="1616"/>
                  <a:ext cx="280" cy="154"/>
                </a:xfrm>
                <a:prstGeom prst="rect">
                  <a:avLst/>
                </a:prstGeom>
                <a:noFill/>
                <a:ln w="9525">
                  <a:noFill/>
                </a:ln>
              </p:spPr>
              <p:txBody>
                <a:bodyPr lIns="0" tIns="0" rIns="0" bIns="0">
                  <a:spAutoFit/>
                </a:bodyPr>
                <a:p>
                  <a:pPr algn="ctr">
                    <a:spcBef>
                      <a:spcPct val="50000"/>
                    </a:spcBef>
                  </a:pPr>
                  <a:r>
                    <a:rPr lang="en-US" altLang="zh-CN" sz="1600" b="1" dirty="0">
                      <a:latin typeface="宋体" panose="02000500000000000000" pitchFamily="2" charset="-122"/>
                    </a:rPr>
                    <a:t>mux</a:t>
                  </a:r>
                  <a:endParaRPr lang="en-US" altLang="zh-CN" sz="1600" b="1" dirty="0">
                    <a:latin typeface="宋体" panose="02000500000000000000" pitchFamily="2" charset="-122"/>
                  </a:endParaRPr>
                </a:p>
              </p:txBody>
            </p:sp>
          </p:grpSp>
        </p:grpSp>
        <p:sp>
          <p:nvSpPr>
            <p:cNvPr id="58434" name="Line 200"/>
            <p:cNvSpPr/>
            <p:nvPr/>
          </p:nvSpPr>
          <p:spPr>
            <a:xfrm flipV="1">
              <a:off x="4872" y="1712"/>
              <a:ext cx="0" cy="256"/>
            </a:xfrm>
            <a:prstGeom prst="line">
              <a:avLst/>
            </a:prstGeom>
            <a:ln w="9525" cap="flat" cmpd="sng">
              <a:solidFill>
                <a:srgbClr val="FF0000"/>
              </a:solidFill>
              <a:prstDash val="solid"/>
              <a:headEnd type="none" w="med" len="med"/>
              <a:tailEnd type="triangle" w="med" len="med"/>
            </a:ln>
          </p:spPr>
        </p:sp>
        <p:sp>
          <p:nvSpPr>
            <p:cNvPr id="58435" name="Line 201"/>
            <p:cNvSpPr/>
            <p:nvPr/>
          </p:nvSpPr>
          <p:spPr>
            <a:xfrm flipV="1">
              <a:off x="4912" y="1712"/>
              <a:ext cx="0" cy="256"/>
            </a:xfrm>
            <a:prstGeom prst="line">
              <a:avLst/>
            </a:prstGeom>
            <a:ln w="9525" cap="flat" cmpd="sng">
              <a:solidFill>
                <a:srgbClr val="FF0000"/>
              </a:solidFill>
              <a:prstDash val="solid"/>
              <a:headEnd type="none" w="med" len="med"/>
              <a:tailEnd type="triangle" w="med" len="med"/>
            </a:ln>
          </p:spPr>
        </p:sp>
        <p:sp>
          <p:nvSpPr>
            <p:cNvPr id="58436" name="Line 202"/>
            <p:cNvSpPr/>
            <p:nvPr/>
          </p:nvSpPr>
          <p:spPr>
            <a:xfrm flipV="1">
              <a:off x="4952" y="1712"/>
              <a:ext cx="0" cy="256"/>
            </a:xfrm>
            <a:prstGeom prst="line">
              <a:avLst/>
            </a:prstGeom>
            <a:ln w="9525" cap="flat" cmpd="sng">
              <a:solidFill>
                <a:srgbClr val="FF0000"/>
              </a:solidFill>
              <a:prstDash val="solid"/>
              <a:headEnd type="none" w="med" len="med"/>
              <a:tailEnd type="triangle" w="med" len="med"/>
            </a:ln>
          </p:spPr>
        </p:sp>
        <p:sp>
          <p:nvSpPr>
            <p:cNvPr id="58437" name="Line 203"/>
            <p:cNvSpPr/>
            <p:nvPr/>
          </p:nvSpPr>
          <p:spPr>
            <a:xfrm flipV="1">
              <a:off x="4504" y="1712"/>
              <a:ext cx="0" cy="256"/>
            </a:xfrm>
            <a:prstGeom prst="line">
              <a:avLst/>
            </a:prstGeom>
            <a:ln w="9525" cap="flat" cmpd="sng">
              <a:solidFill>
                <a:srgbClr val="FF0000"/>
              </a:solidFill>
              <a:prstDash val="solid"/>
              <a:headEnd type="none" w="med" len="med"/>
              <a:tailEnd type="triangle" w="med" len="med"/>
            </a:ln>
          </p:spPr>
        </p:sp>
        <p:sp>
          <p:nvSpPr>
            <p:cNvPr id="58438" name="Line 204"/>
            <p:cNvSpPr/>
            <p:nvPr/>
          </p:nvSpPr>
          <p:spPr>
            <a:xfrm flipV="1">
              <a:off x="4544" y="1712"/>
              <a:ext cx="0" cy="256"/>
            </a:xfrm>
            <a:prstGeom prst="line">
              <a:avLst/>
            </a:prstGeom>
            <a:ln w="9525" cap="flat" cmpd="sng">
              <a:solidFill>
                <a:srgbClr val="FF0000"/>
              </a:solidFill>
              <a:prstDash val="solid"/>
              <a:headEnd type="none" w="med" len="med"/>
              <a:tailEnd type="triangle" w="med" len="med"/>
            </a:ln>
          </p:spPr>
        </p:sp>
        <p:sp>
          <p:nvSpPr>
            <p:cNvPr id="58439" name="Line 205"/>
            <p:cNvSpPr/>
            <p:nvPr/>
          </p:nvSpPr>
          <p:spPr>
            <a:xfrm flipV="1">
              <a:off x="4584" y="1712"/>
              <a:ext cx="0" cy="256"/>
            </a:xfrm>
            <a:prstGeom prst="line">
              <a:avLst/>
            </a:prstGeom>
            <a:ln w="9525" cap="flat" cmpd="sng">
              <a:solidFill>
                <a:srgbClr val="FF0000"/>
              </a:solidFill>
              <a:prstDash val="solid"/>
              <a:headEnd type="none" w="med" len="med"/>
              <a:tailEnd type="triangle" w="med" len="med"/>
            </a:ln>
          </p:spPr>
        </p:sp>
        <p:sp>
          <p:nvSpPr>
            <p:cNvPr id="58440" name="Line 206"/>
            <p:cNvSpPr/>
            <p:nvPr/>
          </p:nvSpPr>
          <p:spPr>
            <a:xfrm flipV="1">
              <a:off x="4144" y="1720"/>
              <a:ext cx="0" cy="256"/>
            </a:xfrm>
            <a:prstGeom prst="line">
              <a:avLst/>
            </a:prstGeom>
            <a:ln w="9525" cap="flat" cmpd="sng">
              <a:solidFill>
                <a:srgbClr val="FF0000"/>
              </a:solidFill>
              <a:prstDash val="solid"/>
              <a:headEnd type="none" w="med" len="med"/>
              <a:tailEnd type="triangle" w="med" len="med"/>
            </a:ln>
          </p:spPr>
        </p:sp>
        <p:sp>
          <p:nvSpPr>
            <p:cNvPr id="58441" name="Line 207"/>
            <p:cNvSpPr/>
            <p:nvPr/>
          </p:nvSpPr>
          <p:spPr>
            <a:xfrm flipV="1">
              <a:off x="4184" y="1720"/>
              <a:ext cx="0" cy="256"/>
            </a:xfrm>
            <a:prstGeom prst="line">
              <a:avLst/>
            </a:prstGeom>
            <a:ln w="9525" cap="flat" cmpd="sng">
              <a:solidFill>
                <a:srgbClr val="FF0000"/>
              </a:solidFill>
              <a:prstDash val="solid"/>
              <a:headEnd type="none" w="med" len="med"/>
              <a:tailEnd type="triangle" w="med" len="med"/>
            </a:ln>
          </p:spPr>
        </p:sp>
        <p:sp>
          <p:nvSpPr>
            <p:cNvPr id="58442" name="Line 208"/>
            <p:cNvSpPr/>
            <p:nvPr/>
          </p:nvSpPr>
          <p:spPr>
            <a:xfrm flipV="1">
              <a:off x="4224" y="1720"/>
              <a:ext cx="0" cy="256"/>
            </a:xfrm>
            <a:prstGeom prst="line">
              <a:avLst/>
            </a:prstGeom>
            <a:ln w="9525" cap="flat" cmpd="sng">
              <a:solidFill>
                <a:srgbClr val="FF0000"/>
              </a:solidFill>
              <a:prstDash val="solid"/>
              <a:headEnd type="none" w="med" len="med"/>
              <a:tailEnd type="triangle" w="med" len="med"/>
            </a:ln>
          </p:spPr>
        </p:sp>
        <p:sp>
          <p:nvSpPr>
            <p:cNvPr id="58443" name="Line 209"/>
            <p:cNvSpPr/>
            <p:nvPr/>
          </p:nvSpPr>
          <p:spPr>
            <a:xfrm flipV="1">
              <a:off x="2968" y="1720"/>
              <a:ext cx="0" cy="256"/>
            </a:xfrm>
            <a:prstGeom prst="line">
              <a:avLst/>
            </a:prstGeom>
            <a:ln w="9525" cap="flat" cmpd="sng">
              <a:solidFill>
                <a:srgbClr val="FF0000"/>
              </a:solidFill>
              <a:prstDash val="solid"/>
              <a:headEnd type="none" w="med" len="med"/>
              <a:tailEnd type="triangle" w="med" len="med"/>
            </a:ln>
          </p:spPr>
        </p:sp>
        <p:sp>
          <p:nvSpPr>
            <p:cNvPr id="58444" name="Line 210"/>
            <p:cNvSpPr/>
            <p:nvPr/>
          </p:nvSpPr>
          <p:spPr>
            <a:xfrm flipV="1">
              <a:off x="3008" y="1720"/>
              <a:ext cx="0" cy="256"/>
            </a:xfrm>
            <a:prstGeom prst="line">
              <a:avLst/>
            </a:prstGeom>
            <a:ln w="9525" cap="flat" cmpd="sng">
              <a:solidFill>
                <a:srgbClr val="FF0000"/>
              </a:solidFill>
              <a:prstDash val="solid"/>
              <a:headEnd type="none" w="med" len="med"/>
              <a:tailEnd type="triangle" w="med" len="med"/>
            </a:ln>
          </p:spPr>
        </p:sp>
        <p:sp>
          <p:nvSpPr>
            <p:cNvPr id="58445" name="Line 211"/>
            <p:cNvSpPr/>
            <p:nvPr/>
          </p:nvSpPr>
          <p:spPr>
            <a:xfrm flipV="1">
              <a:off x="3344" y="1720"/>
              <a:ext cx="0" cy="256"/>
            </a:xfrm>
            <a:prstGeom prst="line">
              <a:avLst/>
            </a:prstGeom>
            <a:ln w="9525" cap="flat" cmpd="sng">
              <a:solidFill>
                <a:srgbClr val="FF0000"/>
              </a:solidFill>
              <a:prstDash val="solid"/>
              <a:headEnd type="none" w="med" len="med"/>
              <a:tailEnd type="triangle" w="med" len="med"/>
            </a:ln>
          </p:spPr>
        </p:sp>
        <p:sp>
          <p:nvSpPr>
            <p:cNvPr id="58446" name="Line 212"/>
            <p:cNvSpPr/>
            <p:nvPr/>
          </p:nvSpPr>
          <p:spPr>
            <a:xfrm flipV="1">
              <a:off x="3384" y="1720"/>
              <a:ext cx="0" cy="256"/>
            </a:xfrm>
            <a:prstGeom prst="line">
              <a:avLst/>
            </a:prstGeom>
            <a:ln w="9525" cap="flat" cmpd="sng">
              <a:solidFill>
                <a:srgbClr val="FF0000"/>
              </a:solidFill>
              <a:prstDash val="solid"/>
              <a:headEnd type="none" w="med" len="med"/>
              <a:tailEnd type="triangle" w="med" len="med"/>
            </a:ln>
          </p:spPr>
        </p:sp>
        <p:sp>
          <p:nvSpPr>
            <p:cNvPr id="58447" name="Line 213"/>
            <p:cNvSpPr/>
            <p:nvPr/>
          </p:nvSpPr>
          <p:spPr>
            <a:xfrm flipV="1">
              <a:off x="3728" y="1728"/>
              <a:ext cx="0" cy="256"/>
            </a:xfrm>
            <a:prstGeom prst="line">
              <a:avLst/>
            </a:prstGeom>
            <a:ln w="9525" cap="flat" cmpd="sng">
              <a:solidFill>
                <a:srgbClr val="FF0000"/>
              </a:solidFill>
              <a:prstDash val="solid"/>
              <a:headEnd type="none" w="med" len="med"/>
              <a:tailEnd type="triangle" w="med" len="med"/>
            </a:ln>
          </p:spPr>
        </p:sp>
        <p:sp>
          <p:nvSpPr>
            <p:cNvPr id="58448" name="Line 214"/>
            <p:cNvSpPr/>
            <p:nvPr/>
          </p:nvSpPr>
          <p:spPr>
            <a:xfrm flipV="1">
              <a:off x="3768" y="1728"/>
              <a:ext cx="0" cy="256"/>
            </a:xfrm>
            <a:prstGeom prst="line">
              <a:avLst/>
            </a:prstGeom>
            <a:ln w="9525" cap="flat" cmpd="sng">
              <a:solidFill>
                <a:srgbClr val="FF0000"/>
              </a:solidFill>
              <a:prstDash val="solid"/>
              <a:headEnd type="none" w="med" len="med"/>
              <a:tailEnd type="triangle" w="med" len="med"/>
            </a:ln>
          </p:spPr>
        </p:sp>
        <p:sp>
          <p:nvSpPr>
            <p:cNvPr id="58449" name="Line 215"/>
            <p:cNvSpPr/>
            <p:nvPr/>
          </p:nvSpPr>
          <p:spPr>
            <a:xfrm flipV="1">
              <a:off x="1840" y="1720"/>
              <a:ext cx="0" cy="256"/>
            </a:xfrm>
            <a:prstGeom prst="line">
              <a:avLst/>
            </a:prstGeom>
            <a:ln w="9525" cap="flat" cmpd="sng">
              <a:solidFill>
                <a:srgbClr val="FF0000"/>
              </a:solidFill>
              <a:prstDash val="solid"/>
              <a:headEnd type="none" w="med" len="med"/>
              <a:tailEnd type="triangle" w="med" len="med"/>
            </a:ln>
          </p:spPr>
        </p:sp>
        <p:sp>
          <p:nvSpPr>
            <p:cNvPr id="58450" name="Line 216"/>
            <p:cNvSpPr/>
            <p:nvPr/>
          </p:nvSpPr>
          <p:spPr>
            <a:xfrm flipV="1">
              <a:off x="2192" y="1728"/>
              <a:ext cx="0" cy="256"/>
            </a:xfrm>
            <a:prstGeom prst="line">
              <a:avLst/>
            </a:prstGeom>
            <a:ln w="9525" cap="flat" cmpd="sng">
              <a:solidFill>
                <a:srgbClr val="FF0000"/>
              </a:solidFill>
              <a:prstDash val="solid"/>
              <a:headEnd type="none" w="med" len="med"/>
              <a:tailEnd type="triangle" w="med" len="med"/>
            </a:ln>
          </p:spPr>
        </p:sp>
        <p:sp>
          <p:nvSpPr>
            <p:cNvPr id="58451" name="Line 217"/>
            <p:cNvSpPr/>
            <p:nvPr/>
          </p:nvSpPr>
          <p:spPr>
            <a:xfrm flipV="1">
              <a:off x="2576" y="1720"/>
              <a:ext cx="0" cy="256"/>
            </a:xfrm>
            <a:prstGeom prst="line">
              <a:avLst/>
            </a:prstGeom>
            <a:ln w="9525" cap="flat" cmpd="sng">
              <a:solidFill>
                <a:srgbClr val="FF0000"/>
              </a:solidFill>
              <a:prstDash val="solid"/>
              <a:headEnd type="none" w="med" len="med"/>
              <a:tailEnd type="triangle" w="med" len="med"/>
            </a:ln>
          </p:spPr>
        </p:sp>
        <p:sp>
          <p:nvSpPr>
            <p:cNvPr id="58452" name="Line 218"/>
            <p:cNvSpPr/>
            <p:nvPr/>
          </p:nvSpPr>
          <p:spPr>
            <a:xfrm flipV="1">
              <a:off x="1928" y="1296"/>
              <a:ext cx="0" cy="232"/>
            </a:xfrm>
            <a:prstGeom prst="line">
              <a:avLst/>
            </a:prstGeom>
            <a:ln w="9525" cap="flat" cmpd="sng">
              <a:solidFill>
                <a:schemeClr val="tx1"/>
              </a:solidFill>
              <a:prstDash val="solid"/>
              <a:headEnd type="none" w="med" len="med"/>
              <a:tailEnd type="triangle" w="med" len="med"/>
            </a:ln>
          </p:spPr>
        </p:sp>
        <p:sp>
          <p:nvSpPr>
            <p:cNvPr id="58453" name="Line 219"/>
            <p:cNvSpPr/>
            <p:nvPr/>
          </p:nvSpPr>
          <p:spPr>
            <a:xfrm flipV="1">
              <a:off x="2304" y="1296"/>
              <a:ext cx="0" cy="232"/>
            </a:xfrm>
            <a:prstGeom prst="line">
              <a:avLst/>
            </a:prstGeom>
            <a:ln w="9525" cap="flat" cmpd="sng">
              <a:solidFill>
                <a:schemeClr val="tx1"/>
              </a:solidFill>
              <a:prstDash val="solid"/>
              <a:headEnd type="none" w="med" len="med"/>
              <a:tailEnd type="triangle" w="med" len="med"/>
            </a:ln>
          </p:spPr>
        </p:sp>
        <p:sp>
          <p:nvSpPr>
            <p:cNvPr id="58454" name="Line 220"/>
            <p:cNvSpPr/>
            <p:nvPr/>
          </p:nvSpPr>
          <p:spPr>
            <a:xfrm flipV="1">
              <a:off x="2672" y="1296"/>
              <a:ext cx="0" cy="232"/>
            </a:xfrm>
            <a:prstGeom prst="line">
              <a:avLst/>
            </a:prstGeom>
            <a:ln w="9525" cap="flat" cmpd="sng">
              <a:solidFill>
                <a:schemeClr val="tx1"/>
              </a:solidFill>
              <a:prstDash val="solid"/>
              <a:headEnd type="none" w="med" len="med"/>
              <a:tailEnd type="triangle" w="med" len="med"/>
            </a:ln>
          </p:spPr>
        </p:sp>
        <p:sp>
          <p:nvSpPr>
            <p:cNvPr id="58455" name="Line 221"/>
            <p:cNvSpPr/>
            <p:nvPr/>
          </p:nvSpPr>
          <p:spPr>
            <a:xfrm flipV="1">
              <a:off x="3064" y="1296"/>
              <a:ext cx="0" cy="232"/>
            </a:xfrm>
            <a:prstGeom prst="line">
              <a:avLst/>
            </a:prstGeom>
            <a:ln w="9525" cap="flat" cmpd="sng">
              <a:solidFill>
                <a:schemeClr val="tx1"/>
              </a:solidFill>
              <a:prstDash val="solid"/>
              <a:headEnd type="none" w="med" len="med"/>
              <a:tailEnd type="triangle" w="med" len="med"/>
            </a:ln>
          </p:spPr>
        </p:sp>
        <p:sp>
          <p:nvSpPr>
            <p:cNvPr id="58456" name="Line 222"/>
            <p:cNvSpPr/>
            <p:nvPr/>
          </p:nvSpPr>
          <p:spPr>
            <a:xfrm flipV="1">
              <a:off x="3440" y="1296"/>
              <a:ext cx="0" cy="232"/>
            </a:xfrm>
            <a:prstGeom prst="line">
              <a:avLst/>
            </a:prstGeom>
            <a:ln w="9525" cap="flat" cmpd="sng">
              <a:solidFill>
                <a:schemeClr val="tx1"/>
              </a:solidFill>
              <a:prstDash val="solid"/>
              <a:headEnd type="none" w="med" len="med"/>
              <a:tailEnd type="triangle" w="med" len="med"/>
            </a:ln>
          </p:spPr>
        </p:sp>
        <p:sp>
          <p:nvSpPr>
            <p:cNvPr id="58457" name="Line 223"/>
            <p:cNvSpPr/>
            <p:nvPr/>
          </p:nvSpPr>
          <p:spPr>
            <a:xfrm flipV="1">
              <a:off x="3816" y="1296"/>
              <a:ext cx="0" cy="232"/>
            </a:xfrm>
            <a:prstGeom prst="line">
              <a:avLst/>
            </a:prstGeom>
            <a:ln w="9525" cap="flat" cmpd="sng">
              <a:solidFill>
                <a:schemeClr val="tx1"/>
              </a:solidFill>
              <a:prstDash val="solid"/>
              <a:headEnd type="none" w="med" len="med"/>
              <a:tailEnd type="triangle" w="med" len="med"/>
            </a:ln>
          </p:spPr>
        </p:sp>
        <p:sp>
          <p:nvSpPr>
            <p:cNvPr id="58458" name="Line 224"/>
            <p:cNvSpPr/>
            <p:nvPr/>
          </p:nvSpPr>
          <p:spPr>
            <a:xfrm flipV="1">
              <a:off x="4256" y="1296"/>
              <a:ext cx="0" cy="232"/>
            </a:xfrm>
            <a:prstGeom prst="line">
              <a:avLst/>
            </a:prstGeom>
            <a:ln w="9525" cap="flat" cmpd="sng">
              <a:solidFill>
                <a:schemeClr val="tx1"/>
              </a:solidFill>
              <a:prstDash val="solid"/>
              <a:headEnd type="none" w="med" len="med"/>
              <a:tailEnd type="triangle" w="med" len="med"/>
            </a:ln>
          </p:spPr>
        </p:sp>
        <p:sp>
          <p:nvSpPr>
            <p:cNvPr id="58459" name="Line 225"/>
            <p:cNvSpPr/>
            <p:nvPr/>
          </p:nvSpPr>
          <p:spPr>
            <a:xfrm flipV="1">
              <a:off x="4632" y="1296"/>
              <a:ext cx="0" cy="232"/>
            </a:xfrm>
            <a:prstGeom prst="line">
              <a:avLst/>
            </a:prstGeom>
            <a:ln w="9525" cap="flat" cmpd="sng">
              <a:solidFill>
                <a:schemeClr val="tx1"/>
              </a:solidFill>
              <a:prstDash val="solid"/>
              <a:headEnd type="none" w="med" len="med"/>
              <a:tailEnd type="triangle" w="med" len="med"/>
            </a:ln>
          </p:spPr>
        </p:sp>
        <p:sp>
          <p:nvSpPr>
            <p:cNvPr id="58460" name="Line 226"/>
            <p:cNvSpPr/>
            <p:nvPr/>
          </p:nvSpPr>
          <p:spPr>
            <a:xfrm flipV="1">
              <a:off x="5008" y="1296"/>
              <a:ext cx="0" cy="232"/>
            </a:xfrm>
            <a:prstGeom prst="line">
              <a:avLst/>
            </a:prstGeom>
            <a:ln w="9525" cap="flat" cmpd="sng">
              <a:solidFill>
                <a:schemeClr val="tx1"/>
              </a:solidFill>
              <a:prstDash val="solid"/>
              <a:headEnd type="none" w="med" len="med"/>
              <a:tailEnd type="triangle" w="med" len="med"/>
            </a:ln>
          </p:spPr>
        </p:sp>
        <p:grpSp>
          <p:nvGrpSpPr>
            <p:cNvPr id="58461" name="Group 227"/>
            <p:cNvGrpSpPr/>
            <p:nvPr/>
          </p:nvGrpSpPr>
          <p:grpSpPr>
            <a:xfrm>
              <a:off x="1440" y="1296"/>
              <a:ext cx="144" cy="792"/>
              <a:chOff x="1440" y="1296"/>
              <a:chExt cx="144" cy="856"/>
            </a:xfrm>
          </p:grpSpPr>
          <p:sp>
            <p:nvSpPr>
              <p:cNvPr id="58513" name="Line 228"/>
              <p:cNvSpPr/>
              <p:nvPr/>
            </p:nvSpPr>
            <p:spPr>
              <a:xfrm flipV="1">
                <a:off x="1440" y="1296"/>
                <a:ext cx="0" cy="856"/>
              </a:xfrm>
              <a:prstGeom prst="line">
                <a:avLst/>
              </a:prstGeom>
              <a:ln w="9525" cap="flat" cmpd="sng">
                <a:solidFill>
                  <a:schemeClr val="tx1"/>
                </a:solidFill>
                <a:prstDash val="solid"/>
                <a:headEnd type="none" w="med" len="med"/>
                <a:tailEnd type="triangle" w="med" len="med"/>
              </a:ln>
            </p:spPr>
          </p:sp>
          <p:sp>
            <p:nvSpPr>
              <p:cNvPr id="58514" name="Line 229"/>
              <p:cNvSpPr/>
              <p:nvPr/>
            </p:nvSpPr>
            <p:spPr>
              <a:xfrm flipV="1">
                <a:off x="1512" y="1296"/>
                <a:ext cx="0" cy="856"/>
              </a:xfrm>
              <a:prstGeom prst="line">
                <a:avLst/>
              </a:prstGeom>
              <a:ln w="9525" cap="flat" cmpd="sng">
                <a:solidFill>
                  <a:schemeClr val="tx1"/>
                </a:solidFill>
                <a:prstDash val="solid"/>
                <a:headEnd type="none" w="med" len="med"/>
                <a:tailEnd type="triangle" w="med" len="med"/>
              </a:ln>
            </p:spPr>
          </p:sp>
          <p:sp>
            <p:nvSpPr>
              <p:cNvPr id="58515" name="Line 230"/>
              <p:cNvSpPr/>
              <p:nvPr/>
            </p:nvSpPr>
            <p:spPr>
              <a:xfrm flipV="1">
                <a:off x="1584" y="1296"/>
                <a:ext cx="0" cy="856"/>
              </a:xfrm>
              <a:prstGeom prst="line">
                <a:avLst/>
              </a:prstGeom>
              <a:ln w="9525" cap="flat" cmpd="sng">
                <a:solidFill>
                  <a:schemeClr val="tx1"/>
                </a:solidFill>
                <a:prstDash val="solid"/>
                <a:headEnd type="none" w="med" len="med"/>
                <a:tailEnd type="triangle" w="med" len="med"/>
              </a:ln>
            </p:spPr>
          </p:sp>
        </p:grpSp>
        <p:grpSp>
          <p:nvGrpSpPr>
            <p:cNvPr id="58462" name="Group 231"/>
            <p:cNvGrpSpPr/>
            <p:nvPr/>
          </p:nvGrpSpPr>
          <p:grpSpPr>
            <a:xfrm>
              <a:off x="960" y="1312"/>
              <a:ext cx="144" cy="656"/>
              <a:chOff x="984" y="1552"/>
              <a:chExt cx="120" cy="416"/>
            </a:xfrm>
          </p:grpSpPr>
          <p:sp>
            <p:nvSpPr>
              <p:cNvPr id="58509" name="Line 232"/>
              <p:cNvSpPr/>
              <p:nvPr/>
            </p:nvSpPr>
            <p:spPr>
              <a:xfrm flipV="1">
                <a:off x="984" y="1552"/>
                <a:ext cx="0" cy="416"/>
              </a:xfrm>
              <a:prstGeom prst="line">
                <a:avLst/>
              </a:prstGeom>
              <a:ln w="9525" cap="flat" cmpd="sng">
                <a:solidFill>
                  <a:srgbClr val="FF0000"/>
                </a:solidFill>
                <a:prstDash val="solid"/>
                <a:headEnd type="none" w="med" len="med"/>
                <a:tailEnd type="triangle" w="med" len="med"/>
              </a:ln>
            </p:spPr>
          </p:sp>
          <p:sp>
            <p:nvSpPr>
              <p:cNvPr id="58510" name="Line 233"/>
              <p:cNvSpPr/>
              <p:nvPr/>
            </p:nvSpPr>
            <p:spPr>
              <a:xfrm flipV="1">
                <a:off x="1024" y="1552"/>
                <a:ext cx="0" cy="416"/>
              </a:xfrm>
              <a:prstGeom prst="line">
                <a:avLst/>
              </a:prstGeom>
              <a:ln w="9525" cap="flat" cmpd="sng">
                <a:solidFill>
                  <a:srgbClr val="FF0000"/>
                </a:solidFill>
                <a:prstDash val="solid"/>
                <a:headEnd type="none" w="med" len="med"/>
                <a:tailEnd type="triangle" w="med" len="med"/>
              </a:ln>
            </p:spPr>
          </p:sp>
          <p:sp>
            <p:nvSpPr>
              <p:cNvPr id="58511" name="Line 234"/>
              <p:cNvSpPr/>
              <p:nvPr/>
            </p:nvSpPr>
            <p:spPr>
              <a:xfrm flipV="1">
                <a:off x="1064" y="1552"/>
                <a:ext cx="0" cy="416"/>
              </a:xfrm>
              <a:prstGeom prst="line">
                <a:avLst/>
              </a:prstGeom>
              <a:ln w="9525" cap="flat" cmpd="sng">
                <a:solidFill>
                  <a:srgbClr val="FF0000"/>
                </a:solidFill>
                <a:prstDash val="solid"/>
                <a:headEnd type="none" w="med" len="med"/>
                <a:tailEnd type="triangle" w="med" len="med"/>
              </a:ln>
            </p:spPr>
          </p:sp>
          <p:sp>
            <p:nvSpPr>
              <p:cNvPr id="58512" name="Line 235"/>
              <p:cNvSpPr/>
              <p:nvPr/>
            </p:nvSpPr>
            <p:spPr>
              <a:xfrm flipV="1">
                <a:off x="1104" y="1552"/>
                <a:ext cx="0" cy="416"/>
              </a:xfrm>
              <a:prstGeom prst="line">
                <a:avLst/>
              </a:prstGeom>
              <a:ln w="9525" cap="flat" cmpd="sng">
                <a:solidFill>
                  <a:srgbClr val="FF0000"/>
                </a:solidFill>
                <a:prstDash val="solid"/>
                <a:headEnd type="none" w="med" len="med"/>
                <a:tailEnd type="triangle" w="med" len="med"/>
              </a:ln>
            </p:spPr>
          </p:sp>
        </p:grpSp>
        <p:sp>
          <p:nvSpPr>
            <p:cNvPr id="58463" name="Line 236"/>
            <p:cNvSpPr/>
            <p:nvPr/>
          </p:nvSpPr>
          <p:spPr>
            <a:xfrm flipV="1">
              <a:off x="1880" y="1720"/>
              <a:ext cx="0" cy="376"/>
            </a:xfrm>
            <a:prstGeom prst="line">
              <a:avLst/>
            </a:prstGeom>
            <a:ln w="9525" cap="flat" cmpd="sng">
              <a:solidFill>
                <a:schemeClr val="tx1"/>
              </a:solidFill>
              <a:prstDash val="solid"/>
              <a:headEnd type="none" w="med" len="med"/>
              <a:tailEnd type="triangle" w="med" len="med"/>
            </a:ln>
          </p:spPr>
        </p:sp>
        <p:sp>
          <p:nvSpPr>
            <p:cNvPr id="58464" name="Line 237"/>
            <p:cNvSpPr/>
            <p:nvPr/>
          </p:nvSpPr>
          <p:spPr>
            <a:xfrm flipV="1">
              <a:off x="2232" y="1728"/>
              <a:ext cx="0" cy="368"/>
            </a:xfrm>
            <a:prstGeom prst="line">
              <a:avLst/>
            </a:prstGeom>
            <a:ln w="9525" cap="flat" cmpd="sng">
              <a:solidFill>
                <a:schemeClr val="tx1"/>
              </a:solidFill>
              <a:prstDash val="solid"/>
              <a:headEnd type="none" w="med" len="med"/>
              <a:tailEnd type="triangle" w="med" len="med"/>
            </a:ln>
          </p:spPr>
        </p:sp>
        <p:sp>
          <p:nvSpPr>
            <p:cNvPr id="58465" name="Line 238"/>
            <p:cNvSpPr/>
            <p:nvPr/>
          </p:nvSpPr>
          <p:spPr>
            <a:xfrm flipV="1">
              <a:off x="2616" y="1720"/>
              <a:ext cx="0" cy="376"/>
            </a:xfrm>
            <a:prstGeom prst="line">
              <a:avLst/>
            </a:prstGeom>
            <a:ln w="9525" cap="flat" cmpd="sng">
              <a:solidFill>
                <a:schemeClr val="tx1"/>
              </a:solidFill>
              <a:prstDash val="solid"/>
              <a:headEnd type="none" w="med" len="med"/>
              <a:tailEnd type="triangle" w="med" len="med"/>
            </a:ln>
          </p:spPr>
        </p:sp>
        <p:sp>
          <p:nvSpPr>
            <p:cNvPr id="58466" name="Line 239"/>
            <p:cNvSpPr/>
            <p:nvPr/>
          </p:nvSpPr>
          <p:spPr>
            <a:xfrm flipV="1">
              <a:off x="3048" y="1720"/>
              <a:ext cx="0" cy="376"/>
            </a:xfrm>
            <a:prstGeom prst="line">
              <a:avLst/>
            </a:prstGeom>
            <a:ln w="9525" cap="flat" cmpd="sng">
              <a:solidFill>
                <a:schemeClr val="tx1"/>
              </a:solidFill>
              <a:prstDash val="solid"/>
              <a:headEnd type="none" w="med" len="med"/>
              <a:tailEnd type="triangle" w="med" len="med"/>
            </a:ln>
          </p:spPr>
        </p:sp>
        <p:sp>
          <p:nvSpPr>
            <p:cNvPr id="58467" name="Line 240"/>
            <p:cNvSpPr/>
            <p:nvPr/>
          </p:nvSpPr>
          <p:spPr>
            <a:xfrm flipV="1">
              <a:off x="3424" y="1728"/>
              <a:ext cx="0" cy="360"/>
            </a:xfrm>
            <a:prstGeom prst="line">
              <a:avLst/>
            </a:prstGeom>
            <a:ln w="9525" cap="flat" cmpd="sng">
              <a:solidFill>
                <a:schemeClr val="tx1"/>
              </a:solidFill>
              <a:prstDash val="solid"/>
              <a:headEnd type="none" w="med" len="med"/>
              <a:tailEnd type="triangle" w="med" len="med"/>
            </a:ln>
          </p:spPr>
        </p:sp>
        <p:sp>
          <p:nvSpPr>
            <p:cNvPr id="58468" name="Line 241"/>
            <p:cNvSpPr/>
            <p:nvPr/>
          </p:nvSpPr>
          <p:spPr>
            <a:xfrm flipV="1">
              <a:off x="3808" y="1728"/>
              <a:ext cx="0" cy="368"/>
            </a:xfrm>
            <a:prstGeom prst="line">
              <a:avLst/>
            </a:prstGeom>
            <a:ln w="9525" cap="flat" cmpd="sng">
              <a:solidFill>
                <a:schemeClr val="tx1"/>
              </a:solidFill>
              <a:prstDash val="solid"/>
              <a:headEnd type="none" w="med" len="med"/>
              <a:tailEnd type="triangle" w="med" len="med"/>
            </a:ln>
          </p:spPr>
        </p:sp>
        <p:sp>
          <p:nvSpPr>
            <p:cNvPr id="58469" name="Line 242"/>
            <p:cNvSpPr/>
            <p:nvPr/>
          </p:nvSpPr>
          <p:spPr>
            <a:xfrm flipV="1">
              <a:off x="4272" y="1720"/>
              <a:ext cx="0" cy="376"/>
            </a:xfrm>
            <a:prstGeom prst="line">
              <a:avLst/>
            </a:prstGeom>
            <a:ln w="9525" cap="flat" cmpd="sng">
              <a:solidFill>
                <a:schemeClr val="tx1"/>
              </a:solidFill>
              <a:prstDash val="solid"/>
              <a:headEnd type="none" w="med" len="med"/>
              <a:tailEnd type="triangle" w="med" len="med"/>
            </a:ln>
          </p:spPr>
        </p:sp>
        <p:sp>
          <p:nvSpPr>
            <p:cNvPr id="58470" name="Line 243"/>
            <p:cNvSpPr/>
            <p:nvPr/>
          </p:nvSpPr>
          <p:spPr>
            <a:xfrm flipV="1">
              <a:off x="4624" y="1712"/>
              <a:ext cx="0" cy="384"/>
            </a:xfrm>
            <a:prstGeom prst="line">
              <a:avLst/>
            </a:prstGeom>
            <a:ln w="9525" cap="flat" cmpd="sng">
              <a:solidFill>
                <a:schemeClr val="tx1"/>
              </a:solidFill>
              <a:prstDash val="solid"/>
              <a:headEnd type="none" w="med" len="med"/>
              <a:tailEnd type="triangle" w="med" len="med"/>
            </a:ln>
          </p:spPr>
        </p:sp>
        <p:sp>
          <p:nvSpPr>
            <p:cNvPr id="58471" name="Line 244"/>
            <p:cNvSpPr/>
            <p:nvPr/>
          </p:nvSpPr>
          <p:spPr>
            <a:xfrm flipV="1">
              <a:off x="4992" y="1712"/>
              <a:ext cx="0" cy="376"/>
            </a:xfrm>
            <a:prstGeom prst="line">
              <a:avLst/>
            </a:prstGeom>
            <a:ln w="9525" cap="flat" cmpd="sng">
              <a:solidFill>
                <a:schemeClr val="tx1"/>
              </a:solidFill>
              <a:prstDash val="solid"/>
              <a:headEnd type="none" w="med" len="med"/>
              <a:tailEnd type="triangle" w="med" len="med"/>
            </a:ln>
          </p:spPr>
        </p:sp>
        <p:sp>
          <p:nvSpPr>
            <p:cNvPr id="58472" name="Line 245"/>
            <p:cNvSpPr/>
            <p:nvPr/>
          </p:nvSpPr>
          <p:spPr>
            <a:xfrm flipV="1">
              <a:off x="1932" y="2217"/>
              <a:ext cx="3418" cy="8"/>
            </a:xfrm>
            <a:prstGeom prst="line">
              <a:avLst/>
            </a:prstGeom>
            <a:ln w="38100" cap="flat" cmpd="sng">
              <a:solidFill>
                <a:schemeClr val="accent1"/>
              </a:solidFill>
              <a:prstDash val="solid"/>
              <a:headEnd type="triangle" w="med" len="med"/>
              <a:tailEnd type="triangle" w="med" len="med"/>
            </a:ln>
          </p:spPr>
        </p:sp>
        <p:sp>
          <p:nvSpPr>
            <p:cNvPr id="58473" name="Line 246"/>
            <p:cNvSpPr/>
            <p:nvPr/>
          </p:nvSpPr>
          <p:spPr>
            <a:xfrm flipV="1">
              <a:off x="4024" y="2224"/>
              <a:ext cx="0" cy="160"/>
            </a:xfrm>
            <a:prstGeom prst="line">
              <a:avLst/>
            </a:prstGeom>
            <a:ln w="9525" cap="flat" cmpd="sng">
              <a:solidFill>
                <a:schemeClr val="accent1"/>
              </a:solidFill>
              <a:prstDash val="solid"/>
              <a:headEnd type="none" w="med" len="med"/>
              <a:tailEnd type="triangle" w="med" len="med"/>
            </a:ln>
          </p:spPr>
        </p:sp>
        <p:sp>
          <p:nvSpPr>
            <p:cNvPr id="58474" name="Line 247"/>
            <p:cNvSpPr/>
            <p:nvPr/>
          </p:nvSpPr>
          <p:spPr>
            <a:xfrm flipV="1">
              <a:off x="4056" y="2224"/>
              <a:ext cx="0" cy="160"/>
            </a:xfrm>
            <a:prstGeom prst="line">
              <a:avLst/>
            </a:prstGeom>
            <a:ln w="9525" cap="flat" cmpd="sng">
              <a:solidFill>
                <a:schemeClr val="accent1"/>
              </a:solidFill>
              <a:prstDash val="solid"/>
              <a:headEnd type="none" w="med" len="med"/>
              <a:tailEnd type="triangle" w="med" len="med"/>
            </a:ln>
          </p:spPr>
        </p:sp>
        <p:sp>
          <p:nvSpPr>
            <p:cNvPr id="58475" name="Line 248"/>
            <p:cNvSpPr/>
            <p:nvPr/>
          </p:nvSpPr>
          <p:spPr>
            <a:xfrm flipV="1">
              <a:off x="3992" y="2224"/>
              <a:ext cx="0" cy="160"/>
            </a:xfrm>
            <a:prstGeom prst="line">
              <a:avLst/>
            </a:prstGeom>
            <a:ln w="9525" cap="flat" cmpd="sng">
              <a:solidFill>
                <a:schemeClr val="accent1"/>
              </a:solidFill>
              <a:prstDash val="solid"/>
              <a:headEnd type="none" w="med" len="med"/>
              <a:tailEnd type="triangle" w="med" len="med"/>
            </a:ln>
          </p:spPr>
        </p:sp>
        <p:sp>
          <p:nvSpPr>
            <p:cNvPr id="58476" name="Line 249"/>
            <p:cNvSpPr/>
            <p:nvPr/>
          </p:nvSpPr>
          <p:spPr>
            <a:xfrm flipV="1">
              <a:off x="4120" y="2224"/>
              <a:ext cx="0" cy="160"/>
            </a:xfrm>
            <a:prstGeom prst="line">
              <a:avLst/>
            </a:prstGeom>
            <a:ln w="9525" cap="flat" cmpd="sng">
              <a:solidFill>
                <a:schemeClr val="accent1"/>
              </a:solidFill>
              <a:prstDash val="solid"/>
              <a:headEnd type="none" w="med" len="med"/>
              <a:tailEnd type="triangle" w="med" len="med"/>
            </a:ln>
          </p:spPr>
        </p:sp>
        <p:sp>
          <p:nvSpPr>
            <p:cNvPr id="58477" name="Line 250"/>
            <p:cNvSpPr/>
            <p:nvPr/>
          </p:nvSpPr>
          <p:spPr>
            <a:xfrm flipV="1">
              <a:off x="4152" y="2224"/>
              <a:ext cx="0" cy="160"/>
            </a:xfrm>
            <a:prstGeom prst="line">
              <a:avLst/>
            </a:prstGeom>
            <a:ln w="9525" cap="flat" cmpd="sng">
              <a:solidFill>
                <a:schemeClr val="accent1"/>
              </a:solidFill>
              <a:prstDash val="solid"/>
              <a:headEnd type="none" w="med" len="med"/>
              <a:tailEnd type="triangle" w="med" len="med"/>
            </a:ln>
          </p:spPr>
        </p:sp>
        <p:sp>
          <p:nvSpPr>
            <p:cNvPr id="58478" name="Line 251"/>
            <p:cNvSpPr/>
            <p:nvPr/>
          </p:nvSpPr>
          <p:spPr>
            <a:xfrm flipV="1">
              <a:off x="4088" y="2224"/>
              <a:ext cx="0" cy="160"/>
            </a:xfrm>
            <a:prstGeom prst="line">
              <a:avLst/>
            </a:prstGeom>
            <a:ln w="9525" cap="flat" cmpd="sng">
              <a:solidFill>
                <a:schemeClr val="accent1"/>
              </a:solidFill>
              <a:prstDash val="solid"/>
              <a:headEnd type="none" w="med" len="med"/>
              <a:tailEnd type="triangle" w="med" len="med"/>
            </a:ln>
          </p:spPr>
        </p:sp>
        <p:sp>
          <p:nvSpPr>
            <p:cNvPr id="58479" name="Line 252"/>
            <p:cNvSpPr/>
            <p:nvPr/>
          </p:nvSpPr>
          <p:spPr>
            <a:xfrm flipV="1">
              <a:off x="3928" y="2224"/>
              <a:ext cx="0" cy="160"/>
            </a:xfrm>
            <a:prstGeom prst="line">
              <a:avLst/>
            </a:prstGeom>
            <a:ln w="9525" cap="flat" cmpd="sng">
              <a:solidFill>
                <a:schemeClr val="accent1"/>
              </a:solidFill>
              <a:prstDash val="solid"/>
              <a:headEnd type="none" w="med" len="med"/>
              <a:tailEnd type="triangle" w="med" len="med"/>
            </a:ln>
          </p:spPr>
        </p:sp>
        <p:sp>
          <p:nvSpPr>
            <p:cNvPr id="58480" name="Line 253"/>
            <p:cNvSpPr/>
            <p:nvPr/>
          </p:nvSpPr>
          <p:spPr>
            <a:xfrm flipV="1">
              <a:off x="3960" y="2224"/>
              <a:ext cx="0" cy="160"/>
            </a:xfrm>
            <a:prstGeom prst="line">
              <a:avLst/>
            </a:prstGeom>
            <a:ln w="9525" cap="flat" cmpd="sng">
              <a:solidFill>
                <a:schemeClr val="accent1"/>
              </a:solidFill>
              <a:prstDash val="solid"/>
              <a:headEnd type="none" w="med" len="med"/>
              <a:tailEnd type="triangle" w="med" len="med"/>
            </a:ln>
          </p:spPr>
        </p:sp>
        <p:sp>
          <p:nvSpPr>
            <p:cNvPr id="58481" name="Line 254"/>
            <p:cNvSpPr/>
            <p:nvPr/>
          </p:nvSpPr>
          <p:spPr>
            <a:xfrm flipV="1">
              <a:off x="3896" y="2224"/>
              <a:ext cx="0" cy="160"/>
            </a:xfrm>
            <a:prstGeom prst="line">
              <a:avLst/>
            </a:prstGeom>
            <a:ln w="9525" cap="flat" cmpd="sng">
              <a:solidFill>
                <a:schemeClr val="accent1"/>
              </a:solidFill>
              <a:prstDash val="solid"/>
              <a:headEnd type="none" w="med" len="med"/>
              <a:tailEnd type="triangle" w="med" len="med"/>
            </a:ln>
          </p:spPr>
        </p:sp>
        <p:sp>
          <p:nvSpPr>
            <p:cNvPr id="58482" name="Line 255"/>
            <p:cNvSpPr/>
            <p:nvPr/>
          </p:nvSpPr>
          <p:spPr>
            <a:xfrm flipV="1">
              <a:off x="3784" y="2224"/>
              <a:ext cx="0" cy="160"/>
            </a:xfrm>
            <a:prstGeom prst="line">
              <a:avLst/>
            </a:prstGeom>
            <a:ln w="9525" cap="flat" cmpd="sng">
              <a:solidFill>
                <a:schemeClr val="accent1"/>
              </a:solidFill>
              <a:prstDash val="solid"/>
              <a:headEnd type="none" w="med" len="med"/>
              <a:tailEnd type="triangle" w="med" len="med"/>
            </a:ln>
          </p:spPr>
        </p:sp>
        <p:sp>
          <p:nvSpPr>
            <p:cNvPr id="58483" name="Line 256"/>
            <p:cNvSpPr/>
            <p:nvPr/>
          </p:nvSpPr>
          <p:spPr>
            <a:xfrm flipV="1">
              <a:off x="3816" y="2224"/>
              <a:ext cx="0" cy="160"/>
            </a:xfrm>
            <a:prstGeom prst="line">
              <a:avLst/>
            </a:prstGeom>
            <a:ln w="9525" cap="flat" cmpd="sng">
              <a:solidFill>
                <a:schemeClr val="accent1"/>
              </a:solidFill>
              <a:prstDash val="solid"/>
              <a:headEnd type="none" w="med" len="med"/>
              <a:tailEnd type="triangle" w="med" len="med"/>
            </a:ln>
          </p:spPr>
        </p:sp>
        <p:sp>
          <p:nvSpPr>
            <p:cNvPr id="58484" name="Line 257"/>
            <p:cNvSpPr/>
            <p:nvPr/>
          </p:nvSpPr>
          <p:spPr>
            <a:xfrm flipV="1">
              <a:off x="3752" y="2224"/>
              <a:ext cx="0" cy="160"/>
            </a:xfrm>
            <a:prstGeom prst="line">
              <a:avLst/>
            </a:prstGeom>
            <a:ln w="9525" cap="flat" cmpd="sng">
              <a:solidFill>
                <a:schemeClr val="accent1"/>
              </a:solidFill>
              <a:prstDash val="solid"/>
              <a:headEnd type="none" w="med" len="med"/>
              <a:tailEnd type="triangle" w="med" len="med"/>
            </a:ln>
          </p:spPr>
        </p:sp>
        <p:sp>
          <p:nvSpPr>
            <p:cNvPr id="58485" name="Line 258"/>
            <p:cNvSpPr/>
            <p:nvPr/>
          </p:nvSpPr>
          <p:spPr>
            <a:xfrm flipV="1">
              <a:off x="3688" y="2224"/>
              <a:ext cx="0" cy="160"/>
            </a:xfrm>
            <a:prstGeom prst="line">
              <a:avLst/>
            </a:prstGeom>
            <a:ln w="9525" cap="flat" cmpd="sng">
              <a:solidFill>
                <a:schemeClr val="accent1"/>
              </a:solidFill>
              <a:prstDash val="solid"/>
              <a:headEnd type="none" w="med" len="med"/>
              <a:tailEnd type="triangle" w="med" len="med"/>
            </a:ln>
          </p:spPr>
        </p:sp>
        <p:sp>
          <p:nvSpPr>
            <p:cNvPr id="58486" name="Line 259"/>
            <p:cNvSpPr/>
            <p:nvPr/>
          </p:nvSpPr>
          <p:spPr>
            <a:xfrm flipV="1">
              <a:off x="3720" y="2224"/>
              <a:ext cx="0" cy="160"/>
            </a:xfrm>
            <a:prstGeom prst="line">
              <a:avLst/>
            </a:prstGeom>
            <a:ln w="9525" cap="flat" cmpd="sng">
              <a:solidFill>
                <a:schemeClr val="accent1"/>
              </a:solidFill>
              <a:prstDash val="solid"/>
              <a:headEnd type="none" w="med" len="med"/>
              <a:tailEnd type="triangle" w="med" len="med"/>
            </a:ln>
          </p:spPr>
        </p:sp>
        <p:sp>
          <p:nvSpPr>
            <p:cNvPr id="58487" name="Line 260"/>
            <p:cNvSpPr/>
            <p:nvPr/>
          </p:nvSpPr>
          <p:spPr>
            <a:xfrm flipV="1">
              <a:off x="3656" y="2224"/>
              <a:ext cx="0" cy="160"/>
            </a:xfrm>
            <a:prstGeom prst="line">
              <a:avLst/>
            </a:prstGeom>
            <a:ln w="9525" cap="flat" cmpd="sng">
              <a:solidFill>
                <a:schemeClr val="accent1"/>
              </a:solidFill>
              <a:prstDash val="solid"/>
              <a:headEnd type="none" w="med" len="med"/>
              <a:tailEnd type="triangle" w="med" len="med"/>
            </a:ln>
          </p:spPr>
        </p:sp>
        <p:sp>
          <p:nvSpPr>
            <p:cNvPr id="58488" name="Line 261"/>
            <p:cNvSpPr/>
            <p:nvPr/>
          </p:nvSpPr>
          <p:spPr>
            <a:xfrm flipV="1">
              <a:off x="3408" y="2224"/>
              <a:ext cx="0" cy="160"/>
            </a:xfrm>
            <a:prstGeom prst="line">
              <a:avLst/>
            </a:prstGeom>
            <a:ln w="9525" cap="flat" cmpd="sng">
              <a:solidFill>
                <a:schemeClr val="accent1"/>
              </a:solidFill>
              <a:prstDash val="solid"/>
              <a:headEnd type="none" w="med" len="med"/>
              <a:tailEnd type="triangle" w="med" len="med"/>
            </a:ln>
          </p:spPr>
        </p:sp>
        <p:sp>
          <p:nvSpPr>
            <p:cNvPr id="58489" name="Line 262"/>
            <p:cNvSpPr/>
            <p:nvPr/>
          </p:nvSpPr>
          <p:spPr>
            <a:xfrm flipV="1">
              <a:off x="3440" y="2224"/>
              <a:ext cx="0" cy="160"/>
            </a:xfrm>
            <a:prstGeom prst="line">
              <a:avLst/>
            </a:prstGeom>
            <a:ln w="9525" cap="flat" cmpd="sng">
              <a:solidFill>
                <a:schemeClr val="accent1"/>
              </a:solidFill>
              <a:prstDash val="solid"/>
              <a:headEnd type="none" w="med" len="med"/>
              <a:tailEnd type="triangle" w="med" len="med"/>
            </a:ln>
          </p:spPr>
        </p:sp>
        <p:sp>
          <p:nvSpPr>
            <p:cNvPr id="58490" name="Line 263"/>
            <p:cNvSpPr/>
            <p:nvPr/>
          </p:nvSpPr>
          <p:spPr>
            <a:xfrm flipV="1">
              <a:off x="3376" y="2224"/>
              <a:ext cx="0" cy="160"/>
            </a:xfrm>
            <a:prstGeom prst="line">
              <a:avLst/>
            </a:prstGeom>
            <a:ln w="9525" cap="flat" cmpd="sng">
              <a:solidFill>
                <a:schemeClr val="accent1"/>
              </a:solidFill>
              <a:prstDash val="solid"/>
              <a:headEnd type="none" w="med" len="med"/>
              <a:tailEnd type="triangle" w="med" len="med"/>
            </a:ln>
          </p:spPr>
        </p:sp>
        <p:sp>
          <p:nvSpPr>
            <p:cNvPr id="58491" name="Line 264"/>
            <p:cNvSpPr/>
            <p:nvPr/>
          </p:nvSpPr>
          <p:spPr>
            <a:xfrm flipV="1">
              <a:off x="2008" y="1728"/>
              <a:ext cx="0" cy="488"/>
            </a:xfrm>
            <a:prstGeom prst="line">
              <a:avLst/>
            </a:prstGeom>
            <a:ln w="9525" cap="flat" cmpd="sng">
              <a:solidFill>
                <a:schemeClr val="accent1"/>
              </a:solidFill>
              <a:prstDash val="solid"/>
              <a:headEnd type="none" w="med" len="med"/>
              <a:tailEnd type="triangle" w="med" len="med"/>
            </a:ln>
          </p:spPr>
        </p:sp>
        <p:sp>
          <p:nvSpPr>
            <p:cNvPr id="58492" name="Line 265"/>
            <p:cNvSpPr/>
            <p:nvPr/>
          </p:nvSpPr>
          <p:spPr>
            <a:xfrm flipV="1">
              <a:off x="2376" y="1728"/>
              <a:ext cx="0" cy="488"/>
            </a:xfrm>
            <a:prstGeom prst="line">
              <a:avLst/>
            </a:prstGeom>
            <a:ln w="9525" cap="flat" cmpd="sng">
              <a:solidFill>
                <a:schemeClr val="accent1"/>
              </a:solidFill>
              <a:prstDash val="solid"/>
              <a:headEnd type="none" w="med" len="med"/>
              <a:tailEnd type="triangle" w="med" len="med"/>
            </a:ln>
          </p:spPr>
        </p:sp>
        <p:sp>
          <p:nvSpPr>
            <p:cNvPr id="58493" name="Line 266"/>
            <p:cNvSpPr/>
            <p:nvPr/>
          </p:nvSpPr>
          <p:spPr>
            <a:xfrm flipV="1">
              <a:off x="2744" y="1728"/>
              <a:ext cx="0" cy="488"/>
            </a:xfrm>
            <a:prstGeom prst="line">
              <a:avLst/>
            </a:prstGeom>
            <a:ln w="9525" cap="flat" cmpd="sng">
              <a:solidFill>
                <a:schemeClr val="accent1"/>
              </a:solidFill>
              <a:prstDash val="solid"/>
              <a:headEnd type="none" w="med" len="med"/>
              <a:tailEnd type="triangle" w="med" len="med"/>
            </a:ln>
          </p:spPr>
        </p:sp>
        <p:sp>
          <p:nvSpPr>
            <p:cNvPr id="58494" name="Line 267"/>
            <p:cNvSpPr/>
            <p:nvPr/>
          </p:nvSpPr>
          <p:spPr>
            <a:xfrm flipV="1">
              <a:off x="3136" y="1728"/>
              <a:ext cx="0" cy="488"/>
            </a:xfrm>
            <a:prstGeom prst="line">
              <a:avLst/>
            </a:prstGeom>
            <a:ln w="9525" cap="flat" cmpd="sng">
              <a:solidFill>
                <a:schemeClr val="accent1"/>
              </a:solidFill>
              <a:prstDash val="solid"/>
              <a:headEnd type="none" w="med" len="med"/>
              <a:tailEnd type="triangle" w="med" len="med"/>
            </a:ln>
          </p:spPr>
        </p:sp>
        <p:sp>
          <p:nvSpPr>
            <p:cNvPr id="58495" name="Line 268"/>
            <p:cNvSpPr/>
            <p:nvPr/>
          </p:nvSpPr>
          <p:spPr>
            <a:xfrm flipV="1">
              <a:off x="3168" y="1728"/>
              <a:ext cx="0" cy="488"/>
            </a:xfrm>
            <a:prstGeom prst="line">
              <a:avLst/>
            </a:prstGeom>
            <a:ln w="9525" cap="flat" cmpd="sng">
              <a:solidFill>
                <a:schemeClr val="accent1"/>
              </a:solidFill>
              <a:prstDash val="solid"/>
              <a:headEnd type="none" w="med" len="med"/>
              <a:tailEnd type="triangle" w="med" len="med"/>
            </a:ln>
          </p:spPr>
        </p:sp>
        <p:sp>
          <p:nvSpPr>
            <p:cNvPr id="58496" name="Line 269"/>
            <p:cNvSpPr/>
            <p:nvPr/>
          </p:nvSpPr>
          <p:spPr>
            <a:xfrm flipV="1">
              <a:off x="3496" y="1720"/>
              <a:ext cx="0" cy="488"/>
            </a:xfrm>
            <a:prstGeom prst="line">
              <a:avLst/>
            </a:prstGeom>
            <a:ln w="9525" cap="flat" cmpd="sng">
              <a:solidFill>
                <a:schemeClr val="accent1"/>
              </a:solidFill>
              <a:prstDash val="solid"/>
              <a:headEnd type="none" w="med" len="med"/>
              <a:tailEnd type="triangle" w="med" len="med"/>
            </a:ln>
          </p:spPr>
        </p:sp>
        <p:sp>
          <p:nvSpPr>
            <p:cNvPr id="58497" name="Line 270"/>
            <p:cNvSpPr/>
            <p:nvPr/>
          </p:nvSpPr>
          <p:spPr>
            <a:xfrm flipV="1">
              <a:off x="3528" y="1720"/>
              <a:ext cx="0" cy="488"/>
            </a:xfrm>
            <a:prstGeom prst="line">
              <a:avLst/>
            </a:prstGeom>
            <a:ln w="9525" cap="flat" cmpd="sng">
              <a:solidFill>
                <a:schemeClr val="accent1"/>
              </a:solidFill>
              <a:prstDash val="solid"/>
              <a:headEnd type="none" w="med" len="med"/>
              <a:tailEnd type="triangle" w="med" len="med"/>
            </a:ln>
          </p:spPr>
        </p:sp>
        <p:sp>
          <p:nvSpPr>
            <p:cNvPr id="58498" name="Line 271"/>
            <p:cNvSpPr/>
            <p:nvPr/>
          </p:nvSpPr>
          <p:spPr>
            <a:xfrm flipV="1">
              <a:off x="3896" y="1728"/>
              <a:ext cx="0" cy="488"/>
            </a:xfrm>
            <a:prstGeom prst="line">
              <a:avLst/>
            </a:prstGeom>
            <a:ln w="9525" cap="flat" cmpd="sng">
              <a:solidFill>
                <a:schemeClr val="accent1"/>
              </a:solidFill>
              <a:prstDash val="solid"/>
              <a:headEnd type="none" w="med" len="med"/>
              <a:tailEnd type="triangle" w="med" len="med"/>
            </a:ln>
          </p:spPr>
        </p:sp>
        <p:sp>
          <p:nvSpPr>
            <p:cNvPr id="58499" name="Line 272"/>
            <p:cNvSpPr/>
            <p:nvPr/>
          </p:nvSpPr>
          <p:spPr>
            <a:xfrm flipV="1">
              <a:off x="3928" y="1728"/>
              <a:ext cx="0" cy="488"/>
            </a:xfrm>
            <a:prstGeom prst="line">
              <a:avLst/>
            </a:prstGeom>
            <a:ln w="9525" cap="flat" cmpd="sng">
              <a:solidFill>
                <a:schemeClr val="accent1"/>
              </a:solidFill>
              <a:prstDash val="solid"/>
              <a:headEnd type="none" w="med" len="med"/>
              <a:tailEnd type="triangle" w="med" len="med"/>
            </a:ln>
          </p:spPr>
        </p:sp>
        <p:sp>
          <p:nvSpPr>
            <p:cNvPr id="58500" name="Line 273"/>
            <p:cNvSpPr/>
            <p:nvPr/>
          </p:nvSpPr>
          <p:spPr>
            <a:xfrm flipV="1">
              <a:off x="5080" y="1720"/>
              <a:ext cx="0" cy="488"/>
            </a:xfrm>
            <a:prstGeom prst="line">
              <a:avLst/>
            </a:prstGeom>
            <a:ln w="9525" cap="flat" cmpd="sng">
              <a:solidFill>
                <a:schemeClr val="accent1"/>
              </a:solidFill>
              <a:prstDash val="solid"/>
              <a:headEnd type="none" w="med" len="med"/>
              <a:tailEnd type="triangle" w="med" len="med"/>
            </a:ln>
          </p:spPr>
        </p:sp>
        <p:sp>
          <p:nvSpPr>
            <p:cNvPr id="58501" name="Line 274"/>
            <p:cNvSpPr/>
            <p:nvPr/>
          </p:nvSpPr>
          <p:spPr>
            <a:xfrm flipV="1">
              <a:off x="5112" y="1720"/>
              <a:ext cx="0" cy="488"/>
            </a:xfrm>
            <a:prstGeom prst="line">
              <a:avLst/>
            </a:prstGeom>
            <a:ln w="9525" cap="flat" cmpd="sng">
              <a:solidFill>
                <a:schemeClr val="accent1"/>
              </a:solidFill>
              <a:prstDash val="solid"/>
              <a:headEnd type="none" w="med" len="med"/>
              <a:tailEnd type="triangle" w="med" len="med"/>
            </a:ln>
          </p:spPr>
        </p:sp>
        <p:sp>
          <p:nvSpPr>
            <p:cNvPr id="58502" name="Line 275"/>
            <p:cNvSpPr/>
            <p:nvPr/>
          </p:nvSpPr>
          <p:spPr>
            <a:xfrm flipV="1">
              <a:off x="5048" y="1720"/>
              <a:ext cx="0" cy="488"/>
            </a:xfrm>
            <a:prstGeom prst="line">
              <a:avLst/>
            </a:prstGeom>
            <a:ln w="9525" cap="flat" cmpd="sng">
              <a:solidFill>
                <a:schemeClr val="accent1"/>
              </a:solidFill>
              <a:prstDash val="solid"/>
              <a:headEnd type="none" w="med" len="med"/>
              <a:tailEnd type="triangle" w="med" len="med"/>
            </a:ln>
          </p:spPr>
        </p:sp>
        <p:sp>
          <p:nvSpPr>
            <p:cNvPr id="58503" name="Line 276"/>
            <p:cNvSpPr/>
            <p:nvPr/>
          </p:nvSpPr>
          <p:spPr>
            <a:xfrm flipV="1">
              <a:off x="4720" y="1720"/>
              <a:ext cx="0" cy="488"/>
            </a:xfrm>
            <a:prstGeom prst="line">
              <a:avLst/>
            </a:prstGeom>
            <a:ln w="9525" cap="flat" cmpd="sng">
              <a:solidFill>
                <a:schemeClr val="accent1"/>
              </a:solidFill>
              <a:prstDash val="solid"/>
              <a:headEnd type="none" w="med" len="med"/>
              <a:tailEnd type="triangle" w="med" len="med"/>
            </a:ln>
          </p:spPr>
        </p:sp>
        <p:sp>
          <p:nvSpPr>
            <p:cNvPr id="58504" name="Line 277"/>
            <p:cNvSpPr/>
            <p:nvPr/>
          </p:nvSpPr>
          <p:spPr>
            <a:xfrm flipV="1">
              <a:off x="4752" y="1720"/>
              <a:ext cx="0" cy="488"/>
            </a:xfrm>
            <a:prstGeom prst="line">
              <a:avLst/>
            </a:prstGeom>
            <a:ln w="9525" cap="flat" cmpd="sng">
              <a:solidFill>
                <a:schemeClr val="accent1"/>
              </a:solidFill>
              <a:prstDash val="solid"/>
              <a:headEnd type="none" w="med" len="med"/>
              <a:tailEnd type="triangle" w="med" len="med"/>
            </a:ln>
          </p:spPr>
        </p:sp>
        <p:sp>
          <p:nvSpPr>
            <p:cNvPr id="58505" name="Line 278"/>
            <p:cNvSpPr/>
            <p:nvPr/>
          </p:nvSpPr>
          <p:spPr>
            <a:xfrm flipV="1">
              <a:off x="4688" y="1720"/>
              <a:ext cx="0" cy="488"/>
            </a:xfrm>
            <a:prstGeom prst="line">
              <a:avLst/>
            </a:prstGeom>
            <a:ln w="9525" cap="flat" cmpd="sng">
              <a:solidFill>
                <a:schemeClr val="accent1"/>
              </a:solidFill>
              <a:prstDash val="solid"/>
              <a:headEnd type="none" w="med" len="med"/>
              <a:tailEnd type="triangle" w="med" len="med"/>
            </a:ln>
          </p:spPr>
        </p:sp>
        <p:sp>
          <p:nvSpPr>
            <p:cNvPr id="58506" name="Line 279"/>
            <p:cNvSpPr/>
            <p:nvPr/>
          </p:nvSpPr>
          <p:spPr>
            <a:xfrm flipV="1">
              <a:off x="4368" y="1728"/>
              <a:ext cx="0" cy="488"/>
            </a:xfrm>
            <a:prstGeom prst="line">
              <a:avLst/>
            </a:prstGeom>
            <a:ln w="9525" cap="flat" cmpd="sng">
              <a:solidFill>
                <a:schemeClr val="accent1"/>
              </a:solidFill>
              <a:prstDash val="solid"/>
              <a:headEnd type="none" w="med" len="med"/>
              <a:tailEnd type="triangle" w="med" len="med"/>
            </a:ln>
          </p:spPr>
        </p:sp>
        <p:sp>
          <p:nvSpPr>
            <p:cNvPr id="58507" name="Line 280"/>
            <p:cNvSpPr/>
            <p:nvPr/>
          </p:nvSpPr>
          <p:spPr>
            <a:xfrm flipV="1">
              <a:off x="4400" y="1728"/>
              <a:ext cx="0" cy="488"/>
            </a:xfrm>
            <a:prstGeom prst="line">
              <a:avLst/>
            </a:prstGeom>
            <a:ln w="9525" cap="flat" cmpd="sng">
              <a:solidFill>
                <a:schemeClr val="accent1"/>
              </a:solidFill>
              <a:prstDash val="solid"/>
              <a:headEnd type="none" w="med" len="med"/>
              <a:tailEnd type="triangle" w="med" len="med"/>
            </a:ln>
          </p:spPr>
        </p:sp>
        <p:sp>
          <p:nvSpPr>
            <p:cNvPr id="58508" name="Line 281"/>
            <p:cNvSpPr/>
            <p:nvPr/>
          </p:nvSpPr>
          <p:spPr>
            <a:xfrm flipV="1">
              <a:off x="4336" y="1728"/>
              <a:ext cx="0" cy="488"/>
            </a:xfrm>
            <a:prstGeom prst="line">
              <a:avLst/>
            </a:prstGeom>
            <a:ln w="9525" cap="flat" cmpd="sng">
              <a:solidFill>
                <a:schemeClr val="accent1"/>
              </a:solidFill>
              <a:prstDash val="solid"/>
              <a:headEnd type="none" w="med" len="med"/>
              <a:tailEnd type="triangle" w="med" len="med"/>
            </a:ln>
          </p:spPr>
        </p:sp>
      </p:grpSp>
      <p:sp>
        <p:nvSpPr>
          <p:cNvPr id="58422" name="Text Box 282"/>
          <p:cNvSpPr txBox="1"/>
          <p:nvPr/>
        </p:nvSpPr>
        <p:spPr>
          <a:xfrm>
            <a:off x="9059863" y="3868738"/>
            <a:ext cx="2273300" cy="922020"/>
          </a:xfrm>
          <a:prstGeom prst="rect">
            <a:avLst/>
          </a:prstGeom>
          <a:noFill/>
          <a:ln w="9525">
            <a:noFill/>
          </a:ln>
        </p:spPr>
        <p:txBody>
          <a:bodyPr>
            <a:spAutoFit/>
          </a:bodyPr>
          <a:p>
            <a:pPr>
              <a:spcBef>
                <a:spcPct val="50000"/>
              </a:spcBef>
            </a:pPr>
            <a:r>
              <a:rPr lang="en-US" altLang="zh-CN" sz="3600" b="1" dirty="0">
                <a:solidFill>
                  <a:srgbClr val="FF3300"/>
                </a:solidFill>
                <a:latin typeface="宋体" panose="02000500000000000000" pitchFamily="2" charset="-122"/>
                <a:cs typeface="宋体" panose="02000500000000000000" pitchFamily="2" charset="-122"/>
              </a:rPr>
              <a:t>X 3</a:t>
            </a:r>
            <a:endParaRPr lang="en-US" altLang="zh-CN" sz="3600" b="1" dirty="0">
              <a:solidFill>
                <a:srgbClr val="FF3300"/>
              </a:solidFill>
              <a:latin typeface="宋体" panose="02000500000000000000" pitchFamily="2" charset="-122"/>
              <a:cs typeface="宋体" panose="02000500000000000000" pitchFamily="2" charset="-122"/>
            </a:endParaRPr>
          </a:p>
          <a:p>
            <a:pPr>
              <a:spcBef>
                <a:spcPct val="50000"/>
              </a:spcBef>
            </a:pPr>
            <a:r>
              <a:rPr lang="en-US" altLang="zh-CN" sz="1200" b="1" dirty="0">
                <a:solidFill>
                  <a:srgbClr val="FF3300"/>
                </a:solidFill>
                <a:latin typeface="宋体" panose="02000500000000000000" pitchFamily="2" charset="-122"/>
                <a:cs typeface="宋体" panose="02000500000000000000" pitchFamily="2" charset="-122"/>
              </a:rPr>
              <a:t>(dest</a:t>
            </a:r>
            <a:r>
              <a:rPr lang="zh-CN" altLang="en-US" sz="1200" b="1" dirty="0">
                <a:solidFill>
                  <a:srgbClr val="FF3300"/>
                </a:solidFill>
                <a:latin typeface="宋体" panose="02000500000000000000" pitchFamily="2" charset="-122"/>
                <a:cs typeface="宋体" panose="02000500000000000000" pitchFamily="2" charset="-122"/>
              </a:rPr>
              <a:t>、</a:t>
            </a:r>
            <a:r>
              <a:rPr lang="en-US" altLang="zh-CN" sz="1200" b="1" dirty="0">
                <a:solidFill>
                  <a:srgbClr val="FF3300"/>
                </a:solidFill>
                <a:latin typeface="宋体" panose="02000500000000000000" pitchFamily="2" charset="-122"/>
                <a:cs typeface="宋体" panose="02000500000000000000" pitchFamily="2" charset="-122"/>
              </a:rPr>
              <a:t>src1</a:t>
            </a:r>
            <a:r>
              <a:rPr lang="zh-CN" altLang="en-US" sz="1200" b="1" dirty="0">
                <a:solidFill>
                  <a:srgbClr val="FF3300"/>
                </a:solidFill>
                <a:latin typeface="宋体" panose="02000500000000000000" pitchFamily="2" charset="-122"/>
                <a:cs typeface="宋体" panose="02000500000000000000" pitchFamily="2" charset="-122"/>
              </a:rPr>
              <a:t>、</a:t>
            </a:r>
            <a:r>
              <a:rPr lang="en-US" altLang="zh-CN" sz="1200" b="1" dirty="0">
                <a:solidFill>
                  <a:srgbClr val="FF3300"/>
                </a:solidFill>
                <a:latin typeface="宋体" panose="02000500000000000000" pitchFamily="2" charset="-122"/>
                <a:cs typeface="宋体" panose="02000500000000000000" pitchFamily="2" charset="-122"/>
              </a:rPr>
              <a:t>src2)</a:t>
            </a:r>
            <a:endParaRPr lang="en-US" altLang="zh-CN" sz="1200" b="1" dirty="0">
              <a:solidFill>
                <a:srgbClr val="FF3300"/>
              </a:solidFill>
              <a:latin typeface="宋体" panose="02000500000000000000" pitchFamily="2" charset="-122"/>
              <a:cs typeface="宋体" panose="02000500000000000000" pitchFamily="2" charset="-122"/>
            </a:endParaRPr>
          </a:p>
        </p:txBody>
      </p:sp>
      <p:sp>
        <p:nvSpPr>
          <p:cNvPr id="58423" name="TextBox 237"/>
          <p:cNvSpPr txBox="1"/>
          <p:nvPr/>
        </p:nvSpPr>
        <p:spPr>
          <a:xfrm>
            <a:off x="1804988" y="6242050"/>
            <a:ext cx="8850312" cy="461963"/>
          </a:xfrm>
          <a:prstGeom prst="rect">
            <a:avLst/>
          </a:prstGeom>
          <a:noFill/>
          <a:ln w="9525">
            <a:noFill/>
          </a:ln>
        </p:spPr>
        <p:txBody>
          <a:bodyPr>
            <a:spAutoFit/>
          </a:bodyPr>
          <a:p>
            <a:r>
              <a:rPr lang="zh-CN" altLang="en-US" b="1" dirty="0">
                <a:solidFill>
                  <a:srgbClr val="FF0000"/>
                </a:solidFill>
                <a:latin typeface="Times New Roman" pitchFamily="18" charset="0"/>
              </a:rPr>
              <a:t>重命名逻辑随发射宽度的平方复杂度！</a:t>
            </a:r>
            <a:endParaRPr lang="zh-CN" altLang="en-US" b="1" dirty="0">
              <a:solidFill>
                <a:srgbClr val="FF0000"/>
              </a:solidFill>
              <a:latin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59395" name="Rectangle 2"/>
          <p:cNvSpPr/>
          <p:nvPr/>
        </p:nvSpPr>
        <p:spPr>
          <a:xfrm>
            <a:off x="914400" y="274638"/>
            <a:ext cx="10361613" cy="585787"/>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发射队列</a:t>
            </a:r>
            <a:endParaRPr lang="zh-CN" altLang="en-US" sz="3600" dirty="0">
              <a:solidFill>
                <a:srgbClr val="FF3300"/>
              </a:solidFill>
              <a:latin typeface="Times New Roman" pitchFamily="18" charset="0"/>
              <a:ea typeface="黑体" panose="02000500000000000000" pitchFamily="49" charset="-122"/>
            </a:endParaRPr>
          </a:p>
        </p:txBody>
      </p:sp>
      <p:sp>
        <p:nvSpPr>
          <p:cNvPr id="59396" name="Rectangle 3"/>
          <p:cNvSpPr/>
          <p:nvPr/>
        </p:nvSpPr>
        <p:spPr>
          <a:xfrm>
            <a:off x="655955" y="1222375"/>
            <a:ext cx="10714355" cy="5478780"/>
          </a:xfrm>
          <a:prstGeom prst="rect">
            <a:avLst/>
          </a:prstGeom>
          <a:noFill/>
          <a:ln w="9525">
            <a:noFill/>
          </a:ln>
        </p:spPr>
        <p:txBody>
          <a:bodyPr/>
          <a:p>
            <a:pPr marL="342900" indent="-342900" algn="just">
              <a:lnSpc>
                <a:spcPct val="150000"/>
              </a:lnSpc>
              <a:spcBef>
                <a:spcPts val="600"/>
              </a:spcBef>
              <a:buChar char="•"/>
            </a:pPr>
            <a:r>
              <a:rPr lang="zh-CN" altLang="zh-CN" sz="2000" b="1" dirty="0">
                <a:latin typeface="宋体" panose="02000500000000000000" pitchFamily="2" charset="-122"/>
                <a:ea typeface="宋体" panose="02000500000000000000" pitchFamily="2" charset="-122"/>
                <a:cs typeface="宋体" panose="02000500000000000000" pitchFamily="2" charset="-122"/>
              </a:rPr>
              <a:t>定点和浮点队列分开，相当于分组保留站</a:t>
            </a:r>
            <a:endParaRPr lang="zh-CN" altLang="zh-CN"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zh-CN" altLang="zh-CN" sz="1600" b="1" dirty="0">
                <a:latin typeface="宋体" panose="02000500000000000000" pitchFamily="2" charset="-122"/>
                <a:ea typeface="宋体" panose="02000500000000000000" pitchFamily="2" charset="-122"/>
                <a:cs typeface="宋体" panose="02000500000000000000" pitchFamily="2" charset="-122"/>
              </a:rPr>
              <a:t>操作寄存器重命名后进入发射队列，取指和译码过程中发生例外的操作不进入发射队列</a:t>
            </a:r>
            <a:endParaRPr lang="zh-CN" altLang="zh-CN"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乱序发射</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对于每个功能部件每次在已经准备好可以发射的操作中找最早进入队列的进行发射，发射队列中增加</a:t>
            </a:r>
            <a:r>
              <a:rPr lang="en-US" altLang="zh-CN" sz="1600" b="1" dirty="0">
                <a:latin typeface="宋体" panose="02000500000000000000" pitchFamily="2" charset="-122"/>
                <a:ea typeface="宋体" panose="02000500000000000000" pitchFamily="2" charset="-122"/>
                <a:cs typeface="宋体" panose="02000500000000000000" pitchFamily="2" charset="-122"/>
              </a:rPr>
              <a:t>age</a:t>
            </a:r>
            <a:r>
              <a:rPr lang="zh-CN" altLang="en-US" sz="1600" b="1" dirty="0">
                <a:latin typeface="宋体" panose="02000500000000000000" pitchFamily="2" charset="-122"/>
                <a:ea typeface="宋体" panose="02000500000000000000" pitchFamily="2" charset="-122"/>
                <a:cs typeface="宋体" panose="02000500000000000000" pitchFamily="2" charset="-122"/>
              </a:rPr>
              <a:t>域</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数据准备好的判断</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寄存器重命名阶段根据物理寄存器状态表判断该物理寄存器是否可用</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操作队列侦听有关有关功能部件的写回结果，把等待该结果的操作数置为有效</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0419" name="Rectangle 2"/>
          <p:cNvSpPr/>
          <p:nvPr/>
        </p:nvSpPr>
        <p:spPr>
          <a:xfrm>
            <a:off x="914400" y="0"/>
            <a:ext cx="10361930" cy="808355"/>
          </a:xfrm>
          <a:prstGeom prst="rect">
            <a:avLst/>
          </a:prstGeom>
          <a:noFill/>
          <a:ln w="9525">
            <a:noFill/>
          </a:ln>
        </p:spPr>
        <p:txBody>
          <a:bodyPr anchor="ctr" anchorCtr="0"/>
          <a:p>
            <a:r>
              <a:rPr lang="zh-CN" altLang="en-US" sz="3600" dirty="0">
                <a:solidFill>
                  <a:srgbClr val="FF3300"/>
                </a:solidFill>
                <a:latin typeface="Times New Roman" pitchFamily="18" charset="0"/>
                <a:ea typeface="黑体" panose="02000500000000000000" pitchFamily="49" charset="-122"/>
              </a:rPr>
              <a:t>发射队列</a:t>
            </a:r>
            <a:endParaRPr lang="zh-CN" altLang="en-US" sz="3600" dirty="0">
              <a:solidFill>
                <a:srgbClr val="FF3300"/>
              </a:solidFill>
              <a:latin typeface="Times New Roman" pitchFamily="18" charset="0"/>
              <a:ea typeface="黑体" panose="02000500000000000000" pitchFamily="49" charset="-122"/>
            </a:endParaRPr>
          </a:p>
        </p:txBody>
      </p:sp>
      <p:sp>
        <p:nvSpPr>
          <p:cNvPr id="60420" name="Rectangle 3"/>
          <p:cNvSpPr/>
          <p:nvPr/>
        </p:nvSpPr>
        <p:spPr>
          <a:xfrm>
            <a:off x="368300" y="947738"/>
            <a:ext cx="11585575" cy="5905500"/>
          </a:xfrm>
          <a:prstGeom prst="rect">
            <a:avLst/>
          </a:prstGeom>
          <a:noFill/>
          <a:ln w="9525">
            <a:noFill/>
          </a:ln>
        </p:spPr>
        <p:txBody>
          <a:bodyPr/>
          <a:p>
            <a:pPr marL="342900" indent="-342900" algn="just">
              <a:lnSpc>
                <a:spcPct val="150000"/>
              </a:lnSpc>
              <a:spcBef>
                <a:spcPts val="600"/>
              </a:spcBef>
              <a:buChar char="•"/>
            </a:pPr>
            <a:r>
              <a:rPr lang="zh-CN" altLang="zh-CN" sz="2000" b="1" dirty="0">
                <a:latin typeface="宋体" panose="02000500000000000000" pitchFamily="2" charset="-122"/>
                <a:ea typeface="宋体" panose="02000500000000000000" pitchFamily="2" charset="-122"/>
                <a:cs typeface="宋体" panose="02000500000000000000" pitchFamily="2" charset="-122"/>
              </a:rPr>
              <a:t>发射队列内容</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fu: </a:t>
            </a:r>
            <a:r>
              <a:rPr lang="zh-CN" altLang="en-US" sz="1600" b="1" dirty="0">
                <a:latin typeface="宋体" panose="02000500000000000000" pitchFamily="2" charset="-122"/>
                <a:ea typeface="宋体" panose="02000500000000000000" pitchFamily="2" charset="-122"/>
                <a:cs typeface="宋体" panose="02000500000000000000" pitchFamily="2" charset="-122"/>
              </a:rPr>
              <a:t>执行该操作的功能部件号，全</a:t>
            </a:r>
            <a:r>
              <a:rPr lang="en-US" altLang="zh-CN" sz="1600" b="1" dirty="0">
                <a:latin typeface="宋体" panose="02000500000000000000" pitchFamily="2" charset="-122"/>
                <a:ea typeface="宋体" panose="02000500000000000000" pitchFamily="2" charset="-122"/>
                <a:cs typeface="宋体" panose="02000500000000000000" pitchFamily="2" charset="-122"/>
              </a:rPr>
              <a:t>1</a:t>
            </a:r>
            <a:r>
              <a:rPr lang="zh-CN" altLang="en-US" sz="1600" b="1" dirty="0">
                <a:latin typeface="宋体" panose="02000500000000000000" pitchFamily="2" charset="-122"/>
                <a:ea typeface="宋体" panose="02000500000000000000" pitchFamily="2" charset="-122"/>
                <a:cs typeface="宋体" panose="02000500000000000000" pitchFamily="2" charset="-122"/>
              </a:rPr>
              <a:t>表示空。</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roqid, brqid: Reorder</a:t>
            </a:r>
            <a:r>
              <a:rPr lang="zh-CN" altLang="en-US" sz="1600" b="1" dirty="0">
                <a:latin typeface="宋体" panose="02000500000000000000" pitchFamily="2" charset="-122"/>
                <a:ea typeface="宋体" panose="02000500000000000000" pitchFamily="2" charset="-122"/>
                <a:cs typeface="宋体" panose="02000500000000000000" pitchFamily="2" charset="-122"/>
              </a:rPr>
              <a:t>队列和转移队列索引，写回时用。</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op:  </a:t>
            </a:r>
            <a:r>
              <a:rPr lang="zh-CN" altLang="en-US" sz="1600" b="1" dirty="0">
                <a:latin typeface="宋体" panose="02000500000000000000" pitchFamily="2" charset="-122"/>
                <a:ea typeface="宋体" panose="02000500000000000000" pitchFamily="2" charset="-122"/>
                <a:cs typeface="宋体" panose="02000500000000000000" pitchFamily="2" charset="-122"/>
              </a:rPr>
              <a:t>操作码。</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pdest: </a:t>
            </a:r>
            <a:r>
              <a:rPr lang="zh-CN" altLang="en-US" sz="1600" b="1" dirty="0">
                <a:latin typeface="宋体" panose="02000500000000000000" pitchFamily="2" charset="-122"/>
                <a:ea typeface="宋体" panose="02000500000000000000" pitchFamily="2" charset="-122"/>
                <a:cs typeface="宋体" panose="02000500000000000000" pitchFamily="2" charset="-122"/>
              </a:rPr>
              <a:t>物理目标寄存器号。</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psrc1, psrc2: </a:t>
            </a:r>
            <a:r>
              <a:rPr lang="zh-CN" altLang="en-US" sz="1600" b="1" dirty="0">
                <a:latin typeface="宋体" panose="02000500000000000000" pitchFamily="2" charset="-122"/>
                <a:ea typeface="宋体" panose="02000500000000000000" pitchFamily="2" charset="-122"/>
                <a:cs typeface="宋体" panose="02000500000000000000" pitchFamily="2" charset="-122"/>
              </a:rPr>
              <a:t>物理源寄存器号。</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prdy1, prdy2: </a:t>
            </a:r>
            <a:r>
              <a:rPr lang="zh-CN" altLang="en-US" sz="1600" b="1" dirty="0">
                <a:latin typeface="宋体" panose="02000500000000000000" pitchFamily="2" charset="-122"/>
                <a:ea typeface="宋体" panose="02000500000000000000" pitchFamily="2" charset="-122"/>
                <a:cs typeface="宋体" panose="02000500000000000000" pitchFamily="2" charset="-122"/>
              </a:rPr>
              <a:t>源寄存器准备好标志。</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taken: </a:t>
            </a:r>
            <a:r>
              <a:rPr lang="zh-CN" altLang="en-US" sz="1600" b="1" dirty="0">
                <a:latin typeface="宋体" panose="02000500000000000000" pitchFamily="2" charset="-122"/>
                <a:ea typeface="宋体" panose="02000500000000000000" pitchFamily="2" charset="-122"/>
                <a:cs typeface="宋体" panose="02000500000000000000" pitchFamily="2" charset="-122"/>
              </a:rPr>
              <a:t>转移猜测结果，为</a:t>
            </a:r>
            <a:r>
              <a:rPr lang="en-US" altLang="zh-CN" sz="1600" b="1" dirty="0">
                <a:latin typeface="宋体" panose="02000500000000000000" pitchFamily="2" charset="-122"/>
                <a:ea typeface="宋体" panose="02000500000000000000" pitchFamily="2" charset="-122"/>
                <a:cs typeface="宋体" panose="02000500000000000000" pitchFamily="2" charset="-122"/>
              </a:rPr>
              <a:t>1</a:t>
            </a:r>
            <a:r>
              <a:rPr lang="zh-CN" altLang="en-US" sz="1600" b="1" dirty="0">
                <a:latin typeface="宋体" panose="02000500000000000000" pitchFamily="2" charset="-122"/>
                <a:ea typeface="宋体" panose="02000500000000000000" pitchFamily="2" charset="-122"/>
                <a:cs typeface="宋体" panose="02000500000000000000" pitchFamily="2" charset="-122"/>
              </a:rPr>
              <a:t>表示猜测跳转。</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imm: </a:t>
            </a:r>
            <a:r>
              <a:rPr lang="zh-CN" altLang="en-US" sz="1600" b="1" dirty="0">
                <a:latin typeface="宋体" panose="02000500000000000000" pitchFamily="2" charset="-122"/>
                <a:ea typeface="宋体" panose="02000500000000000000" pitchFamily="2" charset="-122"/>
                <a:cs typeface="宋体" panose="02000500000000000000" pitchFamily="2" charset="-122"/>
              </a:rPr>
              <a:t>定点队列为</a:t>
            </a:r>
            <a:r>
              <a:rPr lang="en-US" altLang="zh-CN" sz="1600" b="1" dirty="0">
                <a:latin typeface="宋体" panose="02000500000000000000" pitchFamily="2" charset="-122"/>
                <a:ea typeface="宋体" panose="02000500000000000000" pitchFamily="2" charset="-122"/>
                <a:cs typeface="宋体" panose="02000500000000000000" pitchFamily="2" charset="-122"/>
              </a:rPr>
              <a:t>16</a:t>
            </a:r>
            <a:r>
              <a:rPr lang="zh-CN" altLang="en-US" sz="1600" b="1" dirty="0">
                <a:latin typeface="宋体" panose="02000500000000000000" pitchFamily="2" charset="-122"/>
                <a:ea typeface="宋体" panose="02000500000000000000" pitchFamily="2" charset="-122"/>
                <a:cs typeface="宋体" panose="02000500000000000000" pitchFamily="2" charset="-122"/>
              </a:rPr>
              <a:t>位立即数。</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fmt: </a:t>
            </a:r>
            <a:r>
              <a:rPr lang="zh-CN" altLang="en-US" sz="1600" b="1" dirty="0">
                <a:latin typeface="宋体" panose="02000500000000000000" pitchFamily="2" charset="-122"/>
                <a:ea typeface="宋体" panose="02000500000000000000" pitchFamily="2" charset="-122"/>
                <a:cs typeface="宋体" panose="02000500000000000000" pitchFamily="2" charset="-122"/>
              </a:rPr>
              <a:t>辅助操作码，浮点队列时为</a:t>
            </a:r>
            <a:r>
              <a:rPr lang="en-US" altLang="zh-CN" sz="1600" b="1" dirty="0">
                <a:latin typeface="宋体" panose="02000500000000000000" pitchFamily="2" charset="-122"/>
                <a:ea typeface="宋体" panose="02000500000000000000" pitchFamily="2" charset="-122"/>
                <a:cs typeface="宋体" panose="02000500000000000000" pitchFamily="2" charset="-122"/>
              </a:rPr>
              <a:t>5</a:t>
            </a:r>
            <a:r>
              <a:rPr lang="zh-CN" altLang="en-US" sz="1600" b="1" dirty="0">
                <a:latin typeface="宋体" panose="02000500000000000000" pitchFamily="2" charset="-122"/>
                <a:ea typeface="宋体" panose="02000500000000000000" pitchFamily="2" charset="-122"/>
                <a:cs typeface="宋体" panose="02000500000000000000" pitchFamily="2" charset="-122"/>
              </a:rPr>
              <a:t>位</a:t>
            </a:r>
            <a:r>
              <a:rPr lang="en-US" altLang="zh-CN" sz="1600" b="1" dirty="0">
                <a:latin typeface="宋体" panose="02000500000000000000" pitchFamily="2" charset="-122"/>
                <a:ea typeface="宋体" panose="02000500000000000000" pitchFamily="2" charset="-122"/>
                <a:cs typeface="宋体" panose="02000500000000000000" pitchFamily="2" charset="-122"/>
              </a:rPr>
              <a:t>fmt</a:t>
            </a:r>
            <a:r>
              <a:rPr lang="zh-CN" altLang="en-US" sz="1600" b="1" dirty="0">
                <a:latin typeface="宋体" panose="02000500000000000000" pitchFamily="2" charset="-122"/>
                <a:ea typeface="宋体" panose="02000500000000000000" pitchFamily="2" charset="-122"/>
                <a:cs typeface="宋体" panose="02000500000000000000" pitchFamily="2" charset="-122"/>
              </a:rPr>
              <a:t>。</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age: </a:t>
            </a:r>
            <a:r>
              <a:rPr lang="zh-CN" altLang="en-US" sz="1600" b="1" dirty="0">
                <a:latin typeface="宋体" panose="02000500000000000000" pitchFamily="2" charset="-122"/>
                <a:ea typeface="宋体" panose="02000500000000000000" pitchFamily="2" charset="-122"/>
                <a:cs typeface="宋体" panose="02000500000000000000" pitchFamily="2" charset="-122"/>
              </a:rPr>
              <a:t>表示一个操作在操作队列中等待时间的长短。</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a:t>
            </a:r>
            <a:endParaRPr lang="en-US" altLang="zh-CN" sz="16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灯片编号占位符 3"/>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1443" name="Rectangle 2"/>
          <p:cNvSpPr/>
          <p:nvPr/>
        </p:nvSpPr>
        <p:spPr>
          <a:xfrm>
            <a:off x="914400" y="203200"/>
            <a:ext cx="10361613" cy="549275"/>
          </a:xfrm>
          <a:prstGeom prst="rect">
            <a:avLst/>
          </a:prstGeom>
          <a:noFill/>
          <a:ln w="9525">
            <a:noFill/>
          </a:ln>
        </p:spPr>
        <p:txBody>
          <a:bodyPr anchor="ctr" anchorCtr="0"/>
          <a:p>
            <a:r>
              <a:rPr lang="en-US" altLang="zh-CN" sz="3600" dirty="0">
                <a:solidFill>
                  <a:srgbClr val="FF3300"/>
                </a:solidFill>
                <a:latin typeface="Times New Roman" pitchFamily="18" charset="0"/>
                <a:ea typeface="黑体" panose="02000500000000000000" pitchFamily="49" charset="-122"/>
              </a:rPr>
              <a:t>Reorder</a:t>
            </a:r>
            <a:r>
              <a:rPr lang="zh-CN" altLang="zh-CN" sz="3600" dirty="0">
                <a:solidFill>
                  <a:srgbClr val="FF3300"/>
                </a:solidFill>
                <a:latin typeface="Times New Roman" pitchFamily="18" charset="0"/>
                <a:ea typeface="黑体" panose="02000500000000000000" pitchFamily="49" charset="-122"/>
              </a:rPr>
              <a:t>队列</a:t>
            </a:r>
            <a:endParaRPr lang="zh-CN" altLang="en-US" sz="3600" dirty="0">
              <a:solidFill>
                <a:srgbClr val="FF3300"/>
              </a:solidFill>
              <a:latin typeface="Times New Roman" pitchFamily="18" charset="0"/>
              <a:ea typeface="黑体" panose="02000500000000000000" pitchFamily="49" charset="-122"/>
            </a:endParaRPr>
          </a:p>
        </p:txBody>
      </p:sp>
      <p:sp>
        <p:nvSpPr>
          <p:cNvPr id="61444" name="Rectangle 3"/>
          <p:cNvSpPr/>
          <p:nvPr/>
        </p:nvSpPr>
        <p:spPr>
          <a:xfrm>
            <a:off x="342900" y="1208405"/>
            <a:ext cx="11693525" cy="5351145"/>
          </a:xfrm>
          <a:prstGeom prst="rect">
            <a:avLst/>
          </a:prstGeom>
          <a:noFill/>
          <a:ln w="9525">
            <a:noFill/>
          </a:ln>
        </p:spPr>
        <p:txBody>
          <a:bodyPr/>
          <a:p>
            <a:pPr marL="342900" indent="-342900" algn="just">
              <a:lnSpc>
                <a:spcPct val="150000"/>
              </a:lnSpc>
              <a:spcBef>
                <a:spcPts val="600"/>
              </a:spcBef>
              <a:buChar char="•"/>
            </a:pPr>
            <a:r>
              <a:rPr lang="zh-CN" altLang="zh-CN" sz="2000" b="1" dirty="0">
                <a:latin typeface="宋体" panose="02000500000000000000" pitchFamily="2" charset="-122"/>
                <a:ea typeface="宋体" panose="02000500000000000000" pitchFamily="2" charset="-122"/>
                <a:cs typeface="宋体" panose="02000500000000000000" pitchFamily="2" charset="-122"/>
              </a:rPr>
              <a:t>所有操作在重命名后到</a:t>
            </a:r>
            <a:r>
              <a:rPr lang="zh-CN" altLang="en-US" sz="2000" b="1" dirty="0">
                <a:latin typeface="宋体" panose="02000500000000000000" pitchFamily="2" charset="-122"/>
                <a:ea typeface="宋体" panose="02000500000000000000" pitchFamily="2" charset="-122"/>
                <a:cs typeface="宋体" panose="02000500000000000000" pitchFamily="2" charset="-122"/>
              </a:rPr>
              <a:t>提交</a:t>
            </a:r>
            <a:r>
              <a:rPr lang="zh-CN" altLang="zh-CN" sz="2000" b="1" dirty="0">
                <a:latin typeface="宋体" panose="02000500000000000000" pitchFamily="2" charset="-122"/>
                <a:ea typeface="宋体" panose="02000500000000000000" pitchFamily="2" charset="-122"/>
                <a:cs typeface="宋体" panose="02000500000000000000" pitchFamily="2" charset="-122"/>
              </a:rPr>
              <a:t>之前一直在</a:t>
            </a:r>
            <a:r>
              <a:rPr lang="en-US" altLang="zh-CN" sz="2000" b="1" dirty="0">
                <a:latin typeface="宋体" panose="02000500000000000000" pitchFamily="2" charset="-122"/>
                <a:ea typeface="宋体" panose="02000500000000000000" pitchFamily="2" charset="-122"/>
                <a:cs typeface="宋体" panose="02000500000000000000" pitchFamily="2" charset="-122"/>
              </a:rPr>
              <a:t>ROQ</a:t>
            </a:r>
            <a:r>
              <a:rPr lang="zh-CN" altLang="zh-CN" sz="2000" b="1" dirty="0">
                <a:latin typeface="宋体" panose="02000500000000000000" pitchFamily="2" charset="-122"/>
                <a:ea typeface="宋体" panose="02000500000000000000" pitchFamily="2" charset="-122"/>
                <a:cs typeface="宋体" panose="02000500000000000000" pitchFamily="2" charset="-122"/>
              </a:rPr>
              <a:t>中</a:t>
            </a:r>
            <a:endParaRPr lang="zh-CN" altLang="zh-CN"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zh-CN" altLang="zh-CN" sz="1600" b="1" dirty="0">
                <a:latin typeface="宋体" panose="02000500000000000000" pitchFamily="2" charset="-122"/>
                <a:ea typeface="宋体" panose="02000500000000000000" pitchFamily="2" charset="-122"/>
                <a:cs typeface="宋体" panose="02000500000000000000" pitchFamily="2" charset="-122"/>
              </a:rPr>
              <a:t>寄存器重命名后</a:t>
            </a:r>
            <a:r>
              <a:rPr lang="zh-CN" altLang="en-US" sz="1600" b="1" dirty="0">
                <a:latin typeface="宋体" panose="02000500000000000000" pitchFamily="2" charset="-122"/>
                <a:ea typeface="宋体" panose="02000500000000000000" pitchFamily="2" charset="-122"/>
                <a:cs typeface="宋体" panose="02000500000000000000" pitchFamily="2" charset="-122"/>
              </a:rPr>
              <a:t>有序进入、乱序执行、有序结束</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just">
              <a:lnSpc>
                <a:spcPct val="150000"/>
              </a:lnSpc>
              <a:spcBef>
                <a:spcPts val="600"/>
              </a:spcBef>
              <a:buChar char="•"/>
            </a:pPr>
            <a:r>
              <a:rPr lang="en-US" altLang="zh-CN" sz="1600" b="1" dirty="0">
                <a:latin typeface="宋体" panose="02000500000000000000" pitchFamily="2" charset="-122"/>
                <a:ea typeface="宋体" panose="02000500000000000000" pitchFamily="2" charset="-122"/>
                <a:cs typeface="宋体" panose="02000500000000000000" pitchFamily="2" charset="-122"/>
              </a:rPr>
              <a:t>ROQ</a:t>
            </a:r>
            <a:r>
              <a:rPr lang="zh-CN" altLang="en-US" sz="1600" b="1" dirty="0">
                <a:latin typeface="宋体" panose="02000500000000000000" pitchFamily="2" charset="-122"/>
                <a:ea typeface="宋体" panose="02000500000000000000" pitchFamily="2" charset="-122"/>
                <a:cs typeface="宋体" panose="02000500000000000000" pitchFamily="2" charset="-122"/>
              </a:rPr>
              <a:t>还保存部分执行结果：如</a:t>
            </a:r>
            <a:r>
              <a:rPr lang="en-US" altLang="zh-CN" sz="1600" b="1" dirty="0">
                <a:latin typeface="宋体" panose="02000500000000000000" pitchFamily="2" charset="-122"/>
                <a:ea typeface="宋体" panose="02000500000000000000" pitchFamily="2" charset="-122"/>
                <a:cs typeface="宋体" panose="02000500000000000000" pitchFamily="2" charset="-122"/>
              </a:rPr>
              <a:t>evzoui</a:t>
            </a:r>
            <a:r>
              <a:rPr lang="zh-CN" altLang="en-US" sz="1600" b="1" dirty="0">
                <a:latin typeface="宋体" panose="02000500000000000000" pitchFamily="2" charset="-122"/>
                <a:ea typeface="宋体" panose="02000500000000000000" pitchFamily="2" charset="-122"/>
                <a:cs typeface="宋体" panose="02000500000000000000" pitchFamily="2" charset="-122"/>
              </a:rPr>
              <a:t>、例外、</a:t>
            </a:r>
            <a:r>
              <a:rPr lang="en-US" altLang="zh-CN" sz="1600" b="1" dirty="0">
                <a:latin typeface="宋体" panose="02000500000000000000" pitchFamily="2" charset="-122"/>
                <a:ea typeface="宋体" panose="02000500000000000000" pitchFamily="2" charset="-122"/>
                <a:cs typeface="宋体" panose="02000500000000000000" pitchFamily="2" charset="-122"/>
              </a:rPr>
              <a:t>JR</a:t>
            </a:r>
            <a:r>
              <a:rPr lang="zh-CN" altLang="en-US" sz="1600" b="1" dirty="0">
                <a:latin typeface="宋体" panose="02000500000000000000" pitchFamily="2" charset="-122"/>
                <a:ea typeface="宋体" panose="02000500000000000000" pitchFamily="2" charset="-122"/>
                <a:cs typeface="宋体" panose="02000500000000000000" pitchFamily="2" charset="-122"/>
              </a:rPr>
              <a:t>等</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spcBef>
                <a:spcPts val="600"/>
              </a:spcBef>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操作</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重命名：每次按序把重命名后的操作送入</a:t>
            </a:r>
            <a:r>
              <a:rPr lang="en-US" altLang="zh-CN" sz="1600" b="1" dirty="0">
                <a:latin typeface="宋体" panose="02000500000000000000" pitchFamily="2" charset="-122"/>
                <a:ea typeface="宋体" panose="02000500000000000000" pitchFamily="2" charset="-122"/>
                <a:cs typeface="宋体" panose="02000500000000000000" pitchFamily="2" charset="-122"/>
              </a:rPr>
              <a:t>Reorder</a:t>
            </a:r>
            <a:r>
              <a:rPr lang="zh-CN" altLang="en-US" sz="1600" b="1" dirty="0">
                <a:latin typeface="宋体" panose="02000500000000000000" pitchFamily="2" charset="-122"/>
                <a:ea typeface="宋体" panose="02000500000000000000" pitchFamily="2" charset="-122"/>
                <a:cs typeface="宋体" panose="02000500000000000000" pitchFamily="2" charset="-122"/>
              </a:rPr>
              <a:t>队列</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写回：根据结果总线的</a:t>
            </a:r>
            <a:r>
              <a:rPr lang="en-US" altLang="zh-CN" sz="1600" b="1" dirty="0">
                <a:latin typeface="宋体" panose="02000500000000000000" pitchFamily="2" charset="-122"/>
                <a:ea typeface="宋体" panose="02000500000000000000" pitchFamily="2" charset="-122"/>
                <a:cs typeface="宋体" panose="02000500000000000000" pitchFamily="2" charset="-122"/>
              </a:rPr>
              <a:t>roqid</a:t>
            </a:r>
            <a:r>
              <a:rPr lang="zh-CN" altLang="en-US" sz="1600" b="1" dirty="0">
                <a:latin typeface="宋体" panose="02000500000000000000" pitchFamily="2" charset="-122"/>
                <a:ea typeface="宋体" panose="02000500000000000000" pitchFamily="2" charset="-122"/>
                <a:cs typeface="宋体" panose="02000500000000000000" pitchFamily="2" charset="-122"/>
              </a:rPr>
              <a:t>号修改相应操作的状态，执行过程中的例外写回</a:t>
            </a:r>
            <a:r>
              <a:rPr lang="en-US" altLang="zh-CN" sz="1600" b="1" dirty="0">
                <a:latin typeface="宋体" panose="02000500000000000000" pitchFamily="2" charset="-122"/>
                <a:ea typeface="宋体" panose="02000500000000000000" pitchFamily="2" charset="-122"/>
                <a:cs typeface="宋体" panose="02000500000000000000" pitchFamily="2" charset="-122"/>
              </a:rPr>
              <a:t>ex</a:t>
            </a:r>
            <a:r>
              <a:rPr lang="zh-CN" altLang="en-US" sz="1600" b="1" dirty="0">
                <a:latin typeface="宋体" panose="02000500000000000000" pitchFamily="2" charset="-122"/>
                <a:ea typeface="宋体" panose="02000500000000000000" pitchFamily="2" charset="-122"/>
                <a:cs typeface="宋体" panose="02000500000000000000" pitchFamily="2" charset="-122"/>
              </a:rPr>
              <a:t>和</a:t>
            </a:r>
            <a:r>
              <a:rPr lang="en-US" altLang="zh-CN" sz="1600" b="1" dirty="0">
                <a:latin typeface="宋体" panose="02000500000000000000" pitchFamily="2" charset="-122"/>
                <a:ea typeface="宋体" panose="02000500000000000000" pitchFamily="2" charset="-122"/>
                <a:cs typeface="宋体" panose="02000500000000000000" pitchFamily="2" charset="-122"/>
              </a:rPr>
              <a:t>excode</a:t>
            </a:r>
            <a:r>
              <a:rPr lang="zh-CN" altLang="en-US" sz="1600" b="1" dirty="0">
                <a:latin typeface="宋体" panose="02000500000000000000" pitchFamily="2" charset="-122"/>
                <a:ea typeface="宋体" panose="02000500000000000000" pitchFamily="2" charset="-122"/>
                <a:cs typeface="宋体" panose="02000500000000000000" pitchFamily="2" charset="-122"/>
              </a:rPr>
              <a:t>，浮点操作写回</a:t>
            </a:r>
            <a:r>
              <a:rPr lang="en-US" altLang="zh-CN" sz="1600" b="1" dirty="0">
                <a:latin typeface="宋体" panose="02000500000000000000" pitchFamily="2" charset="-122"/>
                <a:ea typeface="宋体" panose="02000500000000000000" pitchFamily="2" charset="-122"/>
                <a:cs typeface="宋体" panose="02000500000000000000" pitchFamily="2" charset="-122"/>
              </a:rPr>
              <a:t>evzoui</a:t>
            </a:r>
            <a:r>
              <a:rPr lang="zh-CN" altLang="en-US" sz="1600" b="1" dirty="0">
                <a:latin typeface="宋体" panose="02000500000000000000" pitchFamily="2" charset="-122"/>
                <a:ea typeface="宋体" panose="02000500000000000000" pitchFamily="2" charset="-122"/>
                <a:cs typeface="宋体" panose="02000500000000000000" pitchFamily="2" charset="-122"/>
              </a:rPr>
              <a:t>，</a:t>
            </a:r>
            <a:r>
              <a:rPr lang="en-US" altLang="zh-CN" sz="1600" b="1" dirty="0">
                <a:latin typeface="宋体" panose="02000500000000000000" pitchFamily="2" charset="-122"/>
                <a:ea typeface="宋体" panose="02000500000000000000" pitchFamily="2" charset="-122"/>
                <a:cs typeface="宋体" panose="02000500000000000000" pitchFamily="2" charset="-122"/>
              </a:rPr>
              <a:t>JR</a:t>
            </a:r>
            <a:r>
              <a:rPr lang="zh-CN" altLang="en-US" sz="1600" b="1" dirty="0">
                <a:latin typeface="宋体" panose="02000500000000000000" pitchFamily="2" charset="-122"/>
                <a:ea typeface="宋体" panose="02000500000000000000" pitchFamily="2" charset="-122"/>
                <a:cs typeface="宋体" panose="02000500000000000000" pitchFamily="2" charset="-122"/>
              </a:rPr>
              <a:t>和</a:t>
            </a:r>
            <a:r>
              <a:rPr lang="en-US" altLang="zh-CN" sz="1600" b="1" dirty="0">
                <a:latin typeface="宋体" panose="02000500000000000000" pitchFamily="2" charset="-122"/>
                <a:ea typeface="宋体" panose="02000500000000000000" pitchFamily="2" charset="-122"/>
                <a:cs typeface="宋体" panose="02000500000000000000" pitchFamily="2" charset="-122"/>
              </a:rPr>
              <a:t>JALR</a:t>
            </a:r>
            <a:r>
              <a:rPr lang="zh-CN" altLang="en-US" sz="1600" b="1" dirty="0">
                <a:latin typeface="宋体" panose="02000500000000000000" pitchFamily="2" charset="-122"/>
                <a:ea typeface="宋体" panose="02000500000000000000" pitchFamily="2" charset="-122"/>
                <a:cs typeface="宋体" panose="02000500000000000000" pitchFamily="2" charset="-122"/>
              </a:rPr>
              <a:t>写回</a:t>
            </a:r>
            <a:r>
              <a:rPr lang="en-US" altLang="zh-CN" sz="1600" b="1" dirty="0">
                <a:latin typeface="宋体" panose="02000500000000000000" pitchFamily="2" charset="-122"/>
                <a:ea typeface="宋体" panose="02000500000000000000" pitchFamily="2" charset="-122"/>
                <a:cs typeface="宋体" panose="02000500000000000000" pitchFamily="2" charset="-122"/>
              </a:rPr>
              <a:t>PC</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提交：</a:t>
            </a:r>
            <a:r>
              <a:rPr lang="zh-CN" altLang="zh-CN" sz="1600" b="1" dirty="0">
                <a:latin typeface="宋体" panose="02000500000000000000" pitchFamily="2" charset="-122"/>
                <a:ea typeface="宋体" panose="02000500000000000000" pitchFamily="2" charset="-122"/>
                <a:cs typeface="宋体" panose="02000500000000000000" pitchFamily="2" charset="-122"/>
              </a:rPr>
              <a:t>每次按序</a:t>
            </a:r>
            <a:r>
              <a:rPr lang="zh-CN" altLang="en-US" sz="1600" b="1" dirty="0">
                <a:latin typeface="宋体" panose="02000500000000000000" pitchFamily="2" charset="-122"/>
                <a:ea typeface="宋体" panose="02000500000000000000" pitchFamily="2" charset="-122"/>
                <a:cs typeface="宋体" panose="02000500000000000000" pitchFamily="2" charset="-122"/>
              </a:rPr>
              <a:t>提交四个已写回的操作，例外操作不提交</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spcBef>
                <a:spcPts val="600"/>
              </a:spcBef>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形成例外总线：例外操作必须成为</a:t>
            </a:r>
            <a:r>
              <a:rPr lang="en-US" altLang="zh-CN" sz="1600" b="1" dirty="0">
                <a:latin typeface="宋体" panose="02000500000000000000" pitchFamily="2" charset="-122"/>
                <a:ea typeface="宋体" panose="02000500000000000000" pitchFamily="2" charset="-122"/>
                <a:cs typeface="宋体" panose="02000500000000000000" pitchFamily="2" charset="-122"/>
              </a:rPr>
              <a:t>ROQ</a:t>
            </a:r>
            <a:r>
              <a:rPr lang="zh-CN" altLang="en-US" sz="1600" b="1" dirty="0">
                <a:latin typeface="宋体" panose="02000500000000000000" pitchFamily="2" charset="-122"/>
                <a:ea typeface="宋体" panose="02000500000000000000" pitchFamily="2" charset="-122"/>
                <a:cs typeface="宋体" panose="02000500000000000000" pitchFamily="2" charset="-122"/>
              </a:rPr>
              <a:t>第一个操作才能形成例外总线</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2467" name="Rectangle 2"/>
          <p:cNvSpPr>
            <a:spLocks noGrp="1"/>
          </p:cNvSpPr>
          <p:nvPr>
            <p:ph type="title"/>
          </p:nvPr>
        </p:nvSpPr>
        <p:spPr>
          <a:xfrm>
            <a:off x="914400" y="0"/>
            <a:ext cx="10361613" cy="1143000"/>
          </a:xfrm>
        </p:spPr>
        <p:txBody>
          <a:bodyPr vert="horz" wrap="square" lIns="91440" tIns="45720" rIns="91440" bIns="45720" anchor="ctr" anchorCtr="0"/>
          <a:p>
            <a:pPr eaLnBrk="1" hangingPunct="1"/>
            <a:r>
              <a:rPr lang="en-US" altLang="zh-CN" dirty="0"/>
              <a:t>Reorder</a:t>
            </a:r>
            <a:r>
              <a:rPr lang="zh-CN" altLang="zh-CN" dirty="0"/>
              <a:t>队列</a:t>
            </a:r>
            <a:endParaRPr lang="zh-CN" altLang="en-US" dirty="0"/>
          </a:p>
        </p:txBody>
      </p:sp>
      <p:sp>
        <p:nvSpPr>
          <p:cNvPr id="62468" name="Rectangle 3"/>
          <p:cNvSpPr>
            <a:spLocks noGrp="1"/>
          </p:cNvSpPr>
          <p:nvPr>
            <p:ph idx="1"/>
          </p:nvPr>
        </p:nvSpPr>
        <p:spPr>
          <a:xfrm>
            <a:off x="914400" y="1083310"/>
            <a:ext cx="10361930" cy="5774690"/>
          </a:xfrm>
        </p:spPr>
        <p:txBody>
          <a:bodyPr vert="horz" wrap="square" lIns="91440" tIns="45720" rIns="91440" bIns="45720" anchor="t" anchorCtr="0"/>
          <a:p>
            <a:pPr algn="just" eaLnBrk="1" hangingPunct="1">
              <a:spcBef>
                <a:spcPts val="0"/>
              </a:spcBef>
            </a:pPr>
            <a:r>
              <a:rPr lang="en-US" altLang="zh-CN" dirty="0"/>
              <a:t>ROQ</a:t>
            </a:r>
            <a:r>
              <a:rPr lang="zh-CN" altLang="zh-CN" dirty="0"/>
              <a:t>的内容</a:t>
            </a:r>
            <a:endParaRPr lang="zh-CN" altLang="en-US" dirty="0"/>
          </a:p>
          <a:p>
            <a:pPr lvl="1" eaLnBrk="1" hangingPunct="1">
              <a:spcBef>
                <a:spcPts val="0"/>
              </a:spcBef>
            </a:pPr>
            <a:r>
              <a:rPr lang="en-US" altLang="zh-CN" dirty="0"/>
              <a:t>state: EMPTY</a:t>
            </a:r>
            <a:r>
              <a:rPr lang="zh-CN" altLang="en-US" dirty="0"/>
              <a:t>、</a:t>
            </a:r>
            <a:r>
              <a:rPr lang="en-US" altLang="zh-CN" dirty="0"/>
              <a:t>MAPPED</a:t>
            </a:r>
            <a:r>
              <a:rPr lang="zh-CN" altLang="en-US" dirty="0"/>
              <a:t>、</a:t>
            </a:r>
            <a:r>
              <a:rPr lang="en-US" altLang="zh-CN" dirty="0"/>
              <a:t>BRWTBK</a:t>
            </a:r>
            <a:r>
              <a:rPr lang="zh-CN" altLang="en-US" dirty="0"/>
              <a:t>和</a:t>
            </a:r>
            <a:r>
              <a:rPr lang="en-US" altLang="zh-CN" dirty="0"/>
              <a:t>WTBK</a:t>
            </a:r>
            <a:r>
              <a:rPr lang="zh-CN" altLang="en-US" dirty="0"/>
              <a:t>。</a:t>
            </a:r>
            <a:endParaRPr lang="zh-CN" altLang="en-US" dirty="0"/>
          </a:p>
          <a:p>
            <a:pPr lvl="1" algn="just" eaLnBrk="1" hangingPunct="1">
              <a:spcBef>
                <a:spcPts val="0"/>
              </a:spcBef>
            </a:pPr>
            <a:r>
              <a:rPr lang="en-US" altLang="zh-CN" dirty="0"/>
              <a:t>op: 8</a:t>
            </a:r>
            <a:r>
              <a:rPr lang="zh-CN" altLang="en-US" dirty="0"/>
              <a:t>位，操作码。</a:t>
            </a:r>
            <a:endParaRPr lang="zh-CN" altLang="en-US" dirty="0"/>
          </a:p>
          <a:p>
            <a:pPr lvl="1" algn="just" eaLnBrk="1" hangingPunct="1">
              <a:spcBef>
                <a:spcPts val="0"/>
              </a:spcBef>
            </a:pPr>
            <a:r>
              <a:rPr lang="en-US" altLang="zh-CN" dirty="0"/>
              <a:t>odest: 7</a:t>
            </a:r>
            <a:r>
              <a:rPr lang="zh-CN" altLang="en-US" dirty="0"/>
              <a:t>位，</a:t>
            </a:r>
            <a:r>
              <a:rPr lang="en-US" altLang="zh-CN" dirty="0"/>
              <a:t>dest</a:t>
            </a:r>
            <a:r>
              <a:rPr lang="zh-CN" altLang="en-US" dirty="0"/>
              <a:t>原来对应的物理寄存器</a:t>
            </a:r>
            <a:endParaRPr lang="zh-CN" altLang="en-US" dirty="0"/>
          </a:p>
          <a:p>
            <a:pPr lvl="1" algn="just" eaLnBrk="1" hangingPunct="1">
              <a:spcBef>
                <a:spcPts val="0"/>
              </a:spcBef>
            </a:pPr>
            <a:r>
              <a:rPr lang="en-US" altLang="zh-CN" dirty="0"/>
              <a:t>pdest: 7</a:t>
            </a:r>
            <a:r>
              <a:rPr lang="zh-CN" altLang="en-US" dirty="0"/>
              <a:t>位，物理目标地址寄存器。</a:t>
            </a:r>
            <a:endParaRPr lang="zh-CN" altLang="en-US" dirty="0"/>
          </a:p>
          <a:p>
            <a:pPr lvl="1" algn="just" eaLnBrk="1" hangingPunct="1">
              <a:spcBef>
                <a:spcPts val="0"/>
              </a:spcBef>
            </a:pPr>
            <a:r>
              <a:rPr lang="en-US" altLang="zh-CN" dirty="0"/>
              <a:t>brqid: </a:t>
            </a:r>
            <a:r>
              <a:rPr lang="zh-CN" altLang="en-US" dirty="0"/>
              <a:t>转移队列号。</a:t>
            </a:r>
            <a:endParaRPr lang="zh-CN" altLang="en-US" dirty="0"/>
          </a:p>
          <a:p>
            <a:pPr lvl="1" eaLnBrk="1" hangingPunct="1">
              <a:spcBef>
                <a:spcPts val="0"/>
              </a:spcBef>
            </a:pPr>
            <a:r>
              <a:rPr lang="en-US" altLang="zh-CN" dirty="0"/>
              <a:t>evzoui: 6</a:t>
            </a:r>
            <a:r>
              <a:rPr lang="zh-CN" altLang="en-US" dirty="0"/>
              <a:t>位，浮点操作的</a:t>
            </a:r>
            <a:r>
              <a:rPr lang="en-US" altLang="zh-CN" dirty="0"/>
              <a:t>EVZOUI</a:t>
            </a:r>
            <a:r>
              <a:rPr lang="zh-CN" altLang="en-US" dirty="0"/>
              <a:t>结果写到此域。</a:t>
            </a:r>
            <a:endParaRPr lang="zh-CN" altLang="en-US" dirty="0"/>
          </a:p>
          <a:p>
            <a:pPr lvl="1" eaLnBrk="1" hangingPunct="1">
              <a:spcBef>
                <a:spcPts val="0"/>
              </a:spcBef>
            </a:pPr>
            <a:r>
              <a:rPr lang="en-US" altLang="zh-CN" dirty="0"/>
              <a:t>ex: 1</a:t>
            </a:r>
            <a:r>
              <a:rPr lang="zh-CN" altLang="en-US" dirty="0"/>
              <a:t>位，表示是否发生例外。</a:t>
            </a:r>
            <a:endParaRPr lang="zh-CN" altLang="en-US" dirty="0"/>
          </a:p>
          <a:p>
            <a:pPr lvl="1" eaLnBrk="1" hangingPunct="1">
              <a:spcBef>
                <a:spcPts val="0"/>
              </a:spcBef>
            </a:pPr>
            <a:r>
              <a:rPr lang="en-US" altLang="zh-CN" dirty="0"/>
              <a:t>excode: 6</a:t>
            </a:r>
            <a:r>
              <a:rPr lang="zh-CN" altLang="en-US" dirty="0"/>
              <a:t>位，例外原因。</a:t>
            </a:r>
            <a:endParaRPr lang="zh-CN" altLang="en-US" dirty="0"/>
          </a:p>
          <a:p>
            <a:pPr lvl="1" eaLnBrk="1" hangingPunct="1">
              <a:spcBef>
                <a:spcPts val="0"/>
              </a:spcBef>
            </a:pPr>
            <a:r>
              <a:rPr lang="en-US" altLang="zh-CN" dirty="0"/>
              <a:t>brerr: </a:t>
            </a:r>
            <a:r>
              <a:rPr lang="zh-CN" altLang="en-US" dirty="0"/>
              <a:t>表示转移猜测错误。</a:t>
            </a:r>
            <a:endParaRPr lang="zh-CN" altLang="en-US" dirty="0"/>
          </a:p>
          <a:p>
            <a:pPr lvl="1" eaLnBrk="1" hangingPunct="1">
              <a:spcBef>
                <a:spcPts val="0"/>
              </a:spcBef>
            </a:pPr>
            <a:r>
              <a:rPr lang="en-US" altLang="zh-CN" dirty="0"/>
              <a:t>taken: </a:t>
            </a:r>
            <a:r>
              <a:rPr lang="zh-CN" altLang="en-US" dirty="0"/>
              <a:t>表示转移成功。</a:t>
            </a:r>
            <a:endParaRPr lang="zh-CN" altLang="en-US" dirty="0"/>
          </a:p>
          <a:p>
            <a:pPr lvl="1" eaLnBrk="1" hangingPunct="1">
              <a:spcBef>
                <a:spcPts val="0"/>
              </a:spcBef>
            </a:pPr>
            <a:r>
              <a:rPr lang="en-US" altLang="zh-CN" dirty="0"/>
              <a:t>c: 1</a:t>
            </a:r>
            <a:r>
              <a:rPr lang="zh-CN" altLang="en-US" dirty="0"/>
              <a:t>位，用于保存浮点比较结果。</a:t>
            </a:r>
            <a:endParaRPr lang="zh-CN" altLang="en-US" dirty="0"/>
          </a:p>
          <a:p>
            <a:pPr lvl="1" eaLnBrk="1" hangingPunct="1">
              <a:spcBef>
                <a:spcPts val="0"/>
              </a:spcBef>
            </a:pPr>
            <a:r>
              <a:rPr lang="en-US" altLang="zh-CN" dirty="0"/>
              <a:t>bd: 1 </a:t>
            </a:r>
            <a:r>
              <a:rPr lang="zh-CN" altLang="en-US" dirty="0"/>
              <a:t>位，表示是否为延迟槽操作。</a:t>
            </a:r>
            <a:endParaRPr lang="zh-CN" altLang="en-US" dirty="0"/>
          </a:p>
          <a:p>
            <a:pPr lvl="1" eaLnBrk="1" hangingPunct="1">
              <a:spcBef>
                <a:spcPts val="0"/>
              </a:spcBef>
            </a:pPr>
            <a:r>
              <a:rPr lang="en-US" altLang="zh-CN" dirty="0"/>
              <a:t>……</a:t>
            </a: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1"/>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63491" name="图表 1"/>
          <p:cNvPicPr>
            <a:picLocks noChangeAspect="1"/>
          </p:cNvPicPr>
          <p:nvPr/>
        </p:nvPicPr>
        <p:blipFill>
          <a:blip r:embed="rId1"/>
          <a:stretch>
            <a:fillRect/>
          </a:stretch>
        </p:blipFill>
        <p:spPr>
          <a:xfrm>
            <a:off x="889000" y="1454150"/>
            <a:ext cx="10804525" cy="5173663"/>
          </a:xfrm>
          <a:prstGeom prst="rect">
            <a:avLst/>
          </a:prstGeom>
          <a:noFill/>
          <a:ln w="9525">
            <a:noFill/>
          </a:ln>
        </p:spPr>
      </p:pic>
      <p:sp>
        <p:nvSpPr>
          <p:cNvPr id="4" name="Rectangle 2"/>
          <p:cNvSpPr txBox="1">
            <a:spLocks noChangeArrowheads="1"/>
          </p:cNvSpPr>
          <p:nvPr/>
        </p:nvSpPr>
        <p:spPr>
          <a:xfrm>
            <a:off x="914400" y="271463"/>
            <a:ext cx="10361613" cy="812800"/>
          </a:xfrm>
          <a:prstGeom prst="rect">
            <a:avLst/>
          </a:prstGeom>
        </p:spPr>
        <p:txBody>
          <a:bodyPr/>
          <a:lstStyle/>
          <a:p>
            <a:pPr marR="0" defTabSz="914400">
              <a:buClrTx/>
              <a:buSzTx/>
              <a:buFontTx/>
              <a:buNone/>
              <a:defRPr/>
            </a:pPr>
            <a:r>
              <a:rPr kumimoji="1" lang="en-US" altLang="zh-CN" sz="3600" kern="0" cap="none" spc="0" normalizeH="0" baseline="0" noProof="0" dirty="0">
                <a:solidFill>
                  <a:srgbClr val="FF3300"/>
                </a:solidFill>
                <a:latin typeface="+mj-lt"/>
                <a:ea typeface="+mj-ea"/>
                <a:cs typeface="+mj-cs"/>
              </a:rPr>
              <a:t>3A6000</a:t>
            </a:r>
            <a:r>
              <a:rPr kumimoji="1" lang="zh-CN" altLang="en-US" sz="3600" kern="0" cap="none" spc="0" normalizeH="0" baseline="0" noProof="0" dirty="0">
                <a:solidFill>
                  <a:srgbClr val="FF3300"/>
                </a:solidFill>
                <a:latin typeface="+mj-lt"/>
                <a:ea typeface="+mj-ea"/>
                <a:cs typeface="+mj-cs"/>
              </a:rPr>
              <a:t>的</a:t>
            </a:r>
            <a:r>
              <a:rPr kumimoji="1" lang="en-US" altLang="zh-CN" sz="3600" kern="0" cap="none" spc="0" normalizeH="0" baseline="0" noProof="0" dirty="0">
                <a:solidFill>
                  <a:srgbClr val="FF3300"/>
                </a:solidFill>
                <a:latin typeface="+mj-lt"/>
                <a:ea typeface="+mj-ea"/>
                <a:cs typeface="+mj-cs"/>
              </a:rPr>
              <a:t>SPEC CPU2006</a:t>
            </a:r>
            <a:r>
              <a:rPr kumimoji="1" lang="zh-CN" altLang="en-US" sz="3600" kern="0" cap="none" spc="0" normalizeH="0" baseline="0" noProof="0" dirty="0">
                <a:solidFill>
                  <a:srgbClr val="FF3300"/>
                </a:solidFill>
                <a:latin typeface="+mj-lt"/>
                <a:ea typeface="+mj-ea"/>
                <a:cs typeface="+mj-cs"/>
              </a:rPr>
              <a:t>流水线效率</a:t>
            </a:r>
            <a:endParaRPr kumimoji="1" lang="zh-CN" altLang="en-US" sz="3600" kern="0" cap="none" spc="0" normalizeH="0" baseline="0" noProof="0" dirty="0">
              <a:solidFill>
                <a:srgbClr val="FF3300"/>
              </a:solidFill>
              <a:latin typeface="+mj-lt"/>
              <a:ea typeface="+mj-ea"/>
              <a:cs typeface="+mj-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p:txBody>
          <a:bodyPr vert="horz" wrap="square" lIns="91440" tIns="45720" rIns="91440" bIns="45720" anchor="ctr" anchorCtr="0"/>
          <a:p>
            <a:r>
              <a:rPr lang="en-US" altLang="zh-CN" dirty="0"/>
              <a:t>3A6000</a:t>
            </a:r>
            <a:r>
              <a:rPr lang="zh-CN" altLang="en-US" dirty="0"/>
              <a:t>的</a:t>
            </a:r>
            <a:r>
              <a:rPr lang="en-US" altLang="zh-CN" dirty="0"/>
              <a:t>SPEC CPU2017</a:t>
            </a:r>
            <a:r>
              <a:rPr lang="zh-CN" altLang="en-US" dirty="0"/>
              <a:t>流水线效率</a:t>
            </a:r>
            <a:endParaRPr lang="zh-CN" altLang="en-US" dirty="0"/>
          </a:p>
        </p:txBody>
      </p:sp>
      <p:sp>
        <p:nvSpPr>
          <p:cNvPr id="64515" name="灯片编号占位符 2"/>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pic>
        <p:nvPicPr>
          <p:cNvPr id="64516" name="图表 1"/>
          <p:cNvPicPr>
            <a:picLocks noChangeAspect="1"/>
          </p:cNvPicPr>
          <p:nvPr/>
        </p:nvPicPr>
        <p:blipFill>
          <a:blip r:embed="rId1"/>
          <a:stretch>
            <a:fillRect/>
          </a:stretch>
        </p:blipFill>
        <p:spPr>
          <a:xfrm>
            <a:off x="812800" y="1384300"/>
            <a:ext cx="10883900" cy="5327650"/>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p:nvPr/>
        </p:nvSpPr>
        <p:spPr>
          <a:xfrm>
            <a:off x="1036638" y="0"/>
            <a:ext cx="10361612" cy="762000"/>
          </a:xfrm>
          <a:prstGeom prst="rect">
            <a:avLst/>
          </a:prstGeom>
          <a:noFill/>
          <a:ln w="9525">
            <a:noFill/>
          </a:ln>
        </p:spPr>
        <p:txBody>
          <a:bodyPr anchor="ctr" anchorCtr="0"/>
          <a:p>
            <a:pPr algn="ctr"/>
            <a:r>
              <a:rPr lang="zh-CN" altLang="en-US" sz="3600" dirty="0">
                <a:solidFill>
                  <a:srgbClr val="FF0000"/>
                </a:solidFill>
                <a:latin typeface="Arial" panose="02080604020202020204" pitchFamily="34" charset="0"/>
                <a:ea typeface="黑体" panose="02000500000000000000" pitchFamily="49" charset="-122"/>
              </a:rPr>
              <a:t>多发射数据通路小结</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9219" name="Rectangle 3"/>
          <p:cNvSpPr/>
          <p:nvPr/>
        </p:nvSpPr>
        <p:spPr>
          <a:xfrm>
            <a:off x="1144905" y="1083945"/>
            <a:ext cx="10253345" cy="5178425"/>
          </a:xfrm>
          <a:prstGeom prst="rect">
            <a:avLst/>
          </a:prstGeom>
          <a:noFill/>
          <a:ln w="9525">
            <a:noFill/>
          </a:ln>
        </p:spPr>
        <p:txBody>
          <a:bodyPr/>
          <a:p>
            <a:pPr marL="342900" indent="-342900" algn="l">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乱序执行的关键技术</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保留栈、重命名寄存器、重排序缓存</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有序进入、乱序执行、有序退出</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动态调度流水线数据通路</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保留站的组织：单项、分组、全局</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寄存器与保留站的关系：保留站前读寄存器、保留站后读寄存器</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寄存器重命名方法：独立的重命名寄存器、统一物理寄存器堆（</a:t>
            </a:r>
            <a:r>
              <a:rPr lang="zh-CN" altLang="en-US" sz="1600" b="1" dirty="0">
                <a:solidFill>
                  <a:srgbClr val="FF0000"/>
                </a:solidFill>
                <a:latin typeface="宋体" panose="02000500000000000000" pitchFamily="2" charset="-122"/>
                <a:ea typeface="宋体" panose="02000500000000000000" pitchFamily="2" charset="-122"/>
                <a:cs typeface="宋体" panose="02000500000000000000" pitchFamily="2" charset="-122"/>
              </a:rPr>
              <a:t>动态分配和释放原理</a:t>
            </a:r>
            <a:r>
              <a:rPr lang="zh-CN" altLang="en-US" sz="1600" b="1" dirty="0">
                <a:latin typeface="宋体" panose="02000500000000000000" pitchFamily="2" charset="-122"/>
                <a:ea typeface="宋体" panose="02000500000000000000" pitchFamily="2" charset="-122"/>
                <a:cs typeface="宋体" panose="02000500000000000000" pitchFamily="2" charset="-122"/>
              </a:rPr>
              <a:t>）</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常见处理器的数据通路</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a:lnSpc>
                <a:spcPct val="150000"/>
              </a:lnSpc>
              <a:buClrTx/>
              <a:buSzTx/>
              <a:buFontTx/>
              <a:buChar char="•"/>
            </a:pPr>
            <a:r>
              <a:rPr lang="zh-CN" altLang="en-US" sz="1600" b="1" dirty="0">
                <a:solidFill>
                  <a:srgbClr val="FF0000"/>
                </a:solidFill>
                <a:latin typeface="宋体" panose="02000500000000000000" pitchFamily="2" charset="-122"/>
                <a:cs typeface="宋体" panose="02000500000000000000" pitchFamily="2" charset="-122"/>
                <a:sym typeface="+mn-ea"/>
              </a:rPr>
              <a:t>保留站后读寄存器、物理寄存器堆结构可减少两次数据拷贝，成为目前主要结构</a:t>
            </a:r>
            <a:endParaRPr lang="zh-CN" altLang="en-US" sz="1600" b="1"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多发射结构数据通路</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a:p>
            <a:pPr marL="742950" lvl="1" indent="-285750" algn="l" eaLnBrk="1" hangingPunct="1">
              <a:lnSpc>
                <a:spcPct val="150000"/>
              </a:lnSpc>
              <a:buChar char="•"/>
            </a:pPr>
            <a:r>
              <a:rPr lang="zh-CN" altLang="en-US" sz="1600" b="1" dirty="0">
                <a:latin typeface="宋体" panose="02000500000000000000" pitchFamily="2" charset="-122"/>
                <a:ea typeface="宋体" panose="02000500000000000000" pitchFamily="2" charset="-122"/>
                <a:cs typeface="宋体" panose="02000500000000000000" pitchFamily="2" charset="-122"/>
              </a:rPr>
              <a:t>不仅要前后看，而且要左右看</a:t>
            </a:r>
            <a:endParaRPr lang="zh-CN" altLang="en-US" sz="1600" b="1" dirty="0">
              <a:latin typeface="宋体" panose="02000500000000000000" pitchFamily="2" charset="-122"/>
              <a:ea typeface="宋体" panose="02000500000000000000" pitchFamily="2" charset="-122"/>
              <a:cs typeface="宋体" panose="02000500000000000000" pitchFamily="2" charset="-122"/>
            </a:endParaRPr>
          </a:p>
          <a:p>
            <a:pPr marL="342900" indent="-342900" algn="l">
              <a:lnSpc>
                <a:spcPct val="150000"/>
              </a:lnSpc>
              <a:buChar char="•"/>
            </a:pPr>
            <a:r>
              <a:rPr lang="zh-CN" altLang="en-US" sz="2000" b="1" dirty="0">
                <a:latin typeface="宋体" panose="02000500000000000000" pitchFamily="2" charset="-122"/>
                <a:ea typeface="宋体" panose="02000500000000000000" pitchFamily="2" charset="-122"/>
                <a:cs typeface="宋体" panose="02000500000000000000" pitchFamily="2" charset="-122"/>
              </a:rPr>
              <a:t>龙芯</a:t>
            </a:r>
            <a:r>
              <a:rPr lang="en-US" altLang="zh-CN" sz="2000" b="1" dirty="0">
                <a:latin typeface="宋体" panose="02000500000000000000" pitchFamily="2" charset="-122"/>
                <a:ea typeface="宋体" panose="02000500000000000000" pitchFamily="2" charset="-122"/>
                <a:cs typeface="宋体" panose="02000500000000000000" pitchFamily="2" charset="-122"/>
              </a:rPr>
              <a:t>2</a:t>
            </a:r>
            <a:r>
              <a:rPr lang="zh-CN" altLang="en-US" sz="2000" b="1" dirty="0">
                <a:latin typeface="宋体" panose="02000500000000000000" pitchFamily="2" charset="-122"/>
                <a:ea typeface="宋体" panose="02000500000000000000" pitchFamily="2" charset="-122"/>
                <a:cs typeface="宋体" panose="02000500000000000000" pitchFamily="2" charset="-122"/>
              </a:rPr>
              <a:t>号多发射结构简介</a:t>
            </a:r>
            <a:endParaRPr lang="zh-CN" altLang="en-US" sz="2000" b="1"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5"/>
          <p:cNvSpPr txBox="1">
            <a:spLocks noGrp="1"/>
          </p:cNvSpPr>
          <p:nvPr>
            <p:ph type="sldNum" sz="quarter" idx="12"/>
          </p:nvPr>
        </p:nvSpPr>
        <p:spPr/>
        <p: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
        <p:nvSpPr>
          <p:cNvPr id="65539" name="Rectangle 2"/>
          <p:cNvSpPr>
            <a:spLocks noGrp="1"/>
          </p:cNvSpPr>
          <p:nvPr>
            <p:ph type="title"/>
          </p:nvPr>
        </p:nvSpPr>
        <p:spPr>
          <a:xfrm>
            <a:off x="914400" y="369888"/>
            <a:ext cx="10361613" cy="1143000"/>
          </a:xfrm>
        </p:spPr>
        <p:txBody>
          <a:bodyPr vert="horz" wrap="square" lIns="91440" tIns="45720" rIns="91440" bIns="45720" anchor="ctr" anchorCtr="0"/>
          <a:p>
            <a:pPr eaLnBrk="1" hangingPunct="1"/>
            <a:r>
              <a:rPr lang="zh-CN" altLang="en-US" dirty="0"/>
              <a:t>作  业</a:t>
            </a:r>
            <a:endParaRPr lang="zh-CN" altLang="en-US" dirty="0"/>
          </a:p>
        </p:txBody>
      </p:sp>
      <p:sp>
        <p:nvSpPr>
          <p:cNvPr id="65540" name="Rectangle 3"/>
          <p:cNvSpPr>
            <a:spLocks noGrp="1"/>
          </p:cNvSpPr>
          <p:nvPr>
            <p:ph idx="1"/>
          </p:nvPr>
        </p:nvSpPr>
        <p:spPr>
          <a:xfrm>
            <a:off x="914400" y="1770063"/>
            <a:ext cx="10361613" cy="4325937"/>
          </a:xfrm>
        </p:spPr>
        <p:txBody>
          <a:bodyPr vert="horz" wrap="square" lIns="91440" tIns="45720" rIns="91440" bIns="45720" anchor="t" anchorCtr="0"/>
          <a:p>
            <a:pPr eaLnBrk="1" hangingPunct="1">
              <a:buNone/>
            </a:pPr>
            <a:endParaRPr lang="zh-CN" altLang="zh-CN"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15821</Words>
  <Application>WPS 演示</Application>
  <PresentationFormat>自定义</PresentationFormat>
  <Paragraphs>3359</Paragraphs>
  <Slides>67</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55</vt:i4>
      </vt:variant>
      <vt:variant>
        <vt:lpstr>幻灯片标题</vt:lpstr>
      </vt:variant>
      <vt:variant>
        <vt:i4>67</vt:i4>
      </vt:variant>
    </vt:vector>
  </HeadingPairs>
  <TitlesOfParts>
    <vt:vector size="133" baseType="lpstr">
      <vt:lpstr>Arial</vt:lpstr>
      <vt:lpstr>宋体</vt:lpstr>
      <vt:lpstr>Wingdings</vt:lpstr>
      <vt:lpstr>Times New Roman</vt:lpstr>
      <vt:lpstr>Nimbus Roman No9 L</vt:lpstr>
      <vt:lpstr>黑体</vt:lpstr>
      <vt:lpstr>微软雅黑</vt:lpstr>
      <vt:lpstr>Arial Unicode MS</vt:lpstr>
      <vt:lpstr>Times New Roman</vt:lpstr>
      <vt:lpstr>MathJax_Vector</vt:lpstr>
      <vt:lpstr>默认设计模板</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计算机体系结构</vt:lpstr>
      <vt:lpstr>PowerPoint 演示文稿</vt:lpstr>
      <vt:lpstr>PowerPoint 演示文稿</vt:lpstr>
      <vt:lpstr>乱序执行的关键技术</vt:lpstr>
      <vt:lpstr>PowerPoint 演示文稿</vt:lpstr>
      <vt:lpstr>PowerPoint 演示文稿</vt:lpstr>
      <vt:lpstr>影响动态调度的主要因素</vt:lpstr>
      <vt:lpstr>保留站的组织</vt:lpstr>
      <vt:lpstr>PowerPoint 演示文稿</vt:lpstr>
      <vt:lpstr>独立保留站</vt:lpstr>
      <vt:lpstr>分组保留站</vt:lpstr>
      <vt:lpstr>全局保留站</vt:lpstr>
      <vt:lpstr>不同处理器的保留站组织</vt:lpstr>
      <vt:lpstr>不同处理器的保留站总项数比较</vt:lpstr>
      <vt:lpstr>寄存器与保留站的关系</vt:lpstr>
      <vt:lpstr>PowerPoint 演示文稿</vt:lpstr>
      <vt:lpstr>保留站前读寄存器</vt:lpstr>
      <vt:lpstr>保留站后读寄存器</vt:lpstr>
      <vt:lpstr>保留站前（后）读寄存器的处理器</vt:lpstr>
      <vt:lpstr>寄存器重命名方法</vt:lpstr>
      <vt:lpstr>PowerPoint 演示文稿</vt:lpstr>
      <vt:lpstr>重命名的方法</vt:lpstr>
      <vt:lpstr>PowerPoint 演示文稿</vt:lpstr>
      <vt:lpstr>PowerPoint 演示文稿</vt:lpstr>
      <vt:lpstr>重命名到保留站</vt:lpstr>
      <vt:lpstr>重命名到指令发射队列</vt:lpstr>
      <vt:lpstr>PowerPoint 演示文稿</vt:lpstr>
      <vt:lpstr>PowerPoint 演示文稿</vt:lpstr>
      <vt:lpstr>PowerPoint 演示文稿</vt:lpstr>
      <vt:lpstr>PowerPoint 演示文稿</vt:lpstr>
      <vt:lpstr>PowerPoint 演示文稿</vt:lpstr>
      <vt:lpstr>PowerPoint 演示文稿</vt:lpstr>
      <vt:lpstr>独立重命名寄存器的重命名算法（2）</vt:lpstr>
      <vt:lpstr>独立重命名寄存器的重命名算法（3）</vt:lpstr>
      <vt:lpstr>PowerPoint 演示文稿</vt:lpstr>
      <vt:lpstr>PowerPoint 演示文稿</vt:lpstr>
      <vt:lpstr>PowerPoint 演示文稿</vt:lpstr>
      <vt:lpstr>PowerPoint 演示文稿</vt:lpstr>
      <vt:lpstr>不同处理器的重命名方法</vt:lpstr>
      <vt:lpstr>常见处理器的数据通路</vt:lpstr>
      <vt:lpstr>乱序执行的数据通路</vt:lpstr>
      <vt:lpstr>数据通路类型</vt:lpstr>
      <vt:lpstr>PowerPoint 演示文稿</vt:lpstr>
      <vt:lpstr>典型处理器的数据通路</vt:lpstr>
      <vt:lpstr>典型处理器的数据通路</vt:lpstr>
      <vt:lpstr>PowerPoint 演示文稿</vt:lpstr>
      <vt:lpstr>PowerPoint 演示文稿</vt:lpstr>
      <vt:lpstr>龙芯LA664队列大小</vt:lpstr>
      <vt:lpstr>多发射结构数据通路</vt:lpstr>
      <vt:lpstr>多发射的情况</vt:lpstr>
      <vt:lpstr>多发射时的寄存器重命名</vt:lpstr>
      <vt:lpstr>单发射和多发射的寄存器重命名</vt:lpstr>
      <vt:lpstr>多发射的其它设计问题</vt:lpstr>
      <vt:lpstr>龙芯2号多发射结构简介</vt:lpstr>
      <vt:lpstr>龙芯2号数据通路（早期）</vt:lpstr>
      <vt:lpstr>PowerPoint 演示文稿</vt:lpstr>
      <vt:lpstr>PowerPoint 演示文稿</vt:lpstr>
      <vt:lpstr>寄存器重命名</vt:lpstr>
      <vt:lpstr>重命名主要通路</vt:lpstr>
      <vt:lpstr>PowerPoint 演示文稿</vt:lpstr>
      <vt:lpstr>PowerPoint 演示文稿</vt:lpstr>
      <vt:lpstr>PowerPoint 演示文稿</vt:lpstr>
      <vt:lpstr>Reorder队列</vt:lpstr>
      <vt:lpstr>PowerPoint 演示文稿</vt:lpstr>
      <vt:lpstr>3A6000的SPEC CPU2017流水线效率</vt:lpstr>
      <vt:lpstr>PowerPoint 演示文稿</vt:lpstr>
      <vt:lpstr>作  业</vt:lpstr>
    </vt:vector>
  </TitlesOfParts>
  <Company>chpc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CPU设计</dc:title>
  <dc:creator>Weiwu Hu</dc:creator>
  <cp:lastModifiedBy>loongson</cp:lastModifiedBy>
  <cp:revision>616</cp:revision>
  <dcterms:created xsi:type="dcterms:W3CDTF">2025-10-03T03:14:20Z</dcterms:created>
  <dcterms:modified xsi:type="dcterms:W3CDTF">2025-10-03T03:14:20Z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