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doc" ContentType="application/msword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0"/>
  </p:notesMasterIdLst>
  <p:sldIdLst>
    <p:sldId id="257" r:id="rId3"/>
    <p:sldId id="579" r:id="rId4"/>
    <p:sldId id="578" r:id="rId5"/>
    <p:sldId id="586" r:id="rId6"/>
    <p:sldId id="362" r:id="rId7"/>
    <p:sldId id="558" r:id="rId8"/>
    <p:sldId id="390" r:id="rId9"/>
    <p:sldId id="576" r:id="rId10"/>
    <p:sldId id="413" r:id="rId11"/>
    <p:sldId id="499" r:id="rId12"/>
    <p:sldId id="414" r:id="rId13"/>
    <p:sldId id="417" r:id="rId14"/>
    <p:sldId id="559" r:id="rId15"/>
    <p:sldId id="415" r:id="rId16"/>
    <p:sldId id="416" r:id="rId17"/>
    <p:sldId id="438" r:id="rId18"/>
    <p:sldId id="437" r:id="rId19"/>
    <p:sldId id="500" r:id="rId20"/>
    <p:sldId id="574" r:id="rId21"/>
    <p:sldId id="575" r:id="rId22"/>
    <p:sldId id="429" r:id="rId23"/>
    <p:sldId id="570" r:id="rId24"/>
    <p:sldId id="430" r:id="rId25"/>
    <p:sldId id="553" r:id="rId26"/>
    <p:sldId id="560" r:id="rId27"/>
    <p:sldId id="561" r:id="rId28"/>
    <p:sldId id="557" r:id="rId29"/>
    <p:sldId id="543" r:id="rId30"/>
    <p:sldId id="552" r:id="rId31"/>
    <p:sldId id="410" r:id="rId32"/>
    <p:sldId id="537" r:id="rId33"/>
    <p:sldId id="562" r:id="rId34"/>
    <p:sldId id="391" r:id="rId35"/>
    <p:sldId id="569" r:id="rId36"/>
    <p:sldId id="563" r:id="rId37"/>
    <p:sldId id="423" r:id="rId38"/>
    <p:sldId id="657" r:id="rId39"/>
    <p:sldId id="422" r:id="rId40"/>
    <p:sldId id="463" r:id="rId41"/>
    <p:sldId id="394" r:id="rId42"/>
    <p:sldId id="571" r:id="rId43"/>
    <p:sldId id="580" r:id="rId44"/>
    <p:sldId id="440" r:id="rId45"/>
    <p:sldId id="572" r:id="rId46"/>
    <p:sldId id="531" r:id="rId47"/>
    <p:sldId id="583" r:id="rId48"/>
    <p:sldId id="441" r:id="rId49"/>
    <p:sldId id="498" r:id="rId50"/>
    <p:sldId id="565" r:id="rId51"/>
    <p:sldId id="566" r:id="rId52"/>
    <p:sldId id="567" r:id="rId53"/>
    <p:sldId id="568" r:id="rId54"/>
    <p:sldId id="517" r:id="rId55"/>
    <p:sldId id="518" r:id="rId56"/>
    <p:sldId id="534" r:id="rId57"/>
    <p:sldId id="521" r:id="rId58"/>
    <p:sldId id="532" r:id="rId59"/>
    <p:sldId id="535" r:id="rId61"/>
    <p:sldId id="581" r:id="rId62"/>
    <p:sldId id="582" r:id="rId63"/>
    <p:sldId id="536" r:id="rId64"/>
    <p:sldId id="564" r:id="rId65"/>
    <p:sldId id="530" r:id="rId66"/>
    <p:sldId id="453" r:id="rId67"/>
    <p:sldId id="497" r:id="rId68"/>
    <p:sldId id="473" r:id="rId69"/>
    <p:sldId id="482" r:id="rId70"/>
    <p:sldId id="485" r:id="rId71"/>
    <p:sldId id="573" r:id="rId72"/>
    <p:sldId id="577" r:id="rId73"/>
    <p:sldId id="584" r:id="rId74"/>
    <p:sldId id="585" r:id="rId75"/>
    <p:sldId id="656" r:id="rId76"/>
    <p:sldId id="588" r:id="rId77"/>
  </p:sldIdLst>
  <p:sldSz cx="12190095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user" initials="u" lastIdx="1" clrIdx="0"/>
  <p:cmAuthor id="1" name="wangwx" initials="w" lastIdx="2" clrIdx="0"/>
  <p:cmAuthor id="2" name="Athene" initials="A" lastIdx="2" clrIdx="1"/>
  <p:cmAuthor id="3" name="Microsoft Office User" initials="M" lastIdx="1" clrIdx="2"/>
  <p:cmAuthor id="4" name="loongson" initials="l" lastIdx="19" clrIdx="3"/>
  <p:cmAuthor id="5" name=" " initials=" " lastIdx="1" clrIdx="3"/>
  <p:cmAuthor id="6" name="liulili" initials="l" lastIdx="13" clrIdx="5"/>
  <p:cmAuthor id="7" name="WenWen" initials="W" lastIdx="1" clrIdx="6"/>
  <p:cmAuthor id="8" name="姜伟光" initials="姜" lastIdx="1" clrIdx="0"/>
  <p:cmAuthor id="9" name="宋洁然" initials="宋" lastIdx="2" clrIdx="1"/>
  <p:cmAuthor id="10" name="ming qiu" initials="m" lastIdx="17" clrIdx="1"/>
  <p:cmAuthor id="11" name="沈霄雷" initials="沈" lastIdx="833089" clrIdx="0"/>
  <p:cmAuthor id="12" name="韩雨" initials="韩" lastIdx="0" clrIdx="0"/>
  <p:cmAuthor id="13" name="仇怿俊" initials="仇" lastIdx="0" clrIdx="0"/>
  <p:cmAuthor id="14" name="D" initials="D" lastIdx="1" clrIdx="13"/>
  <p:cmAuthor id="15" name="于晖_zy632mY3" initials="authorId_387757713" lastIdx="0" clrIdx="0"/>
  <p:cmAuthor id="16" name="YM.Leo" initials="Y" lastIdx="20" clrIdx="13"/>
  <p:cmAuthor id="17" name="李臻_jiai6ZRr" initials="authorId_192999303" lastIdx="0" clrIdx="0"/>
  <p:cmAuthor id="18" name="robin.song" initials="r [3]" lastIdx="1" clrIdx="17"/>
  <p:cmAuthor id="19" name="孙军_a2y2UrEv" initials="authorId_524475945" lastIdx="0" clrIdx="0"/>
  <p:cmAuthor id="20" name="KSOGZD21000128" initials="K" lastIdx="1" clrIdx="19"/>
  <p:cmAuthor id="21" name="Microsoft Office 用户" initials="Office [10]" lastIdx="1" clrIdx="20"/>
  <p:cmAuthor id="22" name="grace" initials="g" lastIdx="1" clrIdx="21"/>
  <p:cmAuthor id="23" name="张 令旗" initials="张" lastIdx="6" clrIdx="22"/>
  <p:cmAuthor id="24" name="Liu Ym" initials="LY" lastIdx="3" clrIdx="23"/>
  <p:cmAuthor id="25" name="李蕾00009994" initials="" lastIdx="6" clrIdx="17"/>
  <p:cmAuthor id="26" name="yangkun" initials="y" lastIdx="1" clrIdx="25"/>
  <p:cmAuthor id="27" name="10270945" initials="" lastIdx="2" clrIdx="25"/>
  <p:cmAuthor id="28" name="10073006" initials="" lastIdx="4" clrIdx="26"/>
  <p:cmAuthor id="29" name="Hou Yingfeng" initials="" lastIdx="10" clrIdx="23"/>
  <p:cmAuthor id="30" name="赵诚荣10027092" initials="" lastIdx="2" clrIdx="25"/>
  <p:cmAuthor id="31" name="10056791" initials="" lastIdx="1" clrIdx="29"/>
  <p:cmAuthor id="32" name="10033224" initials="" lastIdx="1" clrIdx="31"/>
  <p:cmAuthor id="33" name="10045953" initials="" lastIdx="1" clrIdx="32"/>
  <p:cmAuthor id="34" name="关全全10258021" initials="" lastIdx="1" clrIdx="36"/>
  <p:cmAuthor id="35" name="suny hong" initials="sh" lastIdx="1" clrIdx="34"/>
  <p:cmAuthor id="36" name="Charley" initials="C" lastIdx="1" clrIdx="0"/>
  <p:cmAuthor id="37" name="tangj" initials="t" lastIdx="1" clrIdx="36"/>
  <p:cmAuthor id="38" name="鞠瑞" initials="鞠" lastIdx="1" clrIdx="37"/>
  <p:cmAuthor id="39" name="Hi" initials="H" lastIdx="1" clrIdx="38"/>
  <p:cmAuthor id="40" name="P1063cindychen" initials="P" lastIdx="6" clrIdx="0"/>
  <p:cmAuthor id="41" name="Pueschner, Franziska {FA~Shanghai}" initials="P" lastIdx="5" clrIdx="0"/>
  <p:cmAuthor id="691587970" name="小延魔法师" initials="小" lastIdx="1126286" clrIdx="0"/>
  <p:cmAuthor id="42" name="jianbest" initials="j" lastIdx="1" clrIdx="41"/>
  <p:cmAuthor id="691587971" name="刘春杰10244342" initials="刘春杰10244342" lastIdx="1" clrIdx="41"/>
  <p:cmAuthor id="43" name="王静" initials="王" lastIdx="1" clrIdx="42"/>
  <p:cmAuthor id="44" name="P00035_jeremy" initials="P" lastIdx="1" clrIdx="0"/>
  <p:cmAuthor id="45" name="未知的使用者12" initials="未" lastIdx="1" clrIdx="0"/>
  <p:cmAuthor id="46" name="未知的使用者13" initials="未" lastIdx="5" clrIdx="1"/>
  <p:cmAuthor id="47" name="未知的使用者14" initials="未" lastIdx="0" clrIdx="1"/>
  <p:cmAuthor id="49" name="cui yun" initials="cy" lastIdx="1" clrIdx="22"/>
  <p:cmAuthor id="50" name="未知的使用者9" initials="未" lastIdx="1" clrIdx="0"/>
  <p:cmAuthor id="51" name="未知的使用者11" initials="未" lastIdx="0" clrIdx="1"/>
  <p:cmAuthor id="52" name="未知的使用者27" initials="未" lastIdx="1" clrIdx="0"/>
  <p:cmAuthor id="53" name="未知的使用者28" initials="未" lastIdx="3" clrIdx="1"/>
  <p:cmAuthor id="54" name="未知的使用者29" initials="未" lastIdx="1" clrIdx="1"/>
  <p:cmAuthor id="55" name="未知的使用者21" initials="未" lastIdx="1" clrIdx="0"/>
  <p:cmAuthor id="2000" name="梁亚栋" initials="authorId_233440905" lastIdx="776053" clrIdx="0"/>
  <p:cmAuthor id="56" name="未知的使用者22" initials="未" lastIdx="3" clrIdx="1"/>
  <p:cmAuthor id="57" name="未知的使用者23" initials="未" lastIdx="1" clrIdx="1"/>
  <p:cmAuthor id="58" name="未知的使用者24" initials="未" lastIdx="1" clrIdx="0"/>
  <p:cmAuthor id="59" name="未知的使用者25" initials="未" lastIdx="3" clrIdx="1"/>
  <p:cmAuthor id="60" name="未知的使用者26" initials="未" lastIdx="1" clrIdx="1"/>
  <p:cmAuthor id="61" name="August" initials="A" lastIdx="1" clrIdx="0"/>
  <p:cmAuthor id="62" name="qihua-DCMS" initials="q" lastIdx="0" clrIdx="0"/>
  <p:cmAuthor id="63" name="未知用户5" initials="未" lastIdx="1" clrIdx="0"/>
  <p:cmAuthor id="64" name="YUMINGNJ" initials="Y" lastIdx="3" clrIdx="0"/>
  <p:cmAuthor id="65" name="daphne" initials="d" lastIdx="1" clrIdx="0"/>
  <p:cmAuthor id="66" name="未知用户8" initials="未" lastIdx="1" clrIdx="0"/>
  <p:cmAuthor id="67" name="Unknown User7" initials="U" lastIdx="1" clrIdx="0"/>
  <p:cmAuthor id="68" name="Unknown User8" initials="U" lastIdx="1" clrIdx="0"/>
  <p:cmAuthor id="69" name="未知用户15" initials="未" lastIdx="1" clrIdx="0"/>
  <p:cmAuthor id="70" name="未知用户13" initials="未" lastIdx="1" clrIdx="0"/>
  <p:cmAuthor id="71" name="未知用户14" initials="未" lastIdx="1" clrIdx="0"/>
  <p:cmAuthor id="72" name="Jason Wang" initials="J" lastIdx="1" clrIdx="0"/>
  <p:cmAuthor id="73" name="未知的使用者3" initials="未" lastIdx="0" clrIdx="1"/>
  <p:cmAuthor id="74" name="qiantong" initials="q" lastIdx="3" clrIdx="1"/>
  <p:cmAuthor id="75" name="作者" initials="A" lastIdx="0" clrIdx="24"/>
  <p:cmAuthor id="76" name="wang wei" initials="ww" lastIdx="1" clrIdx="25"/>
  <p:cmAuthor id="77" name="张 波" initials="张" lastIdx="1" clrIdx="26"/>
  <p:cmAuthor id="78" name="JIANG DY" initials="JD" lastIdx="7" clrIdx="27"/>
  <p:cmAuthor id="79" name="YANG Yaqin" initials="YY" lastIdx="1" clrIdx="28"/>
  <p:cmAuthor id="80" name="钱福利" initials="Q" lastIdx="1" clrIdx="29"/>
  <p:cmAuthor id="81" name="未知的使用者53" initials="未" lastIdx="1" clrIdx="0"/>
  <p:cmAuthor id="82" name="未知的使用者46" initials="未" lastIdx="1" clrIdx="1"/>
  <p:cmAuthor id="83" name="yuanzh" initials="y" lastIdx="1" clrIdx="1"/>
  <p:cmAuthor id="84" name="曾红" initials="曾" lastIdx="0" clrIdx="0"/>
  <p:cmAuthor id="85" name="未知用户16" initials="未" lastIdx="1" clrIdx="0"/>
  <p:cmAuthor id="86" name="未知用户17" initials="未" lastIdx="0" clrIdx="1"/>
  <p:cmAuthor id="87" name="mm" initials="m" lastIdx="1" clrIdx="0"/>
  <p:cmAuthor id="88" name="liupeng" initials="l" lastIdx="1" clrIdx="1"/>
  <p:cmAuthor id="89" name="周宏達JerryChou" initials="周" lastIdx="6" clrIdx="2"/>
  <p:cmAuthor id="90" name="luxu" initials="l" lastIdx="22" clrIdx="0"/>
  <p:cmAuthor id="91" name="hl sun" initials="h" lastIdx="1" clrIdx="0"/>
  <p:cmAuthor id="92" name="未知的使用者50" initials="未" lastIdx="1" clrIdx="0"/>
  <p:cmAuthor id="93" name="未知的使用者48" initials="未" lastIdx="1" clrIdx="0"/>
  <p:cmAuthor id="94" name="未知的使用者49" initials="未" lastIdx="1" clrIdx="0"/>
  <p:cmAuthor id="95" name="未知用户22" initials="未" lastIdx="1" clrIdx="0"/>
  <p:cmAuthor id="96" name="未知用户24" initials="未" lastIdx="1" clrIdx="0"/>
  <p:cmAuthor id="97" name="Mary Feil-Jacobs" initials="M" lastIdx="43" clrIdx="1"/>
  <p:cmAuthor id="511165158" name="Eva bling bling" initials="E" lastIdx="1" clrIdx="31"/>
  <p:cmAuthor id="98" name="朱晓瑜" initials="朱" lastIdx="54" clrIdx="0"/>
  <p:cmAuthor id="100" name="djj" initials="d" lastIdx="2" clrIdx="0"/>
  <p:cmAuthor id="101" name="張秀娟" initials="張" lastIdx="1" clrIdx="2"/>
  <p:cmAuthor id="102" name="lianghb" initials="l" lastIdx="19" clrIdx="0"/>
  <p:cmAuthor id="103" name="Shawna Strickland" initials="S" lastIdx="2" clrIdx="0"/>
  <p:cmAuthor id="104" name="linyd" initials="l" lastIdx="3" clrIdx="1"/>
  <p:cmAuthor id="105" name="Ashley Eberenz" initials="A" lastIdx="7" clrIdx="1"/>
  <p:cmAuthor id="106" name="muzi wei" initials="m" lastIdx="1" clrIdx="0"/>
  <p:cmAuthor id="107" name="周元元" initials="" lastIdx="5" clrIdx="0"/>
  <p:cmAuthor id="108" name="未知用户56" initials="未" lastIdx="1" clrIdx="0"/>
  <p:cmAuthor id="109" name="未知用户55" initials="未" lastIdx="1" clrIdx="0"/>
  <p:cmAuthor id="110" name="未知用户51" initials="未" lastIdx="1" clrIdx="1"/>
  <p:cmAuthor id="111" name="LeeElva" initials="L" lastIdx="1" clrIdx="0"/>
  <p:cmAuthor id="21433622" name="悠真" initials="悠" lastIdx="4" clrIdx="26"/>
  <p:cmAuthor id="112" name="唐可欣" initials="唐" lastIdx="1" clrIdx="0"/>
  <p:cmAuthor id="113" name="未知的使用者36" initials="未" lastIdx="10" clrIdx="0"/>
  <p:cmAuthor id="114" name="未知的使用者35" initials="未" lastIdx="1" clrIdx="0"/>
  <p:cmAuthor id="115" name="未知的使用者33" initials="未" lastIdx="1" clrIdx="0"/>
  <p:cmAuthor id="116" name="王鹏凯" initials="王" lastIdx="1" clrIdx="0"/>
  <p:cmAuthor id="117" name="未知的使用者34" initials="未" lastIdx="1" clrIdx="0"/>
  <p:cmAuthor id="119" name="未知用户66" initials="" lastIdx="1" clrIdx="0"/>
  <p:cmAuthor id="121" name="未知用户12" initials="未" lastIdx="8" clrIdx="0"/>
  <p:cmAuthor id="122" name="未知的使用者37" initials="未" lastIdx="8" clrIdx="0"/>
  <p:cmAuthor id="123" name="Harry xu" initials="H" lastIdx="1" clrIdx="0"/>
  <p:cmAuthor id="124" name="未知的使用者59" initials="未" lastIdx="8" clrIdx="0"/>
  <p:cmAuthor id="125" name="未知的使用者60" initials="未" lastIdx="1" clrIdx="0"/>
  <p:cmAuthor id="126" name="未知的使用者54" initials="未" lastIdx="1" clrIdx="0"/>
  <p:cmAuthor id="127" name="未知用户47" initials="未" lastIdx="6" clrIdx="0"/>
  <p:cmAuthor id="128" name="未知用户53" initials="未" lastIdx="10" clrIdx="0"/>
  <p:cmAuthor id="129" name="未知用户48" initials="未" lastIdx="1" clrIdx="0"/>
  <p:cmAuthor id="130" name="未知用户49" initials="未" lastIdx="1" clrIdx="0"/>
  <p:cmAuthor id="131" name="未知的使用者56" initials="未" lastIdx="6" clrIdx="0"/>
  <p:cmAuthor id="132" name="未知的使用者61" initials="未" lastIdx="1" clrIdx="0"/>
  <p:cmAuthor id="133" name="未知的使用者62" initials="未" lastIdx="1" clrIdx="1"/>
  <p:cmAuthor id="134" name="未知的使用者58" initials="未" lastIdx="1" clrIdx="0"/>
  <p:cmAuthor id="135" name="未知用户50" initials="未" lastIdx="1" clrIdx="0"/>
  <p:cmAuthor id="136" name="未知用户52" initials="未" lastIdx="1" clrIdx="0"/>
  <p:cmAuthor id="137" name="未知的使用者120" initials="未" lastIdx="1" clrIdx="0"/>
  <p:cmAuthor id="138" name="未知的使用者109" initials="未" lastIdx="5" clrIdx="1"/>
  <p:cmAuthor id="139" name="未知的使用者110" initials="未" lastIdx="1" clrIdx="1"/>
  <p:cmAuthor id="140" name="未知的使用者111" initials="未" lastIdx="1" clrIdx="0"/>
  <p:cmAuthor id="141" name="未知的使用者121" initials="未" lastIdx="1" clrIdx="0"/>
  <p:cmAuthor id="142" name="thomas" initials="t" lastIdx="1" clrIdx="49"/>
  <p:cmAuthor id="143" name="未知的使用者113" initials="未" lastIdx="1" clrIdx="0"/>
  <p:cmAuthor id="144" name="未知的使用者122" initials="未" lastIdx="1" clrIdx="0"/>
  <p:cmAuthor id="145" name="未知的使用者123" initials="未" lastIdx="8" clrIdx="0"/>
  <p:cmAuthor id="146" name="未知的使用者124" initials="未" lastIdx="8" clrIdx="0"/>
  <p:cmAuthor id="1411827" name="黄晓平" initials="黄" lastIdx="0" clrIdx="0"/>
  <p:cmAuthor id="147" name="未知的使用者125" initials="未" lastIdx="1" clrIdx="0"/>
  <p:cmAuthor id="1411828" name="Xmj" initials="X" lastIdx="3" clrIdx="85"/>
  <p:cmAuthor id="148" name="未知的使用者118" initials="未" lastIdx="1" clrIdx="0"/>
  <p:cmAuthor id="1411829" name="张静_Anua7Nne" initials="authorId_935319063" lastIdx="0" clrIdx="0"/>
  <p:cmAuthor id="149" name="未知的使用者126" initials="未" lastIdx="1" clrIdx="0"/>
  <p:cmAuthor id="1411830" name="晶 王" initials="晶王" lastIdx="1" clrIdx="46"/>
  <p:cmAuthor id="150" name="未知用户57" initials="未" lastIdx="1" clrIdx="0"/>
  <p:cmAuthor id="151" name="未知用户58" initials="未" lastIdx="5" clrIdx="1"/>
  <p:cmAuthor id="152" name="未知用户59" initials="未" lastIdx="0" clrIdx="1"/>
  <p:cmAuthor id="153" name="yuexuejun" initials="y" lastIdx="3" clrIdx="0"/>
  <p:cmAuthor id="154" name="未知的使用者74" initials="未" lastIdx="8" clrIdx="0"/>
  <p:cmAuthor id="155" name="未知的使用者76" initials="未" lastIdx="1" clrIdx="0"/>
  <p:cmAuthor id="156" name="未知的使用者70" initials="未" lastIdx="1" clrIdx="0"/>
  <p:cmAuthor id="157" name="未知的使用者73" initials="未" lastIdx="1" clrIdx="0"/>
  <p:cmAuthor id="158" name="未知的使用者67" initials="未" lastIdx="8" clrIdx="0"/>
  <p:cmAuthor id="159" name="未知的使用者68" initials="未" lastIdx="1" clrIdx="0"/>
  <p:cmAuthor id="160" name="未知的使用者69" initials="未" lastIdx="1" clrIdx="0"/>
  <p:cmAuthor id="161" name="未知的使用者43" initials="未" lastIdx="1" clrIdx="0"/>
  <p:cmAuthor id="162" name="未知的使用者40" initials="未" lastIdx="1" clrIdx="0"/>
  <p:cmAuthor id="163" name="未知的使用者55" initials="未" lastIdx="1" clrIdx="0"/>
  <p:cmAuthor id="164" name="未知的使用者52" initials="未" lastIdx="1" clrIdx="1"/>
  <p:cmAuthor id="165" name="未知的使用者72" initials="未" lastIdx="1" clrIdx="0"/>
  <p:cmAuthor id="166" name="未知的使用者71" initials="未" lastIdx="1" clrIdx="1"/>
  <p:cmAuthor id="167" name="不明使用者20" initials="不" lastIdx="1" clrIdx="0"/>
  <p:cmAuthor id="168" name="不明使用者21" initials="不" lastIdx="1" clrIdx="0"/>
  <p:cmAuthor id="169" name="不明使用者18" initials="不" lastIdx="0" clrIdx="1"/>
  <p:cmAuthor id="170" name="不明使用者19" initials="不" lastIdx="1" clrIdx="0"/>
  <p:cmAuthor id="171" name="未知用户2" initials="未" lastIdx="1" clrIdx="0"/>
  <p:cmAuthor id="172" name="未知用户93" initials="未" lastIdx="1" clrIdx="0"/>
  <p:cmAuthor id="173" name="未知用户90" initials="未" lastIdx="5" clrIdx="1"/>
  <p:cmAuthor id="174" name="未知用户91" initials="未" lastIdx="0" clrIdx="1"/>
  <p:cmAuthor id="175" name="未知用户92" initials="未" lastIdx="1" clrIdx="0"/>
  <p:cmAuthor id="176" name="未知用户74" initials="未" lastIdx="5" clrIdx="1"/>
  <p:cmAuthor id="177" name="未知用户75" initials="未" lastIdx="8" clrIdx="0"/>
  <p:cmAuthor id="178" name="未知用户76" initials="未" lastIdx="1" clrIdx="0"/>
  <p:cmAuthor id="179" name="未知用户77" initials="未" lastIdx="8" clrIdx="0"/>
  <p:cmAuthor id="180" name="未知用户78" initials="未" lastIdx="8" clrIdx="0"/>
  <p:cmAuthor id="181" name="未知用户79" initials="未" lastIdx="1" clrIdx="0"/>
  <p:cmAuthor id="182" name="未知用户80" initials="未" lastIdx="1" clrIdx="0"/>
  <p:cmAuthor id="183" name="未知用户81" initials="未" lastIdx="1" clrIdx="0"/>
  <p:cmAuthor id="184" name="未知的使用者95" initials="未" lastIdx="1" clrIdx="0"/>
  <p:cmAuthor id="185" name="未知的使用者92" initials="未" lastIdx="1" clrIdx="0"/>
  <p:cmAuthor id="186" name="未知的使用者93" initials="未" lastIdx="1" clrIdx="1"/>
  <p:cmAuthor id="187" name="未知的使用者94" initials="未" lastIdx="1" clrIdx="2"/>
  <p:cmAuthor id="188" name="Christina" initials="C" lastIdx="0" clrIdx="0"/>
  <p:cmAuthor id="189" name="jet" initials="j" lastIdx="1" clrIdx="0"/>
  <p:cmAuthor id="190" name="未知用户61" initials="未" lastIdx="8" clrIdx="0"/>
  <p:cmAuthor id="191" name="未知用户60" initials="未" lastIdx="1" clrIdx="0"/>
  <p:cmAuthor id="192" name="Unknown User24" initials="U" lastIdx="1" clrIdx="0"/>
  <p:cmAuthor id="193" name="Unknown User25" initials="U" lastIdx="1" clrIdx="0"/>
  <p:cmAuthor id="194" name="Unknown User26" initials="U" lastIdx="1" clrIdx="1"/>
  <p:cmAuthor id="195" name="Unknown User27" initials="U" lastIdx="1" clrIdx="0"/>
  <p:cmAuthor id="196" name="Unknown User28" initials="U" lastIdx="3" clrIdx="1"/>
  <p:cmAuthor id="197" name="Unknown User11" initials="U" lastIdx="0" clrIdx="1"/>
  <p:cmAuthor id="198" name="Unknown User22" initials="U" lastIdx="1" clrIdx="0"/>
  <p:cmAuthor id="199" name="Unknown User23" initials="U" lastIdx="1" clrIdx="0"/>
  <p:cmAuthor id="200" name="未知的使用者112" initials="未" lastIdx="1" clrIdx="1"/>
  <p:cmAuthor id="201" name="未知的使用者107" initials="未" lastIdx="1" clrIdx="0"/>
  <p:cmAuthor id="202" name="未知的使用者108" initials="未" lastIdx="1" clrIdx="1"/>
  <p:cmAuthor id="203" name="未知的使用者98" initials="未" lastIdx="1" clrIdx="2"/>
  <p:cmAuthor id="204" name="未知的使用者145" initials="未" lastIdx="1" clrIdx="0"/>
  <p:cmAuthor id="205" name="未知的使用者146" initials="未" lastIdx="1" clrIdx="0"/>
  <p:cmAuthor id="206" name="未知的使用者147" initials="未" lastIdx="1" clrIdx="1"/>
  <p:cmAuthor id="207" name="未知的使用者144" initials="未" lastIdx="1" clrIdx="2"/>
  <p:cmAuthor id="208" name="未知的使用者133" initials="未" lastIdx="1" clrIdx="0"/>
  <p:cmAuthor id="209" name="未知的使用者134" initials="未" lastIdx="1" clrIdx="0"/>
  <p:cmAuthor id="210" name="未知的使用者135" initials="未" lastIdx="2" clrIdx="0"/>
  <p:cmAuthor id="211" name="未知的使用者136" initials="未" lastIdx="1" clrIdx="0"/>
  <p:cmAuthor id="212" name="未知的使用者137" initials="未" lastIdx="5" clrIdx="0"/>
  <p:cmAuthor id="47245819" name="群智集" initials="群" lastIdx="0" clrIdx="0"/>
  <p:cmAuthor id="213" name="未知的使用者138" initials="未" lastIdx="10" clrIdx="0"/>
  <p:cmAuthor id="47245820" name="18937034561@189.cn" initials="1" lastIdx="1" clrIdx="16"/>
  <p:cmAuthor id="214" name="未知的使用者139" initials="未" lastIdx="1" clrIdx="0"/>
  <p:cmAuthor id="47245821" name="宋玉坤" initials="W用" lastIdx="1" clrIdx="24"/>
  <p:cmAuthor id="215" name="未知的使用者140" initials="未" lastIdx="1" clrIdx="1"/>
  <p:cmAuthor id="47245822" name="xw" initials="x" lastIdx="4" clrIdx="42"/>
  <p:cmAuthor id="216" name="未知的使用者197" initials="未" lastIdx="8" clrIdx="0"/>
  <p:cmAuthor id="47245823" name="tangjp@mvtech.com.cn" initials="t" lastIdx="14" clrIdx="37"/>
  <p:cmAuthor id="217" name="未知的使用者162" initials="未" lastIdx="8" clrIdx="0"/>
  <p:cmAuthor id="218" name="未知的使用者163" initials="未" lastIdx="1" clrIdx="0"/>
  <p:cmAuthor id="219" name="未知的使用者170" initials="未" lastIdx="0" clrIdx="1"/>
  <p:cmAuthor id="220" name="未知的使用者165" initials="未" lastIdx="1" clrIdx="0"/>
  <p:cmAuthor id="221" name="未知的使用者158" initials="未" lastIdx="1" clrIdx="0"/>
  <p:cmAuthor id="222" name="未知的使用者148" initials="未" lastIdx="5" clrIdx="0"/>
  <p:cmAuthor id="223" name="未知的使用者149" initials="未" lastIdx="10" clrIdx="0"/>
  <p:cmAuthor id="224" name="未知的使用者150" initials="未" lastIdx="1" clrIdx="0"/>
  <p:cmAuthor id="225" name="未知的使用者166" initials="未" lastIdx="8" clrIdx="0"/>
  <p:cmAuthor id="226" name="未知的使用者167" initials="未" lastIdx="0" clrIdx="1"/>
  <p:cmAuthor id="227" name="未知的使用者159" initials="未" lastIdx="1" clrIdx="1"/>
  <p:cmAuthor id="228" name="未知的使用者160" initials="未" lastIdx="1" clrIdx="0"/>
  <p:cmAuthor id="229" name="未知的使用者168" initials="未" lastIdx="1" clrIdx="0"/>
  <p:cmAuthor id="230" name="未知的使用者169" initials="未" lastIdx="1" clrIdx="0"/>
  <p:cmAuthor id="231" name="未知的使用者117" initials="未" lastIdx="1" clrIdx="0"/>
  <p:cmAuthor id="232" name="未知的使用者115" initials="未" lastIdx="1" clrIdx="1"/>
  <p:cmAuthor id="233" name="未知的使用者119" initials="未" lastIdx="1" clrIdx="2"/>
  <p:cmAuthor id="234" name="clinchen" initials="c" lastIdx="0" clrIdx="1"/>
  <p:cmAuthor id="235" name="未知用户6" initials="未" lastIdx="1" clrIdx="0"/>
  <p:cmAuthor id="236" name="未知用户7" initials="未" lastIdx="1" clrIdx="0"/>
  <p:cmAuthor id="237" name="未知的使用者198" initials="未" lastIdx="1" clrIdx="0"/>
  <p:cmAuthor id="238" name="未知的使用者205" initials="未" lastIdx="0" clrIdx="1"/>
  <p:cmAuthor id="239" name="未知的使用者200" initials="未" lastIdx="1" clrIdx="0"/>
  <p:cmAuthor id="240" name="未知的使用者181" initials="未" lastIdx="1" clrIdx="0"/>
  <p:cmAuthor id="241" name="未知的使用者194" initials="未" lastIdx="1" clrIdx="0"/>
  <p:cmAuthor id="242" name="未知的使用者182" initials="未" lastIdx="1" clrIdx="0"/>
  <p:cmAuthor id="243" name="未知的使用者183" initials="未" lastIdx="2" clrIdx="0"/>
  <p:cmAuthor id="244" name="未知的使用者184" initials="未" lastIdx="8" clrIdx="0"/>
  <p:cmAuthor id="245" name="未知的使用者185" initials="未" lastIdx="5" clrIdx="0"/>
  <p:cmAuthor id="246" name="未知的使用者186" initials="未" lastIdx="10" clrIdx="0"/>
  <p:cmAuthor id="247" name="未知的使用者187" initials="未" lastIdx="1" clrIdx="0"/>
  <p:cmAuthor id="248" name="未知的使用者201" initials="未" lastIdx="8" clrIdx="0"/>
  <p:cmAuthor id="249" name="未知的使用者202" initials="未" lastIdx="0" clrIdx="1"/>
  <p:cmAuthor id="250" name="未知的使用者171" initials="未" lastIdx="3" clrIdx="1"/>
  <p:cmAuthor id="251" name="未知的使用者195" initials="未" lastIdx="1" clrIdx="1"/>
  <p:cmAuthor id="252" name="未知的使用者173" initials="未" lastIdx="6" clrIdx="0"/>
  <p:cmAuthor id="253" name="未知的使用者196" initials="未" lastIdx="1" clrIdx="0"/>
  <p:cmAuthor id="254" name="未知的使用者175" initials="未" lastIdx="2" clrIdx="0"/>
  <p:cmAuthor id="255" name="未知的使用者203" initials="未" lastIdx="1" clrIdx="0"/>
  <p:cmAuthor id="256" name="未知的使用者204" initials="未" lastIdx="1" clrIdx="0"/>
  <p:cmAuthor id="257" name="未知的使用者41" initials="未" lastIdx="5" clrIdx="1"/>
  <p:cmAuthor id="258" name="未知的使用者42" initials="未" lastIdx="1" clrIdx="1"/>
  <p:cmAuthor id="259" name="Evonlin" initials="E" lastIdx="2" clrIdx="2"/>
  <p:cmAuthor id="260" name="未知的使用者39" initials="未" lastIdx="10" clrIdx="0"/>
  <p:cmAuthor id="261" name="未知的使用者38" initials="未" lastIdx="1" clrIdx="0"/>
  <p:cmAuthor id="262" name="未知用户37" initials="未" lastIdx="8" clrIdx="0"/>
  <p:cmAuthor id="263" name="未知用户38" initials="未" lastIdx="8" clrIdx="0"/>
  <p:cmAuthor id="264" name="未知用户39" initials="未" lastIdx="1" clrIdx="0"/>
  <p:cmAuthor id="265" name="Admin" initials="A" lastIdx="1" clrIdx="2"/>
  <p:cmAuthor id="266" name="未知的使用者64" initials="未" lastIdx="8" clrIdx="0"/>
  <p:cmAuthor id="267" name="未知的使用者65" initials="未" lastIdx="1" clrIdx="0"/>
  <p:cmAuthor id="268" name="未知的使用者66" initials="未" lastIdx="1" clrIdx="0"/>
  <p:cmAuthor id="269" name="未知的使用者57" initials="未" lastIdx="1" clrIdx="0"/>
  <p:cmAuthor id="270" name="未知用户35" initials="未" lastIdx="1" clrIdx="0"/>
  <p:cmAuthor id="271" name="未知用户36" initials="未" lastIdx="1" clrIdx="0"/>
  <p:cmAuthor id="272" name="未知用户154" initials="" lastIdx="1" clrIdx="0"/>
  <p:cmAuthor id="273" name="未知用户23" initials="未" lastIdx="1" clrIdx="0"/>
  <p:cmAuthor id="274" name="未知用户41" initials="" lastIdx="8" clrIdx="0"/>
  <p:cmAuthor id="275" name="未知用户44" initials="" lastIdx="1" clrIdx="0"/>
  <p:cmAuthor id="276" name="未知用户45" initials="" lastIdx="1" clrIdx="0"/>
  <p:cmAuthor id="277" name="未知用户156" initials="" lastIdx="10" clrIdx="0"/>
  <p:cmAuthor id="278" name="未知用户33" initials="未" lastIdx="1" clrIdx="0"/>
  <p:cmAuthor id="279" name="未知用户34" initials="未" lastIdx="2" clrIdx="0"/>
  <p:cmAuthor id="280" name="huang gerrard" initials="h" lastIdx="2" clrIdx="0"/>
  <p:cmAuthor id="281" name="未知用户98" initials="未" lastIdx="8" clrIdx="0"/>
  <p:cmAuthor id="282" name="未知用户100" initials="未" lastIdx="1" clrIdx="0"/>
  <p:cmAuthor id="283" name="未知用户101" initials="未" lastIdx="1" clrIdx="0"/>
  <p:cmAuthor id="284" name="未知用户72" initials="" lastIdx="1" clrIdx="0"/>
  <p:cmAuthor id="285" name="未知用户73" initials="" lastIdx="2" clrIdx="0"/>
  <p:cmAuthor id="289" name="未知用户42" initials="未" lastIdx="1" clrIdx="0"/>
  <p:cmAuthor id="291" name="未知用户96" initials="" lastIdx="1" clrIdx="0"/>
  <p:cmAuthor id="565656472" name="Lijx" initials="L" lastIdx="6" clrIdx="4"/>
  <p:cmAuthor id="293" name="未知用户97" initials="" lastIdx="2" clrIdx="0"/>
  <p:cmAuthor id="294" name="未知用户40" initials="" lastIdx="5" clrIdx="1"/>
  <p:cmAuthor id="295" name="未知用户43" initials="" lastIdx="1" clrIdx="0"/>
  <p:cmAuthor id="298" name="未知用户26" initials="" lastIdx="1" clrIdx="0"/>
  <p:cmAuthor id="309" name="mapengcheng" initials="m" lastIdx="1" clrIdx="308"/>
  <p:cmAuthor id="311" name="郎蕊" initials="郎" lastIdx="4" clrIdx="310"/>
  <p:cmAuthor id="312" name="Chun Chung YEH" initials="C" lastIdx="2" clrIdx="0"/>
  <p:cmAuthor id="314" name="Vicky" initials="V" lastIdx="2" clrIdx="1"/>
  <p:cmAuthor id="315" name="刘云轩" initials="刘" lastIdx="2" clrIdx="0"/>
  <p:cmAuthor id="316" name="sharon" initials="s" lastIdx="5" clrIdx="84"/>
  <p:cmAuthor id="317" name="未知的使用者81" initials="未" lastIdx="1" clrIdx="0"/>
  <p:cmAuthor id="318" name="仝德志" initials="仝" lastIdx="1" clrIdx="0"/>
  <p:cmAuthor id="1554701838" name="宗哲" initials="宗" lastIdx="1" clrIdx="337"/>
  <p:cmAuthor id="321" name="未知用户111" initials="未" lastIdx="1" clrIdx="1"/>
  <p:cmAuthor id="322" name="alpha" initials="a" lastIdx="1" clrIdx="0"/>
  <p:cmAuthor id="326" name="未知的使用者75" initials="未" lastIdx="1" clrIdx="0"/>
  <p:cmAuthor id="327" name="未知的使用者77" initials="未" lastIdx="1" clrIdx="0"/>
  <p:cmAuthor id="328" name="未知的使用者78" initials="未" lastIdx="5" clrIdx="1"/>
  <p:cmAuthor id="329" name="未知的使用者79" initials="未" lastIdx="0" clrIdx="1"/>
  <p:cmAuthor id="330" name="未知的使用者80" initials="未" lastIdx="0" clrIdx="0"/>
  <p:cmAuthor id="331" name="未知的使用者82" initials="未" lastIdx="1" clrIdx="0"/>
  <p:cmAuthor id="332" name="未知的使用者83" initials="未" lastIdx="1" clrIdx="0"/>
  <p:cmAuthor id="333" name="未知的使用者84" initials="未" lastIdx="1" clrIdx="1"/>
  <p:cmAuthor id="1483810881" name="WPS_1679281038" initials="W" lastIdx="1" clrIdx="2"/>
  <p:cmAuthor id="334" name="未知的使用者85" initials="未" lastIdx="1" clrIdx="0"/>
  <p:cmAuthor id="335" name="未知的使用者87" initials="未" lastIdx="1" clrIdx="0"/>
  <p:cmAuthor id="336" name="未知的使用者90" initials="未" lastIdx="8" clrIdx="0"/>
  <p:cmAuthor id="337" name="未知的使用者91" initials="未" lastIdx="1" clrIdx="0"/>
  <p:cmAuthor id="338" name="CHRISYU" initials="C" lastIdx="1" clrIdx="0"/>
  <p:cmAuthor id="339" name="liucunri" initials="l" lastIdx="1" clrIdx="0"/>
  <p:cmAuthor id="340" name="Unknown User48" initials="U" lastIdx="8" clrIdx="0"/>
  <p:cmAuthor id="341" name="Unknown User52" initials="U" lastIdx="1" clrIdx="0"/>
  <p:cmAuthor id="342" name="Unknown User50" initials="U" lastIdx="1" clrIdx="0"/>
  <p:cmAuthor id="346" name="PC" initials="P" lastIdx="4" clrIdx="0"/>
  <p:cmAuthor id="352" name="未知的使用者161" initials="未" lastIdx="1" clrIdx="0"/>
  <p:cmAuthor id="355" name="未知的使用者152" initials="未" lastIdx="1" clrIdx="0"/>
  <p:cmAuthor id="360" name="未知的使用者176" initials="未" lastIdx="1" clrIdx="0"/>
  <p:cmAuthor id="362" name="未知的使用者178" initials="未" lastIdx="1" clrIdx="0"/>
  <p:cmAuthor id="363" name="未知的使用者179" initials="未" lastIdx="1" clrIdx="0"/>
  <p:cmAuthor id="364" name="未知的使用者180" initials="未" lastIdx="2" clrIdx="0"/>
  <p:cmAuthor id="475196944" name="姚琳" initials="姚" lastIdx="1133934" clrIdx="0"/>
  <p:cmAuthor id="475196945" name="chen" initials="c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EAEAEA"/>
    <a:srgbClr val="00CC00"/>
    <a:srgbClr val="66FFCC"/>
    <a:srgbClr val="FF33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38"/>
    <p:restoredTop sz="94660"/>
  </p:normalViewPr>
  <p:slideViewPr>
    <p:cSldViewPr snapToGrid="0" showGuides="1">
      <p:cViewPr varScale="1">
        <p:scale>
          <a:sx n="63" d="100"/>
          <a:sy n="63" d="100"/>
        </p:scale>
        <p:origin x="-806" y="-67"/>
      </p:cViewPr>
      <p:guideLst>
        <p:guide orient="horz" pos="2160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1" Type="http://schemas.openxmlformats.org/officeDocument/2006/relationships/commentAuthors" Target="commentAuthors.xml"/><Relationship Id="rId80" Type="http://schemas.openxmlformats.org/officeDocument/2006/relationships/tableStyles" Target="tableStyles.xml"/><Relationship Id="rId8" Type="http://schemas.openxmlformats.org/officeDocument/2006/relationships/slide" Target="slides/slide6.xml"/><Relationship Id="rId79" Type="http://schemas.openxmlformats.org/officeDocument/2006/relationships/viewProps" Target="viewProps.xml"/><Relationship Id="rId78" Type="http://schemas.openxmlformats.org/officeDocument/2006/relationships/presProps" Target="presProps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1.xml"/><Relationship Id="rId1" Type="http://schemas.openxmlformats.org/officeDocument/2006/relationships/oleObject" Target="/home/wangwenxiang/01WORK/03LA664/&#24615;&#33021;&#35780;&#27979;/&#20108;&#27425;&#21152;&#24037;.xlsx" TargetMode="Externa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2.xml"/><Relationship Id="rId1" Type="http://schemas.openxmlformats.org/officeDocument/2006/relationships/oleObject" Target="/home/wangwenxiang/01WORK/03LA664/&#24615;&#33021;&#35780;&#27979;/&#20108;&#27425;&#21152;&#24037;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/home/wangwenxiang/01WORK/03LA664/&#24615;&#33021;&#35780;&#27979;/&#20108;&#27425;&#21152;&#24037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'[二次加工.xlsx]06lasxTMA'!$B$1</c:f>
              <c:strCache>
                <c:ptCount val="1"/>
                <c:pt idx="0">
                  <c:v>退出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'[二次加工.xlsx]06lasxTMA'!$A$2:$A$32</c:f>
              <c:strCache>
                <c:ptCount val="31"/>
                <c:pt idx="0">
                  <c:v>400.perlbench</c:v>
                </c:pt>
                <c:pt idx="1">
                  <c:v>401.bzip2</c:v>
                </c:pt>
                <c:pt idx="2">
                  <c:v>403.gcc</c:v>
                </c:pt>
                <c:pt idx="3">
                  <c:v>429.mcf</c:v>
                </c:pt>
                <c:pt idx="4">
                  <c:v>445.gobmk</c:v>
                </c:pt>
                <c:pt idx="5">
                  <c:v>456.hmmer</c:v>
                </c:pt>
                <c:pt idx="6">
                  <c:v>458.sjeng</c:v>
                </c:pt>
                <c:pt idx="7">
                  <c:v>462.libquantum</c:v>
                </c:pt>
                <c:pt idx="8">
                  <c:v>464.h264ref</c:v>
                </c:pt>
                <c:pt idx="9">
                  <c:v>471.omnetpp</c:v>
                </c:pt>
                <c:pt idx="10">
                  <c:v>473.astar</c:v>
                </c:pt>
                <c:pt idx="11">
                  <c:v>483.xalancbmk</c:v>
                </c:pt>
                <c:pt idx="12">
                  <c:v>INT</c:v>
                </c:pt>
                <c:pt idx="13">
                  <c:v>410.bwaves</c:v>
                </c:pt>
                <c:pt idx="14">
                  <c:v>416.gamess</c:v>
                </c:pt>
                <c:pt idx="15">
                  <c:v>433.milc</c:v>
                </c:pt>
                <c:pt idx="16">
                  <c:v>434.zeusmp</c:v>
                </c:pt>
                <c:pt idx="17">
                  <c:v>435.gromacs</c:v>
                </c:pt>
                <c:pt idx="18">
                  <c:v>436.cactusADM</c:v>
                </c:pt>
                <c:pt idx="19">
                  <c:v>437.leslie3d</c:v>
                </c:pt>
                <c:pt idx="20">
                  <c:v>444.namd</c:v>
                </c:pt>
                <c:pt idx="21">
                  <c:v>447.dealII</c:v>
                </c:pt>
                <c:pt idx="22">
                  <c:v>450.soplex</c:v>
                </c:pt>
                <c:pt idx="23">
                  <c:v>453.povray</c:v>
                </c:pt>
                <c:pt idx="24">
                  <c:v>454.calculix</c:v>
                </c:pt>
                <c:pt idx="25">
                  <c:v>459.GemsFDTD</c:v>
                </c:pt>
                <c:pt idx="26">
                  <c:v>465.tonto</c:v>
                </c:pt>
                <c:pt idx="27">
                  <c:v>470.lbm</c:v>
                </c:pt>
                <c:pt idx="28">
                  <c:v>481.wrf</c:v>
                </c:pt>
                <c:pt idx="29">
                  <c:v>482.sphinx3</c:v>
                </c:pt>
                <c:pt idx="30">
                  <c:v>FP</c:v>
                </c:pt>
              </c:strCache>
            </c:strRef>
          </c:cat>
          <c:val>
            <c:numRef>
              <c:f>'[二次加工.xlsx]06lasxTMA'!$B$2:$B$32</c:f>
              <c:numCache>
                <c:formatCode>General</c:formatCode>
                <c:ptCount val="31"/>
                <c:pt idx="0">
                  <c:v>0.560505514737611</c:v>
                </c:pt>
                <c:pt idx="1">
                  <c:v>0.387822050984351</c:v>
                </c:pt>
                <c:pt idx="2">
                  <c:v>0.265819685062969</c:v>
                </c:pt>
                <c:pt idx="3">
                  <c:v>0.0847375989379306</c:v>
                </c:pt>
                <c:pt idx="4">
                  <c:v>0.311133531170528</c:v>
                </c:pt>
                <c:pt idx="5">
                  <c:v>0.636465174397566</c:v>
                </c:pt>
                <c:pt idx="6">
                  <c:v>0.348459719523924</c:v>
                </c:pt>
                <c:pt idx="7">
                  <c:v>0.342388047656345</c:v>
                </c:pt>
                <c:pt idx="8">
                  <c:v>0.580002505065774</c:v>
                </c:pt>
                <c:pt idx="9">
                  <c:v>0.200891937699256</c:v>
                </c:pt>
                <c:pt idx="10">
                  <c:v>0.202777848318761</c:v>
                </c:pt>
                <c:pt idx="11">
                  <c:v>0.418959424883167</c:v>
                </c:pt>
                <c:pt idx="13">
                  <c:v>0.46979529739458</c:v>
                </c:pt>
                <c:pt idx="14">
                  <c:v>0.753825058856067</c:v>
                </c:pt>
                <c:pt idx="15">
                  <c:v>0.228198497137758</c:v>
                </c:pt>
                <c:pt idx="16">
                  <c:v>0.315879854850417</c:v>
                </c:pt>
                <c:pt idx="17">
                  <c:v>0.410828723428151</c:v>
                </c:pt>
                <c:pt idx="18">
                  <c:v>0.389757578841208</c:v>
                </c:pt>
                <c:pt idx="19">
                  <c:v>0.229720616965421</c:v>
                </c:pt>
                <c:pt idx="20">
                  <c:v>0.380280656978012</c:v>
                </c:pt>
                <c:pt idx="21">
                  <c:v>0.39036167039887</c:v>
                </c:pt>
                <c:pt idx="22">
                  <c:v>0.1931459190682</c:v>
                </c:pt>
                <c:pt idx="23">
                  <c:v>0.523058659380717</c:v>
                </c:pt>
                <c:pt idx="24">
                  <c:v>0.481584279646781</c:v>
                </c:pt>
                <c:pt idx="25">
                  <c:v>0.222711839373983</c:v>
                </c:pt>
                <c:pt idx="26">
                  <c:v>0.522639992312114</c:v>
                </c:pt>
                <c:pt idx="27">
                  <c:v>0.360952790584619</c:v>
                </c:pt>
                <c:pt idx="28">
                  <c:v>0.426079646123202</c:v>
                </c:pt>
                <c:pt idx="29">
                  <c:v>0.390471182715122</c:v>
                </c:pt>
              </c:numCache>
            </c:numRef>
          </c:val>
        </c:ser>
        <c:ser>
          <c:idx val="1"/>
          <c:order val="1"/>
          <c:tx>
            <c:strRef>
              <c:f>'[二次加工.xlsx]06lasxTMA'!$C$1</c:f>
              <c:strCache>
                <c:ptCount val="1"/>
                <c:pt idx="0">
                  <c:v>错误推测</c:v>
                </c:pt>
              </c:strCache>
            </c:strRef>
          </c:tx>
          <c:spPr>
            <a:gradFill>
              <a:gsLst>
                <a:gs pos="100000">
                  <a:srgbClr val="E30000"/>
                </a:gs>
                <a:gs pos="100000">
                  <a:srgbClr val="760303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'[二次加工.xlsx]06lasxTMA'!$A$2:$A$32</c:f>
              <c:strCache>
                <c:ptCount val="31"/>
                <c:pt idx="0">
                  <c:v>400.perlbench</c:v>
                </c:pt>
                <c:pt idx="1">
                  <c:v>401.bzip2</c:v>
                </c:pt>
                <c:pt idx="2">
                  <c:v>403.gcc</c:v>
                </c:pt>
                <c:pt idx="3">
                  <c:v>429.mcf</c:v>
                </c:pt>
                <c:pt idx="4">
                  <c:v>445.gobmk</c:v>
                </c:pt>
                <c:pt idx="5">
                  <c:v>456.hmmer</c:v>
                </c:pt>
                <c:pt idx="6">
                  <c:v>458.sjeng</c:v>
                </c:pt>
                <c:pt idx="7">
                  <c:v>462.libquantum</c:v>
                </c:pt>
                <c:pt idx="8">
                  <c:v>464.h264ref</c:v>
                </c:pt>
                <c:pt idx="9">
                  <c:v>471.omnetpp</c:v>
                </c:pt>
                <c:pt idx="10">
                  <c:v>473.astar</c:v>
                </c:pt>
                <c:pt idx="11">
                  <c:v>483.xalancbmk</c:v>
                </c:pt>
                <c:pt idx="12">
                  <c:v>INT</c:v>
                </c:pt>
                <c:pt idx="13">
                  <c:v>410.bwaves</c:v>
                </c:pt>
                <c:pt idx="14">
                  <c:v>416.gamess</c:v>
                </c:pt>
                <c:pt idx="15">
                  <c:v>433.milc</c:v>
                </c:pt>
                <c:pt idx="16">
                  <c:v>434.zeusmp</c:v>
                </c:pt>
                <c:pt idx="17">
                  <c:v>435.gromacs</c:v>
                </c:pt>
                <c:pt idx="18">
                  <c:v>436.cactusADM</c:v>
                </c:pt>
                <c:pt idx="19">
                  <c:v>437.leslie3d</c:v>
                </c:pt>
                <c:pt idx="20">
                  <c:v>444.namd</c:v>
                </c:pt>
                <c:pt idx="21">
                  <c:v>447.dealII</c:v>
                </c:pt>
                <c:pt idx="22">
                  <c:v>450.soplex</c:v>
                </c:pt>
                <c:pt idx="23">
                  <c:v>453.povray</c:v>
                </c:pt>
                <c:pt idx="24">
                  <c:v>454.calculix</c:v>
                </c:pt>
                <c:pt idx="25">
                  <c:v>459.GemsFDTD</c:v>
                </c:pt>
                <c:pt idx="26">
                  <c:v>465.tonto</c:v>
                </c:pt>
                <c:pt idx="27">
                  <c:v>470.lbm</c:v>
                </c:pt>
                <c:pt idx="28">
                  <c:v>481.wrf</c:v>
                </c:pt>
                <c:pt idx="29">
                  <c:v>482.sphinx3</c:v>
                </c:pt>
                <c:pt idx="30">
                  <c:v>FP</c:v>
                </c:pt>
              </c:strCache>
            </c:strRef>
          </c:cat>
          <c:val>
            <c:numRef>
              <c:f>'[二次加工.xlsx]06lasxTMA'!$C$2:$C$32</c:f>
              <c:numCache>
                <c:formatCode>General</c:formatCode>
                <c:ptCount val="31"/>
                <c:pt idx="0">
                  <c:v>0.0629611667073884</c:v>
                </c:pt>
                <c:pt idx="1">
                  <c:v>0.243268178027173</c:v>
                </c:pt>
                <c:pt idx="2">
                  <c:v>0.0481401604000418</c:v>
                </c:pt>
                <c:pt idx="3">
                  <c:v>0.154713443616038</c:v>
                </c:pt>
                <c:pt idx="4">
                  <c:v>0.278553566096163</c:v>
                </c:pt>
                <c:pt idx="5">
                  <c:v>0.0312567675609626</c:v>
                </c:pt>
                <c:pt idx="6">
                  <c:v>0.17298484709174</c:v>
                </c:pt>
                <c:pt idx="7">
                  <c:v>0.00256362682854791</c:v>
                </c:pt>
                <c:pt idx="8">
                  <c:v>0.0504842505161621</c:v>
                </c:pt>
                <c:pt idx="9">
                  <c:v>0.110018259926852</c:v>
                </c:pt>
                <c:pt idx="10">
                  <c:v>0.373367612443307</c:v>
                </c:pt>
                <c:pt idx="11">
                  <c:v>0.0322507646019839</c:v>
                </c:pt>
                <c:pt idx="13">
                  <c:v>0.000172273671906887</c:v>
                </c:pt>
                <c:pt idx="14">
                  <c:v>0.0320975783023312</c:v>
                </c:pt>
                <c:pt idx="15">
                  <c:v>0.000626565993367802</c:v>
                </c:pt>
                <c:pt idx="16">
                  <c:v>0.000774448200851051</c:v>
                </c:pt>
                <c:pt idx="17">
                  <c:v>0.0776137531624841</c:v>
                </c:pt>
                <c:pt idx="18">
                  <c:v>0.000643204694557549</c:v>
                </c:pt>
                <c:pt idx="19">
                  <c:v>0.000795893185659685</c:v>
                </c:pt>
                <c:pt idx="20">
                  <c:v>0.124724868920997</c:v>
                </c:pt>
                <c:pt idx="21">
                  <c:v>0.0753776503806676</c:v>
                </c:pt>
                <c:pt idx="22">
                  <c:v>0.163013096544536</c:v>
                </c:pt>
                <c:pt idx="23">
                  <c:v>0.0652038973064953</c:v>
                </c:pt>
                <c:pt idx="24">
                  <c:v>0.0622102833111159</c:v>
                </c:pt>
                <c:pt idx="25">
                  <c:v>0.00350662264164538</c:v>
                </c:pt>
                <c:pt idx="26">
                  <c:v>0.0375164056005947</c:v>
                </c:pt>
                <c:pt idx="27">
                  <c:v>0.0015104375060732</c:v>
                </c:pt>
                <c:pt idx="28">
                  <c:v>0.00356149639955245</c:v>
                </c:pt>
                <c:pt idx="29">
                  <c:v>0.103808304718026</c:v>
                </c:pt>
              </c:numCache>
            </c:numRef>
          </c:val>
        </c:ser>
        <c:ser>
          <c:idx val="2"/>
          <c:order val="2"/>
          <c:tx>
            <c:strRef>
              <c:f>'[二次加工.xlsx]06lasxTMA'!$D$1</c:f>
              <c:strCache>
                <c:ptCount val="1"/>
                <c:pt idx="0">
                  <c:v>后端限制</c:v>
                </c:pt>
              </c:strCache>
            </c:strRef>
          </c:tx>
          <c:spPr>
            <a:gradFill>
              <a:gsLst>
                <a:gs pos="100000">
                  <a:srgbClr val="FBFB11"/>
                </a:gs>
                <a:gs pos="100000">
                  <a:srgbClr val="838309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'[二次加工.xlsx]06lasxTMA'!$A$2:$A$32</c:f>
              <c:strCache>
                <c:ptCount val="31"/>
                <c:pt idx="0">
                  <c:v>400.perlbench</c:v>
                </c:pt>
                <c:pt idx="1">
                  <c:v>401.bzip2</c:v>
                </c:pt>
                <c:pt idx="2">
                  <c:v>403.gcc</c:v>
                </c:pt>
                <c:pt idx="3">
                  <c:v>429.mcf</c:v>
                </c:pt>
                <c:pt idx="4">
                  <c:v>445.gobmk</c:v>
                </c:pt>
                <c:pt idx="5">
                  <c:v>456.hmmer</c:v>
                </c:pt>
                <c:pt idx="6">
                  <c:v>458.sjeng</c:v>
                </c:pt>
                <c:pt idx="7">
                  <c:v>462.libquantum</c:v>
                </c:pt>
                <c:pt idx="8">
                  <c:v>464.h264ref</c:v>
                </c:pt>
                <c:pt idx="9">
                  <c:v>471.omnetpp</c:v>
                </c:pt>
                <c:pt idx="10">
                  <c:v>473.astar</c:v>
                </c:pt>
                <c:pt idx="11">
                  <c:v>483.xalancbmk</c:v>
                </c:pt>
                <c:pt idx="12">
                  <c:v>INT</c:v>
                </c:pt>
                <c:pt idx="13">
                  <c:v>410.bwaves</c:v>
                </c:pt>
                <c:pt idx="14">
                  <c:v>416.gamess</c:v>
                </c:pt>
                <c:pt idx="15">
                  <c:v>433.milc</c:v>
                </c:pt>
                <c:pt idx="16">
                  <c:v>434.zeusmp</c:v>
                </c:pt>
                <c:pt idx="17">
                  <c:v>435.gromacs</c:v>
                </c:pt>
                <c:pt idx="18">
                  <c:v>436.cactusADM</c:v>
                </c:pt>
                <c:pt idx="19">
                  <c:v>437.leslie3d</c:v>
                </c:pt>
                <c:pt idx="20">
                  <c:v>444.namd</c:v>
                </c:pt>
                <c:pt idx="21">
                  <c:v>447.dealII</c:v>
                </c:pt>
                <c:pt idx="22">
                  <c:v>450.soplex</c:v>
                </c:pt>
                <c:pt idx="23">
                  <c:v>453.povray</c:v>
                </c:pt>
                <c:pt idx="24">
                  <c:v>454.calculix</c:v>
                </c:pt>
                <c:pt idx="25">
                  <c:v>459.GemsFDTD</c:v>
                </c:pt>
                <c:pt idx="26">
                  <c:v>465.tonto</c:v>
                </c:pt>
                <c:pt idx="27">
                  <c:v>470.lbm</c:v>
                </c:pt>
                <c:pt idx="28">
                  <c:v>481.wrf</c:v>
                </c:pt>
                <c:pt idx="29">
                  <c:v>482.sphinx3</c:v>
                </c:pt>
                <c:pt idx="30">
                  <c:v>FP</c:v>
                </c:pt>
              </c:strCache>
            </c:strRef>
          </c:cat>
          <c:val>
            <c:numRef>
              <c:f>'[二次加工.xlsx]06lasxTMA'!$D$2:$D$32</c:f>
              <c:numCache>
                <c:formatCode>General</c:formatCode>
                <c:ptCount val="31"/>
                <c:pt idx="0">
                  <c:v>0.041511969250654</c:v>
                </c:pt>
                <c:pt idx="1">
                  <c:v>0.166588477922212</c:v>
                </c:pt>
                <c:pt idx="2">
                  <c:v>0.466029951660782</c:v>
                </c:pt>
                <c:pt idx="3">
                  <c:v>0.620522045806257</c:v>
                </c:pt>
                <c:pt idx="4">
                  <c:v>0.0726949404062208</c:v>
                </c:pt>
                <c:pt idx="5">
                  <c:v>0.321440330027329</c:v>
                </c:pt>
                <c:pt idx="6">
                  <c:v>0.0876817091595506</c:v>
                </c:pt>
                <c:pt idx="7">
                  <c:v>0.442876112280023</c:v>
                </c:pt>
                <c:pt idx="8">
                  <c:v>0.279163727606313</c:v>
                </c:pt>
                <c:pt idx="9">
                  <c:v>0.557355202780285</c:v>
                </c:pt>
                <c:pt idx="10">
                  <c:v>0.119998587202379</c:v>
                </c:pt>
                <c:pt idx="11">
                  <c:v>0.204420655174432</c:v>
                </c:pt>
                <c:pt idx="13">
                  <c:v>0.450641155165737</c:v>
                </c:pt>
                <c:pt idx="14">
                  <c:v>0.127616841766473</c:v>
                </c:pt>
                <c:pt idx="15">
                  <c:v>0.75735052471274</c:v>
                </c:pt>
                <c:pt idx="16">
                  <c:v>0.653768813856277</c:v>
                </c:pt>
                <c:pt idx="17">
                  <c:v>0.410732072377882</c:v>
                </c:pt>
                <c:pt idx="18">
                  <c:v>0.56623531518401</c:v>
                </c:pt>
                <c:pt idx="19">
                  <c:v>0.738476859104193</c:v>
                </c:pt>
                <c:pt idx="20">
                  <c:v>0.39161730152405</c:v>
                </c:pt>
                <c:pt idx="21">
                  <c:v>0.318333916820299</c:v>
                </c:pt>
                <c:pt idx="22">
                  <c:v>0.542046037585678</c:v>
                </c:pt>
                <c:pt idx="23">
                  <c:v>0.213358617271826</c:v>
                </c:pt>
                <c:pt idx="24">
                  <c:v>0.300945746841065</c:v>
                </c:pt>
                <c:pt idx="25">
                  <c:v>0.70467954253107</c:v>
                </c:pt>
                <c:pt idx="26">
                  <c:v>0.375435195539326</c:v>
                </c:pt>
                <c:pt idx="27">
                  <c:v>0.636020604785693</c:v>
                </c:pt>
                <c:pt idx="28">
                  <c:v>0.490216590702876</c:v>
                </c:pt>
                <c:pt idx="29">
                  <c:v>0.409786118324983</c:v>
                </c:pt>
              </c:numCache>
            </c:numRef>
          </c:val>
        </c:ser>
        <c:ser>
          <c:idx val="3"/>
          <c:order val="3"/>
          <c:tx>
            <c:strRef>
              <c:f>'[二次加工.xlsx]06lasxTMA'!$E$1</c:f>
              <c:strCache>
                <c:ptCount val="1"/>
                <c:pt idx="0">
                  <c:v>前端限制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'[二次加工.xlsx]06lasxTMA'!$A$2:$A$32</c:f>
              <c:strCache>
                <c:ptCount val="31"/>
                <c:pt idx="0">
                  <c:v>400.perlbench</c:v>
                </c:pt>
                <c:pt idx="1">
                  <c:v>401.bzip2</c:v>
                </c:pt>
                <c:pt idx="2">
                  <c:v>403.gcc</c:v>
                </c:pt>
                <c:pt idx="3">
                  <c:v>429.mcf</c:v>
                </c:pt>
                <c:pt idx="4">
                  <c:v>445.gobmk</c:v>
                </c:pt>
                <c:pt idx="5">
                  <c:v>456.hmmer</c:v>
                </c:pt>
                <c:pt idx="6">
                  <c:v>458.sjeng</c:v>
                </c:pt>
                <c:pt idx="7">
                  <c:v>462.libquantum</c:v>
                </c:pt>
                <c:pt idx="8">
                  <c:v>464.h264ref</c:v>
                </c:pt>
                <c:pt idx="9">
                  <c:v>471.omnetpp</c:v>
                </c:pt>
                <c:pt idx="10">
                  <c:v>473.astar</c:v>
                </c:pt>
                <c:pt idx="11">
                  <c:v>483.xalancbmk</c:v>
                </c:pt>
                <c:pt idx="12">
                  <c:v>INT</c:v>
                </c:pt>
                <c:pt idx="13">
                  <c:v>410.bwaves</c:v>
                </c:pt>
                <c:pt idx="14">
                  <c:v>416.gamess</c:v>
                </c:pt>
                <c:pt idx="15">
                  <c:v>433.milc</c:v>
                </c:pt>
                <c:pt idx="16">
                  <c:v>434.zeusmp</c:v>
                </c:pt>
                <c:pt idx="17">
                  <c:v>435.gromacs</c:v>
                </c:pt>
                <c:pt idx="18">
                  <c:v>436.cactusADM</c:v>
                </c:pt>
                <c:pt idx="19">
                  <c:v>437.leslie3d</c:v>
                </c:pt>
                <c:pt idx="20">
                  <c:v>444.namd</c:v>
                </c:pt>
                <c:pt idx="21">
                  <c:v>447.dealII</c:v>
                </c:pt>
                <c:pt idx="22">
                  <c:v>450.soplex</c:v>
                </c:pt>
                <c:pt idx="23">
                  <c:v>453.povray</c:v>
                </c:pt>
                <c:pt idx="24">
                  <c:v>454.calculix</c:v>
                </c:pt>
                <c:pt idx="25">
                  <c:v>459.GemsFDTD</c:v>
                </c:pt>
                <c:pt idx="26">
                  <c:v>465.tonto</c:v>
                </c:pt>
                <c:pt idx="27">
                  <c:v>470.lbm</c:v>
                </c:pt>
                <c:pt idx="28">
                  <c:v>481.wrf</c:v>
                </c:pt>
                <c:pt idx="29">
                  <c:v>482.sphinx3</c:v>
                </c:pt>
                <c:pt idx="30">
                  <c:v>FP</c:v>
                </c:pt>
              </c:strCache>
            </c:strRef>
          </c:cat>
          <c:val>
            <c:numRef>
              <c:f>'[二次加工.xlsx]06lasxTMA'!$E$2:$E$32</c:f>
              <c:numCache>
                <c:formatCode>General</c:formatCode>
                <c:ptCount val="31"/>
                <c:pt idx="0">
                  <c:v>0.335021349304348</c:v>
                </c:pt>
                <c:pt idx="1">
                  <c:v>0.202321293066266</c:v>
                </c:pt>
                <c:pt idx="2">
                  <c:v>0.220010202876209</c:v>
                </c:pt>
                <c:pt idx="3">
                  <c:v>0.140026911639771</c:v>
                </c:pt>
                <c:pt idx="4">
                  <c:v>0.337617962327088</c:v>
                </c:pt>
                <c:pt idx="5">
                  <c:v>0.010837728014141</c:v>
                </c:pt>
                <c:pt idx="6">
                  <c:v>0.390873724224787</c:v>
                </c:pt>
                <c:pt idx="7">
                  <c:v>0.212172213235084</c:v>
                </c:pt>
                <c:pt idx="8">
                  <c:v>0.0903495168117471</c:v>
                </c:pt>
                <c:pt idx="9">
                  <c:v>0.131734599593604</c:v>
                </c:pt>
                <c:pt idx="10">
                  <c:v>0.303855952035552</c:v>
                </c:pt>
                <c:pt idx="11">
                  <c:v>0.344369155340417</c:v>
                </c:pt>
                <c:pt idx="13">
                  <c:v>0.0793912737677738</c:v>
                </c:pt>
                <c:pt idx="14">
                  <c:v>0.0864605210751301</c:v>
                </c:pt>
                <c:pt idx="15">
                  <c:v>0.0138244121561337</c:v>
                </c:pt>
                <c:pt idx="16">
                  <c:v>0.0295768830924573</c:v>
                </c:pt>
                <c:pt idx="17">
                  <c:v>0.100825451031483</c:v>
                </c:pt>
                <c:pt idx="18">
                  <c:v>0.0433639012802239</c:v>
                </c:pt>
                <c:pt idx="19">
                  <c:v>0.0310066307447276</c:v>
                </c:pt>
                <c:pt idx="20">
                  <c:v>0.103377172576942</c:v>
                </c:pt>
                <c:pt idx="21">
                  <c:v>0.215926762400166</c:v>
                </c:pt>
                <c:pt idx="22">
                  <c:v>0.101794946801586</c:v>
                </c:pt>
                <c:pt idx="23">
                  <c:v>0.19837882604096</c:v>
                </c:pt>
                <c:pt idx="24">
                  <c:v>0.155259690201039</c:v>
                </c:pt>
                <c:pt idx="25">
                  <c:v>0.0691019954533028</c:v>
                </c:pt>
                <c:pt idx="26">
                  <c:v>0.0644084065479655</c:v>
                </c:pt>
                <c:pt idx="27">
                  <c:v>0.00151616712361813</c:v>
                </c:pt>
                <c:pt idx="28">
                  <c:v>0.0801422667743704</c:v>
                </c:pt>
                <c:pt idx="29">
                  <c:v>0.0959343942418683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4093312"/>
        <c:axId val="74094848"/>
      </c:barChart>
      <c:catAx>
        <c:axId val="7409331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4094848"/>
        <c:crosses val="autoZero"/>
        <c:auto val="1"/>
        <c:lblAlgn val="ctr"/>
        <c:lblOffset val="100"/>
        <c:noMultiLvlLbl val="0"/>
      </c:catAx>
      <c:valAx>
        <c:axId val="740948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4093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'[二次加工.xlsx]06lasxTMA'!$B$1</c:f>
              <c:strCache>
                <c:ptCount val="1"/>
                <c:pt idx="0">
                  <c:v>退出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'[二次加工.xlsx]06lasxTMA'!$A$2:$A$32</c:f>
              <c:strCache>
                <c:ptCount val="31"/>
                <c:pt idx="0">
                  <c:v>400.perlbench</c:v>
                </c:pt>
                <c:pt idx="1">
                  <c:v>401.bzip2</c:v>
                </c:pt>
                <c:pt idx="2">
                  <c:v>403.gcc</c:v>
                </c:pt>
                <c:pt idx="3">
                  <c:v>429.mcf</c:v>
                </c:pt>
                <c:pt idx="4">
                  <c:v>445.gobmk</c:v>
                </c:pt>
                <c:pt idx="5">
                  <c:v>456.hmmer</c:v>
                </c:pt>
                <c:pt idx="6">
                  <c:v>458.sjeng</c:v>
                </c:pt>
                <c:pt idx="7">
                  <c:v>462.libquantum</c:v>
                </c:pt>
                <c:pt idx="8">
                  <c:v>464.h264ref</c:v>
                </c:pt>
                <c:pt idx="9">
                  <c:v>471.omnetpp</c:v>
                </c:pt>
                <c:pt idx="10">
                  <c:v>473.astar</c:v>
                </c:pt>
                <c:pt idx="11">
                  <c:v>483.xalancbmk</c:v>
                </c:pt>
                <c:pt idx="12">
                  <c:v>INT</c:v>
                </c:pt>
                <c:pt idx="13">
                  <c:v>410.bwaves</c:v>
                </c:pt>
                <c:pt idx="14">
                  <c:v>416.gamess</c:v>
                </c:pt>
                <c:pt idx="15">
                  <c:v>433.milc</c:v>
                </c:pt>
                <c:pt idx="16">
                  <c:v>434.zeusmp</c:v>
                </c:pt>
                <c:pt idx="17">
                  <c:v>435.gromacs</c:v>
                </c:pt>
                <c:pt idx="18">
                  <c:v>436.cactusADM</c:v>
                </c:pt>
                <c:pt idx="19">
                  <c:v>437.leslie3d</c:v>
                </c:pt>
                <c:pt idx="20">
                  <c:v>444.namd</c:v>
                </c:pt>
                <c:pt idx="21">
                  <c:v>447.dealII</c:v>
                </c:pt>
                <c:pt idx="22">
                  <c:v>450.soplex</c:v>
                </c:pt>
                <c:pt idx="23">
                  <c:v>453.povray</c:v>
                </c:pt>
                <c:pt idx="24">
                  <c:v>454.calculix</c:v>
                </c:pt>
                <c:pt idx="25">
                  <c:v>459.GemsFDTD</c:v>
                </c:pt>
                <c:pt idx="26">
                  <c:v>465.tonto</c:v>
                </c:pt>
                <c:pt idx="27">
                  <c:v>470.lbm</c:v>
                </c:pt>
                <c:pt idx="28">
                  <c:v>481.wrf</c:v>
                </c:pt>
                <c:pt idx="29">
                  <c:v>482.sphinx3</c:v>
                </c:pt>
                <c:pt idx="30">
                  <c:v>FP</c:v>
                </c:pt>
              </c:strCache>
            </c:strRef>
          </c:cat>
          <c:val>
            <c:numRef>
              <c:f>'[二次加工.xlsx]06lasxTMA'!$B$2:$B$32</c:f>
              <c:numCache>
                <c:formatCode>General</c:formatCode>
                <c:ptCount val="31"/>
                <c:pt idx="0">
                  <c:v>0.560505514737611</c:v>
                </c:pt>
                <c:pt idx="1">
                  <c:v>0.387822050984351</c:v>
                </c:pt>
                <c:pt idx="2">
                  <c:v>0.265819685062968</c:v>
                </c:pt>
                <c:pt idx="3">
                  <c:v>0.0847375989379306</c:v>
                </c:pt>
                <c:pt idx="4">
                  <c:v>0.311133531170528</c:v>
                </c:pt>
                <c:pt idx="5">
                  <c:v>0.636465174397566</c:v>
                </c:pt>
                <c:pt idx="6">
                  <c:v>0.348459719523924</c:v>
                </c:pt>
                <c:pt idx="7">
                  <c:v>0.342388047656345</c:v>
                </c:pt>
                <c:pt idx="8">
                  <c:v>0.580002505065775</c:v>
                </c:pt>
                <c:pt idx="9">
                  <c:v>0.200891937699256</c:v>
                </c:pt>
                <c:pt idx="10">
                  <c:v>0.202777848318761</c:v>
                </c:pt>
                <c:pt idx="11">
                  <c:v>0.418959424883167</c:v>
                </c:pt>
                <c:pt idx="13">
                  <c:v>0.46979529739458</c:v>
                </c:pt>
                <c:pt idx="14">
                  <c:v>0.753825058856067</c:v>
                </c:pt>
                <c:pt idx="15">
                  <c:v>0.228198497137758</c:v>
                </c:pt>
                <c:pt idx="16">
                  <c:v>0.315879854850417</c:v>
                </c:pt>
                <c:pt idx="17">
                  <c:v>0.410828723428151</c:v>
                </c:pt>
                <c:pt idx="18">
                  <c:v>0.389757578841208</c:v>
                </c:pt>
                <c:pt idx="19">
                  <c:v>0.229720616965421</c:v>
                </c:pt>
                <c:pt idx="20">
                  <c:v>0.380280656978012</c:v>
                </c:pt>
                <c:pt idx="21">
                  <c:v>0.390361670398869</c:v>
                </c:pt>
                <c:pt idx="22">
                  <c:v>0.1931459190682</c:v>
                </c:pt>
                <c:pt idx="23">
                  <c:v>0.523058659380717</c:v>
                </c:pt>
                <c:pt idx="24">
                  <c:v>0.481584279646781</c:v>
                </c:pt>
                <c:pt idx="25">
                  <c:v>0.222711839373983</c:v>
                </c:pt>
                <c:pt idx="26">
                  <c:v>0.522639992312114</c:v>
                </c:pt>
                <c:pt idx="27">
                  <c:v>0.360952790584618</c:v>
                </c:pt>
                <c:pt idx="28">
                  <c:v>0.426079646123202</c:v>
                </c:pt>
                <c:pt idx="29">
                  <c:v>0.390471182715122</c:v>
                </c:pt>
              </c:numCache>
            </c:numRef>
          </c:val>
        </c:ser>
        <c:ser>
          <c:idx val="1"/>
          <c:order val="1"/>
          <c:tx>
            <c:strRef>
              <c:f>'[二次加工.xlsx]06lasxTMA'!$C$1</c:f>
              <c:strCache>
                <c:ptCount val="1"/>
                <c:pt idx="0">
                  <c:v>错误推测</c:v>
                </c:pt>
              </c:strCache>
            </c:strRef>
          </c:tx>
          <c:spPr>
            <a:gradFill>
              <a:gsLst>
                <a:gs pos="100000">
                  <a:srgbClr val="E30000"/>
                </a:gs>
                <a:gs pos="100000">
                  <a:srgbClr val="760303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'[二次加工.xlsx]06lasxTMA'!$A$2:$A$32</c:f>
              <c:strCache>
                <c:ptCount val="31"/>
                <c:pt idx="0">
                  <c:v>400.perlbench</c:v>
                </c:pt>
                <c:pt idx="1">
                  <c:v>401.bzip2</c:v>
                </c:pt>
                <c:pt idx="2">
                  <c:v>403.gcc</c:v>
                </c:pt>
                <c:pt idx="3">
                  <c:v>429.mcf</c:v>
                </c:pt>
                <c:pt idx="4">
                  <c:v>445.gobmk</c:v>
                </c:pt>
                <c:pt idx="5">
                  <c:v>456.hmmer</c:v>
                </c:pt>
                <c:pt idx="6">
                  <c:v>458.sjeng</c:v>
                </c:pt>
                <c:pt idx="7">
                  <c:v>462.libquantum</c:v>
                </c:pt>
                <c:pt idx="8">
                  <c:v>464.h264ref</c:v>
                </c:pt>
                <c:pt idx="9">
                  <c:v>471.omnetpp</c:v>
                </c:pt>
                <c:pt idx="10">
                  <c:v>473.astar</c:v>
                </c:pt>
                <c:pt idx="11">
                  <c:v>483.xalancbmk</c:v>
                </c:pt>
                <c:pt idx="12">
                  <c:v>INT</c:v>
                </c:pt>
                <c:pt idx="13">
                  <c:v>410.bwaves</c:v>
                </c:pt>
                <c:pt idx="14">
                  <c:v>416.gamess</c:v>
                </c:pt>
                <c:pt idx="15">
                  <c:v>433.milc</c:v>
                </c:pt>
                <c:pt idx="16">
                  <c:v>434.zeusmp</c:v>
                </c:pt>
                <c:pt idx="17">
                  <c:v>435.gromacs</c:v>
                </c:pt>
                <c:pt idx="18">
                  <c:v>436.cactusADM</c:v>
                </c:pt>
                <c:pt idx="19">
                  <c:v>437.leslie3d</c:v>
                </c:pt>
                <c:pt idx="20">
                  <c:v>444.namd</c:v>
                </c:pt>
                <c:pt idx="21">
                  <c:v>447.dealII</c:v>
                </c:pt>
                <c:pt idx="22">
                  <c:v>450.soplex</c:v>
                </c:pt>
                <c:pt idx="23">
                  <c:v>453.povray</c:v>
                </c:pt>
                <c:pt idx="24">
                  <c:v>454.calculix</c:v>
                </c:pt>
                <c:pt idx="25">
                  <c:v>459.GemsFDTD</c:v>
                </c:pt>
                <c:pt idx="26">
                  <c:v>465.tonto</c:v>
                </c:pt>
                <c:pt idx="27">
                  <c:v>470.lbm</c:v>
                </c:pt>
                <c:pt idx="28">
                  <c:v>481.wrf</c:v>
                </c:pt>
                <c:pt idx="29">
                  <c:v>482.sphinx3</c:v>
                </c:pt>
                <c:pt idx="30">
                  <c:v>FP</c:v>
                </c:pt>
              </c:strCache>
            </c:strRef>
          </c:cat>
          <c:val>
            <c:numRef>
              <c:f>'[二次加工.xlsx]06lasxTMA'!$C$2:$C$32</c:f>
              <c:numCache>
                <c:formatCode>General</c:formatCode>
                <c:ptCount val="31"/>
                <c:pt idx="0">
                  <c:v>0.0629611667073884</c:v>
                </c:pt>
                <c:pt idx="1">
                  <c:v>0.243268178027173</c:v>
                </c:pt>
                <c:pt idx="2">
                  <c:v>0.0481401604000418</c:v>
                </c:pt>
                <c:pt idx="3">
                  <c:v>0.154713443616038</c:v>
                </c:pt>
                <c:pt idx="4">
                  <c:v>0.278553566096163</c:v>
                </c:pt>
                <c:pt idx="5">
                  <c:v>0.0312567675609626</c:v>
                </c:pt>
                <c:pt idx="6">
                  <c:v>0.17298484709174</c:v>
                </c:pt>
                <c:pt idx="7">
                  <c:v>0.0025636268285479</c:v>
                </c:pt>
                <c:pt idx="8">
                  <c:v>0.0504842505161621</c:v>
                </c:pt>
                <c:pt idx="9">
                  <c:v>0.110018259926852</c:v>
                </c:pt>
                <c:pt idx="10">
                  <c:v>0.373367612443307</c:v>
                </c:pt>
                <c:pt idx="11">
                  <c:v>0.0322507646019839</c:v>
                </c:pt>
                <c:pt idx="13">
                  <c:v>0.000172273671906887</c:v>
                </c:pt>
                <c:pt idx="14">
                  <c:v>0.0320975783023312</c:v>
                </c:pt>
                <c:pt idx="15">
                  <c:v>0.000626565993367802</c:v>
                </c:pt>
                <c:pt idx="16">
                  <c:v>0.000774448200851051</c:v>
                </c:pt>
                <c:pt idx="17">
                  <c:v>0.0776137531624841</c:v>
                </c:pt>
                <c:pt idx="18">
                  <c:v>0.000643204694557549</c:v>
                </c:pt>
                <c:pt idx="19">
                  <c:v>0.000795893185659685</c:v>
                </c:pt>
                <c:pt idx="20">
                  <c:v>0.124724868920997</c:v>
                </c:pt>
                <c:pt idx="21">
                  <c:v>0.0753776503806676</c:v>
                </c:pt>
                <c:pt idx="22">
                  <c:v>0.163013096544536</c:v>
                </c:pt>
                <c:pt idx="23">
                  <c:v>0.0652038973064953</c:v>
                </c:pt>
                <c:pt idx="24">
                  <c:v>0.0622102833111159</c:v>
                </c:pt>
                <c:pt idx="25">
                  <c:v>0.00350662264164538</c:v>
                </c:pt>
                <c:pt idx="26">
                  <c:v>0.0375164056005947</c:v>
                </c:pt>
                <c:pt idx="27">
                  <c:v>0.00151043750607319</c:v>
                </c:pt>
                <c:pt idx="28">
                  <c:v>0.00356149639955245</c:v>
                </c:pt>
                <c:pt idx="29">
                  <c:v>0.103808304718026</c:v>
                </c:pt>
              </c:numCache>
            </c:numRef>
          </c:val>
        </c:ser>
        <c:ser>
          <c:idx val="2"/>
          <c:order val="2"/>
          <c:tx>
            <c:strRef>
              <c:f>'[二次加工.xlsx]06lasxTMA'!$D$1</c:f>
              <c:strCache>
                <c:ptCount val="1"/>
                <c:pt idx="0">
                  <c:v>后端限制</c:v>
                </c:pt>
              </c:strCache>
            </c:strRef>
          </c:tx>
          <c:spPr>
            <a:gradFill>
              <a:gsLst>
                <a:gs pos="100000">
                  <a:srgbClr val="FBFB11"/>
                </a:gs>
                <a:gs pos="100000">
                  <a:srgbClr val="838309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'[二次加工.xlsx]06lasxTMA'!$A$2:$A$32</c:f>
              <c:strCache>
                <c:ptCount val="31"/>
                <c:pt idx="0">
                  <c:v>400.perlbench</c:v>
                </c:pt>
                <c:pt idx="1">
                  <c:v>401.bzip2</c:v>
                </c:pt>
                <c:pt idx="2">
                  <c:v>403.gcc</c:v>
                </c:pt>
                <c:pt idx="3">
                  <c:v>429.mcf</c:v>
                </c:pt>
                <c:pt idx="4">
                  <c:v>445.gobmk</c:v>
                </c:pt>
                <c:pt idx="5">
                  <c:v>456.hmmer</c:v>
                </c:pt>
                <c:pt idx="6">
                  <c:v>458.sjeng</c:v>
                </c:pt>
                <c:pt idx="7">
                  <c:v>462.libquantum</c:v>
                </c:pt>
                <c:pt idx="8">
                  <c:v>464.h264ref</c:v>
                </c:pt>
                <c:pt idx="9">
                  <c:v>471.omnetpp</c:v>
                </c:pt>
                <c:pt idx="10">
                  <c:v>473.astar</c:v>
                </c:pt>
                <c:pt idx="11">
                  <c:v>483.xalancbmk</c:v>
                </c:pt>
                <c:pt idx="12">
                  <c:v>INT</c:v>
                </c:pt>
                <c:pt idx="13">
                  <c:v>410.bwaves</c:v>
                </c:pt>
                <c:pt idx="14">
                  <c:v>416.gamess</c:v>
                </c:pt>
                <c:pt idx="15">
                  <c:v>433.milc</c:v>
                </c:pt>
                <c:pt idx="16">
                  <c:v>434.zeusmp</c:v>
                </c:pt>
                <c:pt idx="17">
                  <c:v>435.gromacs</c:v>
                </c:pt>
                <c:pt idx="18">
                  <c:v>436.cactusADM</c:v>
                </c:pt>
                <c:pt idx="19">
                  <c:v>437.leslie3d</c:v>
                </c:pt>
                <c:pt idx="20">
                  <c:v>444.namd</c:v>
                </c:pt>
                <c:pt idx="21">
                  <c:v>447.dealII</c:v>
                </c:pt>
                <c:pt idx="22">
                  <c:v>450.soplex</c:v>
                </c:pt>
                <c:pt idx="23">
                  <c:v>453.povray</c:v>
                </c:pt>
                <c:pt idx="24">
                  <c:v>454.calculix</c:v>
                </c:pt>
                <c:pt idx="25">
                  <c:v>459.GemsFDTD</c:v>
                </c:pt>
                <c:pt idx="26">
                  <c:v>465.tonto</c:v>
                </c:pt>
                <c:pt idx="27">
                  <c:v>470.lbm</c:v>
                </c:pt>
                <c:pt idx="28">
                  <c:v>481.wrf</c:v>
                </c:pt>
                <c:pt idx="29">
                  <c:v>482.sphinx3</c:v>
                </c:pt>
                <c:pt idx="30">
                  <c:v>FP</c:v>
                </c:pt>
              </c:strCache>
            </c:strRef>
          </c:cat>
          <c:val>
            <c:numRef>
              <c:f>'[二次加工.xlsx]06lasxTMA'!$D$2:$D$32</c:f>
              <c:numCache>
                <c:formatCode>General</c:formatCode>
                <c:ptCount val="31"/>
                <c:pt idx="0">
                  <c:v>0.041511969250654</c:v>
                </c:pt>
                <c:pt idx="1">
                  <c:v>0.166588477922212</c:v>
                </c:pt>
                <c:pt idx="2">
                  <c:v>0.466029951660782</c:v>
                </c:pt>
                <c:pt idx="3">
                  <c:v>0.620522045806258</c:v>
                </c:pt>
                <c:pt idx="4">
                  <c:v>0.0726949404062208</c:v>
                </c:pt>
                <c:pt idx="5">
                  <c:v>0.321440330027329</c:v>
                </c:pt>
                <c:pt idx="6">
                  <c:v>0.0876817091595506</c:v>
                </c:pt>
                <c:pt idx="7">
                  <c:v>0.442876112280023</c:v>
                </c:pt>
                <c:pt idx="8">
                  <c:v>0.279163727606313</c:v>
                </c:pt>
                <c:pt idx="9">
                  <c:v>0.557355202780285</c:v>
                </c:pt>
                <c:pt idx="10">
                  <c:v>0.119998587202379</c:v>
                </c:pt>
                <c:pt idx="11">
                  <c:v>0.204420655174432</c:v>
                </c:pt>
                <c:pt idx="13">
                  <c:v>0.450641155165737</c:v>
                </c:pt>
                <c:pt idx="14">
                  <c:v>0.127616841766472</c:v>
                </c:pt>
                <c:pt idx="15">
                  <c:v>0.75735052471274</c:v>
                </c:pt>
                <c:pt idx="16">
                  <c:v>0.653768813856276</c:v>
                </c:pt>
                <c:pt idx="17">
                  <c:v>0.410732072377882</c:v>
                </c:pt>
                <c:pt idx="18">
                  <c:v>0.56623531518401</c:v>
                </c:pt>
                <c:pt idx="19">
                  <c:v>0.738476859104193</c:v>
                </c:pt>
                <c:pt idx="20">
                  <c:v>0.39161730152405</c:v>
                </c:pt>
                <c:pt idx="21">
                  <c:v>0.318333916820299</c:v>
                </c:pt>
                <c:pt idx="22">
                  <c:v>0.542046037585678</c:v>
                </c:pt>
                <c:pt idx="23">
                  <c:v>0.213358617271826</c:v>
                </c:pt>
                <c:pt idx="24">
                  <c:v>0.300945746841065</c:v>
                </c:pt>
                <c:pt idx="25">
                  <c:v>0.70467954253107</c:v>
                </c:pt>
                <c:pt idx="26">
                  <c:v>0.375435195539326</c:v>
                </c:pt>
                <c:pt idx="27">
                  <c:v>0.636020604785693</c:v>
                </c:pt>
                <c:pt idx="28">
                  <c:v>0.490216590702875</c:v>
                </c:pt>
                <c:pt idx="29">
                  <c:v>0.409786118324983</c:v>
                </c:pt>
              </c:numCache>
            </c:numRef>
          </c:val>
        </c:ser>
        <c:ser>
          <c:idx val="3"/>
          <c:order val="3"/>
          <c:tx>
            <c:strRef>
              <c:f>'[二次加工.xlsx]06lasxTMA'!$E$1</c:f>
              <c:strCache>
                <c:ptCount val="1"/>
                <c:pt idx="0">
                  <c:v>前端限制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'[二次加工.xlsx]06lasxTMA'!$A$2:$A$32</c:f>
              <c:strCache>
                <c:ptCount val="31"/>
                <c:pt idx="0">
                  <c:v>400.perlbench</c:v>
                </c:pt>
                <c:pt idx="1">
                  <c:v>401.bzip2</c:v>
                </c:pt>
                <c:pt idx="2">
                  <c:v>403.gcc</c:v>
                </c:pt>
                <c:pt idx="3">
                  <c:v>429.mcf</c:v>
                </c:pt>
                <c:pt idx="4">
                  <c:v>445.gobmk</c:v>
                </c:pt>
                <c:pt idx="5">
                  <c:v>456.hmmer</c:v>
                </c:pt>
                <c:pt idx="6">
                  <c:v>458.sjeng</c:v>
                </c:pt>
                <c:pt idx="7">
                  <c:v>462.libquantum</c:v>
                </c:pt>
                <c:pt idx="8">
                  <c:v>464.h264ref</c:v>
                </c:pt>
                <c:pt idx="9">
                  <c:v>471.omnetpp</c:v>
                </c:pt>
                <c:pt idx="10">
                  <c:v>473.astar</c:v>
                </c:pt>
                <c:pt idx="11">
                  <c:v>483.xalancbmk</c:v>
                </c:pt>
                <c:pt idx="12">
                  <c:v>INT</c:v>
                </c:pt>
                <c:pt idx="13">
                  <c:v>410.bwaves</c:v>
                </c:pt>
                <c:pt idx="14">
                  <c:v>416.gamess</c:v>
                </c:pt>
                <c:pt idx="15">
                  <c:v>433.milc</c:v>
                </c:pt>
                <c:pt idx="16">
                  <c:v>434.zeusmp</c:v>
                </c:pt>
                <c:pt idx="17">
                  <c:v>435.gromacs</c:v>
                </c:pt>
                <c:pt idx="18">
                  <c:v>436.cactusADM</c:v>
                </c:pt>
                <c:pt idx="19">
                  <c:v>437.leslie3d</c:v>
                </c:pt>
                <c:pt idx="20">
                  <c:v>444.namd</c:v>
                </c:pt>
                <c:pt idx="21">
                  <c:v>447.dealII</c:v>
                </c:pt>
                <c:pt idx="22">
                  <c:v>450.soplex</c:v>
                </c:pt>
                <c:pt idx="23">
                  <c:v>453.povray</c:v>
                </c:pt>
                <c:pt idx="24">
                  <c:v>454.calculix</c:v>
                </c:pt>
                <c:pt idx="25">
                  <c:v>459.GemsFDTD</c:v>
                </c:pt>
                <c:pt idx="26">
                  <c:v>465.tonto</c:v>
                </c:pt>
                <c:pt idx="27">
                  <c:v>470.lbm</c:v>
                </c:pt>
                <c:pt idx="28">
                  <c:v>481.wrf</c:v>
                </c:pt>
                <c:pt idx="29">
                  <c:v>482.sphinx3</c:v>
                </c:pt>
                <c:pt idx="30">
                  <c:v>FP</c:v>
                </c:pt>
              </c:strCache>
            </c:strRef>
          </c:cat>
          <c:val>
            <c:numRef>
              <c:f>'[二次加工.xlsx]06lasxTMA'!$E$2:$E$32</c:f>
              <c:numCache>
                <c:formatCode>General</c:formatCode>
                <c:ptCount val="31"/>
                <c:pt idx="0">
                  <c:v>0.335021349304348</c:v>
                </c:pt>
                <c:pt idx="1">
                  <c:v>0.202321293066265</c:v>
                </c:pt>
                <c:pt idx="2">
                  <c:v>0.220010202876209</c:v>
                </c:pt>
                <c:pt idx="3">
                  <c:v>0.140026911639771</c:v>
                </c:pt>
                <c:pt idx="4">
                  <c:v>0.337617962327088</c:v>
                </c:pt>
                <c:pt idx="5">
                  <c:v>0.010837728014141</c:v>
                </c:pt>
                <c:pt idx="6">
                  <c:v>0.390873724224787</c:v>
                </c:pt>
                <c:pt idx="7">
                  <c:v>0.212172213235084</c:v>
                </c:pt>
                <c:pt idx="8">
                  <c:v>0.0903495168117471</c:v>
                </c:pt>
                <c:pt idx="9">
                  <c:v>0.131734599593604</c:v>
                </c:pt>
                <c:pt idx="10">
                  <c:v>0.303855952035552</c:v>
                </c:pt>
                <c:pt idx="11">
                  <c:v>0.344369155340417</c:v>
                </c:pt>
                <c:pt idx="13">
                  <c:v>0.0793912737677738</c:v>
                </c:pt>
                <c:pt idx="14">
                  <c:v>0.0864605210751301</c:v>
                </c:pt>
                <c:pt idx="15">
                  <c:v>0.0138244121561337</c:v>
                </c:pt>
                <c:pt idx="16">
                  <c:v>0.0295768830924573</c:v>
                </c:pt>
                <c:pt idx="17">
                  <c:v>0.100825451031483</c:v>
                </c:pt>
                <c:pt idx="18">
                  <c:v>0.0433639012802239</c:v>
                </c:pt>
                <c:pt idx="19">
                  <c:v>0.0310066307447276</c:v>
                </c:pt>
                <c:pt idx="20">
                  <c:v>0.103377172576942</c:v>
                </c:pt>
                <c:pt idx="21">
                  <c:v>0.215926762400165</c:v>
                </c:pt>
                <c:pt idx="22">
                  <c:v>0.101794946801586</c:v>
                </c:pt>
                <c:pt idx="23">
                  <c:v>0.19837882604096</c:v>
                </c:pt>
                <c:pt idx="24">
                  <c:v>0.155259690201039</c:v>
                </c:pt>
                <c:pt idx="25">
                  <c:v>0.0691019954533028</c:v>
                </c:pt>
                <c:pt idx="26">
                  <c:v>0.0644084065479655</c:v>
                </c:pt>
                <c:pt idx="27">
                  <c:v>0.00151616712361813</c:v>
                </c:pt>
                <c:pt idx="28">
                  <c:v>0.0801422667743704</c:v>
                </c:pt>
                <c:pt idx="29">
                  <c:v>0.0959343942418683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1795456"/>
        <c:axId val="91797376"/>
      </c:barChart>
      <c:catAx>
        <c:axId val="9179545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1797376"/>
        <c:crosses val="autoZero"/>
        <c:auto val="1"/>
        <c:lblAlgn val="ctr"/>
        <c:lblOffset val="100"/>
        <c:noMultiLvlLbl val="0"/>
      </c:catAx>
      <c:valAx>
        <c:axId val="917973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17954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'[二次加工.xlsx]06lasx误预测'!$B$1</c:f>
              <c:strCache>
                <c:ptCount val="1"/>
                <c:pt idx="0">
                  <c:v>错误推测占比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'[二次加工.xlsx]06lasx误预测'!$A$2:$A$30</c:f>
              <c:strCache>
                <c:ptCount val="29"/>
                <c:pt idx="0">
                  <c:v>400.perlbench</c:v>
                </c:pt>
                <c:pt idx="1">
                  <c:v>401.bzip2</c:v>
                </c:pt>
                <c:pt idx="2">
                  <c:v>403.gcc</c:v>
                </c:pt>
                <c:pt idx="3">
                  <c:v>429.mcf</c:v>
                </c:pt>
                <c:pt idx="4">
                  <c:v>445.gobmk</c:v>
                </c:pt>
                <c:pt idx="5">
                  <c:v>456.hmmer</c:v>
                </c:pt>
                <c:pt idx="6">
                  <c:v>458.sjeng</c:v>
                </c:pt>
                <c:pt idx="7">
                  <c:v>462.libquantum</c:v>
                </c:pt>
                <c:pt idx="8">
                  <c:v>464.h264ref</c:v>
                </c:pt>
                <c:pt idx="9">
                  <c:v>471.omnetpp</c:v>
                </c:pt>
                <c:pt idx="10">
                  <c:v>473.astar</c:v>
                </c:pt>
                <c:pt idx="11">
                  <c:v>483.xalancbmk</c:v>
                </c:pt>
                <c:pt idx="12">
                  <c:v>410.bwaves</c:v>
                </c:pt>
                <c:pt idx="13">
                  <c:v>416.gamess</c:v>
                </c:pt>
                <c:pt idx="14">
                  <c:v>433.milc</c:v>
                </c:pt>
                <c:pt idx="15">
                  <c:v>434.zeusmp</c:v>
                </c:pt>
                <c:pt idx="16">
                  <c:v>435.gromacs</c:v>
                </c:pt>
                <c:pt idx="17">
                  <c:v>436.cactusADM</c:v>
                </c:pt>
                <c:pt idx="18">
                  <c:v>437.leslie3d</c:v>
                </c:pt>
                <c:pt idx="19">
                  <c:v>444.namd</c:v>
                </c:pt>
                <c:pt idx="20">
                  <c:v>447.dealII</c:v>
                </c:pt>
                <c:pt idx="21">
                  <c:v>450.soplex</c:v>
                </c:pt>
                <c:pt idx="22">
                  <c:v>453.povray</c:v>
                </c:pt>
                <c:pt idx="23">
                  <c:v>454.calculix</c:v>
                </c:pt>
                <c:pt idx="24">
                  <c:v>459.GemsFDTD</c:v>
                </c:pt>
                <c:pt idx="25">
                  <c:v>465.tonto</c:v>
                </c:pt>
                <c:pt idx="26">
                  <c:v>470.lbm</c:v>
                </c:pt>
                <c:pt idx="27">
                  <c:v>481.wrf</c:v>
                </c:pt>
                <c:pt idx="28">
                  <c:v>482.sphinx3</c:v>
                </c:pt>
              </c:strCache>
            </c:strRef>
          </c:cat>
          <c:val>
            <c:numRef>
              <c:f>'[二次加工.xlsx]06lasx误预测'!$B$2:$B$29</c:f>
              <c:numCache>
                <c:formatCode>0.0%</c:formatCode>
                <c:ptCount val="28"/>
                <c:pt idx="0">
                  <c:v>0.0629611667073884</c:v>
                </c:pt>
                <c:pt idx="1">
                  <c:v>0.243268178027172</c:v>
                </c:pt>
                <c:pt idx="2">
                  <c:v>0.0481401604000418</c:v>
                </c:pt>
                <c:pt idx="3">
                  <c:v>0.154713443616037</c:v>
                </c:pt>
                <c:pt idx="4">
                  <c:v>0.278553566096163</c:v>
                </c:pt>
                <c:pt idx="5">
                  <c:v>0.0312567675609626</c:v>
                </c:pt>
                <c:pt idx="6">
                  <c:v>0.17298484709174</c:v>
                </c:pt>
                <c:pt idx="7">
                  <c:v>0.0025636268285479</c:v>
                </c:pt>
                <c:pt idx="8">
                  <c:v>0.0504842505161621</c:v>
                </c:pt>
                <c:pt idx="9">
                  <c:v>0.110018259926852</c:v>
                </c:pt>
                <c:pt idx="10">
                  <c:v>0.373367612443307</c:v>
                </c:pt>
                <c:pt idx="11">
                  <c:v>0.0322507646019839</c:v>
                </c:pt>
                <c:pt idx="12">
                  <c:v>0.000172273671906887</c:v>
                </c:pt>
                <c:pt idx="13">
                  <c:v>0.0320975783023312</c:v>
                </c:pt>
                <c:pt idx="14">
                  <c:v>0.000626565993367801</c:v>
                </c:pt>
                <c:pt idx="15">
                  <c:v>0.000774448200851051</c:v>
                </c:pt>
                <c:pt idx="16">
                  <c:v>0.0776137531624841</c:v>
                </c:pt>
                <c:pt idx="17">
                  <c:v>0.000643204694557548</c:v>
                </c:pt>
                <c:pt idx="18">
                  <c:v>0.000795893185659685</c:v>
                </c:pt>
                <c:pt idx="19">
                  <c:v>0.124724868920997</c:v>
                </c:pt>
                <c:pt idx="20">
                  <c:v>0.0753776503806676</c:v>
                </c:pt>
                <c:pt idx="21">
                  <c:v>0.163013096544536</c:v>
                </c:pt>
                <c:pt idx="22">
                  <c:v>0.0652038973064953</c:v>
                </c:pt>
                <c:pt idx="23">
                  <c:v>0.0622102833111159</c:v>
                </c:pt>
                <c:pt idx="24">
                  <c:v>0.00350662264164538</c:v>
                </c:pt>
                <c:pt idx="25">
                  <c:v>0.0375164056005947</c:v>
                </c:pt>
                <c:pt idx="26">
                  <c:v>0.00151043750607319</c:v>
                </c:pt>
                <c:pt idx="27">
                  <c:v>0.00356149639955244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2131200"/>
        <c:axId val="102816000"/>
      </c:barChart>
      <c:lineChart>
        <c:grouping val="standard"/>
        <c:varyColors val="0"/>
        <c:ser>
          <c:idx val="1"/>
          <c:order val="1"/>
          <c:tx>
            <c:strRef>
              <c:f>'[二次加工.xlsx]06lasx误预测'!$C$1</c:f>
              <c:strCache>
                <c:ptCount val="1"/>
                <c:pt idx="0">
                  <c:v>MPKI</c:v>
                </c:pt>
              </c:strCache>
            </c:strRef>
          </c:tx>
          <c:spPr>
            <a:ln w="28575" cap="rnd" cmpd="sng" algn="ctr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'[二次加工.xlsx]06lasx误预测'!$A$2:$A$30</c:f>
              <c:strCache>
                <c:ptCount val="29"/>
                <c:pt idx="0">
                  <c:v>400.perlbench</c:v>
                </c:pt>
                <c:pt idx="1">
                  <c:v>401.bzip2</c:v>
                </c:pt>
                <c:pt idx="2">
                  <c:v>403.gcc</c:v>
                </c:pt>
                <c:pt idx="3">
                  <c:v>429.mcf</c:v>
                </c:pt>
                <c:pt idx="4">
                  <c:v>445.gobmk</c:v>
                </c:pt>
                <c:pt idx="5">
                  <c:v>456.hmmer</c:v>
                </c:pt>
                <c:pt idx="6">
                  <c:v>458.sjeng</c:v>
                </c:pt>
                <c:pt idx="7">
                  <c:v>462.libquantum</c:v>
                </c:pt>
                <c:pt idx="8">
                  <c:v>464.h264ref</c:v>
                </c:pt>
                <c:pt idx="9">
                  <c:v>471.omnetpp</c:v>
                </c:pt>
                <c:pt idx="10">
                  <c:v>473.astar</c:v>
                </c:pt>
                <c:pt idx="11">
                  <c:v>483.xalancbmk</c:v>
                </c:pt>
                <c:pt idx="12">
                  <c:v>410.bwaves</c:v>
                </c:pt>
                <c:pt idx="13">
                  <c:v>416.gamess</c:v>
                </c:pt>
                <c:pt idx="14">
                  <c:v>433.milc</c:v>
                </c:pt>
                <c:pt idx="15">
                  <c:v>434.zeusmp</c:v>
                </c:pt>
                <c:pt idx="16">
                  <c:v>435.gromacs</c:v>
                </c:pt>
                <c:pt idx="17">
                  <c:v>436.cactusADM</c:v>
                </c:pt>
                <c:pt idx="18">
                  <c:v>437.leslie3d</c:v>
                </c:pt>
                <c:pt idx="19">
                  <c:v>444.namd</c:v>
                </c:pt>
                <c:pt idx="20">
                  <c:v>447.dealII</c:v>
                </c:pt>
                <c:pt idx="21">
                  <c:v>450.soplex</c:v>
                </c:pt>
                <c:pt idx="22">
                  <c:v>453.povray</c:v>
                </c:pt>
                <c:pt idx="23">
                  <c:v>454.calculix</c:v>
                </c:pt>
                <c:pt idx="24">
                  <c:v>459.GemsFDTD</c:v>
                </c:pt>
                <c:pt idx="25">
                  <c:v>465.tonto</c:v>
                </c:pt>
                <c:pt idx="26">
                  <c:v>470.lbm</c:v>
                </c:pt>
                <c:pt idx="27">
                  <c:v>481.wrf</c:v>
                </c:pt>
                <c:pt idx="28">
                  <c:v>482.sphinx3</c:v>
                </c:pt>
              </c:strCache>
            </c:strRef>
          </c:cat>
          <c:val>
            <c:numRef>
              <c:f>'[二次加工.xlsx]06lasx误预测'!$C$2:$C$30</c:f>
              <c:numCache>
                <c:formatCode>0.00_ </c:formatCode>
                <c:ptCount val="29"/>
                <c:pt idx="0">
                  <c:v>1.15491910743874</c:v>
                </c:pt>
                <c:pt idx="1">
                  <c:v>6.36357628166291</c:v>
                </c:pt>
                <c:pt idx="2">
                  <c:v>1.62253338141687</c:v>
                </c:pt>
                <c:pt idx="3">
                  <c:v>13.1703926944346</c:v>
                </c:pt>
                <c:pt idx="4">
                  <c:v>11.4018528164901</c:v>
                </c:pt>
                <c:pt idx="5">
                  <c:v>0.304573435118106</c:v>
                </c:pt>
                <c:pt idx="6">
                  <c:v>6.85808523551047</c:v>
                </c:pt>
                <c:pt idx="7">
                  <c:v>0.0724147610223918</c:v>
                </c:pt>
                <c:pt idx="8">
                  <c:v>0.991821783655262</c:v>
                </c:pt>
                <c:pt idx="9">
                  <c:v>4.17129081519892</c:v>
                </c:pt>
                <c:pt idx="10">
                  <c:v>20.0098398716739</c:v>
                </c:pt>
                <c:pt idx="11">
                  <c:v>0.648255489682163</c:v>
                </c:pt>
                <c:pt idx="12">
                  <c:v>0.000516139526842122</c:v>
                </c:pt>
                <c:pt idx="13">
                  <c:v>0.344884015599679</c:v>
                </c:pt>
                <c:pt idx="14">
                  <c:v>0.00569963403530264</c:v>
                </c:pt>
                <c:pt idx="15">
                  <c:v>0.0280415393726852</c:v>
                </c:pt>
                <c:pt idx="16">
                  <c:v>1.9352933670534</c:v>
                </c:pt>
                <c:pt idx="17">
                  <c:v>0.000639699255195639</c:v>
                </c:pt>
                <c:pt idx="18">
                  <c:v>0.0258614081191361</c:v>
                </c:pt>
                <c:pt idx="19">
                  <c:v>2.1383628517529</c:v>
                </c:pt>
                <c:pt idx="20">
                  <c:v>2.14414623537071</c:v>
                </c:pt>
                <c:pt idx="21">
                  <c:v>7.75204827824118</c:v>
                </c:pt>
                <c:pt idx="22">
                  <c:v>0.927325409069973</c:v>
                </c:pt>
                <c:pt idx="23">
                  <c:v>1.34428744413495</c:v>
                </c:pt>
                <c:pt idx="24">
                  <c:v>0.00562917083784156</c:v>
                </c:pt>
                <c:pt idx="25">
                  <c:v>0.583066122243095</c:v>
                </c:pt>
                <c:pt idx="26">
                  <c:v>0.04526720307504</c:v>
                </c:pt>
                <c:pt idx="27">
                  <c:v>0.0750695391236687</c:v>
                </c:pt>
                <c:pt idx="28">
                  <c:v>1.86754596392297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102856960"/>
        <c:axId val="103352192"/>
      </c:lineChart>
      <c:catAx>
        <c:axId val="10213120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02816000"/>
        <c:crosses val="autoZero"/>
        <c:auto val="1"/>
        <c:lblAlgn val="ctr"/>
        <c:lblOffset val="100"/>
        <c:noMultiLvlLbl val="0"/>
      </c:catAx>
      <c:valAx>
        <c:axId val="102816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 w="9525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02131200"/>
        <c:crosses val="autoZero"/>
        <c:crossBetween val="between"/>
      </c:valAx>
      <c:catAx>
        <c:axId val="102856960"/>
        <c:scaling>
          <c:orientation val="minMax"/>
        </c:scaling>
        <c:delete val="1"/>
        <c:axPos val="b"/>
        <c:majorTickMark val="out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03352192"/>
        <c:crosses val="autoZero"/>
        <c:auto val="1"/>
        <c:lblAlgn val="ctr"/>
        <c:lblOffset val="100"/>
        <c:noMultiLvlLbl val="0"/>
      </c:catAx>
      <c:valAx>
        <c:axId val="103352192"/>
        <c:scaling>
          <c:orientation val="minMax"/>
        </c:scaling>
        <c:delete val="0"/>
        <c:axPos val="r"/>
        <c:numFmt formatCode="0.00_ " sourceLinked="1"/>
        <c:majorTickMark val="out"/>
        <c:minorTickMark val="none"/>
        <c:tickLblPos val="nextTo"/>
        <c:spPr>
          <a:noFill/>
          <a:ln w="9525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02856960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5" Type="http://schemas.openxmlformats.org/officeDocument/2006/relationships/image" Target="../media/image6.wmf"/><Relationship Id="rId4" Type="http://schemas.openxmlformats.org/officeDocument/2006/relationships/image" Target="../media/image5.wmf"/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defRPr>
                <a:ea typeface="宋体" panose="02000500000000000000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>
                <a:ea typeface="宋体" panose="02000500000000000000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72708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105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anose="02000500000000000000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anose="02000500000000000000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anose="02000500000000000000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anose="02000500000000000000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anose="02000500000000000000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1105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defRPr>
                <a:ea typeface="宋体" panose="02000500000000000000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1105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7373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373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281" y="2130426"/>
            <a:ext cx="10361851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562" y="3886200"/>
            <a:ext cx="8533289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dirty="0">
                <a:latin typeface="Times New Roman" pitchFamily="18" charset="0"/>
              </a:rPr>
            </a:fld>
            <a:endParaRPr lang="en-US" altLang="zh-CN" dirty="0">
              <a:latin typeface="Times New Roman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sz="2400"/>
            </a:lvl1pPr>
            <a:lvl2pPr>
              <a:lnSpc>
                <a:spcPct val="150000"/>
              </a:lnSpc>
              <a:spcBef>
                <a:spcPts val="0"/>
              </a:spcBef>
              <a:defRPr sz="2000"/>
            </a:lvl2pPr>
            <a:lvl3pPr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dirty="0">
                <a:latin typeface="Times New Roman" pitchFamily="18" charset="0"/>
              </a:rPr>
            </a:fld>
            <a:endParaRPr lang="en-US" altLang="zh-CN" dirty="0">
              <a:latin typeface="Times New Roman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dirty="0">
                <a:latin typeface="Times New Roman" pitchFamily="18" charset="0"/>
              </a:rPr>
            </a:fld>
            <a:endParaRPr lang="en-US" altLang="zh-CN" dirty="0">
              <a:latin typeface="Times New Roman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281" y="609600"/>
            <a:ext cx="10361851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281" y="1981200"/>
            <a:ext cx="5079339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6793" y="1981200"/>
            <a:ext cx="5079339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6793" y="4114800"/>
            <a:ext cx="5079339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dirty="0">
                <a:latin typeface="Times New Roman" pitchFamily="18" charset="0"/>
              </a:rPr>
            </a:fld>
            <a:endParaRPr lang="en-US" altLang="zh-CN" dirty="0">
              <a:latin typeface="Times New Roman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281" y="609600"/>
            <a:ext cx="10361851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281" y="1981200"/>
            <a:ext cx="10361851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1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dirty="0">
                <a:latin typeface="Times New Roman" pitchFamily="18" charset="0"/>
              </a:rPr>
            </a:fld>
            <a:endParaRPr lang="en-US" altLang="zh-CN" dirty="0">
              <a:latin typeface="Times New Roman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281" y="609600"/>
            <a:ext cx="10361851" cy="114300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281" y="1981200"/>
            <a:ext cx="5079339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981200"/>
            <a:ext cx="5079339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dirty="0">
                <a:latin typeface="Times New Roman" pitchFamily="18" charset="0"/>
              </a:rPr>
            </a:fld>
            <a:endParaRPr lang="en-US" altLang="zh-CN" dirty="0">
              <a:latin typeface="Times New Roman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1613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123" name="Rectangle 3"/>
          <p:cNvSpPr>
            <a:spLocks noGrp="1"/>
          </p:cNvSpPr>
          <p:nvPr>
            <p:ph type="body" idx="1"/>
          </p:nvPr>
        </p:nvSpPr>
        <p:spPr>
          <a:xfrm>
            <a:off x="914400" y="1981200"/>
            <a:ext cx="10361613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defRPr sz="1400">
                <a:ea typeface="宋体" panose="02000500000000000000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5921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spcBef>
                <a:spcPct val="0"/>
              </a:spcBef>
              <a:defRPr sz="1400">
                <a:ea typeface="宋体" panose="02000500000000000000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6013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dirty="0">
                <a:latin typeface="Times New Roman" pitchFamily="18" charset="0"/>
              </a:rPr>
            </a:fld>
            <a:endParaRPr lang="en-US" altLang="zh-CN" dirty="0">
              <a:latin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0000"/>
          </a:solidFill>
          <a:latin typeface="Arial" panose="02080604020202020204" pitchFamily="34" charset="0"/>
          <a:ea typeface="黑体" panose="02000500000000000000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0000"/>
          </a:solidFill>
          <a:latin typeface="Arial" panose="02080604020202020204" pitchFamily="34" charset="0"/>
          <a:ea typeface="黑体" panose="02000500000000000000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0000"/>
          </a:solidFill>
          <a:latin typeface="Arial" panose="02080604020202020204" pitchFamily="34" charset="0"/>
          <a:ea typeface="黑体" panose="02000500000000000000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0000"/>
          </a:solidFill>
          <a:latin typeface="Arial" panose="02080604020202020204" pitchFamily="34" charset="0"/>
          <a:ea typeface="黑体" panose="02000500000000000000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200">
          <a:solidFill>
            <a:srgbClr val="FF0000"/>
          </a:solidFill>
          <a:latin typeface="Arial" panose="02080604020202020204" pitchFamily="34" charset="0"/>
          <a:ea typeface="黑体" panose="02000500000000000000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200">
          <a:solidFill>
            <a:srgbClr val="FF0000"/>
          </a:solidFill>
          <a:latin typeface="Arial" panose="02080604020202020204" pitchFamily="34" charset="0"/>
          <a:ea typeface="黑体" panose="02000500000000000000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200">
          <a:solidFill>
            <a:srgbClr val="FF0000"/>
          </a:solidFill>
          <a:latin typeface="Arial" panose="02080604020202020204" pitchFamily="34" charset="0"/>
          <a:ea typeface="黑体" panose="02000500000000000000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200">
          <a:solidFill>
            <a:srgbClr val="FF0000"/>
          </a:solidFill>
          <a:latin typeface="Arial" panose="02080604020202020204" pitchFamily="34" charset="0"/>
          <a:ea typeface="黑体" panose="02000500000000000000" pitchFamily="49" charset="-122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10000"/>
        </a:spcBef>
        <a:spcAft>
          <a:spcPct val="0"/>
        </a:spcAft>
        <a:buChar char="•"/>
        <a:defRPr kumimoji="1"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10000"/>
        </a:lnSpc>
        <a:spcBef>
          <a:spcPct val="10000"/>
        </a:spcBef>
        <a:spcAft>
          <a:spcPct val="0"/>
        </a:spcAft>
        <a:buChar char="•"/>
        <a:defRPr kumimoji="1"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10000"/>
        </a:lnSpc>
        <a:spcBef>
          <a:spcPct val="10000"/>
        </a:spcBef>
        <a:spcAft>
          <a:spcPct val="0"/>
        </a:spcAft>
        <a:buChar char="•"/>
        <a:defRPr kumimoji="1" sz="20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Document5.doc"/><Relationship Id="rId8" Type="http://schemas.openxmlformats.org/officeDocument/2006/relationships/image" Target="../media/image5.wmf"/><Relationship Id="rId7" Type="http://schemas.openxmlformats.org/officeDocument/2006/relationships/oleObject" Target="../embeddings/Document4.doc"/><Relationship Id="rId6" Type="http://schemas.openxmlformats.org/officeDocument/2006/relationships/image" Target="../media/image4.wmf"/><Relationship Id="rId5" Type="http://schemas.openxmlformats.org/officeDocument/2006/relationships/oleObject" Target="../embeddings/Document3.doc"/><Relationship Id="rId4" Type="http://schemas.openxmlformats.org/officeDocument/2006/relationships/image" Target="../media/image3.wmf"/><Relationship Id="rId3" Type="http://schemas.openxmlformats.org/officeDocument/2006/relationships/oleObject" Target="../embeddings/Document2.doc"/><Relationship Id="rId2" Type="http://schemas.openxmlformats.org/officeDocument/2006/relationships/image" Target="../media/image2.wmf"/><Relationship Id="rId17" Type="http://schemas.openxmlformats.org/officeDocument/2006/relationships/vmlDrawing" Target="../drawings/vmlDrawing1.vml"/><Relationship Id="rId16" Type="http://schemas.openxmlformats.org/officeDocument/2006/relationships/slideLayout" Target="../slideLayouts/slideLayout2.xml"/><Relationship Id="rId15" Type="http://schemas.openxmlformats.org/officeDocument/2006/relationships/oleObject" Target="../embeddings/Document10.doc"/><Relationship Id="rId14" Type="http://schemas.openxmlformats.org/officeDocument/2006/relationships/oleObject" Target="../embeddings/Document9.doc"/><Relationship Id="rId13" Type="http://schemas.openxmlformats.org/officeDocument/2006/relationships/oleObject" Target="../embeddings/Document8.doc"/><Relationship Id="rId12" Type="http://schemas.openxmlformats.org/officeDocument/2006/relationships/oleObject" Target="../embeddings/Document7.doc"/><Relationship Id="rId11" Type="http://schemas.openxmlformats.org/officeDocument/2006/relationships/oleObject" Target="../embeddings/Document6.doc"/><Relationship Id="rId10" Type="http://schemas.openxmlformats.org/officeDocument/2006/relationships/image" Target="../media/image6.wmf"/><Relationship Id="rId1" Type="http://schemas.openxmlformats.org/officeDocument/2006/relationships/oleObject" Target="../embeddings/Document1.doc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1" Type="http://schemas.openxmlformats.org/officeDocument/2006/relationships/oleObject" Target="../embeddings/Document11.doc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8.emf"/><Relationship Id="rId1" Type="http://schemas.openxmlformats.org/officeDocument/2006/relationships/oleObject" Target="../embeddings/Document12.doc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19.wmf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png"/><Relationship Id="rId3" Type="http://schemas.openxmlformats.org/officeDocument/2006/relationships/oleObject" Target="../embeddings/oleObject2.bin"/><Relationship Id="rId2" Type="http://schemas.openxmlformats.org/officeDocument/2006/relationships/image" Target="../media/image20.png"/><Relationship Id="rId1" Type="http://schemas.openxmlformats.org/officeDocument/2006/relationships/oleObject" Target="../embeddings/oleObject1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3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8.jpeg"/><Relationship Id="rId1" Type="http://schemas.openxmlformats.org/officeDocument/2006/relationships/image" Target="../media/image37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chart" Target="../charts/char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147" name="Rectangle 2"/>
          <p:cNvSpPr/>
          <p:nvPr/>
        </p:nvSpPr>
        <p:spPr>
          <a:xfrm>
            <a:off x="874713" y="1071563"/>
            <a:ext cx="10361612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>
              <a:spcBef>
                <a:spcPct val="0"/>
              </a:spcBef>
            </a:pPr>
            <a:r>
              <a:rPr lang="zh-CN" altLang="en-US" sz="40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计算机体系结构</a:t>
            </a:r>
            <a:endParaRPr lang="zh-CN" altLang="en-US" sz="32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  <p:sp>
        <p:nvSpPr>
          <p:cNvPr id="6148" name="Rectangle 3"/>
          <p:cNvSpPr/>
          <p:nvPr/>
        </p:nvSpPr>
        <p:spPr>
          <a:xfrm>
            <a:off x="1828800" y="3886200"/>
            <a:ext cx="8532813" cy="838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ctr">
              <a:lnSpc>
                <a:spcPct val="110000"/>
              </a:lnSpc>
              <a:spcBef>
                <a:spcPct val="10000"/>
              </a:spcBef>
            </a:pPr>
            <a:r>
              <a:rPr lang="zh-CN" altLang="en-US" sz="2800" b="1" dirty="0">
                <a:latin typeface="Times New Roman" pitchFamily="18" charset="0"/>
              </a:rPr>
              <a:t>胡伟武</a:t>
            </a:r>
            <a:endParaRPr lang="zh-CN" altLang="en-US" sz="2800" b="1" dirty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en-US" sz="3600" dirty="0"/>
              <a:t>提高流水线效率的技术</a:t>
            </a:r>
            <a:endParaRPr lang="zh-CN" altLang="en-US" sz="3600" dirty="0"/>
          </a:p>
        </p:txBody>
      </p:sp>
      <p:sp>
        <p:nvSpPr>
          <p:cNvPr id="7171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>
              <a:spcBef>
                <a:spcPct val="0"/>
              </a:spcBef>
            </a:pPr>
            <a:r>
              <a:rPr kumimoji="1" lang="zh-CN" altLang="en-US" dirty="0">
                <a:latin typeface="+mn-lt"/>
                <a:ea typeface="+mn-ea"/>
                <a:cs typeface="+mn-cs"/>
              </a:rPr>
              <a:t>指令流水线</a:t>
            </a:r>
            <a:endParaRPr kumimoji="1" lang="en-US" altLang="zh-CN" dirty="0">
              <a:latin typeface="+mn-lt"/>
              <a:ea typeface="+mn-ea"/>
              <a:cs typeface="+mn-cs"/>
            </a:endParaRPr>
          </a:p>
          <a:p>
            <a:pPr lvl="1">
              <a:spcBef>
                <a:spcPct val="0"/>
              </a:spcBef>
            </a:pPr>
            <a:r>
              <a:rPr kumimoji="1" lang="zh-CN" altLang="en-US" dirty="0">
                <a:latin typeface="+mn-lt"/>
                <a:ea typeface="+mn-ea"/>
              </a:rPr>
              <a:t>多发射：多车道</a:t>
            </a:r>
            <a:endParaRPr kumimoji="1" lang="en-US" altLang="zh-CN" dirty="0">
              <a:latin typeface="+mn-lt"/>
              <a:ea typeface="+mn-ea"/>
            </a:endParaRPr>
          </a:p>
          <a:p>
            <a:pPr lvl="1">
              <a:spcBef>
                <a:spcPct val="0"/>
              </a:spcBef>
            </a:pPr>
            <a:r>
              <a:rPr kumimoji="1" lang="zh-CN" altLang="en-US" dirty="0">
                <a:latin typeface="+mn-lt"/>
                <a:ea typeface="+mn-ea"/>
              </a:rPr>
              <a:t>动态调度：允许超车</a:t>
            </a:r>
            <a:endParaRPr kumimoji="1" lang="en-US" altLang="zh-CN" dirty="0">
              <a:latin typeface="+mn-lt"/>
              <a:ea typeface="+mn-ea"/>
            </a:endParaRPr>
          </a:p>
          <a:p>
            <a:pPr>
              <a:spcBef>
                <a:spcPct val="0"/>
              </a:spcBef>
            </a:pPr>
            <a:r>
              <a:rPr kumimoji="1" lang="zh-CN" altLang="en-US" dirty="0">
                <a:latin typeface="+mn-lt"/>
                <a:ea typeface="+mn-ea"/>
                <a:cs typeface="+mn-cs"/>
              </a:rPr>
              <a:t>喂饱“饥饿”的运算器</a:t>
            </a:r>
            <a:endParaRPr kumimoji="1" lang="en-US" altLang="zh-CN" dirty="0">
              <a:latin typeface="+mn-lt"/>
              <a:ea typeface="+mn-ea"/>
              <a:cs typeface="+mn-cs"/>
            </a:endParaRPr>
          </a:p>
          <a:p>
            <a:pPr lvl="1">
              <a:spcBef>
                <a:spcPct val="0"/>
              </a:spcBef>
            </a:pPr>
            <a:r>
              <a:rPr kumimoji="1" lang="zh-CN" altLang="en-US" dirty="0">
                <a:solidFill>
                  <a:srgbClr val="FF0000"/>
                </a:solidFill>
                <a:latin typeface="+mn-lt"/>
                <a:ea typeface="+mn-ea"/>
              </a:rPr>
              <a:t>转移猜测：提供足够的指令</a:t>
            </a:r>
            <a:endParaRPr kumimoji="1" lang="en-US" altLang="zh-CN" dirty="0">
              <a:solidFill>
                <a:srgbClr val="FF0000"/>
              </a:solidFill>
              <a:latin typeface="+mn-lt"/>
              <a:ea typeface="+mn-ea"/>
            </a:endParaRPr>
          </a:p>
          <a:p>
            <a:pPr lvl="1">
              <a:spcBef>
                <a:spcPct val="0"/>
              </a:spcBef>
            </a:pPr>
            <a:r>
              <a:rPr kumimoji="1" lang="zh-CN" altLang="en-US" dirty="0">
                <a:latin typeface="+mn-lt"/>
                <a:ea typeface="+mn-ea"/>
              </a:rPr>
              <a:t>存储管理：提供足够的数据</a:t>
            </a:r>
            <a:endParaRPr kumimoji="1" lang="en-US" altLang="zh-CN" dirty="0">
              <a:latin typeface="+mn-lt"/>
              <a:ea typeface="+mn-ea"/>
            </a:endParaRPr>
          </a:p>
          <a:p>
            <a:pPr lvl="0">
              <a:spcBef>
                <a:spcPct val="0"/>
              </a:spcBef>
            </a:pPr>
            <a:r>
              <a:rPr kumimoji="1" lang="zh-CN" altLang="en-US" dirty="0">
                <a:solidFill>
                  <a:schemeClr val="accent2"/>
                </a:solidFill>
                <a:latin typeface="+mn-lt"/>
                <a:ea typeface="+mn-ea"/>
              </a:rPr>
              <a:t>冯诺依曼结构：存储程序和顺序执行</a:t>
            </a:r>
            <a:endParaRPr kumimoji="1" lang="zh-CN" altLang="en-US" dirty="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8195" name="Picture 2" descr="841286100824181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563563" y="1306513"/>
            <a:ext cx="11123612" cy="51736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6" name="Rectangle 3"/>
          <p:cNvSpPr/>
          <p:nvPr/>
        </p:nvSpPr>
        <p:spPr>
          <a:xfrm>
            <a:off x="914400" y="95250"/>
            <a:ext cx="10361613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/>
            <a:r>
              <a:rPr lang="zh-CN" altLang="en-US" sz="3600" dirty="0">
                <a:solidFill>
                  <a:srgbClr val="FF3300"/>
                </a:solidFill>
                <a:latin typeface="Times New Roman" pitchFamily="18" charset="0"/>
                <a:ea typeface="黑体" panose="02000500000000000000" pitchFamily="49" charset="-122"/>
              </a:rPr>
              <a:t>龙芯</a:t>
            </a:r>
            <a:r>
              <a:rPr lang="en-US" altLang="zh-CN" sz="3600" dirty="0">
                <a:solidFill>
                  <a:srgbClr val="FF3300"/>
                </a:solidFill>
                <a:latin typeface="Times New Roman" pitchFamily="18" charset="0"/>
                <a:ea typeface="黑体" panose="02000500000000000000" pitchFamily="49" charset="-122"/>
              </a:rPr>
              <a:t>2</a:t>
            </a:r>
            <a:r>
              <a:rPr lang="zh-CN" altLang="en-US" sz="3600" dirty="0">
                <a:solidFill>
                  <a:srgbClr val="FF3300"/>
                </a:solidFill>
                <a:latin typeface="Times New Roman" pitchFamily="18" charset="0"/>
                <a:ea typeface="黑体" panose="02000500000000000000" pitchFamily="49" charset="-122"/>
              </a:rPr>
              <a:t>号处理器核结构图</a:t>
            </a:r>
            <a:endParaRPr lang="zh-CN" altLang="en-US" sz="3600" dirty="0">
              <a:solidFill>
                <a:srgbClr val="FF3300"/>
              </a:solidFill>
              <a:latin typeface="Times New Roman" pitchFamily="18" charset="0"/>
              <a:ea typeface="黑体" panose="02000500000000000000" pitchFamily="49" charset="-122"/>
            </a:endParaRPr>
          </a:p>
        </p:txBody>
      </p:sp>
      <p:sp>
        <p:nvSpPr>
          <p:cNvPr id="8197" name="椭圆 4"/>
          <p:cNvSpPr/>
          <p:nvPr/>
        </p:nvSpPr>
        <p:spPr>
          <a:xfrm>
            <a:off x="1263650" y="1411288"/>
            <a:ext cx="2422525" cy="4154487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4078288" y="1416050"/>
            <a:ext cx="3482975" cy="4154488"/>
          </a:xfrm>
          <a:prstGeom prst="ellipse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8199" name="椭圆 6"/>
          <p:cNvSpPr/>
          <p:nvPr/>
        </p:nvSpPr>
        <p:spPr>
          <a:xfrm>
            <a:off x="7637463" y="1404938"/>
            <a:ext cx="790575" cy="4154487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dirty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/>
          <p:cNvGraphicFramePr/>
          <p:nvPr/>
        </p:nvGraphicFramePr>
        <p:xfrm>
          <a:off x="920207" y="1455421"/>
          <a:ext cx="10365237" cy="49422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3731" name="Rectangle 2"/>
          <p:cNvSpPr>
            <a:spLocks noChangeArrowheads="1"/>
          </p:cNvSpPr>
          <p:nvPr/>
        </p:nvSpPr>
        <p:spPr bwMode="auto">
          <a:xfrm>
            <a:off x="528638" y="114300"/>
            <a:ext cx="11345862" cy="685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/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龙芯</a:t>
            </a:r>
            <a:r>
              <a:rPr lang="en-US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3A6000</a:t>
            </a:r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运行</a:t>
            </a:r>
            <a:r>
              <a:rPr lang="en-US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SPEC CPU2006</a:t>
            </a:r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的</a:t>
            </a:r>
            <a:r>
              <a:rPr lang="en-US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IPC</a:t>
            </a:r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分解</a:t>
            </a:r>
            <a:endParaRPr lang="zh-CN" altLang="en-US" sz="32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9219" name="Rectangle 2"/>
          <p:cNvSpPr>
            <a:spLocks noGrp="1"/>
          </p:cNvSpPr>
          <p:nvPr>
            <p:ph type="title"/>
          </p:nvPr>
        </p:nvSpPr>
        <p:spPr>
          <a:xfrm>
            <a:off x="931863" y="374650"/>
            <a:ext cx="10361612" cy="6731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4000" dirty="0"/>
              <a:t>转移预测</a:t>
            </a:r>
            <a:endParaRPr lang="zh-CN" altLang="en-US" sz="4000" dirty="0"/>
          </a:p>
        </p:txBody>
      </p:sp>
      <p:sp>
        <p:nvSpPr>
          <p:cNvPr id="9220" name="Rectangle 3"/>
          <p:cNvSpPr>
            <a:spLocks noGrp="1"/>
          </p:cNvSpPr>
          <p:nvPr>
            <p:ph idx="1"/>
          </p:nvPr>
        </p:nvSpPr>
        <p:spPr>
          <a:xfrm>
            <a:off x="914400" y="1350963"/>
            <a:ext cx="10361613" cy="4745037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ct val="0"/>
              </a:spcBef>
            </a:pPr>
            <a:r>
              <a:rPr kumimoji="1" lang="zh-CN" altLang="en-US" dirty="0">
                <a:latin typeface="+mn-lt"/>
                <a:ea typeface="+mn-ea"/>
                <a:cs typeface="+mn-cs"/>
              </a:rPr>
              <a:t>转移指令</a:t>
            </a:r>
            <a:endParaRPr kumimoji="1" lang="zh-CN" altLang="en-US" dirty="0">
              <a:latin typeface="+mn-lt"/>
              <a:ea typeface="+mn-ea"/>
              <a:cs typeface="+mn-cs"/>
            </a:endParaRPr>
          </a:p>
          <a:p>
            <a:pPr eaLnBrk="1" hangingPunct="1">
              <a:spcBef>
                <a:spcPct val="0"/>
              </a:spcBef>
            </a:pPr>
            <a:r>
              <a:rPr kumimoji="1" lang="zh-CN" altLang="en-US" dirty="0">
                <a:latin typeface="+mn-lt"/>
                <a:ea typeface="+mn-ea"/>
                <a:cs typeface="+mn-cs"/>
              </a:rPr>
              <a:t>程序的转移行为</a:t>
            </a:r>
            <a:endParaRPr kumimoji="1" lang="zh-CN" altLang="en-US" dirty="0">
              <a:latin typeface="+mn-lt"/>
              <a:ea typeface="+mn-ea"/>
              <a:cs typeface="+mn-cs"/>
            </a:endParaRPr>
          </a:p>
          <a:p>
            <a:pPr eaLnBrk="1" hangingPunct="1">
              <a:spcBef>
                <a:spcPct val="0"/>
              </a:spcBef>
            </a:pPr>
            <a:r>
              <a:rPr kumimoji="1" lang="zh-CN" altLang="en-US" dirty="0">
                <a:latin typeface="+mn-lt"/>
                <a:ea typeface="+mn-ea"/>
                <a:cs typeface="+mn-cs"/>
              </a:rPr>
              <a:t>软件方法消除控制相关</a:t>
            </a:r>
            <a:endParaRPr kumimoji="1" lang="zh-CN" altLang="en-US" dirty="0">
              <a:latin typeface="+mn-lt"/>
              <a:ea typeface="+mn-ea"/>
              <a:cs typeface="+mn-cs"/>
            </a:endParaRPr>
          </a:p>
          <a:p>
            <a:pPr eaLnBrk="1" hangingPunct="1">
              <a:spcBef>
                <a:spcPct val="0"/>
              </a:spcBef>
            </a:pPr>
            <a:r>
              <a:rPr kumimoji="1" lang="zh-CN" altLang="en-US" dirty="0">
                <a:latin typeface="+mn-lt"/>
                <a:ea typeface="+mn-ea"/>
                <a:cs typeface="+mn-cs"/>
              </a:rPr>
              <a:t>硬件动态转移预测</a:t>
            </a:r>
            <a:endParaRPr kumimoji="1" lang="zh-CN" altLang="en-US" dirty="0">
              <a:latin typeface="+mn-lt"/>
              <a:ea typeface="+mn-ea"/>
              <a:cs typeface="+mn-cs"/>
            </a:endParaRPr>
          </a:p>
          <a:p>
            <a:pPr eaLnBrk="1" hangingPunct="1">
              <a:spcBef>
                <a:spcPct val="0"/>
              </a:spcBef>
            </a:pPr>
            <a:r>
              <a:rPr kumimoji="1" lang="zh-CN" altLang="en-US" dirty="0">
                <a:latin typeface="+mn-lt"/>
                <a:ea typeface="+mn-ea"/>
                <a:cs typeface="+mn-cs"/>
              </a:rPr>
              <a:t>常见动态转移预测算法</a:t>
            </a:r>
            <a:endParaRPr kumimoji="1" lang="zh-CN" altLang="en-US" dirty="0">
              <a:latin typeface="+mn-lt"/>
              <a:ea typeface="+mn-ea"/>
              <a:cs typeface="+mn-cs"/>
            </a:endParaRPr>
          </a:p>
          <a:p>
            <a:pPr eaLnBrk="1" hangingPunct="1">
              <a:spcBef>
                <a:spcPct val="0"/>
              </a:spcBef>
            </a:pPr>
            <a:r>
              <a:rPr kumimoji="1" lang="zh-CN" altLang="en-US" dirty="0">
                <a:latin typeface="+mn-lt"/>
                <a:ea typeface="+mn-ea"/>
                <a:cs typeface="+mn-cs"/>
              </a:rPr>
              <a:t>典型处理器的转移猜测结构</a:t>
            </a:r>
            <a:endParaRPr kumimoji="1" lang="zh-CN" altLang="en-US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0243" name="Rectangle 2"/>
          <p:cNvSpPr>
            <a:spLocks noGrp="1"/>
          </p:cNvSpPr>
          <p:nvPr>
            <p:ph type="title"/>
          </p:nvPr>
        </p:nvSpPr>
        <p:spPr>
          <a:xfrm>
            <a:off x="817563" y="2909888"/>
            <a:ext cx="10361612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4000" dirty="0"/>
              <a:t>转移指令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037" name="Rectangle 5"/>
          <p:cNvSpPr>
            <a:spLocks noChangeArrowheads="1"/>
          </p:cNvSpPr>
          <p:nvPr/>
        </p:nvSpPr>
        <p:spPr bwMode="auto">
          <a:xfrm>
            <a:off x="401638" y="1347788"/>
            <a:ext cx="11680825" cy="34877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在五级流水线中，如果转移指令计算下一条指令地址在执行（</a:t>
            </a:r>
            <a:r>
              <a:rPr kumimoji="1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EX</a:t>
            </a: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）阶段计算，下一条指令等</a:t>
            </a:r>
            <a:r>
              <a:rPr kumimoji="1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</a:t>
            </a: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拍</a:t>
            </a:r>
            <a:endParaRPr kumimoji="1" lang="zh-CN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使用专门的地址运算部件把地址计算提前到译码（</a:t>
            </a:r>
            <a:r>
              <a:rPr kumimoji="1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ID</a:t>
            </a: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）阶段可以少等一拍</a:t>
            </a:r>
            <a:endParaRPr kumimoji="1" lang="zh-CN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使用一个</a:t>
            </a:r>
            <a:r>
              <a:rPr kumimoji="1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delay slot</a:t>
            </a:r>
            <a:r>
              <a:rPr kumimoji="1" lang="zh-CN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可以不用等待</a:t>
            </a:r>
            <a:endParaRPr kumimoji="1" lang="zh-CN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多发射情况下延迟槽成为需要专门照顾的负担</a:t>
            </a:r>
            <a:endParaRPr kumimoji="1" lang="zh-CN" altLang="zh-CN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grpSp>
        <p:nvGrpSpPr>
          <p:cNvPr id="1038" name="Group 6"/>
          <p:cNvGrpSpPr/>
          <p:nvPr/>
        </p:nvGrpSpPr>
        <p:grpSpPr>
          <a:xfrm>
            <a:off x="87313" y="5221288"/>
            <a:ext cx="6861175" cy="1417637"/>
            <a:chOff x="1176" y="1839"/>
            <a:chExt cx="3242" cy="893"/>
          </a:xfrm>
        </p:grpSpPr>
        <p:grpSp>
          <p:nvGrpSpPr>
            <p:cNvPr id="1044" name="Group 7"/>
            <p:cNvGrpSpPr/>
            <p:nvPr/>
          </p:nvGrpSpPr>
          <p:grpSpPr>
            <a:xfrm>
              <a:off x="1176" y="1839"/>
              <a:ext cx="3242" cy="893"/>
              <a:chOff x="514" y="1745"/>
              <a:chExt cx="3242" cy="893"/>
            </a:xfrm>
          </p:grpSpPr>
          <p:graphicFrame>
            <p:nvGraphicFramePr>
              <p:cNvPr id="1031" name="Object 8"/>
              <p:cNvGraphicFramePr/>
              <p:nvPr/>
            </p:nvGraphicFramePr>
            <p:xfrm>
              <a:off x="514" y="1745"/>
              <a:ext cx="2088" cy="2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5" name="" r:id="rId1" imgW="12439650" imgH="1666875" progId="Word.Document.8">
                      <p:embed/>
                    </p:oleObj>
                  </mc:Choice>
                  <mc:Fallback>
                    <p:oleObj name="" r:id="rId1" imgW="12439650" imgH="1666875" progId="Word.Document.8">
                      <p:embed/>
                      <p:pic>
                        <p:nvPicPr>
                          <p:cNvPr id="0" name="图片 1024" descr="image2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514" y="1745"/>
                            <a:ext cx="2088" cy="27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32" name="Object 9"/>
              <p:cNvGraphicFramePr/>
              <p:nvPr/>
            </p:nvGraphicFramePr>
            <p:xfrm>
              <a:off x="802" y="1905"/>
              <a:ext cx="2088" cy="2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6" name="" r:id="rId3" imgW="12439650" imgH="1666875" progId="Word.Document.8">
                      <p:embed/>
                    </p:oleObj>
                  </mc:Choice>
                  <mc:Fallback>
                    <p:oleObj name="" r:id="rId3" imgW="12439650" imgH="1666875" progId="Word.Document.8">
                      <p:embed/>
                      <p:pic>
                        <p:nvPicPr>
                          <p:cNvPr id="0" name="图片 1025" descr="image3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802" y="1905"/>
                            <a:ext cx="2088" cy="27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33" name="Object 10"/>
              <p:cNvGraphicFramePr/>
              <p:nvPr/>
            </p:nvGraphicFramePr>
            <p:xfrm>
              <a:off x="1090" y="2057"/>
              <a:ext cx="2088" cy="2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7" name="" r:id="rId5" imgW="12439650" imgH="1666875" progId="Word.Document.8">
                      <p:embed/>
                    </p:oleObj>
                  </mc:Choice>
                  <mc:Fallback>
                    <p:oleObj name="" r:id="rId5" imgW="12439650" imgH="1666875" progId="Word.Document.8">
                      <p:embed/>
                      <p:pic>
                        <p:nvPicPr>
                          <p:cNvPr id="0" name="图片 1026" descr="image4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1090" y="2057"/>
                            <a:ext cx="2088" cy="27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34" name="Object 11"/>
              <p:cNvGraphicFramePr/>
              <p:nvPr/>
            </p:nvGraphicFramePr>
            <p:xfrm>
              <a:off x="1668" y="2365"/>
              <a:ext cx="2088" cy="2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8" name="" r:id="rId7" imgW="12439650" imgH="1666875" progId="Word.Document.8">
                      <p:embed/>
                    </p:oleObj>
                  </mc:Choice>
                  <mc:Fallback>
                    <p:oleObj name="" r:id="rId7" imgW="12439650" imgH="1666875" progId="Word.Document.8">
                      <p:embed/>
                      <p:pic>
                        <p:nvPicPr>
                          <p:cNvPr id="0" name="图片 1027" descr="image5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1668" y="2365"/>
                            <a:ext cx="2088" cy="27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35" name="Object 12"/>
              <p:cNvGraphicFramePr/>
              <p:nvPr/>
            </p:nvGraphicFramePr>
            <p:xfrm>
              <a:off x="1378" y="2217"/>
              <a:ext cx="2088" cy="2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9" name="" r:id="rId9" imgW="12439650" imgH="1666875" progId="Word.Document.8">
                      <p:embed/>
                    </p:oleObj>
                  </mc:Choice>
                  <mc:Fallback>
                    <p:oleObj name="" r:id="rId9" imgW="12439650" imgH="1666875" progId="Word.Document.8">
                      <p:embed/>
                      <p:pic>
                        <p:nvPicPr>
                          <p:cNvPr id="0" name="图片 1028" descr="image6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1378" y="2217"/>
                            <a:ext cx="2088" cy="27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45" name="Line 13"/>
            <p:cNvSpPr/>
            <p:nvPr/>
          </p:nvSpPr>
          <p:spPr>
            <a:xfrm>
              <a:off x="2595" y="1909"/>
              <a:ext cx="0" cy="46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46" name="Line 14"/>
            <p:cNvSpPr/>
            <p:nvPr/>
          </p:nvSpPr>
          <p:spPr>
            <a:xfrm flipH="1">
              <a:off x="2021" y="1919"/>
              <a:ext cx="577" cy="148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47" name="Line 15"/>
            <p:cNvSpPr/>
            <p:nvPr/>
          </p:nvSpPr>
          <p:spPr>
            <a:xfrm flipH="1">
              <a:off x="2309" y="1912"/>
              <a:ext cx="280" cy="32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1039" name="Group 16"/>
          <p:cNvGrpSpPr/>
          <p:nvPr/>
        </p:nvGrpSpPr>
        <p:grpSpPr>
          <a:xfrm>
            <a:off x="5024438" y="5189538"/>
            <a:ext cx="6861175" cy="1417637"/>
            <a:chOff x="2518" y="2909"/>
            <a:chExt cx="3242" cy="893"/>
          </a:xfrm>
        </p:grpSpPr>
        <p:grpSp>
          <p:nvGrpSpPr>
            <p:cNvPr id="1041" name="Group 17"/>
            <p:cNvGrpSpPr/>
            <p:nvPr/>
          </p:nvGrpSpPr>
          <p:grpSpPr>
            <a:xfrm>
              <a:off x="2518" y="2909"/>
              <a:ext cx="3242" cy="893"/>
              <a:chOff x="514" y="1745"/>
              <a:chExt cx="3242" cy="893"/>
            </a:xfrm>
          </p:grpSpPr>
          <p:graphicFrame>
            <p:nvGraphicFramePr>
              <p:cNvPr id="1026" name="Object 18"/>
              <p:cNvGraphicFramePr/>
              <p:nvPr/>
            </p:nvGraphicFramePr>
            <p:xfrm>
              <a:off x="514" y="1745"/>
              <a:ext cx="2088" cy="2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30" name="" r:id="rId11" imgW="12439650" imgH="1666875" progId="Word.Document.8">
                      <p:embed/>
                    </p:oleObj>
                  </mc:Choice>
                  <mc:Fallback>
                    <p:oleObj name="" r:id="rId11" imgW="12439650" imgH="1666875" progId="Word.Document.8">
                      <p:embed/>
                      <p:pic>
                        <p:nvPicPr>
                          <p:cNvPr id="0" name="图片 1029" descr="image2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514" y="1745"/>
                            <a:ext cx="2088" cy="27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7" name="Object 19"/>
              <p:cNvGraphicFramePr/>
              <p:nvPr/>
            </p:nvGraphicFramePr>
            <p:xfrm>
              <a:off x="802" y="1905"/>
              <a:ext cx="2088" cy="2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40" name="" r:id="rId12" imgW="12439650" imgH="1666875" progId="Word.Document.8">
                      <p:embed/>
                    </p:oleObj>
                  </mc:Choice>
                  <mc:Fallback>
                    <p:oleObj name="" r:id="rId12" imgW="12439650" imgH="1666875" progId="Word.Document.8">
                      <p:embed/>
                      <p:pic>
                        <p:nvPicPr>
                          <p:cNvPr id="0" name="图片 1039" descr="image3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802" y="1905"/>
                            <a:ext cx="2088" cy="27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8" name="Object 20"/>
              <p:cNvGraphicFramePr/>
              <p:nvPr/>
            </p:nvGraphicFramePr>
            <p:xfrm>
              <a:off x="1090" y="2057"/>
              <a:ext cx="2088" cy="2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42" name="" r:id="rId13" imgW="12439650" imgH="1666875" progId="Word.Document.8">
                      <p:embed/>
                    </p:oleObj>
                  </mc:Choice>
                  <mc:Fallback>
                    <p:oleObj name="" r:id="rId13" imgW="12439650" imgH="1666875" progId="Word.Document.8">
                      <p:embed/>
                      <p:pic>
                        <p:nvPicPr>
                          <p:cNvPr id="0" name="图片 1041" descr="image4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1090" y="2057"/>
                            <a:ext cx="2088" cy="27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9" name="Object 21"/>
              <p:cNvGraphicFramePr/>
              <p:nvPr/>
            </p:nvGraphicFramePr>
            <p:xfrm>
              <a:off x="1668" y="2365"/>
              <a:ext cx="2088" cy="2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43" name="" r:id="rId14" imgW="12439650" imgH="1666875" progId="Word.Document.8">
                      <p:embed/>
                    </p:oleObj>
                  </mc:Choice>
                  <mc:Fallback>
                    <p:oleObj name="" r:id="rId14" imgW="12439650" imgH="1666875" progId="Word.Document.8">
                      <p:embed/>
                      <p:pic>
                        <p:nvPicPr>
                          <p:cNvPr id="0" name="图片 1042" descr="image5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1668" y="2365"/>
                            <a:ext cx="2088" cy="27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30" name="Object 22"/>
              <p:cNvGraphicFramePr/>
              <p:nvPr/>
            </p:nvGraphicFramePr>
            <p:xfrm>
              <a:off x="1378" y="2217"/>
              <a:ext cx="2088" cy="2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48" name="" r:id="rId15" imgW="12439650" imgH="1666875" progId="Word.Document.8">
                      <p:embed/>
                    </p:oleObj>
                  </mc:Choice>
                  <mc:Fallback>
                    <p:oleObj name="" r:id="rId15" imgW="12439650" imgH="1666875" progId="Word.Document.8">
                      <p:embed/>
                      <p:pic>
                        <p:nvPicPr>
                          <p:cNvPr id="0" name="图片 1047" descr="image6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1378" y="2217"/>
                            <a:ext cx="2088" cy="27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42" name="Line 23"/>
            <p:cNvSpPr/>
            <p:nvPr/>
          </p:nvSpPr>
          <p:spPr>
            <a:xfrm flipH="1">
              <a:off x="3363" y="2989"/>
              <a:ext cx="289" cy="148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43" name="Line 24"/>
            <p:cNvSpPr/>
            <p:nvPr/>
          </p:nvSpPr>
          <p:spPr>
            <a:xfrm flipH="1">
              <a:off x="3651" y="2997"/>
              <a:ext cx="0" cy="305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1040" name="Rectangle 26"/>
          <p:cNvSpPr>
            <a:spLocks noGrp="1"/>
          </p:cNvSpPr>
          <p:nvPr>
            <p:ph type="title"/>
          </p:nvPr>
        </p:nvSpPr>
        <p:spPr>
          <a:xfrm>
            <a:off x="831850" y="415925"/>
            <a:ext cx="10361613" cy="735013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控制相关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>
          <a:xfrm>
            <a:off x="838200" y="134938"/>
            <a:ext cx="10361613" cy="790575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sz="3600" dirty="0"/>
              <a:t>延迟槽指令的例子</a:t>
            </a:r>
            <a:endParaRPr lang="zh-CN" altLang="en-US" sz="3600" dirty="0"/>
          </a:p>
        </p:txBody>
      </p:sp>
      <p:sp>
        <p:nvSpPr>
          <p:cNvPr id="11267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1268" name="Rectangle 2"/>
          <p:cNvSpPr/>
          <p:nvPr/>
        </p:nvSpPr>
        <p:spPr>
          <a:xfrm>
            <a:off x="1154113" y="1263650"/>
            <a:ext cx="9486900" cy="3048000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lIns="90487" tIns="44450" rIns="90487" bIns="44450"/>
          <a:lstStyle/>
          <a:p>
            <a:pPr marL="285750" indent="-285750" defTabSz="914400">
              <a:lnSpc>
                <a:spcPct val="90000"/>
              </a:lnSpc>
              <a:spcBef>
                <a:spcPct val="30000"/>
              </a:spcBef>
              <a:tabLst>
                <a:tab pos="1200150" algn="l"/>
                <a:tab pos="2000250" algn="l"/>
                <a:tab pos="3371850" algn="l"/>
              </a:tabLst>
            </a:pPr>
            <a:r>
              <a:rPr lang="en-US" altLang="zh-CN" sz="1800" b="1" dirty="0">
                <a:latin typeface="宋体" panose="02000500000000000000" pitchFamily="2" charset="-122"/>
              </a:rPr>
              <a:t> 1 Loop:	LD	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00500000000000000" pitchFamily="2" charset="-122"/>
              </a:rPr>
              <a:t>F0</a:t>
            </a:r>
            <a:r>
              <a:rPr lang="en-US" altLang="zh-CN" sz="1800" b="1" dirty="0">
                <a:latin typeface="宋体" panose="02000500000000000000" pitchFamily="2" charset="-122"/>
              </a:rPr>
              <a:t>,0(R1)	;F0=vector element</a:t>
            </a:r>
            <a:endParaRPr lang="en-US" altLang="zh-CN" sz="1800" b="1" dirty="0">
              <a:latin typeface="宋体" panose="02000500000000000000" pitchFamily="2" charset="-122"/>
            </a:endParaRPr>
          </a:p>
          <a:p>
            <a:pPr marL="285750" indent="-285750" defTabSz="914400">
              <a:lnSpc>
                <a:spcPct val="90000"/>
              </a:lnSpc>
              <a:spcBef>
                <a:spcPct val="30000"/>
              </a:spcBef>
              <a:tabLst>
                <a:tab pos="1200150" algn="l"/>
                <a:tab pos="2000250" algn="l"/>
                <a:tab pos="3371850" algn="l"/>
              </a:tabLst>
            </a:pPr>
            <a:r>
              <a:rPr lang="en-US" altLang="zh-CN" sz="1800" b="1" dirty="0">
                <a:latin typeface="宋体" panose="02000500000000000000" pitchFamily="2" charset="-122"/>
              </a:rPr>
              <a:t> 2		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00500000000000000" pitchFamily="2" charset="-122"/>
              </a:rPr>
              <a:t>stall</a:t>
            </a:r>
            <a:endParaRPr lang="en-US" altLang="zh-CN" sz="1800" b="1" dirty="0">
              <a:solidFill>
                <a:srgbClr val="FF0000"/>
              </a:solidFill>
              <a:latin typeface="宋体" panose="02000500000000000000" pitchFamily="2" charset="-122"/>
            </a:endParaRPr>
          </a:p>
          <a:p>
            <a:pPr marL="285750" indent="-285750" defTabSz="914400">
              <a:lnSpc>
                <a:spcPct val="90000"/>
              </a:lnSpc>
              <a:spcBef>
                <a:spcPct val="30000"/>
              </a:spcBef>
              <a:tabLst>
                <a:tab pos="1200150" algn="l"/>
                <a:tab pos="2000250" algn="l"/>
                <a:tab pos="3371850" algn="l"/>
              </a:tabLst>
            </a:pPr>
            <a:r>
              <a:rPr lang="en-US" altLang="zh-CN" sz="1800" b="1" dirty="0">
                <a:latin typeface="宋体" panose="02000500000000000000" pitchFamily="2" charset="-122"/>
              </a:rPr>
              <a:t> 3		ADDD	</a:t>
            </a:r>
            <a:r>
              <a:rPr lang="en-US" altLang="zh-CN" sz="1800" b="1" dirty="0">
                <a:solidFill>
                  <a:schemeClr val="accent2"/>
                </a:solidFill>
                <a:latin typeface="宋体" panose="02000500000000000000" pitchFamily="2" charset="-122"/>
              </a:rPr>
              <a:t>F4</a:t>
            </a:r>
            <a:r>
              <a:rPr lang="en-US" altLang="zh-CN" sz="1800" b="1" dirty="0">
                <a:latin typeface="宋体" panose="02000500000000000000" pitchFamily="2" charset="-122"/>
              </a:rPr>
              <a:t>,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00500000000000000" pitchFamily="2" charset="-122"/>
              </a:rPr>
              <a:t>F0</a:t>
            </a:r>
            <a:r>
              <a:rPr lang="en-US" altLang="zh-CN" sz="1800" b="1" dirty="0">
                <a:latin typeface="宋体" panose="02000500000000000000" pitchFamily="2" charset="-122"/>
              </a:rPr>
              <a:t>,F2	;add scalar in F2</a:t>
            </a:r>
            <a:endParaRPr lang="en-US" altLang="zh-CN" sz="1800" b="1" dirty="0">
              <a:latin typeface="宋体" panose="02000500000000000000" pitchFamily="2" charset="-122"/>
            </a:endParaRPr>
          </a:p>
          <a:p>
            <a:pPr marL="285750" indent="-285750" defTabSz="914400">
              <a:lnSpc>
                <a:spcPct val="90000"/>
              </a:lnSpc>
              <a:spcBef>
                <a:spcPct val="30000"/>
              </a:spcBef>
              <a:tabLst>
                <a:tab pos="1200150" algn="l"/>
                <a:tab pos="2000250" algn="l"/>
                <a:tab pos="3371850" algn="l"/>
              </a:tabLst>
            </a:pPr>
            <a:r>
              <a:rPr lang="en-US" altLang="zh-CN" sz="1800" b="1" dirty="0">
                <a:latin typeface="宋体" panose="02000500000000000000" pitchFamily="2" charset="-122"/>
              </a:rPr>
              <a:t> 4		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00500000000000000" pitchFamily="2" charset="-122"/>
              </a:rPr>
              <a:t>stall</a:t>
            </a:r>
            <a:endParaRPr lang="en-US" altLang="zh-CN" sz="1800" b="1" dirty="0">
              <a:latin typeface="宋体" panose="02000500000000000000" pitchFamily="2" charset="-122"/>
            </a:endParaRPr>
          </a:p>
          <a:p>
            <a:pPr marL="285750" indent="-285750" defTabSz="914400">
              <a:lnSpc>
                <a:spcPct val="90000"/>
              </a:lnSpc>
              <a:spcBef>
                <a:spcPct val="30000"/>
              </a:spcBef>
              <a:tabLst>
                <a:tab pos="1200150" algn="l"/>
                <a:tab pos="2000250" algn="l"/>
                <a:tab pos="3371850" algn="l"/>
              </a:tabLst>
            </a:pPr>
            <a:r>
              <a:rPr lang="en-US" altLang="zh-CN" sz="1800" b="1" dirty="0">
                <a:latin typeface="宋体" panose="02000500000000000000" pitchFamily="2" charset="-122"/>
              </a:rPr>
              <a:t> 5		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00500000000000000" pitchFamily="2" charset="-122"/>
              </a:rPr>
              <a:t>stall</a:t>
            </a:r>
            <a:endParaRPr lang="en-US" altLang="zh-CN" sz="1800" b="1" dirty="0">
              <a:solidFill>
                <a:srgbClr val="FF0000"/>
              </a:solidFill>
              <a:latin typeface="宋体" panose="02000500000000000000" pitchFamily="2" charset="-122"/>
            </a:endParaRPr>
          </a:p>
          <a:p>
            <a:pPr marL="285750" indent="-285750" defTabSz="914400">
              <a:lnSpc>
                <a:spcPct val="90000"/>
              </a:lnSpc>
              <a:spcBef>
                <a:spcPct val="30000"/>
              </a:spcBef>
              <a:tabLst>
                <a:tab pos="1200150" algn="l"/>
                <a:tab pos="2000250" algn="l"/>
                <a:tab pos="3371850" algn="l"/>
              </a:tabLst>
            </a:pPr>
            <a:r>
              <a:rPr lang="en-US" altLang="zh-CN" sz="1800" b="1" dirty="0">
                <a:latin typeface="宋体" panose="02000500000000000000" pitchFamily="2" charset="-122"/>
              </a:rPr>
              <a:t> 6 	SD	0(R1),</a:t>
            </a:r>
            <a:r>
              <a:rPr lang="en-US" altLang="zh-CN" sz="1800" b="1" dirty="0">
                <a:solidFill>
                  <a:schemeClr val="accent2"/>
                </a:solidFill>
                <a:latin typeface="宋体" panose="02000500000000000000" pitchFamily="2" charset="-122"/>
              </a:rPr>
              <a:t>F4</a:t>
            </a:r>
            <a:r>
              <a:rPr lang="en-US" altLang="zh-CN" sz="1800" b="1" dirty="0">
                <a:latin typeface="宋体" panose="02000500000000000000" pitchFamily="2" charset="-122"/>
              </a:rPr>
              <a:t>	;store result</a:t>
            </a:r>
            <a:endParaRPr lang="en-US" altLang="zh-CN" sz="1800" b="1" dirty="0">
              <a:latin typeface="宋体" panose="02000500000000000000" pitchFamily="2" charset="-122"/>
            </a:endParaRPr>
          </a:p>
          <a:p>
            <a:pPr marL="285750" indent="-285750" defTabSz="914400">
              <a:lnSpc>
                <a:spcPct val="90000"/>
              </a:lnSpc>
              <a:spcBef>
                <a:spcPct val="30000"/>
              </a:spcBef>
              <a:tabLst>
                <a:tab pos="1200150" algn="l"/>
                <a:tab pos="2000250" algn="l"/>
                <a:tab pos="3371850" algn="l"/>
              </a:tabLst>
            </a:pPr>
            <a:r>
              <a:rPr lang="en-US" altLang="zh-CN" sz="1800" b="1" dirty="0">
                <a:latin typeface="宋体" panose="02000500000000000000" pitchFamily="2" charset="-122"/>
              </a:rPr>
              <a:t> 7 	SUBI	R1,R1,8	;decrement pointer 8B (DW)</a:t>
            </a:r>
            <a:endParaRPr lang="en-US" altLang="zh-CN" sz="1800" b="1" dirty="0">
              <a:latin typeface="宋体" panose="02000500000000000000" pitchFamily="2" charset="-122"/>
            </a:endParaRPr>
          </a:p>
          <a:p>
            <a:pPr marL="285750" indent="-285750" defTabSz="914400">
              <a:lnSpc>
                <a:spcPct val="90000"/>
              </a:lnSpc>
              <a:spcBef>
                <a:spcPct val="30000"/>
              </a:spcBef>
              <a:tabLst>
                <a:tab pos="1200150" algn="l"/>
                <a:tab pos="2000250" algn="l"/>
                <a:tab pos="3371850" algn="l"/>
              </a:tabLst>
            </a:pPr>
            <a:r>
              <a:rPr lang="en-US" altLang="zh-CN" sz="1800" b="1" dirty="0">
                <a:latin typeface="宋体" panose="02000500000000000000" pitchFamily="2" charset="-122"/>
              </a:rPr>
              <a:t> 8 	BNEZ	R1,Loop	;branch R1!=zero</a:t>
            </a:r>
            <a:endParaRPr lang="en-US" altLang="zh-CN" sz="1800" b="1" dirty="0">
              <a:latin typeface="宋体" panose="02000500000000000000" pitchFamily="2" charset="-122"/>
            </a:endParaRPr>
          </a:p>
          <a:p>
            <a:pPr marL="285750" indent="-285750" defTabSz="914400">
              <a:lnSpc>
                <a:spcPct val="90000"/>
              </a:lnSpc>
              <a:spcBef>
                <a:spcPct val="30000"/>
              </a:spcBef>
              <a:tabLst>
                <a:tab pos="1200150" algn="l"/>
                <a:tab pos="2000250" algn="l"/>
                <a:tab pos="3371850" algn="l"/>
              </a:tabLst>
            </a:pPr>
            <a:r>
              <a:rPr lang="en-US" altLang="zh-CN" sz="1800" b="1" dirty="0">
                <a:latin typeface="宋体" panose="02000500000000000000" pitchFamily="2" charset="-122"/>
              </a:rPr>
              <a:t> 9		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00500000000000000" pitchFamily="2" charset="-122"/>
              </a:rPr>
              <a:t>stall	</a:t>
            </a:r>
            <a:r>
              <a:rPr lang="en-US" altLang="zh-CN" sz="1800" b="1" dirty="0">
                <a:latin typeface="宋体" panose="02000500000000000000" pitchFamily="2" charset="-122"/>
              </a:rPr>
              <a:t>	;delayed branch slot</a:t>
            </a:r>
            <a:endParaRPr lang="en-US" altLang="zh-CN" sz="1800" b="1" dirty="0">
              <a:latin typeface="宋体" panose="02000500000000000000" pitchFamily="2" charset="-122"/>
            </a:endParaRPr>
          </a:p>
        </p:txBody>
      </p:sp>
      <p:sp>
        <p:nvSpPr>
          <p:cNvPr id="11269" name="Rectangle 2"/>
          <p:cNvSpPr/>
          <p:nvPr/>
        </p:nvSpPr>
        <p:spPr>
          <a:xfrm>
            <a:off x="1154113" y="4622800"/>
            <a:ext cx="9561512" cy="1992313"/>
          </a:xfrm>
          <a:prstGeom prst="rect">
            <a:avLst/>
          </a:prstGeom>
          <a:solidFill>
            <a:srgbClr val="92D050"/>
          </a:solidFill>
          <a:ln w="12700">
            <a:noFill/>
          </a:ln>
        </p:spPr>
        <p:txBody>
          <a:bodyPr lIns="90487" tIns="44450" rIns="90487" bIns="44450"/>
          <a:lstStyle/>
          <a:p>
            <a:pPr marL="285750" indent="-285750" defTabSz="914400">
              <a:lnSpc>
                <a:spcPct val="90000"/>
              </a:lnSpc>
              <a:spcBef>
                <a:spcPct val="30000"/>
              </a:spcBef>
              <a:tabLst>
                <a:tab pos="1200150" algn="l"/>
                <a:tab pos="2000250" algn="l"/>
                <a:tab pos="3371850" algn="l"/>
              </a:tabLst>
            </a:pPr>
            <a:r>
              <a:rPr lang="en-US" altLang="zh-CN" sz="1800" b="1" dirty="0">
                <a:latin typeface="宋体" panose="02000500000000000000" pitchFamily="2" charset="-122"/>
              </a:rPr>
              <a:t> 1 Loop:	LD	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00500000000000000" pitchFamily="2" charset="-122"/>
              </a:rPr>
              <a:t>F0</a:t>
            </a:r>
            <a:r>
              <a:rPr lang="en-US" altLang="zh-CN" sz="1800" b="1" dirty="0">
                <a:latin typeface="宋体" panose="02000500000000000000" pitchFamily="2" charset="-122"/>
              </a:rPr>
              <a:t>,0(R1)	</a:t>
            </a:r>
            <a:endParaRPr lang="en-US" altLang="zh-CN" sz="1800" b="1" dirty="0">
              <a:latin typeface="宋体" panose="02000500000000000000" pitchFamily="2" charset="-122"/>
            </a:endParaRPr>
          </a:p>
          <a:p>
            <a:pPr marL="285750" indent="-285750" defTabSz="914400">
              <a:lnSpc>
                <a:spcPct val="90000"/>
              </a:lnSpc>
              <a:spcBef>
                <a:spcPct val="30000"/>
              </a:spcBef>
              <a:tabLst>
                <a:tab pos="1200150" algn="l"/>
                <a:tab pos="2000250" algn="l"/>
                <a:tab pos="3371850" algn="l"/>
              </a:tabLst>
            </a:pPr>
            <a:r>
              <a:rPr lang="en-US" altLang="zh-CN" sz="1800" b="1" dirty="0">
                <a:latin typeface="宋体" panose="02000500000000000000" pitchFamily="2" charset="-122"/>
              </a:rPr>
              <a:t> 2		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00500000000000000" pitchFamily="2" charset="-122"/>
              </a:rPr>
              <a:t>stall</a:t>
            </a:r>
            <a:endParaRPr lang="en-US" altLang="zh-CN" sz="1800" b="1" dirty="0">
              <a:solidFill>
                <a:srgbClr val="FF0000"/>
              </a:solidFill>
              <a:latin typeface="宋体" panose="02000500000000000000" pitchFamily="2" charset="-122"/>
            </a:endParaRPr>
          </a:p>
          <a:p>
            <a:pPr marL="285750" indent="-285750" defTabSz="914400">
              <a:lnSpc>
                <a:spcPct val="90000"/>
              </a:lnSpc>
              <a:spcBef>
                <a:spcPct val="30000"/>
              </a:spcBef>
              <a:tabLst>
                <a:tab pos="1200150" algn="l"/>
                <a:tab pos="2000250" algn="l"/>
                <a:tab pos="3371850" algn="l"/>
              </a:tabLst>
            </a:pPr>
            <a:r>
              <a:rPr lang="en-US" altLang="zh-CN" sz="1800" b="1" dirty="0">
                <a:latin typeface="宋体" panose="02000500000000000000" pitchFamily="2" charset="-122"/>
              </a:rPr>
              <a:t> 3		ADDD	</a:t>
            </a:r>
            <a:r>
              <a:rPr lang="en-US" altLang="zh-CN" sz="1800" b="1" dirty="0">
                <a:solidFill>
                  <a:schemeClr val="accent2"/>
                </a:solidFill>
                <a:latin typeface="宋体" panose="02000500000000000000" pitchFamily="2" charset="-122"/>
              </a:rPr>
              <a:t>F4</a:t>
            </a:r>
            <a:r>
              <a:rPr lang="en-US" altLang="zh-CN" sz="1800" b="1" dirty="0">
                <a:latin typeface="宋体" panose="02000500000000000000" pitchFamily="2" charset="-122"/>
              </a:rPr>
              <a:t>,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00500000000000000" pitchFamily="2" charset="-122"/>
              </a:rPr>
              <a:t>F0</a:t>
            </a:r>
            <a:r>
              <a:rPr lang="en-US" altLang="zh-CN" sz="1800" b="1" dirty="0">
                <a:latin typeface="宋体" panose="02000500000000000000" pitchFamily="2" charset="-122"/>
              </a:rPr>
              <a:t>,F2	</a:t>
            </a:r>
            <a:endParaRPr lang="en-US" altLang="zh-CN" sz="1800" b="1" dirty="0">
              <a:latin typeface="宋体" panose="02000500000000000000" pitchFamily="2" charset="-122"/>
            </a:endParaRPr>
          </a:p>
          <a:p>
            <a:pPr marL="285750" indent="-285750" defTabSz="914400">
              <a:lnSpc>
                <a:spcPct val="90000"/>
              </a:lnSpc>
              <a:spcBef>
                <a:spcPct val="30000"/>
              </a:spcBef>
              <a:tabLst>
                <a:tab pos="1200150" algn="l"/>
                <a:tab pos="2000250" algn="l"/>
                <a:tab pos="3371850" algn="l"/>
              </a:tabLst>
            </a:pPr>
            <a:r>
              <a:rPr lang="en-US" altLang="zh-CN" sz="1800" b="1" dirty="0">
                <a:latin typeface="宋体" panose="02000500000000000000" pitchFamily="2" charset="-122"/>
              </a:rPr>
              <a:t> 4		SUBI	R1,R1,8	</a:t>
            </a:r>
            <a:endParaRPr lang="en-US" altLang="zh-CN" sz="1800" b="1" dirty="0">
              <a:latin typeface="宋体" panose="02000500000000000000" pitchFamily="2" charset="-122"/>
            </a:endParaRPr>
          </a:p>
          <a:p>
            <a:pPr marL="285750" indent="-285750" defTabSz="914400">
              <a:lnSpc>
                <a:spcPct val="90000"/>
              </a:lnSpc>
              <a:spcBef>
                <a:spcPct val="30000"/>
              </a:spcBef>
              <a:tabLst>
                <a:tab pos="1200150" algn="l"/>
                <a:tab pos="2000250" algn="l"/>
                <a:tab pos="3371850" algn="l"/>
              </a:tabLst>
            </a:pPr>
            <a:r>
              <a:rPr lang="en-US" altLang="zh-CN" sz="1800" b="1" dirty="0">
                <a:latin typeface="宋体" panose="02000500000000000000" pitchFamily="2" charset="-122"/>
              </a:rPr>
              <a:t> 5		BNEZ	R1,Loop	;delayed branch</a:t>
            </a:r>
            <a:endParaRPr lang="en-US" altLang="zh-CN" sz="1800" b="1" dirty="0">
              <a:latin typeface="宋体" panose="02000500000000000000" pitchFamily="2" charset="-122"/>
            </a:endParaRPr>
          </a:p>
          <a:p>
            <a:pPr marL="285750" indent="-285750" defTabSz="914400">
              <a:lnSpc>
                <a:spcPct val="90000"/>
              </a:lnSpc>
              <a:spcBef>
                <a:spcPct val="30000"/>
              </a:spcBef>
              <a:tabLst>
                <a:tab pos="1200150" algn="l"/>
                <a:tab pos="2000250" algn="l"/>
                <a:tab pos="3371850" algn="l"/>
              </a:tabLst>
            </a:pPr>
            <a:r>
              <a:rPr lang="en-US" altLang="zh-CN" sz="1800" b="1" dirty="0">
                <a:latin typeface="宋体" panose="02000500000000000000" pitchFamily="2" charset="-122"/>
              </a:rPr>
              <a:t> 6 	SD	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00500000000000000" pitchFamily="2" charset="-122"/>
              </a:rPr>
              <a:t>8</a:t>
            </a:r>
            <a:r>
              <a:rPr lang="en-US" altLang="zh-CN" sz="1800" b="1" dirty="0">
                <a:latin typeface="宋体" panose="02000500000000000000" pitchFamily="2" charset="-122"/>
              </a:rPr>
              <a:t>(R1),</a:t>
            </a:r>
            <a:r>
              <a:rPr lang="en-US" altLang="zh-CN" sz="1800" b="1" dirty="0">
                <a:solidFill>
                  <a:schemeClr val="accent2"/>
                </a:solidFill>
                <a:latin typeface="宋体" panose="02000500000000000000" pitchFamily="2" charset="-122"/>
              </a:rPr>
              <a:t>F4</a:t>
            </a:r>
            <a:r>
              <a:rPr lang="en-US" altLang="zh-CN" sz="1800" b="1" dirty="0">
                <a:latin typeface="宋体" panose="02000500000000000000" pitchFamily="2" charset="-122"/>
              </a:rPr>
              <a:t>	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00500000000000000" pitchFamily="2" charset="-122"/>
              </a:rPr>
              <a:t>;altered when move past SUBI</a:t>
            </a:r>
            <a:endParaRPr lang="en-US" altLang="zh-CN" sz="1800" b="1" dirty="0">
              <a:solidFill>
                <a:srgbClr val="FF0000"/>
              </a:solidFill>
              <a:latin typeface="宋体" panose="02000500000000000000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2291" name="Rectangle 2"/>
          <p:cNvSpPr/>
          <p:nvPr/>
        </p:nvSpPr>
        <p:spPr>
          <a:xfrm>
            <a:off x="642938" y="304800"/>
            <a:ext cx="10937875" cy="685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ctr">
              <a:spcBef>
                <a:spcPct val="0"/>
              </a:spcBef>
            </a:pPr>
            <a:r>
              <a:rPr lang="zh-CN" altLang="en-US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转移（分支）指令对性能的影响</a:t>
            </a:r>
            <a:endParaRPr lang="zh-CN" altLang="en-US" sz="36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  <p:sp>
        <p:nvSpPr>
          <p:cNvPr id="12292" name="Rectangle 3"/>
          <p:cNvSpPr/>
          <p:nvPr/>
        </p:nvSpPr>
        <p:spPr>
          <a:xfrm>
            <a:off x="609600" y="1371600"/>
            <a:ext cx="11174413" cy="46863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buChar char="•"/>
            </a:pPr>
            <a:r>
              <a:rPr lang="zh-CN" altLang="ca-ES" sz="2400" b="1" dirty="0">
                <a:latin typeface="Times New Roman" pitchFamily="18" charset="0"/>
              </a:rPr>
              <a:t>分支指令的影响是开发指令级并行性的重要障碍</a:t>
            </a:r>
            <a:endParaRPr lang="zh-CN" altLang="ca-ES" sz="2400" b="1" dirty="0">
              <a:latin typeface="Times New Roman" pitchFamily="18" charset="0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ct val="0"/>
              </a:spcBef>
              <a:buChar char="•"/>
            </a:pPr>
            <a:r>
              <a:rPr lang="zh-CN" altLang="en-US" sz="2000" b="1" dirty="0">
                <a:latin typeface="宋体" panose="02000500000000000000" pitchFamily="2" charset="-122"/>
              </a:rPr>
              <a:t>一条指令流中，平均每</a:t>
            </a:r>
            <a:r>
              <a:rPr lang="en-US" altLang="zh-CN" sz="2000" b="1" dirty="0">
                <a:latin typeface="宋体" panose="02000500000000000000" pitchFamily="2" charset="-122"/>
              </a:rPr>
              <a:t>5-7</a:t>
            </a:r>
            <a:r>
              <a:rPr lang="zh-CN" altLang="en-US" sz="2000" b="1" dirty="0">
                <a:latin typeface="宋体" panose="02000500000000000000" pitchFamily="2" charset="-122"/>
              </a:rPr>
              <a:t>条指令中就有一条是分支指令，也即基本块大小为</a:t>
            </a:r>
            <a:r>
              <a:rPr lang="en-US" altLang="zh-CN" sz="2000" b="1" dirty="0">
                <a:latin typeface="宋体" panose="02000500000000000000" pitchFamily="2" charset="-122"/>
              </a:rPr>
              <a:t>5-7</a:t>
            </a:r>
            <a:r>
              <a:rPr lang="zh-CN" altLang="en-US" sz="2000" b="1" dirty="0">
                <a:latin typeface="宋体" panose="02000500000000000000" pitchFamily="2" charset="-122"/>
              </a:rPr>
              <a:t>条指令</a:t>
            </a:r>
            <a:endParaRPr lang="zh-CN" altLang="en-US" sz="2000" b="1" dirty="0">
              <a:latin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Char char="•"/>
            </a:pPr>
            <a:r>
              <a:rPr lang="zh-CN" altLang="en-US" sz="2400" b="1" dirty="0">
                <a:latin typeface="宋体" panose="02000500000000000000" pitchFamily="2" charset="-122"/>
              </a:rPr>
              <a:t>增大发射宽度</a:t>
            </a:r>
            <a:endParaRPr lang="zh-CN" altLang="en-US" sz="24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ct val="0"/>
              </a:spcBef>
              <a:buChar char="•"/>
            </a:pPr>
            <a:r>
              <a:rPr lang="zh-CN" altLang="en-US" sz="2000" b="1" dirty="0">
                <a:latin typeface="宋体" panose="02000500000000000000" pitchFamily="2" charset="-122"/>
              </a:rPr>
              <a:t>在发射宽度为</a:t>
            </a:r>
            <a:r>
              <a:rPr lang="en-US" altLang="zh-CN" sz="2000" b="1" dirty="0">
                <a:latin typeface="宋体" panose="02000500000000000000" pitchFamily="2" charset="-122"/>
              </a:rPr>
              <a:t>n</a:t>
            </a:r>
            <a:r>
              <a:rPr lang="zh-CN" altLang="en-US" sz="2000" b="1" dirty="0">
                <a:latin typeface="宋体" panose="02000500000000000000" pitchFamily="2" charset="-122"/>
              </a:rPr>
              <a:t>的处理器中，遇到分支指令的速度也快了</a:t>
            </a:r>
            <a:r>
              <a:rPr lang="en-US" altLang="zh-CN" sz="2000" b="1" dirty="0">
                <a:latin typeface="宋体" panose="02000500000000000000" pitchFamily="2" charset="-122"/>
              </a:rPr>
              <a:t>n</a:t>
            </a:r>
            <a:r>
              <a:rPr lang="zh-CN" altLang="en-US" sz="2000" b="1" dirty="0">
                <a:latin typeface="宋体" panose="02000500000000000000" pitchFamily="2" charset="-122"/>
              </a:rPr>
              <a:t>倍</a:t>
            </a:r>
            <a:endParaRPr lang="zh-CN" altLang="en-US" sz="2000" b="1" dirty="0">
              <a:latin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Char char="•"/>
            </a:pPr>
            <a:r>
              <a:rPr lang="zh-CN" altLang="en-US" sz="2400" b="1" dirty="0">
                <a:latin typeface="宋体" panose="02000500000000000000" pitchFamily="2" charset="-122"/>
              </a:rPr>
              <a:t>增加流水线深度</a:t>
            </a:r>
            <a:endParaRPr lang="zh-CN" altLang="en-US" sz="24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ct val="0"/>
              </a:spcBef>
              <a:buChar char="•"/>
            </a:pPr>
            <a:r>
              <a:rPr lang="zh-CN" altLang="en-US" sz="2000" b="1" dirty="0">
                <a:latin typeface="宋体" panose="02000500000000000000" pitchFamily="2" charset="-122"/>
              </a:rPr>
              <a:t>流水线越深，处理分支指令所需要的时钟周期数就越多</a:t>
            </a:r>
            <a:endParaRPr lang="zh-CN" altLang="en-US" sz="2000" b="1" dirty="0">
              <a:latin typeface="宋体" panose="02000500000000000000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3315" name="Rectangle 2"/>
          <p:cNvSpPr>
            <a:spLocks noGrp="1"/>
          </p:cNvSpPr>
          <p:nvPr>
            <p:ph type="title"/>
          </p:nvPr>
        </p:nvSpPr>
        <p:spPr>
          <a:xfrm>
            <a:off x="881063" y="0"/>
            <a:ext cx="10361612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一个例子</a:t>
            </a:r>
            <a:endParaRPr lang="zh-CN" altLang="en-US" sz="3600" dirty="0"/>
          </a:p>
        </p:txBody>
      </p:sp>
      <p:sp>
        <p:nvSpPr>
          <p:cNvPr id="13316" name="Rectangle 3"/>
          <p:cNvSpPr>
            <a:spLocks noGrp="1" noChangeArrowheads="1"/>
          </p:cNvSpPr>
          <p:nvPr>
            <p:ph idx="1"/>
          </p:nvPr>
        </p:nvSpPr>
        <p:spPr>
          <a:xfrm>
            <a:off x="596900" y="1162050"/>
            <a:ext cx="11210925" cy="56959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假设平均每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8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条指令中有一条转移指令，某处理器采用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4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发射结构，第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10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级流水解决转移地址相关（即第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10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级流水算出转移方向和目标）</a:t>
            </a:r>
            <a:endParaRPr kumimoji="1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在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A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系统中不进行转移预测，遇到转移指令就等待，指令带宽浪费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36/(36+8)=82%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（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连续执行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2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拍指令后等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9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拍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）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在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B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系统中进行简单的转移预测，转移猜错率为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50%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，那么平均每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16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条指令预测错误一次，指令带宽浪费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36/(36+16)=75%</a:t>
            </a:r>
            <a:endParaRPr kumimoji="1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在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C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系统中，转移指令猜错率为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10%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，那么平均每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80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条指令预测错误一次，指令带宽浪费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36/(36+80)=31%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；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在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D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系统中，转移指令猜错率为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4%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，平均每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200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条指令预测错误一次，取指令带宽浪费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36/(36+200)=15%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。 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4339" name="Rectangle 2"/>
          <p:cNvSpPr/>
          <p:nvPr/>
        </p:nvSpPr>
        <p:spPr>
          <a:xfrm>
            <a:off x="642938" y="165100"/>
            <a:ext cx="10937875" cy="685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ctr">
              <a:spcBef>
                <a:spcPct val="0"/>
              </a:spcBef>
            </a:pPr>
            <a:r>
              <a:rPr lang="zh-CN" altLang="en-US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转移指令的属性</a:t>
            </a:r>
            <a:endParaRPr lang="zh-CN" altLang="en-US" sz="36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  <p:sp>
        <p:nvSpPr>
          <p:cNvPr id="14340" name="Rectangle 3"/>
          <p:cNvSpPr/>
          <p:nvPr/>
        </p:nvSpPr>
        <p:spPr>
          <a:xfrm>
            <a:off x="609600" y="1062038"/>
            <a:ext cx="10902950" cy="566896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buChar char="•"/>
            </a:pPr>
            <a:r>
              <a:rPr lang="zh-CN" altLang="en-US" sz="2400" b="1" dirty="0">
                <a:latin typeface="宋体" panose="02000500000000000000" pitchFamily="2" charset="-122"/>
              </a:rPr>
              <a:t>条件转移与无条件转移</a:t>
            </a:r>
            <a:endParaRPr lang="zh-CN" altLang="en-US" sz="24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ct val="0"/>
              </a:spcBef>
              <a:buChar char="•"/>
            </a:pPr>
            <a:r>
              <a:rPr lang="zh-CN" altLang="en-US" sz="2000" b="1" dirty="0">
                <a:latin typeface="宋体" panose="02000500000000000000" pitchFamily="2" charset="-122"/>
              </a:rPr>
              <a:t>条件转移：需等待条件确定后才能取指，程序中多数转移指令是条件转移指令</a:t>
            </a:r>
            <a:endParaRPr lang="zh-CN" altLang="en-US" sz="20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ct val="0"/>
              </a:spcBef>
              <a:buChar char="•"/>
            </a:pPr>
            <a:r>
              <a:rPr lang="zh-CN" altLang="en-US" sz="2000" b="1" dirty="0">
                <a:latin typeface="宋体" panose="02000500000000000000" pitchFamily="2" charset="-122"/>
              </a:rPr>
              <a:t>无条件转移：不用判断条件就转移，如</a:t>
            </a:r>
            <a:r>
              <a:rPr lang="en-US" altLang="zh-CN" sz="2000" b="1" dirty="0">
                <a:latin typeface="宋体" panose="02000500000000000000" pitchFamily="2" charset="-122"/>
              </a:rPr>
              <a:t>call/return</a:t>
            </a:r>
            <a:endParaRPr lang="en-US" altLang="zh-CN" sz="2000" b="1" dirty="0">
              <a:latin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Char char="•"/>
            </a:pPr>
            <a:r>
              <a:rPr lang="zh-CN" altLang="en-US" sz="2400" b="1" dirty="0">
                <a:latin typeface="宋体" panose="02000500000000000000" pitchFamily="2" charset="-122"/>
              </a:rPr>
              <a:t>直接转移与间接转移</a:t>
            </a:r>
            <a:endParaRPr lang="zh-CN" altLang="en-US" sz="24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ct val="0"/>
              </a:spcBef>
              <a:buChar char="•"/>
            </a:pPr>
            <a:r>
              <a:rPr lang="zh-CN" altLang="en-US" sz="2000" b="1" dirty="0">
                <a:latin typeface="宋体" panose="02000500000000000000" pitchFamily="2" charset="-122"/>
              </a:rPr>
              <a:t>直接转移：转移目标根据指令内容直接得出</a:t>
            </a:r>
            <a:endParaRPr lang="zh-CN" altLang="en-US" sz="20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ct val="0"/>
              </a:spcBef>
              <a:buChar char="•"/>
            </a:pPr>
            <a:r>
              <a:rPr lang="zh-CN" altLang="en-US" sz="2000" b="1" dirty="0">
                <a:latin typeface="宋体" panose="02000500000000000000" pitchFamily="2" charset="-122"/>
              </a:rPr>
              <a:t>间接转移：转移目标在寄存器中</a:t>
            </a:r>
            <a:endParaRPr lang="zh-CN" altLang="en-US" sz="2000" b="1" dirty="0">
              <a:latin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Char char="•"/>
            </a:pPr>
            <a:r>
              <a:rPr lang="zh-CN" altLang="en-US" sz="2400" b="1" dirty="0">
                <a:latin typeface="宋体" panose="02000500000000000000" pitchFamily="2" charset="-122"/>
              </a:rPr>
              <a:t>相对转移与绝对转移</a:t>
            </a:r>
            <a:endParaRPr lang="zh-CN" altLang="en-US" sz="24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ct val="0"/>
              </a:spcBef>
              <a:buChar char="•"/>
            </a:pPr>
            <a:r>
              <a:rPr lang="zh-CN" altLang="en-US" sz="2000" b="1" dirty="0">
                <a:latin typeface="宋体" panose="02000500000000000000" pitchFamily="2" charset="-122"/>
              </a:rPr>
              <a:t>相对转移：转移目标为当前</a:t>
            </a:r>
            <a:r>
              <a:rPr lang="en-US" altLang="zh-CN" sz="2000" b="1" dirty="0">
                <a:latin typeface="宋体" panose="02000500000000000000" pitchFamily="2" charset="-122"/>
              </a:rPr>
              <a:t>PC</a:t>
            </a:r>
            <a:r>
              <a:rPr lang="zh-CN" altLang="en-US" sz="2000" b="1" dirty="0">
                <a:latin typeface="宋体" panose="02000500000000000000" pitchFamily="2" charset="-122"/>
              </a:rPr>
              <a:t>值加上偏移量</a:t>
            </a:r>
            <a:endParaRPr lang="zh-CN" altLang="en-US" sz="20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ct val="0"/>
              </a:spcBef>
              <a:buChar char="•"/>
            </a:pPr>
            <a:r>
              <a:rPr lang="zh-CN" altLang="en-US" sz="2000" b="1" dirty="0">
                <a:latin typeface="宋体" panose="02000500000000000000" pitchFamily="2" charset="-122"/>
              </a:rPr>
              <a:t>绝对转移：转移目标由指令或寄存器内容直接给出</a:t>
            </a:r>
            <a:endParaRPr lang="zh-CN" altLang="en-US" sz="2000" b="1" dirty="0">
              <a:latin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Char char="•"/>
            </a:pPr>
            <a:r>
              <a:rPr lang="zh-CN" altLang="en-US" sz="2400" b="1" dirty="0">
                <a:latin typeface="宋体" panose="02000500000000000000" pitchFamily="2" charset="-122"/>
              </a:rPr>
              <a:t>理论上有</a:t>
            </a:r>
            <a:r>
              <a:rPr lang="en-US" altLang="zh-CN" sz="2400" b="1" dirty="0">
                <a:latin typeface="宋体" panose="02000500000000000000" pitchFamily="2" charset="-122"/>
              </a:rPr>
              <a:t>8</a:t>
            </a:r>
            <a:r>
              <a:rPr lang="zh-CN" altLang="en-US" sz="2400" b="1" dirty="0">
                <a:latin typeface="宋体" panose="02000500000000000000" pitchFamily="2" charset="-122"/>
              </a:rPr>
              <a:t>种组合：实际上不实现所有组合</a:t>
            </a:r>
            <a:endParaRPr lang="zh-CN" altLang="en-US" sz="2000" b="1" dirty="0">
              <a:latin typeface="宋体" panose="02000500000000000000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5363" name="Rectangle 2"/>
          <p:cNvSpPr>
            <a:spLocks noGrp="1"/>
          </p:cNvSpPr>
          <p:nvPr>
            <p:ph type="title"/>
          </p:nvPr>
        </p:nvSpPr>
        <p:spPr>
          <a:xfrm>
            <a:off x="896938" y="188913"/>
            <a:ext cx="10361612" cy="846137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例：</a:t>
            </a:r>
            <a:r>
              <a:rPr lang="en-US" altLang="zh-CN" sz="3600" dirty="0"/>
              <a:t>MIPS</a:t>
            </a:r>
            <a:r>
              <a:rPr lang="zh-CN" altLang="zh-CN" sz="3600" dirty="0"/>
              <a:t>指令系统的转移指令</a:t>
            </a:r>
            <a:r>
              <a:rPr lang="zh-CN" altLang="en-US" sz="3600" dirty="0"/>
              <a:t> </a:t>
            </a:r>
            <a:endParaRPr lang="zh-CN" altLang="en-US" sz="3600" dirty="0"/>
          </a:p>
        </p:txBody>
      </p:sp>
      <p:sp>
        <p:nvSpPr>
          <p:cNvPr id="15364" name="Rectangle 3"/>
          <p:cNvSpPr>
            <a:spLocks noGrp="1"/>
          </p:cNvSpPr>
          <p:nvPr>
            <p:ph idx="1"/>
          </p:nvPr>
        </p:nvSpPr>
        <p:spPr>
          <a:xfrm>
            <a:off x="914400" y="1230313"/>
            <a:ext cx="10890250" cy="545306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ct val="0"/>
              </a:spcBef>
            </a:pPr>
            <a:r>
              <a:rPr kumimoji="1" lang="zh-CN" altLang="en-US" sz="20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条件直接相对转移</a:t>
            </a:r>
            <a:endParaRPr kumimoji="1" lang="zh-CN" altLang="en-US" sz="2000" dirty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lvl="1" eaLnBrk="1" hangingPunct="1">
              <a:spcBef>
                <a:spcPct val="0"/>
              </a:spcBef>
            </a:pPr>
            <a:r>
              <a:rPr kumimoji="1" lang="zh-CN" altLang="en-US" sz="18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如</a:t>
            </a:r>
            <a:r>
              <a:rPr kumimoji="1" lang="en-US" altLang="zh-CN" sz="18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BEQ</a:t>
            </a:r>
            <a:r>
              <a:rPr kumimoji="1" lang="zh-CN" altLang="en-US" sz="18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，</a:t>
            </a:r>
            <a:r>
              <a:rPr kumimoji="1" lang="en-US" altLang="zh-CN" sz="18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BGEZ</a:t>
            </a:r>
            <a:endParaRPr kumimoji="1" lang="en-US" altLang="zh-CN" sz="1800" dirty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eaLnBrk="1" hangingPunct="1">
              <a:spcBef>
                <a:spcPct val="0"/>
              </a:spcBef>
            </a:pPr>
            <a:r>
              <a:rPr kumimoji="1" lang="zh-CN" altLang="en-US" sz="20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无条件直接绝对转移</a:t>
            </a:r>
            <a:endParaRPr kumimoji="1" lang="zh-CN" altLang="en-US" sz="2000" dirty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lvl="1" eaLnBrk="1" hangingPunct="1">
              <a:spcBef>
                <a:spcPct val="0"/>
              </a:spcBef>
            </a:pPr>
            <a:r>
              <a:rPr kumimoji="1" lang="zh-CN" altLang="en-US" sz="18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转移目标为</a:t>
            </a:r>
            <a:r>
              <a:rPr kumimoji="1" lang="en-US" altLang="zh-CN" sz="18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{PC[31:28],IR[25:0],2’b0}</a:t>
            </a:r>
            <a:endParaRPr kumimoji="1" lang="en-US" altLang="zh-CN" sz="1800" dirty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lvl="1" eaLnBrk="1" hangingPunct="1">
              <a:spcBef>
                <a:spcPct val="0"/>
              </a:spcBef>
            </a:pPr>
            <a:r>
              <a:rPr kumimoji="1" lang="en-US" altLang="zh-CN" sz="18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J</a:t>
            </a:r>
            <a:r>
              <a:rPr kumimoji="1" lang="zh-CN" altLang="en-US" sz="18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与</a:t>
            </a:r>
            <a:r>
              <a:rPr kumimoji="1" lang="en-US" altLang="zh-CN" sz="18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JAL</a:t>
            </a:r>
            <a:r>
              <a:rPr kumimoji="1" lang="zh-CN" altLang="en-US" sz="18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，由于不是相对</a:t>
            </a:r>
            <a:r>
              <a:rPr kumimoji="1" lang="en-US" altLang="zh-CN" sz="18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PC</a:t>
            </a:r>
            <a:r>
              <a:rPr kumimoji="1" lang="zh-CN" altLang="en-US" sz="18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转移，这两条指令几乎没用，</a:t>
            </a:r>
            <a:r>
              <a:rPr kumimoji="1" lang="en-US" altLang="zh-CN" sz="18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LA</a:t>
            </a:r>
            <a:r>
              <a:rPr kumimoji="1" lang="zh-CN" altLang="en-US" sz="18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架构中改为</a:t>
            </a:r>
            <a:r>
              <a:rPr kumimoji="1" lang="zh-CN" altLang="en-US" sz="1800" dirty="0">
                <a:solidFill>
                  <a:srgbClr val="FF0000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无条件直接相对转移</a:t>
            </a:r>
            <a:endParaRPr kumimoji="1" lang="en-US" altLang="zh-CN" sz="1800" dirty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eaLnBrk="1" hangingPunct="1">
              <a:spcBef>
                <a:spcPct val="0"/>
              </a:spcBef>
            </a:pPr>
            <a:r>
              <a:rPr kumimoji="1" lang="zh-CN" altLang="en-US" sz="20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无条件间接绝对转移</a:t>
            </a:r>
            <a:endParaRPr kumimoji="1" lang="zh-CN" altLang="en-US" sz="2000" dirty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lvl="1" eaLnBrk="1" hangingPunct="1">
              <a:spcBef>
                <a:spcPct val="0"/>
              </a:spcBef>
            </a:pPr>
            <a:r>
              <a:rPr kumimoji="1" lang="zh-CN" altLang="en-US" sz="18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转移目标为寄存器内容</a:t>
            </a:r>
            <a:endParaRPr kumimoji="1" lang="zh-CN" altLang="en-US" sz="1800" dirty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lvl="1" eaLnBrk="1" hangingPunct="1">
              <a:spcBef>
                <a:spcPct val="0"/>
              </a:spcBef>
            </a:pPr>
            <a:r>
              <a:rPr kumimoji="1" lang="en-US" altLang="zh-CN" sz="18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JR</a:t>
            </a:r>
            <a:r>
              <a:rPr kumimoji="1" lang="zh-CN" altLang="en-US" sz="18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与</a:t>
            </a:r>
            <a:r>
              <a:rPr kumimoji="1" lang="en-US" altLang="zh-CN" sz="18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JALR</a:t>
            </a:r>
            <a:endParaRPr kumimoji="1" lang="en-US" altLang="zh-CN" sz="1800" dirty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eaLnBrk="1" hangingPunct="1">
              <a:spcBef>
                <a:spcPct val="0"/>
              </a:spcBef>
            </a:pPr>
            <a:r>
              <a:rPr kumimoji="1" lang="en-US" altLang="zh-CN" sz="20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MIPS</a:t>
            </a:r>
            <a:r>
              <a:rPr kumimoji="1" lang="zh-CN" altLang="en-US" sz="20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转移指令特点</a:t>
            </a:r>
            <a:endParaRPr kumimoji="1" lang="zh-CN" altLang="en-US" sz="2000" dirty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lvl="1" eaLnBrk="1" hangingPunct="1">
              <a:spcBef>
                <a:spcPct val="0"/>
              </a:spcBef>
            </a:pPr>
            <a:r>
              <a:rPr kumimoji="1" lang="en-US" altLang="zh-CN" sz="18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likely</a:t>
            </a:r>
            <a:r>
              <a:rPr kumimoji="1" lang="zh-CN" altLang="en-US" sz="18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与非</a:t>
            </a:r>
            <a:r>
              <a:rPr kumimoji="1" lang="en-US" altLang="zh-CN" sz="18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likely</a:t>
            </a:r>
            <a:r>
              <a:rPr kumimoji="1" lang="zh-CN" altLang="en-US" sz="18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，如</a:t>
            </a:r>
            <a:r>
              <a:rPr kumimoji="1" lang="en-US" altLang="zh-CN" sz="18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BEQL</a:t>
            </a:r>
            <a:r>
              <a:rPr kumimoji="1" lang="zh-CN" altLang="en-US" sz="18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，</a:t>
            </a:r>
            <a:r>
              <a:rPr kumimoji="1" lang="en-US" altLang="zh-CN" sz="18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BGEZL</a:t>
            </a:r>
            <a:endParaRPr kumimoji="1" lang="en-US" altLang="zh-CN" sz="1800" dirty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lvl="1" eaLnBrk="1" hangingPunct="1">
              <a:spcBef>
                <a:spcPct val="0"/>
              </a:spcBef>
            </a:pPr>
            <a:r>
              <a:rPr kumimoji="1" lang="zh-CN" altLang="en-US" sz="18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没有</a:t>
            </a:r>
            <a:r>
              <a:rPr kumimoji="1" lang="en-US" altLang="zh-CN" sz="18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Call/Return</a:t>
            </a:r>
            <a:r>
              <a:rPr kumimoji="1" lang="zh-CN" altLang="en-US" sz="18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，通过</a:t>
            </a:r>
            <a:r>
              <a:rPr kumimoji="1" lang="en-US" altLang="zh-CN" sz="18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link</a:t>
            </a:r>
            <a:r>
              <a:rPr kumimoji="1" lang="zh-CN" altLang="en-US" sz="18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类转移指令实现</a:t>
            </a:r>
            <a:r>
              <a:rPr kumimoji="1" lang="en-US" altLang="zh-CN" sz="18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call</a:t>
            </a:r>
            <a:r>
              <a:rPr kumimoji="1" lang="zh-CN" altLang="en-US" sz="18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功能，如</a:t>
            </a:r>
            <a:r>
              <a:rPr kumimoji="1" lang="en-US" altLang="zh-CN" sz="18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JAL</a:t>
            </a:r>
            <a:endParaRPr kumimoji="1" lang="en-US" altLang="zh-CN" sz="1800" dirty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6387" name="Rectangle 2"/>
          <p:cNvSpPr>
            <a:spLocks noGrp="1"/>
          </p:cNvSpPr>
          <p:nvPr>
            <p:ph type="title"/>
          </p:nvPr>
        </p:nvSpPr>
        <p:spPr>
          <a:xfrm>
            <a:off x="817563" y="2909888"/>
            <a:ext cx="10361612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4000" dirty="0"/>
              <a:t>程序的转移行为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052" name="Rectangle 2"/>
          <p:cNvSpPr/>
          <p:nvPr/>
        </p:nvSpPr>
        <p:spPr>
          <a:xfrm>
            <a:off x="642938" y="304800"/>
            <a:ext cx="10937875" cy="685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ctr">
              <a:spcBef>
                <a:spcPct val="0"/>
              </a:spcBef>
            </a:pPr>
            <a:r>
              <a:rPr lang="en-US" altLang="zh-CN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SPEC CPU2000</a:t>
            </a:r>
            <a:r>
              <a:rPr lang="zh-CN" altLang="en-US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转移指令统计（</a:t>
            </a:r>
            <a:r>
              <a:rPr lang="en-US" altLang="zh-CN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1</a:t>
            </a:r>
            <a:r>
              <a:rPr lang="zh-CN" altLang="en-US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）</a:t>
            </a:r>
            <a:endParaRPr lang="zh-CN" altLang="en-US" sz="36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  <p:graphicFrame>
        <p:nvGraphicFramePr>
          <p:cNvPr id="2050" name="Object 3"/>
          <p:cNvGraphicFramePr/>
          <p:nvPr/>
        </p:nvGraphicFramePr>
        <p:xfrm>
          <a:off x="813435" y="1456690"/>
          <a:ext cx="11085830" cy="415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1" imgW="9620250" imgH="3295650" progId="Word.Document.8">
                  <p:embed/>
                </p:oleObj>
              </mc:Choice>
              <mc:Fallback>
                <p:oleObj name="" r:id="rId1" imgW="9620250" imgH="3295650" progId="Word.Document.8">
                  <p:embed/>
                  <p:pic>
                    <p:nvPicPr>
                      <p:cNvPr id="0" name="图片 2048" descr="image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13435" y="1456690"/>
                        <a:ext cx="11085830" cy="4159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3" name="Text Box 4"/>
          <p:cNvSpPr txBox="1"/>
          <p:nvPr/>
        </p:nvSpPr>
        <p:spPr>
          <a:xfrm>
            <a:off x="1454150" y="5988050"/>
            <a:ext cx="97520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2400" dirty="0">
                <a:latin typeface="Times New Roman" pitchFamily="18" charset="0"/>
                <a:ea typeface="黑体" panose="02000500000000000000" pitchFamily="49" charset="-122"/>
              </a:rPr>
              <a:t>龙芯</a:t>
            </a:r>
            <a:r>
              <a:rPr lang="en-US" altLang="zh-CN" sz="2400" dirty="0">
                <a:latin typeface="Times New Roman" pitchFamily="18" charset="0"/>
                <a:ea typeface="黑体" panose="02000500000000000000" pitchFamily="49" charset="-122"/>
              </a:rPr>
              <a:t>2</a:t>
            </a:r>
            <a:r>
              <a:rPr lang="zh-CN" altLang="en-US" sz="2400" dirty="0">
                <a:latin typeface="Times New Roman" pitchFamily="18" charset="0"/>
                <a:ea typeface="黑体" panose="02000500000000000000" pitchFamily="49" charset="-122"/>
              </a:rPr>
              <a:t>号统计结果</a:t>
            </a:r>
            <a:endParaRPr lang="zh-CN" altLang="en-US" sz="2400" dirty="0">
              <a:latin typeface="Times New Roman" pitchFamily="18" charset="0"/>
              <a:ea typeface="黑体" panose="02000500000000000000" pitchFamily="49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076" name="Rectangle 2"/>
          <p:cNvSpPr/>
          <p:nvPr/>
        </p:nvSpPr>
        <p:spPr>
          <a:xfrm>
            <a:off x="642938" y="304800"/>
            <a:ext cx="10937875" cy="685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ctr">
              <a:spcBef>
                <a:spcPct val="0"/>
              </a:spcBef>
            </a:pPr>
            <a:r>
              <a:rPr lang="en-US" altLang="zh-CN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SPEC CPU2000</a:t>
            </a:r>
            <a:r>
              <a:rPr lang="zh-CN" altLang="en-US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转移指令统计（</a:t>
            </a:r>
            <a:r>
              <a:rPr lang="en-US" altLang="zh-CN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2</a:t>
            </a:r>
            <a:r>
              <a:rPr lang="zh-CN" altLang="en-US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）</a:t>
            </a:r>
            <a:endParaRPr lang="zh-CN" altLang="en-US" sz="36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  <p:graphicFrame>
        <p:nvGraphicFramePr>
          <p:cNvPr id="3074" name="Object 3"/>
          <p:cNvGraphicFramePr/>
          <p:nvPr/>
        </p:nvGraphicFramePr>
        <p:xfrm>
          <a:off x="777875" y="1323975"/>
          <a:ext cx="10563225" cy="470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" r:id="rId1" imgW="8046085" imgH="3751580" progId="Word.Document.8">
                  <p:embed/>
                </p:oleObj>
              </mc:Choice>
              <mc:Fallback>
                <p:oleObj name="" r:id="rId1" imgW="8046085" imgH="3751580" progId="Word.Document.8">
                  <p:embed/>
                  <p:pic>
                    <p:nvPicPr>
                      <p:cNvPr id="0" name="图片 3072" descr="image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77875" y="1323975"/>
                        <a:ext cx="10563225" cy="4708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" name="Text Box 4"/>
          <p:cNvSpPr txBox="1"/>
          <p:nvPr/>
        </p:nvSpPr>
        <p:spPr>
          <a:xfrm>
            <a:off x="1454150" y="5988050"/>
            <a:ext cx="97520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2400" dirty="0">
                <a:latin typeface="Times New Roman" pitchFamily="18" charset="0"/>
                <a:ea typeface="黑体" panose="02000500000000000000" pitchFamily="49" charset="-122"/>
              </a:rPr>
              <a:t>龙芯</a:t>
            </a:r>
            <a:r>
              <a:rPr lang="en-US" altLang="zh-CN" sz="2400" dirty="0">
                <a:latin typeface="Times New Roman" pitchFamily="18" charset="0"/>
                <a:ea typeface="黑体" panose="02000500000000000000" pitchFamily="49" charset="-122"/>
              </a:rPr>
              <a:t>2</a:t>
            </a:r>
            <a:r>
              <a:rPr lang="zh-CN" altLang="en-US" sz="2400" dirty="0">
                <a:latin typeface="Times New Roman" pitchFamily="18" charset="0"/>
                <a:ea typeface="黑体" panose="02000500000000000000" pitchFamily="49" charset="-122"/>
              </a:rPr>
              <a:t>号统计结果</a:t>
            </a:r>
            <a:endParaRPr lang="zh-CN" altLang="en-US" sz="2400" dirty="0">
              <a:latin typeface="Times New Roman" pitchFamily="18" charset="0"/>
              <a:ea typeface="黑体" panose="02000500000000000000" pitchFamily="49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7411" name="Picture 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304800" y="1263650"/>
            <a:ext cx="11377613" cy="35036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2" name="Text Box 3"/>
          <p:cNvSpPr txBox="1"/>
          <p:nvPr/>
        </p:nvSpPr>
        <p:spPr>
          <a:xfrm>
            <a:off x="1320800" y="4953000"/>
            <a:ext cx="975201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Times New Roman" pitchFamily="18" charset="0"/>
                <a:ea typeface="黑体" panose="02000500000000000000" pitchFamily="49" charset="-122"/>
              </a:rPr>
              <a:t>发射宽度增加，分支间的动态距离就会越小，分支预测的延迟对性能的影响就越大，当要求更高的发射宽度时，需要每个周期做不止一个预测</a:t>
            </a:r>
            <a:endParaRPr lang="zh-CN" altLang="en-US" sz="2000" dirty="0">
              <a:solidFill>
                <a:srgbClr val="FF0000"/>
              </a:solidFill>
              <a:latin typeface="Times New Roman" pitchFamily="18" charset="0"/>
              <a:ea typeface="黑体" panose="02000500000000000000" pitchFamily="49" charset="-122"/>
            </a:endParaRPr>
          </a:p>
        </p:txBody>
      </p:sp>
      <p:sp>
        <p:nvSpPr>
          <p:cNvPr id="17413" name="Rectangle 4"/>
          <p:cNvSpPr/>
          <p:nvPr/>
        </p:nvSpPr>
        <p:spPr>
          <a:xfrm>
            <a:off x="642938" y="304800"/>
            <a:ext cx="10937875" cy="685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ctr">
              <a:spcBef>
                <a:spcPct val="0"/>
              </a:spcBef>
            </a:pPr>
            <a:r>
              <a:rPr lang="zh-CN" altLang="en-US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转移指令间距离统计（</a:t>
            </a:r>
            <a:r>
              <a:rPr lang="en-US" altLang="zh-CN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1</a:t>
            </a:r>
            <a:r>
              <a:rPr lang="zh-CN" altLang="en-US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）</a:t>
            </a:r>
            <a:endParaRPr lang="zh-CN" altLang="en-US" sz="36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8435" name="Rectangle 2"/>
          <p:cNvSpPr>
            <a:spLocks noChangeArrowheads="1"/>
          </p:cNvSpPr>
          <p:nvPr/>
        </p:nvSpPr>
        <p:spPr bwMode="auto">
          <a:xfrm>
            <a:off x="609600" y="1371600"/>
            <a:ext cx="1090295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Inter-branch distance(cycles)   </a:t>
            </a:r>
            <a:endParaRPr kumimoji="1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模拟环境：</a:t>
            </a:r>
            <a:r>
              <a:rPr kumimoji="1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4</a:t>
            </a: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发射乱序机器 </a:t>
            </a:r>
            <a:r>
              <a:rPr kumimoji="1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@SPECint2000</a:t>
            </a:r>
            <a:endParaRPr kumimoji="1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pic>
        <p:nvPicPr>
          <p:cNvPr id="18436" name="Picture 3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2586038" y="2743200"/>
            <a:ext cx="6834187" cy="3533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37" name="Rectangle 4"/>
          <p:cNvSpPr/>
          <p:nvPr/>
        </p:nvSpPr>
        <p:spPr>
          <a:xfrm>
            <a:off x="642938" y="304800"/>
            <a:ext cx="10937875" cy="685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ctr">
              <a:spcBef>
                <a:spcPct val="0"/>
              </a:spcBef>
            </a:pPr>
            <a:r>
              <a:rPr lang="zh-CN" altLang="en-US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转移指令间距离统计（</a:t>
            </a:r>
            <a:r>
              <a:rPr lang="en-US" altLang="zh-CN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2</a:t>
            </a:r>
            <a:r>
              <a:rPr lang="zh-CN" altLang="en-US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）</a:t>
            </a:r>
            <a:endParaRPr lang="zh-CN" altLang="en-US" sz="36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582613" y="1085850"/>
            <a:ext cx="10733088" cy="21605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龙芯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号上部分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SPEC CPU2000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程序中转移指令分布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1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％是间接分支指令，采用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BTB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预测</a:t>
            </a:r>
            <a:endParaRPr kumimoji="1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5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％是返回指令，返回地址栈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RAS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预测 </a:t>
            </a:r>
            <a:endParaRPr kumimoji="1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29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％是无条件立即跳转指令，跳转地址在指令中</a:t>
            </a:r>
            <a:endParaRPr kumimoji="1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65%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是条件分支，大量的工作是进行条件分支预测</a:t>
            </a:r>
            <a:endParaRPr kumimoji="1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9460" name="Rectangle 4"/>
          <p:cNvSpPr/>
          <p:nvPr/>
        </p:nvSpPr>
        <p:spPr>
          <a:xfrm>
            <a:off x="0" y="0"/>
            <a:ext cx="12190413" cy="78422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ctr">
              <a:spcBef>
                <a:spcPct val="0"/>
              </a:spcBef>
            </a:pPr>
            <a:r>
              <a:rPr lang="zh-CN" altLang="en-US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不同类型转移指令分布</a:t>
            </a:r>
            <a:endParaRPr lang="zh-CN" altLang="en-US" sz="36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  <p:pic>
        <p:nvPicPr>
          <p:cNvPr id="19461" name="Picture 5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639888" y="3556000"/>
            <a:ext cx="8143875" cy="30972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0483" name="Rectangle 2"/>
          <p:cNvSpPr>
            <a:spLocks noGrp="1"/>
          </p:cNvSpPr>
          <p:nvPr>
            <p:ph type="title"/>
          </p:nvPr>
        </p:nvSpPr>
        <p:spPr>
          <a:xfrm>
            <a:off x="914400" y="177800"/>
            <a:ext cx="10361613" cy="671513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转移指令的执行频率分布</a:t>
            </a:r>
            <a:endParaRPr lang="zh-CN" altLang="en-US" sz="3600" dirty="0"/>
          </a:p>
        </p:txBody>
      </p:sp>
      <p:pic>
        <p:nvPicPr>
          <p:cNvPr id="20484" name="Picture 5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3500" y="3921125"/>
            <a:ext cx="5927725" cy="27225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8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91238" y="3932238"/>
            <a:ext cx="5872162" cy="27066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486" name="Rectangle 6"/>
          <p:cNvSpPr/>
          <p:nvPr/>
        </p:nvSpPr>
        <p:spPr>
          <a:xfrm>
            <a:off x="0" y="1620838"/>
            <a:ext cx="184150" cy="2762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20487" name="Rectangle 7"/>
          <p:cNvSpPr/>
          <p:nvPr/>
        </p:nvSpPr>
        <p:spPr>
          <a:xfrm>
            <a:off x="5926138" y="3290888"/>
            <a:ext cx="338137" cy="2778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dirty="0">
                <a:latin typeface="宋体" panose="02000500000000000000" pitchFamily="2" charset="-122"/>
                <a:cs typeface="Times New Roman" pitchFamily="18" charset="0"/>
              </a:rPr>
              <a:t>  </a:t>
            </a:r>
            <a:endParaRPr lang="en-US" altLang="zh-CN" sz="2400" dirty="0">
              <a:latin typeface="Times New Roman" pitchFamily="18" charset="0"/>
            </a:endParaRPr>
          </a:p>
        </p:txBody>
      </p:sp>
      <p:sp>
        <p:nvSpPr>
          <p:cNvPr id="20488" name="Rectangle 8"/>
          <p:cNvSpPr>
            <a:spLocks noGrp="1" noChangeArrowheads="1"/>
          </p:cNvSpPr>
          <p:nvPr>
            <p:ph idx="1"/>
          </p:nvPr>
        </p:nvSpPr>
        <p:spPr>
          <a:xfrm>
            <a:off x="558800" y="846138"/>
            <a:ext cx="11252200" cy="29892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龙芯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号上部分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SPEC CPU2000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程序转移指令执行频率分布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左图表示执行一定次数的转移指令在所有转移指令中的静态分布，右图表示执行一定次数的转移指令在所有转移指令中的动态分布</a:t>
            </a:r>
            <a:endParaRPr kumimoji="1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所有转移指令的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44%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仅仅执行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99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次或者更少，这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44%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的转移指令占所有转移指令总执行次数的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0.03%</a:t>
            </a:r>
            <a:endParaRPr kumimoji="1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只有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4.2%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的转移指令执行了超过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100000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次或者更多，占所有转移指令总执行次数的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87%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（或者说，只有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14.7%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的转移指令超过了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10000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次，占所有转移指令总执行次数的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97%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）。 </a:t>
            </a:r>
            <a:endParaRPr kumimoji="1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1507" name="Rectangle 2"/>
          <p:cNvSpPr>
            <a:spLocks noGrp="1"/>
          </p:cNvSpPr>
          <p:nvPr>
            <p:ph type="title"/>
          </p:nvPr>
        </p:nvSpPr>
        <p:spPr>
          <a:xfrm>
            <a:off x="1065213" y="0"/>
            <a:ext cx="10361612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转移成功率分布</a:t>
            </a:r>
            <a:endParaRPr lang="zh-CN" altLang="en-US" sz="3600" dirty="0"/>
          </a:p>
        </p:txBody>
      </p:sp>
      <p:sp>
        <p:nvSpPr>
          <p:cNvPr id="21508" name="Rectangle 3"/>
          <p:cNvSpPr>
            <a:spLocks noGrp="1" noChangeArrowheads="1"/>
          </p:cNvSpPr>
          <p:nvPr>
            <p:ph idx="1"/>
          </p:nvPr>
        </p:nvSpPr>
        <p:spPr>
          <a:xfrm>
            <a:off x="354013" y="1139825"/>
            <a:ext cx="11498263" cy="23256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龙芯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号上部分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SPEC CPU2000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程序转移指令的跳转成功率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45%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的指令总是跳转，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15%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的指令总是不跳转</a:t>
            </a:r>
            <a:endParaRPr kumimoji="1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20%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的指令跳转的几率小于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5%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或者大于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95%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，也就是说，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80%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的转移指令具有强烈的一个跳转方向，具有挑战性的工作是预测其余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20%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转移指令的跳转方向。 </a:t>
            </a:r>
            <a:endParaRPr kumimoji="1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pic>
        <p:nvPicPr>
          <p:cNvPr id="21509" name="Picture 4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744663" y="3533775"/>
            <a:ext cx="9072562" cy="33242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2531" name="Rectangle 2"/>
          <p:cNvSpPr/>
          <p:nvPr/>
        </p:nvSpPr>
        <p:spPr>
          <a:xfrm>
            <a:off x="642938" y="304800"/>
            <a:ext cx="10937875" cy="78422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ctr">
              <a:spcBef>
                <a:spcPct val="0"/>
              </a:spcBef>
            </a:pPr>
            <a:r>
              <a:rPr lang="zh-CN" altLang="en-US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分支的可预测性</a:t>
            </a:r>
            <a:endParaRPr lang="zh-CN" altLang="en-US" sz="28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  <p:sp>
        <p:nvSpPr>
          <p:cNvPr id="22532" name="Rectangle 3"/>
          <p:cNvSpPr/>
          <p:nvPr/>
        </p:nvSpPr>
        <p:spPr>
          <a:xfrm>
            <a:off x="331788" y="1736725"/>
            <a:ext cx="11395075" cy="40560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buChar char="•"/>
            </a:pPr>
            <a:r>
              <a:rPr lang="zh-CN" altLang="en-US" sz="2400" b="1" dirty="0">
                <a:latin typeface="宋体" panose="02000500000000000000" pitchFamily="2" charset="-122"/>
              </a:rPr>
              <a:t>利用单个转移指令的重复性</a:t>
            </a:r>
            <a:endParaRPr lang="zh-CN" altLang="en-US" sz="24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ct val="0"/>
              </a:spcBef>
              <a:buChar char="•"/>
            </a:pPr>
            <a:r>
              <a:rPr lang="zh-CN" altLang="en-US" sz="2000" b="1" dirty="0">
                <a:latin typeface="宋体" panose="02000500000000000000" pitchFamily="2" charset="-122"/>
              </a:rPr>
              <a:t>基于模式的预测方法</a:t>
            </a:r>
            <a:endParaRPr lang="zh-CN" altLang="en-US" sz="2000" b="1" dirty="0">
              <a:latin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Char char="•"/>
            </a:pPr>
            <a:r>
              <a:rPr lang="zh-CN" altLang="en-US" sz="2400" b="1" dirty="0">
                <a:latin typeface="宋体" panose="02000500000000000000" pitchFamily="2" charset="-122"/>
              </a:rPr>
              <a:t>利用不同转移指令之间的关系</a:t>
            </a:r>
            <a:endParaRPr lang="zh-CN" altLang="en-US" sz="24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ct val="0"/>
              </a:spcBef>
              <a:buChar char="•"/>
            </a:pPr>
            <a:r>
              <a:rPr lang="zh-CN" altLang="en-US" sz="2000" b="1" dirty="0">
                <a:latin typeface="宋体" panose="02000500000000000000" pitchFamily="2" charset="-122"/>
              </a:rPr>
              <a:t>基于相关的预测方法</a:t>
            </a:r>
            <a:endParaRPr lang="zh-CN" altLang="en-US" sz="20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ct val="0"/>
              </a:spcBef>
              <a:buChar char="•"/>
            </a:pPr>
            <a:r>
              <a:rPr lang="zh-CN" altLang="en-US" sz="2000" b="1" dirty="0">
                <a:latin typeface="宋体" panose="02000500000000000000" pitchFamily="2" charset="-122"/>
              </a:rPr>
              <a:t>方向相关、路径相关</a:t>
            </a:r>
            <a:endParaRPr lang="zh-CN" altLang="en-US" sz="2000" b="1" dirty="0">
              <a:latin typeface="宋体" panose="02000500000000000000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3555" name="Rectangle 2"/>
          <p:cNvSpPr>
            <a:spLocks noGrp="1"/>
          </p:cNvSpPr>
          <p:nvPr>
            <p:ph type="title"/>
          </p:nvPr>
        </p:nvSpPr>
        <p:spPr>
          <a:xfrm>
            <a:off x="862013" y="0"/>
            <a:ext cx="10361612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>
                <a:latin typeface="宋体" panose="02000500000000000000" pitchFamily="2" charset="-122"/>
              </a:rPr>
              <a:t>利用单个转移指令重复性</a:t>
            </a:r>
            <a:endParaRPr lang="zh-CN" altLang="en-US" sz="3600" dirty="0">
              <a:latin typeface="宋体" panose="02000500000000000000" pitchFamily="2" charset="-122"/>
            </a:endParaRPr>
          </a:p>
        </p:txBody>
      </p:sp>
      <p:sp>
        <p:nvSpPr>
          <p:cNvPr id="23556" name="Rectangle 3"/>
          <p:cNvSpPr>
            <a:spLocks noGrp="1"/>
          </p:cNvSpPr>
          <p:nvPr>
            <p:ph idx="1"/>
          </p:nvPr>
        </p:nvSpPr>
        <p:spPr>
          <a:xfrm>
            <a:off x="914400" y="1682750"/>
            <a:ext cx="10361613" cy="441325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ct val="0"/>
              </a:spcBef>
            </a:pPr>
            <a:r>
              <a:rPr kumimoji="1" lang="zh-CN" altLang="en-US" dirty="0">
                <a:latin typeface="宋体" panose="02000500000000000000" pitchFamily="2" charset="-122"/>
                <a:ea typeface="+mn-ea"/>
                <a:cs typeface="+mn-cs"/>
              </a:rPr>
              <a:t>循环型分支</a:t>
            </a:r>
            <a:endParaRPr kumimoji="1" lang="zh-CN" altLang="en-US" dirty="0">
              <a:latin typeface="宋体" panose="02000500000000000000" pitchFamily="2" charset="-122"/>
              <a:ea typeface="+mn-ea"/>
              <a:cs typeface="+mn-cs"/>
            </a:endParaRPr>
          </a:p>
          <a:p>
            <a:pPr lvl="1" eaLnBrk="1" hangingPunct="1">
              <a:spcBef>
                <a:spcPct val="0"/>
              </a:spcBef>
            </a:pPr>
            <a:r>
              <a:rPr kumimoji="1" lang="en-US" altLang="zh-CN" dirty="0">
                <a:latin typeface="宋体" panose="02000500000000000000" pitchFamily="2" charset="-122"/>
                <a:ea typeface="+mn-ea"/>
              </a:rPr>
              <a:t>for</a:t>
            </a:r>
            <a:r>
              <a:rPr kumimoji="1" lang="zh-CN" altLang="en-US" dirty="0">
                <a:latin typeface="宋体" panose="02000500000000000000" pitchFamily="2" charset="-122"/>
                <a:ea typeface="+mn-ea"/>
              </a:rPr>
              <a:t>型循环：</a:t>
            </a:r>
            <a:r>
              <a:rPr kumimoji="1" lang="en-US" altLang="zh-CN" dirty="0">
                <a:latin typeface="宋体" panose="02000500000000000000" pitchFamily="2" charset="-122"/>
                <a:ea typeface="+mn-ea"/>
              </a:rPr>
              <a:t>TT</a:t>
            </a:r>
            <a:r>
              <a:rPr kumimoji="1" lang="en-US" altLang="zh-CN" dirty="0">
                <a:latin typeface="+mn-lt"/>
                <a:ea typeface="+mn-ea"/>
              </a:rPr>
              <a:t>…</a:t>
            </a:r>
            <a:r>
              <a:rPr kumimoji="1" lang="en-US" altLang="zh-CN" dirty="0">
                <a:latin typeface="宋体" panose="02000500000000000000" pitchFamily="2" charset="-122"/>
                <a:ea typeface="+mn-ea"/>
              </a:rPr>
              <a:t>TN</a:t>
            </a:r>
            <a:r>
              <a:rPr kumimoji="1" lang="zh-CN" altLang="en-US" dirty="0">
                <a:latin typeface="宋体" panose="02000500000000000000" pitchFamily="2" charset="-122"/>
                <a:ea typeface="+mn-ea"/>
              </a:rPr>
              <a:t>（成功</a:t>
            </a:r>
            <a:r>
              <a:rPr kumimoji="1" lang="en-US" altLang="zh-CN" dirty="0">
                <a:latin typeface="宋体" panose="02000500000000000000" pitchFamily="2" charset="-122"/>
                <a:ea typeface="+mn-ea"/>
              </a:rPr>
              <a:t>n</a:t>
            </a:r>
            <a:r>
              <a:rPr kumimoji="1" lang="zh-CN" altLang="en-US" dirty="0">
                <a:latin typeface="宋体" panose="02000500000000000000" pitchFamily="2" charset="-122"/>
                <a:ea typeface="+mn-ea"/>
              </a:rPr>
              <a:t>次后跟一次不成功 ）</a:t>
            </a:r>
            <a:endParaRPr kumimoji="1" lang="zh-CN" altLang="en-US" dirty="0">
              <a:latin typeface="宋体" panose="02000500000000000000" pitchFamily="2" charset="-122"/>
              <a:ea typeface="+mn-ea"/>
            </a:endParaRPr>
          </a:p>
          <a:p>
            <a:pPr lvl="1" eaLnBrk="1" hangingPunct="1">
              <a:spcBef>
                <a:spcPct val="0"/>
              </a:spcBef>
            </a:pPr>
            <a:r>
              <a:rPr kumimoji="1" lang="en-US" altLang="zh-CN" dirty="0">
                <a:latin typeface="宋体" panose="02000500000000000000" pitchFamily="2" charset="-122"/>
                <a:ea typeface="+mn-ea"/>
              </a:rPr>
              <a:t>while</a:t>
            </a:r>
            <a:r>
              <a:rPr kumimoji="1" lang="zh-CN" altLang="en-US" dirty="0">
                <a:latin typeface="宋体" panose="02000500000000000000" pitchFamily="2" charset="-122"/>
                <a:ea typeface="+mn-ea"/>
              </a:rPr>
              <a:t>型循环：</a:t>
            </a:r>
            <a:r>
              <a:rPr kumimoji="1" lang="en-US" altLang="zh-CN" dirty="0">
                <a:latin typeface="宋体" panose="02000500000000000000" pitchFamily="2" charset="-122"/>
                <a:ea typeface="+mn-ea"/>
              </a:rPr>
              <a:t>NN</a:t>
            </a:r>
            <a:r>
              <a:rPr kumimoji="1" lang="en-US" altLang="zh-CN" dirty="0">
                <a:latin typeface="+mn-lt"/>
                <a:ea typeface="+mn-ea"/>
              </a:rPr>
              <a:t>…</a:t>
            </a:r>
            <a:r>
              <a:rPr kumimoji="1" lang="en-US" altLang="zh-CN" dirty="0">
                <a:latin typeface="宋体" panose="02000500000000000000" pitchFamily="2" charset="-122"/>
                <a:ea typeface="+mn-ea"/>
              </a:rPr>
              <a:t>NT</a:t>
            </a:r>
            <a:r>
              <a:rPr kumimoji="1" lang="zh-CN" altLang="en-US" dirty="0">
                <a:latin typeface="宋体" panose="02000500000000000000" pitchFamily="2" charset="-122"/>
                <a:ea typeface="+mn-ea"/>
              </a:rPr>
              <a:t>（不成功</a:t>
            </a:r>
            <a:r>
              <a:rPr kumimoji="1" lang="en-US" altLang="zh-CN" dirty="0">
                <a:latin typeface="宋体" panose="02000500000000000000" pitchFamily="2" charset="-122"/>
                <a:ea typeface="+mn-ea"/>
              </a:rPr>
              <a:t>n</a:t>
            </a:r>
            <a:r>
              <a:rPr kumimoji="1" lang="zh-CN" altLang="en-US" dirty="0">
                <a:latin typeface="宋体" panose="02000500000000000000" pitchFamily="2" charset="-122"/>
                <a:ea typeface="+mn-ea"/>
              </a:rPr>
              <a:t>次后跟一次成功）</a:t>
            </a:r>
            <a:endParaRPr kumimoji="1" lang="zh-CN" altLang="en-US" dirty="0">
              <a:latin typeface="宋体" panose="02000500000000000000" pitchFamily="2" charset="-122"/>
              <a:ea typeface="+mn-ea"/>
            </a:endParaRPr>
          </a:p>
          <a:p>
            <a:pPr eaLnBrk="1" hangingPunct="1">
              <a:spcBef>
                <a:spcPct val="0"/>
              </a:spcBef>
            </a:pPr>
            <a:r>
              <a:rPr kumimoji="1" lang="zh-CN" altLang="en-US" dirty="0">
                <a:latin typeface="宋体" panose="02000500000000000000" pitchFamily="2" charset="-122"/>
                <a:ea typeface="+mn-ea"/>
                <a:cs typeface="+mn-cs"/>
              </a:rPr>
              <a:t>周期重复模式型分支</a:t>
            </a:r>
            <a:endParaRPr kumimoji="1" lang="zh-CN" altLang="en-US" dirty="0">
              <a:latin typeface="宋体" panose="02000500000000000000" pitchFamily="2" charset="-122"/>
              <a:ea typeface="+mn-ea"/>
              <a:cs typeface="+mn-cs"/>
            </a:endParaRPr>
          </a:p>
          <a:p>
            <a:pPr lvl="1" eaLnBrk="1" hangingPunct="1">
              <a:spcBef>
                <a:spcPct val="0"/>
              </a:spcBef>
            </a:pPr>
            <a:r>
              <a:rPr kumimoji="1" lang="zh-CN" altLang="en-US" dirty="0">
                <a:latin typeface="宋体" panose="02000500000000000000" pitchFamily="2" charset="-122"/>
                <a:ea typeface="+mn-ea"/>
              </a:rPr>
              <a:t>定长重复模式类分支：</a:t>
            </a:r>
            <a:r>
              <a:rPr kumimoji="1" lang="en-US" altLang="zh-CN" dirty="0">
                <a:latin typeface="宋体" panose="02000500000000000000" pitchFamily="2" charset="-122"/>
                <a:ea typeface="+mn-ea"/>
              </a:rPr>
              <a:t>{pat}</a:t>
            </a:r>
            <a:r>
              <a:rPr kumimoji="1" lang="en-US" altLang="zh-CN" baseline="30000" dirty="0">
                <a:latin typeface="宋体" panose="02000500000000000000" pitchFamily="2" charset="-122"/>
                <a:ea typeface="+mn-ea"/>
              </a:rPr>
              <a:t>q</a:t>
            </a:r>
            <a:r>
              <a:rPr kumimoji="1" lang="en-US" altLang="zh-CN" dirty="0">
                <a:latin typeface="宋体" panose="02000500000000000000" pitchFamily="2" charset="-122"/>
                <a:ea typeface="+mn-ea"/>
              </a:rPr>
              <a:t> , |pat|=k </a:t>
            </a:r>
            <a:r>
              <a:rPr kumimoji="1" lang="zh-CN" altLang="en-US" dirty="0">
                <a:latin typeface="宋体" panose="02000500000000000000" pitchFamily="2" charset="-122"/>
                <a:ea typeface="+mn-ea"/>
              </a:rPr>
              <a:t>（每隔</a:t>
            </a:r>
            <a:r>
              <a:rPr kumimoji="1" lang="en-US" altLang="zh-CN" dirty="0">
                <a:latin typeface="宋体" panose="02000500000000000000" pitchFamily="2" charset="-122"/>
                <a:ea typeface="+mn-ea"/>
              </a:rPr>
              <a:t>k</a:t>
            </a:r>
            <a:r>
              <a:rPr kumimoji="1" lang="zh-CN" altLang="en-US" dirty="0">
                <a:latin typeface="宋体" panose="02000500000000000000" pitchFamily="2" charset="-122"/>
                <a:ea typeface="+mn-ea"/>
              </a:rPr>
              <a:t>个分支模式就重复一次）</a:t>
            </a:r>
            <a:endParaRPr kumimoji="1" lang="zh-CN" altLang="en-US" dirty="0">
              <a:latin typeface="宋体" panose="02000500000000000000" pitchFamily="2" charset="-122"/>
              <a:ea typeface="+mn-ea"/>
            </a:endParaRPr>
          </a:p>
          <a:p>
            <a:pPr lvl="1" eaLnBrk="1" hangingPunct="1">
              <a:spcBef>
                <a:spcPct val="0"/>
              </a:spcBef>
            </a:pPr>
            <a:r>
              <a:rPr kumimoji="1" lang="zh-CN" altLang="en-US" dirty="0">
                <a:latin typeface="宋体" panose="02000500000000000000" pitchFamily="2" charset="-122"/>
                <a:ea typeface="+mn-ea"/>
              </a:rPr>
              <a:t>块模式类分支：</a:t>
            </a:r>
            <a:r>
              <a:rPr kumimoji="1" lang="en-US" altLang="zh-CN" dirty="0">
                <a:latin typeface="宋体" panose="02000500000000000000" pitchFamily="2" charset="-122"/>
                <a:ea typeface="+mn-ea"/>
              </a:rPr>
              <a:t>{T</a:t>
            </a:r>
            <a:r>
              <a:rPr kumimoji="1" lang="en-US" altLang="zh-CN" baseline="30000" dirty="0">
                <a:latin typeface="宋体" panose="02000500000000000000" pitchFamily="2" charset="-122"/>
                <a:ea typeface="+mn-ea"/>
              </a:rPr>
              <a:t>n</a:t>
            </a:r>
            <a:r>
              <a:rPr kumimoji="1" lang="en-US" altLang="zh-CN" dirty="0">
                <a:latin typeface="宋体" panose="02000500000000000000" pitchFamily="2" charset="-122"/>
                <a:ea typeface="+mn-ea"/>
              </a:rPr>
              <a:t> N</a:t>
            </a:r>
            <a:r>
              <a:rPr kumimoji="1" lang="en-US" altLang="zh-CN" baseline="30000" dirty="0">
                <a:latin typeface="宋体" panose="02000500000000000000" pitchFamily="2" charset="-122"/>
                <a:ea typeface="+mn-ea"/>
              </a:rPr>
              <a:t>m</a:t>
            </a:r>
            <a:r>
              <a:rPr kumimoji="1" lang="en-US" altLang="zh-CN" dirty="0">
                <a:latin typeface="宋体" panose="02000500000000000000" pitchFamily="2" charset="-122"/>
                <a:ea typeface="+mn-ea"/>
              </a:rPr>
              <a:t>}</a:t>
            </a:r>
            <a:r>
              <a:rPr kumimoji="1" lang="en-US" altLang="zh-CN" baseline="30000" dirty="0">
                <a:latin typeface="宋体" panose="02000500000000000000" pitchFamily="2" charset="-122"/>
                <a:ea typeface="+mn-ea"/>
              </a:rPr>
              <a:t>q     </a:t>
            </a:r>
            <a:r>
              <a:rPr kumimoji="1" lang="zh-CN" altLang="en-US" dirty="0">
                <a:latin typeface="宋体" panose="02000500000000000000" pitchFamily="2" charset="-122"/>
                <a:ea typeface="+mn-ea"/>
              </a:rPr>
              <a:t>成功</a:t>
            </a:r>
            <a:r>
              <a:rPr kumimoji="1" lang="en-US" altLang="zh-CN" dirty="0">
                <a:latin typeface="宋体" panose="02000500000000000000" pitchFamily="2" charset="-122"/>
                <a:ea typeface="+mn-ea"/>
              </a:rPr>
              <a:t>n</a:t>
            </a:r>
            <a:r>
              <a:rPr kumimoji="1" lang="zh-CN" altLang="en-US" dirty="0">
                <a:latin typeface="宋体" panose="02000500000000000000" pitchFamily="2" charset="-122"/>
                <a:ea typeface="+mn-ea"/>
              </a:rPr>
              <a:t>次，不成功</a:t>
            </a:r>
            <a:r>
              <a:rPr kumimoji="1" lang="en-US" altLang="zh-CN" dirty="0">
                <a:latin typeface="宋体" panose="02000500000000000000" pitchFamily="2" charset="-122"/>
                <a:ea typeface="+mn-ea"/>
              </a:rPr>
              <a:t>m</a:t>
            </a:r>
            <a:r>
              <a:rPr kumimoji="1" lang="zh-CN" altLang="en-US" dirty="0">
                <a:latin typeface="宋体" panose="02000500000000000000" pitchFamily="2" charset="-122"/>
                <a:ea typeface="+mn-ea"/>
              </a:rPr>
              <a:t>次，如此循环</a:t>
            </a:r>
            <a:endParaRPr kumimoji="1" lang="zh-CN" altLang="en-US" dirty="0">
              <a:latin typeface="宋体" panose="02000500000000000000" pitchFamily="2" charset="-122"/>
              <a:ea typeface="+mn-ea"/>
            </a:endParaRPr>
          </a:p>
          <a:p>
            <a:pPr eaLnBrk="1" hangingPunct="1">
              <a:spcBef>
                <a:spcPct val="0"/>
              </a:spcBef>
            </a:pPr>
            <a:endParaRPr kumimoji="1" lang="en-US" altLang="zh-CN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4579" name="Rectangle 2"/>
          <p:cNvSpPr/>
          <p:nvPr/>
        </p:nvSpPr>
        <p:spPr>
          <a:xfrm>
            <a:off x="642938" y="0"/>
            <a:ext cx="10937875" cy="96202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ctr">
              <a:spcBef>
                <a:spcPct val="0"/>
              </a:spcBef>
            </a:pPr>
            <a:r>
              <a:rPr lang="zh-CN" altLang="en-US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利用转移指令之间的</a:t>
            </a:r>
            <a:r>
              <a:rPr lang="zh-CN" altLang="en-US" sz="3600" dirty="0">
                <a:solidFill>
                  <a:srgbClr val="FF33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相关性</a:t>
            </a:r>
            <a:endParaRPr lang="zh-CN" altLang="en-US" sz="3600" dirty="0">
              <a:solidFill>
                <a:srgbClr val="FF33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  <p:grpSp>
        <p:nvGrpSpPr>
          <p:cNvPr id="24580" name="Group 4"/>
          <p:cNvGrpSpPr/>
          <p:nvPr/>
        </p:nvGrpSpPr>
        <p:grpSpPr>
          <a:xfrm>
            <a:off x="538163" y="1479550"/>
            <a:ext cx="11276012" cy="2497138"/>
            <a:chOff x="192" y="2112"/>
            <a:chExt cx="5328" cy="1348"/>
          </a:xfrm>
        </p:grpSpPr>
        <p:sp>
          <p:nvSpPr>
            <p:cNvPr id="24582" name="Text Box 5"/>
            <p:cNvSpPr txBox="1">
              <a:spLocks noChangeArrowheads="1"/>
            </p:cNvSpPr>
            <p:nvPr/>
          </p:nvSpPr>
          <p:spPr bwMode="auto">
            <a:xfrm>
              <a:off x="384" y="2531"/>
              <a:ext cx="1358" cy="58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 marR="0" defTabSz="914400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800" b="1" kern="1200" cap="none" spc="0" normalizeH="0" baseline="0" noProof="0" smtClean="0">
                  <a:latin typeface="+mn-ea"/>
                  <a:ea typeface="+mn-ea"/>
                  <a:cs typeface="+mn-cs"/>
                </a:rPr>
                <a:t>Y</a:t>
              </a:r>
              <a:r>
                <a:rPr kumimoji="1" lang="zh-CN" altLang="en-US" sz="1800" b="1" kern="1200" cap="none" spc="0" normalizeH="0" baseline="0" noProof="0" smtClean="0">
                  <a:latin typeface="+mn-ea"/>
                  <a:ea typeface="+mn-ea"/>
                  <a:cs typeface="+mn-cs"/>
                </a:rPr>
                <a:t>：</a:t>
              </a:r>
              <a:r>
                <a:rPr kumimoji="1" lang="en-US" altLang="zh-CN" sz="1800" b="1" kern="1200" cap="none" spc="0" normalizeH="0" baseline="0" noProof="0" smtClean="0">
                  <a:latin typeface="+mn-ea"/>
                  <a:ea typeface="+mn-ea"/>
                  <a:cs typeface="+mn-cs"/>
                </a:rPr>
                <a:t>if (cond1)</a:t>
              </a:r>
              <a:endParaRPr kumimoji="1" lang="en-US" altLang="zh-CN" sz="1800" b="1" kern="1200" cap="none" spc="0" normalizeH="0" baseline="0" noProof="0" smtClean="0">
                <a:latin typeface="+mn-ea"/>
                <a:ea typeface="+mn-ea"/>
                <a:cs typeface="+mn-cs"/>
              </a:endParaRPr>
            </a:p>
            <a:p>
              <a:pPr marR="0" defTabSz="914400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800" b="1" kern="1200" cap="none" spc="0" normalizeH="0" baseline="0" noProof="0" smtClean="0">
                  <a:latin typeface="+mn-ea"/>
                  <a:ea typeface="+mn-ea"/>
                  <a:cs typeface="+mn-cs"/>
                  <a:sym typeface="MT Extra" pitchFamily="18" charset="2"/>
                </a:rPr>
                <a:t>          </a:t>
              </a:r>
              <a:endParaRPr kumimoji="1" lang="en-US" altLang="zh-CN" sz="1800" b="1" kern="1200" cap="none" spc="0" normalizeH="0" baseline="0" noProof="0" smtClean="0">
                <a:latin typeface="+mn-ea"/>
                <a:ea typeface="+mn-ea"/>
                <a:cs typeface="+mn-cs"/>
              </a:endParaRPr>
            </a:p>
            <a:p>
              <a:pPr marR="0" defTabSz="914400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800" b="1" kern="1200" cap="none" spc="0" normalizeH="0" baseline="0" noProof="0" smtClean="0">
                  <a:solidFill>
                    <a:srgbClr val="0000FF"/>
                  </a:solidFill>
                  <a:latin typeface="+mn-ea"/>
                  <a:ea typeface="+mn-ea"/>
                  <a:cs typeface="+mn-cs"/>
                </a:rPr>
                <a:t>X</a:t>
              </a:r>
              <a:r>
                <a:rPr kumimoji="1" lang="zh-CN" altLang="en-US" sz="1800" b="1" kern="1200" cap="none" spc="0" normalizeH="0" baseline="0" noProof="0" smtClean="0">
                  <a:solidFill>
                    <a:srgbClr val="0000FF"/>
                  </a:solidFill>
                  <a:latin typeface="+mn-ea"/>
                  <a:ea typeface="+mn-ea"/>
                  <a:cs typeface="+mn-cs"/>
                </a:rPr>
                <a:t>：</a:t>
              </a:r>
              <a:r>
                <a:rPr kumimoji="1" lang="en-US" altLang="zh-CN" sz="1800" b="1" kern="1200" cap="none" spc="0" normalizeH="0" baseline="0" noProof="0" smtClean="0">
                  <a:solidFill>
                    <a:srgbClr val="0000FF"/>
                  </a:solidFill>
                  <a:latin typeface="+mn-ea"/>
                  <a:ea typeface="+mn-ea"/>
                  <a:cs typeface="+mn-cs"/>
                </a:rPr>
                <a:t>if (cond1 AND cond2)</a:t>
              </a:r>
              <a:endParaRPr kumimoji="1" lang="en-US" altLang="zh-CN" sz="1800" b="1" kern="1200" cap="none" spc="0" normalizeH="0" baseline="0" noProof="0" smtClean="0">
                <a:solidFill>
                  <a:srgbClr val="0000FF"/>
                </a:solidFill>
                <a:latin typeface="+mn-ea"/>
                <a:ea typeface="+mn-ea"/>
                <a:cs typeface="+mn-cs"/>
              </a:endParaRPr>
            </a:p>
          </p:txBody>
        </p:sp>
        <p:sp>
          <p:nvSpPr>
            <p:cNvPr id="24583" name="Text Box 6"/>
            <p:cNvSpPr txBox="1">
              <a:spLocks noChangeArrowheads="1"/>
            </p:cNvSpPr>
            <p:nvPr/>
          </p:nvSpPr>
          <p:spPr bwMode="auto">
            <a:xfrm>
              <a:off x="2160" y="2529"/>
              <a:ext cx="1358" cy="93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 marR="0" defTabSz="914400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800" b="1" kern="1200" cap="none" spc="0" normalizeH="0" baseline="0" noProof="0" dirty="0" smtClean="0">
                  <a:latin typeface="+mn-ea"/>
                  <a:ea typeface="+mn-ea"/>
                  <a:cs typeface="+mn-cs"/>
                </a:rPr>
                <a:t>Z</a:t>
              </a:r>
              <a:r>
                <a:rPr kumimoji="1" lang="zh-CN" altLang="en-US" sz="1800" b="1" kern="1200" cap="none" spc="0" normalizeH="0" baseline="0" noProof="0" dirty="0" smtClean="0">
                  <a:latin typeface="+mn-ea"/>
                  <a:ea typeface="+mn-ea"/>
                  <a:cs typeface="+mn-cs"/>
                </a:rPr>
                <a:t>：</a:t>
              </a:r>
              <a:r>
                <a:rPr kumimoji="1" lang="en-US" altLang="zh-CN" sz="1800" b="1" kern="1200" cap="none" spc="0" normalizeH="0" baseline="0" noProof="0" dirty="0" smtClean="0">
                  <a:latin typeface="+mn-ea"/>
                  <a:ea typeface="+mn-ea"/>
                  <a:cs typeface="+mn-cs"/>
                </a:rPr>
                <a:t>if (cond1)</a:t>
              </a:r>
              <a:endParaRPr kumimoji="1" lang="en-US" altLang="zh-CN" sz="1800" b="1" kern="1200" cap="none" spc="0" normalizeH="0" baseline="0" noProof="0" dirty="0" smtClean="0">
                <a:latin typeface="+mn-ea"/>
                <a:ea typeface="+mn-ea"/>
                <a:cs typeface="+mn-cs"/>
              </a:endParaRPr>
            </a:p>
            <a:p>
              <a:pPr marR="0" defTabSz="914400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800" b="1" kern="1200" cap="none" spc="0" normalizeH="0" baseline="0" noProof="0" dirty="0" smtClean="0">
                  <a:latin typeface="+mn-ea"/>
                  <a:ea typeface="+mn-ea"/>
                  <a:cs typeface="+mn-cs"/>
                  <a:sym typeface="MT Extra" pitchFamily="18" charset="2"/>
                </a:rPr>
                <a:t>          </a:t>
              </a:r>
              <a:endParaRPr kumimoji="1" lang="en-US" altLang="zh-CN" sz="1800" b="1" kern="1200" cap="none" spc="0" normalizeH="0" baseline="0" noProof="0" dirty="0" smtClean="0">
                <a:latin typeface="+mn-ea"/>
                <a:ea typeface="+mn-ea"/>
                <a:cs typeface="+mn-cs"/>
                <a:sym typeface="MT Extra" pitchFamily="18" charset="2"/>
              </a:endParaRPr>
            </a:p>
            <a:p>
              <a:pPr marR="0" defTabSz="914400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800" b="1" kern="1200" cap="none" spc="0" normalizeH="0" baseline="0" noProof="0" dirty="0" smtClean="0">
                  <a:latin typeface="+mn-ea"/>
                  <a:ea typeface="+mn-ea"/>
                  <a:cs typeface="+mn-cs"/>
                  <a:sym typeface="MT Extra" pitchFamily="18" charset="2"/>
                </a:rPr>
                <a:t>Y</a:t>
              </a:r>
              <a:r>
                <a:rPr kumimoji="1" lang="zh-CN" altLang="en-US" sz="1800" b="1" kern="1200" cap="none" spc="0" normalizeH="0" baseline="0" noProof="0" dirty="0" smtClean="0">
                  <a:latin typeface="+mn-ea"/>
                  <a:ea typeface="+mn-ea"/>
                  <a:cs typeface="+mn-cs"/>
                  <a:sym typeface="MT Extra" pitchFamily="18" charset="2"/>
                </a:rPr>
                <a:t>：</a:t>
              </a:r>
              <a:r>
                <a:rPr kumimoji="1" lang="en-US" altLang="zh-CN" sz="1800" b="1" kern="1200" cap="none" spc="0" normalizeH="0" baseline="0" noProof="0" dirty="0" smtClean="0">
                  <a:latin typeface="+mn-ea"/>
                  <a:ea typeface="+mn-ea"/>
                  <a:cs typeface="+mn-cs"/>
                  <a:sym typeface="MT Extra" pitchFamily="18" charset="2"/>
                </a:rPr>
                <a:t>if (cond2)</a:t>
              </a:r>
              <a:endParaRPr kumimoji="1" lang="en-US" altLang="zh-CN" sz="1800" b="1" kern="1200" cap="none" spc="0" normalizeH="0" baseline="0" noProof="0" dirty="0" smtClean="0">
                <a:latin typeface="+mn-ea"/>
                <a:ea typeface="+mn-ea"/>
                <a:cs typeface="+mn-cs"/>
                <a:sym typeface="MT Extra" pitchFamily="18" charset="2"/>
              </a:endParaRPr>
            </a:p>
            <a:p>
              <a:pPr marR="0" defTabSz="914400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800" b="1" kern="1200" cap="none" spc="0" normalizeH="0" baseline="0" noProof="0" dirty="0" smtClean="0">
                  <a:latin typeface="+mn-ea"/>
                  <a:ea typeface="+mn-ea"/>
                  <a:cs typeface="+mn-cs"/>
                  <a:sym typeface="MT Extra" pitchFamily="18" charset="2"/>
                </a:rPr>
                <a:t>          </a:t>
              </a:r>
              <a:endParaRPr kumimoji="1" lang="en-US" altLang="zh-CN" sz="1800" b="1" kern="1200" cap="none" spc="0" normalizeH="0" baseline="0" noProof="0" dirty="0" smtClean="0">
                <a:latin typeface="+mn-ea"/>
                <a:ea typeface="+mn-ea"/>
                <a:cs typeface="+mn-cs"/>
              </a:endParaRPr>
            </a:p>
            <a:p>
              <a:pPr marR="0" defTabSz="914400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800" b="1" kern="1200" cap="none" spc="0" normalizeH="0" baseline="0" noProof="0" dirty="0" smtClean="0">
                  <a:solidFill>
                    <a:srgbClr val="0000FF"/>
                  </a:solidFill>
                  <a:latin typeface="+mn-ea"/>
                  <a:ea typeface="+mn-ea"/>
                  <a:cs typeface="+mn-cs"/>
                </a:rPr>
                <a:t>X</a:t>
              </a:r>
              <a:r>
                <a:rPr kumimoji="1" lang="zh-CN" altLang="en-US" sz="1800" b="1" kern="1200" cap="none" spc="0" normalizeH="0" baseline="0" noProof="0" dirty="0" smtClean="0">
                  <a:solidFill>
                    <a:srgbClr val="0000FF"/>
                  </a:solidFill>
                  <a:latin typeface="+mn-ea"/>
                  <a:ea typeface="+mn-ea"/>
                  <a:cs typeface="+mn-cs"/>
                </a:rPr>
                <a:t>：</a:t>
              </a:r>
              <a:r>
                <a:rPr kumimoji="1" lang="en-US" altLang="zh-CN" sz="1800" b="1" kern="1200" cap="none" spc="0" normalizeH="0" baseline="0" noProof="0" dirty="0" smtClean="0">
                  <a:solidFill>
                    <a:srgbClr val="0000FF"/>
                  </a:solidFill>
                  <a:latin typeface="+mn-ea"/>
                  <a:ea typeface="+mn-ea"/>
                  <a:cs typeface="+mn-cs"/>
                </a:rPr>
                <a:t>if (cond1 AND cond2)</a:t>
              </a:r>
              <a:endParaRPr kumimoji="1" lang="en-US" altLang="zh-CN" sz="1800" b="1" kern="1200" cap="none" spc="0" normalizeH="0" baseline="0" noProof="0" dirty="0" smtClean="0">
                <a:solidFill>
                  <a:srgbClr val="0000FF"/>
                </a:solidFill>
                <a:latin typeface="+mn-ea"/>
                <a:ea typeface="+mn-ea"/>
                <a:cs typeface="+mn-cs"/>
              </a:endParaRPr>
            </a:p>
          </p:txBody>
        </p:sp>
        <p:sp>
          <p:nvSpPr>
            <p:cNvPr id="24584" name="Text Box 7"/>
            <p:cNvSpPr txBox="1">
              <a:spLocks noChangeArrowheads="1"/>
            </p:cNvSpPr>
            <p:nvPr/>
          </p:nvSpPr>
          <p:spPr bwMode="auto">
            <a:xfrm>
              <a:off x="4065" y="2531"/>
              <a:ext cx="1137" cy="58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 marR="0" defTabSz="914400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800" b="1" kern="1200" cap="none" spc="0" normalizeH="0" baseline="0" noProof="0" dirty="0" smtClean="0">
                  <a:latin typeface="+mn-ea"/>
                  <a:ea typeface="+mn-ea"/>
                  <a:cs typeface="+mn-cs"/>
                </a:rPr>
                <a:t>Y</a:t>
              </a:r>
              <a:r>
                <a:rPr kumimoji="1" lang="zh-CN" altLang="en-US" sz="1800" b="1" kern="1200" cap="none" spc="0" normalizeH="0" baseline="0" noProof="0" dirty="0" smtClean="0">
                  <a:latin typeface="+mn-ea"/>
                  <a:ea typeface="+mn-ea"/>
                  <a:cs typeface="+mn-cs"/>
                </a:rPr>
                <a:t>：</a:t>
              </a:r>
              <a:r>
                <a:rPr kumimoji="1" lang="en-US" altLang="zh-CN" sz="1800" b="1" kern="1200" cap="none" spc="0" normalizeH="0" baseline="0" noProof="0" dirty="0" smtClean="0">
                  <a:latin typeface="+mn-ea"/>
                  <a:ea typeface="+mn-ea"/>
                  <a:cs typeface="+mn-cs"/>
                </a:rPr>
                <a:t>if (cond1) a = 2</a:t>
              </a:r>
              <a:endParaRPr kumimoji="1" lang="en-US" altLang="zh-CN" sz="1800" b="1" kern="1200" cap="none" spc="0" normalizeH="0" baseline="0" noProof="0" dirty="0" smtClean="0">
                <a:latin typeface="+mn-ea"/>
                <a:ea typeface="+mn-ea"/>
                <a:cs typeface="+mn-cs"/>
              </a:endParaRPr>
            </a:p>
            <a:p>
              <a:pPr marR="0" defTabSz="914400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800" b="1" kern="1200" cap="none" spc="0" normalizeH="0" baseline="0" noProof="0" dirty="0" smtClean="0">
                  <a:latin typeface="+mn-ea"/>
                  <a:ea typeface="+mn-ea"/>
                  <a:cs typeface="+mn-cs"/>
                  <a:sym typeface="MT Extra" pitchFamily="18" charset="2"/>
                </a:rPr>
                <a:t>           </a:t>
              </a:r>
              <a:endParaRPr kumimoji="1" lang="en-US" altLang="zh-CN" sz="1800" b="1" kern="1200" cap="none" spc="0" normalizeH="0" baseline="0" noProof="0" dirty="0" smtClean="0">
                <a:latin typeface="+mn-ea"/>
                <a:ea typeface="+mn-ea"/>
                <a:cs typeface="+mn-cs"/>
              </a:endParaRPr>
            </a:p>
            <a:p>
              <a:pPr marR="0" defTabSz="914400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800" b="1" kern="1200" cap="none" spc="0" normalizeH="0" baseline="0" noProof="0" dirty="0" smtClean="0">
                  <a:solidFill>
                    <a:srgbClr val="0000FF"/>
                  </a:solidFill>
                  <a:latin typeface="+mn-ea"/>
                  <a:ea typeface="+mn-ea"/>
                  <a:cs typeface="+mn-cs"/>
                </a:rPr>
                <a:t>X</a:t>
              </a:r>
              <a:r>
                <a:rPr kumimoji="1" lang="zh-CN" altLang="en-US" sz="1800" b="1" kern="1200" cap="none" spc="0" normalizeH="0" baseline="0" noProof="0" dirty="0" smtClean="0">
                  <a:solidFill>
                    <a:srgbClr val="0000FF"/>
                  </a:solidFill>
                  <a:latin typeface="+mn-ea"/>
                  <a:ea typeface="+mn-ea"/>
                  <a:cs typeface="+mn-cs"/>
                </a:rPr>
                <a:t>：</a:t>
              </a:r>
              <a:r>
                <a:rPr kumimoji="1" lang="en-US" altLang="zh-CN" sz="1800" b="1" kern="1200" cap="none" spc="0" normalizeH="0" baseline="0" noProof="0" dirty="0" smtClean="0">
                  <a:solidFill>
                    <a:srgbClr val="0000FF"/>
                  </a:solidFill>
                  <a:latin typeface="+mn-ea"/>
                  <a:ea typeface="+mn-ea"/>
                  <a:cs typeface="+mn-cs"/>
                </a:rPr>
                <a:t>if (a = = 0)</a:t>
              </a:r>
              <a:endParaRPr kumimoji="1" lang="en-US" altLang="zh-CN" sz="1800" b="1" kern="1200" cap="none" spc="0" normalizeH="0" baseline="0" noProof="0" dirty="0" smtClean="0">
                <a:solidFill>
                  <a:srgbClr val="0000FF"/>
                </a:solidFill>
                <a:latin typeface="+mn-ea"/>
                <a:ea typeface="+mn-ea"/>
                <a:cs typeface="+mn-cs"/>
              </a:endParaRPr>
            </a:p>
          </p:txBody>
        </p:sp>
        <p:sp>
          <p:nvSpPr>
            <p:cNvPr id="24585" name="Text Box 8"/>
            <p:cNvSpPr txBox="1">
              <a:spLocks noChangeArrowheads="1"/>
            </p:cNvSpPr>
            <p:nvPr/>
          </p:nvSpPr>
          <p:spPr bwMode="auto">
            <a:xfrm>
              <a:off x="240" y="2172"/>
              <a:ext cx="4871" cy="26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anchor="ctr">
              <a:spAutoFit/>
            </a:bodyPr>
            <a:lstStyle/>
            <a:p>
              <a:pPr marR="0" defTabSz="914400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zh-CN" altLang="en-US" sz="2000" b="1" u="sng" kern="1200" cap="none" spc="0" normalizeH="0" baseline="0" noProof="0" dirty="0" smtClean="0">
                  <a:latin typeface="+mn-ea"/>
                  <a:ea typeface="+mn-ea"/>
                  <a:cs typeface="+mn-cs"/>
                </a:rPr>
                <a:t>方向相关：</a:t>
              </a:r>
              <a:r>
                <a:rPr kumimoji="1" lang="zh-CN" altLang="en-US" sz="2000" b="1" kern="1200" cap="none" spc="0" normalizeH="0" baseline="0" noProof="0" dirty="0" smtClean="0">
                  <a:latin typeface="Times New Roman" pitchFamily="18" charset="0"/>
                  <a:ea typeface="宋体" panose="02000500000000000000" pitchFamily="2" charset="-122"/>
                  <a:cs typeface="+mn-cs"/>
                </a:rPr>
                <a:t>两个分支的条件（完全或部分）基于相同或相关的信息</a:t>
              </a:r>
              <a:endParaRPr kumimoji="1" lang="en-US" altLang="zh-CN" sz="2000" b="1" u="sng" kern="1200" cap="none" spc="0" normalizeH="0" baseline="0" noProof="0" dirty="0" smtClean="0">
                <a:latin typeface="+mn-ea"/>
                <a:ea typeface="+mn-ea"/>
                <a:cs typeface="+mn-cs"/>
              </a:endParaRPr>
            </a:p>
          </p:txBody>
        </p:sp>
        <p:sp>
          <p:nvSpPr>
            <p:cNvPr id="24586" name="Rectangle 9"/>
            <p:cNvSpPr>
              <a:spLocks noChangeArrowheads="1"/>
            </p:cNvSpPr>
            <p:nvPr/>
          </p:nvSpPr>
          <p:spPr bwMode="auto">
            <a:xfrm>
              <a:off x="192" y="2112"/>
              <a:ext cx="5328" cy="1344"/>
            </a:xfrm>
            <a:prstGeom prst="rect">
              <a:avLst/>
            </a:prstGeom>
            <a:noFill/>
            <a:ln w="9525">
              <a:solidFill>
                <a:srgbClr val="800000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grpSp>
        <p:nvGrpSpPr>
          <p:cNvPr id="24581" name="Group 10"/>
          <p:cNvGrpSpPr/>
          <p:nvPr/>
        </p:nvGrpSpPr>
        <p:grpSpPr>
          <a:xfrm>
            <a:off x="541338" y="4162425"/>
            <a:ext cx="11285537" cy="2595563"/>
            <a:chOff x="384" y="2400"/>
            <a:chExt cx="4992" cy="1645"/>
          </a:xfrm>
        </p:grpSpPr>
        <p:sp>
          <p:nvSpPr>
            <p:cNvPr id="12" name="Text Box 5"/>
            <p:cNvSpPr txBox="1">
              <a:spLocks noChangeArrowheads="1"/>
            </p:cNvSpPr>
            <p:nvPr/>
          </p:nvSpPr>
          <p:spPr bwMode="auto">
            <a:xfrm>
              <a:off x="2228" y="2872"/>
              <a:ext cx="1358" cy="10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 marR="0" defTabSz="914400">
                <a:spcBef>
                  <a:spcPct val="2000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800" b="1" kern="1200" cap="none" spc="0" normalizeH="0" baseline="0" noProof="0" dirty="0" smtClean="0">
                  <a:latin typeface="+mn-ea"/>
                  <a:ea typeface="+mn-ea"/>
                  <a:cs typeface="+mn-cs"/>
                </a:rPr>
                <a:t>Z</a:t>
              </a:r>
              <a:r>
                <a:rPr kumimoji="1" lang="zh-CN" altLang="en-US" sz="1800" b="1" kern="1200" cap="none" spc="0" normalizeH="0" baseline="0" noProof="0" dirty="0" smtClean="0">
                  <a:latin typeface="+mn-ea"/>
                  <a:ea typeface="+mn-ea"/>
                  <a:cs typeface="+mn-cs"/>
                </a:rPr>
                <a:t>： </a:t>
              </a:r>
              <a:r>
                <a:rPr kumimoji="1" lang="en-US" altLang="zh-CN" sz="1800" b="1" kern="1200" cap="none" spc="0" normalizeH="0" baseline="0" noProof="0" dirty="0" smtClean="0">
                  <a:latin typeface="+mn-ea"/>
                  <a:ea typeface="+mn-ea"/>
                  <a:cs typeface="+mn-cs"/>
                </a:rPr>
                <a:t>if (NOT (cond1))</a:t>
              </a:r>
              <a:endParaRPr kumimoji="1" lang="en-US" altLang="zh-CN" sz="1800" b="1" kern="1200" cap="none" spc="0" normalizeH="0" baseline="0" noProof="0" dirty="0" smtClean="0">
                <a:latin typeface="+mn-ea"/>
                <a:ea typeface="+mn-ea"/>
                <a:cs typeface="+mn-cs"/>
              </a:endParaRPr>
            </a:p>
            <a:p>
              <a:pPr marR="0" defTabSz="914400">
                <a:spcBef>
                  <a:spcPct val="2000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800" b="1" kern="1200" cap="none" spc="0" normalizeH="0" baseline="0" noProof="0" dirty="0" smtClean="0">
                  <a:latin typeface="+mn-ea"/>
                  <a:ea typeface="+mn-ea"/>
                  <a:cs typeface="+mn-cs"/>
                </a:rPr>
                <a:t>Y</a:t>
              </a:r>
              <a:r>
                <a:rPr kumimoji="1" lang="zh-CN" altLang="en-US" sz="1800" b="1" kern="1200" cap="none" spc="0" normalizeH="0" baseline="0" noProof="0" dirty="0" smtClean="0">
                  <a:latin typeface="+mn-ea"/>
                  <a:ea typeface="+mn-ea"/>
                  <a:cs typeface="+mn-cs"/>
                </a:rPr>
                <a:t>：</a:t>
              </a:r>
              <a:r>
                <a:rPr kumimoji="1" lang="en-US" altLang="zh-CN" sz="1800" b="1" kern="1200" cap="none" spc="0" normalizeH="0" baseline="0" noProof="0" dirty="0" smtClean="0">
                  <a:latin typeface="+mn-ea"/>
                  <a:ea typeface="+mn-ea"/>
                  <a:cs typeface="+mn-cs"/>
                </a:rPr>
                <a:t>else if (NOT(cond2))</a:t>
              </a:r>
              <a:endParaRPr kumimoji="1" lang="en-US" altLang="zh-CN" sz="1800" b="1" kern="1200" cap="none" spc="0" normalizeH="0" baseline="0" noProof="0" dirty="0" smtClean="0">
                <a:latin typeface="+mn-ea"/>
                <a:ea typeface="+mn-ea"/>
                <a:cs typeface="+mn-cs"/>
              </a:endParaRPr>
            </a:p>
            <a:p>
              <a:pPr marR="0" defTabSz="914400">
                <a:spcBef>
                  <a:spcPct val="2000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800" b="1" kern="1200" cap="none" spc="0" normalizeH="0" baseline="0" noProof="0" dirty="0" smtClean="0">
                  <a:latin typeface="+mn-ea"/>
                  <a:ea typeface="+mn-ea"/>
                  <a:cs typeface="+mn-cs"/>
                </a:rPr>
                <a:t>V</a:t>
              </a:r>
              <a:r>
                <a:rPr kumimoji="1" lang="zh-CN" altLang="en-US" sz="1800" b="1" kern="1200" cap="none" spc="0" normalizeH="0" baseline="0" noProof="0" dirty="0" smtClean="0">
                  <a:latin typeface="+mn-ea"/>
                  <a:ea typeface="+mn-ea"/>
                  <a:cs typeface="+mn-cs"/>
                </a:rPr>
                <a:t>：</a:t>
              </a:r>
              <a:r>
                <a:rPr kumimoji="1" lang="en-US" altLang="zh-CN" sz="1800" b="1" kern="1200" cap="none" spc="0" normalizeH="0" baseline="0" noProof="0" dirty="0" smtClean="0">
                  <a:latin typeface="+mn-ea"/>
                  <a:ea typeface="+mn-ea"/>
                  <a:cs typeface="+mn-cs"/>
                </a:rPr>
                <a:t>else if (cond3)</a:t>
              </a:r>
              <a:endParaRPr kumimoji="1" lang="en-US" altLang="zh-CN" sz="1800" b="1" kern="1200" cap="none" spc="0" normalizeH="0" baseline="0" noProof="0" dirty="0" smtClean="0">
                <a:latin typeface="+mn-ea"/>
                <a:ea typeface="+mn-ea"/>
                <a:cs typeface="+mn-cs"/>
              </a:endParaRPr>
            </a:p>
            <a:p>
              <a:pPr marR="0" defTabSz="914400">
                <a:spcBef>
                  <a:spcPct val="2000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800" b="1" kern="1200" cap="none" spc="0" normalizeH="0" baseline="0" noProof="0" dirty="0" smtClean="0">
                  <a:latin typeface="+mn-ea"/>
                  <a:ea typeface="+mn-ea"/>
                  <a:cs typeface="+mn-cs"/>
                  <a:sym typeface="MT Extra" pitchFamily="18" charset="2"/>
                </a:rPr>
                <a:t>          </a:t>
              </a:r>
              <a:r>
                <a:rPr kumimoji="1" lang="en-US" altLang="zh-CN" sz="1800" b="1" kern="1200" cap="none" spc="0" normalizeH="0" baseline="0" noProof="0" dirty="0" smtClean="0">
                  <a:latin typeface="+mn-ea"/>
                  <a:ea typeface="+mn-ea"/>
                  <a:cs typeface="+mn-cs"/>
                </a:rPr>
                <a:t> </a:t>
              </a:r>
              <a:endParaRPr kumimoji="1" lang="en-US" altLang="zh-CN" sz="1800" b="1" kern="1200" cap="none" spc="0" normalizeH="0" baseline="0" noProof="0" dirty="0" smtClean="0">
                <a:latin typeface="+mn-ea"/>
                <a:ea typeface="+mn-ea"/>
                <a:cs typeface="+mn-cs"/>
              </a:endParaRPr>
            </a:p>
            <a:p>
              <a:pPr marR="0" defTabSz="914400">
                <a:spcBef>
                  <a:spcPct val="2000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1800" b="1" kern="1200" cap="none" spc="0" normalizeH="0" baseline="0" noProof="0" dirty="0" smtClean="0">
                  <a:solidFill>
                    <a:srgbClr val="0000FF"/>
                  </a:solidFill>
                  <a:latin typeface="+mn-ea"/>
                  <a:ea typeface="+mn-ea"/>
                  <a:cs typeface="+mn-cs"/>
                </a:rPr>
                <a:t>X</a:t>
              </a:r>
              <a:r>
                <a:rPr kumimoji="1" lang="zh-CN" altLang="en-US" sz="1800" b="1" kern="1200" cap="none" spc="0" normalizeH="0" baseline="0" noProof="0" dirty="0" smtClean="0">
                  <a:solidFill>
                    <a:srgbClr val="0000FF"/>
                  </a:solidFill>
                  <a:latin typeface="+mn-ea"/>
                  <a:ea typeface="+mn-ea"/>
                  <a:cs typeface="+mn-cs"/>
                </a:rPr>
                <a:t>：</a:t>
              </a:r>
              <a:r>
                <a:rPr kumimoji="1" lang="en-US" altLang="zh-CN" sz="1800" b="1" kern="1200" cap="none" spc="0" normalizeH="0" baseline="0" noProof="0" dirty="0" smtClean="0">
                  <a:solidFill>
                    <a:srgbClr val="0000FF"/>
                  </a:solidFill>
                  <a:latin typeface="+mn-ea"/>
                  <a:ea typeface="+mn-ea"/>
                  <a:cs typeface="+mn-cs"/>
                </a:rPr>
                <a:t>if (cond1 AND cond2)</a:t>
              </a:r>
              <a:endParaRPr kumimoji="1" lang="en-US" altLang="zh-CN" sz="1800" b="1" kern="1200" cap="none" spc="0" normalizeH="0" baseline="0" noProof="0" dirty="0" smtClean="0">
                <a:solidFill>
                  <a:srgbClr val="0000FF"/>
                </a:solidFill>
                <a:latin typeface="+mn-ea"/>
                <a:ea typeface="+mn-ea"/>
                <a:cs typeface="+mn-cs"/>
              </a:endParaRPr>
            </a:p>
          </p:txBody>
        </p:sp>
        <p:sp>
          <p:nvSpPr>
            <p:cNvPr id="13" name="Text Box 7"/>
            <p:cNvSpPr txBox="1">
              <a:spLocks noChangeArrowheads="1"/>
            </p:cNvSpPr>
            <p:nvPr/>
          </p:nvSpPr>
          <p:spPr bwMode="auto">
            <a:xfrm>
              <a:off x="429" y="2433"/>
              <a:ext cx="4894" cy="31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anchor="ctr">
              <a:spAutoFit/>
            </a:bodyPr>
            <a:lstStyle/>
            <a:p>
              <a:pPr marR="0" defTabSz="914400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zh-CN" altLang="en-US" sz="2000" b="1" u="sng" kern="1200" cap="none" spc="0" normalizeH="0" baseline="0" noProof="0" dirty="0" smtClean="0">
                  <a:latin typeface="+mn-ea"/>
                  <a:ea typeface="+mn-ea"/>
                  <a:cs typeface="+mn-cs"/>
                </a:rPr>
                <a:t>路径相关：</a:t>
              </a:r>
              <a:r>
                <a:rPr kumimoji="1" lang="zh-CN" altLang="en-US" sz="2000" b="1" kern="1200" cap="none" spc="0" normalizeH="0" baseline="0" noProof="0" dirty="0" smtClean="0">
                  <a:latin typeface="宋体" panose="02000500000000000000" pitchFamily="2" charset="-122"/>
                  <a:ea typeface="宋体" panose="02000500000000000000" pitchFamily="2" charset="-122"/>
                  <a:cs typeface="+mn-cs"/>
                </a:rPr>
                <a:t>一个分支处在当前分支的路径之上（</a:t>
              </a:r>
              <a:r>
                <a:rPr kumimoji="1" lang="en-US" altLang="zh-CN" sz="2000" b="1" kern="1200" cap="none" spc="0" normalizeH="0" baseline="0" noProof="0" dirty="0" smtClean="0">
                  <a:latin typeface="宋体" panose="02000500000000000000" pitchFamily="2" charset="-122"/>
                  <a:ea typeface="宋体" panose="02000500000000000000" pitchFamily="2" charset="-122"/>
                  <a:cs typeface="+mn-cs"/>
                </a:rPr>
                <a:t>Y</a:t>
              </a:r>
              <a:r>
                <a:rPr kumimoji="1" lang="zh-CN" altLang="en-US" sz="2000" b="1" kern="1200" cap="none" spc="0" normalizeH="0" baseline="0" noProof="0" dirty="0" smtClean="0">
                  <a:latin typeface="宋体" panose="02000500000000000000" pitchFamily="2" charset="-122"/>
                  <a:ea typeface="宋体" panose="02000500000000000000" pitchFamily="2" charset="-122"/>
                  <a:cs typeface="+mn-cs"/>
                </a:rPr>
                <a:t>和</a:t>
              </a:r>
              <a:r>
                <a:rPr kumimoji="1" lang="en-US" altLang="zh-CN" sz="2000" b="1" kern="1200" cap="none" spc="0" normalizeH="0" baseline="0" noProof="0" dirty="0" smtClean="0">
                  <a:latin typeface="宋体" panose="02000500000000000000" pitchFamily="2" charset="-122"/>
                  <a:ea typeface="宋体" panose="02000500000000000000" pitchFamily="2" charset="-122"/>
                  <a:cs typeface="+mn-cs"/>
                </a:rPr>
                <a:t>Z</a:t>
              </a:r>
              <a:r>
                <a:rPr kumimoji="1" lang="zh-CN" altLang="en-US" sz="2000" b="1" kern="1200" cap="none" spc="0" normalizeH="0" baseline="0" noProof="0" dirty="0" smtClean="0">
                  <a:latin typeface="宋体" panose="02000500000000000000" pitchFamily="2" charset="-122"/>
                  <a:ea typeface="宋体" panose="02000500000000000000" pitchFamily="2" charset="-122"/>
                  <a:cs typeface="+mn-cs"/>
                </a:rPr>
                <a:t>在通往</a:t>
              </a:r>
              <a:r>
                <a:rPr kumimoji="1" lang="en-US" altLang="zh-CN" sz="2000" b="1" kern="1200" cap="none" spc="0" normalizeH="0" baseline="0" noProof="0" dirty="0" smtClean="0">
                  <a:latin typeface="宋体" panose="02000500000000000000" pitchFamily="2" charset="-122"/>
                  <a:ea typeface="宋体" panose="02000500000000000000" pitchFamily="2" charset="-122"/>
                  <a:cs typeface="+mn-cs"/>
                </a:rPr>
                <a:t>X</a:t>
              </a:r>
              <a:r>
                <a:rPr kumimoji="1" lang="zh-CN" altLang="en-US" sz="2000" b="1" kern="1200" cap="none" spc="0" normalizeH="0" baseline="0" noProof="0" dirty="0" smtClean="0">
                  <a:latin typeface="宋体" panose="02000500000000000000" pitchFamily="2" charset="-122"/>
                  <a:ea typeface="宋体" panose="02000500000000000000" pitchFamily="2" charset="-122"/>
                  <a:cs typeface="+mn-cs"/>
                </a:rPr>
                <a:t>的路径上）</a:t>
              </a:r>
              <a:endParaRPr kumimoji="1" lang="zh-CN" altLang="en-US" sz="2000" b="1" kern="1200" cap="none" spc="0" normalizeH="0" baseline="0" noProof="0" dirty="0" smtClean="0">
                <a:latin typeface="宋体" panose="02000500000000000000" pitchFamily="2" charset="-122"/>
                <a:ea typeface="宋体" panose="02000500000000000000" pitchFamily="2" charset="-122"/>
                <a:cs typeface="+mn-cs"/>
              </a:endParaRPr>
            </a:p>
          </p:txBody>
        </p:sp>
        <p:sp>
          <p:nvSpPr>
            <p:cNvPr id="14" name="Rectangle 8"/>
            <p:cNvSpPr>
              <a:spLocks noChangeArrowheads="1"/>
            </p:cNvSpPr>
            <p:nvPr/>
          </p:nvSpPr>
          <p:spPr bwMode="auto">
            <a:xfrm>
              <a:off x="384" y="2400"/>
              <a:ext cx="4992" cy="1645"/>
            </a:xfrm>
            <a:prstGeom prst="rect">
              <a:avLst/>
            </a:prstGeom>
            <a:noFill/>
            <a:ln w="9525">
              <a:solidFill>
                <a:srgbClr val="800000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560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分支指令行为小结</a:t>
            </a:r>
            <a:endParaRPr lang="zh-CN" altLang="en-US" sz="3600" dirty="0"/>
          </a:p>
        </p:txBody>
      </p:sp>
      <p:sp>
        <p:nvSpPr>
          <p:cNvPr id="2560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ct val="0"/>
              </a:spcBef>
            </a:pPr>
            <a:r>
              <a:rPr kumimoji="1" lang="zh-CN" altLang="en-US" dirty="0">
                <a:latin typeface="+mn-lt"/>
                <a:ea typeface="+mn-ea"/>
                <a:cs typeface="+mn-cs"/>
              </a:rPr>
              <a:t>分支指令是很频繁的</a:t>
            </a:r>
            <a:endParaRPr kumimoji="1" lang="zh-CN" altLang="en-US" dirty="0">
              <a:latin typeface="+mn-lt"/>
              <a:ea typeface="+mn-ea"/>
              <a:cs typeface="+mn-cs"/>
            </a:endParaRPr>
          </a:p>
          <a:p>
            <a:pPr eaLnBrk="1" hangingPunct="1">
              <a:spcBef>
                <a:spcPct val="0"/>
              </a:spcBef>
            </a:pPr>
            <a:r>
              <a:rPr kumimoji="1" lang="zh-CN" altLang="en-US" dirty="0">
                <a:latin typeface="+mn-lt"/>
                <a:ea typeface="+mn-ea"/>
                <a:cs typeface="+mn-cs"/>
              </a:rPr>
              <a:t>分支指令有较好的局部性</a:t>
            </a:r>
            <a:endParaRPr kumimoji="1" lang="zh-CN" altLang="en-US" dirty="0">
              <a:latin typeface="+mn-lt"/>
              <a:ea typeface="+mn-ea"/>
              <a:cs typeface="+mn-cs"/>
            </a:endParaRPr>
          </a:p>
          <a:p>
            <a:pPr eaLnBrk="1" hangingPunct="1">
              <a:spcBef>
                <a:spcPct val="0"/>
              </a:spcBef>
            </a:pPr>
            <a:r>
              <a:rPr kumimoji="1" lang="zh-CN" altLang="en-US" dirty="0">
                <a:latin typeface="+mn-lt"/>
                <a:ea typeface="+mn-ea"/>
                <a:cs typeface="+mn-cs"/>
              </a:rPr>
              <a:t>分支指令具有可预测性：单个指令、指令之间</a:t>
            </a:r>
            <a:endParaRPr kumimoji="1" lang="zh-CN" altLang="en-US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6627" name="Rectangle 2"/>
          <p:cNvSpPr>
            <a:spLocks noGrp="1"/>
          </p:cNvSpPr>
          <p:nvPr>
            <p:ph type="title"/>
          </p:nvPr>
        </p:nvSpPr>
        <p:spPr>
          <a:xfrm>
            <a:off x="817563" y="2909888"/>
            <a:ext cx="10361612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4000" dirty="0"/>
              <a:t>软件方法解决控制相关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8675" name="Rectangle 2"/>
          <p:cNvSpPr>
            <a:spLocks noChangeArrowheads="1"/>
          </p:cNvSpPr>
          <p:nvPr/>
        </p:nvSpPr>
        <p:spPr bwMode="auto">
          <a:xfrm>
            <a:off x="534988" y="976313"/>
            <a:ext cx="11102975" cy="57070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anose="02000500000000000000" pitchFamily="2" charset="-122"/>
                <a:cs typeface="+mn-cs"/>
              </a:rPr>
              <a:t>阻塞</a:t>
            </a:r>
            <a:endParaRPr kumimoji="1" lang="zh-CN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anose="02000500000000000000" pitchFamily="2" charset="-122"/>
                <a:cs typeface="+mn-cs"/>
              </a:rPr>
              <a:t>等待直到转移条件确定</a:t>
            </a:r>
            <a:endParaRPr kumimoji="1" lang="zh-CN" altLang="en-US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anose="02000500000000000000" pitchFamily="2" charset="-122"/>
                <a:cs typeface="+mn-cs"/>
              </a:rPr>
              <a:t>用延迟槽容忍延迟</a:t>
            </a:r>
            <a:endParaRPr kumimoji="1" lang="zh-CN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00500000000000000" pitchFamily="2" charset="-122"/>
                <a:cs typeface="+mn-cs"/>
              </a:rPr>
              <a:t>多发射情况下延迟槽反而成为需要特殊照顾的兼容负担</a:t>
            </a:r>
            <a:endParaRPr kumimoji="1" lang="zh-CN" altLang="en-US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anose="02000500000000000000" pitchFamily="2" charset="-122"/>
                <a:cs typeface="+mn-cs"/>
              </a:rPr>
              <a:t>编译器优化</a:t>
            </a:r>
            <a:endParaRPr kumimoji="1" lang="zh-CN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anose="02000500000000000000" pitchFamily="2" charset="-122"/>
                <a:cs typeface="+mn-cs"/>
              </a:rPr>
              <a:t>循环：</a:t>
            </a: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00500000000000000" pitchFamily="2" charset="-122"/>
                <a:cs typeface="+mn-cs"/>
              </a:rPr>
              <a:t>循环展开</a:t>
            </a: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anose="02000500000000000000" pitchFamily="2" charset="-122"/>
                <a:cs typeface="+mn-cs"/>
              </a:rPr>
              <a:t>减少转移指令、</a:t>
            </a: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00500000000000000" pitchFamily="2" charset="-122"/>
                <a:cs typeface="+mn-cs"/>
              </a:rPr>
              <a:t>软流水</a:t>
            </a: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anose="02000500000000000000" pitchFamily="2" charset="-122"/>
                <a:cs typeface="+mn-cs"/>
              </a:rPr>
              <a:t>减少阻塞</a:t>
            </a:r>
            <a:endParaRPr kumimoji="1" lang="zh-CN" altLang="en-US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anose="02000500000000000000" pitchFamily="2" charset="-122"/>
                <a:cs typeface="+mn-cs"/>
              </a:rPr>
              <a:t>分支：全局代码调度（越过分支调度指令）</a:t>
            </a:r>
            <a:endParaRPr kumimoji="1" lang="zh-CN" altLang="en-US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anose="02000500000000000000" pitchFamily="2" charset="-122"/>
                <a:cs typeface="+mn-cs"/>
              </a:rPr>
              <a:t>函数调用：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anose="02000500000000000000" pitchFamily="2" charset="-122"/>
                <a:cs typeface="+mn-cs"/>
              </a:rPr>
              <a:t>inline</a:t>
            </a:r>
            <a:endParaRPr kumimoji="1" lang="en-US" altLang="zh-CN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00500000000000000" pitchFamily="2" charset="-122"/>
                <a:cs typeface="+mn-cs"/>
              </a:rPr>
              <a:t>转换为数据相关</a:t>
            </a:r>
            <a:endParaRPr kumimoji="1" lang="zh-CN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00500000000000000" pitchFamily="2" charset="-122"/>
                <a:cs typeface="+mn-cs"/>
              </a:rPr>
              <a:t>条件指令、谓词</a:t>
            </a:r>
            <a:endParaRPr kumimoji="1" lang="zh-CN" altLang="en-US" sz="18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00500000000000000" pitchFamily="2" charset="-122"/>
                <a:cs typeface="+mn-cs"/>
              </a:rPr>
              <a:t>硬件转移预测</a:t>
            </a:r>
            <a:endParaRPr kumimoji="1" lang="zh-CN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00500000000000000" pitchFamily="2" charset="-122"/>
                <a:cs typeface="+mn-cs"/>
              </a:rPr>
              <a:t>转移条件未确定时预测转移是否成功</a:t>
            </a:r>
            <a:endParaRPr kumimoji="1" lang="zh-CN" altLang="en-US" sz="18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00500000000000000" pitchFamily="2" charset="-122"/>
                <a:cs typeface="+mn-cs"/>
              </a:rPr>
              <a:t>静态与动态预测</a:t>
            </a:r>
            <a:endParaRPr kumimoji="1" lang="zh-CN" altLang="en-US" sz="18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27652" name="Rectangle 3"/>
          <p:cNvSpPr/>
          <p:nvPr/>
        </p:nvSpPr>
        <p:spPr>
          <a:xfrm>
            <a:off x="831850" y="200025"/>
            <a:ext cx="10361613" cy="7350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>
              <a:spcBef>
                <a:spcPct val="0"/>
              </a:spcBef>
            </a:pPr>
            <a:r>
              <a:rPr lang="zh-CN" altLang="en-US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解决转移条件相关的方法</a:t>
            </a:r>
            <a:endParaRPr lang="zh-CN" altLang="en-US" sz="36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8675" name="Rectangle 2"/>
          <p:cNvSpPr>
            <a:spLocks noGrp="1"/>
          </p:cNvSpPr>
          <p:nvPr>
            <p:ph type="title"/>
          </p:nvPr>
        </p:nvSpPr>
        <p:spPr>
          <a:xfrm>
            <a:off x="914400" y="201613"/>
            <a:ext cx="10361613" cy="709612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软件循环展开消除控制相关</a:t>
            </a:r>
            <a:endParaRPr lang="zh-CN" altLang="en-US" sz="3600" dirty="0"/>
          </a:p>
        </p:txBody>
      </p:sp>
      <p:sp>
        <p:nvSpPr>
          <p:cNvPr id="30724" name="Rectangle 3"/>
          <p:cNvSpPr>
            <a:spLocks noChangeArrowheads="1"/>
          </p:cNvSpPr>
          <p:nvPr/>
        </p:nvSpPr>
        <p:spPr bwMode="auto">
          <a:xfrm>
            <a:off x="5581650" y="1422400"/>
            <a:ext cx="6051550" cy="417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软件展开两个循环</a:t>
            </a:r>
            <a:endParaRPr kumimoji="1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循环展开</a:t>
            </a:r>
            <a:endParaRPr kumimoji="1" lang="zh-CN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寄存器重命名</a:t>
            </a:r>
            <a:endParaRPr kumimoji="1" lang="zh-CN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变换次序</a:t>
            </a:r>
            <a:endParaRPr kumimoji="1" lang="zh-CN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软件循环展开的不足</a:t>
            </a:r>
            <a:endParaRPr kumimoji="1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有些循环不好展开（如循环次数不定的循环）</a:t>
            </a:r>
            <a:endParaRPr kumimoji="1" lang="zh-CN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增加指令</a:t>
            </a:r>
            <a:r>
              <a:rPr kumimoji="1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Cache</a:t>
            </a: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的负担</a:t>
            </a:r>
            <a:endParaRPr kumimoji="1" lang="zh-CN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30725" name="Rectangle 4"/>
          <p:cNvSpPr>
            <a:spLocks noChangeArrowheads="1"/>
          </p:cNvSpPr>
          <p:nvPr/>
        </p:nvSpPr>
        <p:spPr bwMode="auto">
          <a:xfrm>
            <a:off x="598488" y="1014413"/>
            <a:ext cx="4540250" cy="17510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lIns="90487" tIns="44450" rIns="90487" bIns="44450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LD		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F0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	0	R1</a:t>
            </a:r>
            <a:endParaRPr kumimoji="1" lang="en-US" altLang="zh-CN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MULTD	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F4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	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F0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	F2</a:t>
            </a:r>
            <a:endParaRPr kumimoji="1" lang="en-US" altLang="zh-CN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SD		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F4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	0	R1</a:t>
            </a:r>
            <a:endParaRPr kumimoji="1" lang="en-US" altLang="zh-CN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LD		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F0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	0	R1</a:t>
            </a:r>
            <a:endParaRPr kumimoji="1" lang="en-US" altLang="zh-CN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MULTD	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F4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	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F0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	F2</a:t>
            </a:r>
            <a:endParaRPr kumimoji="1" lang="en-US" altLang="zh-CN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SD		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F4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	0	R1</a:t>
            </a:r>
            <a:endParaRPr kumimoji="1" lang="en-US" altLang="zh-CN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30726" name="Rectangle 5"/>
          <p:cNvSpPr>
            <a:spLocks noChangeArrowheads="1"/>
          </p:cNvSpPr>
          <p:nvPr/>
        </p:nvSpPr>
        <p:spPr bwMode="auto">
          <a:xfrm>
            <a:off x="595313" y="2936875"/>
            <a:ext cx="4538663" cy="1703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lIns="90487" tIns="44450" rIns="90487" bIns="44450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LD		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F0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	0	R1</a:t>
            </a:r>
            <a:endParaRPr kumimoji="1" lang="en-US" altLang="zh-CN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MULTD	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F4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	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F0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	F2</a:t>
            </a:r>
            <a:endParaRPr kumimoji="1" lang="en-US" altLang="zh-CN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SD		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F4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	0	R1</a:t>
            </a:r>
            <a:endParaRPr kumimoji="1" lang="en-US" altLang="zh-CN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LD		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F6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	0	R1</a:t>
            </a:r>
            <a:endParaRPr kumimoji="1" lang="en-US" altLang="zh-CN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MULTD	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F8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	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F6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	F2</a:t>
            </a:r>
            <a:endParaRPr kumimoji="1" lang="en-US" altLang="zh-CN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SD		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F8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	0	R1</a:t>
            </a:r>
            <a:endParaRPr kumimoji="1" lang="en-US" altLang="zh-CN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30727" name="Rectangle 6"/>
          <p:cNvSpPr>
            <a:spLocks noChangeArrowheads="1"/>
          </p:cNvSpPr>
          <p:nvPr/>
        </p:nvSpPr>
        <p:spPr bwMode="auto">
          <a:xfrm>
            <a:off x="595313" y="4806950"/>
            <a:ext cx="4471988" cy="172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txBody>
          <a:bodyPr lIns="90487" tIns="44450" rIns="90487" bIns="44450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LD		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F0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	0	R1</a:t>
            </a:r>
            <a:endParaRPr kumimoji="1" lang="en-US" altLang="zh-CN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LD		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F6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	0	R1 </a:t>
            </a:r>
            <a:endParaRPr kumimoji="1" lang="en-US" altLang="zh-CN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MULTD	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F4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	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F0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	F2 </a:t>
            </a:r>
            <a:endParaRPr kumimoji="1" lang="en-US" altLang="zh-CN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MULTD	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F8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	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F6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	F2 </a:t>
            </a:r>
            <a:endParaRPr kumimoji="1" lang="en-US" altLang="zh-CN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SD		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F4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	0	R1  </a:t>
            </a:r>
            <a:endParaRPr kumimoji="1" lang="en-US" altLang="zh-CN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SD		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F8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	0	R1  </a:t>
            </a:r>
            <a:endParaRPr kumimoji="1" lang="en-US" altLang="zh-CN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7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9699" name="Rectangle 2"/>
          <p:cNvSpPr>
            <a:spLocks noGrp="1"/>
          </p:cNvSpPr>
          <p:nvPr>
            <p:ph type="title"/>
          </p:nvPr>
        </p:nvSpPr>
        <p:spPr>
          <a:xfrm>
            <a:off x="1054100" y="0"/>
            <a:ext cx="10361613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循环的数据相关</a:t>
            </a:r>
            <a:endParaRPr lang="zh-CN" altLang="en-US" sz="3600" dirty="0"/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41300" y="1246188"/>
            <a:ext cx="6846888" cy="48498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循环内相关：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S2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使用同一次循环中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S1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计算的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A[i+1]</a:t>
            </a:r>
            <a:endParaRPr kumimoji="1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循环间（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loop-carried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）相关：本次循环计算的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A[i+1]/B[i+1]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将被下一次循环使用。 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循环内相关导致一个循环体内的多条指令不能并行执行，循环间相关导致多个循环体不能并行执行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graphicFrame>
        <p:nvGraphicFramePr>
          <p:cNvPr id="29701" name="内容占位符 29700"/>
          <p:cNvGraphicFramePr>
            <a:graphicFrameLocks noGrp="1"/>
          </p:cNvGraphicFramePr>
          <p:nvPr>
            <p:ph sz="quarter" idx="2"/>
          </p:nvPr>
        </p:nvGraphicFramePr>
        <p:xfrm>
          <a:off x="7456488" y="1708150"/>
          <a:ext cx="4003675" cy="1087438"/>
        </p:xfrm>
        <a:graphic>
          <a:graphicData uri="http://schemas.openxmlformats.org/drawingml/2006/table">
            <a:tbl>
              <a:tblPr/>
              <a:tblGrid>
                <a:gridCol w="800100"/>
                <a:gridCol w="3203575"/>
              </a:tblGrid>
              <a:tr h="271463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b="1" dirty="0">
                          <a:latin typeface="宋体" panose="02000500000000000000" pitchFamily="2" charset="-122"/>
                        </a:rPr>
                        <a:t>For (i=0;i&lt;100;i++){</a:t>
                      </a:r>
                      <a:endParaRPr lang="en-US" altLang="zh-CN" b="1" dirty="0">
                        <a:latin typeface="宋体" panose="02000500000000000000" pitchFamily="2" charset="-122"/>
                      </a:endParaRPr>
                    </a:p>
                  </a:txBody>
                  <a:tcPr marL="23997" marR="23997" marT="18000" marB="18000" anchor="ctr">
                    <a:lnL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 hMerge="1">
                  <a:tcPr>
                    <a:lnR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</a:tr>
              <a:tr h="27305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buNone/>
                      </a:pPr>
                      <a:endParaRPr lang="zh-CN" altLang="zh-CN" b="1" dirty="0">
                        <a:latin typeface="宋体" panose="02000500000000000000" pitchFamily="2" charset="-122"/>
                      </a:endParaRPr>
                    </a:p>
                  </a:txBody>
                  <a:tcPr marL="23997" marR="23997" marT="18000" marB="18000" anchor="ctr">
                    <a:lnL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b="1" dirty="0">
                          <a:latin typeface="宋体" panose="02000500000000000000" pitchFamily="2" charset="-122"/>
                        </a:rPr>
                        <a:t>A[i+1] = A[i] + C[i];  //S1</a:t>
                      </a:r>
                      <a:endParaRPr lang="en-US" altLang="zh-CN" b="1" dirty="0">
                        <a:latin typeface="宋体" panose="02000500000000000000" pitchFamily="2" charset="-122"/>
                      </a:endParaRPr>
                    </a:p>
                  </a:txBody>
                  <a:tcPr marL="23997" marR="23997" marT="18000" marB="18000" anchor="ctr">
                    <a:lnL>
                      <a:noFill/>
                    </a:lnL>
                    <a:lnR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  <a:tr h="27146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buNone/>
                      </a:pPr>
                      <a:endParaRPr lang="zh-CN" altLang="zh-CN" b="1" dirty="0">
                        <a:latin typeface="宋体" panose="02000500000000000000" pitchFamily="2" charset="-122"/>
                      </a:endParaRPr>
                    </a:p>
                  </a:txBody>
                  <a:tcPr marL="23997" marR="23997" marT="18000" marB="18000" anchor="ctr">
                    <a:lnL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b="1" dirty="0">
                          <a:latin typeface="宋体" panose="02000500000000000000" pitchFamily="2" charset="-122"/>
                        </a:rPr>
                        <a:t>B[i+1] = B[i] + A[i+1];  //S2</a:t>
                      </a:r>
                      <a:endParaRPr lang="en-US" altLang="zh-CN" b="1" dirty="0">
                        <a:latin typeface="宋体" panose="02000500000000000000" pitchFamily="2" charset="-122"/>
                      </a:endParaRPr>
                    </a:p>
                  </a:txBody>
                  <a:tcPr marL="23997" marR="23997" marT="18000" marB="18000" anchor="ctr">
                    <a:lnL>
                      <a:noFill/>
                    </a:lnL>
                    <a:lnR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  <a:tr h="271463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b="1" dirty="0">
                          <a:latin typeface="宋体" panose="02000500000000000000" pitchFamily="2" charset="-122"/>
                        </a:rPr>
                        <a:t>}</a:t>
                      </a:r>
                      <a:endParaRPr lang="en-US" altLang="zh-CN" b="1" dirty="0">
                        <a:latin typeface="宋体" panose="02000500000000000000" pitchFamily="2" charset="-122"/>
                      </a:endParaRPr>
                    </a:p>
                  </a:txBody>
                  <a:tcPr marL="23997" marR="23997" marT="18000" marB="18000" anchor="ctr">
                    <a:lnL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 hMerge="1">
                  <a:tcPr>
                    <a:lnR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9712" name="内容占位符 29711"/>
          <p:cNvGraphicFramePr>
            <a:graphicFrameLocks noGrp="1"/>
          </p:cNvGraphicFramePr>
          <p:nvPr>
            <p:ph sz="quarter" idx="3"/>
          </p:nvPr>
        </p:nvGraphicFramePr>
        <p:xfrm>
          <a:off x="7470775" y="3052763"/>
          <a:ext cx="4016375" cy="1098550"/>
        </p:xfrm>
        <a:graphic>
          <a:graphicData uri="http://schemas.openxmlformats.org/drawingml/2006/table">
            <a:tbl>
              <a:tblPr/>
              <a:tblGrid>
                <a:gridCol w="723900"/>
                <a:gridCol w="3292475"/>
              </a:tblGrid>
              <a:tr h="274638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b="1" dirty="0">
                          <a:latin typeface="Times New Roman" pitchFamily="18" charset="0"/>
                        </a:rPr>
                        <a:t>For (i=0;i&lt;100;i++){</a:t>
                      </a:r>
                      <a:endParaRPr lang="en-US" altLang="zh-CN" b="1" dirty="0">
                        <a:latin typeface="Times New Roman" pitchFamily="18" charset="0"/>
                      </a:endParaRPr>
                    </a:p>
                  </a:txBody>
                  <a:tcPr marL="23997" marR="23997" marT="18000" marB="18000" anchor="ctr">
                    <a:lnL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 hMerge="1">
                  <a:tcPr>
                    <a:lnR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</a:tr>
              <a:tr h="27463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buNone/>
                      </a:pPr>
                      <a:endParaRPr lang="zh-CN" altLang="zh-CN" b="1" dirty="0">
                        <a:latin typeface="Times New Roman" pitchFamily="18" charset="0"/>
                      </a:endParaRPr>
                    </a:p>
                  </a:txBody>
                  <a:tcPr marL="23997" marR="23997" marT="18000" marB="18000" anchor="ctr">
                    <a:lnL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b="1" dirty="0">
                          <a:latin typeface="Times New Roman" pitchFamily="18" charset="0"/>
                        </a:rPr>
                        <a:t>A[i] = A[i] + B[i];</a:t>
                      </a:r>
                      <a:endParaRPr lang="en-US" altLang="zh-CN" b="1" dirty="0">
                        <a:latin typeface="Times New Roman" pitchFamily="18" charset="0"/>
                      </a:endParaRPr>
                    </a:p>
                  </a:txBody>
                  <a:tcPr marL="23997" marR="23997" marT="18000" marB="18000" anchor="ctr">
                    <a:lnL>
                      <a:noFill/>
                    </a:lnL>
                    <a:lnR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buNone/>
                      </a:pPr>
                      <a:endParaRPr lang="zh-CN" altLang="zh-CN" b="1" dirty="0">
                        <a:latin typeface="Times New Roman" pitchFamily="18" charset="0"/>
                      </a:endParaRPr>
                    </a:p>
                  </a:txBody>
                  <a:tcPr marL="23997" marR="23997" marT="18000" marB="18000" anchor="ctr">
                    <a:lnL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b="1" dirty="0">
                          <a:latin typeface="Times New Roman" pitchFamily="18" charset="0"/>
                        </a:rPr>
                        <a:t>B[i+1] = C[i] + D[i];</a:t>
                      </a:r>
                      <a:endParaRPr lang="en-US" altLang="zh-CN" b="1" dirty="0">
                        <a:latin typeface="Times New Roman" pitchFamily="18" charset="0"/>
                      </a:endParaRPr>
                    </a:p>
                  </a:txBody>
                  <a:tcPr marL="23997" marR="23997" marT="18000" marB="18000" anchor="ctr">
                    <a:lnL>
                      <a:noFill/>
                    </a:lnL>
                    <a:lnR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  <a:tr h="274637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b="1" dirty="0">
                          <a:latin typeface="Times New Roman" pitchFamily="18" charset="0"/>
                        </a:rPr>
                        <a:t>}</a:t>
                      </a:r>
                      <a:endParaRPr lang="en-US" altLang="zh-CN" b="1" dirty="0">
                        <a:latin typeface="Times New Roman" pitchFamily="18" charset="0"/>
                      </a:endParaRPr>
                    </a:p>
                  </a:txBody>
                  <a:tcPr marL="23997" marR="23997" marT="18000" marB="18000" anchor="ctr">
                    <a:lnL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 hMerge="1">
                  <a:tcPr>
                    <a:lnR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9723" name="表格 29722"/>
          <p:cNvGraphicFramePr/>
          <p:nvPr/>
        </p:nvGraphicFramePr>
        <p:xfrm>
          <a:off x="7464425" y="4487863"/>
          <a:ext cx="4016375" cy="1610355"/>
        </p:xfrm>
        <a:graphic>
          <a:graphicData uri="http://schemas.openxmlformats.org/drawingml/2006/table">
            <a:tbl>
              <a:tblPr/>
              <a:tblGrid>
                <a:gridCol w="723900"/>
                <a:gridCol w="3292475"/>
              </a:tblGrid>
              <a:tr h="274638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b="1" dirty="0">
                          <a:latin typeface="Times New Roman" pitchFamily="18" charset="0"/>
                        </a:rPr>
                        <a:t>A[0] = A[0] + B[0];</a:t>
                      </a:r>
                      <a:endParaRPr lang="en-US" altLang="zh-CN" b="1" dirty="0">
                        <a:latin typeface="Times New Roman" pitchFamily="18" charset="0"/>
                      </a:endParaRPr>
                    </a:p>
                  </a:txBody>
                  <a:tcPr marL="23997" marR="23997" marT="18000" marB="18000" anchor="ctr">
                    <a:lnL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 hMerge="1">
                  <a:tcPr>
                    <a:lnR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</a:tr>
              <a:tr h="274637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b="1" dirty="0">
                          <a:latin typeface="Times New Roman" pitchFamily="18" charset="0"/>
                        </a:rPr>
                        <a:t>For (i=0;i&lt;99;i++){</a:t>
                      </a:r>
                      <a:endParaRPr lang="en-US" altLang="zh-CN" b="1" dirty="0">
                        <a:latin typeface="Times New Roman" pitchFamily="18" charset="0"/>
                      </a:endParaRPr>
                    </a:p>
                  </a:txBody>
                  <a:tcPr marL="23997" marR="23997" marT="18000" marB="18000" anchor="ctr">
                    <a:lnL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 hMerge="1">
                  <a:tcPr>
                    <a:lnR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27463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buNone/>
                      </a:pPr>
                      <a:endParaRPr lang="zh-CN" altLang="zh-CN" b="1" dirty="0">
                        <a:latin typeface="Times New Roman" pitchFamily="18" charset="0"/>
                      </a:endParaRPr>
                    </a:p>
                  </a:txBody>
                  <a:tcPr marL="23997" marR="23997" marT="18000" marB="18000" anchor="ctr">
                    <a:lnL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b="1" dirty="0">
                          <a:latin typeface="Times New Roman" pitchFamily="18" charset="0"/>
                        </a:rPr>
                        <a:t>B[i+1] = C[i] + D[i];</a:t>
                      </a:r>
                      <a:endParaRPr lang="en-US" altLang="zh-CN" b="1" dirty="0">
                        <a:latin typeface="Times New Roman" pitchFamily="18" charset="0"/>
                      </a:endParaRPr>
                    </a:p>
                  </a:txBody>
                  <a:tcPr marL="23997" marR="23997" marT="18000" marB="18000" anchor="ctr">
                    <a:lnL>
                      <a:noFill/>
                    </a:lnL>
                    <a:lnR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  <a:tr h="27463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buNone/>
                      </a:pPr>
                      <a:endParaRPr lang="zh-CN" altLang="zh-CN" b="1" dirty="0">
                        <a:latin typeface="Times New Roman" pitchFamily="18" charset="0"/>
                      </a:endParaRPr>
                    </a:p>
                  </a:txBody>
                  <a:tcPr marL="23997" marR="23997" marT="18000" marB="18000" anchor="ctr">
                    <a:lnL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b="1" dirty="0">
                          <a:latin typeface="Times New Roman" pitchFamily="18" charset="0"/>
                        </a:rPr>
                        <a:t>A[i+1] = A[i+1] + B[i+1];</a:t>
                      </a:r>
                      <a:endParaRPr lang="en-US" altLang="zh-CN" b="1" dirty="0">
                        <a:latin typeface="Times New Roman" pitchFamily="18" charset="0"/>
                      </a:endParaRPr>
                    </a:p>
                  </a:txBody>
                  <a:tcPr marL="23997" marR="23997" marT="18000" marB="18000" anchor="ctr">
                    <a:lnL>
                      <a:noFill/>
                    </a:lnL>
                    <a:lnR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  <a:tr h="236538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b="1" dirty="0">
                          <a:latin typeface="Times New Roman" pitchFamily="18" charset="0"/>
                        </a:rPr>
                        <a:t>}</a:t>
                      </a:r>
                      <a:endParaRPr lang="en-US" altLang="zh-CN" b="1" dirty="0">
                        <a:latin typeface="Times New Roman" pitchFamily="18" charset="0"/>
                      </a:endParaRPr>
                    </a:p>
                  </a:txBody>
                  <a:tcPr marL="23997" marR="23997" marT="18000" marB="18000" anchor="ctr">
                    <a:lnL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 hMerge="1">
                  <a:tcPr>
                    <a:lnR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274637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  <a:defRPr sz="12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b="1" dirty="0">
                          <a:latin typeface="Times New Roman" pitchFamily="18" charset="0"/>
                        </a:rPr>
                        <a:t>B[100] = C[100] + D[100];</a:t>
                      </a:r>
                      <a:endParaRPr lang="en-US" altLang="zh-CN" b="1" dirty="0">
                        <a:latin typeface="Times New Roman" pitchFamily="18" charset="0"/>
                      </a:endParaRPr>
                    </a:p>
                  </a:txBody>
                  <a:tcPr marL="23997" marR="23997" marT="18000" marB="18000" anchor="ctr">
                    <a:lnL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 hMerge="1">
                  <a:tcPr>
                    <a:lnR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31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0723" name="Rectangle 4"/>
          <p:cNvSpPr/>
          <p:nvPr/>
        </p:nvSpPr>
        <p:spPr>
          <a:xfrm>
            <a:off x="215900" y="239713"/>
            <a:ext cx="4895850" cy="7953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>
              <a:spcBef>
                <a:spcPct val="0"/>
              </a:spcBef>
            </a:pPr>
            <a:r>
              <a:rPr lang="zh-CN" altLang="en-US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软流水</a:t>
            </a:r>
            <a:endParaRPr lang="zh-CN" altLang="en-US" sz="36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  <p:pic>
        <p:nvPicPr>
          <p:cNvPr id="30724" name="Picture 5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350963" y="1377950"/>
            <a:ext cx="3160712" cy="1152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25" name="Picture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0363" y="2886075"/>
            <a:ext cx="4087812" cy="1981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26" name="Picture 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93838" y="5414963"/>
            <a:ext cx="5613400" cy="1085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27" name="Rectangle 8"/>
          <p:cNvSpPr/>
          <p:nvPr/>
        </p:nvSpPr>
        <p:spPr>
          <a:xfrm>
            <a:off x="4921250" y="495935"/>
            <a:ext cx="6983730" cy="2033270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buChar char="•"/>
            </a:pPr>
            <a:r>
              <a:rPr lang="zh-CN" altLang="en-US" sz="2000" b="1" dirty="0">
                <a:latin typeface="宋体" panose="02000500000000000000" pitchFamily="2" charset="-122"/>
                <a:cs typeface="宋体" panose="02000500000000000000" pitchFamily="2" charset="-122"/>
              </a:rPr>
              <a:t>新循环体的每个操作来自不同的循环体，以分开数据相关的指令，相当于软件的</a:t>
            </a:r>
            <a:r>
              <a:rPr lang="en-US" altLang="zh-CN" sz="2000" b="1" dirty="0">
                <a:latin typeface="宋体" panose="02000500000000000000" pitchFamily="2" charset="-122"/>
                <a:cs typeface="宋体" panose="02000500000000000000" pitchFamily="2" charset="-122"/>
              </a:rPr>
              <a:t>Tomasulo</a:t>
            </a:r>
            <a:r>
              <a:rPr lang="zh-CN" altLang="en-US" sz="2000" b="1" dirty="0">
                <a:latin typeface="宋体" panose="02000500000000000000" pitchFamily="2" charset="-122"/>
                <a:cs typeface="宋体" panose="02000500000000000000" pitchFamily="2" charset="-122"/>
              </a:rPr>
              <a:t>算法</a:t>
            </a:r>
            <a:endParaRPr lang="zh-CN" altLang="en-US" sz="2000" b="1" dirty="0">
              <a:latin typeface="宋体" panose="02000500000000000000" pitchFamily="2" charset="-122"/>
              <a:cs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Char char="•"/>
            </a:pPr>
            <a:r>
              <a:rPr lang="zh-CN" altLang="en-US" sz="2000" b="1" dirty="0">
                <a:latin typeface="宋体" panose="02000500000000000000" pitchFamily="2" charset="-122"/>
                <a:cs typeface="宋体" panose="02000500000000000000" pitchFamily="2" charset="-122"/>
              </a:rPr>
              <a:t>符号级循环展开，比真正循环展开代码开销小</a:t>
            </a:r>
            <a:endParaRPr lang="zh-CN" altLang="en-US" sz="2000" b="1" dirty="0">
              <a:latin typeface="宋体" panose="02000500000000000000" pitchFamily="2" charset="-122"/>
              <a:cs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Char char="•"/>
            </a:pPr>
            <a:r>
              <a:rPr lang="zh-CN" altLang="en-US" sz="2000" b="1" dirty="0">
                <a:solidFill>
                  <a:srgbClr val="FF0000"/>
                </a:solidFill>
                <a:latin typeface="宋体" panose="02000500000000000000" pitchFamily="2" charset="-122"/>
                <a:cs typeface="宋体" panose="02000500000000000000" pitchFamily="2" charset="-122"/>
              </a:rPr>
              <a:t>静态流水线中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00500000000000000" pitchFamily="2" charset="-122"/>
                <a:cs typeface="宋体" panose="02000500000000000000" pitchFamily="2" charset="-122"/>
              </a:rPr>
              <a:t>WAW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00500000000000000" pitchFamily="2" charset="-122"/>
                <a:cs typeface="宋体" panose="02000500000000000000" pitchFamily="2" charset="-122"/>
              </a:rPr>
              <a:t>和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00500000000000000" pitchFamily="2" charset="-122"/>
                <a:cs typeface="宋体" panose="02000500000000000000" pitchFamily="2" charset="-122"/>
              </a:rPr>
              <a:t>WAR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00500000000000000" pitchFamily="2" charset="-122"/>
                <a:cs typeface="宋体" panose="02000500000000000000" pitchFamily="2" charset="-122"/>
              </a:rPr>
              <a:t>相关不会引起阻塞</a:t>
            </a:r>
            <a:endParaRPr lang="zh-CN" altLang="en-US" sz="2000" b="1" dirty="0">
              <a:solidFill>
                <a:srgbClr val="FF0000"/>
              </a:solidFill>
              <a:latin typeface="宋体" panose="02000500000000000000" pitchFamily="2" charset="-122"/>
              <a:cs typeface="宋体" panose="02000500000000000000" pitchFamily="2" charset="-122"/>
            </a:endParaRPr>
          </a:p>
        </p:txBody>
      </p:sp>
      <p:pic>
        <p:nvPicPr>
          <p:cNvPr id="30728" name="Picture 9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177213" y="2663825"/>
            <a:ext cx="3998912" cy="20939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29" name="Picture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101013" y="4797425"/>
            <a:ext cx="3738562" cy="20605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4101" name="Rectangle 2"/>
          <p:cNvSpPr>
            <a:spLocks noGrp="1"/>
          </p:cNvSpPr>
          <p:nvPr>
            <p:ph type="title"/>
          </p:nvPr>
        </p:nvSpPr>
        <p:spPr>
          <a:xfrm>
            <a:off x="884238" y="0"/>
            <a:ext cx="10361612" cy="858838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把控制相关转换成数据相关</a:t>
            </a:r>
            <a:endParaRPr lang="zh-CN" altLang="en-US" sz="3600" dirty="0"/>
          </a:p>
        </p:txBody>
      </p:sp>
      <p:sp>
        <p:nvSpPr>
          <p:cNvPr id="4102" name="Rectangle 3"/>
          <p:cNvSpPr>
            <a:spLocks noGrp="1" noChangeArrowheads="1"/>
          </p:cNvSpPr>
          <p:nvPr>
            <p:ph idx="1"/>
          </p:nvPr>
        </p:nvSpPr>
        <p:spPr>
          <a:xfrm>
            <a:off x="500063" y="985838"/>
            <a:ext cx="11004550" cy="38830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把条件转移指令转换为条件执行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</a:rPr>
              <a:t>if (x) then A = B op C else NOP</a:t>
            </a:r>
            <a:endParaRPr kumimoji="1" lang="en-US" altLang="zh-CN" sz="1600" b="1" i="0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只有条件为真时才写结果，为假时不写结果也不发生例外</a:t>
            </a:r>
            <a:endParaRPr kumimoji="1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RISC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系统如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Alpha, MIPS, PowerPC, SPARC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都增加了条件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MOVE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指令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; PA-RISC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的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nullification</a:t>
            </a:r>
            <a:endParaRPr kumimoji="1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EPIC: 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使用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64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个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1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位的谓词寄存器来选择是否写执行结果</a:t>
            </a:r>
            <a:endParaRPr kumimoji="1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条件指令的缺点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条件为假时仍需要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1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拍，占用发射槽和功能部件</a:t>
            </a:r>
            <a:endParaRPr kumimoji="1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条件未确定仍需要在执行前等待，转移猜测反而在执行后</a:t>
            </a:r>
            <a:endParaRPr kumimoji="1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条件复杂时会降低效率，因为条件在执行时才确定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graphicFrame>
        <p:nvGraphicFramePr>
          <p:cNvPr id="4098" name="Object 5"/>
          <p:cNvGraphicFramePr/>
          <p:nvPr/>
        </p:nvGraphicFramePr>
        <p:xfrm>
          <a:off x="2025650" y="4922838"/>
          <a:ext cx="7850188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" r:id="rId1" imgW="5886450" imgH="971550" progId="PBrush">
                  <p:embed/>
                </p:oleObj>
              </mc:Choice>
              <mc:Fallback>
                <p:oleObj name="" r:id="rId1" imgW="5886450" imgH="971550" progId="PBrush">
                  <p:embed/>
                  <p:pic>
                    <p:nvPicPr>
                      <p:cNvPr id="0" name="图片 4096" descr="image2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25650" y="4922838"/>
                        <a:ext cx="7850188" cy="971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6"/>
          <p:cNvGraphicFramePr/>
          <p:nvPr/>
        </p:nvGraphicFramePr>
        <p:xfrm>
          <a:off x="1987550" y="5876925"/>
          <a:ext cx="7888288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" r:id="rId3" imgW="5915025" imgH="933450" progId="PBrush">
                  <p:embed/>
                </p:oleObj>
              </mc:Choice>
              <mc:Fallback>
                <p:oleObj name="" r:id="rId3" imgW="5915025" imgH="933450" progId="PBrush">
                  <p:embed/>
                  <p:pic>
                    <p:nvPicPr>
                      <p:cNvPr id="0" name="图片 4102" descr="image2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87550" y="5876925"/>
                        <a:ext cx="7888288" cy="933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1747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10361613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条件指令举例</a:t>
            </a:r>
            <a:endParaRPr lang="zh-CN" altLang="en-US" sz="3600" dirty="0"/>
          </a:p>
        </p:txBody>
      </p:sp>
      <p:sp>
        <p:nvSpPr>
          <p:cNvPr id="31748" name="Rectangle 3"/>
          <p:cNvSpPr>
            <a:spLocks noGrp="1"/>
          </p:cNvSpPr>
          <p:nvPr>
            <p:ph idx="1"/>
          </p:nvPr>
        </p:nvSpPr>
        <p:spPr>
          <a:xfrm>
            <a:off x="703263" y="1287463"/>
            <a:ext cx="10964862" cy="155892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ct val="0"/>
              </a:spcBef>
            </a:pPr>
            <a:r>
              <a:rPr kumimoji="1" lang="zh-CN" altLang="en-US" dirty="0">
                <a:latin typeface="+mn-lt"/>
                <a:ea typeface="+mn-ea"/>
                <a:cs typeface="+mn-cs"/>
              </a:rPr>
              <a:t>假设转移指令没有延迟槽</a:t>
            </a:r>
            <a:endParaRPr kumimoji="1" lang="zh-CN" altLang="en-US" dirty="0">
              <a:latin typeface="+mn-lt"/>
              <a:ea typeface="+mn-ea"/>
              <a:cs typeface="+mn-cs"/>
            </a:endParaRPr>
          </a:p>
          <a:p>
            <a:pPr eaLnBrk="1" hangingPunct="1">
              <a:spcBef>
                <a:spcPct val="0"/>
              </a:spcBef>
            </a:pPr>
            <a:r>
              <a:rPr kumimoji="1" lang="zh-CN" altLang="en-US" dirty="0">
                <a:latin typeface="+mn-lt"/>
                <a:ea typeface="+mn-ea"/>
                <a:cs typeface="+mn-cs"/>
              </a:rPr>
              <a:t>条件指令可消除简单的条件转移，对取绝对值等操作有用</a:t>
            </a:r>
            <a:endParaRPr kumimoji="1" lang="zh-CN" altLang="en-US" dirty="0">
              <a:latin typeface="+mn-lt"/>
              <a:ea typeface="+mn-ea"/>
              <a:cs typeface="+mn-cs"/>
            </a:endParaRPr>
          </a:p>
          <a:p>
            <a:pPr eaLnBrk="1" hangingPunct="1">
              <a:spcBef>
                <a:spcPct val="0"/>
              </a:spcBef>
            </a:pPr>
            <a:r>
              <a:rPr kumimoji="1" lang="zh-CN" altLang="en-US" dirty="0">
                <a:latin typeface="+mn-lt"/>
                <a:ea typeface="+mn-ea"/>
                <a:cs typeface="+mn-cs"/>
              </a:rPr>
              <a:t>条件指令仍要在执行前等待条件，注意例外的处理</a:t>
            </a:r>
            <a:endParaRPr kumimoji="1" lang="zh-CN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31749" name="Text Box 4"/>
          <p:cNvSpPr txBox="1"/>
          <p:nvPr/>
        </p:nvSpPr>
        <p:spPr>
          <a:xfrm>
            <a:off x="268288" y="3489325"/>
            <a:ext cx="4902200" cy="1198880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800" dirty="0">
                <a:latin typeface="宋体" panose="02000500000000000000" pitchFamily="2" charset="-122"/>
              </a:rPr>
              <a:t>//if (A=0) {S=T;}</a:t>
            </a:r>
            <a:r>
              <a:rPr lang="en-US" altLang="zh-CN" sz="1800" b="1" dirty="0">
                <a:latin typeface="宋体" panose="02000500000000000000" pitchFamily="2" charset="-122"/>
              </a:rPr>
              <a:t> </a:t>
            </a:r>
            <a:endParaRPr lang="en-US" altLang="zh-CN" sz="1800" b="1" dirty="0">
              <a:latin typeface="宋体" panose="02000500000000000000" pitchFamily="2" charset="-122"/>
            </a:endParaRPr>
          </a:p>
          <a:p>
            <a:pPr>
              <a:spcBef>
                <a:spcPct val="0"/>
              </a:spcBef>
            </a:pPr>
            <a:r>
              <a:rPr lang="en-US" altLang="zh-CN" sz="1800" b="1" dirty="0">
                <a:latin typeface="宋体" panose="02000500000000000000" pitchFamily="2" charset="-122"/>
              </a:rPr>
              <a:t>      BNEZ R1,L</a:t>
            </a:r>
            <a:endParaRPr lang="en-US" altLang="zh-CN" sz="1800" b="1" dirty="0">
              <a:latin typeface="宋体" panose="02000500000000000000" pitchFamily="2" charset="-122"/>
            </a:endParaRPr>
          </a:p>
          <a:p>
            <a:pPr>
              <a:spcBef>
                <a:spcPct val="0"/>
              </a:spcBef>
            </a:pPr>
            <a:r>
              <a:rPr lang="en-US" altLang="zh-CN" sz="1800" b="1" dirty="0">
                <a:latin typeface="宋体" panose="02000500000000000000" pitchFamily="2" charset="-122"/>
              </a:rPr>
              <a:t>      ADDU R2,R3,R0</a:t>
            </a:r>
            <a:endParaRPr lang="en-US" altLang="zh-CN" sz="1800" b="1" dirty="0">
              <a:latin typeface="宋体" panose="02000500000000000000" pitchFamily="2" charset="-122"/>
            </a:endParaRPr>
          </a:p>
          <a:p>
            <a:pPr>
              <a:spcBef>
                <a:spcPct val="0"/>
              </a:spcBef>
            </a:pPr>
            <a:r>
              <a:rPr lang="en-US" altLang="zh-CN" sz="1800" b="1" dirty="0">
                <a:latin typeface="宋体" panose="02000500000000000000" pitchFamily="2" charset="-122"/>
              </a:rPr>
              <a:t>L: </a:t>
            </a:r>
            <a:endParaRPr lang="en-US" altLang="zh-CN" sz="1800" b="1" dirty="0">
              <a:latin typeface="宋体" panose="02000500000000000000" pitchFamily="2" charset="-122"/>
            </a:endParaRPr>
          </a:p>
        </p:txBody>
      </p:sp>
      <p:sp>
        <p:nvSpPr>
          <p:cNvPr id="31750" name="Text Box 5"/>
          <p:cNvSpPr txBox="1"/>
          <p:nvPr/>
        </p:nvSpPr>
        <p:spPr>
          <a:xfrm>
            <a:off x="6440488" y="3851275"/>
            <a:ext cx="5376862" cy="368300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宋体" panose="02000500000000000000" pitchFamily="2" charset="-122"/>
              </a:rPr>
              <a:t>    CMOVZ R2,R3,R1</a:t>
            </a:r>
            <a:endParaRPr lang="en-US" altLang="zh-CN" sz="1800" b="1" dirty="0">
              <a:latin typeface="宋体" panose="02000500000000000000" pitchFamily="2" charset="-122"/>
            </a:endParaRPr>
          </a:p>
        </p:txBody>
      </p:sp>
      <p:sp>
        <p:nvSpPr>
          <p:cNvPr id="31751" name="AutoShape 7"/>
          <p:cNvSpPr/>
          <p:nvPr/>
        </p:nvSpPr>
        <p:spPr>
          <a:xfrm>
            <a:off x="5310188" y="3878263"/>
            <a:ext cx="1036637" cy="334962"/>
          </a:xfrm>
          <a:prstGeom prst="rightArrow">
            <a:avLst>
              <a:gd name="adj1" fmla="val 50000"/>
              <a:gd name="adj2" fmla="val 58041"/>
            </a:avLst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31752" name="Text Box 11"/>
          <p:cNvSpPr txBox="1"/>
          <p:nvPr/>
        </p:nvSpPr>
        <p:spPr>
          <a:xfrm>
            <a:off x="242888" y="4968875"/>
            <a:ext cx="4989512" cy="1476375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宋体" panose="02000500000000000000" pitchFamily="2" charset="-122"/>
              </a:rPr>
              <a:t>LW    R1,40(R2)    ADD R3,R4,R5</a:t>
            </a:r>
            <a:endParaRPr lang="en-US" altLang="zh-CN" sz="1800" b="1" dirty="0">
              <a:latin typeface="宋体" panose="02000500000000000000" pitchFamily="2" charset="-122"/>
            </a:endParaRPr>
          </a:p>
          <a:p>
            <a:pPr>
              <a:spcBef>
                <a:spcPct val="0"/>
              </a:spcBef>
            </a:pPr>
            <a:r>
              <a:rPr lang="en-US" altLang="zh-CN" sz="1800" b="1" dirty="0">
                <a:latin typeface="宋体" panose="02000500000000000000" pitchFamily="2" charset="-122"/>
              </a:rPr>
              <a:t>                   ADD R6,R3,R7</a:t>
            </a:r>
            <a:endParaRPr lang="en-US" altLang="zh-CN" sz="1800" b="1" dirty="0">
              <a:latin typeface="宋体" panose="02000500000000000000" pitchFamily="2" charset="-122"/>
            </a:endParaRPr>
          </a:p>
          <a:p>
            <a:pPr>
              <a:spcBef>
                <a:spcPct val="0"/>
              </a:spcBef>
            </a:pPr>
            <a:r>
              <a:rPr lang="en-US" altLang="zh-CN" sz="1800" b="1" dirty="0">
                <a:latin typeface="宋体" panose="02000500000000000000" pitchFamily="2" charset="-122"/>
              </a:rPr>
              <a:t>BEQZ  R10,L</a:t>
            </a:r>
            <a:endParaRPr lang="en-US" altLang="zh-CN" sz="1800" b="1" dirty="0">
              <a:latin typeface="宋体" panose="02000500000000000000" pitchFamily="2" charset="-122"/>
            </a:endParaRPr>
          </a:p>
          <a:p>
            <a:pPr>
              <a:spcBef>
                <a:spcPct val="0"/>
              </a:spcBef>
            </a:pPr>
            <a:r>
              <a:rPr lang="en-US" altLang="zh-CN" sz="1800" b="1" dirty="0">
                <a:latin typeface="宋体" panose="02000500000000000000" pitchFamily="2" charset="-122"/>
              </a:rPr>
              <a:t>LW    R8,0(R10)</a:t>
            </a:r>
            <a:endParaRPr lang="en-US" altLang="zh-CN" sz="1800" b="1" dirty="0">
              <a:latin typeface="宋体" panose="02000500000000000000" pitchFamily="2" charset="-122"/>
            </a:endParaRPr>
          </a:p>
          <a:p>
            <a:pPr>
              <a:spcBef>
                <a:spcPct val="0"/>
              </a:spcBef>
            </a:pPr>
            <a:r>
              <a:rPr lang="en-US" altLang="zh-CN" sz="1800" b="1" dirty="0">
                <a:latin typeface="宋体" panose="02000500000000000000" pitchFamily="2" charset="-122"/>
              </a:rPr>
              <a:t>LW    R9,0(R8)</a:t>
            </a:r>
            <a:endParaRPr lang="en-US" altLang="zh-CN" sz="1800" b="1" dirty="0">
              <a:latin typeface="宋体" panose="02000500000000000000" pitchFamily="2" charset="-122"/>
            </a:endParaRPr>
          </a:p>
        </p:txBody>
      </p:sp>
      <p:sp>
        <p:nvSpPr>
          <p:cNvPr id="31753" name="AutoShape 12"/>
          <p:cNvSpPr/>
          <p:nvPr/>
        </p:nvSpPr>
        <p:spPr>
          <a:xfrm>
            <a:off x="5334000" y="5394325"/>
            <a:ext cx="993775" cy="334963"/>
          </a:xfrm>
          <a:prstGeom prst="rightArrow">
            <a:avLst>
              <a:gd name="adj1" fmla="val 50000"/>
              <a:gd name="adj2" fmla="val 55641"/>
            </a:avLst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31754" name="Text Box 13"/>
          <p:cNvSpPr txBox="1"/>
          <p:nvPr/>
        </p:nvSpPr>
        <p:spPr>
          <a:xfrm>
            <a:off x="6429375" y="4962525"/>
            <a:ext cx="5449888" cy="1198880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800" b="1" dirty="0">
                <a:latin typeface="宋体" panose="02000500000000000000" pitchFamily="2" charset="-122"/>
              </a:rPr>
              <a:t>LW    R1,40(R2)       ADD R3,R4,R5</a:t>
            </a:r>
            <a:endParaRPr lang="en-US" altLang="zh-CN" sz="1800" b="1" dirty="0">
              <a:latin typeface="宋体" panose="02000500000000000000" pitchFamily="2" charset="-122"/>
            </a:endParaRPr>
          </a:p>
          <a:p>
            <a:pPr>
              <a:spcBef>
                <a:spcPct val="0"/>
              </a:spcBef>
            </a:pPr>
            <a:r>
              <a:rPr lang="en-US" altLang="zh-CN" sz="1800" b="1" dirty="0">
                <a:latin typeface="宋体" panose="02000500000000000000" pitchFamily="2" charset="-122"/>
              </a:rPr>
              <a:t>LWC   R8,0(R10),R10    ADD R6,R3,R7</a:t>
            </a:r>
            <a:endParaRPr lang="en-US" altLang="zh-CN" sz="1800" b="1" dirty="0">
              <a:latin typeface="宋体" panose="02000500000000000000" pitchFamily="2" charset="-122"/>
            </a:endParaRPr>
          </a:p>
          <a:p>
            <a:pPr>
              <a:spcBef>
                <a:spcPct val="0"/>
              </a:spcBef>
            </a:pPr>
            <a:r>
              <a:rPr lang="en-US" altLang="zh-CN" sz="1800" b="1" dirty="0">
                <a:latin typeface="宋体" panose="02000500000000000000" pitchFamily="2" charset="-122"/>
              </a:rPr>
              <a:t>BEQZ   R10,L</a:t>
            </a:r>
            <a:endParaRPr lang="en-US" altLang="zh-CN" sz="1800" b="1" dirty="0">
              <a:latin typeface="宋体" panose="02000500000000000000" pitchFamily="2" charset="-122"/>
            </a:endParaRPr>
          </a:p>
          <a:p>
            <a:pPr>
              <a:spcBef>
                <a:spcPct val="0"/>
              </a:spcBef>
            </a:pPr>
            <a:r>
              <a:rPr lang="en-US" altLang="zh-CN" sz="1800" b="1" dirty="0">
                <a:latin typeface="宋体" panose="02000500000000000000" pitchFamily="2" charset="-122"/>
              </a:rPr>
              <a:t>LW    R9,0(R8)</a:t>
            </a:r>
            <a:endParaRPr lang="en-US" altLang="zh-CN" sz="1800" b="1" dirty="0">
              <a:latin typeface="宋体" panose="02000500000000000000" pitchFamily="2" charset="-122"/>
            </a:endParaRPr>
          </a:p>
        </p:txBody>
      </p:sp>
      <p:sp>
        <p:nvSpPr>
          <p:cNvPr id="31755" name="Line 14"/>
          <p:cNvSpPr/>
          <p:nvPr/>
        </p:nvSpPr>
        <p:spPr>
          <a:xfrm>
            <a:off x="1255713" y="6064250"/>
            <a:ext cx="503237" cy="104775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756" name="Line 15"/>
          <p:cNvSpPr/>
          <p:nvPr/>
        </p:nvSpPr>
        <p:spPr>
          <a:xfrm>
            <a:off x="7410450" y="5522913"/>
            <a:ext cx="449263" cy="36830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2771" name="Rectangle 2"/>
          <p:cNvSpPr>
            <a:spLocks noGrp="1"/>
          </p:cNvSpPr>
          <p:nvPr>
            <p:ph type="title"/>
          </p:nvPr>
        </p:nvSpPr>
        <p:spPr>
          <a:xfrm>
            <a:off x="817563" y="2909888"/>
            <a:ext cx="10361612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4000" dirty="0"/>
              <a:t>硬件动态转移预测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3795" name="Rectangle 2"/>
          <p:cNvSpPr/>
          <p:nvPr/>
        </p:nvSpPr>
        <p:spPr>
          <a:xfrm>
            <a:off x="385763" y="1284288"/>
            <a:ext cx="11612562" cy="418623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buChar char="•"/>
            </a:pPr>
            <a:r>
              <a:rPr lang="zh-CN" altLang="en-US" sz="2400" b="1" dirty="0">
                <a:latin typeface="Times New Roman" pitchFamily="18" charset="0"/>
              </a:rPr>
              <a:t>在取指或译码阶段预测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转移是否成功</a:t>
            </a:r>
            <a:r>
              <a:rPr lang="zh-CN" altLang="en-US" sz="2400" b="1" dirty="0">
                <a:latin typeface="Times New Roman" pitchFamily="18" charset="0"/>
              </a:rPr>
              <a:t>以及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转移目标</a:t>
            </a:r>
            <a:r>
              <a:rPr lang="zh-CN" altLang="en-US" sz="2400" b="1" dirty="0">
                <a:latin typeface="Times New Roman" pitchFamily="18" charset="0"/>
              </a:rPr>
              <a:t>进行后续指令的取指</a:t>
            </a:r>
            <a:endParaRPr lang="zh-CN" altLang="en-US" sz="2400" b="1" dirty="0">
              <a:latin typeface="Times New Roman" pitchFamily="18" charset="0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ct val="0"/>
              </a:spcBef>
              <a:buChar char="•"/>
            </a:pPr>
            <a:r>
              <a:rPr lang="zh-CN" altLang="en-US" sz="2000" b="1" dirty="0">
                <a:latin typeface="Times New Roman" pitchFamily="18" charset="0"/>
              </a:rPr>
              <a:t>以减少指令流水线由于控制相关而堵塞</a:t>
            </a:r>
            <a:endParaRPr lang="zh-CN" altLang="en-US" sz="2000" b="1" dirty="0">
              <a:latin typeface="Times New Roman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Char char="•"/>
            </a:pPr>
            <a:r>
              <a:rPr lang="zh-CN" altLang="en-US" sz="2400" b="1" dirty="0">
                <a:latin typeface="Times New Roman" pitchFamily="18" charset="0"/>
              </a:rPr>
              <a:t>在执行阶段判断转移预测是否正确</a:t>
            </a:r>
            <a:endParaRPr lang="zh-CN" altLang="en-US" sz="2400" b="1" dirty="0">
              <a:latin typeface="Times New Roman" pitchFamily="18" charset="0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ct val="0"/>
              </a:spcBef>
              <a:buChar char="•"/>
            </a:pPr>
            <a:r>
              <a:rPr lang="zh-CN" altLang="en-US" sz="2000" b="1" dirty="0">
                <a:latin typeface="Times New Roman" pitchFamily="18" charset="0"/>
              </a:rPr>
              <a:t>如果猜测正确，则正常提交</a:t>
            </a:r>
            <a:endParaRPr lang="zh-CN" altLang="en-US" sz="2000" b="1" dirty="0">
              <a:latin typeface="Times New Roman" pitchFamily="18" charset="0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ct val="0"/>
              </a:spcBef>
              <a:buChar char="•"/>
            </a:pPr>
            <a:r>
              <a:rPr lang="zh-CN" altLang="en-US" sz="2000" b="1" dirty="0">
                <a:latin typeface="Times New Roman" pitchFamily="18" charset="0"/>
              </a:rPr>
              <a:t>如果猜测错误，则取消该转移指令及其后续指令</a:t>
            </a:r>
            <a:endParaRPr lang="zh-CN" altLang="en-US" sz="2000" b="1" dirty="0">
              <a:latin typeface="Times New Roman" pitchFamily="18" charset="0"/>
            </a:endParaRPr>
          </a:p>
        </p:txBody>
      </p:sp>
      <p:sp>
        <p:nvSpPr>
          <p:cNvPr id="33796" name="Rectangle 3"/>
          <p:cNvSpPr/>
          <p:nvPr/>
        </p:nvSpPr>
        <p:spPr>
          <a:xfrm>
            <a:off x="979488" y="152400"/>
            <a:ext cx="10361612" cy="436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>
              <a:spcBef>
                <a:spcPct val="0"/>
              </a:spcBef>
            </a:pPr>
            <a:r>
              <a:rPr lang="zh-CN" altLang="en-US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硬件转移预测基本思路</a:t>
            </a:r>
            <a:endParaRPr lang="zh-CN" altLang="en-US" sz="36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7891" name="Rectangle 2"/>
          <p:cNvSpPr>
            <a:spLocks noChangeArrowheads="1"/>
          </p:cNvSpPr>
          <p:nvPr/>
        </p:nvSpPr>
        <p:spPr bwMode="auto">
          <a:xfrm>
            <a:off x="330200" y="831850"/>
            <a:ext cx="11612563" cy="2746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猜测依据</a:t>
            </a:r>
            <a:endParaRPr kumimoji="1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当前指令的地址（</a:t>
            </a:r>
            <a:r>
              <a:rPr kumimoji="1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PC</a:t>
            </a: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）和性质（是否转移指令）</a:t>
            </a:r>
            <a:endParaRPr kumimoji="1" lang="zh-CN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过去转移指令历史记录</a:t>
            </a:r>
            <a:endParaRPr kumimoji="1" lang="zh-CN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猜测内容</a:t>
            </a:r>
            <a:endParaRPr kumimoji="1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转移方向、转移目标地址</a:t>
            </a:r>
            <a:endParaRPr kumimoji="1" lang="zh-CN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34820" name="Rectangle 3"/>
          <p:cNvSpPr/>
          <p:nvPr/>
        </p:nvSpPr>
        <p:spPr>
          <a:xfrm>
            <a:off x="979488" y="152400"/>
            <a:ext cx="10361612" cy="436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>
              <a:spcBef>
                <a:spcPct val="0"/>
              </a:spcBef>
            </a:pPr>
            <a:r>
              <a:rPr lang="zh-CN" altLang="en-US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硬件转移预测基本原理</a:t>
            </a:r>
            <a:endParaRPr lang="zh-CN" altLang="en-US" sz="36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  <p:grpSp>
        <p:nvGrpSpPr>
          <p:cNvPr id="34821" name="Group 14"/>
          <p:cNvGrpSpPr/>
          <p:nvPr/>
        </p:nvGrpSpPr>
        <p:grpSpPr>
          <a:xfrm>
            <a:off x="1600200" y="3895725"/>
            <a:ext cx="9428163" cy="2379663"/>
            <a:chOff x="756" y="2454"/>
            <a:chExt cx="4455" cy="1499"/>
          </a:xfrm>
        </p:grpSpPr>
        <p:sp>
          <p:nvSpPr>
            <p:cNvPr id="34822" name="Rectangle 5"/>
            <p:cNvSpPr/>
            <p:nvPr/>
          </p:nvSpPr>
          <p:spPr>
            <a:xfrm>
              <a:off x="2515" y="2782"/>
              <a:ext cx="1200" cy="768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>
                <a:spcBef>
                  <a:spcPct val="0"/>
                </a:spcBef>
              </a:pPr>
              <a:r>
                <a:rPr lang="zh-CN" altLang="en-US" sz="2400" b="1" dirty="0">
                  <a:latin typeface="Arial" panose="02080604020202020204" pitchFamily="34" charset="0"/>
                </a:rPr>
                <a:t>转移预测器</a:t>
              </a:r>
              <a:endParaRPr lang="zh-CN" altLang="en-US" sz="2400" b="1" dirty="0">
                <a:latin typeface="Arial" panose="02080604020202020204" pitchFamily="34" charset="0"/>
              </a:endParaRPr>
            </a:p>
          </p:txBody>
        </p:sp>
        <p:sp>
          <p:nvSpPr>
            <p:cNvPr id="34823" name="Text Box 6"/>
            <p:cNvSpPr txBox="1"/>
            <p:nvPr/>
          </p:nvSpPr>
          <p:spPr>
            <a:xfrm>
              <a:off x="990" y="2454"/>
              <a:ext cx="575" cy="4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000" b="1" dirty="0">
                  <a:latin typeface="Times New Roman" pitchFamily="18" charset="0"/>
                </a:rPr>
                <a:t>过去转移</a:t>
              </a:r>
              <a:endParaRPr lang="zh-CN" altLang="en-US" sz="2000" b="1" dirty="0">
                <a:latin typeface="Times New Roman" pitchFamily="18" charset="0"/>
              </a:endParaRPr>
            </a:p>
            <a:p>
              <a:pPr>
                <a:spcBef>
                  <a:spcPct val="0"/>
                </a:spcBef>
              </a:pPr>
              <a:r>
                <a:rPr lang="zh-CN" altLang="en-US" sz="2000" b="1" dirty="0">
                  <a:latin typeface="Times New Roman" pitchFamily="18" charset="0"/>
                </a:rPr>
                <a:t>指令记录</a:t>
              </a:r>
              <a:endParaRPr lang="zh-CN" altLang="en-US" sz="2000" b="1" dirty="0">
                <a:latin typeface="Times New Roman" pitchFamily="18" charset="0"/>
              </a:endParaRPr>
            </a:p>
          </p:txBody>
        </p:sp>
        <p:sp>
          <p:nvSpPr>
            <p:cNvPr id="37896" name="Text Box 7"/>
            <p:cNvSpPr txBox="1">
              <a:spLocks noChangeArrowheads="1"/>
            </p:cNvSpPr>
            <p:nvPr/>
          </p:nvSpPr>
          <p:spPr bwMode="auto">
            <a:xfrm>
              <a:off x="756" y="3507"/>
              <a:ext cx="1103" cy="44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marR="0" algn="ctr" defTabSz="914400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zh-CN" altLang="en-US" sz="2000" b="1" kern="1200" cap="none" spc="0" normalizeH="0" baseline="0" noProof="0" dirty="0" smtClean="0">
                  <a:latin typeface="+mn-ea"/>
                  <a:ea typeface="+mn-ea"/>
                  <a:cs typeface="+mn-cs"/>
                </a:rPr>
                <a:t>当前指令信息</a:t>
              </a:r>
              <a:endParaRPr kumimoji="1" lang="zh-CN" altLang="en-US" sz="2000" b="1" kern="1200" cap="none" spc="0" normalizeH="0" baseline="0" noProof="0" dirty="0" smtClean="0">
                <a:latin typeface="+mn-ea"/>
                <a:ea typeface="+mn-ea"/>
                <a:cs typeface="+mn-cs"/>
              </a:endParaRPr>
            </a:p>
            <a:p>
              <a:pPr marR="0" algn="ctr" defTabSz="914400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zh-CN" altLang="en-US" sz="2000" b="1" kern="1200" cap="none" spc="0" normalizeH="0" baseline="0" noProof="0" dirty="0" smtClean="0">
                  <a:latin typeface="+mn-ea"/>
                  <a:ea typeface="+mn-ea"/>
                  <a:cs typeface="+mn-cs"/>
                </a:rPr>
                <a:t>（</a:t>
              </a:r>
              <a:r>
                <a:rPr kumimoji="1" lang="en-US" altLang="zh-CN" sz="2000" b="1" kern="1200" cap="none" spc="0" normalizeH="0" baseline="0" noProof="0" dirty="0" smtClean="0">
                  <a:latin typeface="+mn-ea"/>
                  <a:ea typeface="+mn-ea"/>
                  <a:cs typeface="+mn-cs"/>
                </a:rPr>
                <a:t>PC</a:t>
              </a:r>
              <a:r>
                <a:rPr kumimoji="1" lang="zh-CN" altLang="en-US" sz="2000" b="1" kern="1200" cap="none" spc="0" normalizeH="0" baseline="0" noProof="0" dirty="0" smtClean="0">
                  <a:latin typeface="+mn-ea"/>
                  <a:ea typeface="+mn-ea"/>
                  <a:cs typeface="+mn-cs"/>
                </a:rPr>
                <a:t>和指令性质）</a:t>
              </a:r>
              <a:endParaRPr kumimoji="1" lang="zh-CN" altLang="en-US" sz="2000" b="1" kern="1200" cap="none" spc="0" normalizeH="0" baseline="0" noProof="0" dirty="0" smtClean="0">
                <a:latin typeface="+mn-ea"/>
                <a:ea typeface="+mn-ea"/>
                <a:cs typeface="+mn-cs"/>
              </a:endParaRPr>
            </a:p>
          </p:txBody>
        </p:sp>
        <p:sp>
          <p:nvSpPr>
            <p:cNvPr id="34825" name="Text Box 8"/>
            <p:cNvSpPr txBox="1"/>
            <p:nvPr/>
          </p:nvSpPr>
          <p:spPr>
            <a:xfrm>
              <a:off x="4410" y="2560"/>
              <a:ext cx="575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000" b="1" dirty="0">
                  <a:latin typeface="Tahoma" pitchFamily="34" charset="0"/>
                </a:rPr>
                <a:t>转移方向</a:t>
              </a:r>
              <a:endParaRPr lang="zh-CN" altLang="en-US" sz="2000" dirty="0">
                <a:latin typeface="Times New Roman" pitchFamily="18" charset="0"/>
              </a:endParaRPr>
            </a:p>
          </p:txBody>
        </p:sp>
        <p:sp>
          <p:nvSpPr>
            <p:cNvPr id="34826" name="Text Box 9"/>
            <p:cNvSpPr txBox="1"/>
            <p:nvPr/>
          </p:nvSpPr>
          <p:spPr>
            <a:xfrm>
              <a:off x="4374" y="3522"/>
              <a:ext cx="83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sz="2000" b="1" dirty="0">
                  <a:latin typeface="Times New Roman" pitchFamily="18" charset="0"/>
                </a:rPr>
                <a:t>目标地址</a:t>
              </a:r>
              <a:endParaRPr lang="zh-CN" altLang="en-US" sz="2000" b="1" dirty="0">
                <a:latin typeface="Times New Roman" pitchFamily="18" charset="0"/>
              </a:endParaRPr>
            </a:p>
          </p:txBody>
        </p:sp>
        <p:sp>
          <p:nvSpPr>
            <p:cNvPr id="34827" name="Line 10"/>
            <p:cNvSpPr/>
            <p:nvPr/>
          </p:nvSpPr>
          <p:spPr>
            <a:xfrm>
              <a:off x="1843" y="2638"/>
              <a:ext cx="576" cy="336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34828" name="Line 11"/>
            <p:cNvSpPr/>
            <p:nvPr/>
          </p:nvSpPr>
          <p:spPr>
            <a:xfrm flipV="1">
              <a:off x="1843" y="3310"/>
              <a:ext cx="576" cy="336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34829" name="Line 12"/>
            <p:cNvSpPr/>
            <p:nvPr/>
          </p:nvSpPr>
          <p:spPr>
            <a:xfrm>
              <a:off x="3763" y="3214"/>
              <a:ext cx="576" cy="384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34830" name="Line 13"/>
            <p:cNvSpPr/>
            <p:nvPr/>
          </p:nvSpPr>
          <p:spPr>
            <a:xfrm flipV="1">
              <a:off x="3763" y="2686"/>
              <a:ext cx="576" cy="336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stealth" w="med" len="lg"/>
            </a:ln>
          </p:spPr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5843" name="Rectangle 2"/>
          <p:cNvSpPr>
            <a:spLocks noGrp="1"/>
          </p:cNvSpPr>
          <p:nvPr>
            <p:ph type="title"/>
          </p:nvPr>
        </p:nvSpPr>
        <p:spPr>
          <a:xfrm>
            <a:off x="998538" y="200025"/>
            <a:ext cx="10361612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>
                <a:latin typeface="宋体" panose="02000500000000000000" pitchFamily="2" charset="-122"/>
              </a:rPr>
              <a:t>分支处理机制的性能取决于</a:t>
            </a:r>
            <a:endParaRPr lang="zh-CN" altLang="en-US" sz="3600" dirty="0">
              <a:latin typeface="宋体" panose="02000500000000000000" pitchFamily="2" charset="-122"/>
            </a:endParaRPr>
          </a:p>
        </p:txBody>
      </p:sp>
      <p:sp>
        <p:nvSpPr>
          <p:cNvPr id="35844" name="Rectangle 3"/>
          <p:cNvSpPr>
            <a:spLocks noGrp="1"/>
          </p:cNvSpPr>
          <p:nvPr>
            <p:ph idx="1"/>
          </p:nvPr>
        </p:nvSpPr>
        <p:spPr>
          <a:xfrm>
            <a:off x="914400" y="1444625"/>
            <a:ext cx="10864850" cy="519747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ct val="0"/>
              </a:spcBef>
            </a:pPr>
            <a:r>
              <a:rPr kumimoji="1" lang="zh-CN" altLang="en-US" dirty="0">
                <a:latin typeface="宋体" panose="02000500000000000000" pitchFamily="2" charset="-122"/>
                <a:ea typeface="+mn-ea"/>
                <a:cs typeface="+mn-cs"/>
              </a:rPr>
              <a:t>预测精度（</a:t>
            </a:r>
            <a:r>
              <a:rPr kumimoji="1" lang="en-US" altLang="zh-CN" dirty="0">
                <a:latin typeface="宋体" panose="02000500000000000000" pitchFamily="2" charset="-122"/>
                <a:ea typeface="+mn-ea"/>
                <a:cs typeface="+mn-cs"/>
              </a:rPr>
              <a:t>BPA</a:t>
            </a:r>
            <a:r>
              <a:rPr kumimoji="1" lang="zh-CN" altLang="en-US" dirty="0">
                <a:latin typeface="宋体" panose="02000500000000000000" pitchFamily="2" charset="-122"/>
                <a:ea typeface="+mn-ea"/>
                <a:cs typeface="+mn-cs"/>
              </a:rPr>
              <a:t>）</a:t>
            </a:r>
            <a:r>
              <a:rPr kumimoji="1" lang="en-US" altLang="zh-CN" dirty="0">
                <a:latin typeface="宋体" panose="02000500000000000000" pitchFamily="2" charset="-122"/>
                <a:ea typeface="+mn-ea"/>
                <a:cs typeface="+mn-cs"/>
              </a:rPr>
              <a:t>=&gt; </a:t>
            </a:r>
            <a:r>
              <a:rPr kumimoji="1" lang="zh-CN" altLang="en-US" dirty="0">
                <a:latin typeface="宋体" panose="02000500000000000000" pitchFamily="2" charset="-122"/>
                <a:ea typeface="+mn-ea"/>
                <a:cs typeface="+mn-cs"/>
              </a:rPr>
              <a:t>设计好的预测器</a:t>
            </a:r>
            <a:endParaRPr kumimoji="1" lang="zh-CN" altLang="en-US" dirty="0">
              <a:latin typeface="宋体" panose="02000500000000000000" pitchFamily="2" charset="-122"/>
              <a:ea typeface="+mn-ea"/>
              <a:cs typeface="+mn-cs"/>
            </a:endParaRPr>
          </a:p>
          <a:p>
            <a:pPr lvl="1" eaLnBrk="1" hangingPunct="1">
              <a:spcBef>
                <a:spcPct val="0"/>
              </a:spcBef>
            </a:pPr>
            <a:r>
              <a:rPr kumimoji="1" lang="zh-CN" altLang="en-US" dirty="0">
                <a:latin typeface="宋体" panose="02000500000000000000" pitchFamily="2" charset="-122"/>
                <a:ea typeface="+mn-ea"/>
              </a:rPr>
              <a:t>预测精度越高，能抽取的并行性就越多</a:t>
            </a:r>
            <a:endParaRPr kumimoji="1" lang="zh-CN" altLang="en-US" dirty="0">
              <a:latin typeface="宋体" panose="02000500000000000000" pitchFamily="2" charset="-122"/>
              <a:ea typeface="+mn-ea"/>
            </a:endParaRPr>
          </a:p>
          <a:p>
            <a:pPr eaLnBrk="1" hangingPunct="1">
              <a:spcBef>
                <a:spcPct val="0"/>
              </a:spcBef>
            </a:pPr>
            <a:r>
              <a:rPr kumimoji="1" lang="zh-CN" altLang="en-US" dirty="0">
                <a:latin typeface="宋体" panose="02000500000000000000" pitchFamily="2" charset="-122"/>
                <a:ea typeface="+mn-ea"/>
                <a:cs typeface="+mn-cs"/>
              </a:rPr>
              <a:t>预测正确所付的代价：转到目标地址处执行所需的延迟</a:t>
            </a:r>
            <a:endParaRPr kumimoji="1" lang="zh-CN" altLang="en-US" dirty="0">
              <a:latin typeface="宋体" panose="02000500000000000000" pitchFamily="2" charset="-122"/>
              <a:ea typeface="+mn-ea"/>
              <a:cs typeface="+mn-cs"/>
            </a:endParaRPr>
          </a:p>
          <a:p>
            <a:pPr lvl="1" eaLnBrk="1" hangingPunct="1">
              <a:spcBef>
                <a:spcPct val="0"/>
              </a:spcBef>
            </a:pPr>
            <a:r>
              <a:rPr kumimoji="1" lang="zh-CN" altLang="en-US" dirty="0">
                <a:latin typeface="宋体" panose="02000500000000000000" pitchFamily="2" charset="-122"/>
                <a:ea typeface="+mn-ea"/>
              </a:rPr>
              <a:t>译码时根据</a:t>
            </a:r>
            <a:r>
              <a:rPr kumimoji="1" lang="en-US" altLang="zh-CN" dirty="0">
                <a:latin typeface="宋体" panose="02000500000000000000" pitchFamily="2" charset="-122"/>
                <a:ea typeface="+mn-ea"/>
              </a:rPr>
              <a:t>IR</a:t>
            </a:r>
            <a:r>
              <a:rPr kumimoji="1" lang="zh-CN" altLang="en-US" dirty="0">
                <a:latin typeface="宋体" panose="02000500000000000000" pitchFamily="2" charset="-122"/>
                <a:ea typeface="+mn-ea"/>
              </a:rPr>
              <a:t>内容预测：有一拍的延迟槽，在</a:t>
            </a:r>
            <a:r>
              <a:rPr kumimoji="1" lang="en-US" altLang="zh-CN" dirty="0">
                <a:latin typeface="宋体" panose="02000500000000000000" pitchFamily="2" charset="-122"/>
                <a:ea typeface="+mn-ea"/>
              </a:rPr>
              <a:t>4</a:t>
            </a:r>
            <a:r>
              <a:rPr kumimoji="1" lang="zh-CN" altLang="en-US" dirty="0">
                <a:latin typeface="宋体" panose="02000500000000000000" pitchFamily="2" charset="-122"/>
                <a:ea typeface="+mn-ea"/>
              </a:rPr>
              <a:t>发射情况下有</a:t>
            </a:r>
            <a:r>
              <a:rPr kumimoji="1" lang="en-US" altLang="zh-CN" dirty="0">
                <a:latin typeface="宋体" panose="02000500000000000000" pitchFamily="2" charset="-122"/>
                <a:ea typeface="+mn-ea"/>
              </a:rPr>
              <a:t>4</a:t>
            </a:r>
            <a:r>
              <a:rPr kumimoji="1" lang="zh-CN" altLang="en-US" dirty="0">
                <a:latin typeface="宋体" panose="02000500000000000000" pitchFamily="2" charset="-122"/>
                <a:ea typeface="+mn-ea"/>
              </a:rPr>
              <a:t>条指令的延迟槽</a:t>
            </a:r>
            <a:endParaRPr kumimoji="1" lang="zh-CN" altLang="en-US" dirty="0">
              <a:latin typeface="宋体" panose="02000500000000000000" pitchFamily="2" charset="-122"/>
              <a:ea typeface="+mn-ea"/>
            </a:endParaRPr>
          </a:p>
          <a:p>
            <a:pPr lvl="1" eaLnBrk="1" hangingPunct="1">
              <a:spcBef>
                <a:spcPct val="0"/>
              </a:spcBef>
            </a:pPr>
            <a:r>
              <a:rPr kumimoji="1" lang="zh-CN" altLang="en-US" dirty="0">
                <a:latin typeface="宋体" panose="02000500000000000000" pitchFamily="2" charset="-122"/>
                <a:ea typeface="+mn-ea"/>
              </a:rPr>
              <a:t>取指时根据</a:t>
            </a:r>
            <a:r>
              <a:rPr kumimoji="1" lang="en-US" altLang="zh-CN" dirty="0">
                <a:latin typeface="宋体" panose="02000500000000000000" pitchFamily="2" charset="-122"/>
                <a:ea typeface="+mn-ea"/>
              </a:rPr>
              <a:t>PC</a:t>
            </a:r>
            <a:r>
              <a:rPr kumimoji="1" lang="zh-CN" altLang="en-US" dirty="0">
                <a:latin typeface="宋体" panose="02000500000000000000" pitchFamily="2" charset="-122"/>
                <a:ea typeface="+mn-ea"/>
              </a:rPr>
              <a:t>预测：没有延迟槽，需要</a:t>
            </a:r>
            <a:r>
              <a:rPr kumimoji="1" lang="en-US" altLang="zh-CN" dirty="0">
                <a:latin typeface="宋体" panose="02000500000000000000" pitchFamily="2" charset="-122"/>
                <a:ea typeface="+mn-ea"/>
              </a:rPr>
              <a:t>BTB/Trace Cache</a:t>
            </a:r>
            <a:r>
              <a:rPr kumimoji="1" lang="zh-CN" altLang="en-US" dirty="0">
                <a:latin typeface="宋体" panose="02000500000000000000" pitchFamily="2" charset="-122"/>
                <a:ea typeface="+mn-ea"/>
              </a:rPr>
              <a:t>等机制</a:t>
            </a:r>
            <a:endParaRPr kumimoji="1" lang="zh-CN" altLang="en-US" dirty="0">
              <a:latin typeface="宋体" panose="02000500000000000000" pitchFamily="2" charset="-122"/>
              <a:ea typeface="+mn-ea"/>
            </a:endParaRPr>
          </a:p>
          <a:p>
            <a:pPr lvl="1" eaLnBrk="1" hangingPunct="1">
              <a:spcBef>
                <a:spcPct val="0"/>
              </a:spcBef>
            </a:pPr>
            <a:r>
              <a:rPr kumimoji="1" lang="en-US" altLang="zh-CN" dirty="0">
                <a:latin typeface="宋体" panose="02000500000000000000" pitchFamily="2" charset="-122"/>
                <a:ea typeface="+mn-ea"/>
              </a:rPr>
              <a:t>MIPS R10000</a:t>
            </a:r>
            <a:r>
              <a:rPr kumimoji="1" lang="zh-CN" altLang="en-US" dirty="0">
                <a:latin typeface="宋体" panose="02000500000000000000" pitchFamily="2" charset="-122"/>
                <a:ea typeface="+mn-ea"/>
              </a:rPr>
              <a:t>无</a:t>
            </a:r>
            <a:r>
              <a:rPr kumimoji="1" lang="en-US" altLang="zh-CN" dirty="0">
                <a:latin typeface="宋体" panose="02000500000000000000" pitchFamily="2" charset="-122"/>
                <a:ea typeface="+mn-ea"/>
              </a:rPr>
              <a:t>BTAC</a:t>
            </a:r>
            <a:r>
              <a:rPr kumimoji="1" lang="zh-CN" altLang="en-US" dirty="0">
                <a:latin typeface="宋体" panose="02000500000000000000" pitchFamily="2" charset="-122"/>
                <a:ea typeface="+mn-ea"/>
              </a:rPr>
              <a:t>，</a:t>
            </a:r>
            <a:r>
              <a:rPr kumimoji="1" lang="en-US" altLang="zh-CN" dirty="0">
                <a:latin typeface="宋体" panose="02000500000000000000" pitchFamily="2" charset="-122"/>
                <a:ea typeface="+mn-ea"/>
              </a:rPr>
              <a:t>MIPS R12000</a:t>
            </a:r>
            <a:r>
              <a:rPr kumimoji="1" lang="zh-CN" altLang="en-US" dirty="0">
                <a:latin typeface="宋体" panose="02000500000000000000" pitchFamily="2" charset="-122"/>
                <a:ea typeface="+mn-ea"/>
              </a:rPr>
              <a:t>有</a:t>
            </a:r>
            <a:r>
              <a:rPr kumimoji="1" lang="en-US" altLang="zh-CN" dirty="0">
                <a:latin typeface="宋体" panose="02000500000000000000" pitchFamily="2" charset="-122"/>
                <a:ea typeface="+mn-ea"/>
              </a:rPr>
              <a:t>32</a:t>
            </a:r>
            <a:r>
              <a:rPr kumimoji="1" lang="zh-CN" altLang="en-US" dirty="0">
                <a:latin typeface="宋体" panose="02000500000000000000" pitchFamily="2" charset="-122"/>
                <a:ea typeface="+mn-ea"/>
              </a:rPr>
              <a:t>项</a:t>
            </a:r>
            <a:r>
              <a:rPr kumimoji="1" lang="en-US" altLang="zh-CN" dirty="0">
                <a:latin typeface="宋体" panose="02000500000000000000" pitchFamily="2" charset="-122"/>
                <a:ea typeface="+mn-ea"/>
              </a:rPr>
              <a:t>BTAC</a:t>
            </a:r>
            <a:endParaRPr kumimoji="1" lang="en-US" altLang="zh-CN" dirty="0">
              <a:latin typeface="宋体" panose="02000500000000000000" pitchFamily="2" charset="-122"/>
              <a:ea typeface="+mn-ea"/>
            </a:endParaRPr>
          </a:p>
          <a:p>
            <a:pPr eaLnBrk="1" hangingPunct="1">
              <a:spcBef>
                <a:spcPct val="0"/>
              </a:spcBef>
            </a:pPr>
            <a:r>
              <a:rPr kumimoji="1" lang="zh-CN" altLang="en-US" dirty="0">
                <a:latin typeface="宋体" panose="02000500000000000000" pitchFamily="2" charset="-122"/>
                <a:ea typeface="+mn-ea"/>
                <a:cs typeface="+mn-cs"/>
              </a:rPr>
              <a:t>预测错所付的代价</a:t>
            </a:r>
            <a:endParaRPr kumimoji="1" lang="zh-CN" altLang="en-US" dirty="0">
              <a:latin typeface="宋体" panose="02000500000000000000" pitchFamily="2" charset="-122"/>
              <a:ea typeface="+mn-ea"/>
              <a:cs typeface="+mn-cs"/>
            </a:endParaRPr>
          </a:p>
          <a:p>
            <a:pPr lvl="1" eaLnBrk="1" hangingPunct="1">
              <a:spcBef>
                <a:spcPct val="0"/>
              </a:spcBef>
            </a:pPr>
            <a:r>
              <a:rPr kumimoji="1" lang="zh-CN" altLang="en-US" dirty="0">
                <a:latin typeface="宋体" panose="02000500000000000000" pitchFamily="2" charset="-122"/>
                <a:ea typeface="+mn-ea"/>
              </a:rPr>
              <a:t>尽量提前执行转移操作</a:t>
            </a:r>
            <a:endParaRPr kumimoji="1" lang="zh-CN" altLang="en-US" dirty="0">
              <a:latin typeface="宋体" panose="02000500000000000000" pitchFamily="2" charset="-122"/>
              <a:ea typeface="+mn-ea"/>
            </a:endParaRPr>
          </a:p>
          <a:p>
            <a:pPr lvl="1" eaLnBrk="1" hangingPunct="1">
              <a:spcBef>
                <a:spcPct val="0"/>
              </a:spcBef>
            </a:pPr>
            <a:r>
              <a:rPr kumimoji="1" lang="en-US" altLang="zh-CN" dirty="0">
                <a:latin typeface="宋体" panose="02000500000000000000" pitchFamily="2" charset="-122"/>
                <a:ea typeface="+mn-ea"/>
              </a:rPr>
              <a:t>Pentium II/III</a:t>
            </a:r>
            <a:r>
              <a:rPr kumimoji="1" lang="zh-CN" altLang="en-US" dirty="0">
                <a:latin typeface="宋体" panose="02000500000000000000" pitchFamily="2" charset="-122"/>
                <a:ea typeface="+mn-ea"/>
              </a:rPr>
              <a:t>和</a:t>
            </a:r>
            <a:r>
              <a:rPr kumimoji="1" lang="en-US" altLang="zh-CN" dirty="0">
                <a:latin typeface="宋体" panose="02000500000000000000" pitchFamily="2" charset="-122"/>
                <a:ea typeface="+mn-ea"/>
              </a:rPr>
              <a:t>Alpha 21264</a:t>
            </a:r>
            <a:r>
              <a:rPr kumimoji="1" lang="zh-CN" altLang="en-US" dirty="0">
                <a:latin typeface="宋体" panose="02000500000000000000" pitchFamily="2" charset="-122"/>
                <a:ea typeface="+mn-ea"/>
              </a:rPr>
              <a:t>重新刷新流水线需要</a:t>
            </a:r>
            <a:r>
              <a:rPr kumimoji="1" lang="en-US" altLang="zh-CN" dirty="0">
                <a:latin typeface="宋体" panose="02000500000000000000" pitchFamily="2" charset="-122"/>
                <a:ea typeface="+mn-ea"/>
              </a:rPr>
              <a:t>11</a:t>
            </a:r>
            <a:r>
              <a:rPr kumimoji="1" lang="zh-CN" altLang="en-US" dirty="0">
                <a:latin typeface="宋体" panose="02000500000000000000" pitchFamily="2" charset="-122"/>
                <a:ea typeface="+mn-ea"/>
              </a:rPr>
              <a:t>周期以上</a:t>
            </a:r>
            <a:endParaRPr kumimoji="1" lang="zh-CN" altLang="en-US" dirty="0"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6867" name="Rectangle 2"/>
          <p:cNvSpPr>
            <a:spLocks noGrp="1"/>
          </p:cNvSpPr>
          <p:nvPr>
            <p:ph type="title"/>
          </p:nvPr>
        </p:nvSpPr>
        <p:spPr>
          <a:xfrm>
            <a:off x="896938" y="176213"/>
            <a:ext cx="10361612" cy="525462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转移预测关键技术</a:t>
            </a:r>
            <a:endParaRPr lang="zh-CN" altLang="en-US" sz="3600" dirty="0"/>
          </a:p>
        </p:txBody>
      </p:sp>
      <p:sp>
        <p:nvSpPr>
          <p:cNvPr id="39940" name="Rectangle 3"/>
          <p:cNvSpPr>
            <a:spLocks noGrp="1" noChangeArrowheads="1"/>
          </p:cNvSpPr>
          <p:nvPr>
            <p:ph idx="1"/>
          </p:nvPr>
        </p:nvSpPr>
        <p:spPr>
          <a:xfrm>
            <a:off x="487363" y="952500"/>
            <a:ext cx="11383963" cy="5689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如何保证准确的预测：根据记录的历史进行预测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如何记录转移历史，记录哪些转移历史</a:t>
            </a:r>
            <a:endParaRPr kumimoji="1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记录多少转移历史</a:t>
            </a:r>
            <a:endParaRPr kumimoji="1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何时更新：更新太早，转移指令也可能被取消；更新太晚，导致转移历史不准确</a:t>
            </a:r>
            <a:endParaRPr kumimoji="1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如何在取消猜测执行的操作时保证现场精确性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增加提交流水级，在提交时修改寄存器和内存</a:t>
            </a:r>
            <a:endParaRPr kumimoji="1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I/O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指令的猜测执行难以取消</a:t>
            </a:r>
            <a:endParaRPr kumimoji="1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如何识别流水线中的指令哪些需要取消，哪些不要取消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例外取消一般在提交时，取消所有后续指令</a:t>
            </a:r>
            <a:endParaRPr kumimoji="1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转移取消一般在执行后，只取消部分指令</a:t>
            </a:r>
            <a:endParaRPr kumimoji="1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延迟槽指令的处理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每个周期多个分支预测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每周期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1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个预测，基本可满足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4-6 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发射需要的取指带宽，现代处理器每周期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1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个预测不够</a:t>
            </a:r>
            <a:endParaRPr kumimoji="1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0243" name="Rectangle 2"/>
          <p:cNvSpPr>
            <a:spLocks noGrp="1"/>
          </p:cNvSpPr>
          <p:nvPr>
            <p:ph type="title"/>
          </p:nvPr>
        </p:nvSpPr>
        <p:spPr>
          <a:xfrm>
            <a:off x="817563" y="2909888"/>
            <a:ext cx="10361612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4000" dirty="0"/>
              <a:t>常见动态转移预测算法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7891" name="Rectangle 2"/>
          <p:cNvSpPr>
            <a:spLocks noGrp="1"/>
          </p:cNvSpPr>
          <p:nvPr>
            <p:ph type="title"/>
          </p:nvPr>
        </p:nvSpPr>
        <p:spPr>
          <a:xfrm>
            <a:off x="982663" y="198438"/>
            <a:ext cx="10361612" cy="808037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静态</a:t>
            </a:r>
            <a:r>
              <a:rPr lang="en-US" altLang="zh-CN" sz="3600" dirty="0"/>
              <a:t>/</a:t>
            </a:r>
            <a:r>
              <a:rPr lang="zh-CN" altLang="en-US" sz="3600" dirty="0"/>
              <a:t>动态转移预测</a:t>
            </a:r>
            <a:endParaRPr lang="zh-CN" altLang="en-US" sz="3600" dirty="0"/>
          </a:p>
        </p:txBody>
      </p:sp>
      <p:sp>
        <p:nvSpPr>
          <p:cNvPr id="37892" name="Rectangle 4"/>
          <p:cNvSpPr/>
          <p:nvPr/>
        </p:nvSpPr>
        <p:spPr>
          <a:xfrm>
            <a:off x="336550" y="2068513"/>
            <a:ext cx="11580813" cy="414496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Char char="•"/>
            </a:pPr>
            <a:r>
              <a:rPr lang="zh-CN" altLang="en-US" sz="2400" b="1" dirty="0">
                <a:latin typeface="宋体" panose="02000500000000000000" pitchFamily="2" charset="-122"/>
                <a:cs typeface="宋体" panose="02000500000000000000" pitchFamily="2" charset="-122"/>
              </a:rPr>
              <a:t>静态预测：总是预测转移成功或总是预测转移不成功</a:t>
            </a:r>
            <a:endParaRPr lang="zh-CN" altLang="en-US" sz="2400" b="1" dirty="0">
              <a:latin typeface="宋体" panose="02000500000000000000" pitchFamily="2" charset="-122"/>
              <a:cs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ct val="20000"/>
              </a:spcBef>
              <a:buChar char="•"/>
            </a:pPr>
            <a:r>
              <a:rPr lang="zh-CN" altLang="en-US" sz="2000" b="1" dirty="0">
                <a:latin typeface="宋体" panose="02000500000000000000" pitchFamily="2" charset="-122"/>
                <a:cs typeface="宋体" panose="02000500000000000000" pitchFamily="2" charset="-122"/>
              </a:rPr>
              <a:t>预测转移成功：较精确，计算转移地址需要</a:t>
            </a:r>
            <a:r>
              <a:rPr lang="en-US" altLang="zh-CN" sz="2000" b="1" dirty="0">
                <a:latin typeface="宋体" panose="02000500000000000000" pitchFamily="2" charset="-122"/>
                <a:cs typeface="宋体" panose="02000500000000000000" pitchFamily="2" charset="-122"/>
              </a:rPr>
              <a:t>delay slot</a:t>
            </a:r>
            <a:endParaRPr lang="en-US" altLang="zh-CN" sz="2000" b="1" dirty="0">
              <a:latin typeface="宋体" panose="02000500000000000000" pitchFamily="2" charset="-122"/>
              <a:cs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ct val="20000"/>
              </a:spcBef>
              <a:buChar char="•"/>
            </a:pPr>
            <a:r>
              <a:rPr lang="zh-CN" altLang="en-US" sz="2000" b="1" dirty="0">
                <a:latin typeface="宋体" panose="02000500000000000000" pitchFamily="2" charset="-122"/>
                <a:cs typeface="宋体" panose="02000500000000000000" pitchFamily="2" charset="-122"/>
              </a:rPr>
              <a:t>预测转移不成功：直接用</a:t>
            </a:r>
            <a:r>
              <a:rPr lang="en-US" altLang="zh-CN" sz="2000" b="1" dirty="0">
                <a:latin typeface="宋体" panose="02000500000000000000" pitchFamily="2" charset="-122"/>
                <a:cs typeface="宋体" panose="02000500000000000000" pitchFamily="2" charset="-122"/>
              </a:rPr>
              <a:t>PC+4</a:t>
            </a:r>
            <a:endParaRPr lang="en-US" altLang="zh-CN" sz="2000" b="1" dirty="0">
              <a:latin typeface="宋体" panose="02000500000000000000" pitchFamily="2" charset="-122"/>
              <a:cs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har char="•"/>
            </a:pPr>
            <a:r>
              <a:rPr lang="zh-CN" altLang="en-US" sz="2400" b="1" dirty="0">
                <a:latin typeface="宋体" panose="02000500000000000000" pitchFamily="2" charset="-122"/>
                <a:cs typeface="宋体" panose="02000500000000000000" pitchFamily="2" charset="-122"/>
              </a:rPr>
              <a:t>动态预测：根据转移指令执行历史进行预测</a:t>
            </a:r>
            <a:endParaRPr lang="zh-CN" altLang="en-US" sz="2400" b="1" dirty="0">
              <a:latin typeface="宋体" panose="02000500000000000000" pitchFamily="2" charset="-122"/>
              <a:cs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ct val="20000"/>
              </a:spcBef>
              <a:buChar char="•"/>
            </a:pPr>
            <a:r>
              <a:rPr lang="zh-CN" altLang="en-US" sz="2000" b="1" dirty="0">
                <a:latin typeface="宋体" panose="02000500000000000000" pitchFamily="2" charset="-122"/>
                <a:cs typeface="宋体" panose="02000500000000000000" pitchFamily="2" charset="-122"/>
              </a:rPr>
              <a:t>复杂预测技术：精确、控制复杂</a:t>
            </a:r>
            <a:endParaRPr lang="zh-CN" altLang="en-US" sz="2000" b="1" dirty="0">
              <a:latin typeface="宋体" panose="02000500000000000000" pitchFamily="2" charset="-122"/>
              <a:cs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har char="•"/>
            </a:pPr>
            <a:r>
              <a:rPr lang="zh-CN" altLang="en-US" sz="2400" b="1" dirty="0">
                <a:latin typeface="宋体" panose="02000500000000000000" pitchFamily="2" charset="-122"/>
                <a:cs typeface="宋体" panose="02000500000000000000" pitchFamily="2" charset="-122"/>
              </a:rPr>
              <a:t>混合预测：利用编译器的提示，结合动态和静态预测</a:t>
            </a:r>
            <a:endParaRPr lang="zh-CN" altLang="en-US" sz="2400" b="1" dirty="0">
              <a:latin typeface="宋体" panose="02000500000000000000" pitchFamily="2" charset="-122"/>
              <a:cs typeface="宋体" panose="02000500000000000000" pitchFamily="2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8915" name="Rectangle 2"/>
          <p:cNvSpPr/>
          <p:nvPr/>
        </p:nvSpPr>
        <p:spPr>
          <a:xfrm>
            <a:off x="508000" y="76200"/>
            <a:ext cx="11174413" cy="10731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>
              <a:spcBef>
                <a:spcPct val="0"/>
              </a:spcBef>
            </a:pPr>
            <a:r>
              <a:rPr lang="zh-CN" altLang="en-US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局部转移预测</a:t>
            </a:r>
            <a:endParaRPr lang="zh-CN" altLang="en-US" sz="36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  <p:sp>
        <p:nvSpPr>
          <p:cNvPr id="41988" name="Rectangle 3"/>
          <p:cNvSpPr>
            <a:spLocks noChangeArrowheads="1"/>
          </p:cNvSpPr>
          <p:nvPr/>
        </p:nvSpPr>
        <p:spPr bwMode="auto">
          <a:xfrm>
            <a:off x="560388" y="1368425"/>
            <a:ext cx="11123613" cy="48815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独立考虑单个循环的历史记录，寻找其中的重复性规律，并根据该规律预测未来的转移行为</a:t>
            </a:r>
            <a:endParaRPr kumimoji="1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对于重复性特征明显的转移指令（如循环）效果好</a:t>
            </a:r>
            <a:endParaRPr kumimoji="1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例子</a:t>
            </a:r>
            <a:endParaRPr kumimoji="1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for (I=0, I&lt;10; I++){ }; </a:t>
            </a:r>
            <a:endParaRPr kumimoji="1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转移模式为</a:t>
            </a:r>
            <a:r>
              <a:rPr kumimoji="1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(1111111110)</a:t>
            </a:r>
            <a:r>
              <a:rPr kumimoji="1" lang="en-US" altLang="zh-CN" sz="2000" b="1" i="0" u="none" strike="noStrike" kern="120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n</a:t>
            </a:r>
            <a:r>
              <a:rPr kumimoji="1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endParaRPr kumimoji="1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338138" y="1473200"/>
            <a:ext cx="11418888" cy="50704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转移历史表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BHT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（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Branch History Table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</a:t>
            </a:r>
            <a:endParaRPr kumimoji="1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用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PC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的低位索引，每项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1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位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记录同一项上次转移是否成功，表示是否转移成功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不进行地址比较检查（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cache tag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用于地址比较检查）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问题</a:t>
            </a:r>
            <a:endParaRPr kumimoji="1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对循环进行猜测时，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1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位 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BHT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引起两次猜错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循环退出时，转移方向不一致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进入循环时，和上次退出时的转移方向不一致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</a:rPr>
              <a:t>for (</a:t>
            </a:r>
            <a:r>
              <a:rPr kumimoji="1" lang="en-US" altLang="zh-CN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</a:rPr>
              <a:t>=0;i&lt;10;i++) for (j=0; j&lt;10; j++) { …… }</a:t>
            </a:r>
            <a:endParaRPr kumimoji="1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39940" name="Rectangle 4"/>
          <p:cNvSpPr/>
          <p:nvPr/>
        </p:nvSpPr>
        <p:spPr>
          <a:xfrm>
            <a:off x="642938" y="304800"/>
            <a:ext cx="10937875" cy="685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ctr">
              <a:spcBef>
                <a:spcPct val="0"/>
              </a:spcBef>
            </a:pPr>
            <a:r>
              <a:rPr lang="zh-CN" altLang="en-US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利用单个分支的重复性</a:t>
            </a:r>
            <a:r>
              <a:rPr lang="en-US" altLang="zh-CN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---BHT</a:t>
            </a:r>
            <a:endParaRPr lang="en-US" altLang="zh-CN" sz="36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40963" name="Rectangle 2"/>
          <p:cNvSpPr>
            <a:spLocks noGrp="1"/>
          </p:cNvSpPr>
          <p:nvPr>
            <p:ph type="title"/>
          </p:nvPr>
        </p:nvSpPr>
        <p:spPr>
          <a:xfrm>
            <a:off x="965200" y="0"/>
            <a:ext cx="10361613" cy="944563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两位</a:t>
            </a:r>
            <a:r>
              <a:rPr lang="en-US" altLang="zh-CN" sz="3600" dirty="0"/>
              <a:t>BHT</a:t>
            </a:r>
            <a:r>
              <a:rPr lang="zh-CN" altLang="en-US" sz="3600" dirty="0"/>
              <a:t>表（课本有错）</a:t>
            </a:r>
            <a:endParaRPr lang="zh-CN" altLang="en-US" sz="3600" dirty="0"/>
          </a:p>
        </p:txBody>
      </p:sp>
      <p:sp>
        <p:nvSpPr>
          <p:cNvPr id="40964" name="Rectangle 6"/>
          <p:cNvSpPr/>
          <p:nvPr/>
        </p:nvSpPr>
        <p:spPr>
          <a:xfrm>
            <a:off x="0" y="1274763"/>
            <a:ext cx="184150" cy="2762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44037" name="Rectangle 9"/>
          <p:cNvSpPr>
            <a:spLocks noChangeArrowheads="1"/>
          </p:cNvSpPr>
          <p:nvPr/>
        </p:nvSpPr>
        <p:spPr bwMode="auto">
          <a:xfrm>
            <a:off x="465138" y="857250"/>
            <a:ext cx="11247438" cy="249555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lIns="90488" tIns="44450" rIns="90488" bIns="44450"/>
          <a:lstStyle/>
          <a:p>
            <a:pPr marL="285750" marR="0" lvl="0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只有连续两次猜错，才会改变猜测方向</a:t>
            </a:r>
            <a:endParaRPr kumimoji="1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685800" marR="0" lvl="1" indent="-2286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在前述两重循环的例子中，内循环预测准确率从</a:t>
            </a:r>
            <a:r>
              <a:rPr kumimoji="1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80/100=  80%</a:t>
            </a: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提高到（</a:t>
            </a:r>
            <a:r>
              <a:rPr kumimoji="1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7+9*9</a:t>
            </a: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</a:t>
            </a:r>
            <a:r>
              <a:rPr kumimoji="1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/100=  88%</a:t>
            </a:r>
            <a:endParaRPr kumimoji="1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4096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项已经足够，和无穷项效果差不多</a:t>
            </a:r>
            <a:endParaRPr kumimoji="1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位</a:t>
            </a:r>
            <a:r>
              <a:rPr kumimoji="1" lang="zh-CN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已经足够, 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n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位 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(n&gt;2)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与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位效果差不多</a:t>
            </a:r>
            <a:endParaRPr kumimoji="1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grpSp>
        <p:nvGrpSpPr>
          <p:cNvPr id="40966" name="Group 12"/>
          <p:cNvGrpSpPr/>
          <p:nvPr/>
        </p:nvGrpSpPr>
        <p:grpSpPr>
          <a:xfrm>
            <a:off x="850900" y="3411538"/>
            <a:ext cx="7923213" cy="3382962"/>
            <a:chOff x="150" y="1679"/>
            <a:chExt cx="3909" cy="2406"/>
          </a:xfrm>
        </p:grpSpPr>
        <p:pic>
          <p:nvPicPr>
            <p:cNvPr id="40993" name="Picture 5" descr="901286100824181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50" y="1679"/>
              <a:ext cx="3014" cy="240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0994" name="Line 10"/>
            <p:cNvSpPr/>
            <p:nvPr/>
          </p:nvSpPr>
          <p:spPr>
            <a:xfrm flipV="1">
              <a:off x="3105" y="1774"/>
              <a:ext cx="917" cy="104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40995" name="Line 11"/>
            <p:cNvSpPr/>
            <p:nvPr/>
          </p:nvSpPr>
          <p:spPr>
            <a:xfrm>
              <a:off x="3118" y="3005"/>
              <a:ext cx="941" cy="7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</p:sp>
      </p:grpSp>
      <p:grpSp>
        <p:nvGrpSpPr>
          <p:cNvPr id="40967" name="Group 11"/>
          <p:cNvGrpSpPr/>
          <p:nvPr/>
        </p:nvGrpSpPr>
        <p:grpSpPr>
          <a:xfrm>
            <a:off x="8658225" y="2989263"/>
            <a:ext cx="1574800" cy="3813175"/>
            <a:chOff x="3632" y="2147"/>
            <a:chExt cx="1861" cy="6006"/>
          </a:xfrm>
        </p:grpSpPr>
        <p:grpSp>
          <p:nvGrpSpPr>
            <p:cNvPr id="40968" name="Group 12"/>
            <p:cNvGrpSpPr/>
            <p:nvPr/>
          </p:nvGrpSpPr>
          <p:grpSpPr>
            <a:xfrm>
              <a:off x="4217" y="7357"/>
              <a:ext cx="733" cy="478"/>
              <a:chOff x="4217" y="7357"/>
              <a:chExt cx="733" cy="478"/>
            </a:xfrm>
          </p:grpSpPr>
          <p:sp>
            <p:nvSpPr>
              <p:cNvPr id="40991" name="Oval 13"/>
              <p:cNvSpPr/>
              <p:nvPr/>
            </p:nvSpPr>
            <p:spPr>
              <a:xfrm>
                <a:off x="4217" y="7357"/>
                <a:ext cx="708" cy="478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  <p:cxnSp>
            <p:nvCxnSpPr>
              <p:cNvPr id="40992" name="AutoShape 14"/>
              <p:cNvCxnSpPr/>
              <p:nvPr/>
            </p:nvCxnSpPr>
            <p:spPr>
              <a:xfrm flipV="1">
                <a:off x="4900" y="7550"/>
                <a:ext cx="50" cy="135"/>
              </a:xfrm>
              <a:prstGeom prst="straightConnector1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sm" len="sm"/>
              </a:ln>
            </p:spPr>
          </p:cxnSp>
        </p:grpSp>
        <p:sp>
          <p:nvSpPr>
            <p:cNvPr id="40969" name="Oval 15"/>
            <p:cNvSpPr/>
            <p:nvPr/>
          </p:nvSpPr>
          <p:spPr>
            <a:xfrm>
              <a:off x="3632" y="5393"/>
              <a:ext cx="1860" cy="891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algn="ctr"/>
              <a:r>
                <a:rPr lang="zh-CN" altLang="en-US" sz="1000" dirty="0">
                  <a:latin typeface="Calibri" pitchFamily="34" charset="0"/>
                </a:rPr>
                <a:t>转移不成功</a:t>
              </a:r>
              <a:endParaRPr lang="zh-CN" altLang="en-US" sz="1000" dirty="0">
                <a:latin typeface="Times New Roman" pitchFamily="18" charset="0"/>
              </a:endParaRPr>
            </a:p>
            <a:p>
              <a:pPr algn="ctr"/>
              <a:r>
                <a:rPr lang="zh-CN" altLang="en-US" sz="1000" dirty="0">
                  <a:latin typeface="Calibri" pitchFamily="34" charset="0"/>
                </a:rPr>
                <a:t>（</a:t>
              </a:r>
              <a:r>
                <a:rPr lang="en-US" altLang="zh-CN" sz="1000" dirty="0">
                  <a:latin typeface="Times New Roman" pitchFamily="18" charset="0"/>
                </a:rPr>
                <a:t>0</a:t>
              </a:r>
              <a:r>
                <a:rPr lang="en-US" altLang="zh-CN" sz="1000" dirty="0">
                  <a:latin typeface="Calibri" pitchFamily="34" charset="0"/>
                </a:rPr>
                <a:t>1</a:t>
              </a:r>
              <a:r>
                <a:rPr lang="zh-CN" altLang="en-US" sz="1000" dirty="0">
                  <a:latin typeface="Calibri" pitchFamily="34" charset="0"/>
                </a:rPr>
                <a:t>）</a:t>
              </a:r>
              <a:endParaRPr lang="zh-CN" altLang="en-US" dirty="0">
                <a:latin typeface="Times New Roman" pitchFamily="18" charset="0"/>
              </a:endParaRPr>
            </a:p>
          </p:txBody>
        </p:sp>
        <p:sp>
          <p:nvSpPr>
            <p:cNvPr id="40970" name="Oval 16"/>
            <p:cNvSpPr/>
            <p:nvPr/>
          </p:nvSpPr>
          <p:spPr>
            <a:xfrm>
              <a:off x="3633" y="4066"/>
              <a:ext cx="1860" cy="891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algn="ctr"/>
              <a:r>
                <a:rPr lang="zh-CN" altLang="en-US" sz="1000" dirty="0">
                  <a:latin typeface="Calibri" pitchFamily="34" charset="0"/>
                </a:rPr>
                <a:t>转移成功</a:t>
              </a:r>
              <a:endParaRPr lang="zh-CN" altLang="en-US" sz="1000" dirty="0">
                <a:latin typeface="Times New Roman" pitchFamily="18" charset="0"/>
              </a:endParaRPr>
            </a:p>
            <a:p>
              <a:pPr algn="ctr"/>
              <a:r>
                <a:rPr lang="zh-CN" altLang="en-US" sz="1000" dirty="0">
                  <a:latin typeface="Calibri" pitchFamily="34" charset="0"/>
                </a:rPr>
                <a:t>（</a:t>
              </a:r>
              <a:r>
                <a:rPr lang="en-US" altLang="zh-CN" sz="1000" dirty="0">
                  <a:latin typeface="Calibri" pitchFamily="34" charset="0"/>
                </a:rPr>
                <a:t>10</a:t>
              </a:r>
              <a:r>
                <a:rPr lang="zh-CN" altLang="en-US" sz="1000" dirty="0">
                  <a:latin typeface="Calibri" pitchFamily="34" charset="0"/>
                </a:rPr>
                <a:t>）</a:t>
              </a:r>
              <a:endParaRPr lang="zh-CN" altLang="en-US" dirty="0">
                <a:latin typeface="Times New Roman" pitchFamily="18" charset="0"/>
              </a:endParaRPr>
            </a:p>
          </p:txBody>
        </p:sp>
        <p:grpSp>
          <p:nvGrpSpPr>
            <p:cNvPr id="40971" name="Group 17"/>
            <p:cNvGrpSpPr/>
            <p:nvPr/>
          </p:nvGrpSpPr>
          <p:grpSpPr>
            <a:xfrm>
              <a:off x="3859" y="6284"/>
              <a:ext cx="1440" cy="446"/>
              <a:chOff x="3859" y="6284"/>
              <a:chExt cx="1440" cy="446"/>
            </a:xfrm>
          </p:grpSpPr>
          <p:cxnSp>
            <p:nvCxnSpPr>
              <p:cNvPr id="40987" name="AutoShape 18"/>
              <p:cNvCxnSpPr/>
              <p:nvPr/>
            </p:nvCxnSpPr>
            <p:spPr>
              <a:xfrm flipV="1">
                <a:off x="4470" y="6284"/>
                <a:ext cx="0" cy="438"/>
              </a:xfrm>
              <a:prstGeom prst="straightConnector1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sm" len="sm"/>
              </a:ln>
            </p:spPr>
          </p:cxnSp>
          <p:cxnSp>
            <p:nvCxnSpPr>
              <p:cNvPr id="40988" name="AutoShape 19"/>
              <p:cNvCxnSpPr/>
              <p:nvPr/>
            </p:nvCxnSpPr>
            <p:spPr>
              <a:xfrm>
                <a:off x="4686" y="6284"/>
                <a:ext cx="0" cy="438"/>
              </a:xfrm>
              <a:prstGeom prst="straightConnector1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sm" len="sm"/>
              </a:ln>
            </p:spPr>
          </p:cxnSp>
          <p:sp>
            <p:nvSpPr>
              <p:cNvPr id="40989" name="Text Box 20"/>
              <p:cNvSpPr txBox="1"/>
              <p:nvPr/>
            </p:nvSpPr>
            <p:spPr>
              <a:xfrm>
                <a:off x="3859" y="6284"/>
                <a:ext cx="528" cy="4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r"/>
                <a:r>
                  <a:rPr lang="en-US" altLang="zh-CN" sz="900" dirty="0">
                    <a:latin typeface="Calibri" pitchFamily="34" charset="0"/>
                  </a:rPr>
                  <a:t>T</a:t>
                </a:r>
                <a:endParaRPr lang="zh-CN" altLang="zh-CN" dirty="0">
                  <a:latin typeface="Times New Roman" pitchFamily="18" charset="0"/>
                </a:endParaRPr>
              </a:p>
            </p:txBody>
          </p:sp>
          <p:sp>
            <p:nvSpPr>
              <p:cNvPr id="40990" name="Text Box 21"/>
              <p:cNvSpPr txBox="1"/>
              <p:nvPr/>
            </p:nvSpPr>
            <p:spPr>
              <a:xfrm>
                <a:off x="4681" y="6292"/>
                <a:ext cx="618" cy="4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just"/>
                <a:r>
                  <a:rPr lang="en-US" altLang="zh-CN" sz="900" dirty="0">
                    <a:latin typeface="Calibri" pitchFamily="34" charset="0"/>
                  </a:rPr>
                  <a:t>NT</a:t>
                </a:r>
                <a:endParaRPr lang="zh-CN" altLang="zh-CN" dirty="0">
                  <a:latin typeface="Times New Roman" pitchFamily="18" charset="0"/>
                </a:endParaRPr>
              </a:p>
            </p:txBody>
          </p:sp>
        </p:grpSp>
        <p:grpSp>
          <p:nvGrpSpPr>
            <p:cNvPr id="40972" name="Group 22"/>
            <p:cNvGrpSpPr/>
            <p:nvPr/>
          </p:nvGrpSpPr>
          <p:grpSpPr>
            <a:xfrm>
              <a:off x="3840" y="4949"/>
              <a:ext cx="1440" cy="446"/>
              <a:chOff x="3859" y="6284"/>
              <a:chExt cx="1440" cy="446"/>
            </a:xfrm>
          </p:grpSpPr>
          <p:cxnSp>
            <p:nvCxnSpPr>
              <p:cNvPr id="40983" name="AutoShape 23"/>
              <p:cNvCxnSpPr/>
              <p:nvPr/>
            </p:nvCxnSpPr>
            <p:spPr>
              <a:xfrm flipV="1">
                <a:off x="4470" y="6284"/>
                <a:ext cx="0" cy="438"/>
              </a:xfrm>
              <a:prstGeom prst="straightConnector1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sm" len="sm"/>
              </a:ln>
            </p:spPr>
          </p:cxnSp>
          <p:cxnSp>
            <p:nvCxnSpPr>
              <p:cNvPr id="40984" name="AutoShape 24"/>
              <p:cNvCxnSpPr/>
              <p:nvPr/>
            </p:nvCxnSpPr>
            <p:spPr>
              <a:xfrm>
                <a:off x="4686" y="6284"/>
                <a:ext cx="0" cy="438"/>
              </a:xfrm>
              <a:prstGeom prst="straightConnector1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triangle" w="sm" len="sm"/>
              </a:ln>
            </p:spPr>
          </p:cxnSp>
          <p:sp>
            <p:nvSpPr>
              <p:cNvPr id="40985" name="Text Box 25"/>
              <p:cNvSpPr txBox="1"/>
              <p:nvPr/>
            </p:nvSpPr>
            <p:spPr>
              <a:xfrm>
                <a:off x="3859" y="6284"/>
                <a:ext cx="528" cy="4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r"/>
                <a:r>
                  <a:rPr lang="en-US" altLang="zh-CN" sz="900" dirty="0">
                    <a:latin typeface="Calibri" pitchFamily="34" charset="0"/>
                  </a:rPr>
                  <a:t>T</a:t>
                </a:r>
                <a:endParaRPr lang="zh-CN" altLang="zh-CN" dirty="0">
                  <a:latin typeface="Times New Roman" pitchFamily="18" charset="0"/>
                </a:endParaRPr>
              </a:p>
            </p:txBody>
          </p:sp>
          <p:sp>
            <p:nvSpPr>
              <p:cNvPr id="40986" name="Text Box 26"/>
              <p:cNvSpPr txBox="1"/>
              <p:nvPr/>
            </p:nvSpPr>
            <p:spPr>
              <a:xfrm>
                <a:off x="4681" y="6292"/>
                <a:ext cx="618" cy="4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just"/>
                <a:r>
                  <a:rPr lang="en-US" altLang="zh-CN" sz="900" dirty="0">
                    <a:latin typeface="Calibri" pitchFamily="34" charset="0"/>
                  </a:rPr>
                  <a:t>NT</a:t>
                </a:r>
                <a:endParaRPr lang="zh-CN" altLang="zh-CN" dirty="0">
                  <a:latin typeface="Times New Roman" pitchFamily="18" charset="0"/>
                </a:endParaRPr>
              </a:p>
            </p:txBody>
          </p:sp>
        </p:grpSp>
        <p:sp>
          <p:nvSpPr>
            <p:cNvPr id="40973" name="Oval 27"/>
            <p:cNvSpPr/>
            <p:nvPr/>
          </p:nvSpPr>
          <p:spPr>
            <a:xfrm>
              <a:off x="3633" y="6722"/>
              <a:ext cx="1860" cy="891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algn="ctr"/>
              <a:r>
                <a:rPr lang="zh-CN" altLang="en-US" sz="1000" dirty="0">
                  <a:latin typeface="Calibri" pitchFamily="34" charset="0"/>
                </a:rPr>
                <a:t>转移不成功</a:t>
              </a:r>
              <a:endParaRPr lang="zh-CN" altLang="en-US" sz="1000" dirty="0">
                <a:latin typeface="Times New Roman" pitchFamily="18" charset="0"/>
              </a:endParaRPr>
            </a:p>
            <a:p>
              <a:pPr algn="ctr"/>
              <a:r>
                <a:rPr lang="zh-CN" altLang="en-US" sz="1000" dirty="0">
                  <a:latin typeface="Calibri" pitchFamily="34" charset="0"/>
                </a:rPr>
                <a:t>（</a:t>
              </a:r>
              <a:r>
                <a:rPr lang="en-US" altLang="zh-CN" sz="1000" dirty="0">
                  <a:latin typeface="Times New Roman" pitchFamily="18" charset="0"/>
                </a:rPr>
                <a:t>00</a:t>
              </a:r>
              <a:r>
                <a:rPr lang="zh-CN" altLang="en-US" sz="1000" dirty="0">
                  <a:latin typeface="Calibri" pitchFamily="34" charset="0"/>
                </a:rPr>
                <a:t>）</a:t>
              </a:r>
              <a:endParaRPr lang="zh-CN" altLang="en-US" dirty="0">
                <a:latin typeface="Times New Roman" pitchFamily="18" charset="0"/>
              </a:endParaRPr>
            </a:p>
          </p:txBody>
        </p:sp>
        <p:sp>
          <p:nvSpPr>
            <p:cNvPr id="40974" name="Oval 28"/>
            <p:cNvSpPr/>
            <p:nvPr/>
          </p:nvSpPr>
          <p:spPr>
            <a:xfrm flipV="1">
              <a:off x="4215" y="2497"/>
              <a:ext cx="708" cy="478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>
                <a:latin typeface="Times New Roman" pitchFamily="18" charset="0"/>
              </a:endParaRPr>
            </a:p>
          </p:txBody>
        </p:sp>
        <p:cxnSp>
          <p:nvCxnSpPr>
            <p:cNvPr id="40975" name="AutoShape 29"/>
            <p:cNvCxnSpPr/>
            <p:nvPr/>
          </p:nvCxnSpPr>
          <p:spPr>
            <a:xfrm>
              <a:off x="4882" y="2634"/>
              <a:ext cx="50" cy="135"/>
            </a:xfrm>
            <a:prstGeom prst="straightConnector1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sm"/>
            </a:ln>
          </p:spPr>
        </p:cxnSp>
        <p:sp>
          <p:nvSpPr>
            <p:cNvPr id="40976" name="Oval 30"/>
            <p:cNvSpPr/>
            <p:nvPr/>
          </p:nvSpPr>
          <p:spPr>
            <a:xfrm>
              <a:off x="3633" y="2737"/>
              <a:ext cx="1860" cy="891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algn="ctr"/>
              <a:r>
                <a:rPr lang="zh-CN" altLang="en-US" sz="1000" dirty="0">
                  <a:latin typeface="Calibri" pitchFamily="34" charset="0"/>
                </a:rPr>
                <a:t>转移成功</a:t>
              </a:r>
              <a:endParaRPr lang="zh-CN" altLang="en-US" sz="1000" dirty="0">
                <a:latin typeface="Times New Roman" pitchFamily="18" charset="0"/>
              </a:endParaRPr>
            </a:p>
            <a:p>
              <a:pPr algn="ctr"/>
              <a:r>
                <a:rPr lang="zh-CN" altLang="en-US" sz="1000" dirty="0">
                  <a:latin typeface="Calibri" pitchFamily="34" charset="0"/>
                </a:rPr>
                <a:t>（</a:t>
              </a:r>
              <a:r>
                <a:rPr lang="en-US" altLang="zh-CN" sz="1000" dirty="0">
                  <a:latin typeface="Calibri" pitchFamily="34" charset="0"/>
                </a:rPr>
                <a:t>11</a:t>
              </a:r>
              <a:r>
                <a:rPr lang="zh-CN" altLang="en-US" sz="1000" dirty="0">
                  <a:latin typeface="Calibri" pitchFamily="34" charset="0"/>
                </a:rPr>
                <a:t>）</a:t>
              </a:r>
              <a:endParaRPr lang="zh-CN" altLang="en-US" dirty="0">
                <a:latin typeface="Times New Roman" pitchFamily="18" charset="0"/>
              </a:endParaRPr>
            </a:p>
          </p:txBody>
        </p:sp>
        <p:cxnSp>
          <p:nvCxnSpPr>
            <p:cNvPr id="40977" name="AutoShape 31"/>
            <p:cNvCxnSpPr/>
            <p:nvPr/>
          </p:nvCxnSpPr>
          <p:spPr>
            <a:xfrm flipV="1">
              <a:off x="4451" y="3628"/>
              <a:ext cx="0" cy="438"/>
            </a:xfrm>
            <a:prstGeom prst="straightConnector1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sm"/>
            </a:ln>
          </p:spPr>
        </p:cxnSp>
        <p:cxnSp>
          <p:nvCxnSpPr>
            <p:cNvPr id="40978" name="AutoShape 32"/>
            <p:cNvCxnSpPr/>
            <p:nvPr/>
          </p:nvCxnSpPr>
          <p:spPr>
            <a:xfrm>
              <a:off x="4667" y="3628"/>
              <a:ext cx="0" cy="438"/>
            </a:xfrm>
            <a:prstGeom prst="straightConnector1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sm"/>
            </a:ln>
          </p:spPr>
        </p:cxnSp>
        <p:sp>
          <p:nvSpPr>
            <p:cNvPr id="40979" name="Text Box 33"/>
            <p:cNvSpPr txBox="1"/>
            <p:nvPr/>
          </p:nvSpPr>
          <p:spPr>
            <a:xfrm>
              <a:off x="3840" y="3628"/>
              <a:ext cx="528" cy="4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r"/>
              <a:r>
                <a:rPr lang="en-US" altLang="zh-CN" sz="900" dirty="0">
                  <a:latin typeface="Calibri" pitchFamily="34" charset="0"/>
                </a:rPr>
                <a:t>T</a:t>
              </a:r>
              <a:endParaRPr lang="zh-CN" altLang="zh-CN" dirty="0">
                <a:latin typeface="Times New Roman" pitchFamily="18" charset="0"/>
              </a:endParaRPr>
            </a:p>
          </p:txBody>
        </p:sp>
        <p:sp>
          <p:nvSpPr>
            <p:cNvPr id="40980" name="Text Box 34"/>
            <p:cNvSpPr txBox="1"/>
            <p:nvPr/>
          </p:nvSpPr>
          <p:spPr>
            <a:xfrm>
              <a:off x="4662" y="3636"/>
              <a:ext cx="618" cy="4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900" dirty="0">
                  <a:latin typeface="Calibri" pitchFamily="34" charset="0"/>
                </a:rPr>
                <a:t>NT</a:t>
              </a:r>
              <a:endParaRPr lang="zh-CN" altLang="zh-CN" dirty="0">
                <a:latin typeface="Times New Roman" pitchFamily="18" charset="0"/>
              </a:endParaRPr>
            </a:p>
          </p:txBody>
        </p:sp>
        <p:sp>
          <p:nvSpPr>
            <p:cNvPr id="40981" name="Text Box 35"/>
            <p:cNvSpPr txBox="1"/>
            <p:nvPr/>
          </p:nvSpPr>
          <p:spPr>
            <a:xfrm>
              <a:off x="4388" y="2147"/>
              <a:ext cx="489" cy="4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900" dirty="0">
                  <a:latin typeface="Calibri" pitchFamily="34" charset="0"/>
                </a:rPr>
                <a:t>T</a:t>
              </a:r>
              <a:endParaRPr lang="zh-CN" altLang="zh-CN" dirty="0">
                <a:latin typeface="Times New Roman" pitchFamily="18" charset="0"/>
              </a:endParaRPr>
            </a:p>
          </p:txBody>
        </p:sp>
        <p:sp>
          <p:nvSpPr>
            <p:cNvPr id="40982" name="Text Box 36"/>
            <p:cNvSpPr txBox="1"/>
            <p:nvPr/>
          </p:nvSpPr>
          <p:spPr>
            <a:xfrm>
              <a:off x="4323" y="7715"/>
              <a:ext cx="618" cy="4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900" dirty="0">
                  <a:latin typeface="Calibri" pitchFamily="34" charset="0"/>
                </a:rPr>
                <a:t>NT</a:t>
              </a:r>
              <a:endParaRPr lang="zh-CN" altLang="zh-CN" dirty="0">
                <a:latin typeface="Times New Roman" pitchFamily="18" charset="0"/>
              </a:endParaRP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1"/>
          <p:cNvSpPr>
            <a:spLocks noGrp="1"/>
          </p:cNvSpPr>
          <p:nvPr>
            <p:ph type="title"/>
          </p:nvPr>
        </p:nvSpPr>
        <p:spPr>
          <a:xfrm>
            <a:off x="914400" y="0"/>
            <a:ext cx="10361613" cy="1143000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sz="3600" dirty="0"/>
              <a:t>一位</a:t>
            </a:r>
            <a:r>
              <a:rPr lang="en-US" altLang="zh-CN" sz="3600" dirty="0"/>
              <a:t>BHT vs. </a:t>
            </a:r>
            <a:r>
              <a:rPr lang="zh-CN" altLang="en-US" sz="3600" dirty="0"/>
              <a:t>两位</a:t>
            </a:r>
            <a:r>
              <a:rPr lang="en-US" altLang="zh-CN" sz="3600" dirty="0"/>
              <a:t>BHT</a:t>
            </a:r>
            <a:r>
              <a:rPr lang="zh-CN" altLang="en-US" sz="3600" dirty="0"/>
              <a:t>表</a:t>
            </a:r>
            <a:endParaRPr lang="zh-CN" altLang="en-US" sz="3600" dirty="0"/>
          </a:p>
        </p:txBody>
      </p:sp>
      <p:sp>
        <p:nvSpPr>
          <p:cNvPr id="45059" name="内容占位符 2"/>
          <p:cNvSpPr>
            <a:spLocks noGrp="1"/>
          </p:cNvSpPr>
          <p:nvPr>
            <p:ph idx="1"/>
          </p:nvPr>
        </p:nvSpPr>
        <p:spPr>
          <a:xfrm>
            <a:off x="914400" y="1173163"/>
            <a:ext cx="10361613" cy="49228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1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</a:rPr>
              <a:t>for (</a:t>
            </a:r>
            <a:r>
              <a:rPr kumimoji="1" lang="en-US" altLang="zh-CN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</a:rPr>
              <a:t>=0;i&lt;10;i++) for (j=0; j&lt;10; j++) { …… }</a:t>
            </a:r>
            <a:endParaRPr kumimoji="1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一位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BHT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表</a:t>
            </a:r>
            <a:endParaRPr kumimoji="1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1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1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1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两位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BHT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表</a:t>
            </a:r>
            <a:endParaRPr kumimoji="1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41988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aphicFrame>
        <p:nvGraphicFramePr>
          <p:cNvPr id="5" name="内容占位符 4"/>
          <p:cNvGraphicFramePr/>
          <p:nvPr/>
        </p:nvGraphicFramePr>
        <p:xfrm>
          <a:off x="731838" y="2325688"/>
          <a:ext cx="1094268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8569"/>
                <a:gridCol w="437256"/>
                <a:gridCol w="476677"/>
                <a:gridCol w="476677"/>
                <a:gridCol w="476677"/>
                <a:gridCol w="476677"/>
                <a:gridCol w="476677"/>
                <a:gridCol w="476677"/>
                <a:gridCol w="476677"/>
                <a:gridCol w="476677"/>
                <a:gridCol w="476677"/>
                <a:gridCol w="476677"/>
                <a:gridCol w="476677"/>
                <a:gridCol w="476677"/>
                <a:gridCol w="476677"/>
                <a:gridCol w="476677"/>
                <a:gridCol w="476677"/>
                <a:gridCol w="476677"/>
                <a:gridCol w="476677"/>
                <a:gridCol w="476677"/>
                <a:gridCol w="47667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跳转方向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BHT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表值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猜测方向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猜测正确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内容占位符 4"/>
          <p:cNvGraphicFramePr/>
          <p:nvPr/>
        </p:nvGraphicFramePr>
        <p:xfrm>
          <a:off x="792163" y="4500563"/>
          <a:ext cx="1094268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8569"/>
                <a:gridCol w="437256"/>
                <a:gridCol w="476677"/>
                <a:gridCol w="476677"/>
                <a:gridCol w="476677"/>
                <a:gridCol w="476677"/>
                <a:gridCol w="476677"/>
                <a:gridCol w="476677"/>
                <a:gridCol w="476677"/>
                <a:gridCol w="476677"/>
                <a:gridCol w="476677"/>
                <a:gridCol w="476677"/>
                <a:gridCol w="476677"/>
                <a:gridCol w="476677"/>
                <a:gridCol w="476677"/>
                <a:gridCol w="476677"/>
                <a:gridCol w="476677"/>
                <a:gridCol w="476677"/>
                <a:gridCol w="476677"/>
                <a:gridCol w="476677"/>
                <a:gridCol w="47667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跳转方向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BHT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表值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猜测方向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</a:rPr>
                        <a:t>猜测正确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46083" name="Rectangle 2"/>
          <p:cNvSpPr>
            <a:spLocks noChangeArrowheads="1"/>
          </p:cNvSpPr>
          <p:nvPr/>
        </p:nvSpPr>
        <p:spPr bwMode="auto">
          <a:xfrm>
            <a:off x="404813" y="1073150"/>
            <a:ext cx="11784013" cy="2016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在取指阶段根据当前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PC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值预测转移方向和转移地址</a:t>
            </a:r>
            <a:endParaRPr kumimoji="1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需要进行地址全相等比较</a:t>
            </a:r>
            <a:endParaRPr kumimoji="1" lang="zh-CN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直接预测</a:t>
            </a:r>
            <a:r>
              <a:rPr kumimoji="1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PC</a:t>
            </a: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值而不是根据指令内容计算</a:t>
            </a:r>
            <a:endParaRPr kumimoji="1" lang="zh-CN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失效时进行替换</a:t>
            </a:r>
            <a:endParaRPr kumimoji="1" lang="zh-CN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43012" name="Rectangle 3"/>
          <p:cNvSpPr/>
          <p:nvPr/>
        </p:nvSpPr>
        <p:spPr>
          <a:xfrm>
            <a:off x="506413" y="76200"/>
            <a:ext cx="11174412" cy="1023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>
              <a:spcBef>
                <a:spcPct val="0"/>
              </a:spcBef>
            </a:pPr>
            <a:r>
              <a:rPr lang="zh-CN" altLang="en-US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减少猜测延迟</a:t>
            </a:r>
            <a:r>
              <a:rPr lang="en-US" altLang="zh-CN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---BTB</a:t>
            </a:r>
            <a:endParaRPr lang="en-US" altLang="zh-CN" sz="32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  <p:pic>
        <p:nvPicPr>
          <p:cNvPr id="43013" name="Picture 36" descr="921286100824181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2251075" y="3140075"/>
            <a:ext cx="7626350" cy="2911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44035" name="Rectangle 2"/>
          <p:cNvSpPr>
            <a:spLocks noGrp="1"/>
          </p:cNvSpPr>
          <p:nvPr>
            <p:ph type="title"/>
          </p:nvPr>
        </p:nvSpPr>
        <p:spPr>
          <a:xfrm>
            <a:off x="889000" y="147638"/>
            <a:ext cx="10361613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返回地址栈</a:t>
            </a:r>
            <a:endParaRPr lang="zh-CN" altLang="en-US" sz="3600" dirty="0"/>
          </a:p>
        </p:txBody>
      </p:sp>
      <p:sp>
        <p:nvSpPr>
          <p:cNvPr id="47108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922463"/>
            <a:ext cx="10361613" cy="41735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返回地址栈（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Return Addresses Stack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）预测返回地址</a:t>
            </a:r>
            <a:endParaRPr kumimoji="1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函数调用时压栈，返回时从栈顶弹出作为返回地址</a:t>
            </a:r>
            <a:endParaRPr kumimoji="1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针对函数调用有很高的预测准确率</a:t>
            </a:r>
            <a:endParaRPr kumimoji="1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6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45059" name="Rectangle 2"/>
          <p:cNvSpPr>
            <a:spLocks noGrp="1"/>
          </p:cNvSpPr>
          <p:nvPr>
            <p:ph type="title"/>
          </p:nvPr>
        </p:nvSpPr>
        <p:spPr>
          <a:xfrm>
            <a:off x="966788" y="61913"/>
            <a:ext cx="10361612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kumimoji="1" lang="zh-CN" altLang="en-US" sz="3600" dirty="0">
                <a:latin typeface="+mj-lt"/>
                <a:ea typeface="+mj-ea"/>
                <a:cs typeface="+mj-cs"/>
              </a:rPr>
              <a:t>转移指令的相关性</a:t>
            </a:r>
            <a:endParaRPr kumimoji="1" lang="zh-CN" altLang="en-US" sz="3600" dirty="0">
              <a:latin typeface="+mj-lt"/>
              <a:ea typeface="+mj-ea"/>
              <a:cs typeface="+mj-cs"/>
            </a:endParaRP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38213" y="1212850"/>
            <a:ext cx="9713913" cy="19653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位分支预测之后，预测正确率难以提高</a:t>
            </a:r>
            <a:endParaRPr kumimoji="1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主要原因是分支指令的相关性</a:t>
            </a:r>
            <a:endParaRPr kumimoji="1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graphicFrame>
        <p:nvGraphicFramePr>
          <p:cNvPr id="379915" name="Group 11"/>
          <p:cNvGraphicFramePr>
            <a:graphicFrameLocks noGrp="1"/>
          </p:cNvGraphicFramePr>
          <p:nvPr>
            <p:ph sz="half" idx="1"/>
          </p:nvPr>
        </p:nvGraphicFramePr>
        <p:xfrm>
          <a:off x="1390650" y="3644900"/>
          <a:ext cx="9599950" cy="2599309"/>
        </p:xfrm>
        <a:graphic>
          <a:graphicData uri="http://schemas.openxmlformats.org/drawingml/2006/table">
            <a:tbl>
              <a:tblPr/>
              <a:tblGrid>
                <a:gridCol w="9599950"/>
              </a:tblGrid>
              <a:tr h="1044575">
                <a:tc>
                  <a:txBody>
                    <a:bodyPr/>
                    <a:lstStyle/>
                    <a:p>
                      <a:pPr marL="342900" marR="0" lvl="0" indent="8572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itchFamily="18" charset="0"/>
                        </a:rPr>
                        <a:t>If (d &gt;=10)      //</a:t>
                      </a: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itchFamily="18" charset="0"/>
                        </a:rPr>
                        <a:t>分支</a:t>
                      </a: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itchFamily="18" charset="0"/>
                        </a:rPr>
                        <a:t>1           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itchFamily="18" charset="0"/>
                      </a:endParaRPr>
                    </a:p>
                    <a:p>
                      <a:pPr marL="342900" marR="0" lvl="0" indent="85725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itchFamily="18" charset="0"/>
                        </a:rPr>
                        <a:t>   d = 12;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itchFamily="18" charset="0"/>
                      </a:endParaRPr>
                    </a:p>
                    <a:p>
                      <a:pPr marL="342900" marR="0" lvl="0" indent="85725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itchFamily="18" charset="0"/>
                        </a:rPr>
                        <a:t>If (d ==12)     //</a:t>
                      </a: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itchFamily="18" charset="0"/>
                        </a:rPr>
                        <a:t>分支</a:t>
                      </a: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itchFamily="18" charset="0"/>
                        </a:rPr>
                        <a:t>2</a:t>
                      </a: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itchFamily="18" charset="0"/>
                        </a:rPr>
                        <a:t>依靠分支</a:t>
                      </a: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itchFamily="18" charset="0"/>
                        </a:rPr>
                        <a:t>1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itchFamily="18" charset="0"/>
                      </a:endParaRPr>
                    </a:p>
                    <a:p>
                      <a:pPr marL="342900" marR="0" lvl="0" indent="85725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itchFamily="18" charset="0"/>
                        </a:rPr>
                        <a:t>   d = 2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04" marR="121904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98525">
                <a:tc>
                  <a:txBody>
                    <a:bodyPr/>
                    <a:lstStyle/>
                    <a:p>
                      <a:pPr marL="0" marR="0" lvl="0" indent="120015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04" marR="121904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title"/>
          </p:nvPr>
        </p:nvSpPr>
        <p:spPr>
          <a:xfrm>
            <a:off x="914400" y="252095"/>
            <a:ext cx="10361613" cy="1143000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sz="3600" dirty="0"/>
              <a:t>记录全局转移历史</a:t>
            </a:r>
            <a:endParaRPr lang="zh-CN" altLang="en-US" sz="3600" dirty="0"/>
          </a:p>
        </p:txBody>
      </p:sp>
      <p:sp>
        <p:nvSpPr>
          <p:cNvPr id="49155" name="内容占位符 2"/>
          <p:cNvSpPr>
            <a:spLocks noGrp="1"/>
          </p:cNvSpPr>
          <p:nvPr>
            <p:ph idx="1"/>
          </p:nvPr>
        </p:nvSpPr>
        <p:spPr>
          <a:xfrm>
            <a:off x="914400" y="1981200"/>
            <a:ext cx="4289425" cy="44100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for (</a:t>
            </a:r>
            <a:r>
              <a:rPr kumimoji="1" lang="en-US" altLang="zh-CN" sz="16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i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=0; </a:t>
            </a:r>
            <a:r>
              <a:rPr kumimoji="1" lang="en-US" altLang="zh-CN" sz="16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i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&lt;10000; </a:t>
            </a:r>
            <a:r>
              <a:rPr kumimoji="1" lang="en-US" altLang="zh-CN" sz="16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i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++){</a:t>
            </a:r>
            <a:endParaRPr kumimoji="1" lang="en-US" altLang="zh-CN" sz="1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  if (i%2==0){</a:t>
            </a:r>
            <a:endParaRPr kumimoji="1" lang="en-US" altLang="zh-CN" sz="16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      ……</a:t>
            </a:r>
            <a:endParaRPr kumimoji="1" lang="en-US" altLang="zh-CN" sz="1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  }</a:t>
            </a:r>
            <a:endParaRPr kumimoji="1" lang="en-US" altLang="zh-CN" sz="1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}</a:t>
            </a:r>
            <a:endParaRPr kumimoji="1" lang="en-US" altLang="zh-CN" sz="1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if (i%2==0)</a:t>
            </a: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12</a:t>
            </a: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位全局历史：</a:t>
            </a:r>
            <a:endParaRPr kumimoji="1" lang="en-US" altLang="zh-CN" sz="1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i</a:t>
            </a: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为偶数时：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0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0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0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1;</a:t>
            </a:r>
            <a:endParaRPr kumimoji="1" lang="en-US" altLang="zh-CN" sz="1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i</a:t>
            </a: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为奇数时：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0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0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0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1;</a:t>
            </a:r>
            <a:endParaRPr kumimoji="1" lang="zh-CN" altLang="en-US" sz="1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46084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" name="内容占位符 2"/>
          <p:cNvSpPr txBox="1"/>
          <p:nvPr/>
        </p:nvSpPr>
        <p:spPr bwMode="auto">
          <a:xfrm>
            <a:off x="6130925" y="1966913"/>
            <a:ext cx="4949825" cy="4433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indent="-342900" defTabSz="914400" eaLnBrk="0" hangingPunct="0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en-US" altLang="zh-CN" sz="1600" b="1" kern="0" cap="none" spc="0" normalizeH="0" baseline="0" noProof="0" dirty="0">
                <a:latin typeface="+mn-ea"/>
                <a:ea typeface="+mn-ea"/>
                <a:cs typeface="+mn-cs"/>
              </a:rPr>
              <a:t>for (</a:t>
            </a:r>
            <a:r>
              <a:rPr kumimoji="1" lang="en-US" altLang="zh-CN" sz="1600" b="1" kern="0" cap="none" spc="0" normalizeH="0" baseline="0" noProof="0" dirty="0" err="1">
                <a:latin typeface="+mn-ea"/>
                <a:ea typeface="+mn-ea"/>
                <a:cs typeface="+mn-cs"/>
              </a:rPr>
              <a:t>i</a:t>
            </a:r>
            <a:r>
              <a:rPr kumimoji="1" lang="en-US" altLang="zh-CN" sz="1600" b="1" kern="0" cap="none" spc="0" normalizeH="0" baseline="0" noProof="0" dirty="0">
                <a:latin typeface="+mn-ea"/>
                <a:ea typeface="+mn-ea"/>
                <a:cs typeface="+mn-cs"/>
              </a:rPr>
              <a:t>=0; </a:t>
            </a:r>
            <a:r>
              <a:rPr kumimoji="1" lang="en-US" altLang="zh-CN" sz="1600" b="1" kern="0" cap="none" spc="0" normalizeH="0" baseline="0" noProof="0" dirty="0" err="1">
                <a:latin typeface="+mn-ea"/>
                <a:ea typeface="+mn-ea"/>
                <a:cs typeface="+mn-cs"/>
              </a:rPr>
              <a:t>i</a:t>
            </a:r>
            <a:r>
              <a:rPr kumimoji="1" lang="en-US" altLang="zh-CN" sz="1600" b="1" kern="0" cap="none" spc="0" normalizeH="0" baseline="0" noProof="0" dirty="0">
                <a:latin typeface="+mn-ea"/>
                <a:ea typeface="+mn-ea"/>
                <a:cs typeface="+mn-cs"/>
              </a:rPr>
              <a:t>&lt;10000; </a:t>
            </a:r>
            <a:r>
              <a:rPr kumimoji="1" lang="en-US" altLang="zh-CN" sz="1600" b="1" kern="0" cap="none" spc="0" normalizeH="0" baseline="0" noProof="0" dirty="0" err="1">
                <a:latin typeface="+mn-ea"/>
                <a:ea typeface="+mn-ea"/>
                <a:cs typeface="+mn-cs"/>
              </a:rPr>
              <a:t>i</a:t>
            </a:r>
            <a:r>
              <a:rPr kumimoji="1" lang="en-US" altLang="zh-CN" sz="1600" b="1" kern="0" cap="none" spc="0" normalizeH="0" baseline="0" noProof="0" dirty="0">
                <a:latin typeface="+mn-ea"/>
                <a:ea typeface="+mn-ea"/>
                <a:cs typeface="+mn-cs"/>
              </a:rPr>
              <a:t>++){</a:t>
            </a:r>
            <a:endParaRPr kumimoji="1" lang="en-US" altLang="zh-CN" sz="1600" b="1" kern="0" cap="none" spc="0" normalizeH="0" baseline="0" noProof="0" dirty="0">
              <a:latin typeface="+mn-ea"/>
              <a:ea typeface="+mn-ea"/>
              <a:cs typeface="+mn-cs"/>
            </a:endParaRPr>
          </a:p>
          <a:p>
            <a:pPr marL="342900" marR="0" indent="-342900" defTabSz="914400" eaLnBrk="0" hangingPunct="0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en-US" altLang="zh-CN" sz="1600" b="1" kern="0" cap="none" spc="0" normalizeH="0" baseline="0" noProof="0" dirty="0">
                <a:latin typeface="+mn-ea"/>
                <a:ea typeface="+mn-ea"/>
                <a:cs typeface="+mn-cs"/>
              </a:rPr>
              <a:t>    switch  (i%10)</a:t>
            </a:r>
            <a:endParaRPr kumimoji="1" lang="en-US" altLang="zh-CN" sz="1600" b="1" kern="0" cap="none" spc="0" normalizeH="0" baseline="0" noProof="0" dirty="0">
              <a:latin typeface="+mn-ea"/>
              <a:ea typeface="+mn-ea"/>
              <a:cs typeface="+mn-cs"/>
            </a:endParaRPr>
          </a:p>
          <a:p>
            <a:pPr marL="342900" marR="0" indent="-342900" defTabSz="914400" eaLnBrk="0" hangingPunct="0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en-US" altLang="zh-CN" sz="1600" b="1" kern="0" cap="none" spc="0" normalizeH="0" baseline="0" noProof="0" dirty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        case 2.4.5:  {……}</a:t>
            </a:r>
            <a:endParaRPr kumimoji="1" lang="en-US" altLang="zh-CN" sz="1600" b="1" kern="0" cap="none" spc="0" normalizeH="0" baseline="0" noProof="0" dirty="0">
              <a:solidFill>
                <a:srgbClr val="FF0000"/>
              </a:solidFill>
              <a:latin typeface="+mn-ea"/>
              <a:ea typeface="+mn-ea"/>
              <a:cs typeface="+mn-cs"/>
            </a:endParaRPr>
          </a:p>
          <a:p>
            <a:pPr marL="342900" marR="0" indent="-342900" defTabSz="914400" eaLnBrk="0" hangingPunct="0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en-US" altLang="zh-CN" sz="1600" b="1" kern="0" cap="none" spc="0" normalizeH="0" baseline="0" noProof="0" dirty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        case 0,3:  {……}</a:t>
            </a:r>
            <a:endParaRPr kumimoji="1" lang="en-US" altLang="zh-CN" sz="1600" b="1" kern="0" cap="none" spc="0" normalizeH="0" baseline="0" noProof="0" dirty="0">
              <a:solidFill>
                <a:srgbClr val="FF0000"/>
              </a:solidFill>
              <a:latin typeface="+mn-ea"/>
              <a:ea typeface="+mn-ea"/>
              <a:cs typeface="+mn-cs"/>
            </a:endParaRPr>
          </a:p>
          <a:p>
            <a:pPr marL="342900" marR="0" indent="-342900" defTabSz="914400" eaLnBrk="0" hangingPunct="0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en-US" altLang="zh-CN" sz="1600" b="1" kern="0" cap="none" spc="0" normalizeH="0" baseline="0" noProof="0" dirty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        case 7,9:  {……}</a:t>
            </a:r>
            <a:endParaRPr kumimoji="1" lang="en-US" altLang="zh-CN" sz="1600" b="1" kern="0" cap="none" spc="0" normalizeH="0" baseline="0" noProof="0" dirty="0">
              <a:solidFill>
                <a:srgbClr val="FF0000"/>
              </a:solidFill>
              <a:latin typeface="+mn-ea"/>
              <a:ea typeface="+mn-ea"/>
              <a:cs typeface="+mn-cs"/>
            </a:endParaRPr>
          </a:p>
          <a:p>
            <a:pPr marL="342900" marR="0" indent="-342900" defTabSz="914400" eaLnBrk="0" hangingPunct="0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en-US" altLang="zh-CN" sz="1600" b="1" kern="0" cap="none" spc="0" normalizeH="0" baseline="0" noProof="0" dirty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        default: {……}</a:t>
            </a:r>
            <a:endParaRPr kumimoji="1" lang="en-US" altLang="zh-CN" sz="1600" b="1" kern="0" cap="none" spc="0" normalizeH="0" baseline="0" noProof="0" dirty="0">
              <a:solidFill>
                <a:srgbClr val="FF0000"/>
              </a:solidFill>
              <a:latin typeface="+mn-ea"/>
              <a:ea typeface="+mn-ea"/>
              <a:cs typeface="+mn-cs"/>
            </a:endParaRPr>
          </a:p>
          <a:p>
            <a:pPr marL="342900" marR="0" indent="-342900" defTabSz="914400" eaLnBrk="0" hangingPunct="0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en-US" altLang="zh-CN" sz="1600" b="1" kern="0" cap="none" spc="0" normalizeH="0" baseline="0" noProof="0" dirty="0">
                <a:latin typeface="+mn-ea"/>
                <a:ea typeface="+mn-ea"/>
                <a:cs typeface="+mn-cs"/>
              </a:rPr>
              <a:t>    }</a:t>
            </a:r>
            <a:endParaRPr kumimoji="1" lang="en-US" altLang="zh-CN" sz="1600" b="1" kern="0" cap="none" spc="0" normalizeH="0" baseline="0" noProof="0" dirty="0">
              <a:latin typeface="+mn-ea"/>
              <a:ea typeface="+mn-ea"/>
              <a:cs typeface="+mn-cs"/>
            </a:endParaRPr>
          </a:p>
          <a:p>
            <a:pPr marL="342900" marR="0" indent="-342900" defTabSz="914400" eaLnBrk="0" hangingPunct="0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1" lang="en-US" altLang="zh-CN" sz="1600" b="1" kern="0" cap="none" spc="0" normalizeH="0" baseline="0" noProof="0" dirty="0">
                <a:latin typeface="+mn-ea"/>
                <a:ea typeface="+mn-ea"/>
                <a:cs typeface="+mn-cs"/>
              </a:rPr>
              <a:t>}</a:t>
            </a:r>
            <a:endParaRPr kumimoji="1" lang="en-US" altLang="zh-CN" sz="1600" b="1" kern="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1600" b="1" kern="1200" cap="none" spc="0" normalizeH="0" baseline="0" noProof="0" dirty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 switch (i%10) case</a:t>
            </a:r>
            <a:r>
              <a:rPr kumimoji="1" lang="zh-CN" altLang="en-US" sz="1600" b="1" kern="1200" cap="none" spc="0" normalizeH="0" baseline="0" noProof="0" dirty="0">
                <a:latin typeface="+mn-ea"/>
                <a:ea typeface="+mn-ea"/>
                <a:cs typeface="+mn-cs"/>
              </a:rPr>
              <a:t>的</a:t>
            </a:r>
            <a:r>
              <a:rPr kumimoji="1" lang="en-US" altLang="zh-CN" sz="1600" b="1" kern="1200" cap="none" spc="0" normalizeH="0" baseline="0" noProof="0" dirty="0">
                <a:latin typeface="+mn-ea"/>
                <a:ea typeface="+mn-ea"/>
                <a:cs typeface="+mn-cs"/>
              </a:rPr>
              <a:t>12</a:t>
            </a:r>
            <a:r>
              <a:rPr kumimoji="1" lang="zh-CN" altLang="en-US" sz="1600" b="1" kern="1200" cap="none" spc="0" normalizeH="0" baseline="0" noProof="0" dirty="0">
                <a:latin typeface="+mn-ea"/>
                <a:ea typeface="+mn-ea"/>
                <a:cs typeface="+mn-cs"/>
              </a:rPr>
              <a:t>位全局历史</a:t>
            </a:r>
            <a:r>
              <a:rPr kumimoji="1" lang="zh-CN" altLang="en-US" sz="1600" kern="1200" cap="none" spc="0" normalizeH="0" baseline="0" noProof="0" dirty="0">
                <a:latin typeface="+mn-ea"/>
                <a:ea typeface="+mn-ea"/>
                <a:cs typeface="+mn-cs"/>
              </a:rPr>
              <a:t>：</a:t>
            </a:r>
            <a:endParaRPr kumimoji="1" lang="en-US" altLang="zh-CN" sz="1600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1600" b="1" kern="1200" cap="none" spc="0" normalizeH="0" baseline="0" noProof="0" dirty="0" err="1">
                <a:latin typeface="+mn-ea"/>
                <a:ea typeface="+mn-ea"/>
                <a:cs typeface="+mn-cs"/>
              </a:rPr>
              <a:t>i</a:t>
            </a:r>
            <a:r>
              <a:rPr kumimoji="1" lang="en-US" altLang="zh-CN" sz="1600" b="1" kern="1200" cap="none" spc="0" normalizeH="0" baseline="0" noProof="0" dirty="0">
                <a:latin typeface="+mn-ea"/>
                <a:ea typeface="+mn-ea"/>
                <a:cs typeface="+mn-cs"/>
              </a:rPr>
              <a:t>=2</a:t>
            </a:r>
            <a:r>
              <a:rPr kumimoji="1" lang="zh-CN" altLang="en-US" sz="1600" b="1" kern="1200" cap="none" spc="0" normalizeH="0" baseline="0" noProof="0" dirty="0">
                <a:latin typeface="+mn-ea"/>
                <a:ea typeface="+mn-ea"/>
                <a:cs typeface="+mn-cs"/>
              </a:rPr>
              <a:t>：</a:t>
            </a:r>
            <a:r>
              <a:rPr kumimoji="1" lang="en-US" altLang="zh-CN" sz="1600" b="1" kern="1200" cap="none" spc="0" normalizeH="0" baseline="0" noProof="0" dirty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0</a:t>
            </a:r>
            <a:r>
              <a:rPr kumimoji="1" lang="en-US" altLang="zh-CN" sz="1600" b="1" kern="1200" cap="none" spc="0" normalizeH="0" baseline="0" noProof="0" dirty="0">
                <a:latin typeface="+mn-ea"/>
                <a:ea typeface="+mn-ea"/>
                <a:cs typeface="+mn-cs"/>
              </a:rPr>
              <a:t>1</a:t>
            </a:r>
            <a:r>
              <a:rPr kumimoji="1" lang="en-US" altLang="zh-CN" sz="1600" b="1" kern="1200" cap="none" spc="0" normalizeH="0" baseline="0" noProof="0" dirty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0</a:t>
            </a:r>
            <a:r>
              <a:rPr kumimoji="1" lang="en-US" altLang="zh-CN" sz="1600" b="1" kern="1200" cap="none" spc="0" normalizeH="0" baseline="0" noProof="0" dirty="0">
                <a:latin typeface="+mn-ea"/>
                <a:ea typeface="+mn-ea"/>
                <a:cs typeface="+mn-cs"/>
              </a:rPr>
              <a:t>1</a:t>
            </a:r>
            <a:r>
              <a:rPr kumimoji="1" lang="en-US" altLang="zh-CN" sz="1600" b="1" kern="1200" cap="none" spc="0" normalizeH="0" baseline="0" noProof="0" dirty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0</a:t>
            </a:r>
            <a:r>
              <a:rPr kumimoji="1" lang="en-US" altLang="zh-CN" sz="1600" b="1" kern="1200" cap="none" spc="0" normalizeH="0" baseline="0" noProof="0" dirty="0">
                <a:latin typeface="+mn-ea"/>
                <a:ea typeface="+mn-ea"/>
                <a:cs typeface="+mn-cs"/>
              </a:rPr>
              <a:t>1</a:t>
            </a:r>
            <a:r>
              <a:rPr kumimoji="1" lang="en-US" altLang="zh-CN" sz="1600" b="1" kern="1200" cap="none" spc="0" normalizeH="0" baseline="0" noProof="0" dirty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0</a:t>
            </a:r>
            <a:r>
              <a:rPr kumimoji="1" lang="en-US" altLang="zh-CN" sz="1600" b="1" kern="1200" cap="none" spc="0" normalizeH="0" baseline="0" noProof="0" dirty="0">
                <a:latin typeface="+mn-ea"/>
                <a:ea typeface="+mn-ea"/>
                <a:cs typeface="+mn-cs"/>
              </a:rPr>
              <a:t>1</a:t>
            </a:r>
            <a:r>
              <a:rPr kumimoji="1" lang="en-US" altLang="zh-CN" sz="1600" b="1" kern="1200" cap="none" spc="0" normalizeH="0" baseline="0" noProof="0" dirty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0</a:t>
            </a:r>
            <a:r>
              <a:rPr kumimoji="1" lang="en-US" altLang="zh-CN" sz="1600" b="1" kern="1200" cap="none" spc="0" normalizeH="0" baseline="0" noProof="0" dirty="0">
                <a:latin typeface="+mn-ea"/>
                <a:ea typeface="+mn-ea"/>
                <a:cs typeface="+mn-cs"/>
              </a:rPr>
              <a:t>1</a:t>
            </a:r>
            <a:r>
              <a:rPr kumimoji="1" lang="en-US" altLang="zh-CN" sz="1600" b="1" kern="1200" cap="none" spc="0" normalizeH="0" baseline="0" noProof="0" dirty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0</a:t>
            </a:r>
            <a:r>
              <a:rPr kumimoji="1" lang="en-US" altLang="zh-CN" sz="1600" b="1" kern="1200" cap="none" spc="0" normalizeH="0" baseline="0" noProof="0" dirty="0">
                <a:latin typeface="+mn-ea"/>
                <a:ea typeface="+mn-ea"/>
                <a:cs typeface="+mn-cs"/>
              </a:rPr>
              <a:t>1: </a:t>
            </a:r>
            <a:endParaRPr kumimoji="1" lang="en-US" altLang="zh-CN" sz="1600" b="1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1600" b="1" kern="1200" cap="none" spc="0" normalizeH="0" baseline="0" noProof="0" dirty="0" err="1">
                <a:latin typeface="+mn-ea"/>
                <a:ea typeface="+mn-ea"/>
                <a:cs typeface="+mn-cs"/>
              </a:rPr>
              <a:t>i</a:t>
            </a:r>
            <a:r>
              <a:rPr kumimoji="1" lang="en-US" altLang="zh-CN" sz="1600" b="1" kern="1200" cap="none" spc="0" normalizeH="0" baseline="0" noProof="0" dirty="0">
                <a:latin typeface="+mn-ea"/>
                <a:ea typeface="+mn-ea"/>
                <a:cs typeface="+mn-cs"/>
              </a:rPr>
              <a:t>=3</a:t>
            </a:r>
            <a:r>
              <a:rPr kumimoji="1" lang="zh-CN" altLang="en-US" sz="1600" b="1" kern="1200" cap="none" spc="0" normalizeH="0" baseline="0" noProof="0" dirty="0">
                <a:latin typeface="+mn-ea"/>
                <a:ea typeface="+mn-ea"/>
                <a:cs typeface="+mn-cs"/>
              </a:rPr>
              <a:t>：</a:t>
            </a:r>
            <a:r>
              <a:rPr kumimoji="1" lang="en-US" altLang="zh-CN" sz="1600" b="1" kern="1200" cap="none" spc="0" normalizeH="0" baseline="0" noProof="0" dirty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0</a:t>
            </a:r>
            <a:r>
              <a:rPr kumimoji="1" lang="en-US" altLang="zh-CN" sz="1600" b="1" kern="1200" cap="none" spc="0" normalizeH="0" baseline="0" noProof="0" dirty="0">
                <a:latin typeface="+mn-ea"/>
                <a:ea typeface="+mn-ea"/>
                <a:cs typeface="+mn-cs"/>
              </a:rPr>
              <a:t>1</a:t>
            </a:r>
            <a:r>
              <a:rPr kumimoji="1" lang="en-US" altLang="zh-CN" sz="1600" b="1" kern="1200" cap="none" spc="0" normalizeH="0" baseline="0" noProof="0" dirty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0</a:t>
            </a:r>
            <a:r>
              <a:rPr kumimoji="1" lang="en-US" altLang="zh-CN" sz="1600" b="1" kern="1200" cap="none" spc="0" normalizeH="0" baseline="0" noProof="0" dirty="0">
                <a:latin typeface="+mn-ea"/>
                <a:ea typeface="+mn-ea"/>
                <a:cs typeface="+mn-cs"/>
              </a:rPr>
              <a:t>1</a:t>
            </a:r>
            <a:r>
              <a:rPr kumimoji="1" lang="en-US" altLang="zh-CN" sz="1600" b="1" kern="1200" cap="none" spc="0" normalizeH="0" baseline="0" noProof="0" dirty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0</a:t>
            </a:r>
            <a:r>
              <a:rPr kumimoji="1" lang="en-US" altLang="zh-CN" sz="1600" b="1" kern="1200" cap="none" spc="0" normalizeH="0" baseline="0" noProof="0" dirty="0">
                <a:latin typeface="+mn-ea"/>
                <a:ea typeface="+mn-ea"/>
                <a:cs typeface="+mn-cs"/>
              </a:rPr>
              <a:t>1</a:t>
            </a:r>
            <a:r>
              <a:rPr kumimoji="1" lang="en-US" altLang="zh-CN" sz="1600" b="1" kern="1200" cap="none" spc="0" normalizeH="0" baseline="0" noProof="0" dirty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1</a:t>
            </a:r>
            <a:r>
              <a:rPr kumimoji="1" lang="en-US" altLang="zh-CN" sz="1600" b="1" kern="1200" cap="none" spc="0" normalizeH="0" baseline="0" noProof="0" dirty="0">
                <a:latin typeface="+mn-ea"/>
                <a:ea typeface="+mn-ea"/>
                <a:cs typeface="+mn-cs"/>
              </a:rPr>
              <a:t>1</a:t>
            </a:r>
            <a:r>
              <a:rPr kumimoji="1" lang="en-US" altLang="zh-CN" sz="1600" b="1" kern="1200" cap="none" spc="0" normalizeH="0" baseline="0" noProof="0" dirty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0</a:t>
            </a:r>
            <a:r>
              <a:rPr kumimoji="1" lang="en-US" altLang="zh-CN" sz="1600" b="1" kern="1200" cap="none" spc="0" normalizeH="0" baseline="0" noProof="0" dirty="0">
                <a:latin typeface="+mn-ea"/>
                <a:ea typeface="+mn-ea"/>
                <a:cs typeface="+mn-cs"/>
              </a:rPr>
              <a:t>1</a:t>
            </a:r>
            <a:r>
              <a:rPr kumimoji="1" lang="en-US" altLang="zh-CN" sz="1600" b="1" kern="1200" cap="none" spc="0" normalizeH="0" baseline="0" noProof="0" dirty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0</a:t>
            </a:r>
            <a:r>
              <a:rPr kumimoji="1" lang="en-US" altLang="zh-CN" sz="1600" b="1" kern="1200" cap="none" spc="0" normalizeH="0" baseline="0" noProof="0" dirty="0">
                <a:latin typeface="+mn-ea"/>
                <a:ea typeface="+mn-ea"/>
                <a:cs typeface="+mn-cs"/>
              </a:rPr>
              <a:t>1:</a:t>
            </a:r>
            <a:endParaRPr kumimoji="1" lang="zh-CN" altLang="en-US" sz="1600" b="1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L="342900" marR="0" indent="-342900" defTabSz="914400" eaLnBrk="0" hangingPunct="0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endParaRPr kumimoji="1" lang="zh-CN" altLang="en-US" sz="1600" b="1" kern="0" cap="none" spc="0" normalizeH="0" baseline="0" noProof="0" dirty="0"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47107" name="Rectangle 2"/>
          <p:cNvSpPr/>
          <p:nvPr/>
        </p:nvSpPr>
        <p:spPr>
          <a:xfrm>
            <a:off x="506413" y="76200"/>
            <a:ext cx="11174412" cy="839788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ctr">
              <a:spcBef>
                <a:spcPct val="0"/>
              </a:spcBef>
            </a:pPr>
            <a:r>
              <a:rPr lang="en-US" altLang="zh-CN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Yeh</a:t>
            </a:r>
            <a:r>
              <a:rPr lang="zh-CN" altLang="en-US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和</a:t>
            </a:r>
            <a:r>
              <a:rPr lang="en-US" altLang="zh-CN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Patt</a:t>
            </a:r>
            <a:r>
              <a:rPr lang="zh-CN" altLang="en-US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分类</a:t>
            </a:r>
            <a:endParaRPr lang="zh-CN" altLang="en-US" sz="36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  <p:sp>
        <p:nvSpPr>
          <p:cNvPr id="50180" name="Rectangle 3"/>
          <p:cNvSpPr>
            <a:spLocks noChangeArrowheads="1"/>
          </p:cNvSpPr>
          <p:nvPr/>
        </p:nvSpPr>
        <p:spPr bwMode="auto">
          <a:xfrm>
            <a:off x="309563" y="1146175"/>
            <a:ext cx="11366500" cy="51784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当前的转移依赖于两种情况：</a:t>
            </a:r>
            <a:endParaRPr kumimoji="1" lang="zh-CN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该指令的过去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m</a:t>
            </a: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次转移记录：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PHT</a:t>
            </a: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（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Pattern History Table</a:t>
            </a: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</a:t>
            </a:r>
            <a:endParaRPr kumimoji="1" lang="zh-CN" altLang="en-US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程序中所有转移指令过去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m</a:t>
            </a: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次的转移记录：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BHR</a:t>
            </a: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（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Branch History Register</a:t>
            </a: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</a:t>
            </a:r>
            <a:endParaRPr kumimoji="1" lang="zh-CN" altLang="en-US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BHR</a:t>
            </a: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的组织</a:t>
            </a:r>
            <a:endParaRPr kumimoji="1" lang="zh-CN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“PA”</a:t>
            </a: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表示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per address BHR</a:t>
            </a:r>
            <a:endParaRPr kumimoji="1" lang="en-US" altLang="zh-CN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“GA”</a:t>
            </a: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表示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global address</a:t>
            </a:r>
            <a:r>
              <a:rPr kumimoji="1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BHR</a:t>
            </a:r>
            <a:endParaRPr kumimoji="1" lang="en-US" altLang="zh-CN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“SA”</a:t>
            </a: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表示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set address BHR</a:t>
            </a:r>
            <a:endParaRPr kumimoji="1" lang="en-US" altLang="zh-CN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PHT</a:t>
            </a: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的组织</a:t>
            </a:r>
            <a:endParaRPr kumimoji="1" lang="zh-CN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只用历史记录索引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PHT</a:t>
            </a: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表，用“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g”</a:t>
            </a: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表示</a:t>
            </a:r>
            <a:endParaRPr kumimoji="1" lang="zh-CN" altLang="en-US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用全地址和历史记录一起索引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PHT</a:t>
            </a: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表，用“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p”</a:t>
            </a: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表示</a:t>
            </a:r>
            <a:endParaRPr kumimoji="1" lang="zh-CN" altLang="en-US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使用部分地址和历史记录一起索引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PHT</a:t>
            </a: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表，用“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s”</a:t>
            </a: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表示</a:t>
            </a:r>
            <a:endParaRPr kumimoji="1" lang="zh-CN" altLang="en-US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48131" name="Rectangle 4"/>
          <p:cNvSpPr/>
          <p:nvPr/>
        </p:nvSpPr>
        <p:spPr>
          <a:xfrm>
            <a:off x="623888" y="520700"/>
            <a:ext cx="11174412" cy="685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ctr">
              <a:spcBef>
                <a:spcPct val="0"/>
              </a:spcBef>
            </a:pPr>
            <a:r>
              <a:rPr lang="zh-CN" altLang="en-US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两层自适应预测器组合情况</a:t>
            </a:r>
            <a:endParaRPr lang="zh-CN" altLang="en-US" sz="36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  <p:grpSp>
        <p:nvGrpSpPr>
          <p:cNvPr id="48132" name="Group 5"/>
          <p:cNvGrpSpPr/>
          <p:nvPr/>
        </p:nvGrpSpPr>
        <p:grpSpPr>
          <a:xfrm>
            <a:off x="1524000" y="2286000"/>
            <a:ext cx="8939213" cy="1524000"/>
            <a:chOff x="720" y="1440"/>
            <a:chExt cx="4224" cy="960"/>
          </a:xfrm>
        </p:grpSpPr>
        <p:grpSp>
          <p:nvGrpSpPr>
            <p:cNvPr id="48134" name="Group 6"/>
            <p:cNvGrpSpPr/>
            <p:nvPr/>
          </p:nvGrpSpPr>
          <p:grpSpPr>
            <a:xfrm>
              <a:off x="720" y="1440"/>
              <a:ext cx="4224" cy="240"/>
              <a:chOff x="816" y="1104"/>
              <a:chExt cx="4224" cy="240"/>
            </a:xfrm>
          </p:grpSpPr>
          <p:sp>
            <p:nvSpPr>
              <p:cNvPr id="48150" name="Rectangle 7"/>
              <p:cNvSpPr/>
              <p:nvPr/>
            </p:nvSpPr>
            <p:spPr>
              <a:xfrm>
                <a:off x="816" y="1104"/>
                <a:ext cx="1056" cy="24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>
                  <a:spcBef>
                    <a:spcPct val="0"/>
                  </a:spcBef>
                </a:pPr>
                <a:endParaRPr lang="zh-CN" altLang="zh-CN" sz="1800" dirty="0">
                  <a:latin typeface="Times New Roman" pitchFamily="18" charset="0"/>
                </a:endParaRPr>
              </a:p>
            </p:txBody>
          </p:sp>
          <p:sp>
            <p:nvSpPr>
              <p:cNvPr id="48151" name="Rectangle 8"/>
              <p:cNvSpPr/>
              <p:nvPr/>
            </p:nvSpPr>
            <p:spPr>
              <a:xfrm>
                <a:off x="1872" y="1104"/>
                <a:ext cx="1056" cy="24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sz="1800" dirty="0">
                    <a:latin typeface="Times New Roman" pitchFamily="18" charset="0"/>
                  </a:rPr>
                  <a:t>Global PHT</a:t>
                </a:r>
                <a:endParaRPr lang="en-US" altLang="zh-CN" sz="1800" dirty="0">
                  <a:latin typeface="Times New Roman" pitchFamily="18" charset="0"/>
                </a:endParaRPr>
              </a:p>
            </p:txBody>
          </p:sp>
          <p:sp>
            <p:nvSpPr>
              <p:cNvPr id="48152" name="Rectangle 9"/>
              <p:cNvSpPr/>
              <p:nvPr/>
            </p:nvSpPr>
            <p:spPr>
              <a:xfrm>
                <a:off x="2928" y="1104"/>
                <a:ext cx="1056" cy="24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sz="1800" dirty="0">
                    <a:latin typeface="Times New Roman" pitchFamily="18" charset="0"/>
                  </a:rPr>
                  <a:t>per-address PHTs</a:t>
                </a:r>
                <a:endParaRPr lang="en-US" altLang="zh-CN" sz="1800" dirty="0">
                  <a:latin typeface="Times New Roman" pitchFamily="18" charset="0"/>
                </a:endParaRPr>
              </a:p>
            </p:txBody>
          </p:sp>
          <p:sp>
            <p:nvSpPr>
              <p:cNvPr id="48153" name="Rectangle 10"/>
              <p:cNvSpPr/>
              <p:nvPr/>
            </p:nvSpPr>
            <p:spPr>
              <a:xfrm>
                <a:off x="3984" y="1104"/>
                <a:ext cx="1056" cy="24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sz="1800" dirty="0">
                    <a:latin typeface="Times New Roman" pitchFamily="18" charset="0"/>
                  </a:rPr>
                  <a:t>per-set PHTs</a:t>
                </a:r>
                <a:endParaRPr lang="en-US" altLang="zh-CN" sz="1800" dirty="0">
                  <a:latin typeface="Times New Roman" pitchFamily="18" charset="0"/>
                </a:endParaRPr>
              </a:p>
            </p:txBody>
          </p:sp>
        </p:grpSp>
        <p:grpSp>
          <p:nvGrpSpPr>
            <p:cNvPr id="48135" name="Group 11"/>
            <p:cNvGrpSpPr/>
            <p:nvPr/>
          </p:nvGrpSpPr>
          <p:grpSpPr>
            <a:xfrm>
              <a:off x="720" y="1680"/>
              <a:ext cx="4224" cy="240"/>
              <a:chOff x="816" y="1104"/>
              <a:chExt cx="4224" cy="240"/>
            </a:xfrm>
          </p:grpSpPr>
          <p:sp>
            <p:nvSpPr>
              <p:cNvPr id="48146" name="Rectangle 12"/>
              <p:cNvSpPr/>
              <p:nvPr/>
            </p:nvSpPr>
            <p:spPr>
              <a:xfrm>
                <a:off x="816" y="1104"/>
                <a:ext cx="1056" cy="24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1800" dirty="0">
                    <a:latin typeface="Times New Roman" pitchFamily="18" charset="0"/>
                  </a:rPr>
                  <a:t>Global BHR</a:t>
                </a:r>
                <a:endParaRPr lang="en-US" altLang="zh-CN" sz="1800" dirty="0">
                  <a:latin typeface="Times New Roman" pitchFamily="18" charset="0"/>
                </a:endParaRPr>
              </a:p>
            </p:txBody>
          </p:sp>
          <p:sp>
            <p:nvSpPr>
              <p:cNvPr id="48147" name="Rectangle 13"/>
              <p:cNvSpPr/>
              <p:nvPr/>
            </p:nvSpPr>
            <p:spPr>
              <a:xfrm>
                <a:off x="1872" y="1104"/>
                <a:ext cx="1056" cy="24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sz="1800" dirty="0">
                    <a:latin typeface="Times New Roman" pitchFamily="18" charset="0"/>
                  </a:rPr>
                  <a:t>GAg</a:t>
                </a:r>
                <a:endParaRPr lang="en-US" altLang="zh-CN" sz="1800" dirty="0">
                  <a:latin typeface="Times New Roman" pitchFamily="18" charset="0"/>
                </a:endParaRPr>
              </a:p>
            </p:txBody>
          </p:sp>
          <p:sp>
            <p:nvSpPr>
              <p:cNvPr id="48148" name="Rectangle 14"/>
              <p:cNvSpPr/>
              <p:nvPr/>
            </p:nvSpPr>
            <p:spPr>
              <a:xfrm>
                <a:off x="2928" y="1104"/>
                <a:ext cx="1056" cy="24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sz="1800" dirty="0">
                    <a:latin typeface="Times New Roman" pitchFamily="18" charset="0"/>
                  </a:rPr>
                  <a:t>GAp</a:t>
                </a:r>
                <a:endParaRPr lang="en-US" altLang="zh-CN" sz="1800" dirty="0">
                  <a:latin typeface="Times New Roman" pitchFamily="18" charset="0"/>
                </a:endParaRPr>
              </a:p>
            </p:txBody>
          </p:sp>
          <p:sp>
            <p:nvSpPr>
              <p:cNvPr id="48149" name="Rectangle 15"/>
              <p:cNvSpPr/>
              <p:nvPr/>
            </p:nvSpPr>
            <p:spPr>
              <a:xfrm>
                <a:off x="3984" y="1104"/>
                <a:ext cx="1056" cy="24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sz="1800" dirty="0">
                    <a:latin typeface="Times New Roman" pitchFamily="18" charset="0"/>
                  </a:rPr>
                  <a:t>GAs</a:t>
                </a:r>
                <a:endParaRPr lang="en-US" altLang="zh-CN" sz="1800" dirty="0">
                  <a:latin typeface="Times New Roman" pitchFamily="18" charset="0"/>
                </a:endParaRPr>
              </a:p>
            </p:txBody>
          </p:sp>
        </p:grpSp>
        <p:grpSp>
          <p:nvGrpSpPr>
            <p:cNvPr id="48136" name="Group 16"/>
            <p:cNvGrpSpPr/>
            <p:nvPr/>
          </p:nvGrpSpPr>
          <p:grpSpPr>
            <a:xfrm>
              <a:off x="720" y="1920"/>
              <a:ext cx="4224" cy="240"/>
              <a:chOff x="816" y="1104"/>
              <a:chExt cx="4224" cy="240"/>
            </a:xfrm>
          </p:grpSpPr>
          <p:sp>
            <p:nvSpPr>
              <p:cNvPr id="48142" name="Rectangle 17"/>
              <p:cNvSpPr/>
              <p:nvPr/>
            </p:nvSpPr>
            <p:spPr>
              <a:xfrm>
                <a:off x="816" y="1104"/>
                <a:ext cx="1056" cy="24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sz="1800" dirty="0">
                    <a:latin typeface="Times New Roman" pitchFamily="18" charset="0"/>
                  </a:rPr>
                  <a:t>per-address BHR</a:t>
                </a:r>
                <a:endParaRPr lang="en-US" altLang="zh-CN" sz="1800" dirty="0">
                  <a:latin typeface="Times New Roman" pitchFamily="18" charset="0"/>
                </a:endParaRPr>
              </a:p>
            </p:txBody>
          </p:sp>
          <p:sp>
            <p:nvSpPr>
              <p:cNvPr id="48143" name="Rectangle 18"/>
              <p:cNvSpPr/>
              <p:nvPr/>
            </p:nvSpPr>
            <p:spPr>
              <a:xfrm>
                <a:off x="1872" y="1104"/>
                <a:ext cx="1056" cy="24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sz="1800" dirty="0">
                    <a:latin typeface="Times New Roman" pitchFamily="18" charset="0"/>
                  </a:rPr>
                  <a:t>PAg</a:t>
                </a:r>
                <a:endParaRPr lang="en-US" altLang="zh-CN" sz="1800" dirty="0">
                  <a:latin typeface="Times New Roman" pitchFamily="18" charset="0"/>
                </a:endParaRPr>
              </a:p>
            </p:txBody>
          </p:sp>
          <p:sp>
            <p:nvSpPr>
              <p:cNvPr id="48144" name="Rectangle 19"/>
              <p:cNvSpPr/>
              <p:nvPr/>
            </p:nvSpPr>
            <p:spPr>
              <a:xfrm>
                <a:off x="2928" y="1104"/>
                <a:ext cx="1056" cy="24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sz="1800" dirty="0">
                    <a:latin typeface="Times New Roman" pitchFamily="18" charset="0"/>
                  </a:rPr>
                  <a:t>PAp</a:t>
                </a:r>
                <a:endParaRPr lang="en-US" altLang="zh-CN" sz="1800" dirty="0">
                  <a:solidFill>
                    <a:schemeClr val="accent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48145" name="Rectangle 20"/>
              <p:cNvSpPr/>
              <p:nvPr/>
            </p:nvSpPr>
            <p:spPr>
              <a:xfrm>
                <a:off x="3984" y="1104"/>
                <a:ext cx="1056" cy="24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sz="1800" dirty="0">
                    <a:latin typeface="Times New Roman" pitchFamily="18" charset="0"/>
                  </a:rPr>
                  <a:t>PAs</a:t>
                </a:r>
                <a:endParaRPr lang="en-US" altLang="zh-CN" sz="1800" dirty="0">
                  <a:latin typeface="Times New Roman" pitchFamily="18" charset="0"/>
                </a:endParaRPr>
              </a:p>
            </p:txBody>
          </p:sp>
        </p:grpSp>
        <p:grpSp>
          <p:nvGrpSpPr>
            <p:cNvPr id="48137" name="Group 21"/>
            <p:cNvGrpSpPr/>
            <p:nvPr/>
          </p:nvGrpSpPr>
          <p:grpSpPr>
            <a:xfrm>
              <a:off x="720" y="2160"/>
              <a:ext cx="4224" cy="240"/>
              <a:chOff x="816" y="1104"/>
              <a:chExt cx="4224" cy="240"/>
            </a:xfrm>
          </p:grpSpPr>
          <p:sp>
            <p:nvSpPr>
              <p:cNvPr id="48138" name="Rectangle 22"/>
              <p:cNvSpPr/>
              <p:nvPr/>
            </p:nvSpPr>
            <p:spPr>
              <a:xfrm>
                <a:off x="816" y="1104"/>
                <a:ext cx="1056" cy="24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>
                  <a:spcBef>
                    <a:spcPct val="0"/>
                  </a:spcBef>
                </a:pPr>
                <a:r>
                  <a:rPr lang="en-US" altLang="zh-CN" sz="1800" dirty="0">
                    <a:latin typeface="Times New Roman" pitchFamily="18" charset="0"/>
                  </a:rPr>
                  <a:t>per-set BHR</a:t>
                </a:r>
                <a:endParaRPr lang="en-US" altLang="zh-CN" sz="1800" dirty="0">
                  <a:latin typeface="Times New Roman" pitchFamily="18" charset="0"/>
                </a:endParaRPr>
              </a:p>
            </p:txBody>
          </p:sp>
          <p:sp>
            <p:nvSpPr>
              <p:cNvPr id="48139" name="Rectangle 23"/>
              <p:cNvSpPr/>
              <p:nvPr/>
            </p:nvSpPr>
            <p:spPr>
              <a:xfrm>
                <a:off x="1872" y="1104"/>
                <a:ext cx="1056" cy="24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sz="1800" dirty="0">
                    <a:latin typeface="Times New Roman" pitchFamily="18" charset="0"/>
                  </a:rPr>
                  <a:t>SAg</a:t>
                </a:r>
                <a:endParaRPr lang="en-US" altLang="zh-CN" sz="1800" dirty="0">
                  <a:latin typeface="Times New Roman" pitchFamily="18" charset="0"/>
                </a:endParaRPr>
              </a:p>
            </p:txBody>
          </p:sp>
          <p:sp>
            <p:nvSpPr>
              <p:cNvPr id="48140" name="Rectangle 24"/>
              <p:cNvSpPr/>
              <p:nvPr/>
            </p:nvSpPr>
            <p:spPr>
              <a:xfrm>
                <a:off x="2928" y="1104"/>
                <a:ext cx="1056" cy="24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sz="1800" dirty="0">
                    <a:latin typeface="Times New Roman" pitchFamily="18" charset="0"/>
                  </a:rPr>
                  <a:t>SAp</a:t>
                </a:r>
                <a:endParaRPr lang="en-US" altLang="zh-CN" sz="1800" dirty="0">
                  <a:latin typeface="Times New Roman" pitchFamily="18" charset="0"/>
                </a:endParaRPr>
              </a:p>
            </p:txBody>
          </p:sp>
          <p:sp>
            <p:nvSpPr>
              <p:cNvPr id="48141" name="Rectangle 25"/>
              <p:cNvSpPr/>
              <p:nvPr/>
            </p:nvSpPr>
            <p:spPr>
              <a:xfrm>
                <a:off x="3984" y="1104"/>
                <a:ext cx="1056" cy="24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sz="1800" dirty="0">
                    <a:latin typeface="Times New Roman" pitchFamily="18" charset="0"/>
                  </a:rPr>
                  <a:t>SAs</a:t>
                </a:r>
                <a:endParaRPr lang="en-US" altLang="zh-CN" sz="1800" dirty="0">
                  <a:latin typeface="Times New Roman" pitchFamily="18" charset="0"/>
                </a:endParaRPr>
              </a:p>
            </p:txBody>
          </p:sp>
        </p:grpSp>
      </p:grpSp>
      <p:sp>
        <p:nvSpPr>
          <p:cNvPr id="51205" name="Rectangle 27"/>
          <p:cNvSpPr>
            <a:spLocks noGrp="1" noChangeArrowheads="1"/>
          </p:cNvSpPr>
          <p:nvPr>
            <p:ph idx="1"/>
          </p:nvPr>
        </p:nvSpPr>
        <p:spPr>
          <a:xfrm>
            <a:off x="914400" y="3930650"/>
            <a:ext cx="10361613" cy="21653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BHR: Branch History Register</a:t>
            </a:r>
            <a:endParaRPr kumimoji="1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PHT: Pattern History Table</a:t>
            </a:r>
            <a:endParaRPr kumimoji="1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49155" name="Rectangle 2"/>
          <p:cNvSpPr>
            <a:spLocks noGrp="1"/>
          </p:cNvSpPr>
          <p:nvPr>
            <p:ph type="title"/>
          </p:nvPr>
        </p:nvSpPr>
        <p:spPr>
          <a:xfrm>
            <a:off x="957263" y="136525"/>
            <a:ext cx="10361612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GAg</a:t>
            </a:r>
            <a:r>
              <a:rPr lang="zh-CN" altLang="en-US" sz="3600" dirty="0"/>
              <a:t>结构</a:t>
            </a:r>
            <a:endParaRPr lang="zh-CN" altLang="en-US" sz="3600" dirty="0"/>
          </a:p>
        </p:txBody>
      </p:sp>
      <p:sp>
        <p:nvSpPr>
          <p:cNvPr id="52228" name="Rectangle 3"/>
          <p:cNvSpPr>
            <a:spLocks noGrp="1" noChangeArrowheads="1"/>
          </p:cNvSpPr>
          <p:nvPr>
            <p:ph idx="1"/>
          </p:nvPr>
        </p:nvSpPr>
        <p:spPr>
          <a:xfrm>
            <a:off x="649288" y="1235075"/>
            <a:ext cx="11077575" cy="22764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BHR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和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PHT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都是全局的，全局的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BHR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又称为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GHR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（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Global History </a:t>
            </a:r>
            <a:r>
              <a:rPr kumimoji="1" lang="en-US" altLang="zh-CN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Rigster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）。其中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GHR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存储过去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k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次转移历史，并用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GHR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k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位值去索引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</a:t>
            </a:r>
            <a:r>
              <a:rPr kumimoji="1" lang="en-US" altLang="zh-CN" sz="2400" b="1" i="0" u="none" strike="noStrike" kern="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k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个入口的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PHT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PHT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每项利用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位饱和计数器进行预测。 </a:t>
            </a:r>
            <a:endParaRPr kumimoji="1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pic>
        <p:nvPicPr>
          <p:cNvPr id="49157" name="Picture 4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3568700" y="3702050"/>
            <a:ext cx="5351463" cy="31559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0179" name="Rectangle 2"/>
          <p:cNvSpPr>
            <a:spLocks noGrp="1"/>
          </p:cNvSpPr>
          <p:nvPr>
            <p:ph type="title"/>
          </p:nvPr>
        </p:nvSpPr>
        <p:spPr>
          <a:xfrm>
            <a:off x="914400" y="188913"/>
            <a:ext cx="10361613" cy="954087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GAs</a:t>
            </a:r>
            <a:r>
              <a:rPr lang="zh-CN" altLang="en-US" sz="3600" dirty="0"/>
              <a:t>结构</a:t>
            </a:r>
            <a:endParaRPr lang="zh-CN" altLang="en-US" sz="3600" dirty="0"/>
          </a:p>
        </p:txBody>
      </p:sp>
      <p:sp>
        <p:nvSpPr>
          <p:cNvPr id="53252" name="Rectangle 3"/>
          <p:cNvSpPr>
            <a:spLocks noGrp="1" noChangeArrowheads="1"/>
          </p:cNvSpPr>
          <p:nvPr>
            <p:ph idx="1"/>
          </p:nvPr>
        </p:nvSpPr>
        <p:spPr>
          <a:xfrm>
            <a:off x="887413" y="1276350"/>
            <a:ext cx="10361613" cy="12636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其中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BHR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表还是全局的，只有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k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位；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PHT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表用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k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位的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GHR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和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PC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的低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n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位进行索引，因此一共有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</a:t>
            </a:r>
            <a:r>
              <a:rPr kumimoji="1" lang="en-US" altLang="zh-CN" sz="2400" b="1" i="0" u="none" strike="noStrike" kern="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k+n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项。 </a:t>
            </a:r>
            <a:endParaRPr kumimoji="1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pic>
        <p:nvPicPr>
          <p:cNvPr id="50181" name="Picture 4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11350" y="2660650"/>
            <a:ext cx="8629650" cy="39449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1203" name="Rectangle 2"/>
          <p:cNvSpPr>
            <a:spLocks noGrp="1"/>
          </p:cNvSpPr>
          <p:nvPr>
            <p:ph type="title"/>
          </p:nvPr>
        </p:nvSpPr>
        <p:spPr>
          <a:xfrm>
            <a:off x="969963" y="168275"/>
            <a:ext cx="10361612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SAg(k)</a:t>
            </a:r>
            <a:r>
              <a:rPr lang="zh-CN" altLang="en-US" sz="3600" dirty="0"/>
              <a:t>的结构</a:t>
            </a:r>
            <a:endParaRPr lang="zh-CN" altLang="en-US" sz="3600" dirty="0"/>
          </a:p>
        </p:txBody>
      </p:sp>
      <p:sp>
        <p:nvSpPr>
          <p:cNvPr id="54276" name="Rectangle 3"/>
          <p:cNvSpPr>
            <a:spLocks noGrp="1" noChangeArrowheads="1"/>
          </p:cNvSpPr>
          <p:nvPr>
            <p:ph idx="1"/>
          </p:nvPr>
        </p:nvSpPr>
        <p:spPr>
          <a:xfrm>
            <a:off x="1054100" y="1423988"/>
            <a:ext cx="10361613" cy="16811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PHT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是全局的，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BHR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寄存器一共有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</a:t>
            </a:r>
            <a:r>
              <a:rPr kumimoji="1" lang="en-US" altLang="zh-CN" sz="2400" b="1" i="0" u="none" strike="noStrike" kern="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n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个，每个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BHR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为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k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位。先用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PC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的低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n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位索引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GHR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，然后再用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GHR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的值索引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PHT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表。 </a:t>
            </a:r>
            <a:endParaRPr kumimoji="1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pic>
        <p:nvPicPr>
          <p:cNvPr id="51205" name="Picture 4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238250" y="3136900"/>
            <a:ext cx="9436100" cy="32956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2227" name="Rectangle 2"/>
          <p:cNvSpPr>
            <a:spLocks noGrp="1"/>
          </p:cNvSpPr>
          <p:nvPr>
            <p:ph type="title"/>
          </p:nvPr>
        </p:nvSpPr>
        <p:spPr>
          <a:xfrm>
            <a:off x="928688" y="231775"/>
            <a:ext cx="10361612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PAp(4)</a:t>
            </a:r>
            <a:r>
              <a:rPr lang="zh-CN" altLang="en-US" sz="3600" dirty="0"/>
              <a:t>结构</a:t>
            </a:r>
            <a:endParaRPr lang="zh-CN" altLang="en-US" sz="3600" dirty="0"/>
          </a:p>
        </p:txBody>
      </p:sp>
      <p:sp>
        <p:nvSpPr>
          <p:cNvPr id="55300" name="Rectangle 3"/>
          <p:cNvSpPr>
            <a:spLocks noGrp="1" noChangeArrowheads="1"/>
          </p:cNvSpPr>
          <p:nvPr>
            <p:ph idx="1"/>
          </p:nvPr>
        </p:nvSpPr>
        <p:spPr>
          <a:xfrm>
            <a:off x="696913" y="1381125"/>
            <a:ext cx="10755313" cy="11191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每个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PC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值一个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BHR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寄存器，每个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BHR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为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k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位。先用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PC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索引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BHR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，然后再用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BHR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的值和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PC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一起索引</a:t>
            </a: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PHT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表。 </a:t>
            </a:r>
            <a:endParaRPr kumimoji="1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pic>
        <p:nvPicPr>
          <p:cNvPr id="52229" name="Picture 4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195388" y="2897188"/>
            <a:ext cx="9942512" cy="3438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3251" name="Rectangle 2"/>
          <p:cNvSpPr>
            <a:spLocks noGrp="1"/>
          </p:cNvSpPr>
          <p:nvPr>
            <p:ph type="title"/>
          </p:nvPr>
        </p:nvSpPr>
        <p:spPr>
          <a:xfrm>
            <a:off x="927100" y="274638"/>
            <a:ext cx="10361613" cy="977900"/>
          </a:xfrm>
        </p:spPr>
        <p:txBody>
          <a:bodyPr vert="horz" wrap="square" lIns="91440" tIns="45720" rIns="91440" bIns="45720" anchor="ctr" anchorCtr="0"/>
          <a:lstStyle/>
          <a:p>
            <a:pPr marL="838200" indent="-838200" eaLnBrk="1" hangingPunct="1"/>
            <a:r>
              <a:rPr lang="zh-CN" altLang="en-US" sz="3600" dirty="0"/>
              <a:t>分支别名干扰问题</a:t>
            </a:r>
            <a:endParaRPr lang="zh-CN" altLang="en-US" sz="3600" dirty="0"/>
          </a:p>
        </p:txBody>
      </p:sp>
      <p:sp>
        <p:nvSpPr>
          <p:cNvPr id="56324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5280025"/>
            <a:ext cx="10361613" cy="8159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无论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BHR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和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PHT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表如何增大，效果也不是很明显 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主要原因是不同分支地址访问同一个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PHT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，造成分支干扰 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pic>
        <p:nvPicPr>
          <p:cNvPr id="53253" name="Picture 4" descr="分支预测插图13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201420" y="1737995"/>
            <a:ext cx="8593455" cy="324040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7347" name="Rectangle 2"/>
          <p:cNvSpPr>
            <a:spLocks noGrp="1" noChangeArrowheads="1"/>
          </p:cNvSpPr>
          <p:nvPr>
            <p:ph idx="1"/>
          </p:nvPr>
        </p:nvSpPr>
        <p:spPr>
          <a:xfrm>
            <a:off x="1016000" y="1401763"/>
            <a:ext cx="10380663" cy="18716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Gselect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:</a:t>
            </a:r>
            <a:r>
              <a:rPr kumimoji="1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全局历史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m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位和地址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n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位组合寻址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Gshare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:</a:t>
            </a:r>
            <a:r>
              <a:rPr kumimoji="1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部分地址和全局历史异或寻址</a:t>
            </a:r>
            <a:endParaRPr kumimoji="1" 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性能分析结果表明：</a:t>
            </a:r>
            <a:r>
              <a:rPr kumimoji="1" lang="en-US" altLang="zh-CN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gshare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稍微好于</a:t>
            </a:r>
            <a:r>
              <a:rPr kumimoji="1" lang="en-US" altLang="zh-CN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gselect</a:t>
            </a:r>
            <a:endParaRPr kumimoji="1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pic>
        <p:nvPicPr>
          <p:cNvPr id="54276" name="Picture 3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150620" y="3076575"/>
            <a:ext cx="4945380" cy="3171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4277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378575" y="3148330"/>
            <a:ext cx="4897755" cy="2974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4278" name="Rectangle 5"/>
          <p:cNvSpPr>
            <a:spLocks noGrp="1"/>
          </p:cNvSpPr>
          <p:nvPr>
            <p:ph type="title"/>
          </p:nvPr>
        </p:nvSpPr>
        <p:spPr>
          <a:xfrm>
            <a:off x="927100" y="274638"/>
            <a:ext cx="10361613" cy="977900"/>
          </a:xfrm>
        </p:spPr>
        <p:txBody>
          <a:bodyPr vert="horz" wrap="square" lIns="91440" tIns="45720" rIns="91440" bIns="45720" anchor="ctr" anchorCtr="0"/>
          <a:lstStyle/>
          <a:p>
            <a:pPr marL="838200" indent="-838200" eaLnBrk="1" hangingPunct="1"/>
            <a:r>
              <a:rPr lang="zh-CN" altLang="en-US" sz="3600" dirty="0"/>
              <a:t>分支别名干扰的消除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5299" name="Rectangle 2"/>
          <p:cNvSpPr>
            <a:spLocks noGrp="1"/>
          </p:cNvSpPr>
          <p:nvPr>
            <p:ph type="title"/>
          </p:nvPr>
        </p:nvSpPr>
        <p:spPr>
          <a:xfrm>
            <a:off x="1014413" y="420688"/>
            <a:ext cx="10361612" cy="889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Agree</a:t>
            </a:r>
            <a:r>
              <a:rPr lang="zh-CN" altLang="en-US" sz="3600" dirty="0"/>
              <a:t>分支预测</a:t>
            </a:r>
            <a:endParaRPr lang="zh-CN" altLang="en-US" sz="3600" dirty="0"/>
          </a:p>
        </p:txBody>
      </p:sp>
      <p:sp>
        <p:nvSpPr>
          <p:cNvPr id="58372" name="Rectangle 4"/>
          <p:cNvSpPr>
            <a:spLocks noChangeArrowheads="1"/>
          </p:cNvSpPr>
          <p:nvPr/>
        </p:nvSpPr>
        <p:spPr bwMode="auto">
          <a:xfrm>
            <a:off x="5984875" y="1806575"/>
            <a:ext cx="5976938" cy="49101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在指令</a:t>
            </a:r>
            <a:r>
              <a:rPr kumimoji="1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Cache</a:t>
            </a: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或转移目的地址缓存（</a:t>
            </a:r>
            <a:r>
              <a:rPr kumimoji="1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BTB</a:t>
            </a: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）中为每一个转移都加上一个偏向位，偏向位中保存的是这条指令最常见的转移方向。</a:t>
            </a:r>
            <a:endParaRPr kumimoji="1" lang="zh-CN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</a:t>
            </a: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位计数器不是用来预测转移方向的，而是用来决定是否按照偏向位来转移的。</a:t>
            </a:r>
            <a:endParaRPr kumimoji="1" lang="zh-CN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当转移的实际结果与偏向位一致时，计数器加一，否则减一 </a:t>
            </a:r>
            <a:endParaRPr kumimoji="1" lang="zh-CN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pic>
        <p:nvPicPr>
          <p:cNvPr id="55301" name="Picture 5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03250" y="1914525"/>
            <a:ext cx="5329238" cy="3429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6323" name="Rectangle 2"/>
          <p:cNvSpPr>
            <a:spLocks noGrp="1"/>
          </p:cNvSpPr>
          <p:nvPr>
            <p:ph type="title"/>
          </p:nvPr>
        </p:nvSpPr>
        <p:spPr>
          <a:xfrm>
            <a:off x="935038" y="0"/>
            <a:ext cx="10361612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Agree</a:t>
            </a:r>
            <a:r>
              <a:rPr lang="zh-CN" altLang="en-US" sz="3600" dirty="0"/>
              <a:t>分支预测</a:t>
            </a:r>
            <a:endParaRPr lang="zh-CN" altLang="en-US" sz="3600" dirty="0"/>
          </a:p>
        </p:txBody>
      </p:sp>
      <p:sp>
        <p:nvSpPr>
          <p:cNvPr id="59396" name="Rectangle 3"/>
          <p:cNvSpPr>
            <a:spLocks noGrp="1" noChangeArrowheads="1"/>
          </p:cNvSpPr>
          <p:nvPr>
            <p:ph idx="1"/>
          </p:nvPr>
        </p:nvSpPr>
        <p:spPr>
          <a:xfrm>
            <a:off x="293688" y="1038225"/>
            <a:ext cx="11552238" cy="52181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条分支预测正确率分别为</a:t>
            </a:r>
            <a:r>
              <a:rPr kumimoji="1" lang="zh-TW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85%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和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15</a:t>
            </a:r>
            <a:r>
              <a:rPr kumimoji="1" lang="en-US" altLang="zh-TW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%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，使用同一项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PHT</a:t>
            </a:r>
            <a:endParaRPr kumimoji="1" lang="en-US" altLang="zh-TW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传统方法</a:t>
            </a:r>
            <a:r>
              <a:rPr kumimoji="1" lang="zh-TW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TW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- 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两条分支结果相反（分支冲突）的概率</a:t>
            </a:r>
            <a:r>
              <a:rPr kumimoji="1" lang="en-US" altLang="zh-TW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  <a:endParaRPr kumimoji="1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TW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(br1taken,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TW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br2nottaken)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TW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+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TW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(br1nottaken,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TW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br2taken) = (85% * 85%) + (15% * 15%) = 74.5%</a:t>
            </a:r>
            <a:endParaRPr kumimoji="1" lang="en-US" altLang="zh-TW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TW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Agree 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方法</a:t>
            </a:r>
            <a:r>
              <a:rPr kumimoji="1" lang="en-US" altLang="zh-TW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–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两条分支结果相反（分支冲突）的概率</a:t>
            </a:r>
            <a:r>
              <a:rPr kumimoji="1" lang="en-US" altLang="zh-TW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: </a:t>
            </a:r>
            <a:endParaRPr kumimoji="1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TW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(br1agree,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TW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br2disagree)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TW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+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TW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(br1disagree,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TW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br2disagree) = (85% * 15%) + (15% * 85%) = 25.5%</a:t>
            </a:r>
            <a:endParaRPr kumimoji="1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优点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2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条不同方向的分支可以映射倒同一表项</a:t>
            </a:r>
            <a:endParaRPr kumimoji="1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偏向位不变，只改变 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PHT</a:t>
            </a:r>
            <a:endParaRPr kumimoji="1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18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gcc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误预测在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64k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的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PHT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下减少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8.6%, 1K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的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PHT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误预测减少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33.3%</a:t>
            </a:r>
            <a:endParaRPr kumimoji="1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HP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PA-8700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处理器中得到应用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7347" name="Rectangle 2"/>
          <p:cNvSpPr>
            <a:spLocks noGrp="1"/>
          </p:cNvSpPr>
          <p:nvPr>
            <p:ph type="title"/>
          </p:nvPr>
        </p:nvSpPr>
        <p:spPr>
          <a:xfrm>
            <a:off x="933450" y="328613"/>
            <a:ext cx="10361613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Bi-Mode</a:t>
            </a:r>
            <a:r>
              <a:rPr lang="zh-CN" altLang="en-US" sz="3600" dirty="0"/>
              <a:t>预测器 </a:t>
            </a:r>
            <a:endParaRPr lang="zh-CN" altLang="en-US" sz="3600" dirty="0"/>
          </a:p>
        </p:txBody>
      </p:sp>
      <p:sp>
        <p:nvSpPr>
          <p:cNvPr id="57348" name="Rectangle 4"/>
          <p:cNvSpPr/>
          <p:nvPr/>
        </p:nvSpPr>
        <p:spPr>
          <a:xfrm>
            <a:off x="6532563" y="2114550"/>
            <a:ext cx="5113337" cy="35639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lnSpc>
                <a:spcPct val="110000"/>
              </a:lnSpc>
              <a:spcBef>
                <a:spcPct val="10000"/>
              </a:spcBef>
              <a:buChar char="•"/>
            </a:pPr>
            <a:endParaRPr lang="zh-CN" altLang="zh-CN" sz="1600" b="1" dirty="0">
              <a:latin typeface="Times New Roman" pitchFamily="18" charset="0"/>
            </a:endParaRPr>
          </a:p>
        </p:txBody>
      </p:sp>
      <p:sp>
        <p:nvSpPr>
          <p:cNvPr id="60421" name="Rectangle 5"/>
          <p:cNvSpPr>
            <a:spLocks noChangeArrowheads="1"/>
          </p:cNvSpPr>
          <p:nvPr/>
        </p:nvSpPr>
        <p:spPr bwMode="auto">
          <a:xfrm>
            <a:off x="5253038" y="1749425"/>
            <a:ext cx="6742113" cy="45196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Bi-mode </a:t>
            </a: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和</a:t>
            </a:r>
            <a:r>
              <a:rPr kumimoji="1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Agree </a:t>
            </a: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分支预测的思想一致，不过它是把容易发生跳转和不跳转的分支放入不同的</a:t>
            </a:r>
            <a:r>
              <a:rPr kumimoji="1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PHT</a:t>
            </a: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。它由</a:t>
            </a:r>
            <a:r>
              <a:rPr kumimoji="1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3 </a:t>
            </a: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部分组成，一部分用来选择</a:t>
            </a:r>
            <a:r>
              <a:rPr kumimoji="1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PHT</a:t>
            </a: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，另外两部分表示</a:t>
            </a:r>
            <a:r>
              <a:rPr kumimoji="1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PHT </a:t>
            </a: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的方向，分别为跳转和不跳转，</a:t>
            </a:r>
            <a:r>
              <a:rPr kumimoji="1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PHT </a:t>
            </a: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的方向被全局历史索引。</a:t>
            </a:r>
            <a:endParaRPr kumimoji="1" lang="zh-CN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由于对预测器的选择，达到了针对每条转移的程度，因此命中率又有所提高。</a:t>
            </a:r>
            <a:endParaRPr kumimoji="1" lang="zh-CN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pic>
        <p:nvPicPr>
          <p:cNvPr id="57350" name="Picture 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49263" y="1865313"/>
            <a:ext cx="4837112" cy="3962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8371" name="Rectangle 2"/>
          <p:cNvSpPr>
            <a:spLocks noGrp="1"/>
          </p:cNvSpPr>
          <p:nvPr>
            <p:ph type="title"/>
          </p:nvPr>
        </p:nvSpPr>
        <p:spPr>
          <a:xfrm>
            <a:off x="855663" y="204788"/>
            <a:ext cx="10361612" cy="842962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组合分支预测器 </a:t>
            </a:r>
            <a:endParaRPr lang="zh-CN" altLang="en-US" sz="3600" dirty="0"/>
          </a:p>
        </p:txBody>
      </p:sp>
      <p:sp>
        <p:nvSpPr>
          <p:cNvPr id="58372" name="Rectangle 3"/>
          <p:cNvSpPr>
            <a:spLocks noGrp="1"/>
          </p:cNvSpPr>
          <p:nvPr>
            <p:ph idx="1"/>
          </p:nvPr>
        </p:nvSpPr>
        <p:spPr>
          <a:xfrm>
            <a:off x="436563" y="1219200"/>
            <a:ext cx="11183937" cy="150653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ct val="0"/>
              </a:spcBef>
            </a:pPr>
            <a:r>
              <a:rPr kumimoji="1" lang="zh-CN" altLang="en-US" sz="2000" dirty="0">
                <a:latin typeface="+mn-lt"/>
                <a:ea typeface="+mn-ea"/>
                <a:cs typeface="+mn-cs"/>
              </a:rPr>
              <a:t>不同的分支预测只能对某类的分支行为有效 </a:t>
            </a:r>
            <a:endParaRPr kumimoji="1" lang="zh-CN" altLang="en-US" sz="2000" dirty="0">
              <a:latin typeface="+mn-lt"/>
              <a:ea typeface="+mn-ea"/>
              <a:cs typeface="+mn-cs"/>
            </a:endParaRPr>
          </a:p>
          <a:p>
            <a:pPr eaLnBrk="1" hangingPunct="1">
              <a:spcBef>
                <a:spcPct val="0"/>
              </a:spcBef>
            </a:pPr>
            <a:r>
              <a:rPr kumimoji="1" lang="zh-CN" altLang="en-US" sz="2000" dirty="0">
                <a:latin typeface="+mn-lt"/>
                <a:ea typeface="+mn-ea"/>
                <a:cs typeface="+mn-cs"/>
              </a:rPr>
              <a:t>不同分支预测组合起来，根据分支行为选不同分支预测器 </a:t>
            </a:r>
            <a:endParaRPr kumimoji="1" lang="zh-CN" altLang="en-US" sz="2000" dirty="0">
              <a:latin typeface="+mn-lt"/>
              <a:ea typeface="+mn-ea"/>
              <a:cs typeface="+mn-cs"/>
            </a:endParaRPr>
          </a:p>
        </p:txBody>
      </p:sp>
      <p:pic>
        <p:nvPicPr>
          <p:cNvPr id="58373" name="Picture 4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295400" y="2708275"/>
            <a:ext cx="9790113" cy="35988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76803" name="Rectangle 3"/>
          <p:cNvSpPr>
            <a:spLocks noGrp="1"/>
          </p:cNvSpPr>
          <p:nvPr>
            <p:ph idx="1"/>
          </p:nvPr>
        </p:nvSpPr>
        <p:spPr>
          <a:xfrm>
            <a:off x="325438" y="1319213"/>
            <a:ext cx="11453813" cy="1863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标签几何历史长度分支预测器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</a:t>
            </a: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TA</a:t>
            </a:r>
            <a:r>
              <a: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gged </a:t>
            </a: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GE</a:t>
            </a:r>
            <a:r>
              <a: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ometric History Length Branch Prediction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)</a:t>
            </a:r>
            <a:endParaRPr kumimoji="1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被认为是最有效的基于全局</a:t>
            </a: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分支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历史的预测器之一</a:t>
            </a:r>
            <a:endParaRPr kumimoji="1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设计出发点：单一全局历史长度难以有效识别不同重复距离的模式</a:t>
            </a:r>
            <a:endParaRPr kumimoji="1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特点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：不看历史的基础表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</a:t>
            </a:r>
            <a:r>
              <a:rPr kumimoji="1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T0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)+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多个不同长度全局历史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的标签表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</a:t>
            </a:r>
            <a:r>
              <a:rPr kumimoji="1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T1~T4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)</a:t>
            </a:r>
            <a:endParaRPr kumimoji="1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1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59396" name="文本框 1"/>
          <p:cNvSpPr txBox="1"/>
          <p:nvPr/>
        </p:nvSpPr>
        <p:spPr>
          <a:xfrm>
            <a:off x="6132513" y="6543675"/>
            <a:ext cx="6000750" cy="200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700" dirty="0">
                <a:latin typeface="Times New Roman" pitchFamily="18" charset="0"/>
                <a:sym typeface="+mn-ea"/>
              </a:rPr>
              <a:t>图片摘自</a:t>
            </a:r>
            <a:r>
              <a:rPr lang="en-US" altLang="zh-CN" sz="700" dirty="0">
                <a:latin typeface="Times New Roman" pitchFamily="18" charset="0"/>
                <a:sym typeface="+mn-ea"/>
              </a:rPr>
              <a:t> Seznec, André, and Pierre Michaud. ‘A Case for (Partially) TAgged GEometric History Length Branch Prediction’. J. Instr. Level Parallelism 8 (2006).</a:t>
            </a:r>
            <a:endParaRPr lang="en-US" altLang="en-US" sz="700" dirty="0">
              <a:latin typeface="Times New Roman" pitchFamily="18" charset="0"/>
              <a:sym typeface="+mn-ea"/>
            </a:endParaRPr>
          </a:p>
        </p:txBody>
      </p:sp>
      <p:sp>
        <p:nvSpPr>
          <p:cNvPr id="59397" name="Rectangle 3"/>
          <p:cNvSpPr>
            <a:spLocks noGrp="1"/>
          </p:cNvSpPr>
          <p:nvPr/>
        </p:nvSpPr>
        <p:spPr>
          <a:xfrm>
            <a:off x="325438" y="3144838"/>
            <a:ext cx="5854700" cy="33813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buChar char="•"/>
            </a:pPr>
            <a:r>
              <a:rPr lang="zh-CN" altLang="en-US" sz="2000" b="1" dirty="0">
                <a:latin typeface="宋体" panose="02000500000000000000" pitchFamily="2" charset="-122"/>
                <a:cs typeface="宋体" panose="02000500000000000000" pitchFamily="2" charset="-122"/>
                <a:sym typeface="+mn-ea"/>
              </a:rPr>
              <a:t>特点</a:t>
            </a:r>
            <a:r>
              <a:rPr lang="en-US" altLang="zh-CN" sz="2000" b="1" dirty="0">
                <a:latin typeface="宋体" panose="02000500000000000000" pitchFamily="2" charset="-122"/>
                <a:cs typeface="宋体" panose="02000500000000000000" pitchFamily="2" charset="-122"/>
                <a:sym typeface="+mn-ea"/>
              </a:rPr>
              <a:t>2</a:t>
            </a:r>
            <a:r>
              <a:rPr lang="zh-CN" altLang="en-US" sz="2000" b="1" dirty="0">
                <a:latin typeface="宋体" panose="02000500000000000000" pitchFamily="2" charset="-122"/>
                <a:cs typeface="宋体" panose="02000500000000000000" pitchFamily="2" charset="-122"/>
                <a:sym typeface="+mn-ea"/>
              </a:rPr>
              <a:t>：</a:t>
            </a:r>
            <a:r>
              <a:rPr lang="en-US" altLang="zh-CN" sz="2000" b="1" dirty="0">
                <a:latin typeface="宋体" panose="02000500000000000000" pitchFamily="2" charset="-122"/>
                <a:cs typeface="宋体" panose="02000500000000000000" pitchFamily="2" charset="-122"/>
                <a:sym typeface="+mn-ea"/>
              </a:rPr>
              <a:t>PC</a:t>
            </a:r>
            <a:r>
              <a:rPr lang="zh-CN" altLang="en-US" sz="2000" b="1" dirty="0">
                <a:latin typeface="宋体" panose="02000500000000000000" pitchFamily="2" charset="-122"/>
                <a:cs typeface="宋体" panose="02000500000000000000" pitchFamily="2" charset="-122"/>
                <a:sym typeface="+mn-ea"/>
              </a:rPr>
              <a:t>和全局历史哈希后除用于索引</a:t>
            </a:r>
            <a:r>
              <a:rPr lang="en-US" altLang="zh-CN" sz="2000" b="1" dirty="0">
                <a:latin typeface="宋体" panose="02000500000000000000" pitchFamily="2" charset="-122"/>
                <a:cs typeface="宋体" panose="02000500000000000000" pitchFamily="2" charset="-122"/>
                <a:sym typeface="+mn-ea"/>
              </a:rPr>
              <a:t>(</a:t>
            </a:r>
            <a:r>
              <a:rPr lang="en-US" altLang="zh-CN" sz="2000" dirty="0">
                <a:latin typeface="宋体" panose="02000500000000000000" pitchFamily="2" charset="-122"/>
                <a:cs typeface="宋体" panose="02000500000000000000" pitchFamily="2" charset="-122"/>
                <a:sym typeface="+mn-ea"/>
              </a:rPr>
              <a:t>index</a:t>
            </a:r>
            <a:r>
              <a:rPr lang="en-US" altLang="zh-CN" sz="2000" b="1" dirty="0">
                <a:latin typeface="宋体" panose="02000500000000000000" pitchFamily="2" charset="-122"/>
                <a:cs typeface="宋体" panose="02000500000000000000" pitchFamily="2" charset="-122"/>
                <a:sym typeface="+mn-ea"/>
              </a:rPr>
              <a:t>)</a:t>
            </a:r>
            <a:r>
              <a:rPr lang="zh-CN" altLang="en-US" sz="2000" b="1" dirty="0">
                <a:latin typeface="宋体" panose="02000500000000000000" pitchFamily="2" charset="-122"/>
                <a:cs typeface="宋体" panose="02000500000000000000" pitchFamily="2" charset="-122"/>
                <a:sym typeface="+mn-ea"/>
              </a:rPr>
              <a:t>也参与标签</a:t>
            </a:r>
            <a:r>
              <a:rPr lang="en-US" altLang="zh-CN" sz="2000" b="1" dirty="0">
                <a:latin typeface="宋体" panose="02000500000000000000" pitchFamily="2" charset="-122"/>
                <a:cs typeface="宋体" panose="02000500000000000000" pitchFamily="2" charset="-122"/>
                <a:sym typeface="+mn-ea"/>
              </a:rPr>
              <a:t>(</a:t>
            </a:r>
            <a:r>
              <a:rPr lang="en-US" altLang="zh-CN" sz="2000" dirty="0">
                <a:latin typeface="宋体" panose="02000500000000000000" pitchFamily="2" charset="-122"/>
                <a:cs typeface="宋体" panose="02000500000000000000" pitchFamily="2" charset="-122"/>
                <a:sym typeface="+mn-ea"/>
              </a:rPr>
              <a:t>tag</a:t>
            </a:r>
            <a:r>
              <a:rPr lang="en-US" altLang="zh-CN" sz="2000" b="1" dirty="0">
                <a:latin typeface="宋体" panose="02000500000000000000" pitchFamily="2" charset="-122"/>
                <a:cs typeface="宋体" panose="02000500000000000000" pitchFamily="2" charset="-122"/>
                <a:sym typeface="+mn-ea"/>
              </a:rPr>
              <a:t>)</a:t>
            </a:r>
            <a:r>
              <a:rPr lang="zh-CN" altLang="en-US" sz="2000" b="1" dirty="0">
                <a:latin typeface="宋体" panose="02000500000000000000" pitchFamily="2" charset="-122"/>
                <a:cs typeface="宋体" panose="02000500000000000000" pitchFamily="2" charset="-122"/>
                <a:sym typeface="+mn-ea"/>
              </a:rPr>
              <a:t>比较</a:t>
            </a:r>
            <a:endParaRPr lang="zh-CN" altLang="en-US" sz="2000" b="1" dirty="0">
              <a:latin typeface="宋体" panose="02000500000000000000" pitchFamily="2" charset="-122"/>
              <a:cs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Char char="•"/>
            </a:pPr>
            <a:r>
              <a:rPr lang="zh-CN" altLang="en-US" sz="2000" b="1" dirty="0">
                <a:latin typeface="宋体" panose="02000500000000000000" pitchFamily="2" charset="-122"/>
                <a:cs typeface="宋体" panose="02000500000000000000" pitchFamily="2" charset="-122"/>
              </a:rPr>
              <a:t>特点</a:t>
            </a:r>
            <a:r>
              <a:rPr lang="en-US" altLang="zh-CN" sz="2000" b="1" dirty="0">
                <a:latin typeface="宋体" panose="02000500000000000000" pitchFamily="2" charset="-122"/>
                <a:cs typeface="宋体" panose="02000500000000000000" pitchFamily="2" charset="-122"/>
              </a:rPr>
              <a:t>3</a:t>
            </a:r>
            <a:r>
              <a:rPr lang="zh-CN" altLang="en-US" sz="2000" b="1" dirty="0">
                <a:latin typeface="宋体" panose="02000500000000000000" pitchFamily="2" charset="-122"/>
                <a:cs typeface="宋体" panose="02000500000000000000" pitchFamily="2" charset="-122"/>
              </a:rPr>
              <a:t>：多张表同时命中时取历史长度最长的表的预测结果</a:t>
            </a:r>
            <a:endParaRPr lang="zh-CN" altLang="en-US" sz="2000" b="1" dirty="0">
              <a:latin typeface="宋体" panose="02000500000000000000" pitchFamily="2" charset="-122"/>
              <a:cs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Char char="•"/>
            </a:pPr>
            <a:r>
              <a:rPr lang="zh-CN" altLang="en-US" sz="2000" b="1" dirty="0">
                <a:latin typeface="宋体" panose="02000500000000000000" pitchFamily="2" charset="-122"/>
                <a:cs typeface="宋体" panose="02000500000000000000" pitchFamily="2" charset="-122"/>
              </a:rPr>
              <a:t>特点</a:t>
            </a:r>
            <a:r>
              <a:rPr lang="en-US" altLang="zh-CN" sz="2000" b="1" dirty="0">
                <a:latin typeface="宋体" panose="02000500000000000000" pitchFamily="2" charset="-122"/>
                <a:cs typeface="宋体" panose="02000500000000000000" pitchFamily="2" charset="-122"/>
              </a:rPr>
              <a:t>4</a:t>
            </a:r>
            <a:r>
              <a:rPr lang="zh-CN" altLang="en-US" sz="2000" b="1" dirty="0">
                <a:latin typeface="宋体" panose="02000500000000000000" pitchFamily="2" charset="-122"/>
                <a:cs typeface="宋体" panose="02000500000000000000" pitchFamily="2" charset="-122"/>
              </a:rPr>
              <a:t>：预测错误时向使用更长历史的表中分配新项</a:t>
            </a:r>
            <a:endParaRPr lang="zh-CN" altLang="en-US" sz="2000" b="1" dirty="0">
              <a:latin typeface="宋体" panose="02000500000000000000" pitchFamily="2" charset="-122"/>
              <a:cs typeface="宋体" panose="02000500000000000000" pitchFamily="2" charset="-122"/>
            </a:endParaRPr>
          </a:p>
        </p:txBody>
      </p:sp>
      <p:grpSp>
        <p:nvGrpSpPr>
          <p:cNvPr id="59398" name="组合 4"/>
          <p:cNvGrpSpPr/>
          <p:nvPr/>
        </p:nvGrpSpPr>
        <p:grpSpPr>
          <a:xfrm>
            <a:off x="6057900" y="3244850"/>
            <a:ext cx="6086475" cy="3235325"/>
            <a:chOff x="7156" y="5005"/>
            <a:chExt cx="7190" cy="5094"/>
          </a:xfrm>
        </p:grpSpPr>
        <p:pic>
          <p:nvPicPr>
            <p:cNvPr id="59400" name="Picture 3"/>
            <p:cNvPicPr>
              <a:picLocks noChangeAspect="1"/>
            </p:cNvPicPr>
            <p:nvPr/>
          </p:nvPicPr>
          <p:blipFill>
            <a:blip r:embed="rId1" cstate="print"/>
            <a:srcRect b="10980"/>
            <a:stretch>
              <a:fillRect/>
            </a:stretch>
          </p:blipFill>
          <p:spPr>
            <a:xfrm>
              <a:off x="7156" y="5005"/>
              <a:ext cx="7190" cy="49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9401" name="文本框 3"/>
            <p:cNvSpPr txBox="1"/>
            <p:nvPr/>
          </p:nvSpPr>
          <p:spPr>
            <a:xfrm>
              <a:off x="7279" y="9083"/>
              <a:ext cx="4448" cy="101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171450" indent="-171450">
                <a:buFont typeface="Arial" panose="02080604020202020204" pitchFamily="34" charset="0"/>
                <a:buChar char="•"/>
              </a:pPr>
              <a:r>
                <a:rPr lang="en-US" altLang="zh-CN" sz="900" dirty="0">
                  <a:latin typeface="Times New Roman" pitchFamily="18" charset="0"/>
                  <a:sym typeface="+mn-ea"/>
                </a:rPr>
                <a:t>tag</a:t>
              </a:r>
              <a:r>
                <a:rPr lang="zh-CN" altLang="en-US" sz="900" dirty="0">
                  <a:latin typeface="Times New Roman" pitchFamily="18" charset="0"/>
                  <a:sym typeface="+mn-ea"/>
                </a:rPr>
                <a:t>：标签</a:t>
              </a:r>
              <a:endParaRPr lang="zh-CN" altLang="en-US" sz="900" dirty="0">
                <a:latin typeface="Times New Roman" pitchFamily="18" charset="0"/>
                <a:sym typeface="+mn-ea"/>
              </a:endParaRPr>
            </a:p>
            <a:p>
              <a:pPr marL="171450" indent="-171450">
                <a:buFont typeface="Arial" panose="02080604020202020204" pitchFamily="34" charset="0"/>
                <a:buChar char="•"/>
              </a:pPr>
              <a:r>
                <a:rPr lang="en-US" altLang="zh-CN" sz="900" dirty="0">
                  <a:latin typeface="Times New Roman" pitchFamily="18" charset="0"/>
                  <a:sym typeface="+mn-ea"/>
                </a:rPr>
                <a:t>pred: 3bit</a:t>
              </a:r>
              <a:r>
                <a:rPr lang="zh-CN" altLang="en-US" sz="900" dirty="0">
                  <a:latin typeface="Times New Roman" pitchFamily="18" charset="0"/>
                  <a:sym typeface="+mn-ea"/>
                </a:rPr>
                <a:t>有符号饱和计数器用于指导预测</a:t>
              </a:r>
              <a:endParaRPr lang="zh-CN" altLang="en-US" sz="900" dirty="0">
                <a:latin typeface="Times New Roman" pitchFamily="18" charset="0"/>
                <a:sym typeface="+mn-ea"/>
              </a:endParaRPr>
            </a:p>
            <a:p>
              <a:pPr marL="171450" indent="-171450">
                <a:buFont typeface="Arial" panose="02080604020202020204" pitchFamily="34" charset="0"/>
                <a:buChar char="•"/>
              </a:pPr>
              <a:r>
                <a:rPr lang="en-US" altLang="zh-CN" sz="900" dirty="0">
                  <a:latin typeface="Times New Roman" pitchFamily="18" charset="0"/>
                  <a:sym typeface="+mn-ea"/>
                </a:rPr>
                <a:t>u</a:t>
              </a:r>
              <a:r>
                <a:rPr lang="zh-CN" altLang="en-US" sz="900" dirty="0">
                  <a:latin typeface="Times New Roman" pitchFamily="18" charset="0"/>
                  <a:sym typeface="+mn-ea"/>
                </a:rPr>
                <a:t>：</a:t>
              </a:r>
              <a:r>
                <a:rPr lang="en-US" altLang="zh-CN" sz="900" dirty="0">
                  <a:latin typeface="Times New Roman" pitchFamily="18" charset="0"/>
                  <a:sym typeface="+mn-ea"/>
                </a:rPr>
                <a:t>2bit</a:t>
              </a:r>
              <a:r>
                <a:rPr lang="zh-CN" altLang="en-US" sz="900" dirty="0">
                  <a:latin typeface="Times New Roman" pitchFamily="18" charset="0"/>
                  <a:sym typeface="+mn-ea"/>
                </a:rPr>
                <a:t>无符号计数器用于指导替换</a:t>
              </a:r>
              <a:endParaRPr lang="zh-CN" altLang="en-US" sz="900" dirty="0">
                <a:latin typeface="Times New Roman" pitchFamily="18" charset="0"/>
                <a:sym typeface="+mn-ea"/>
              </a:endParaRPr>
            </a:p>
          </p:txBody>
        </p:sp>
      </p:grpSp>
      <p:sp>
        <p:nvSpPr>
          <p:cNvPr id="59399" name="Rectangle 2"/>
          <p:cNvSpPr/>
          <p:nvPr/>
        </p:nvSpPr>
        <p:spPr>
          <a:xfrm>
            <a:off x="457200" y="287338"/>
            <a:ext cx="11174413" cy="685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ctr">
              <a:spcBef>
                <a:spcPct val="0"/>
              </a:spcBef>
            </a:pPr>
            <a:r>
              <a:rPr lang="en-US" altLang="zh-CN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TAGE</a:t>
            </a:r>
            <a:r>
              <a:rPr lang="zh-CN" altLang="ca-ES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分支预测器</a:t>
            </a:r>
            <a:endParaRPr lang="zh-CN" altLang="en-US" sz="36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4" name="Rectangle 3"/>
          <p:cNvSpPr>
            <a:spLocks noGrp="1"/>
          </p:cNvSpPr>
          <p:nvPr>
            <p:ph idx="1"/>
          </p:nvPr>
        </p:nvSpPr>
        <p:spPr>
          <a:xfrm>
            <a:off x="595313" y="1368425"/>
            <a:ext cx="11012488" cy="47767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例如某分支跳转方向按001001000...001001000...循环</a:t>
            </a:r>
            <a:endParaRPr kumimoji="1" lang="zh-CN" altLang="en-US" sz="2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T1</a:t>
            </a:r>
            <a:r>
              <a:rPr kumimoji="1" lang="zh-CN" altLang="en-US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、</a:t>
            </a:r>
            <a:r>
              <a:rPr kumimoji="1" lang="en-US" altLang="zh-CN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T2</a:t>
            </a:r>
            <a:r>
              <a:rPr kumimoji="1" lang="zh-CN" altLang="en-US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、</a:t>
            </a:r>
            <a:r>
              <a:rPr kumimoji="1" lang="en-US" altLang="zh-CN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T3</a:t>
            </a:r>
            <a:r>
              <a:rPr kumimoji="1" lang="zh-CN" altLang="en-US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表历史长度依次为</a:t>
            </a:r>
            <a:r>
              <a:rPr kumimoji="1" lang="en-US" altLang="zh-CN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</a:t>
            </a:r>
            <a:r>
              <a:rPr kumimoji="1" lang="zh-CN" altLang="en-US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、</a:t>
            </a:r>
            <a:r>
              <a:rPr kumimoji="1" lang="en-US" altLang="zh-CN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4</a:t>
            </a:r>
            <a:r>
              <a:rPr kumimoji="1" lang="zh-CN" altLang="en-US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、</a:t>
            </a:r>
            <a:r>
              <a:rPr kumimoji="1" lang="en-US" altLang="zh-CN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8</a:t>
            </a:r>
            <a:endParaRPr kumimoji="1" lang="zh-CN" altLang="en-US" sz="20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只需存储以下信息（括弧中为各张表能给出的预测结果）</a:t>
            </a:r>
            <a:endParaRPr kumimoji="1" lang="zh-CN" altLang="en-US" sz="2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T0: →0（000000000...）</a:t>
            </a:r>
            <a:endParaRPr kumimoji="1" lang="zh-CN" altLang="en-US" sz="20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T1: 00→1（001001001...）</a:t>
            </a:r>
            <a:endParaRPr kumimoji="1" lang="zh-CN" altLang="en-US" sz="20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T3:</a:t>
            </a:r>
            <a:r>
              <a:rPr kumimoji="1" lang="en-US" altLang="zh-CN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1" lang="zh-CN" altLang="en-US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00100100→0（001001000...）</a:t>
            </a:r>
            <a:endParaRPr kumimoji="1" lang="zh-CN" altLang="en-US" sz="20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逐步学到T1、T3的规律</a:t>
            </a:r>
            <a:endParaRPr kumimoji="1" lang="zh-CN" altLang="en-US" sz="2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T0猜错，向T1分配新项</a:t>
            </a:r>
            <a:endParaRPr kumimoji="1" lang="zh-CN" altLang="en-US" sz="20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T1猜错，T2猜错，向T3分配新项</a:t>
            </a:r>
            <a:endParaRPr kumimoji="1" lang="zh-CN" altLang="en-US" sz="20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1" lang="zh-CN" altLang="en-US" sz="20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</p:txBody>
      </p:sp>
      <p:sp>
        <p:nvSpPr>
          <p:cNvPr id="60419" name="Rectangle 2"/>
          <p:cNvSpPr/>
          <p:nvPr/>
        </p:nvSpPr>
        <p:spPr>
          <a:xfrm>
            <a:off x="457200" y="287338"/>
            <a:ext cx="11174413" cy="685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ctr">
              <a:spcBef>
                <a:spcPct val="0"/>
              </a:spcBef>
            </a:pPr>
            <a:r>
              <a:rPr lang="en-US" altLang="zh-CN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TAGE</a:t>
            </a:r>
            <a:r>
              <a:rPr lang="zh-CN" altLang="ca-ES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分支预测器举例</a:t>
            </a:r>
            <a:endParaRPr lang="zh-CN" altLang="ca-ES" sz="36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1443" name="Rectangle 2"/>
          <p:cNvSpPr>
            <a:spLocks noGrp="1"/>
          </p:cNvSpPr>
          <p:nvPr>
            <p:ph type="title"/>
          </p:nvPr>
        </p:nvSpPr>
        <p:spPr>
          <a:xfrm>
            <a:off x="1036638" y="228600"/>
            <a:ext cx="10361612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动态转移猜测小结</a:t>
            </a:r>
            <a:endParaRPr lang="zh-CN" altLang="en-US" sz="3600" dirty="0"/>
          </a:p>
        </p:txBody>
      </p:sp>
      <p:sp>
        <p:nvSpPr>
          <p:cNvPr id="64516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447800"/>
            <a:ext cx="11541125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转移的重复性和偏向性</a:t>
            </a:r>
            <a:endParaRPr kumimoji="1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BHT</a:t>
            </a:r>
            <a:endParaRPr kumimoji="1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转移指令的相关性问题</a:t>
            </a:r>
            <a:endParaRPr kumimoji="1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两层转移预测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分支别名干扰问题</a:t>
            </a:r>
            <a:endParaRPr kumimoji="1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Gshare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等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混合预测器</a:t>
            </a:r>
            <a:endParaRPr kumimoji="1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不同的分支预测只能对某类的分支行为有效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不要执着于具体办法，关键是抓住应用程序的特点</a:t>
            </a:r>
            <a:endParaRPr kumimoji="1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2467" name="Rectangle 2"/>
          <p:cNvSpPr>
            <a:spLocks noGrp="1"/>
          </p:cNvSpPr>
          <p:nvPr>
            <p:ph type="title"/>
          </p:nvPr>
        </p:nvSpPr>
        <p:spPr>
          <a:xfrm>
            <a:off x="817563" y="2909888"/>
            <a:ext cx="10361612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4000" dirty="0"/>
              <a:t>典型处理器的转移预测结构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3491" name="Rectangle 2"/>
          <p:cNvSpPr>
            <a:spLocks noGrp="1"/>
          </p:cNvSpPr>
          <p:nvPr>
            <p:ph type="title"/>
          </p:nvPr>
        </p:nvSpPr>
        <p:spPr>
          <a:xfrm>
            <a:off x="941388" y="0"/>
            <a:ext cx="10361612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一些典型商品处理器的分支预测机制</a:t>
            </a:r>
            <a:endParaRPr lang="zh-CN" altLang="en-US" sz="3600" dirty="0"/>
          </a:p>
        </p:txBody>
      </p:sp>
      <p:pic>
        <p:nvPicPr>
          <p:cNvPr id="63492" name="Picture 3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776413" y="1844675"/>
            <a:ext cx="8353425" cy="44084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4515" name="Rectangle 2"/>
          <p:cNvSpPr/>
          <p:nvPr/>
        </p:nvSpPr>
        <p:spPr>
          <a:xfrm>
            <a:off x="457200" y="287338"/>
            <a:ext cx="11174413" cy="685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ctr">
              <a:spcBef>
                <a:spcPct val="0"/>
              </a:spcBef>
            </a:pPr>
            <a:r>
              <a:rPr lang="ca-ES" altLang="zh-CN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Alpha 21264</a:t>
            </a:r>
            <a:r>
              <a:rPr lang="zh-CN" altLang="ca-ES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的分支预测器</a:t>
            </a:r>
            <a:endParaRPr lang="zh-CN" altLang="ca-ES" sz="36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  <p:pic>
        <p:nvPicPr>
          <p:cNvPr id="64516" name="Picture 3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09600" y="1447800"/>
            <a:ext cx="10869613" cy="4651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4517" name="Text Box 4"/>
          <p:cNvSpPr txBox="1"/>
          <p:nvPr/>
        </p:nvSpPr>
        <p:spPr>
          <a:xfrm>
            <a:off x="6988175" y="1409700"/>
            <a:ext cx="1306513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800" dirty="0">
                <a:latin typeface="Times New Roman" pitchFamily="18" charset="0"/>
              </a:rPr>
              <a:t>Global PHT</a:t>
            </a:r>
            <a:endParaRPr lang="en-US" altLang="zh-CN" sz="1800" dirty="0">
              <a:latin typeface="Times New Roman" pitchFamily="18" charset="0"/>
            </a:endParaRPr>
          </a:p>
        </p:txBody>
      </p:sp>
      <p:sp>
        <p:nvSpPr>
          <p:cNvPr id="64518" name="Text Box 5"/>
          <p:cNvSpPr txBox="1"/>
          <p:nvPr/>
        </p:nvSpPr>
        <p:spPr>
          <a:xfrm>
            <a:off x="9123363" y="4191000"/>
            <a:ext cx="860425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800" dirty="0">
                <a:solidFill>
                  <a:schemeClr val="bg2"/>
                </a:solidFill>
                <a:latin typeface="Times New Roman" pitchFamily="18" charset="0"/>
              </a:rPr>
              <a:t>(</a:t>
            </a:r>
            <a:r>
              <a:rPr lang="en-US" altLang="zh-CN" sz="1600" b="1" dirty="0">
                <a:solidFill>
                  <a:schemeClr val="bg2"/>
                </a:solidFill>
                <a:latin typeface="Arial" panose="02080604020202020204" pitchFamily="34" charset="0"/>
              </a:rPr>
              <a:t>1</a:t>
            </a:r>
            <a:r>
              <a:rPr lang="en-US" altLang="zh-CN" sz="1400" dirty="0">
                <a:solidFill>
                  <a:schemeClr val="bg2"/>
                </a:solidFill>
                <a:latin typeface="Times New Roman" pitchFamily="18" charset="0"/>
                <a:sym typeface="Marlett" pitchFamily="2" charset="2"/>
              </a:rPr>
              <a:t></a:t>
            </a:r>
            <a:r>
              <a:rPr lang="en-US" altLang="zh-CN" sz="1600" b="1" dirty="0">
                <a:solidFill>
                  <a:schemeClr val="bg2"/>
                </a:solidFill>
                <a:latin typeface="Arial" panose="02080604020202020204" pitchFamily="34" charset="0"/>
                <a:sym typeface="Marlett" pitchFamily="2" charset="2"/>
              </a:rPr>
              <a:t>12</a:t>
            </a:r>
            <a:r>
              <a:rPr lang="en-US" altLang="zh-CN" sz="1800" dirty="0">
                <a:solidFill>
                  <a:schemeClr val="bg2"/>
                </a:solidFill>
                <a:latin typeface="Times New Roman" pitchFamily="18" charset="0"/>
              </a:rPr>
              <a:t>)</a:t>
            </a:r>
            <a:endParaRPr lang="en-US" altLang="zh-CN" sz="1800" dirty="0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64519" name="Text Box 6"/>
          <p:cNvSpPr txBox="1"/>
          <p:nvPr/>
        </p:nvSpPr>
        <p:spPr>
          <a:xfrm>
            <a:off x="8786813" y="4495800"/>
            <a:ext cx="1346200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800" dirty="0">
                <a:latin typeface="Times New Roman" pitchFamily="18" charset="0"/>
              </a:rPr>
              <a:t>Global BHR</a:t>
            </a:r>
            <a:endParaRPr lang="en-US" altLang="zh-CN" sz="1800" dirty="0">
              <a:latin typeface="Times New Roman" pitchFamily="18" charset="0"/>
            </a:endParaRPr>
          </a:p>
        </p:txBody>
      </p:sp>
      <p:sp>
        <p:nvSpPr>
          <p:cNvPr id="64520" name="Text Box 7"/>
          <p:cNvSpPr txBox="1"/>
          <p:nvPr/>
        </p:nvSpPr>
        <p:spPr>
          <a:xfrm>
            <a:off x="1524000" y="1295400"/>
            <a:ext cx="1327150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800" dirty="0">
                <a:latin typeface="Times New Roman" pitchFamily="18" charset="0"/>
              </a:rPr>
              <a:t>per-set BHT</a:t>
            </a:r>
            <a:endParaRPr lang="en-US" altLang="zh-CN" sz="1800" dirty="0">
              <a:latin typeface="Times New Roman" pitchFamily="18" charset="0"/>
            </a:endParaRPr>
          </a:p>
        </p:txBody>
      </p:sp>
      <p:sp>
        <p:nvSpPr>
          <p:cNvPr id="64521" name="Text Box 8"/>
          <p:cNvSpPr txBox="1"/>
          <p:nvPr/>
        </p:nvSpPr>
        <p:spPr>
          <a:xfrm>
            <a:off x="4114800" y="1385888"/>
            <a:ext cx="1255713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800" dirty="0">
                <a:latin typeface="Times New Roman" pitchFamily="18" charset="0"/>
              </a:rPr>
              <a:t>global PHT</a:t>
            </a:r>
            <a:endParaRPr lang="en-US" altLang="zh-CN" sz="1800" dirty="0">
              <a:latin typeface="Times New Roman" pitchFamily="18" charset="0"/>
            </a:endParaRPr>
          </a:p>
        </p:txBody>
      </p:sp>
      <p:sp>
        <p:nvSpPr>
          <p:cNvPr id="64522" name="Line 9"/>
          <p:cNvSpPr/>
          <p:nvPr/>
        </p:nvSpPr>
        <p:spPr>
          <a:xfrm flipH="1">
            <a:off x="2235200" y="3124200"/>
            <a:ext cx="304800" cy="762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23" name="Text Box 10"/>
          <p:cNvSpPr txBox="1"/>
          <p:nvPr/>
        </p:nvSpPr>
        <p:spPr>
          <a:xfrm>
            <a:off x="2517775" y="2982913"/>
            <a:ext cx="596900" cy="307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400" b="1" dirty="0">
                <a:latin typeface="Arial" panose="02080604020202020204" pitchFamily="34" charset="0"/>
              </a:rPr>
              <a:t>n=10</a:t>
            </a:r>
            <a:endParaRPr lang="en-US" altLang="zh-CN" sz="1400" b="1" dirty="0">
              <a:latin typeface="Arial" panose="02080604020202020204" pitchFamily="34" charset="0"/>
            </a:endParaRPr>
          </a:p>
        </p:txBody>
      </p:sp>
      <p:sp>
        <p:nvSpPr>
          <p:cNvPr id="64524" name="Line 11"/>
          <p:cNvSpPr/>
          <p:nvPr/>
        </p:nvSpPr>
        <p:spPr>
          <a:xfrm flipH="1">
            <a:off x="3454400" y="2133600"/>
            <a:ext cx="203200" cy="2286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25" name="Text Box 12"/>
          <p:cNvSpPr txBox="1"/>
          <p:nvPr/>
        </p:nvSpPr>
        <p:spPr>
          <a:xfrm>
            <a:off x="3352800" y="2286000"/>
            <a:ext cx="636588" cy="307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400" b="1" dirty="0">
                <a:latin typeface="Arial" panose="02080604020202020204" pitchFamily="34" charset="0"/>
              </a:rPr>
              <a:t>k =10</a:t>
            </a:r>
            <a:endParaRPr lang="en-US" altLang="zh-CN" sz="1800" b="1" dirty="0">
              <a:latin typeface="Arial" panose="02080604020202020204" pitchFamily="34" charset="0"/>
            </a:endParaRPr>
          </a:p>
        </p:txBody>
      </p:sp>
      <p:sp>
        <p:nvSpPr>
          <p:cNvPr id="64526" name="Line 13"/>
          <p:cNvSpPr/>
          <p:nvPr/>
        </p:nvSpPr>
        <p:spPr>
          <a:xfrm flipH="1">
            <a:off x="9752013" y="3505200"/>
            <a:ext cx="203200" cy="762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27" name="Text Box 14"/>
          <p:cNvSpPr txBox="1"/>
          <p:nvPr/>
        </p:nvSpPr>
        <p:spPr>
          <a:xfrm>
            <a:off x="9934575" y="3363913"/>
            <a:ext cx="685800" cy="307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400" b="1" dirty="0">
                <a:latin typeface="Arial" panose="02080604020202020204" pitchFamily="34" charset="0"/>
              </a:rPr>
              <a:t>k = 12</a:t>
            </a:r>
            <a:endParaRPr lang="en-US" altLang="zh-CN" sz="1400" b="1" dirty="0">
              <a:latin typeface="Arial" panose="02080604020202020204" pitchFamily="34" charset="0"/>
            </a:endParaRPr>
          </a:p>
        </p:txBody>
      </p:sp>
      <p:grpSp>
        <p:nvGrpSpPr>
          <p:cNvPr id="64528" name="Group 15"/>
          <p:cNvGrpSpPr/>
          <p:nvPr/>
        </p:nvGrpSpPr>
        <p:grpSpPr>
          <a:xfrm>
            <a:off x="1219200" y="1295400"/>
            <a:ext cx="4775200" cy="2895600"/>
            <a:chOff x="576" y="816"/>
            <a:chExt cx="2256" cy="1824"/>
          </a:xfrm>
        </p:grpSpPr>
        <p:sp>
          <p:nvSpPr>
            <p:cNvPr id="64544" name="Line 16"/>
            <p:cNvSpPr/>
            <p:nvPr/>
          </p:nvSpPr>
          <p:spPr>
            <a:xfrm>
              <a:off x="576" y="816"/>
              <a:ext cx="0" cy="1824"/>
            </a:xfrm>
            <a:prstGeom prst="line">
              <a:avLst/>
            </a:prstGeom>
            <a:ln w="28575" cap="flat" cmpd="sng">
              <a:solidFill>
                <a:srgbClr val="333399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64545" name="Line 17"/>
            <p:cNvSpPr/>
            <p:nvPr/>
          </p:nvSpPr>
          <p:spPr>
            <a:xfrm>
              <a:off x="576" y="2640"/>
              <a:ext cx="1200" cy="0"/>
            </a:xfrm>
            <a:prstGeom prst="line">
              <a:avLst/>
            </a:prstGeom>
            <a:ln w="28575" cap="flat" cmpd="sng">
              <a:solidFill>
                <a:srgbClr val="333399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64546" name="Line 18"/>
            <p:cNvSpPr/>
            <p:nvPr/>
          </p:nvSpPr>
          <p:spPr>
            <a:xfrm flipV="1">
              <a:off x="1776" y="1872"/>
              <a:ext cx="0" cy="768"/>
            </a:xfrm>
            <a:prstGeom prst="line">
              <a:avLst/>
            </a:prstGeom>
            <a:ln w="28575" cap="flat" cmpd="sng">
              <a:solidFill>
                <a:srgbClr val="333399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64547" name="Line 19"/>
            <p:cNvSpPr/>
            <p:nvPr/>
          </p:nvSpPr>
          <p:spPr>
            <a:xfrm>
              <a:off x="1776" y="1872"/>
              <a:ext cx="1056" cy="0"/>
            </a:xfrm>
            <a:prstGeom prst="line">
              <a:avLst/>
            </a:prstGeom>
            <a:ln w="28575" cap="flat" cmpd="sng">
              <a:solidFill>
                <a:srgbClr val="333399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64548" name="Line 20"/>
            <p:cNvSpPr/>
            <p:nvPr/>
          </p:nvSpPr>
          <p:spPr>
            <a:xfrm>
              <a:off x="576" y="816"/>
              <a:ext cx="2256" cy="0"/>
            </a:xfrm>
            <a:prstGeom prst="line">
              <a:avLst/>
            </a:prstGeom>
            <a:ln w="28575" cap="flat" cmpd="sng">
              <a:solidFill>
                <a:srgbClr val="333399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64549" name="Line 21"/>
            <p:cNvSpPr/>
            <p:nvPr/>
          </p:nvSpPr>
          <p:spPr>
            <a:xfrm>
              <a:off x="2832" y="816"/>
              <a:ext cx="0" cy="1056"/>
            </a:xfrm>
            <a:prstGeom prst="line">
              <a:avLst/>
            </a:prstGeom>
            <a:ln w="28575" cap="flat" cmpd="sng">
              <a:solidFill>
                <a:srgbClr val="333399"/>
              </a:solidFill>
              <a:prstDash val="dash"/>
              <a:headEnd type="none" w="med" len="med"/>
              <a:tailEnd type="none" w="med" len="med"/>
            </a:ln>
          </p:spPr>
        </p:sp>
      </p:grpSp>
      <p:sp>
        <p:nvSpPr>
          <p:cNvPr id="64529" name="Text Box 22"/>
          <p:cNvSpPr txBox="1"/>
          <p:nvPr/>
        </p:nvSpPr>
        <p:spPr>
          <a:xfrm>
            <a:off x="792163" y="4229100"/>
            <a:ext cx="2401887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800" dirty="0">
                <a:solidFill>
                  <a:srgbClr val="333399"/>
                </a:solidFill>
                <a:latin typeface="Times New Roman" pitchFamily="18" charset="0"/>
              </a:rPr>
              <a:t>Local history prediction</a:t>
            </a:r>
            <a:endParaRPr lang="en-US" altLang="zh-CN" sz="1800" dirty="0">
              <a:latin typeface="Times New Roman" pitchFamily="18" charset="0"/>
            </a:endParaRPr>
          </a:p>
        </p:txBody>
      </p:sp>
      <p:grpSp>
        <p:nvGrpSpPr>
          <p:cNvPr id="64530" name="Group 23"/>
          <p:cNvGrpSpPr/>
          <p:nvPr/>
        </p:nvGrpSpPr>
        <p:grpSpPr>
          <a:xfrm>
            <a:off x="6399213" y="1295400"/>
            <a:ext cx="4368800" cy="3581400"/>
            <a:chOff x="3024" y="816"/>
            <a:chExt cx="2064" cy="2256"/>
          </a:xfrm>
        </p:grpSpPr>
        <p:sp>
          <p:nvSpPr>
            <p:cNvPr id="64535" name="Line 24"/>
            <p:cNvSpPr/>
            <p:nvPr/>
          </p:nvSpPr>
          <p:spPr>
            <a:xfrm>
              <a:off x="3888" y="2400"/>
              <a:ext cx="624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</p:sp>
        <p:grpSp>
          <p:nvGrpSpPr>
            <p:cNvPr id="64536" name="Group 25"/>
            <p:cNvGrpSpPr/>
            <p:nvPr/>
          </p:nvGrpSpPr>
          <p:grpSpPr>
            <a:xfrm>
              <a:off x="3024" y="816"/>
              <a:ext cx="2064" cy="2256"/>
              <a:chOff x="3024" y="816"/>
              <a:chExt cx="2064" cy="2256"/>
            </a:xfrm>
          </p:grpSpPr>
          <p:sp>
            <p:nvSpPr>
              <p:cNvPr id="64537" name="Line 26"/>
              <p:cNvSpPr/>
              <p:nvPr/>
            </p:nvSpPr>
            <p:spPr>
              <a:xfrm>
                <a:off x="3024" y="816"/>
                <a:ext cx="0" cy="1008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64538" name="Line 27"/>
              <p:cNvSpPr/>
              <p:nvPr/>
            </p:nvSpPr>
            <p:spPr>
              <a:xfrm flipV="1">
                <a:off x="3024" y="1824"/>
                <a:ext cx="1488" cy="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64539" name="Line 28"/>
              <p:cNvSpPr/>
              <p:nvPr/>
            </p:nvSpPr>
            <p:spPr>
              <a:xfrm>
                <a:off x="3024" y="816"/>
                <a:ext cx="2064" cy="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64540" name="Line 29"/>
              <p:cNvSpPr/>
              <p:nvPr/>
            </p:nvSpPr>
            <p:spPr>
              <a:xfrm>
                <a:off x="5088" y="816"/>
                <a:ext cx="0" cy="2256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64541" name="Line 30"/>
              <p:cNvSpPr/>
              <p:nvPr/>
            </p:nvSpPr>
            <p:spPr>
              <a:xfrm>
                <a:off x="4512" y="1824"/>
                <a:ext cx="0" cy="576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64542" name="Line 31"/>
              <p:cNvSpPr/>
              <p:nvPr/>
            </p:nvSpPr>
            <p:spPr>
              <a:xfrm>
                <a:off x="3888" y="2400"/>
                <a:ext cx="0" cy="672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64543" name="Line 32"/>
              <p:cNvSpPr/>
              <p:nvPr/>
            </p:nvSpPr>
            <p:spPr>
              <a:xfrm>
                <a:off x="3888" y="3072"/>
                <a:ext cx="1200" cy="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dash"/>
                <a:headEnd type="none" w="med" len="med"/>
                <a:tailEnd type="none" w="med" len="med"/>
              </a:ln>
            </p:spPr>
          </p:sp>
        </p:grpSp>
      </p:grpSp>
      <p:sp>
        <p:nvSpPr>
          <p:cNvPr id="64531" name="Text Box 33"/>
          <p:cNvSpPr txBox="1"/>
          <p:nvPr/>
        </p:nvSpPr>
        <p:spPr>
          <a:xfrm>
            <a:off x="8634413" y="1295400"/>
            <a:ext cx="2506662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800" dirty="0">
                <a:solidFill>
                  <a:srgbClr val="FF0000"/>
                </a:solidFill>
                <a:latin typeface="Times New Roman" pitchFamily="18" charset="0"/>
              </a:rPr>
              <a:t>Global history prediction</a:t>
            </a:r>
            <a:endParaRPr lang="en-US" altLang="zh-CN" sz="1800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64532" name="Text Box 34"/>
          <p:cNvSpPr txBox="1"/>
          <p:nvPr/>
        </p:nvSpPr>
        <p:spPr>
          <a:xfrm>
            <a:off x="1727200" y="4541838"/>
            <a:ext cx="1154113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 b="1" dirty="0">
                <a:solidFill>
                  <a:srgbClr val="333399"/>
                </a:solidFill>
                <a:latin typeface="Arial" panose="02080604020202020204" pitchFamily="34" charset="0"/>
              </a:rPr>
              <a:t>SAg(10)</a:t>
            </a:r>
            <a:endParaRPr lang="en-US" altLang="zh-CN" sz="2000" b="1" dirty="0">
              <a:latin typeface="Arial" panose="02080604020202020204" pitchFamily="34" charset="0"/>
            </a:endParaRPr>
          </a:p>
        </p:txBody>
      </p:sp>
      <p:sp>
        <p:nvSpPr>
          <p:cNvPr id="64533" name="Text Box 35"/>
          <p:cNvSpPr txBox="1"/>
          <p:nvPr/>
        </p:nvSpPr>
        <p:spPr>
          <a:xfrm>
            <a:off x="9548813" y="1600200"/>
            <a:ext cx="1182687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Arial" panose="02080604020202020204" pitchFamily="34" charset="0"/>
              </a:rPr>
              <a:t>GAg(12)</a:t>
            </a:r>
            <a:endParaRPr lang="en-US" altLang="zh-CN" sz="2000" b="1" dirty="0">
              <a:latin typeface="Arial" panose="02080604020202020204" pitchFamily="34" charset="0"/>
            </a:endParaRPr>
          </a:p>
        </p:txBody>
      </p:sp>
      <p:sp>
        <p:nvSpPr>
          <p:cNvPr id="64534" name="Text Box 36"/>
          <p:cNvSpPr txBox="1"/>
          <p:nvPr/>
        </p:nvSpPr>
        <p:spPr>
          <a:xfrm>
            <a:off x="6430963" y="3732213"/>
            <a:ext cx="979487" cy="36988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1800" b="1" dirty="0">
                <a:solidFill>
                  <a:schemeClr val="accent1"/>
                </a:solidFill>
                <a:latin typeface="Times New Roman" pitchFamily="18" charset="0"/>
              </a:rPr>
              <a:t>Selector</a:t>
            </a:r>
            <a:endParaRPr lang="en-US" altLang="zh-CN" sz="1800" dirty="0">
              <a:solidFill>
                <a:schemeClr val="accent1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65539" name="Picture 5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316663" y="4514850"/>
            <a:ext cx="5016500" cy="2262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5540" name="Picture 6" descr="97128610082418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41363" y="4572000"/>
            <a:ext cx="4364037" cy="2286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8613" name="Rectangle 7"/>
          <p:cNvSpPr>
            <a:spLocks noChangeArrowheads="1"/>
          </p:cNvSpPr>
          <p:nvPr/>
        </p:nvSpPr>
        <p:spPr bwMode="auto">
          <a:xfrm>
            <a:off x="0" y="966788"/>
            <a:ext cx="12190413" cy="34464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程序（</a:t>
            </a:r>
            <a:r>
              <a:rPr kumimoji="1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a</a:t>
            </a: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）中，假设第一个条件语句的转移模式为“</a:t>
            </a:r>
            <a:r>
              <a:rPr kumimoji="1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TNTNTN…”</a:t>
            </a: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，第二个条件语句的转移模式为“</a:t>
            </a:r>
            <a:r>
              <a:rPr kumimoji="1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NNNNNN…”</a:t>
            </a:r>
            <a:endParaRPr kumimoji="1" lang="zh-CN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简单的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PHT</a:t>
            </a: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表就可以准确猜测第二个条件语句的跳转方向，但对第一个条件语句的猜测就无能为力。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Alpha 21264</a:t>
            </a: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的两级局部预测器中“局部历史表”相应的表项有两个可能的值“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1010101010”</a:t>
            </a: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和“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0101010101”</a:t>
            </a: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，这两个值分别指向“局部预测表”中的两个表项，前者预测跳转，后者预测不跳转</a:t>
            </a:r>
            <a:endParaRPr kumimoji="1" lang="zh-CN" altLang="en-US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程序段（</a:t>
            </a:r>
            <a:r>
              <a:rPr kumimoji="1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b</a:t>
            </a:r>
            <a:r>
              <a:rPr kumimoji="1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）中，第一个和第二个条件都成立时第三个条件也成立</a:t>
            </a:r>
            <a:endParaRPr kumimoji="1" lang="zh-CN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当全局转移历史为“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xxxxxxxxxx11”</a:t>
            </a: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时，全局预测表将预测“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if (a==b)”</a:t>
            </a: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指令跳转。经过训练后的选择预测表也会根据在全局转移历史最后两位为“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11”</a:t>
            </a: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时选择全局预测表而不是局部预测表的预测结果</a:t>
            </a:r>
            <a:endParaRPr kumimoji="1" lang="zh-CN" altLang="en-US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65542" name="Rectangle 8"/>
          <p:cNvSpPr/>
          <p:nvPr/>
        </p:nvSpPr>
        <p:spPr>
          <a:xfrm>
            <a:off x="457200" y="142875"/>
            <a:ext cx="11174413" cy="685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>
              <a:spcBef>
                <a:spcPct val="0"/>
              </a:spcBef>
            </a:pPr>
            <a:r>
              <a:rPr lang="ca-ES" altLang="zh-CN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Alpha 21264</a:t>
            </a:r>
            <a:r>
              <a:rPr lang="zh-CN" altLang="ca-ES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分支预测器举例</a:t>
            </a:r>
            <a:endParaRPr lang="zh-CN" altLang="en-US" sz="36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6563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10361613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Pentium IV</a:t>
            </a:r>
            <a:r>
              <a:rPr lang="zh-CN" altLang="en-US" sz="3600" dirty="0"/>
              <a:t>的转移预测器</a:t>
            </a:r>
            <a:endParaRPr lang="zh-CN" altLang="en-US" sz="3600" dirty="0"/>
          </a:p>
        </p:txBody>
      </p:sp>
      <p:sp>
        <p:nvSpPr>
          <p:cNvPr id="69636" name="Rectangle 3"/>
          <p:cNvSpPr>
            <a:spLocks noGrp="1" noChangeArrowheads="1"/>
          </p:cNvSpPr>
          <p:nvPr>
            <p:ph idx="1"/>
          </p:nvPr>
        </p:nvSpPr>
        <p:spPr>
          <a:xfrm>
            <a:off x="608013" y="1066800"/>
            <a:ext cx="10850563" cy="16906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两个动态预测器（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BTB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）和静态预测混合预测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静态预测：跳转方向是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backward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时则预测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taken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，反之</a:t>
            </a:r>
            <a:r>
              <a:rPr kumimoji="1" lang="en-US" altLang="zh-CN" sz="18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nottaken</a:t>
            </a:r>
            <a:endParaRPr kumimoji="1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BTB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：记录历史信息和目标地址</a:t>
            </a:r>
            <a:endParaRPr kumimoji="1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选择：当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BTB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中没有该跳转指令时采用静态预测</a:t>
            </a:r>
            <a:endParaRPr kumimoji="1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pic>
        <p:nvPicPr>
          <p:cNvPr id="66565" name="Picture 4" descr="P4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2768600" y="3068638"/>
            <a:ext cx="7548563" cy="37068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6566" name="Oval 5"/>
          <p:cNvSpPr/>
          <p:nvPr/>
        </p:nvSpPr>
        <p:spPr>
          <a:xfrm>
            <a:off x="2917825" y="3087688"/>
            <a:ext cx="2359025" cy="555625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66567" name="Oval 6"/>
          <p:cNvSpPr/>
          <p:nvPr/>
        </p:nvSpPr>
        <p:spPr>
          <a:xfrm>
            <a:off x="2978150" y="3775075"/>
            <a:ext cx="2357438" cy="555625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7587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10361613" cy="903288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Power4</a:t>
            </a:r>
            <a:r>
              <a:rPr lang="zh-CN" altLang="en-US" sz="3600" dirty="0"/>
              <a:t>转移预测器</a:t>
            </a:r>
            <a:endParaRPr lang="zh-CN" altLang="en-US" sz="3600" dirty="0"/>
          </a:p>
        </p:txBody>
      </p:sp>
      <p:sp>
        <p:nvSpPr>
          <p:cNvPr id="70660" name="Rectangle 3"/>
          <p:cNvSpPr>
            <a:spLocks noGrp="1" noChangeArrowheads="1"/>
          </p:cNvSpPr>
          <p:nvPr>
            <p:ph idx="1"/>
          </p:nvPr>
        </p:nvSpPr>
        <p:spPr>
          <a:xfrm>
            <a:off x="247650" y="914400"/>
            <a:ext cx="11777663" cy="57991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静态预测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每条转移指令保留两位，一位表示是否用静态预测，若用则动态预测失效，另一位表示是否跳转</a:t>
            </a:r>
            <a:endParaRPr kumimoji="1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动态预测器由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3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个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16K*1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的表组成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局部预测器由指令地址来索引</a:t>
            </a:r>
            <a:endParaRPr kumimoji="1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全局预测器由一个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11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位的历史向量与地址异或来索引，历史向量记录前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11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组指令是否连续的信息（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Power4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将指令分组，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1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组指令为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5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条）</a:t>
            </a:r>
            <a:endParaRPr kumimoji="1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选择器的索引同全局预测器</a:t>
            </a:r>
            <a:endParaRPr kumimoji="1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返回地址栈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Link stack</a:t>
            </a:r>
            <a:endParaRPr kumimoji="1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遇到</a:t>
            </a:r>
            <a:r>
              <a:rPr kumimoji="1" lang="en-US" altLang="zh-CN" sz="1800" b="1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branch and link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指令预测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taken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，同时将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link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地址压栈，由编译器对</a:t>
            </a:r>
            <a:r>
              <a:rPr kumimoji="1" lang="en-US" altLang="zh-CN" sz="1800" b="1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branch to link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指令作上标记（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hint bit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），从栈中弹出地址</a:t>
            </a:r>
            <a:endParaRPr kumimoji="1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计数缓存（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Count cache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32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项，直接相联，软件标志该指令会多次重复跳转，则将其目标地址写入计数缓存，计数缓存的每一项保存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62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位地址</a:t>
            </a:r>
            <a:endParaRPr kumimoji="1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71683" name="Rectangle 2"/>
          <p:cNvSpPr>
            <a:spLocks noGrp="1" noChangeArrowheads="1"/>
          </p:cNvSpPr>
          <p:nvPr>
            <p:ph idx="1"/>
          </p:nvPr>
        </p:nvSpPr>
        <p:spPr>
          <a:xfrm>
            <a:off x="914400" y="1643063"/>
            <a:ext cx="10361613" cy="44529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R10000</a:t>
            </a:r>
            <a:endParaRPr kumimoji="1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512-entry, 2-bit BHT  </a:t>
            </a:r>
            <a:endParaRPr kumimoji="1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Branch stack</a:t>
            </a:r>
            <a:endParaRPr kumimoji="1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R12000</a:t>
            </a:r>
            <a:endParaRPr kumimoji="1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2048-entry, 2-bit BHT</a:t>
            </a:r>
            <a:endParaRPr kumimoji="1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32-entry BTB</a:t>
            </a:r>
            <a:endParaRPr kumimoji="1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68612" name="Rectangle 3"/>
          <p:cNvSpPr>
            <a:spLocks noGrp="1"/>
          </p:cNvSpPr>
          <p:nvPr>
            <p:ph type="title"/>
          </p:nvPr>
        </p:nvSpPr>
        <p:spPr>
          <a:xfrm>
            <a:off x="857250" y="0"/>
            <a:ext cx="10361613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MIPS R10000</a:t>
            </a:r>
            <a:r>
              <a:rPr lang="zh-CN" altLang="en-US" sz="3600" dirty="0"/>
              <a:t>的转移预测器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9635" name="Rectangle 2"/>
          <p:cNvSpPr>
            <a:spLocks noGrp="1"/>
          </p:cNvSpPr>
          <p:nvPr>
            <p:ph type="title"/>
          </p:nvPr>
        </p:nvSpPr>
        <p:spPr>
          <a:xfrm>
            <a:off x="939800" y="292100"/>
            <a:ext cx="10361613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龙芯</a:t>
            </a:r>
            <a:r>
              <a:rPr lang="en-US" altLang="zh-CN" sz="3600" dirty="0"/>
              <a:t>2</a:t>
            </a:r>
            <a:r>
              <a:rPr lang="zh-CN" altLang="en-US" sz="3600" dirty="0"/>
              <a:t>号分支预测器</a:t>
            </a:r>
            <a:endParaRPr lang="zh-CN" altLang="en-US" sz="3600" dirty="0"/>
          </a:p>
        </p:txBody>
      </p:sp>
      <p:sp>
        <p:nvSpPr>
          <p:cNvPr id="72708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682750"/>
            <a:ext cx="10361613" cy="48704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静态预测和动态预测结合的转移预测方法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“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likely”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类的转移直接预测跳转</a:t>
            </a:r>
            <a:endParaRPr kumimoji="1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其它转移指令采用动态预测方法。</a:t>
            </a:r>
            <a:endParaRPr kumimoji="1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采用</a:t>
            </a:r>
            <a:r>
              <a:rPr kumimoji="1" lang="en-US" altLang="zh-CN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Gshare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结构进行条件指令的转移预测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BHR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共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9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位，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PHT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表有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4096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项</a:t>
            </a:r>
            <a:endParaRPr kumimoji="1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16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项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BTB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预测普通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JR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指令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在译码阶段访问</a:t>
            </a:r>
            <a:endParaRPr kumimoji="1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4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项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RAS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预测函数返回指令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目标寄存器为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31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号寄存器的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JR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指令</a:t>
            </a:r>
            <a:endParaRPr kumimoji="1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/>
          </p:nvPr>
        </p:nvSpPr>
        <p:spPr>
          <a:xfrm>
            <a:off x="914400" y="95250"/>
            <a:ext cx="10361613" cy="819150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sz="3600" dirty="0"/>
              <a:t>典型处理器的分支预测</a:t>
            </a:r>
            <a:endParaRPr lang="zh-CN" altLang="en-US" sz="3600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198438" y="944563"/>
          <a:ext cx="11764851" cy="5669280"/>
        </p:xfrm>
        <a:graphic>
          <a:graphicData uri="http://schemas.openxmlformats.org/drawingml/2006/table">
            <a:tbl>
              <a:tblPr/>
              <a:tblGrid>
                <a:gridCol w="1432358"/>
                <a:gridCol w="3113636"/>
                <a:gridCol w="2460605"/>
                <a:gridCol w="2480838"/>
                <a:gridCol w="2277414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200" kern="100" dirty="0">
                        <a:solidFill>
                          <a:schemeClr val="accent2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  <a:cs typeface="Times New Roman"/>
                        </a:rPr>
                        <a:t>Intel </a:t>
                      </a:r>
                      <a:r>
                        <a:rPr lang="en-US" sz="1200" b="1" kern="100" dirty="0" err="1">
                          <a:solidFill>
                            <a:schemeClr val="accent2"/>
                          </a:solidFill>
                          <a:latin typeface="+mn-ea"/>
                          <a:ea typeface="+mn-ea"/>
                          <a:cs typeface="Times New Roman"/>
                        </a:rPr>
                        <a:t>Sandybridge</a:t>
                      </a:r>
                      <a:endParaRPr lang="zh-CN" sz="1200" kern="100" dirty="0">
                        <a:solidFill>
                          <a:schemeClr val="accent2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  <a:cs typeface="Times New Roman"/>
                        </a:rPr>
                        <a:t>AMD </a:t>
                      </a:r>
                      <a:r>
                        <a:rPr lang="en-US" sz="1200" b="1" kern="100" dirty="0" err="1">
                          <a:solidFill>
                            <a:schemeClr val="accent2"/>
                          </a:solidFill>
                          <a:latin typeface="+mn-ea"/>
                          <a:ea typeface="+mn-ea"/>
                          <a:cs typeface="Times New Roman"/>
                        </a:rPr>
                        <a:t>BullDozer</a:t>
                      </a:r>
                      <a:endParaRPr lang="zh-CN" sz="1200" kern="100" dirty="0">
                        <a:solidFill>
                          <a:schemeClr val="accent2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  <a:cs typeface="Times New Roman"/>
                        </a:rPr>
                        <a:t>IBM Power7</a:t>
                      </a:r>
                      <a:endParaRPr lang="zh-CN" sz="1200" kern="100" dirty="0">
                        <a:solidFill>
                          <a:schemeClr val="accent2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200" b="1" kern="100" dirty="0" smtClean="0">
                          <a:solidFill>
                            <a:schemeClr val="accent2"/>
                          </a:solidFill>
                          <a:latin typeface="+mn-ea"/>
                          <a:ea typeface="+mn-ea"/>
                          <a:cs typeface="Times New Roman"/>
                        </a:rPr>
                        <a:t>GS464E</a:t>
                      </a:r>
                      <a:endParaRPr lang="zh-CN" sz="1200" b="1" kern="100" dirty="0">
                        <a:solidFill>
                          <a:schemeClr val="accent2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gridSpan="5">
                  <a:txBody>
                    <a:bodyPr/>
                    <a:lstStyle/>
                    <a:p>
                      <a:pPr indent="449580" algn="just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  <a:cs typeface="Times New Roman"/>
                        </a:rPr>
                        <a:t>前端</a:t>
                      </a:r>
                      <a:endParaRPr lang="zh-CN" sz="1200" kern="100" dirty="0">
                        <a:solidFill>
                          <a:schemeClr val="accent2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  <a:cs typeface="Times New Roman"/>
                        </a:rPr>
                        <a:t>取指宽度</a:t>
                      </a:r>
                      <a:endParaRPr lang="zh-CN" sz="1200" kern="100" dirty="0">
                        <a:solidFill>
                          <a:schemeClr val="accent2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16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字节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/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时钟周期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32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字节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/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时钟周期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8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指令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/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时钟周期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8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指令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/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时钟周期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01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  <a:cs typeface="Times New Roman"/>
                        </a:rPr>
                        <a:t>一级指令缓存</a:t>
                      </a:r>
                      <a:endParaRPr lang="zh-CN" sz="1200" kern="100" dirty="0">
                        <a:solidFill>
                          <a:schemeClr val="accent2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32KB, 8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路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, 64B/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行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64KB, 2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路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, 64B/</a:t>
                      </a:r>
                      <a:r>
                        <a:rPr lang="zh-CN" sz="1200" b="1" kern="100" dirty="0" smtClean="0">
                          <a:latin typeface="+mn-ea"/>
                          <a:ea typeface="+mn-ea"/>
                          <a:cs typeface="Times New Roman"/>
                        </a:rPr>
                        <a:t>行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32KB, 4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路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, 128B/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行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64KB, 4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路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, 64B/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行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01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  <a:cs typeface="Times New Roman"/>
                        </a:rPr>
                        <a:t>指令</a:t>
                      </a:r>
                      <a:r>
                        <a:rPr lang="en-US" sz="1200" b="1" kern="100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  <a:cs typeface="Times New Roman"/>
                        </a:rPr>
                        <a:t>TLB</a:t>
                      </a:r>
                      <a:endParaRPr lang="zh-CN" sz="1200" kern="100" dirty="0">
                        <a:solidFill>
                          <a:schemeClr val="accent2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128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项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, 4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路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, L1 ITLB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72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项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,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全相联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, </a:t>
                      </a:r>
                      <a:r>
                        <a:rPr lang="en-US" sz="1200" b="1" kern="100" dirty="0" smtClean="0">
                          <a:latin typeface="+mn-ea"/>
                          <a:ea typeface="+mn-ea"/>
                          <a:cs typeface="Times New Roman"/>
                        </a:rPr>
                        <a:t>L1 ITLB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512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项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, 4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路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, L2 ITLB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64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项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, 2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路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, L1 ITLB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 smtClean="0">
                          <a:latin typeface="+mn-ea"/>
                          <a:ea typeface="+mn-ea"/>
                          <a:cs typeface="Times New Roman"/>
                        </a:rPr>
                        <a:t>64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项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,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全相联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, L1 ITLB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03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  <a:cs typeface="Times New Roman"/>
                        </a:rPr>
                        <a:t>分支</a:t>
                      </a:r>
                      <a:r>
                        <a:rPr lang="zh-CN" sz="1200" b="1" kern="100" dirty="0" smtClean="0">
                          <a:solidFill>
                            <a:schemeClr val="accent2"/>
                          </a:solidFill>
                          <a:latin typeface="+mn-ea"/>
                          <a:ea typeface="+mn-ea"/>
                          <a:cs typeface="Times New Roman"/>
                        </a:rPr>
                        <a:t>预</a:t>
                      </a:r>
                      <a:r>
                        <a:rPr lang="zh-CN" altLang="en-US" sz="1200" b="1" kern="100" dirty="0" smtClean="0">
                          <a:solidFill>
                            <a:schemeClr val="accent2"/>
                          </a:solidFill>
                          <a:latin typeface="+mn-ea"/>
                          <a:ea typeface="+mn-ea"/>
                          <a:cs typeface="Times New Roman"/>
                        </a:rPr>
                        <a:t>测</a:t>
                      </a:r>
                      <a:endParaRPr lang="zh-CN" sz="1200" kern="100" dirty="0">
                        <a:solidFill>
                          <a:schemeClr val="accent2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BTB (8K-16K?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项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)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间接目标队列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 (?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项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)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RAS (?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项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)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循环检测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512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项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, 4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路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 L1 BTB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5120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项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, 5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路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 L2 BTB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512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项 间接目标队列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24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项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 RAS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循环检测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8K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项本地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 BHT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队列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,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16K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项全局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BHT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队列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,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8K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项 全局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1" kern="100" dirty="0" err="1">
                          <a:latin typeface="+mn-ea"/>
                          <a:ea typeface="+mn-ea"/>
                          <a:cs typeface="Times New Roman"/>
                        </a:rPr>
                        <a:t>sel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队列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128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项间接目标队列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16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项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 RAS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8K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项本地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 BHT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队列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8K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项全局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BHT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队列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8K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项 全局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1" kern="100" dirty="0" err="1">
                          <a:latin typeface="+mn-ea"/>
                          <a:ea typeface="+mn-ea"/>
                          <a:cs typeface="Times New Roman"/>
                        </a:rPr>
                        <a:t>sel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队列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128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项间接目标队列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16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项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 RAS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循环检测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gridSpan="5">
                  <a:txBody>
                    <a:bodyPr/>
                    <a:lstStyle/>
                    <a:p>
                      <a:pPr indent="281305" algn="l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  <a:cs typeface="Times New Roman"/>
                        </a:rPr>
                        <a:t>乱序执行</a:t>
                      </a:r>
                      <a:endParaRPr lang="zh-CN" sz="1200" b="1" kern="100" dirty="0">
                        <a:solidFill>
                          <a:schemeClr val="accent2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  <a:cs typeface="Times New Roman"/>
                        </a:rPr>
                        <a:t>Reorder</a:t>
                      </a:r>
                      <a:r>
                        <a:rPr lang="zh-CN" sz="1200" b="1" kern="100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  <a:cs typeface="Times New Roman"/>
                        </a:rPr>
                        <a:t>缓存</a:t>
                      </a:r>
                      <a:endParaRPr lang="zh-CN" sz="1200" kern="100" dirty="0">
                        <a:solidFill>
                          <a:schemeClr val="accent2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latin typeface="+mn-ea"/>
                          <a:ea typeface="+mn-ea"/>
                          <a:cs typeface="Times New Roman"/>
                        </a:rPr>
                        <a:t>168 </a:t>
                      </a:r>
                      <a:r>
                        <a:rPr lang="zh-CN" sz="1200" b="1" kern="100">
                          <a:latin typeface="+mn-ea"/>
                          <a:ea typeface="+mn-ea"/>
                          <a:cs typeface="Times New Roman"/>
                        </a:rPr>
                        <a:t>项</a:t>
                      </a:r>
                      <a:endParaRPr lang="zh-CN" sz="1200" b="1" kern="10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128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项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120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项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128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项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16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  <a:cs typeface="Times New Roman"/>
                        </a:rPr>
                        <a:t>发射队列</a:t>
                      </a:r>
                      <a:endParaRPr lang="zh-CN" sz="1200" kern="100" dirty="0">
                        <a:solidFill>
                          <a:schemeClr val="accent2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54-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项 统一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60-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项 浮点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(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共享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)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40-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项 定点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,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访存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48-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项 标准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16-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项 </a:t>
                      </a:r>
                      <a:r>
                        <a:rPr lang="zh-CN" sz="1200" b="1" kern="100" dirty="0" smtClean="0">
                          <a:latin typeface="+mn-ea"/>
                          <a:ea typeface="+mn-ea"/>
                          <a:cs typeface="Times New Roman"/>
                        </a:rPr>
                        <a:t>浮点</a:t>
                      </a:r>
                      <a:r>
                        <a:rPr lang="en-US" altLang="zh-CN" sz="1200" b="1" kern="100" dirty="0" smtClean="0">
                          <a:latin typeface="+mn-ea"/>
                          <a:ea typeface="+mn-ea"/>
                          <a:cs typeface="Times New Roman"/>
                        </a:rPr>
                        <a:t>;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16-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项 </a:t>
                      </a:r>
                      <a:r>
                        <a:rPr lang="zh-CN" sz="1200" b="1" kern="100" dirty="0" smtClean="0">
                          <a:latin typeface="+mn-ea"/>
                          <a:ea typeface="+mn-ea"/>
                          <a:cs typeface="Times New Roman"/>
                        </a:rPr>
                        <a:t>定点</a:t>
                      </a:r>
                      <a:r>
                        <a:rPr lang="en-US" altLang="zh-CN" sz="1200" b="1" kern="100" dirty="0" smtClean="0">
                          <a:latin typeface="+mn-ea"/>
                          <a:ea typeface="+mn-ea"/>
                          <a:cs typeface="Times New Roman"/>
                        </a:rPr>
                        <a:t>;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32-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项 访</a:t>
                      </a:r>
                      <a:r>
                        <a:rPr lang="zh-CN" sz="1200" b="1" kern="100" dirty="0" smtClean="0">
                          <a:latin typeface="+mn-ea"/>
                          <a:ea typeface="+mn-ea"/>
                          <a:cs typeface="Times New Roman"/>
                        </a:rPr>
                        <a:t>存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27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  <a:cs typeface="Times New Roman"/>
                        </a:rPr>
                        <a:t>寄存器重命名</a:t>
                      </a:r>
                      <a:endParaRPr lang="zh-CN" sz="1200" kern="100" dirty="0">
                        <a:solidFill>
                          <a:schemeClr val="accent2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160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定点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;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144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浮点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latin typeface="+mn-ea"/>
                          <a:ea typeface="+mn-ea"/>
                          <a:cs typeface="Times New Roman"/>
                        </a:rPr>
                        <a:t>96 </a:t>
                      </a:r>
                      <a:r>
                        <a:rPr lang="zh-CN" sz="1200" b="1" kern="100">
                          <a:latin typeface="+mn-ea"/>
                          <a:ea typeface="+mn-ea"/>
                          <a:cs typeface="Times New Roman"/>
                        </a:rPr>
                        <a:t>定点</a:t>
                      </a:r>
                      <a:r>
                        <a:rPr lang="en-US" sz="1200" b="1" kern="100">
                          <a:latin typeface="+mn-ea"/>
                          <a:ea typeface="+mn-ea"/>
                          <a:cs typeface="Times New Roman"/>
                        </a:rPr>
                        <a:t>; </a:t>
                      </a:r>
                      <a:endParaRPr lang="zh-CN" sz="1200" b="1" kern="10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latin typeface="+mn-ea"/>
                          <a:ea typeface="+mn-ea"/>
                          <a:cs typeface="Times New Roman"/>
                        </a:rPr>
                        <a:t>160 </a:t>
                      </a:r>
                      <a:r>
                        <a:rPr lang="zh-CN" sz="1200" b="1" kern="100">
                          <a:latin typeface="+mn-ea"/>
                          <a:ea typeface="+mn-ea"/>
                          <a:cs typeface="Times New Roman"/>
                        </a:rPr>
                        <a:t>浮点</a:t>
                      </a:r>
                      <a:r>
                        <a:rPr lang="en-US" sz="1200" b="1" kern="100">
                          <a:latin typeface="+mn-ea"/>
                          <a:ea typeface="+mn-ea"/>
                          <a:cs typeface="Times New Roman"/>
                        </a:rPr>
                        <a:t>(</a:t>
                      </a:r>
                      <a:r>
                        <a:rPr lang="zh-CN" sz="1200" b="1" kern="100">
                          <a:latin typeface="+mn-ea"/>
                          <a:ea typeface="+mn-ea"/>
                          <a:cs typeface="Times New Roman"/>
                        </a:rPr>
                        <a:t>双核共享</a:t>
                      </a:r>
                      <a:r>
                        <a:rPr lang="en-US" sz="1200" b="1" kern="100">
                          <a:latin typeface="+mn-ea"/>
                          <a:ea typeface="+mn-ea"/>
                          <a:cs typeface="Times New Roman"/>
                        </a:rPr>
                        <a:t>)</a:t>
                      </a:r>
                      <a:endParaRPr lang="zh-CN" sz="1200" b="1" kern="10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80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定点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,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浮点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;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56 CR; 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40 XER,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24 </a:t>
                      </a:r>
                      <a:r>
                        <a:rPr lang="en-US" sz="1200" b="1" kern="100" dirty="0" err="1">
                          <a:latin typeface="+mn-ea"/>
                          <a:ea typeface="+mn-ea"/>
                          <a:cs typeface="Times New Roman"/>
                        </a:rPr>
                        <a:t>Link&amp;Count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128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定点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; 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128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浮点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/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向量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;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16 Acc; </a:t>
                      </a:r>
                      <a:endParaRPr lang="en-US" sz="1200" b="1" kern="100" dirty="0" smtClean="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 smtClean="0">
                          <a:latin typeface="+mn-ea"/>
                          <a:ea typeface="+mn-ea"/>
                          <a:cs typeface="Times New Roman"/>
                        </a:rPr>
                        <a:t>32 </a:t>
                      </a:r>
                      <a:r>
                        <a:rPr lang="en-US" sz="1200" b="1" kern="100" dirty="0" err="1">
                          <a:latin typeface="+mn-ea"/>
                          <a:ea typeface="+mn-ea"/>
                          <a:cs typeface="Times New Roman"/>
                        </a:rPr>
                        <a:t>DSPCtrl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; 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32 FCR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815">
                <a:tc gridSpan="5">
                  <a:txBody>
                    <a:bodyPr/>
                    <a:lstStyle/>
                    <a:p>
                      <a:pPr indent="281305" algn="l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  <a:cs typeface="Times New Roman"/>
                        </a:rPr>
                        <a:t>执行单元</a:t>
                      </a:r>
                      <a:endParaRPr lang="zh-CN" sz="1200" b="1" kern="100" dirty="0">
                        <a:solidFill>
                          <a:schemeClr val="accent2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85053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200" b="1" kern="100" dirty="0" smtClean="0">
                          <a:solidFill>
                            <a:schemeClr val="accent2"/>
                          </a:solidFill>
                          <a:latin typeface="+mn-ea"/>
                          <a:ea typeface="+mn-ea"/>
                          <a:cs typeface="Times New Roman"/>
                        </a:rPr>
                        <a:t>执行单元个数</a:t>
                      </a:r>
                      <a:endParaRPr lang="zh-CN" sz="1200" kern="100" dirty="0">
                        <a:solidFill>
                          <a:schemeClr val="accent2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 smtClean="0">
                          <a:latin typeface="+mn-ea"/>
                          <a:ea typeface="+mn-ea"/>
                          <a:cs typeface="Times New Roman"/>
                        </a:rPr>
                        <a:t>ALU/LEA/Shift/128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位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 MUL/128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位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 Shift/256</a:t>
                      </a:r>
                      <a:r>
                        <a:rPr lang="zh-CN" sz="1200" b="1" kern="100" dirty="0" smtClean="0">
                          <a:latin typeface="+mn-ea"/>
                          <a:ea typeface="+mn-ea"/>
                          <a:cs typeface="Times New Roman"/>
                        </a:rPr>
                        <a:t>位</a:t>
                      </a:r>
                      <a:r>
                        <a:rPr lang="en-US" sz="1200" b="1" kern="100" dirty="0" smtClean="0">
                          <a:latin typeface="+mn-ea"/>
                          <a:ea typeface="+mn-ea"/>
                          <a:cs typeface="Times New Roman"/>
                        </a:rPr>
                        <a:t>FMUL/256</a:t>
                      </a:r>
                      <a:r>
                        <a:rPr lang="zh-CN" sz="1200" b="1" kern="100" dirty="0" smtClean="0">
                          <a:latin typeface="+mn-ea"/>
                          <a:ea typeface="+mn-ea"/>
                          <a:cs typeface="Times New Roman"/>
                        </a:rPr>
                        <a:t>位</a:t>
                      </a:r>
                      <a:r>
                        <a:rPr lang="en-US" sz="1200" b="1" kern="100" dirty="0" smtClean="0">
                          <a:latin typeface="+mn-ea"/>
                          <a:ea typeface="+mn-ea"/>
                          <a:cs typeface="Times New Roman"/>
                        </a:rPr>
                        <a:t>Blend </a:t>
                      </a:r>
                      <a:r>
                        <a:rPr lang="en-US" sz="1200" b="1" kern="100" dirty="0" smtClean="0">
                          <a:solidFill>
                            <a:schemeClr val="accent2"/>
                          </a:solidFill>
                          <a:latin typeface="+mn-ea"/>
                          <a:ea typeface="+mn-ea"/>
                          <a:cs typeface="Times New Roman"/>
                        </a:rPr>
                        <a:t>+</a:t>
                      </a:r>
                      <a:r>
                        <a:rPr lang="en-US" sz="1200" b="1" kern="100" dirty="0" smtClean="0">
                          <a:latin typeface="+mn-ea"/>
                          <a:ea typeface="+mn-ea"/>
                          <a:cs typeface="Times New Roman"/>
                        </a:rPr>
                        <a:t> </a:t>
                      </a:r>
                      <a:endParaRPr lang="en-US" sz="1200" b="1" kern="100" dirty="0" smtClean="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 smtClean="0">
                          <a:latin typeface="+mn-ea"/>
                          <a:ea typeface="+mn-ea"/>
                          <a:cs typeface="Times New Roman"/>
                        </a:rPr>
                        <a:t>ALU/LEA/Shift/128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位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1" kern="100" dirty="0" smtClean="0">
                          <a:latin typeface="+mn-ea"/>
                          <a:ea typeface="+mn-ea"/>
                          <a:cs typeface="Times New Roman"/>
                        </a:rPr>
                        <a:t>ALU /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128bit Shuffle/256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位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 FADD </a:t>
                      </a:r>
                      <a:r>
                        <a:rPr lang="en-US" sz="1200" b="1" kern="100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  <a:cs typeface="Times New Roman"/>
                        </a:rPr>
                        <a:t>+</a:t>
                      </a:r>
                      <a:endParaRPr lang="zh-CN" sz="1200" b="1" kern="100" dirty="0">
                        <a:solidFill>
                          <a:schemeClr val="accent2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 smtClean="0">
                          <a:latin typeface="+mn-ea"/>
                          <a:ea typeface="+mn-ea"/>
                          <a:cs typeface="Times New Roman"/>
                        </a:rPr>
                        <a:t>ALU/Shift/Branch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/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128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位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 ALU/128bit Shuffle/256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位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 Shuffle/256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位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 Blend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 smtClean="0">
                          <a:latin typeface="+mn-ea"/>
                          <a:ea typeface="+mn-ea"/>
                          <a:cs typeface="Times New Roman"/>
                        </a:rPr>
                        <a:t>ALU/IMUL/Branch </a:t>
                      </a:r>
                      <a:r>
                        <a:rPr lang="en-US" sz="1200" b="1" kern="100" dirty="0" smtClean="0">
                          <a:solidFill>
                            <a:schemeClr val="accent2"/>
                          </a:solidFill>
                          <a:latin typeface="+mn-ea"/>
                          <a:ea typeface="+mn-ea"/>
                          <a:cs typeface="Times New Roman"/>
                        </a:rPr>
                        <a:t>+ </a:t>
                      </a:r>
                      <a:r>
                        <a:rPr lang="en-US" sz="1200" b="1" kern="100" dirty="0" smtClean="0">
                          <a:latin typeface="+mn-ea"/>
                          <a:ea typeface="+mn-ea"/>
                          <a:cs typeface="Times New Roman"/>
                        </a:rPr>
                        <a:t>ALU/IDIV/Count </a:t>
                      </a:r>
                      <a:r>
                        <a:rPr lang="en-US" sz="1200" b="1" kern="100" dirty="0" smtClean="0">
                          <a:solidFill>
                            <a:schemeClr val="accent2"/>
                          </a:solidFill>
                          <a:latin typeface="+mn-ea"/>
                          <a:ea typeface="+mn-ea"/>
                          <a:cs typeface="Times New Roman"/>
                        </a:rPr>
                        <a:t>+ </a:t>
                      </a:r>
                      <a:endParaRPr lang="en-US" sz="1200" b="1" kern="100" dirty="0" smtClean="0">
                        <a:solidFill>
                          <a:schemeClr val="accent2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 smtClean="0">
                          <a:latin typeface="+mn-ea"/>
                          <a:ea typeface="+mn-ea"/>
                          <a:cs typeface="Times New Roman"/>
                        </a:rPr>
                        <a:t>128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位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FMAC/128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位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 IMAC </a:t>
                      </a:r>
                      <a:r>
                        <a:rPr lang="en-US" sz="1200" b="1" kern="100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  <a:cs typeface="Times New Roman"/>
                        </a:rPr>
                        <a:t>+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1" kern="100" dirty="0" smtClean="0">
                          <a:latin typeface="+mn-ea"/>
                          <a:ea typeface="+mn-ea"/>
                          <a:cs typeface="Times New Roman"/>
                        </a:rPr>
                        <a:t>128</a:t>
                      </a:r>
                      <a:r>
                        <a:rPr lang="zh-CN" sz="1200" b="1" kern="100" dirty="0" smtClean="0">
                          <a:latin typeface="+mn-ea"/>
                          <a:ea typeface="+mn-ea"/>
                          <a:cs typeface="Times New Roman"/>
                        </a:rPr>
                        <a:t>位</a:t>
                      </a:r>
                      <a:r>
                        <a:rPr lang="en-US" sz="1200" b="1" kern="100" dirty="0" smtClean="0">
                          <a:latin typeface="+mn-ea"/>
                          <a:ea typeface="+mn-ea"/>
                          <a:cs typeface="Times New Roman"/>
                        </a:rPr>
                        <a:t>FMAC/128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位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 XBAR </a:t>
                      </a:r>
                      <a:r>
                        <a:rPr lang="en-US" sz="1200" b="1" kern="100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  <a:cs typeface="Times New Roman"/>
                        </a:rPr>
                        <a:t>+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 </a:t>
                      </a:r>
                      <a:endParaRPr lang="en-US" sz="1200" b="1" kern="100" dirty="0" smtClean="0"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 smtClean="0">
                          <a:latin typeface="+mn-ea"/>
                          <a:ea typeface="+mn-ea"/>
                          <a:cs typeface="Times New Roman"/>
                        </a:rPr>
                        <a:t>128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位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 MMX </a:t>
                      </a:r>
                      <a:r>
                        <a:rPr lang="en-US" sz="1200" b="1" kern="100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  <a:cs typeface="Times New Roman"/>
                        </a:rPr>
                        <a:t>+ </a:t>
                      </a:r>
                      <a:endParaRPr lang="en-US" sz="1200" b="1" kern="100" dirty="0" smtClean="0">
                        <a:solidFill>
                          <a:schemeClr val="accent2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 smtClean="0">
                          <a:latin typeface="+mn-ea"/>
                          <a:ea typeface="+mn-ea"/>
                          <a:cs typeface="Times New Roman"/>
                        </a:rPr>
                        <a:t>128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位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 MMX/128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位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 FSTO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2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定点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1" kern="100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  <a:cs typeface="Times New Roman"/>
                        </a:rPr>
                        <a:t>+</a:t>
                      </a:r>
                      <a:endParaRPr lang="zh-CN" sz="1200" b="1" kern="100" dirty="0">
                        <a:solidFill>
                          <a:schemeClr val="accent2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2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浮点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/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向量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1" kern="100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  <a:cs typeface="Times New Roman"/>
                        </a:rPr>
                        <a:t>+</a:t>
                      </a:r>
                      <a:endParaRPr lang="zh-CN" sz="1200" b="1" kern="100" dirty="0">
                        <a:solidFill>
                          <a:schemeClr val="accent2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1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转移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sz="1200" b="1" kern="100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  <a:cs typeface="Times New Roman"/>
                        </a:rPr>
                        <a:t>+</a:t>
                      </a:r>
                      <a:endParaRPr lang="zh-CN" sz="1200" b="1" kern="100" dirty="0">
                        <a:solidFill>
                          <a:schemeClr val="accent2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1 CR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2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定点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/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转移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/DSP </a:t>
                      </a:r>
                      <a:r>
                        <a:rPr lang="en-US" sz="1200" b="1" kern="100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  <a:cs typeface="Times New Roman"/>
                        </a:rPr>
                        <a:t>+</a:t>
                      </a:r>
                      <a:endParaRPr lang="zh-CN" sz="1200" b="1" kern="100" dirty="0">
                        <a:solidFill>
                          <a:schemeClr val="accent2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2 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浮点</a:t>
                      </a: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/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向量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01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  <a:cs typeface="Times New Roman"/>
                        </a:rPr>
                        <a:t>向量</a:t>
                      </a:r>
                      <a:r>
                        <a:rPr lang="zh-CN" sz="1200" b="1" kern="100" dirty="0" smtClean="0">
                          <a:solidFill>
                            <a:schemeClr val="accent2"/>
                          </a:solidFill>
                          <a:latin typeface="+mn-ea"/>
                          <a:ea typeface="+mn-ea"/>
                          <a:cs typeface="Times New Roman"/>
                        </a:rPr>
                        <a:t>部件宽度</a:t>
                      </a:r>
                      <a:endParaRPr lang="zh-CN" sz="1200" kern="100" dirty="0">
                        <a:solidFill>
                          <a:schemeClr val="accent2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latin typeface="+mn-ea"/>
                          <a:ea typeface="+mn-ea"/>
                          <a:cs typeface="Times New Roman"/>
                        </a:rPr>
                        <a:t>256</a:t>
                      </a:r>
                      <a:r>
                        <a:rPr lang="zh-CN" sz="1200" b="1" kern="100">
                          <a:latin typeface="+mn-ea"/>
                          <a:ea typeface="+mn-ea"/>
                          <a:cs typeface="Times New Roman"/>
                        </a:rPr>
                        <a:t>位</a:t>
                      </a:r>
                      <a:endParaRPr lang="zh-CN" sz="1200" b="1" kern="10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latin typeface="+mn-ea"/>
                          <a:ea typeface="+mn-ea"/>
                          <a:cs typeface="Times New Roman"/>
                        </a:rPr>
                        <a:t>128</a:t>
                      </a:r>
                      <a:r>
                        <a:rPr lang="zh-CN" sz="1200" b="1" kern="100">
                          <a:latin typeface="+mn-ea"/>
                          <a:ea typeface="+mn-ea"/>
                          <a:cs typeface="Times New Roman"/>
                        </a:rPr>
                        <a:t>位</a:t>
                      </a:r>
                      <a:endParaRPr lang="zh-CN" sz="1200" b="1" kern="10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latin typeface="+mn-ea"/>
                          <a:ea typeface="+mn-ea"/>
                          <a:cs typeface="Times New Roman"/>
                        </a:rPr>
                        <a:t>128</a:t>
                      </a:r>
                      <a:r>
                        <a:rPr lang="zh-CN" sz="1200" b="1" kern="100">
                          <a:latin typeface="+mn-ea"/>
                          <a:ea typeface="+mn-ea"/>
                          <a:cs typeface="Times New Roman"/>
                        </a:rPr>
                        <a:t>位</a:t>
                      </a:r>
                      <a:endParaRPr lang="zh-CN" sz="1200" b="1" kern="10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+mn-ea"/>
                          <a:ea typeface="+mn-ea"/>
                          <a:cs typeface="Times New Roman"/>
                        </a:rPr>
                        <a:t>256</a:t>
                      </a:r>
                      <a:r>
                        <a:rPr lang="zh-CN" sz="1200" b="1" kern="100" dirty="0">
                          <a:latin typeface="+mn-ea"/>
                          <a:ea typeface="+mn-ea"/>
                          <a:cs typeface="Times New Roman"/>
                        </a:rPr>
                        <a:t>位</a:t>
                      </a:r>
                      <a:endParaRPr lang="zh-CN" sz="1200" b="1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42410" marR="4241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0745" name="椭圆 4"/>
          <p:cNvSpPr/>
          <p:nvPr/>
        </p:nvSpPr>
        <p:spPr>
          <a:xfrm>
            <a:off x="1398588" y="1941513"/>
            <a:ext cx="10791825" cy="1389062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dirty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/>
          <p:cNvGraphicFramePr/>
          <p:nvPr/>
        </p:nvGraphicFramePr>
        <p:xfrm>
          <a:off x="920207" y="1455421"/>
          <a:ext cx="10365237" cy="49422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3731" name="Rectangle 2"/>
          <p:cNvSpPr>
            <a:spLocks noChangeArrowheads="1"/>
          </p:cNvSpPr>
          <p:nvPr/>
        </p:nvSpPr>
        <p:spPr bwMode="auto">
          <a:xfrm>
            <a:off x="528638" y="114300"/>
            <a:ext cx="11345862" cy="685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/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龙芯</a:t>
            </a:r>
            <a:r>
              <a:rPr lang="en-US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3A6000</a:t>
            </a:r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运行</a:t>
            </a:r>
            <a:r>
              <a:rPr lang="en-US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SPEC CPU2006</a:t>
            </a:r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的</a:t>
            </a:r>
            <a:r>
              <a:rPr lang="en-US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IPC</a:t>
            </a:r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分解</a:t>
            </a:r>
            <a:endParaRPr lang="zh-CN" altLang="en-US" sz="32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6115" y="0"/>
            <a:ext cx="10623885" cy="1143000"/>
          </a:xfrm>
        </p:spPr>
        <p:txBody>
          <a:bodyPr/>
          <a:lstStyle/>
          <a:p>
            <a:r>
              <a:rPr lang="zh-CN" altLang="en-US" dirty="0" smtClean="0">
                <a:latin typeface="Arial" panose="02080604020202020204" pitchFamily="34" charset="0"/>
                <a:ea typeface="黑体" panose="02000500000000000000" pitchFamily="49" charset="-122"/>
              </a:rPr>
              <a:t>龙芯</a:t>
            </a:r>
            <a:r>
              <a:rPr lang="en-US" altLang="zh-CN" dirty="0" smtClean="0">
                <a:latin typeface="Arial" panose="02080604020202020204" pitchFamily="34" charset="0"/>
                <a:ea typeface="黑体" panose="02000500000000000000" pitchFamily="49" charset="-122"/>
              </a:rPr>
              <a:t>3A6000</a:t>
            </a:r>
            <a:r>
              <a:rPr lang="zh-CN" altLang="en-US" dirty="0" smtClean="0">
                <a:latin typeface="Arial" panose="02080604020202020204" pitchFamily="34" charset="0"/>
                <a:ea typeface="黑体" panose="02000500000000000000" pitchFamily="49" charset="-122"/>
              </a:rPr>
              <a:t>运行</a:t>
            </a:r>
            <a:r>
              <a:rPr lang="en-US" altLang="zh-CN" dirty="0" smtClean="0">
                <a:latin typeface="Arial" panose="02080604020202020204" pitchFamily="34" charset="0"/>
                <a:ea typeface="黑体" panose="02000500000000000000" pitchFamily="49" charset="-122"/>
              </a:rPr>
              <a:t>SPEC CPU2006</a:t>
            </a:r>
            <a:r>
              <a:rPr lang="zh-CN" altLang="en-US" dirty="0" smtClean="0">
                <a:latin typeface="Arial" panose="02080604020202020204" pitchFamily="34" charset="0"/>
                <a:ea typeface="黑体" panose="02000500000000000000" pitchFamily="49" charset="-122"/>
              </a:rPr>
              <a:t>的转移猜测错误率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图表 3"/>
          <p:cNvGraphicFramePr/>
          <p:nvPr/>
        </p:nvGraphicFramePr>
        <p:xfrm>
          <a:off x="914401" y="1588168"/>
          <a:ext cx="10202778" cy="46441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2"/>
          <p:cNvSpPr>
            <a:spLocks noGrp="1"/>
          </p:cNvSpPr>
          <p:nvPr>
            <p:ph type="title"/>
          </p:nvPr>
        </p:nvSpPr>
        <p:spPr>
          <a:xfrm>
            <a:off x="1011502" y="179"/>
            <a:ext cx="10360755" cy="862920"/>
          </a:xfrm>
        </p:spPr>
        <p:txBody>
          <a:bodyPr vert="horz" wrap="square" lIns="91435" tIns="45717" rIns="91435" bIns="45717" anchor="ctr" anchorCtr="0"/>
          <a:p>
            <a:pPr eaLnBrk="1" hangingPunct="1"/>
            <a:r>
              <a:rPr lang="zh-CN" altLang="en-US" dirty="0"/>
              <a:t>转移预测小结</a:t>
            </a:r>
            <a:endParaRPr lang="zh-CN" altLang="en-US" dirty="0"/>
          </a:p>
        </p:txBody>
      </p:sp>
      <p:sp>
        <p:nvSpPr>
          <p:cNvPr id="10243" name="Rectangle 3"/>
          <p:cNvSpPr>
            <a:spLocks noGrp="1"/>
          </p:cNvSpPr>
          <p:nvPr>
            <p:ph idx="1"/>
          </p:nvPr>
        </p:nvSpPr>
        <p:spPr>
          <a:xfrm>
            <a:off x="914400" y="1031875"/>
            <a:ext cx="10361295" cy="5622290"/>
          </a:xfrm>
        </p:spPr>
        <p:txBody>
          <a:bodyPr vert="horz" wrap="square" lIns="91435" tIns="45717" rIns="91435" bIns="45717" anchor="t" anchorCtr="0"/>
          <a:p>
            <a:pPr eaLnBrk="1" latinLnBrk="0" hangingPunct="1">
              <a:lnSpc>
                <a:spcPct val="150000"/>
              </a:lnSpc>
            </a:pPr>
            <a:r>
              <a:rPr lang="zh-CN" altLang="en-US" sz="18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转移指令：</a:t>
            </a:r>
            <a:r>
              <a:rPr lang="zh-CN" altLang="en-US" sz="14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条件</a:t>
            </a:r>
            <a:r>
              <a:rPr lang="en-US" altLang="zh-CN" sz="14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/</a:t>
            </a:r>
            <a:r>
              <a:rPr lang="zh-CN" altLang="en-US" sz="14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无条件、直接</a:t>
            </a:r>
            <a:r>
              <a:rPr lang="en-US" altLang="zh-CN" sz="14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/</a:t>
            </a:r>
            <a:r>
              <a:rPr lang="zh-CN" altLang="en-US" sz="14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间接、绝对</a:t>
            </a:r>
            <a:r>
              <a:rPr lang="en-US" altLang="zh-CN" sz="14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/</a:t>
            </a:r>
            <a:r>
              <a:rPr lang="zh-CN" altLang="en-US" sz="14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相对</a:t>
            </a:r>
            <a:endParaRPr lang="zh-CN" altLang="en-US" sz="1400" dirty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eaLnBrk="1" latinLnBrk="0" hangingPunct="1">
              <a:lnSpc>
                <a:spcPct val="150000"/>
              </a:lnSpc>
            </a:pPr>
            <a:r>
              <a:rPr lang="zh-CN" altLang="en-US" sz="18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程序的转移行为：</a:t>
            </a:r>
            <a:r>
              <a:rPr lang="zh-CN" altLang="en-US" sz="14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很频繁（</a:t>
            </a:r>
            <a:r>
              <a:rPr lang="en-US" altLang="zh-CN" sz="14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10%-20%</a:t>
            </a:r>
            <a:r>
              <a:rPr lang="zh-CN" altLang="en-US" sz="14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）、局部性、可预测性（重复性、相关性）</a:t>
            </a:r>
            <a:endParaRPr lang="zh-CN" altLang="en-US" sz="1400" dirty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eaLnBrk="1" latinLnBrk="0" hangingPunct="1">
              <a:lnSpc>
                <a:spcPct val="150000"/>
              </a:lnSpc>
            </a:pPr>
            <a:r>
              <a:rPr lang="zh-CN" altLang="en-US" sz="18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软件方法解决控制相关：</a:t>
            </a:r>
            <a:r>
              <a:rPr lang="zh-CN" altLang="en-US" sz="14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循环展开、软流水</a:t>
            </a:r>
            <a:endParaRPr lang="zh-CN" altLang="en-US" sz="1400" dirty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eaLnBrk="1" latinLnBrk="0" hangingPunct="1">
              <a:lnSpc>
                <a:spcPct val="150000"/>
              </a:lnSpc>
            </a:pPr>
            <a:r>
              <a:rPr lang="zh-CN" altLang="en-US" sz="1800" dirty="0" smtClean="0">
                <a:latin typeface="+mn-ea"/>
                <a:sym typeface="+mn-ea"/>
              </a:rPr>
              <a:t>通过转移猜测减少转移指令引起的指令流水线堵塞</a:t>
            </a:r>
            <a:endParaRPr lang="en-US" altLang="zh-CN" sz="1800" dirty="0" smtClean="0">
              <a:latin typeface="+mn-ea"/>
            </a:endParaRPr>
          </a:p>
          <a:p>
            <a:pPr lvl="1" latinLnBrk="0"/>
            <a:r>
              <a:rPr lang="zh-CN" altLang="en-US" sz="14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  <a:sym typeface="+mn-ea"/>
              </a:rPr>
              <a:t>译码时猜测（根据</a:t>
            </a:r>
            <a:r>
              <a:rPr lang="en-US" altLang="zh-CN" sz="14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  <a:sym typeface="+mn-ea"/>
              </a:rPr>
              <a:t>PC</a:t>
            </a:r>
            <a:r>
              <a:rPr lang="zh-CN" altLang="en-US" sz="14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  <a:sym typeface="+mn-ea"/>
              </a:rPr>
              <a:t>值和指令）、取指时猜测（根据</a:t>
            </a:r>
            <a:r>
              <a:rPr lang="en-US" altLang="zh-CN" sz="14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  <a:sym typeface="+mn-ea"/>
              </a:rPr>
              <a:t>PC</a:t>
            </a:r>
            <a:r>
              <a:rPr lang="zh-CN" altLang="en-US" sz="14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  <a:sym typeface="+mn-ea"/>
              </a:rPr>
              <a:t>值）</a:t>
            </a:r>
            <a:endParaRPr lang="en-US" altLang="zh-CN" sz="1400" dirty="0" smtClean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lvl="1" latinLnBrk="0"/>
            <a:r>
              <a:rPr lang="zh-CN" altLang="en-US" sz="14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  <a:sym typeface="+mn-ea"/>
              </a:rPr>
              <a:t>猜方向（好猜一些）、猜目标地址（难猜一些）</a:t>
            </a:r>
            <a:endParaRPr lang="en-US" altLang="zh-CN" sz="1400" dirty="0" smtClean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lvl="1" latinLnBrk="0"/>
            <a:r>
              <a:rPr lang="zh-CN" altLang="en-US" sz="1400" dirty="0" smtClean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  <a:sym typeface="+mn-ea"/>
              </a:rPr>
              <a:t>猜错后可以恢复到正确方向（利用寄存器重命名）</a:t>
            </a:r>
            <a:endParaRPr lang="en-US" altLang="zh-CN" sz="1400" dirty="0" smtClean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eaLnBrk="1" latinLnBrk="0" hangingPunct="1">
              <a:lnSpc>
                <a:spcPct val="150000"/>
              </a:lnSpc>
            </a:pPr>
            <a:r>
              <a:rPr lang="zh-CN" altLang="en-US" sz="18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转移猜测算法</a:t>
            </a:r>
            <a:endParaRPr lang="zh-CN" altLang="en-US" sz="1800" dirty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lvl="1" eaLnBrk="1" latinLnBrk="0" hangingPunct="1">
              <a:lnSpc>
                <a:spcPct val="150000"/>
              </a:lnSpc>
            </a:pPr>
            <a:r>
              <a:rPr lang="zh-CN" altLang="en-US" sz="14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转移的重复性和偏向性：</a:t>
            </a:r>
            <a:r>
              <a:rPr lang="en-US" altLang="zh-CN" sz="14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BHT</a:t>
            </a:r>
            <a:r>
              <a:rPr lang="zh-CN" altLang="en-US" sz="14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、</a:t>
            </a:r>
            <a:r>
              <a:rPr lang="en-US" altLang="zh-CN" sz="14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BTB</a:t>
            </a:r>
            <a:endParaRPr lang="en-US" altLang="zh-CN" sz="1400" dirty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lvl="1" eaLnBrk="1" latinLnBrk="0" hangingPunct="1">
              <a:lnSpc>
                <a:spcPct val="150000"/>
              </a:lnSpc>
            </a:pPr>
            <a:r>
              <a:rPr lang="zh-CN" altLang="en-US" sz="14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转移指令的相关性问题：两层转移预测</a:t>
            </a:r>
            <a:r>
              <a:rPr lang="zh-CN" altLang="en-US" sz="14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  <a:sym typeface="+mn-ea"/>
              </a:rPr>
              <a:t>（</a:t>
            </a:r>
            <a:r>
              <a:rPr lang="zh-CN" altLang="en-US" sz="1400" dirty="0">
                <a:solidFill>
                  <a:srgbClr val="FF0000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  <a:sym typeface="+mn-ea"/>
              </a:rPr>
              <a:t>同一指令不同执行使用不同表项</a:t>
            </a:r>
            <a:r>
              <a:rPr lang="zh-CN" altLang="en-US" sz="14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  <a:sym typeface="+mn-ea"/>
              </a:rPr>
              <a:t>）</a:t>
            </a:r>
            <a:r>
              <a:rPr lang="zh-CN" altLang="en-US" sz="14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，</a:t>
            </a:r>
            <a:r>
              <a:rPr lang="en-US" altLang="zh-CN" sz="14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Yeh</a:t>
            </a:r>
            <a:r>
              <a:rPr lang="zh-CN" altLang="en-US" sz="14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和</a:t>
            </a:r>
            <a:r>
              <a:rPr lang="en-US" altLang="zh-CN" sz="14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Patt</a:t>
            </a:r>
            <a:r>
              <a:rPr lang="zh-CN" altLang="en-US" sz="14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分类</a:t>
            </a:r>
            <a:endParaRPr lang="zh-CN" altLang="en-US" sz="1400" dirty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lvl="1" eaLnBrk="1" latinLnBrk="0" hangingPunct="1">
              <a:lnSpc>
                <a:spcPct val="150000"/>
              </a:lnSpc>
            </a:pPr>
            <a:r>
              <a:rPr lang="zh-CN" altLang="en-US" sz="14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分支别名干扰问题：</a:t>
            </a:r>
            <a:r>
              <a:rPr lang="en-US" altLang="zh-CN" sz="14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Gshare</a:t>
            </a:r>
            <a:r>
              <a:rPr lang="zh-CN" altLang="en-US" sz="14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等</a:t>
            </a:r>
            <a:r>
              <a:rPr lang="zh-CN" altLang="en-US" sz="14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  <a:sym typeface="+mn-ea"/>
              </a:rPr>
              <a:t>（</a:t>
            </a:r>
            <a:r>
              <a:rPr lang="zh-CN" altLang="en-US" sz="1400" dirty="0">
                <a:solidFill>
                  <a:srgbClr val="FF0000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  <a:sym typeface="+mn-ea"/>
              </a:rPr>
              <a:t>不同指令相同</a:t>
            </a:r>
            <a:r>
              <a:rPr lang="en-US" altLang="zh-CN" sz="1400" dirty="0">
                <a:solidFill>
                  <a:srgbClr val="FF0000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  <a:sym typeface="+mn-ea"/>
              </a:rPr>
              <a:t>PC</a:t>
            </a:r>
            <a:r>
              <a:rPr lang="zh-CN" altLang="en-US" sz="1400" dirty="0">
                <a:solidFill>
                  <a:srgbClr val="FF0000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  <a:sym typeface="+mn-ea"/>
              </a:rPr>
              <a:t>地位错开到不同表项</a:t>
            </a:r>
            <a:r>
              <a:rPr lang="zh-CN" altLang="en-US" sz="14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  <a:sym typeface="+mn-ea"/>
              </a:rPr>
              <a:t>）</a:t>
            </a:r>
            <a:endParaRPr lang="zh-CN" altLang="en-US" sz="1400" dirty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lvl="1" eaLnBrk="1" latinLnBrk="0" hangingPunct="1">
              <a:lnSpc>
                <a:spcPct val="150000"/>
              </a:lnSpc>
            </a:pPr>
            <a:r>
              <a:rPr lang="zh-CN" altLang="en-US" sz="14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混合预测器：不同的分支预测只能对某类的分支行为有效，</a:t>
            </a:r>
            <a:r>
              <a:rPr lang="en-US" altLang="zh-CN" sz="1400" dirty="0">
                <a:solidFill>
                  <a:srgbClr val="FF0000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Tage</a:t>
            </a:r>
            <a:r>
              <a:rPr lang="zh-CN" altLang="en-US" sz="1400" dirty="0">
                <a:solidFill>
                  <a:srgbClr val="FF0000"/>
                </a:solidFill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分支预测器</a:t>
            </a:r>
            <a:endParaRPr lang="zh-CN" altLang="en-US" sz="1400" dirty="0">
              <a:solidFill>
                <a:srgbClr val="FF0000"/>
              </a:solidFill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eaLnBrk="1" latinLnBrk="0" hangingPunct="1">
              <a:lnSpc>
                <a:spcPct val="150000"/>
              </a:lnSpc>
            </a:pPr>
            <a:r>
              <a:rPr lang="zh-CN" altLang="en-US" sz="18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常见处理器的转移猜测</a:t>
            </a:r>
            <a:endParaRPr lang="zh-CN" altLang="en-US" sz="1800" dirty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lvl="1" eaLnBrk="1" latinLnBrk="0" hangingPunct="1">
              <a:lnSpc>
                <a:spcPct val="150000"/>
              </a:lnSpc>
            </a:pPr>
            <a:r>
              <a:rPr lang="en-US" altLang="zh-CN" sz="14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ALPHA</a:t>
            </a:r>
            <a:r>
              <a:rPr lang="zh-CN" altLang="en-US" sz="1400" dirty="0">
                <a:latin typeface="宋体" panose="02000500000000000000" pitchFamily="2" charset="-122"/>
                <a:ea typeface="宋体" panose="02000500000000000000" pitchFamily="2" charset="-122"/>
                <a:cs typeface="宋体" panose="02000500000000000000" pitchFamily="2" charset="-122"/>
              </a:rPr>
              <a:t>处理器的转移猜测原理</a:t>
            </a:r>
            <a:endParaRPr lang="zh-CN" altLang="en-US" sz="1400" dirty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lvl="1" eaLnBrk="1" latinLnBrk="0" hangingPunct="1">
              <a:lnSpc>
                <a:spcPct val="150000"/>
              </a:lnSpc>
            </a:pPr>
            <a:r>
              <a:rPr lang="zh-CN" altLang="en-US" sz="1400" dirty="0" smtClean="0">
                <a:latin typeface="+mn-ea"/>
                <a:sym typeface="+mn-ea"/>
              </a:rPr>
              <a:t>现代处理器转移猜测器很复杂，准确度较高（</a:t>
            </a:r>
            <a:r>
              <a:rPr lang="en-US" altLang="zh-CN" sz="1400" dirty="0" smtClean="0">
                <a:latin typeface="+mn-ea"/>
                <a:sym typeface="+mn-ea"/>
              </a:rPr>
              <a:t>&gt;95%</a:t>
            </a:r>
            <a:r>
              <a:rPr lang="zh-CN" altLang="en-US" sz="1400" dirty="0" smtClean="0">
                <a:latin typeface="+mn-ea"/>
                <a:sym typeface="+mn-ea"/>
              </a:rPr>
              <a:t>），保留历史的</a:t>
            </a:r>
            <a:r>
              <a:rPr lang="en-US" altLang="zh-CN" sz="1400" dirty="0" smtClean="0">
                <a:latin typeface="+mn-ea"/>
                <a:sym typeface="+mn-ea"/>
              </a:rPr>
              <a:t>RAM</a:t>
            </a:r>
            <a:r>
              <a:rPr lang="zh-CN" altLang="en-US" sz="1400" dirty="0" smtClean="0">
                <a:latin typeface="+mn-ea"/>
                <a:sym typeface="+mn-ea"/>
              </a:rPr>
              <a:t>容量已</a:t>
            </a:r>
            <a:r>
              <a:rPr lang="en-US" altLang="zh-CN" sz="1400" dirty="0" smtClean="0">
                <a:latin typeface="+mn-ea"/>
                <a:sym typeface="+mn-ea"/>
              </a:rPr>
              <a:t>LI</a:t>
            </a:r>
            <a:r>
              <a:rPr lang="zh-CN" altLang="en-US" sz="1400" dirty="0" smtClean="0">
                <a:latin typeface="+mn-ea"/>
                <a:sym typeface="+mn-ea"/>
              </a:rPr>
              <a:t>指令</a:t>
            </a:r>
            <a:r>
              <a:rPr lang="en-US" altLang="zh-CN" sz="1400" dirty="0" smtClean="0">
                <a:latin typeface="+mn-ea"/>
                <a:sym typeface="+mn-ea"/>
              </a:rPr>
              <a:t>Cache</a:t>
            </a:r>
            <a:r>
              <a:rPr lang="zh-CN" altLang="en-US" sz="1400" dirty="0" smtClean="0">
                <a:latin typeface="+mn-ea"/>
                <a:sym typeface="+mn-ea"/>
              </a:rPr>
              <a:t>可比</a:t>
            </a:r>
            <a:endParaRPr lang="zh-CN" altLang="en-US" sz="1400" dirty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  <a:p>
            <a:pPr lvl="1" eaLnBrk="1" latinLnBrk="0" hangingPunct="1">
              <a:lnSpc>
                <a:spcPct val="150000"/>
              </a:lnSpc>
            </a:pPr>
            <a:endParaRPr lang="zh-CN" altLang="en-US" sz="1400" dirty="0">
              <a:latin typeface="宋体" panose="02000500000000000000" pitchFamily="2" charset="-122"/>
              <a:ea typeface="宋体" panose="02000500000000000000" pitchFamily="2" charset="-122"/>
              <a:cs typeface="宋体" panose="02000500000000000000" pitchFamily="2" charset="-122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3C2D9CD-69DB-45BA-9848-8A2D7D5E15B0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smtClean="0"/>
              <a:t>作  业</a:t>
            </a:r>
            <a:endParaRPr lang="zh-CN" altLang="en-US" sz="3600" smtClean="0"/>
          </a:p>
        </p:txBody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anose="02000500000000000000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anose="02000500000000000000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默认设计模板 1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  <a:fontScheme name="默认设计模板">
    <a:majorFont>
      <a:latin typeface="Arial"/>
      <a:ea typeface="黑体"/>
      <a:cs typeface=""/>
    </a:majorFont>
    <a:minorFont>
      <a:latin typeface="Times New Roman"/>
      <a:ea typeface="宋体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默认设计模板 1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  <a:fontScheme name="默认设计模板">
    <a:majorFont>
      <a:latin typeface="Arial"/>
      <a:ea typeface="黑体"/>
      <a:cs typeface=""/>
    </a:majorFont>
    <a:minorFont>
      <a:latin typeface="Times New Roman"/>
      <a:ea typeface="宋体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11817</Words>
  <Application>WPS 演示</Application>
  <PresentationFormat>自定义</PresentationFormat>
  <Paragraphs>1408</Paragraphs>
  <Slides>74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14</vt:i4>
      </vt:variant>
      <vt:variant>
        <vt:lpstr>幻灯片标题</vt:lpstr>
      </vt:variant>
      <vt:variant>
        <vt:i4>74</vt:i4>
      </vt:variant>
    </vt:vector>
  </HeadingPairs>
  <TitlesOfParts>
    <vt:vector size="106" baseType="lpstr">
      <vt:lpstr>Arial</vt:lpstr>
      <vt:lpstr>宋体</vt:lpstr>
      <vt:lpstr>Wingdings</vt:lpstr>
      <vt:lpstr>Times New Roman</vt:lpstr>
      <vt:lpstr>Nimbus Roman No9 L</vt:lpstr>
      <vt:lpstr>黑体</vt:lpstr>
      <vt:lpstr>微软雅黑</vt:lpstr>
      <vt:lpstr>Arial Unicode MS</vt:lpstr>
      <vt:lpstr>MT Extra</vt:lpstr>
      <vt:lpstr>Tahoma</vt:lpstr>
      <vt:lpstr>Calibri</vt:lpstr>
      <vt:lpstr>DejaVu Sans</vt:lpstr>
      <vt:lpstr>Marlett</vt:lpstr>
      <vt:lpstr>Times New Roman</vt:lpstr>
      <vt:lpstr>Kingsoft Extra</vt:lpstr>
      <vt:lpstr>Quicksand Light</vt:lpstr>
      <vt:lpstr>MathJax_Vector</vt:lpstr>
      <vt:lpstr>默认设计模板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PBrush</vt:lpstr>
      <vt:lpstr>PBrush</vt:lpstr>
      <vt:lpstr>PowerPoint 演示文稿</vt:lpstr>
      <vt:lpstr>提高流水线效率的技术</vt:lpstr>
      <vt:lpstr>PowerPoint 演示文稿</vt:lpstr>
      <vt:lpstr>PowerPoint 演示文稿</vt:lpstr>
      <vt:lpstr>转移预测</vt:lpstr>
      <vt:lpstr>转移指令</vt:lpstr>
      <vt:lpstr>控制相关</vt:lpstr>
      <vt:lpstr>延迟槽指令的例子</vt:lpstr>
      <vt:lpstr>PowerPoint 演示文稿</vt:lpstr>
      <vt:lpstr>一个例子</vt:lpstr>
      <vt:lpstr>PowerPoint 演示文稿</vt:lpstr>
      <vt:lpstr>例：MIPS指令系统的转移指令 </vt:lpstr>
      <vt:lpstr>程序的转移行为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转移指令的执行频率分布</vt:lpstr>
      <vt:lpstr>转移成功率分布</vt:lpstr>
      <vt:lpstr>PowerPoint 演示文稿</vt:lpstr>
      <vt:lpstr>利用单个转移指令重复性</vt:lpstr>
      <vt:lpstr>PowerPoint 演示文稿</vt:lpstr>
      <vt:lpstr>分支指令行为小结</vt:lpstr>
      <vt:lpstr>软件方法解决控制相关</vt:lpstr>
      <vt:lpstr>PowerPoint 演示文稿</vt:lpstr>
      <vt:lpstr>软件循环展开消除控制相关</vt:lpstr>
      <vt:lpstr>循环的数据相关</vt:lpstr>
      <vt:lpstr>PowerPoint 演示文稿</vt:lpstr>
      <vt:lpstr>把控制相关转换成数据相关</vt:lpstr>
      <vt:lpstr>条件指令举例</vt:lpstr>
      <vt:lpstr>硬件转移预测</vt:lpstr>
      <vt:lpstr>PowerPoint 演示文稿</vt:lpstr>
      <vt:lpstr>PowerPoint 演示文稿</vt:lpstr>
      <vt:lpstr>分支处理机制的性能取决于</vt:lpstr>
      <vt:lpstr>转移预测关键技术</vt:lpstr>
      <vt:lpstr>转移指令</vt:lpstr>
      <vt:lpstr>静态/动态转移预测</vt:lpstr>
      <vt:lpstr>PowerPoint 演示文稿</vt:lpstr>
      <vt:lpstr>PowerPoint 演示文稿</vt:lpstr>
      <vt:lpstr>两位BHT表（课本有错）</vt:lpstr>
      <vt:lpstr>一位BHT vs. 两位BHT表</vt:lpstr>
      <vt:lpstr>PowerPoint 演示文稿</vt:lpstr>
      <vt:lpstr>返回地址栈</vt:lpstr>
      <vt:lpstr>转移指令的相关性</vt:lpstr>
      <vt:lpstr>记录全局转移历史</vt:lpstr>
      <vt:lpstr>PowerPoint 演示文稿</vt:lpstr>
      <vt:lpstr>PowerPoint 演示文稿</vt:lpstr>
      <vt:lpstr>GAg结构</vt:lpstr>
      <vt:lpstr>GAs结构</vt:lpstr>
      <vt:lpstr>SAg(k)的结构</vt:lpstr>
      <vt:lpstr>PAp(4)结构</vt:lpstr>
      <vt:lpstr>分支别名干扰问题</vt:lpstr>
      <vt:lpstr>分支别名干扰的消除</vt:lpstr>
      <vt:lpstr>Agree分支预测</vt:lpstr>
      <vt:lpstr>Agree分支预测</vt:lpstr>
      <vt:lpstr>Bi-Mode预测器 </vt:lpstr>
      <vt:lpstr>组合分支预测器 </vt:lpstr>
      <vt:lpstr>PowerPoint 演示文稿</vt:lpstr>
      <vt:lpstr>PowerPoint 演示文稿</vt:lpstr>
      <vt:lpstr>动态转移猜测小结</vt:lpstr>
      <vt:lpstr>典型处理器的转移预测</vt:lpstr>
      <vt:lpstr>一些典型商品处理器的分支预测机制</vt:lpstr>
      <vt:lpstr>PowerPoint 演示文稿</vt:lpstr>
      <vt:lpstr>PowerPoint 演示文稿</vt:lpstr>
      <vt:lpstr>Pentium IV的转移预测器</vt:lpstr>
      <vt:lpstr>Power4转移预测器</vt:lpstr>
      <vt:lpstr>MIPS R10000的转移预测器</vt:lpstr>
      <vt:lpstr>龙芯2号分支预测器</vt:lpstr>
      <vt:lpstr>典型处理器的分支预测</vt:lpstr>
      <vt:lpstr>PowerPoint 演示文稿</vt:lpstr>
      <vt:lpstr>龙芯3A6000运行SPEC CPU2006的转移猜测错误率</vt:lpstr>
      <vt:lpstr>转移预测小结</vt:lpstr>
      <vt:lpstr>作  业</vt:lpstr>
    </vt:vector>
  </TitlesOfParts>
  <Company>chpc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RISC处理器设计</dc:title>
  <dc:creator>Weiwu Hu</dc:creator>
  <cp:lastModifiedBy>loongson</cp:lastModifiedBy>
  <cp:revision>825</cp:revision>
  <dcterms:created xsi:type="dcterms:W3CDTF">2025-10-03T03:34:37Z</dcterms:created>
  <dcterms:modified xsi:type="dcterms:W3CDTF">2025-10-03T03:34:37Z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2052-11.1.0.11719</vt:lpwstr>
  </property>
</Properties>
</file>