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85" r:id="rId3"/>
    <p:sldId id="259" r:id="rId4"/>
    <p:sldId id="313" r:id="rId5"/>
    <p:sldId id="410" r:id="rId6"/>
    <p:sldId id="608" r:id="rId7"/>
    <p:sldId id="602" r:id="rId8"/>
    <p:sldId id="603" r:id="rId9"/>
    <p:sldId id="604" r:id="rId10"/>
    <p:sldId id="605" r:id="rId11"/>
    <p:sldId id="606" r:id="rId12"/>
    <p:sldId id="607" r:id="rId13"/>
    <p:sldId id="609" r:id="rId14"/>
    <p:sldId id="273" r:id="rId15"/>
    <p:sldId id="274" r:id="rId16"/>
    <p:sldId id="288" r:id="rId17"/>
    <p:sldId id="289" r:id="rId18"/>
    <p:sldId id="275" r:id="rId19"/>
    <p:sldId id="314" r:id="rId20"/>
    <p:sldId id="320" r:id="rId21"/>
    <p:sldId id="315" r:id="rId22"/>
    <p:sldId id="316" r:id="rId23"/>
    <p:sldId id="317" r:id="rId24"/>
    <p:sldId id="318" r:id="rId25"/>
    <p:sldId id="319" r:id="rId26"/>
    <p:sldId id="291" r:id="rId27"/>
    <p:sldId id="290" r:id="rId28"/>
    <p:sldId id="464" r:id="rId29"/>
    <p:sldId id="465" r:id="rId30"/>
    <p:sldId id="466" r:id="rId31"/>
    <p:sldId id="467" r:id="rId32"/>
    <p:sldId id="468" r:id="rId33"/>
    <p:sldId id="469" r:id="rId34"/>
    <p:sldId id="470" r:id="rId35"/>
    <p:sldId id="471" r:id="rId36"/>
    <p:sldId id="472" r:id="rId37"/>
    <p:sldId id="473" r:id="rId38"/>
    <p:sldId id="474" r:id="rId39"/>
    <p:sldId id="475" r:id="rId40"/>
    <p:sldId id="476" r:id="rId41"/>
    <p:sldId id="477" r:id="rId42"/>
    <p:sldId id="478" r:id="rId43"/>
    <p:sldId id="479" r:id="rId44"/>
    <p:sldId id="480" r:id="rId45"/>
    <p:sldId id="481" r:id="rId46"/>
    <p:sldId id="482" r:id="rId47"/>
    <p:sldId id="483" r:id="rId48"/>
    <p:sldId id="484" r:id="rId49"/>
    <p:sldId id="485" r:id="rId50"/>
    <p:sldId id="486" r:id="rId51"/>
    <p:sldId id="487" r:id="rId52"/>
    <p:sldId id="488" r:id="rId53"/>
    <p:sldId id="489" r:id="rId54"/>
    <p:sldId id="490" r:id="rId55"/>
    <p:sldId id="491" r:id="rId56"/>
    <p:sldId id="492" r:id="rId57"/>
    <p:sldId id="493" r:id="rId58"/>
    <p:sldId id="494" r:id="rId59"/>
    <p:sldId id="495" r:id="rId60"/>
    <p:sldId id="496" r:id="rId61"/>
    <p:sldId id="497" r:id="rId62"/>
    <p:sldId id="498" r:id="rId63"/>
    <p:sldId id="499" r:id="rId64"/>
    <p:sldId id="500" r:id="rId65"/>
    <p:sldId id="501" r:id="rId66"/>
    <p:sldId id="502" r:id="rId67"/>
    <p:sldId id="503" r:id="rId68"/>
    <p:sldId id="504" r:id="rId69"/>
    <p:sldId id="505" r:id="rId70"/>
  </p:sldIdLst>
  <p:sldSz cx="12190095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1"/>
    <p:restoredTop sz="94660"/>
  </p:normalViewPr>
  <p:slideViewPr>
    <p:cSldViewPr snapToGrid="0" showGuides="1">
      <p:cViewPr varScale="1">
        <p:scale>
          <a:sx n="67" d="100"/>
          <a:sy n="67" d="100"/>
        </p:scale>
        <p:origin x="-566" y="-86"/>
      </p:cViewPr>
      <p:guideLst>
        <p:guide orient="horz" pos="214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4" cy="72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notesMaster" Target="notesMasters/notesMaster1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147" name="日期占位符 2"/>
          <p:cNvSpPr>
            <a:spLocks noGrp="1"/>
          </p:cNvSpPr>
          <p:nvPr>
            <p:ph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algn="r">
              <a:defRPr sz="1200" noProof="1">
                <a:latin typeface="Arial" panose="02080604020202020204" pitchFamily="34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9A73D757-B766-4AC1-B5C4-4B5FF2B1F0A1}" type="datetimeFigureOut"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anose="02000500000000000000" pitchFamily="2" charset="-122"/>
                <a:cs typeface="+mn-ea"/>
              </a:rPr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anose="02000500000000000000" pitchFamily="2" charset="-122"/>
              <a:cs typeface="+mn-ea"/>
            </a:endParaRPr>
          </a:p>
        </p:txBody>
      </p:sp>
      <p:sp>
        <p:nvSpPr>
          <p:cNvPr id="829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50" name="页脚占位符 5"/>
          <p:cNvSpPr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151" name="灯片编号占位符 6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en-US" sz="1200" dirty="0">
                <a:latin typeface="Arial" panose="02080604020202020204" pitchFamily="34" charset="0"/>
              </a:rPr>
            </a:fld>
            <a:endParaRPr lang="en-US" altLang="en-US" sz="1200" dirty="0">
              <a:latin typeface="Arial" panose="0208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  <a:lvl3pPr>
              <a:defRPr sz="1200"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281" y="1981200"/>
            <a:ext cx="5079339" cy="4114800"/>
          </a:xfrm>
        </p:spPr>
        <p:txBody>
          <a:bodyPr/>
          <a:lstStyle>
            <a:lvl1pPr marR="0" lvl="0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20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R="0" lvl="1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16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R="0" lvl="2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12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981200"/>
            <a:ext cx="5079339" cy="4114800"/>
          </a:xfrm>
        </p:spPr>
        <p:txBody>
          <a:bodyPr/>
          <a:lstStyle>
            <a:lvl1pPr marR="0" lvl="0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20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R="0" lvl="1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16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R="0" lvl="2" indent="-360045" algn="l" rtl="0" eaLnBrk="0" fontAlgn="base" latinLnBrk="0" hangingPunct="0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  <a:defRPr kumimoji="0" lang="zh-CN" altLang="en-US" sz="120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281" y="1981200"/>
            <a:ext cx="5079339" cy="4114800"/>
          </a:xfr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600"/>
            </a:lvl2pPr>
            <a:lvl3pPr>
              <a:spcBef>
                <a:spcPts val="600"/>
              </a:spcBef>
              <a:defRPr sz="14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981200"/>
            <a:ext cx="5079339" cy="4114800"/>
          </a:xfr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60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914281" y="1981200"/>
            <a:ext cx="10361851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dt" sz="half"/>
          </p:nvPr>
        </p:nvSpPr>
        <p:spPr>
          <a:xfrm>
            <a:off x="914281" y="6248400"/>
            <a:ext cx="2539669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>
              <a:defRPr sz="1400" noProof="1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/>
          </p:nvPr>
        </p:nvSpPr>
        <p:spPr>
          <a:xfrm>
            <a:off x="4165058" y="6248400"/>
            <a:ext cx="3860297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algn="ctr">
              <a:defRPr sz="1400" noProof="1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/>
          </p:nvPr>
        </p:nvSpPr>
        <p:spPr>
          <a:xfrm>
            <a:off x="8736463" y="6248400"/>
            <a:ext cx="2539669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80604020202020204" pitchFamily="34" charset="0"/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rgbClr val="FF3300"/>
          </a:solidFill>
          <a:latin typeface="Times New Roman" pitchFamily="18" charset="0"/>
          <a:ea typeface="黑体" panose="02000500000000000000" pitchFamily="49" charset="-122"/>
        </a:defRPr>
      </a:lvl9pPr>
    </p:titleStyle>
    <p:bodyStyle>
      <a:lvl1pPr marL="360680" indent="-360680" algn="l" rtl="0" eaLnBrk="0" fontAlgn="base" hangingPunct="0">
        <a:lnSpc>
          <a:spcPct val="150000"/>
        </a:lnSpc>
        <a:spcBef>
          <a:spcPts val="6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20725" indent="-360680" algn="l" rtl="0" eaLnBrk="0" fontAlgn="base" hangingPunct="0">
        <a:lnSpc>
          <a:spcPct val="150000"/>
        </a:lnSpc>
        <a:spcBef>
          <a:spcPts val="6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  <a:ea typeface="+mn-ea"/>
        </a:defRPr>
      </a:lvl2pPr>
      <a:lvl3pPr marL="1079500" indent="-358775" algn="l" rtl="0" eaLnBrk="0" fontAlgn="base" hangingPunct="0">
        <a:lnSpc>
          <a:spcPct val="150000"/>
        </a:lnSpc>
        <a:spcBef>
          <a:spcPts val="600"/>
        </a:spcBef>
        <a:spcAft>
          <a:spcPct val="0"/>
        </a:spcAft>
        <a:buChar char="•"/>
        <a:defRPr sz="1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emf"/><Relationship Id="rId1" Type="http://schemas.openxmlformats.org/officeDocument/2006/relationships/oleObject" Target="../embeddings/oleObject4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emf"/><Relationship Id="rId1" Type="http://schemas.openxmlformats.org/officeDocument/2006/relationships/oleObject" Target="../embeddings/oleObject5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/>
          <p:nvPr/>
        </p:nvSpPr>
        <p:spPr>
          <a:xfrm>
            <a:off x="814811" y="1311275"/>
            <a:ext cx="10361851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 smtClean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计算机体系结构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8196" name="Rectangle 3"/>
          <p:cNvSpPr/>
          <p:nvPr/>
        </p:nvSpPr>
        <p:spPr>
          <a:xfrm>
            <a:off x="1752372" y="4438650"/>
            <a:ext cx="8533289" cy="83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latin typeface="Arial" panose="02080604020202020204" pitchFamily="34" charset="0"/>
              </a:rPr>
              <a:t>胡伟武、汪文祥</a:t>
            </a:r>
            <a:endParaRPr lang="zh-CN" altLang="en-US" sz="2800" b="1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357672" y="1"/>
            <a:ext cx="11559728" cy="13446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 smtClean="0"/>
              <a:t>计算机系统启动过程分析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2209513" y="1828801"/>
            <a:ext cx="7923768" cy="45386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latin typeface="宋体" panose="02000500000000000000" pitchFamily="2" charset="-122"/>
                <a:sym typeface="Arial" panose="02080604020202020204" pitchFamily="34" charset="0"/>
              </a:rPr>
              <a:t>计算机系统主要组成部件</a:t>
            </a:r>
            <a:endParaRPr lang="en-US" altLang="zh-CN" dirty="0">
              <a:latin typeface="宋体" panose="02000500000000000000" pitchFamily="2" charset="-122"/>
            </a:endParaRPr>
          </a:p>
          <a:p>
            <a:pPr eaLnBrk="1" hangingPunct="1"/>
            <a:r>
              <a:rPr lang="zh-CN" altLang="en-US" dirty="0" smtClean="0">
                <a:latin typeface="宋体" panose="02000500000000000000" pitchFamily="2" charset="-122"/>
              </a:rPr>
              <a:t>计算机系统启动过程分析</a:t>
            </a:r>
            <a:endParaRPr lang="zh-CN" altLang="en-US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14339" name="Rectangle 4"/>
          <p:cNvSpPr>
            <a:spLocks noGrp="1"/>
          </p:cNvSpPr>
          <p:nvPr>
            <p:ph type="title"/>
          </p:nvPr>
        </p:nvSpPr>
        <p:spPr>
          <a:xfrm>
            <a:off x="2148138" y="2849563"/>
            <a:ext cx="7771388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400" dirty="0"/>
              <a:t>计算机的组成部件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899467" y="1"/>
            <a:ext cx="10361851" cy="925513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CPU</a:t>
            </a:r>
            <a:r>
              <a:rPr lang="zh-CN" altLang="en-US" dirty="0"/>
              <a:t>、内存和</a:t>
            </a:r>
            <a:r>
              <a:rPr lang="en-US" altLang="zh-CN" dirty="0"/>
              <a:t>IO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580" y="1190626"/>
            <a:ext cx="11284598" cy="5241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680" marR="0" lvl="0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冯诺依曼结构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五部分组成：运算器、控制器、存储器、输入设备、输出设备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物理上分成三大部分：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（运算器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+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控制器）、内存（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DRAM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）、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I+O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60680" marR="0" lvl="0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三大部分关系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CPU/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内存：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CPULoad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/Store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访问内存，高带宽、低延迟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IO/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内存：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通过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DMA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访问内存，较高带宽，高延迟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CPU/IO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通过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PIO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访问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，低带宽、高延迟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60680" marR="0" lvl="0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CPU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与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IO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同步关系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查询：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 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通过不断读取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状态寄存器的内容获取设备控制器的状态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中断：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设备完成某个操作时，产生中断通知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，把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从查询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IO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中解放出来，提高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CPU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的利用率，一般与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DMA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配合使用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20725" marR="0" lvl="1" indent="-36068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914281" y="22226"/>
            <a:ext cx="10361851" cy="74136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存储器</a:t>
            </a:r>
            <a:endParaRPr lang="zh-CN" altLang="en-US" dirty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292062" y="1092200"/>
            <a:ext cx="11589358" cy="576580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</a:pPr>
            <a:r>
              <a:rPr lang="zh-CN" altLang="zh-CN" dirty="0">
                <a:latin typeface="宋体" panose="02000500000000000000" pitchFamily="2" charset="-122"/>
              </a:rPr>
              <a:t>存储器存储程序和数据，又称主存储器或内存，一般用动态随机存储器</a:t>
            </a:r>
            <a:r>
              <a:rPr lang="en-US" altLang="zh-CN" dirty="0">
                <a:latin typeface="宋体" panose="02000500000000000000" pitchFamily="2" charset="-122"/>
              </a:rPr>
              <a:t>DRAM</a:t>
            </a:r>
            <a:r>
              <a:rPr lang="zh-CN" altLang="zh-CN" dirty="0">
                <a:latin typeface="宋体" panose="02000500000000000000" pitchFamily="2" charset="-122"/>
              </a:rPr>
              <a:t>实现。</a:t>
            </a:r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zh-CN" dirty="0">
                <a:latin typeface="宋体" panose="02000500000000000000" pitchFamily="2" charset="-122"/>
              </a:rPr>
              <a:t>可以直接访问它，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设备也频繁地和它交换数据</a:t>
            </a:r>
            <a:r>
              <a:rPr lang="zh-CN" altLang="en-US" dirty="0">
                <a:latin typeface="宋体" panose="02000500000000000000" pitchFamily="2" charset="-122"/>
              </a:rPr>
              <a:t>。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zh-CN" dirty="0">
                <a:latin typeface="宋体" panose="02000500000000000000" pitchFamily="2" charset="-122"/>
                <a:ea typeface="+mn-ea"/>
              </a:rPr>
              <a:t>存储器的存取速度往往满足不了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的快速要求，容量也满足不了应用的需要，为此将存储系统分为高速缓存（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Cache)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、主存储器和辅助存储器三个层次。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存放当前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最频繁访问的部分主存储器内容，采用比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DRAM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速度快但容量小的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SRAM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实现。数据和指令在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和主存储器之间的调动由硬件自动完成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lang="zh-CN" altLang="zh-CN" dirty="0">
                <a:latin typeface="宋体" panose="02000500000000000000" pitchFamily="2" charset="-122"/>
                <a:ea typeface="+mn-ea"/>
              </a:rPr>
              <a:t>为扩大存储器容量，使用磁盘、磁带、光盘等大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容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量存储器作为辅助存储器。计算机运行时所需的应用程序、系统软件和数据等都先存放在辅助存储器中，在运行过程中分批调入主存储器。数据和指令在主存储器和辅助存储器之间的调动由操作系统完成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访问存储器时，面对的是一个高速（接近于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的速度）、大容量（接近于辅助存储器的容量）的存储器。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lang="zh-CN" altLang="zh-CN" dirty="0">
                <a:latin typeface="宋体" panose="02000500000000000000" pitchFamily="2" charset="-122"/>
                <a:ea typeface="+mn-ea"/>
              </a:rPr>
              <a:t>现代计算机中还有少量只读存储器（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Read Only Memory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，简称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ROM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）用来存放引导程序和基本输入输出系统（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Basic Input Output System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，简称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BIOS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）等。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计算机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访问内存时采用虚拟地址，操作系统负责维护虚地址和物理地址转换的页表，集成在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中的存储管理部件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MMU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负责把虚拟地址转换为物理地址。</a:t>
            </a:r>
            <a:endParaRPr lang="zh-CN" altLang="zh-CN" dirty="0">
              <a:latin typeface="宋体" panose="02000500000000000000" pitchFamily="2" charset="-122"/>
              <a:ea typeface="+mn-ea"/>
            </a:endParaRPr>
          </a:p>
          <a:p>
            <a:endParaRPr lang="zh-CN" altLang="en-US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2165069" y="158750"/>
            <a:ext cx="7771388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内存</a:t>
            </a:r>
            <a:endParaRPr lang="zh-CN" altLang="en-US" dirty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344973" y="1136650"/>
            <a:ext cx="8698368" cy="51117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冯诺依曼结构中的</a:t>
            </a:r>
            <a:r>
              <a:rPr lang="zh-CN" altLang="en-US" dirty="0">
                <a:latin typeface="DejaVu Sans" panose="020B0606030804020204" charset="0"/>
              </a:rPr>
              <a:t>“</a:t>
            </a:r>
            <a:r>
              <a:rPr lang="zh-CN" altLang="en-US" dirty="0">
                <a:latin typeface="宋体" panose="02000500000000000000" pitchFamily="2" charset="-122"/>
              </a:rPr>
              <a:t>存储器</a:t>
            </a:r>
            <a:r>
              <a:rPr lang="zh-CN" altLang="en-US" dirty="0">
                <a:latin typeface="DejaVu Sans" panose="020B0606030804020204" charset="0"/>
              </a:rPr>
              <a:t>”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采用动态随机存储器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，每个单元只要一个晶体管，通过电容充放电保存数据，需动态刷新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SDRAM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DDR SDRAM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DDR2 SDRAM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DDR3 SDRAM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DDR4 SDRAM</a:t>
            </a:r>
            <a:r>
              <a:rPr lang="en-US" altLang="zh-CN" dirty="0">
                <a:latin typeface="DejaVu Sans" panose="020B0606030804020204" charset="0"/>
                <a:ea typeface="+mn-ea"/>
              </a:rPr>
              <a:t>……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是</a:t>
            </a:r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性能的决定性因素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容量沿摩尔定律不断变大，但延迟降低非常缓慢（每年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7%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早期内存通过北桥连接到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，现代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都直接带内存控制器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内设置多级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来降低平均延迟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45061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9498364" y="2974975"/>
            <a:ext cx="2340729" cy="367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929096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内存基本单元</a:t>
            </a:r>
            <a:endParaRPr lang="zh-CN" altLang="en-US" dirty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687829" y="1130300"/>
            <a:ext cx="11015815" cy="54864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由</a:t>
            </a:r>
            <a:r>
              <a:rPr lang="en-US" altLang="zh-CN" dirty="0">
                <a:latin typeface="宋体" panose="02000500000000000000" pitchFamily="2" charset="-122"/>
              </a:rPr>
              <a:t>MOS</a:t>
            </a:r>
            <a:r>
              <a:rPr lang="zh-CN" altLang="en-US" dirty="0">
                <a:latin typeface="宋体" panose="02000500000000000000" pitchFamily="2" charset="-122"/>
              </a:rPr>
              <a:t>管</a:t>
            </a:r>
            <a:r>
              <a:rPr lang="en-US" altLang="zh-CN" dirty="0">
                <a:latin typeface="宋体" panose="02000500000000000000" pitchFamily="2" charset="-122"/>
              </a:rPr>
              <a:t>T</a:t>
            </a:r>
            <a:r>
              <a:rPr lang="zh-CN" altLang="en-US" dirty="0">
                <a:latin typeface="宋体" panose="02000500000000000000" pitchFamily="2" charset="-122"/>
              </a:rPr>
              <a:t>和电容（存储单元）组成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电容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存储的电位决定存储单元的逻辑值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字线：根据地址译码，连接同一字的不同位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位线：读写的数据，连接不同字的同一位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读写过程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读：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IDLE-&gt;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行激活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读数据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(1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次或多次突发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)-&gt;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预充电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-&gt;IDLE 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写：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IDLE-&gt;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行激活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写数据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(1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次或多次突发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)-&gt;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预充电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-&gt;IDLE 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刷新：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中的电容可能会漏掉，因此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DRAM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需要周期刷新，刷新可以通过读操作进行，一般每行几十微秒刷新一次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endParaRPr lang="zh-CN" altLang="en-US" dirty="0">
              <a:latin typeface="宋体" panose="02000500000000000000" pitchFamily="2" charset="-122"/>
            </a:endParaRPr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46085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819003" y="303214"/>
            <a:ext cx="2613742" cy="1614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1028567" y="1"/>
            <a:ext cx="7447581" cy="84296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具体读写过程</a:t>
            </a:r>
            <a:endParaRPr lang="zh-CN" altLang="en-US" dirty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>
          <a:xfrm>
            <a:off x="192593" y="1163638"/>
            <a:ext cx="11803113" cy="53673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行激活（</a:t>
            </a:r>
            <a:r>
              <a:rPr lang="en-US" altLang="zh-CN" dirty="0">
                <a:latin typeface="宋体" panose="02000500000000000000" pitchFamily="2" charset="-122"/>
              </a:rPr>
              <a:t>Active</a:t>
            </a:r>
            <a:r>
              <a:rPr lang="zh-CN" altLang="en-US" dirty="0">
                <a:latin typeface="宋体" panose="02000500000000000000" pitchFamily="2" charset="-122"/>
              </a:rPr>
              <a:t>）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Bank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Row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地址（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BA0-BA2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选择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Bank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A0-A15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选择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Row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）译码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读写数据 </a:t>
            </a:r>
            <a:endParaRPr lang="zh-CN" altLang="en-US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列地址译码（复用行地址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A0-A?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），读写用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读操作：位线已预充到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Vref=VCC/2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，字线打开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管，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引起位线微小的电位差，感应放大器读出，此时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中的电位被破坏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写操作：字线上提供更大电流重置感应放大器和位线的值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预充 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关闭字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/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位线，行缓冲的数据写回存储阵列，位线预充到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Vref=VCC/2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Close page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：每次读写后自动预充，行缓冲不命中，延迟固定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Open page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：地址切换时预充，地址不切换直接访问行缓存（局部性）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pic>
        <p:nvPicPr>
          <p:cNvPr id="47108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876145" y="0"/>
            <a:ext cx="2613744" cy="1614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58"/>
          <p:cNvGrpSpPr/>
          <p:nvPr/>
        </p:nvGrpSpPr>
        <p:grpSpPr bwMode="auto">
          <a:xfrm>
            <a:off x="808461" y="825500"/>
            <a:ext cx="10524814" cy="5537200"/>
            <a:chOff x="789551" y="566738"/>
            <a:chExt cx="7893659" cy="5537320"/>
          </a:xfrm>
        </p:grpSpPr>
        <p:grpSp>
          <p:nvGrpSpPr>
            <p:cNvPr id="3" name="组合 128"/>
            <p:cNvGrpSpPr/>
            <p:nvPr/>
          </p:nvGrpSpPr>
          <p:grpSpPr bwMode="auto">
            <a:xfrm>
              <a:off x="805703" y="1481138"/>
              <a:ext cx="7864961" cy="261601"/>
              <a:chOff x="805703" y="1481138"/>
              <a:chExt cx="7864961" cy="261601"/>
            </a:xfrm>
          </p:grpSpPr>
          <p:cxnSp>
            <p:nvCxnSpPr>
              <p:cNvPr id="35933" name="直接连接符 51"/>
              <p:cNvCxnSpPr>
                <a:cxnSpLocks noChangeShapeType="1"/>
              </p:cNvCxnSpPr>
              <p:nvPr/>
            </p:nvCxnSpPr>
            <p:spPr bwMode="auto">
              <a:xfrm>
                <a:off x="871369" y="1742739"/>
                <a:ext cx="779929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</p:spPr>
          </p:cxnSp>
          <p:pic>
            <p:nvPicPr>
              <p:cNvPr id="35934" name="Picture 6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05703" y="1481138"/>
                <a:ext cx="647700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4" name="组合 67"/>
            <p:cNvGrpSpPr/>
            <p:nvPr/>
          </p:nvGrpSpPr>
          <p:grpSpPr bwMode="auto">
            <a:xfrm>
              <a:off x="1574316" y="566738"/>
              <a:ext cx="1379605" cy="5533744"/>
              <a:chOff x="1574316" y="566738"/>
              <a:chExt cx="1379605" cy="5533744"/>
            </a:xfrm>
          </p:grpSpPr>
          <p:grpSp>
            <p:nvGrpSpPr>
              <p:cNvPr id="5" name="组合 25"/>
              <p:cNvGrpSpPr/>
              <p:nvPr/>
            </p:nvGrpSpPr>
            <p:grpSpPr bwMode="auto">
              <a:xfrm>
                <a:off x="1574316" y="839079"/>
                <a:ext cx="1342820" cy="5261403"/>
                <a:chOff x="1606589" y="193621"/>
                <a:chExt cx="1342820" cy="5261403"/>
              </a:xfrm>
            </p:grpSpPr>
            <p:pic>
              <p:nvPicPr>
                <p:cNvPr id="35926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1969" y="22234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27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3764" y="32902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28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5558" y="4432375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29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06589" y="1110056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35930" name="直接连接符 20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1508" y="2463493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cxnSp>
              <p:nvCxnSpPr>
                <p:cNvPr id="35931" name="直接连接符 2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79534" y="2476039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pic>
              <p:nvPicPr>
                <p:cNvPr id="35932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306117" y="201973"/>
                  <a:ext cx="641480" cy="5961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35915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50777" y="566738"/>
                <a:ext cx="638175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916" name="椭圆 57"/>
              <p:cNvSpPr>
                <a:spLocks noChangeArrowheads="1"/>
              </p:cNvSpPr>
              <p:nvPr/>
            </p:nvSpPr>
            <p:spPr bwMode="auto">
              <a:xfrm>
                <a:off x="1882616" y="17212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17" name="椭圆 58"/>
              <p:cNvSpPr>
                <a:spLocks noChangeArrowheads="1"/>
              </p:cNvSpPr>
              <p:nvPr/>
            </p:nvSpPr>
            <p:spPr bwMode="auto">
              <a:xfrm>
                <a:off x="1893374" y="284003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18" name="椭圆 59"/>
              <p:cNvSpPr>
                <a:spLocks noChangeArrowheads="1"/>
              </p:cNvSpPr>
              <p:nvPr/>
            </p:nvSpPr>
            <p:spPr bwMode="auto">
              <a:xfrm>
                <a:off x="1905920" y="38961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19" name="椭圆 60"/>
              <p:cNvSpPr>
                <a:spLocks noChangeArrowheads="1"/>
              </p:cNvSpPr>
              <p:nvPr/>
            </p:nvSpPr>
            <p:spPr bwMode="auto">
              <a:xfrm>
                <a:off x="1896950" y="5038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0" name="椭圆 61"/>
              <p:cNvSpPr>
                <a:spLocks noChangeArrowheads="1"/>
              </p:cNvSpPr>
              <p:nvPr/>
            </p:nvSpPr>
            <p:spPr bwMode="auto">
              <a:xfrm>
                <a:off x="2230448" y="420987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1" name="椭圆 62"/>
              <p:cNvSpPr>
                <a:spLocks noChangeArrowheads="1"/>
              </p:cNvSpPr>
              <p:nvPr/>
            </p:nvSpPr>
            <p:spPr bwMode="auto">
              <a:xfrm>
                <a:off x="2232236" y="31358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2" name="椭圆 63"/>
              <p:cNvSpPr>
                <a:spLocks noChangeArrowheads="1"/>
              </p:cNvSpPr>
              <p:nvPr/>
            </p:nvSpPr>
            <p:spPr bwMode="auto">
              <a:xfrm>
                <a:off x="2234024" y="20295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3" name="椭圆 64"/>
              <p:cNvSpPr>
                <a:spLocks noChangeArrowheads="1"/>
              </p:cNvSpPr>
              <p:nvPr/>
            </p:nvSpPr>
            <p:spPr bwMode="auto">
              <a:xfrm>
                <a:off x="2234024" y="53430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4" name="椭圆 65"/>
              <p:cNvSpPr>
                <a:spLocks noChangeArrowheads="1"/>
              </p:cNvSpPr>
              <p:nvPr/>
            </p:nvSpPr>
            <p:spPr bwMode="auto">
              <a:xfrm>
                <a:off x="2239418" y="109902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25" name="椭圆 66"/>
              <p:cNvSpPr>
                <a:spLocks noChangeArrowheads="1"/>
              </p:cNvSpPr>
              <p:nvPr/>
            </p:nvSpPr>
            <p:spPr bwMode="auto">
              <a:xfrm>
                <a:off x="2908202" y="107929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</p:grpSp>
        <p:grpSp>
          <p:nvGrpSpPr>
            <p:cNvPr id="6" name="组合 68"/>
            <p:cNvGrpSpPr/>
            <p:nvPr/>
          </p:nvGrpSpPr>
          <p:grpSpPr bwMode="auto">
            <a:xfrm>
              <a:off x="3275868" y="568526"/>
              <a:ext cx="1379605" cy="5533744"/>
              <a:chOff x="1574316" y="566738"/>
              <a:chExt cx="1379605" cy="5533744"/>
            </a:xfrm>
          </p:grpSpPr>
          <p:grpSp>
            <p:nvGrpSpPr>
              <p:cNvPr id="7" name="组合 25"/>
              <p:cNvGrpSpPr/>
              <p:nvPr/>
            </p:nvGrpSpPr>
            <p:grpSpPr bwMode="auto">
              <a:xfrm>
                <a:off x="1574316" y="839079"/>
                <a:ext cx="1342820" cy="5261403"/>
                <a:chOff x="1606589" y="193621"/>
                <a:chExt cx="1342820" cy="5261403"/>
              </a:xfrm>
            </p:grpSpPr>
            <p:pic>
              <p:nvPicPr>
                <p:cNvPr id="35907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1969" y="22234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08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3764" y="32902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09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5558" y="4432375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910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06589" y="1110056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35911" name="直接连接符 8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1508" y="2463493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cxnSp>
              <p:nvCxnSpPr>
                <p:cNvPr id="35912" name="直接连接符 8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79534" y="2476039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pic>
              <p:nvPicPr>
                <p:cNvPr id="3591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306117" y="201973"/>
                  <a:ext cx="641480" cy="5961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35896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50777" y="566738"/>
                <a:ext cx="638175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897" name="椭圆 71"/>
              <p:cNvSpPr>
                <a:spLocks noChangeArrowheads="1"/>
              </p:cNvSpPr>
              <p:nvPr/>
            </p:nvSpPr>
            <p:spPr bwMode="auto">
              <a:xfrm>
                <a:off x="1882616" y="17212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98" name="椭圆 72"/>
              <p:cNvSpPr>
                <a:spLocks noChangeArrowheads="1"/>
              </p:cNvSpPr>
              <p:nvPr/>
            </p:nvSpPr>
            <p:spPr bwMode="auto">
              <a:xfrm>
                <a:off x="1893374" y="284003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99" name="椭圆 73"/>
              <p:cNvSpPr>
                <a:spLocks noChangeArrowheads="1"/>
              </p:cNvSpPr>
              <p:nvPr/>
            </p:nvSpPr>
            <p:spPr bwMode="auto">
              <a:xfrm>
                <a:off x="1905920" y="38961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0" name="椭圆 74"/>
              <p:cNvSpPr>
                <a:spLocks noChangeArrowheads="1"/>
              </p:cNvSpPr>
              <p:nvPr/>
            </p:nvSpPr>
            <p:spPr bwMode="auto">
              <a:xfrm>
                <a:off x="1896950" y="5038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1" name="椭圆 75"/>
              <p:cNvSpPr>
                <a:spLocks noChangeArrowheads="1"/>
              </p:cNvSpPr>
              <p:nvPr/>
            </p:nvSpPr>
            <p:spPr bwMode="auto">
              <a:xfrm>
                <a:off x="2230448" y="420987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2" name="椭圆 76"/>
              <p:cNvSpPr>
                <a:spLocks noChangeArrowheads="1"/>
              </p:cNvSpPr>
              <p:nvPr/>
            </p:nvSpPr>
            <p:spPr bwMode="auto">
              <a:xfrm>
                <a:off x="2232236" y="31358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3" name="椭圆 77"/>
              <p:cNvSpPr>
                <a:spLocks noChangeArrowheads="1"/>
              </p:cNvSpPr>
              <p:nvPr/>
            </p:nvSpPr>
            <p:spPr bwMode="auto">
              <a:xfrm>
                <a:off x="2234024" y="20295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4" name="椭圆 78"/>
              <p:cNvSpPr>
                <a:spLocks noChangeArrowheads="1"/>
              </p:cNvSpPr>
              <p:nvPr/>
            </p:nvSpPr>
            <p:spPr bwMode="auto">
              <a:xfrm>
                <a:off x="2234024" y="53430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5" name="椭圆 79"/>
              <p:cNvSpPr>
                <a:spLocks noChangeArrowheads="1"/>
              </p:cNvSpPr>
              <p:nvPr/>
            </p:nvSpPr>
            <p:spPr bwMode="auto">
              <a:xfrm>
                <a:off x="2239418" y="109902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906" name="椭圆 80"/>
              <p:cNvSpPr>
                <a:spLocks noChangeArrowheads="1"/>
              </p:cNvSpPr>
              <p:nvPr/>
            </p:nvSpPr>
            <p:spPr bwMode="auto">
              <a:xfrm>
                <a:off x="2908202" y="107929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</p:grpSp>
        <p:grpSp>
          <p:nvGrpSpPr>
            <p:cNvPr id="8" name="组合 88"/>
            <p:cNvGrpSpPr/>
            <p:nvPr/>
          </p:nvGrpSpPr>
          <p:grpSpPr bwMode="auto">
            <a:xfrm>
              <a:off x="5009694" y="570314"/>
              <a:ext cx="1379605" cy="5533744"/>
              <a:chOff x="1574316" y="566738"/>
              <a:chExt cx="1379605" cy="5533744"/>
            </a:xfrm>
          </p:grpSpPr>
          <p:grpSp>
            <p:nvGrpSpPr>
              <p:cNvPr id="9" name="组合 25"/>
              <p:cNvGrpSpPr/>
              <p:nvPr/>
            </p:nvGrpSpPr>
            <p:grpSpPr bwMode="auto">
              <a:xfrm>
                <a:off x="1574316" y="839079"/>
                <a:ext cx="1342820" cy="5261403"/>
                <a:chOff x="1606589" y="193621"/>
                <a:chExt cx="1342820" cy="5261403"/>
              </a:xfrm>
            </p:grpSpPr>
            <p:pic>
              <p:nvPicPr>
                <p:cNvPr id="35888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1969" y="22234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89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3764" y="32902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90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5558" y="4432375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91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06589" y="1110056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35892" name="直接连接符 10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1508" y="2463493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cxnSp>
              <p:nvCxnSpPr>
                <p:cNvPr id="35893" name="直接连接符 10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79534" y="2476039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pic>
              <p:nvPicPr>
                <p:cNvPr id="35894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306117" y="201973"/>
                  <a:ext cx="641480" cy="5961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35877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50777" y="566738"/>
                <a:ext cx="638175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878" name="椭圆 91"/>
              <p:cNvSpPr>
                <a:spLocks noChangeArrowheads="1"/>
              </p:cNvSpPr>
              <p:nvPr/>
            </p:nvSpPr>
            <p:spPr bwMode="auto">
              <a:xfrm>
                <a:off x="1882616" y="17212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79" name="椭圆 92"/>
              <p:cNvSpPr>
                <a:spLocks noChangeArrowheads="1"/>
              </p:cNvSpPr>
              <p:nvPr/>
            </p:nvSpPr>
            <p:spPr bwMode="auto">
              <a:xfrm>
                <a:off x="1893374" y="284003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0" name="椭圆 93"/>
              <p:cNvSpPr>
                <a:spLocks noChangeArrowheads="1"/>
              </p:cNvSpPr>
              <p:nvPr/>
            </p:nvSpPr>
            <p:spPr bwMode="auto">
              <a:xfrm>
                <a:off x="1905920" y="38961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1" name="椭圆 94"/>
              <p:cNvSpPr>
                <a:spLocks noChangeArrowheads="1"/>
              </p:cNvSpPr>
              <p:nvPr/>
            </p:nvSpPr>
            <p:spPr bwMode="auto">
              <a:xfrm>
                <a:off x="1896950" y="5038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2" name="椭圆 95"/>
              <p:cNvSpPr>
                <a:spLocks noChangeArrowheads="1"/>
              </p:cNvSpPr>
              <p:nvPr/>
            </p:nvSpPr>
            <p:spPr bwMode="auto">
              <a:xfrm>
                <a:off x="2230448" y="420987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3" name="椭圆 96"/>
              <p:cNvSpPr>
                <a:spLocks noChangeArrowheads="1"/>
              </p:cNvSpPr>
              <p:nvPr/>
            </p:nvSpPr>
            <p:spPr bwMode="auto">
              <a:xfrm>
                <a:off x="2232236" y="31358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4" name="椭圆 97"/>
              <p:cNvSpPr>
                <a:spLocks noChangeArrowheads="1"/>
              </p:cNvSpPr>
              <p:nvPr/>
            </p:nvSpPr>
            <p:spPr bwMode="auto">
              <a:xfrm>
                <a:off x="2234024" y="20295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5" name="椭圆 98"/>
              <p:cNvSpPr>
                <a:spLocks noChangeArrowheads="1"/>
              </p:cNvSpPr>
              <p:nvPr/>
            </p:nvSpPr>
            <p:spPr bwMode="auto">
              <a:xfrm>
                <a:off x="2234024" y="53430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6" name="椭圆 99"/>
              <p:cNvSpPr>
                <a:spLocks noChangeArrowheads="1"/>
              </p:cNvSpPr>
              <p:nvPr/>
            </p:nvSpPr>
            <p:spPr bwMode="auto">
              <a:xfrm>
                <a:off x="2239418" y="109902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87" name="椭圆 100"/>
              <p:cNvSpPr>
                <a:spLocks noChangeArrowheads="1"/>
              </p:cNvSpPr>
              <p:nvPr/>
            </p:nvSpPr>
            <p:spPr bwMode="auto">
              <a:xfrm>
                <a:off x="2908202" y="107929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</p:grpSp>
        <p:grpSp>
          <p:nvGrpSpPr>
            <p:cNvPr id="10" name="组合 108"/>
            <p:cNvGrpSpPr/>
            <p:nvPr/>
          </p:nvGrpSpPr>
          <p:grpSpPr bwMode="auto">
            <a:xfrm>
              <a:off x="6741732" y="570314"/>
              <a:ext cx="1379605" cy="5533744"/>
              <a:chOff x="1574316" y="566738"/>
              <a:chExt cx="1379605" cy="5533744"/>
            </a:xfrm>
          </p:grpSpPr>
          <p:grpSp>
            <p:nvGrpSpPr>
              <p:cNvPr id="11" name="组合 25"/>
              <p:cNvGrpSpPr/>
              <p:nvPr/>
            </p:nvGrpSpPr>
            <p:grpSpPr bwMode="auto">
              <a:xfrm>
                <a:off x="1574316" y="839079"/>
                <a:ext cx="1342820" cy="5261403"/>
                <a:chOff x="1606589" y="193621"/>
                <a:chExt cx="1342820" cy="5261403"/>
              </a:xfrm>
            </p:grpSpPr>
            <p:pic>
              <p:nvPicPr>
                <p:cNvPr id="35869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1969" y="22234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70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3764" y="3290272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71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15558" y="4432375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5872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606589" y="1110056"/>
                  <a:ext cx="668655" cy="10226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35873" name="直接连接符 12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1508" y="2463493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cxnSp>
              <p:nvCxnSpPr>
                <p:cNvPr id="35874" name="直接连接符 12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79534" y="2476039"/>
                  <a:ext cx="4539747" cy="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</p:spPr>
            </p:cxnSp>
            <p:pic>
              <p:nvPicPr>
                <p:cNvPr id="35875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306117" y="201973"/>
                  <a:ext cx="641480" cy="5961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35858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50777" y="566738"/>
                <a:ext cx="638175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859" name="椭圆 111"/>
              <p:cNvSpPr>
                <a:spLocks noChangeArrowheads="1"/>
              </p:cNvSpPr>
              <p:nvPr/>
            </p:nvSpPr>
            <p:spPr bwMode="auto">
              <a:xfrm>
                <a:off x="1882616" y="17212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0" name="椭圆 112"/>
              <p:cNvSpPr>
                <a:spLocks noChangeArrowheads="1"/>
              </p:cNvSpPr>
              <p:nvPr/>
            </p:nvSpPr>
            <p:spPr bwMode="auto">
              <a:xfrm>
                <a:off x="1893374" y="284003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1" name="椭圆 113"/>
              <p:cNvSpPr>
                <a:spLocks noChangeArrowheads="1"/>
              </p:cNvSpPr>
              <p:nvPr/>
            </p:nvSpPr>
            <p:spPr bwMode="auto">
              <a:xfrm>
                <a:off x="1905920" y="38961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2" name="椭圆 114"/>
              <p:cNvSpPr>
                <a:spLocks noChangeArrowheads="1"/>
              </p:cNvSpPr>
              <p:nvPr/>
            </p:nvSpPr>
            <p:spPr bwMode="auto">
              <a:xfrm>
                <a:off x="1896950" y="5038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3" name="椭圆 115"/>
              <p:cNvSpPr>
                <a:spLocks noChangeArrowheads="1"/>
              </p:cNvSpPr>
              <p:nvPr/>
            </p:nvSpPr>
            <p:spPr bwMode="auto">
              <a:xfrm>
                <a:off x="2230448" y="420987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4" name="椭圆 116"/>
              <p:cNvSpPr>
                <a:spLocks noChangeArrowheads="1"/>
              </p:cNvSpPr>
              <p:nvPr/>
            </p:nvSpPr>
            <p:spPr bwMode="auto">
              <a:xfrm>
                <a:off x="2232236" y="31358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5" name="椭圆 117"/>
              <p:cNvSpPr>
                <a:spLocks noChangeArrowheads="1"/>
              </p:cNvSpPr>
              <p:nvPr/>
            </p:nvSpPr>
            <p:spPr bwMode="auto">
              <a:xfrm>
                <a:off x="2234024" y="20295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6" name="椭圆 118"/>
              <p:cNvSpPr>
                <a:spLocks noChangeArrowheads="1"/>
              </p:cNvSpPr>
              <p:nvPr/>
            </p:nvSpPr>
            <p:spPr bwMode="auto">
              <a:xfrm>
                <a:off x="2234024" y="53430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7" name="椭圆 119"/>
              <p:cNvSpPr>
                <a:spLocks noChangeArrowheads="1"/>
              </p:cNvSpPr>
              <p:nvPr/>
            </p:nvSpPr>
            <p:spPr bwMode="auto">
              <a:xfrm>
                <a:off x="2239418" y="109902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  <p:sp>
            <p:nvSpPr>
              <p:cNvPr id="35868" name="椭圆 120"/>
              <p:cNvSpPr>
                <a:spLocks noChangeArrowheads="1"/>
              </p:cNvSpPr>
              <p:nvPr/>
            </p:nvSpPr>
            <p:spPr bwMode="auto">
              <a:xfrm>
                <a:off x="2908202" y="107929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algn="ctr">
                  <a:buFontTx/>
                  <a:buNone/>
                </a:pPr>
                <a:endParaRPr kumimoji="1" lang="zh-CN" altLang="en-US" sz="2400" b="1"/>
              </a:p>
            </p:txBody>
          </p:sp>
        </p:grpSp>
        <p:grpSp>
          <p:nvGrpSpPr>
            <p:cNvPr id="12" name="组合 149"/>
            <p:cNvGrpSpPr/>
            <p:nvPr/>
          </p:nvGrpSpPr>
          <p:grpSpPr bwMode="auto">
            <a:xfrm>
              <a:off x="818249" y="2601758"/>
              <a:ext cx="7864961" cy="261601"/>
              <a:chOff x="805703" y="1481138"/>
              <a:chExt cx="7864961" cy="261601"/>
            </a:xfrm>
          </p:grpSpPr>
          <p:cxnSp>
            <p:nvCxnSpPr>
              <p:cNvPr id="35855" name="直接连接符 150"/>
              <p:cNvCxnSpPr>
                <a:cxnSpLocks noChangeShapeType="1"/>
              </p:cNvCxnSpPr>
              <p:nvPr/>
            </p:nvCxnSpPr>
            <p:spPr bwMode="auto">
              <a:xfrm>
                <a:off x="871369" y="1742739"/>
                <a:ext cx="779929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</p:spPr>
          </p:cxnSp>
          <p:pic>
            <p:nvPicPr>
              <p:cNvPr id="35856" name="Picture 6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05703" y="1481138"/>
                <a:ext cx="647700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3" name="组合 152"/>
            <p:cNvGrpSpPr/>
            <p:nvPr/>
          </p:nvGrpSpPr>
          <p:grpSpPr bwMode="auto">
            <a:xfrm>
              <a:off x="798521" y="3668588"/>
              <a:ext cx="7864961" cy="261601"/>
              <a:chOff x="805703" y="1481138"/>
              <a:chExt cx="7864961" cy="261601"/>
            </a:xfrm>
          </p:grpSpPr>
          <p:cxnSp>
            <p:nvCxnSpPr>
              <p:cNvPr id="35853" name="直接连接符 153"/>
              <p:cNvCxnSpPr>
                <a:cxnSpLocks noChangeShapeType="1"/>
              </p:cNvCxnSpPr>
              <p:nvPr/>
            </p:nvCxnSpPr>
            <p:spPr bwMode="auto">
              <a:xfrm>
                <a:off x="871369" y="1742739"/>
                <a:ext cx="779929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</p:spPr>
          </p:cxnSp>
          <p:pic>
            <p:nvPicPr>
              <p:cNvPr id="35854" name="Picture 6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05703" y="1481138"/>
                <a:ext cx="647700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4" name="组合 155"/>
            <p:cNvGrpSpPr/>
            <p:nvPr/>
          </p:nvGrpSpPr>
          <p:grpSpPr bwMode="auto">
            <a:xfrm>
              <a:off x="789551" y="4789208"/>
              <a:ext cx="7864961" cy="261601"/>
              <a:chOff x="805703" y="1481138"/>
              <a:chExt cx="7864961" cy="261601"/>
            </a:xfrm>
          </p:grpSpPr>
          <p:cxnSp>
            <p:nvCxnSpPr>
              <p:cNvPr id="35851" name="直接连接符 156"/>
              <p:cNvCxnSpPr>
                <a:cxnSpLocks noChangeShapeType="1"/>
              </p:cNvCxnSpPr>
              <p:nvPr/>
            </p:nvCxnSpPr>
            <p:spPr bwMode="auto">
              <a:xfrm>
                <a:off x="871369" y="1742739"/>
                <a:ext cx="779929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</p:spPr>
          </p:cxnSp>
          <p:pic>
            <p:nvPicPr>
              <p:cNvPr id="35852" name="Picture 6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05703" y="1481138"/>
                <a:ext cx="647700" cy="238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842324" y="1"/>
            <a:ext cx="10361851" cy="84931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内存内部结构</a:t>
            </a:r>
            <a:endParaRPr lang="zh-CN" altLang="en-US" dirty="0"/>
          </a:p>
        </p:txBody>
      </p:sp>
      <p:sp>
        <p:nvSpPr>
          <p:cNvPr id="48131" name="灯片编号占位符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48132" name="图片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77769" y="2751139"/>
            <a:ext cx="8791489" cy="4079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3" name="内容占位符 2"/>
          <p:cNvSpPr txBox="1"/>
          <p:nvPr/>
        </p:nvSpPr>
        <p:spPr>
          <a:xfrm>
            <a:off x="330157" y="979488"/>
            <a:ext cx="11860256" cy="1731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0" hangingPunct="0">
              <a:lnSpc>
                <a:spcPct val="150000"/>
              </a:lnSpc>
              <a:buFontTx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宋体" panose="02000500000000000000" pitchFamily="2" charset="-122"/>
              </a:rPr>
              <a:t>地址锁存及其译码</a:t>
            </a:r>
            <a:endParaRPr lang="en-US" altLang="zh-CN" sz="20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buFontTx/>
              <a:buChar char="•"/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多个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Bank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（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4/8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）：每个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Bank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00500000000000000" pitchFamily="2" charset="-122"/>
              </a:rPr>
              <a:t>包含存储阵列和感应放大器</a:t>
            </a:r>
            <a:endParaRPr lang="en-US" altLang="zh-CN" sz="2000" b="1" dirty="0">
              <a:solidFill>
                <a:schemeClr val="accent2"/>
              </a:solidFill>
              <a:latin typeface="宋体" panose="02000500000000000000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buFontTx/>
              <a:buChar char="•"/>
            </a:pPr>
            <a:r>
              <a:rPr lang="zh-CN" altLang="en-US" sz="2000" b="1" dirty="0">
                <a:solidFill>
                  <a:srgbClr val="00FF00"/>
                </a:solidFill>
                <a:latin typeface="宋体" panose="02000500000000000000" pitchFamily="2" charset="-122"/>
              </a:rPr>
              <a:t>读锁存和写</a:t>
            </a:r>
            <a:r>
              <a:rPr lang="en-US" altLang="zh-CN" sz="2000" b="1" dirty="0">
                <a:solidFill>
                  <a:srgbClr val="00FF00"/>
                </a:solidFill>
                <a:latin typeface="宋体" panose="02000500000000000000" pitchFamily="2" charset="-122"/>
              </a:rPr>
              <a:t>FIFO</a:t>
            </a:r>
            <a:endParaRPr lang="en-US" altLang="zh-CN" sz="2000" b="1" dirty="0">
              <a:solidFill>
                <a:srgbClr val="00FF00"/>
              </a:solidFill>
              <a:latin typeface="宋体" panose="02000500000000000000" pitchFamily="2" charset="-122"/>
            </a:endParaRPr>
          </a:p>
        </p:txBody>
      </p:sp>
      <p:sp>
        <p:nvSpPr>
          <p:cNvPr id="48134" name="矩形 6"/>
          <p:cNvSpPr/>
          <p:nvPr/>
        </p:nvSpPr>
        <p:spPr>
          <a:xfrm>
            <a:off x="2537555" y="3044826"/>
            <a:ext cx="2653954" cy="34845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>
              <a:buFontTx/>
            </a:pP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48135" name="矩形 7"/>
          <p:cNvSpPr/>
          <p:nvPr/>
        </p:nvSpPr>
        <p:spPr>
          <a:xfrm>
            <a:off x="5176694" y="5626101"/>
            <a:ext cx="1434913" cy="9048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>
              <a:buFontTx/>
            </a:pP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48136" name="矩形 8"/>
          <p:cNvSpPr/>
          <p:nvPr/>
        </p:nvSpPr>
        <p:spPr>
          <a:xfrm>
            <a:off x="5278280" y="3057526"/>
            <a:ext cx="1318512" cy="2493963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>
              <a:buFontTx/>
            </a:pP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48137" name="矩形 9"/>
          <p:cNvSpPr/>
          <p:nvPr/>
        </p:nvSpPr>
        <p:spPr>
          <a:xfrm>
            <a:off x="6711077" y="3059114"/>
            <a:ext cx="3155539" cy="3449637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>
              <a:buFontTx/>
            </a:pPr>
            <a:endParaRPr lang="zh-CN" altLang="en-US" sz="24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914281" y="0"/>
            <a:ext cx="10361851" cy="9144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提高访存性能的方法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232803" y="914401"/>
            <a:ext cx="11724807" cy="5751513"/>
          </a:xfrm>
        </p:spPr>
        <p:txBody>
          <a:bodyPr vert="horz" wrap="square" lIns="91440" tIns="45720" rIns="91440" bIns="45720" anchor="t" anchorCtr="0"/>
          <a:lstStyle/>
          <a:p>
            <a:pPr marL="342900" lvl="1" indent="-342900"/>
            <a:r>
              <a:rPr lang="zh-CN" altLang="en-US" sz="2000" dirty="0">
                <a:latin typeface="宋体" panose="02000500000000000000" pitchFamily="2" charset="-122"/>
                <a:ea typeface="+mn-ea"/>
              </a:rPr>
              <a:t>利用行缓冲局部性</a:t>
            </a:r>
            <a:endParaRPr lang="en-US" altLang="zh-CN" sz="20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利用输出端的行缓存，如果两次访问在同一行，可降低访问延迟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Close page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：打开 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-&gt; 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读写（并自动关行）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Open page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：读写（命中）、关行（预充） 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-&gt; 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打开 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-&gt; 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读写（不命中）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342900" lvl="1" indent="-342900"/>
            <a:r>
              <a:rPr lang="zh-CN" altLang="en-US" sz="2000" dirty="0">
                <a:latin typeface="宋体" panose="02000500000000000000" pitchFamily="2" charset="-122"/>
                <a:ea typeface="+mn-ea"/>
              </a:rPr>
              <a:t>利用</a:t>
            </a:r>
            <a:r>
              <a:rPr lang="en-US" altLang="zh-CN" sz="2000" dirty="0">
                <a:latin typeface="宋体" panose="02000500000000000000" pitchFamily="2" charset="-122"/>
                <a:ea typeface="+mn-ea"/>
              </a:rPr>
              <a:t>Bank</a:t>
            </a:r>
            <a:r>
              <a:rPr lang="zh-CN" altLang="en-US" sz="2000" dirty="0">
                <a:latin typeface="宋体" panose="02000500000000000000" pitchFamily="2" charset="-122"/>
                <a:ea typeface="+mn-ea"/>
              </a:rPr>
              <a:t>级并行性</a:t>
            </a:r>
            <a:endParaRPr lang="en-US" altLang="zh-CN" sz="20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DRAM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芯片的多个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Bank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可以流水并行执行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要求连续的访问针对不同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Bank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342900" lvl="1" indent="-342900"/>
            <a:r>
              <a:rPr lang="zh-CN" altLang="en-US" sz="2000" dirty="0">
                <a:latin typeface="宋体" panose="02000500000000000000" pitchFamily="2" charset="-122"/>
                <a:ea typeface="+mn-ea"/>
              </a:rPr>
              <a:t>内存控制器的调度</a:t>
            </a:r>
            <a:endParaRPr lang="en-US" altLang="zh-CN" sz="20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内存控制器同时对几十个不同的访问进行调度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调度访问次序，利用行缓存局部性和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Bank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级并行性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pPr marL="742950" lvl="2" indent="-342900"/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支持多个</a:t>
            </a:r>
            <a:r>
              <a:rPr lang="en-US" altLang="zh-CN" sz="1600" dirty="0">
                <a:latin typeface="宋体" panose="02000500000000000000" pitchFamily="2" charset="-122"/>
                <a:ea typeface="+mn-ea"/>
              </a:rPr>
              <a:t>Outstanding</a:t>
            </a:r>
            <a:r>
              <a:rPr lang="zh-CN" altLang="en-US" sz="1600" dirty="0">
                <a:latin typeface="宋体" panose="02000500000000000000" pitchFamily="2" charset="-122"/>
                <a:ea typeface="+mn-ea"/>
              </a:rPr>
              <a:t>访问操作，读优先</a:t>
            </a:r>
            <a:r>
              <a:rPr lang="en-US" altLang="zh-CN" sz="1600" dirty="0">
                <a:latin typeface="DejaVu Sans" panose="020B0606030804020204" charset="0"/>
                <a:ea typeface="+mn-ea"/>
              </a:rPr>
              <a:t>……</a:t>
            </a:r>
            <a:endParaRPr lang="en-US" altLang="zh-CN" sz="1600" dirty="0">
              <a:latin typeface="宋体" panose="02000500000000000000" pitchFamily="2" charset="-122"/>
              <a:ea typeface="+mn-ea"/>
            </a:endParaRPr>
          </a:p>
          <a:p>
            <a:endParaRPr lang="en-US" altLang="zh-CN" sz="1600" dirty="0">
              <a:latin typeface="宋体" panose="02000500000000000000" pitchFamily="2" charset="-122"/>
            </a:endParaRPr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823277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输出（</a:t>
            </a:r>
            <a:r>
              <a:rPr lang="en-US" altLang="zh-CN" dirty="0"/>
              <a:t>IO</a:t>
            </a:r>
            <a:r>
              <a:rPr lang="zh-CN" altLang="en-US" dirty="0"/>
              <a:t>）设备</a:t>
            </a:r>
            <a:endParaRPr lang="zh-CN" altLang="en-US" dirty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692061" y="1104900"/>
            <a:ext cx="11170312" cy="5405438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设备实现计算机和外部世界的信息交换。传统的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设备有键盘、鼠标、打印机和显示器等；新型的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设备能进行语音、图像、影视的输入输出和手写体文字输入，并支持计算机之间通过网络进行通信；磁盘等辅助存储器在计算机中也当作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设备来管理。处理器通过读写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设备控制器中的寄存器来访问及控制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设备。高速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设备可以在处理器安排下直接与主存储器成批交换数据，称为直接存储器访问（</a:t>
            </a:r>
            <a:r>
              <a:rPr lang="en-US" altLang="zh-CN" dirty="0">
                <a:latin typeface="宋体" panose="02000500000000000000" pitchFamily="2" charset="-122"/>
              </a:rPr>
              <a:t>Directly Memory Access</a:t>
            </a:r>
            <a:r>
              <a:rPr lang="zh-CN" altLang="zh-CN" dirty="0">
                <a:latin typeface="宋体" panose="02000500000000000000" pitchFamily="2" charset="-122"/>
              </a:rPr>
              <a:t>，简称</a:t>
            </a:r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zh-CN" dirty="0">
                <a:latin typeface="宋体" panose="02000500000000000000" pitchFamily="2" charset="-122"/>
              </a:rPr>
              <a:t>）。处理器可以通过查询设备控制器状态与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设备进行同步，也可以通过中断与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zh-CN" dirty="0">
                <a:latin typeface="宋体" panose="02000500000000000000" pitchFamily="2" charset="-122"/>
              </a:rPr>
              <a:t>设备进行同步。</a:t>
            </a:r>
            <a:endParaRPr lang="zh-CN" altLang="zh-CN" dirty="0">
              <a:latin typeface="宋体" panose="02000500000000000000" pitchFamily="2" charset="-122"/>
            </a:endParaRPr>
          </a:p>
          <a:p>
            <a:endParaRPr lang="zh-CN" altLang="en-US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2165069" y="49214"/>
            <a:ext cx="7771388" cy="98742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IO</a:t>
            </a:r>
            <a:r>
              <a:rPr lang="zh-CN" altLang="en-US" dirty="0"/>
              <a:t>寄存器寻址</a:t>
            </a:r>
            <a:endParaRPr lang="zh-CN" altLang="en-US" dirty="0"/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435977" y="1325563"/>
            <a:ext cx="11136450" cy="522605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访问与存储访问的不同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存储器是存储单元阵列，存储访问通过读写指令直接完成，对某单元的读写不会影响其它单元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设备都有专门的设备控制器，设备控制器向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提供一组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寄存器，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通过读取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寄存器获知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控制器状态，通过写（有时候是读）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寄存器来控制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写入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寄存器的数据，会被设备控制器解释成控制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设备的命令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寄存器寻址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通过独立的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指令寻址，如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X86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IN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OUT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指令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内存映射统一寻址，如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MIPS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LW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SW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指令的地址区分是内存访问还是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1401051" y="49213"/>
            <a:ext cx="9824288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CPU</a:t>
            </a:r>
            <a:r>
              <a:rPr lang="zh-CN" altLang="en-US" dirty="0"/>
              <a:t>和</a:t>
            </a:r>
            <a:r>
              <a:rPr lang="en-US" altLang="zh-CN" dirty="0"/>
              <a:t>IO</a:t>
            </a:r>
            <a:r>
              <a:rPr lang="zh-CN" altLang="en-US" dirty="0"/>
              <a:t>设备间的同步</a:t>
            </a:r>
            <a:endParaRPr lang="zh-CN" altLang="en-US" dirty="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292062" y="1119189"/>
            <a:ext cx="11606289" cy="5540375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和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控制器是两个不同的主体，两者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</a:rPr>
              <a:t>协同</a:t>
            </a:r>
            <a:r>
              <a:rPr lang="zh-CN" altLang="en-US" dirty="0">
                <a:latin typeface="宋体" panose="02000500000000000000" pitchFamily="2" charset="-122"/>
              </a:rPr>
              <a:t>完成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访问，</a:t>
            </a:r>
            <a:endParaRPr lang="en-US" altLang="zh-CN" dirty="0">
              <a:latin typeface="宋体" panose="02000500000000000000" pitchFamily="2" charset="-122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查询方式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通过不断读取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状态寄存器的内容获取设备控制器的状态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如打印机控制器包括状态寄存器和控制寄存器，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在打印一串数据时，先把数据写入数据寄存器，然后不断读取状态寄存器的值，当读出的</a:t>
            </a:r>
            <a:r>
              <a:rPr lang="zh-CN" altLang="en-US" dirty="0">
                <a:latin typeface="DejaVu Sans" panose="020B0606030804020204" charset="0"/>
                <a:ea typeface="+mn-ea"/>
              </a:rPr>
              <a:t>“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完成位</a:t>
            </a:r>
            <a:r>
              <a:rPr lang="zh-CN" altLang="en-US" dirty="0">
                <a:latin typeface="DejaVu Sans" panose="020B0606030804020204" charset="0"/>
                <a:ea typeface="+mn-ea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为</a:t>
            </a:r>
            <a:r>
              <a:rPr lang="zh-CN" altLang="en-US" dirty="0">
                <a:latin typeface="DejaVu Sans" panose="020B0606030804020204" charset="0"/>
                <a:ea typeface="+mn-ea"/>
              </a:rPr>
              <a:t>“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DejaVu Sans" panose="020B0606030804020204" charset="0"/>
                <a:ea typeface="+mn-ea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时，再把下一个数据写入数据寄存器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中断方式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查询方式效率太低，改由设备完成某个操作时，产生中断通知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，把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从查询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中解放出来，提高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的利用率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写入打印机的数据寄存器后，转去执行别的操作，打印机打印完数据寄存器的数据后，通过中断通知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再查询状态寄存器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823277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存储器和</a:t>
            </a:r>
            <a:r>
              <a:rPr lang="en-US" altLang="zh-CN" dirty="0"/>
              <a:t>IO</a:t>
            </a:r>
            <a:r>
              <a:rPr lang="zh-CN" altLang="en-US" dirty="0"/>
              <a:t>设备间的通信</a:t>
            </a:r>
            <a:endParaRPr lang="zh-CN" altLang="en-US" dirty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491003" y="1241426"/>
            <a:ext cx="11299413" cy="48545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存储器和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设备之间需要大量的通信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系统启动时，需要操作系统代码和数据从硬盘搬运到内存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显示输出时，需要把显示数据从内存搬运到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的显存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冯诺依曼结构本质上是以内存为中心的结构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存储器和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设备间通信有两种方式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Programming Input/Output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）方式：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/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内存中把数据读到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内部寄存器中，再写入到内存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/IO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Direct Memory Access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）方式：在内存和外设之间开辟直接的数据传输通道，由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控制器控制数据在内存和外设之间直接、连续传输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6758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969307" y="25400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PIO</a:t>
            </a:r>
            <a:r>
              <a:rPr lang="zh-CN" altLang="en-US" dirty="0"/>
              <a:t>传输方式</a:t>
            </a:r>
            <a:endParaRPr lang="zh-CN" altLang="en-US" dirty="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692061" y="1473200"/>
            <a:ext cx="11153381" cy="4622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设备和内存之间的通信通过</a:t>
            </a:r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的寄存器中转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设备之间的同步可以是查询方式，也可以是中断方式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使用</a:t>
            </a:r>
            <a:r>
              <a:rPr lang="en-US" altLang="zh-CN" dirty="0">
                <a:latin typeface="宋体" panose="02000500000000000000" pitchFamily="2" charset="-122"/>
              </a:rPr>
              <a:t>PIO</a:t>
            </a:r>
            <a:r>
              <a:rPr lang="zh-CN" altLang="en-US" dirty="0">
                <a:latin typeface="宋体" panose="02000500000000000000" pitchFamily="2" charset="-122"/>
              </a:rPr>
              <a:t>传输方式的设备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计算机中多数设备都可以通过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低速设备如键盘、鼠标只能通过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访问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设备都是</a:t>
            </a:r>
            <a:r>
              <a:rPr lang="en-US" altLang="zh-CN" dirty="0">
                <a:latin typeface="宋体" panose="02000500000000000000" pitchFamily="2" charset="-122"/>
              </a:rPr>
              <a:t>Uncache</a:t>
            </a:r>
            <a:r>
              <a:rPr lang="zh-CN" altLang="en-US" dirty="0">
                <a:latin typeface="宋体" panose="02000500000000000000" pitchFamily="2" charset="-122"/>
              </a:rPr>
              <a:t>访问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提供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Uncache Accelerate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加速：把多个连续访问合并成一个大的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对很多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设备的性能至关重要，如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往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传数据时，部分数据通过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方式传输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1183064" y="0"/>
            <a:ext cx="989836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DMA</a:t>
            </a:r>
            <a:r>
              <a:rPr lang="zh-CN" altLang="en-US" dirty="0"/>
              <a:t>数据传输</a:t>
            </a:r>
            <a:endParaRPr lang="zh-CN" altLang="en-US" dirty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dirty="0">
                <a:latin typeface="宋体" panose="02000500000000000000" pitchFamily="2" charset="-122"/>
              </a:rPr>
              <a:t>在存储器和外设之间开辟直接的数据传送通道，数据传送由专门的硬件</a:t>
            </a:r>
            <a:r>
              <a:rPr lang="zh-CN" altLang="en-US" dirty="0">
                <a:latin typeface="宋体" panose="02000500000000000000" pitchFamily="2" charset="-122"/>
              </a:rPr>
              <a:t>（</a:t>
            </a:r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en-US" dirty="0">
                <a:latin typeface="宋体" panose="02000500000000000000" pitchFamily="2" charset="-122"/>
              </a:rPr>
              <a:t>控制器）</a:t>
            </a:r>
            <a:r>
              <a:rPr lang="zh-CN" altLang="zh-CN" dirty="0">
                <a:latin typeface="宋体" panose="02000500000000000000" pitchFamily="2" charset="-122"/>
              </a:rPr>
              <a:t>来控制。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处理器准备某内存区域为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区域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zh-CN" altLang="zh-CN" dirty="0">
                <a:latin typeface="宋体" panose="02000500000000000000" pitchFamily="2" charset="-122"/>
                <a:ea typeface="+mn-ea"/>
              </a:rPr>
              <a:t>处理器设置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控制器参数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后可以去干别的事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控制器进行数据传输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控制器向处理器发出一个中断，通知处理器数据传送的结果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处理器收到中断后安排下一块传输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en-US" dirty="0">
                <a:latin typeface="宋体" panose="02000500000000000000" pitchFamily="2" charset="-122"/>
              </a:rPr>
              <a:t>要</a:t>
            </a:r>
            <a:r>
              <a:rPr lang="en-US" altLang="zh-CN" dirty="0">
                <a:latin typeface="宋体" panose="02000500000000000000" pitchFamily="2" charset="-122"/>
              </a:rPr>
              <a:t>Cache</a:t>
            </a:r>
            <a:r>
              <a:rPr lang="zh-CN" altLang="en-US" dirty="0">
                <a:latin typeface="宋体" panose="02000500000000000000" pitchFamily="2" charset="-122"/>
              </a:rPr>
              <a:t>和内存的一致性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先刷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，现代处理器一般由硬件自动维护一致性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多数高速</a:t>
            </a:r>
            <a:r>
              <a:rPr lang="en-US" altLang="zh-CN" dirty="0">
                <a:latin typeface="宋体" panose="02000500000000000000" pitchFamily="2" charset="-122"/>
              </a:rPr>
              <a:t>IO</a:t>
            </a:r>
            <a:r>
              <a:rPr lang="zh-CN" altLang="en-US" dirty="0">
                <a:latin typeface="宋体" panose="02000500000000000000" pitchFamily="2" charset="-122"/>
              </a:rPr>
              <a:t>设备均采用</a:t>
            </a:r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en-US" dirty="0">
                <a:latin typeface="宋体" panose="02000500000000000000" pitchFamily="2" charset="-122"/>
              </a:rPr>
              <a:t>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硬盘、网络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CPU</a:t>
            </a:r>
            <a:r>
              <a:rPr lang="zh-CN" altLang="en-US" dirty="0"/>
              <a:t>、</a:t>
            </a:r>
            <a:r>
              <a:rPr lang="en-US" altLang="zh-CN" dirty="0"/>
              <a:t>GPU</a:t>
            </a:r>
            <a:r>
              <a:rPr lang="zh-CN" altLang="en-US" dirty="0"/>
              <a:t>与</a:t>
            </a:r>
            <a:r>
              <a:rPr lang="en-US" altLang="zh-CN" dirty="0"/>
              <a:t>DC</a:t>
            </a:r>
            <a:r>
              <a:rPr lang="zh-CN" altLang="en-US" dirty="0"/>
              <a:t>间的数据传输</a:t>
            </a:r>
            <a:endParaRPr lang="zh-CN" altLang="en-US" dirty="0"/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308993" y="114300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龙芯</a:t>
            </a:r>
            <a:r>
              <a:rPr lang="en-US" altLang="zh-CN" dirty="0">
                <a:latin typeface="宋体" panose="02000500000000000000" pitchFamily="2" charset="-122"/>
              </a:rPr>
              <a:t>3A3000+</a:t>
            </a:r>
            <a:r>
              <a:rPr lang="zh-CN" altLang="en-US" dirty="0">
                <a:latin typeface="宋体" panose="02000500000000000000" pitchFamily="2" charset="-122"/>
              </a:rPr>
              <a:t>龙芯</a:t>
            </a:r>
            <a:r>
              <a:rPr lang="en-US" altLang="zh-CN" dirty="0">
                <a:latin typeface="宋体" panose="02000500000000000000" pitchFamily="2" charset="-122"/>
              </a:rPr>
              <a:t>7A</a:t>
            </a:r>
            <a:r>
              <a:rPr lang="zh-CN" altLang="en-US" dirty="0">
                <a:latin typeface="宋体" panose="02000500000000000000" pitchFamily="2" charset="-122"/>
              </a:rPr>
              <a:t>桥片两片结构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（显示控制器）在桥片中集成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专供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使用的显存控制器在桥片中集成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、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与</a:t>
            </a:r>
            <a:r>
              <a:rPr lang="en-US" altLang="zh-CN" dirty="0">
                <a:latin typeface="宋体" panose="02000500000000000000" pitchFamily="2" charset="-122"/>
              </a:rPr>
              <a:t>DC</a:t>
            </a:r>
            <a:r>
              <a:rPr lang="zh-CN" altLang="en-US" dirty="0">
                <a:latin typeface="宋体" panose="02000500000000000000" pitchFamily="2" charset="-122"/>
              </a:rPr>
              <a:t>之间的几种数据传输方式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读写显存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/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显存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/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显存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70661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11601" y="3443289"/>
            <a:ext cx="3633843" cy="3095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GPU</a:t>
            </a:r>
            <a:r>
              <a:rPr lang="zh-CN" altLang="en-US" dirty="0"/>
              <a:t>与</a:t>
            </a:r>
            <a:r>
              <a:rPr lang="en-US" altLang="zh-CN" dirty="0"/>
              <a:t>DC</a:t>
            </a:r>
            <a:r>
              <a:rPr lang="zh-CN" altLang="en-US" dirty="0"/>
              <a:t>间的</a:t>
            </a:r>
            <a:r>
              <a:rPr lang="en-US" altLang="zh-CN" dirty="0"/>
              <a:t>DMA</a:t>
            </a:r>
            <a:r>
              <a:rPr lang="zh-CN" altLang="en-US" dirty="0"/>
              <a:t>差异</a:t>
            </a:r>
            <a:endParaRPr lang="zh-CN" altLang="en-US" dirty="0"/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宋体" panose="02000500000000000000" pitchFamily="2" charset="-122"/>
              </a:rPr>
              <a:t>DC</a:t>
            </a:r>
            <a:r>
              <a:rPr lang="zh-CN" altLang="en-US" dirty="0">
                <a:latin typeface="宋体" panose="02000500000000000000" pitchFamily="2" charset="-122"/>
              </a:rPr>
              <a:t>的</a:t>
            </a:r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en-US" dirty="0">
                <a:latin typeface="宋体" panose="02000500000000000000" pitchFamily="2" charset="-122"/>
              </a:rPr>
              <a:t>行为比较简单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的作用是将画面进行持续显示，无需进行复杂的计算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初始化主要是将显示分辨率，帧缓冲（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）指针配置好。然后开始周期性地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数据搬运。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或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在这一过程中会周期性地向一个帧缓冲或多个帧缓冲（与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的实现相关）进行填充，填充时机通常是由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的中断决定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的</a:t>
            </a:r>
            <a:r>
              <a:rPr lang="en-US" altLang="zh-CN" dirty="0">
                <a:latin typeface="宋体" panose="02000500000000000000" pitchFamily="2" charset="-122"/>
              </a:rPr>
              <a:t>DMA</a:t>
            </a:r>
            <a:r>
              <a:rPr lang="zh-CN" altLang="en-US" dirty="0">
                <a:latin typeface="宋体" panose="02000500000000000000" pitchFamily="2" charset="-122"/>
              </a:rPr>
              <a:t>行为稍微复杂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只有需要的时候，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才会调用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进行运算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的初始化主要是描述符列表的指针，描述符是在内存里规定好的数据结构。每个描述符中又包含指向数据区域的指针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在需要的时候，会将数据区域填好，修改相应的描述符，再通知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通过描述符得到数据区域，进行相应计算。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模式一：</a:t>
            </a:r>
            <a:r>
              <a:rPr lang="en-US" altLang="zh-CN" dirty="0"/>
              <a:t>CPU</a:t>
            </a:r>
            <a:r>
              <a:rPr lang="zh-CN" altLang="en-US" dirty="0"/>
              <a:t>与</a:t>
            </a:r>
            <a:r>
              <a:rPr lang="en-US" altLang="zh-CN" dirty="0"/>
              <a:t>DC</a:t>
            </a:r>
            <a:r>
              <a:rPr lang="zh-CN" altLang="en-US" dirty="0"/>
              <a:t>使用共享显存</a:t>
            </a:r>
            <a:endParaRPr lang="zh-CN" altLang="en-US" dirty="0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不使用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endParaRPr lang="en-US" altLang="zh-CN" dirty="0">
              <a:latin typeface="宋体" panose="02000500000000000000" pitchFamily="2" charset="-122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共享显存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不使用桥片上的显存，而在内存中分配一个区域专供显示使用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这个区域称之为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（帧缓存）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数据传输方式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将需要显示的内容写入内存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正常内存操作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72709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22182" y="3443289"/>
            <a:ext cx="3604215" cy="3068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模式二：</a:t>
            </a:r>
            <a:r>
              <a:rPr lang="en-US" altLang="zh-CN" dirty="0"/>
              <a:t>CPU</a:t>
            </a:r>
            <a:r>
              <a:rPr lang="zh-CN" altLang="en-US" dirty="0"/>
              <a:t>与</a:t>
            </a:r>
            <a:r>
              <a:rPr lang="en-US" altLang="zh-CN" dirty="0"/>
              <a:t>DC</a:t>
            </a:r>
            <a:r>
              <a:rPr lang="zh-CN" altLang="en-US" dirty="0"/>
              <a:t>使用独立显存</a:t>
            </a:r>
            <a:endParaRPr lang="zh-CN" altLang="en-US" dirty="0"/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不使用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endParaRPr lang="en-US" altLang="zh-CN" dirty="0">
              <a:latin typeface="宋体" panose="02000500000000000000" pitchFamily="2" charset="-122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独立显存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使用桥片上的显存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这个区域称之为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（帧缓存）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数据传输方式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中的控制寄存器，启动传输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sz="1400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sz="1400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sz="1400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将需要显示的内容从内存读出，再写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>
              <a:buNone/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	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入独立显存上的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sz="1400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sz="1400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sz="1400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读显存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zh-CN" altLang="en-US" sz="1400" dirty="0">
                <a:latin typeface="宋体" panose="02000500000000000000" pitchFamily="2" charset="-122"/>
                <a:ea typeface="+mn-ea"/>
              </a:rPr>
              <a:t>桥片内的访存显存操作</a:t>
            </a:r>
            <a:endParaRPr lang="zh-CN" altLang="en-US" sz="1400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73733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798902" y="3433763"/>
            <a:ext cx="3644426" cy="3103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模式三：</a:t>
            </a:r>
            <a:r>
              <a:rPr lang="en-US" altLang="zh-CN" dirty="0"/>
              <a:t>CPU</a:t>
            </a:r>
            <a:r>
              <a:rPr lang="zh-CN" altLang="en-US" dirty="0"/>
              <a:t>、</a:t>
            </a:r>
            <a:r>
              <a:rPr lang="en-US" altLang="zh-CN" dirty="0"/>
              <a:t>GPU/DC</a:t>
            </a:r>
            <a:r>
              <a:rPr lang="zh-CN" altLang="en-US" dirty="0"/>
              <a:t>使用共享显存</a:t>
            </a:r>
            <a:endParaRPr lang="zh-CN" altLang="en-US" dirty="0"/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308993" y="114300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数据传输方式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在内存中分配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使用的空间，并将相关数据填入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将计算结果写入内存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74757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11601" y="3430589"/>
            <a:ext cx="3646541" cy="3106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模式四：</a:t>
            </a:r>
            <a:r>
              <a:rPr lang="en-US" altLang="zh-CN" dirty="0"/>
              <a:t>CPU</a:t>
            </a:r>
            <a:r>
              <a:rPr lang="zh-CN" altLang="en-US" dirty="0"/>
              <a:t>、</a:t>
            </a:r>
            <a:r>
              <a:rPr lang="en-US" altLang="zh-CN" dirty="0"/>
              <a:t>GPU/DC</a:t>
            </a:r>
            <a:r>
              <a:rPr lang="zh-CN" altLang="en-US" dirty="0"/>
              <a:t>使用独立显存</a:t>
            </a:r>
            <a:endParaRPr lang="zh-CN" altLang="en-US" dirty="0"/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数据传输方式</a:t>
            </a:r>
            <a:endParaRPr lang="en-US" altLang="zh-CN" dirty="0">
              <a:latin typeface="宋体" panose="02000500000000000000" pitchFamily="2" charset="-122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在内存中分配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使用的空间，并将相关数据填入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中的控制寄存器，启动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将计算结果写入显存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桥片内的访存显存操作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914400" lvl="1" indent="-457200"/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framebuffer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314450" lvl="2" indent="-457200"/>
            <a:r>
              <a:rPr lang="zh-CN" altLang="en-US" dirty="0">
                <a:latin typeface="宋体" panose="02000500000000000000" pitchFamily="2" charset="-122"/>
                <a:ea typeface="+mn-ea"/>
              </a:rPr>
              <a:t>桥片内的访存显存操作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578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75781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11601" y="3443289"/>
            <a:ext cx="3633843" cy="3095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>
          <a:xfrm>
            <a:off x="649733" y="0"/>
            <a:ext cx="10732219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几种使用模式比较</a:t>
            </a:r>
            <a:endParaRPr lang="zh-CN" altLang="en-US" dirty="0"/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>
          <a:xfrm>
            <a:off x="364019" y="1136650"/>
            <a:ext cx="11572427" cy="5551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无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的共享显存与独立显存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对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来说，写内存的性能比写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性能高得多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读内存（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）带宽能够保证的前提下，共享显存性能更好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有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的共享显存与独立显存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独立显存的使用能够减少两次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操作，有效降低内存带宽需求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有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与无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的比较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GPU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对于复杂的图形变换计算效率较高，尤其是处理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3D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图形时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在处理某些简单图形时会更快，并且节省了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启动开销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实际使用中，即使有</a:t>
            </a:r>
            <a:r>
              <a:rPr lang="en-US" altLang="zh-CN" dirty="0">
                <a:latin typeface="宋体" panose="02000500000000000000" pitchFamily="2" charset="-122"/>
              </a:rPr>
              <a:t>GPU</a:t>
            </a:r>
            <a:r>
              <a:rPr lang="zh-CN" altLang="en-US" dirty="0">
                <a:latin typeface="宋体" panose="02000500000000000000" pitchFamily="2" charset="-122"/>
              </a:rPr>
              <a:t>，也会存在一些显示数据由</a:t>
            </a:r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直接写入</a:t>
            </a:r>
            <a:r>
              <a:rPr lang="en-US" altLang="zh-CN" dirty="0">
                <a:latin typeface="宋体" panose="02000500000000000000" pitchFamily="2" charset="-122"/>
              </a:rPr>
              <a:t>framebuffer</a:t>
            </a:r>
            <a:r>
              <a:rPr lang="zh-CN" altLang="en-US" dirty="0">
                <a:latin typeface="宋体" panose="02000500000000000000" pitchFamily="2" charset="-122"/>
              </a:rPr>
              <a:t>的情况，所以</a:t>
            </a:r>
            <a:r>
              <a:rPr lang="en-US" altLang="zh-CN" dirty="0">
                <a:latin typeface="宋体" panose="02000500000000000000" pitchFamily="2" charset="-122"/>
              </a:rPr>
              <a:t>PIO</a:t>
            </a:r>
            <a:r>
              <a:rPr lang="zh-CN" altLang="en-US" dirty="0">
                <a:latin typeface="宋体" panose="02000500000000000000" pitchFamily="2" charset="-122"/>
              </a:rPr>
              <a:t>性能也会对系统性能造成一定影响</a:t>
            </a:r>
            <a:endParaRPr lang="en-US" altLang="zh-CN" dirty="0">
              <a:latin typeface="宋体" panose="02000500000000000000" pitchFamily="2" charset="-122"/>
            </a:endParaRPr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>
          <a:xfrm>
            <a:off x="914281" y="7778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IO</a:t>
            </a:r>
            <a:r>
              <a:rPr lang="zh-CN" altLang="en-US" dirty="0"/>
              <a:t>中断控制器</a:t>
            </a:r>
            <a:endParaRPr lang="zh-CN" altLang="en-US" dirty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455025" y="982664"/>
            <a:ext cx="11371369" cy="58753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宋体" panose="02000500000000000000" pitchFamily="2" charset="-122"/>
              </a:rPr>
              <a:t>中断：打断当前</a:t>
            </a:r>
            <a:r>
              <a:rPr lang="en-US" altLang="zh-CN" dirty="0">
                <a:latin typeface="宋体" panose="02000500000000000000" pitchFamily="2" charset="-122"/>
              </a:rPr>
              <a:t>CPU</a:t>
            </a:r>
            <a:r>
              <a:rPr lang="zh-CN" altLang="en-US" dirty="0">
                <a:latin typeface="宋体" panose="02000500000000000000" pitchFamily="2" charset="-122"/>
              </a:rPr>
              <a:t>的执行进程，转去执行某特定程序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中断源发出中断信号到中断控制器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中断控制器产生中断请求给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响应中断并读取中断类型码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根据中断类型执行相应的中断服务程序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从中断服务程序返回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zh-CN" altLang="en-US" dirty="0">
                <a:latin typeface="宋体" panose="02000500000000000000" pitchFamily="2" charset="-122"/>
              </a:rPr>
              <a:t>中断信号的传递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中断线直传和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MSI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Message Signaled Interrupt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r>
              <a:rPr lang="en-US" altLang="zh-CN" dirty="0">
                <a:latin typeface="宋体" panose="02000500000000000000" pitchFamily="2" charset="-122"/>
              </a:rPr>
              <a:t>Intel 8259A</a:t>
            </a:r>
            <a:r>
              <a:rPr lang="zh-CN" altLang="en-US" dirty="0">
                <a:latin typeface="宋体" panose="02000500000000000000" pitchFamily="2" charset="-122"/>
              </a:rPr>
              <a:t>的中断寄存器</a:t>
            </a:r>
            <a:endParaRPr lang="en-US" altLang="zh-CN" dirty="0">
              <a:latin typeface="宋体" panose="02000500000000000000" pitchFamily="2" charset="-122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中断请求寄存器（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IRR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）：存放当前的中断请求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中断在服务寄存器（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ISR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）：存放正在服务的中断请求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中断屏蔽寄存器（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IMR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）：存放中断屏蔽位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lvl="1"/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7782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914281" y="131763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PIO</a:t>
            </a:r>
            <a:r>
              <a:rPr lang="zh-CN" altLang="en-US" dirty="0"/>
              <a:t>与</a:t>
            </a:r>
            <a:r>
              <a:rPr lang="en-US" altLang="zh-CN" dirty="0"/>
              <a:t>DMA</a:t>
            </a:r>
            <a:endParaRPr lang="zh-CN" altLang="en-US" dirty="0"/>
          </a:p>
        </p:txBody>
      </p:sp>
      <p:sp>
        <p:nvSpPr>
          <p:cNvPr id="78851" name="灯片编号占位符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80604020202020204" pitchFamily="34" charset="0"/>
              <a:buChar char="•"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5022" y="2120900"/>
          <a:ext cx="1053539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7698"/>
                <a:gridCol w="5267698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键盘输入（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PIO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网络收包（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DMA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</a:rPr>
                        <a:t>敲击键盘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</a:rPr>
                        <a:t>接收端看到网络包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键盘输入被记录在</a:t>
                      </a:r>
                      <a:r>
                        <a:rPr lang="en-US" altLang="zh-CN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PS/2</a:t>
                      </a: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控制器内</a:t>
                      </a:r>
                      <a:endParaRPr lang="zh-CN" altLang="en-US" b="1" dirty="0">
                        <a:solidFill>
                          <a:schemeClr val="accent2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</a:rPr>
                        <a:t>网卡将收到的网络包写入内存中预先分配好的区域</a:t>
                      </a:r>
                      <a:endParaRPr lang="zh-CN" altLang="en-US" b="1" dirty="0">
                        <a:solidFill>
                          <a:schemeClr val="accent2"/>
                        </a:solidFill>
                        <a:latin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中断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中断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查询中断源，发现键盘中断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查询中断源，发现网络中断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从南桥的</a:t>
                      </a:r>
                      <a:r>
                        <a:rPr lang="en-US" altLang="zh-CN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PS/2</a:t>
                      </a: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控制器读键盘值</a:t>
                      </a:r>
                      <a:endParaRPr lang="zh-CN" altLang="en-US" b="1" dirty="0">
                        <a:solidFill>
                          <a:schemeClr val="accent2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accent2"/>
                          </a:solidFill>
                          <a:latin typeface="+mn-ea"/>
                          <a:cs typeface="+mn-ea"/>
                        </a:rPr>
                        <a:t>从内存中读网络包，初始化新的接收缓冲区供网卡使用</a:t>
                      </a:r>
                      <a:endParaRPr lang="zh-CN" altLang="en-US" b="1" dirty="0">
                        <a:solidFill>
                          <a:schemeClr val="accent2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清中断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CPU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清中断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121912" marR="1219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标题 1"/>
          <p:cNvSpPr>
            <a:spLocks noGrp="1"/>
          </p:cNvSpPr>
          <p:nvPr>
            <p:ph type="title"/>
          </p:nvPr>
        </p:nvSpPr>
        <p:spPr>
          <a:xfrm>
            <a:off x="914281" y="2874963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计算机系统启动过程分析</a:t>
            </a:r>
            <a:endParaRPr lang="zh-CN" altLang="en-US" dirty="0"/>
          </a:p>
        </p:txBody>
      </p:sp>
      <p:sp>
        <p:nvSpPr>
          <p:cNvPr id="911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>
                <a:latin typeface="Times New Roman" pitchFamily="18" charset="0"/>
              </a:rPr>
            </a:fld>
            <a:endParaRPr lang="en-US" altLang="zh-CN" sz="1400" b="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一句话要点</a:t>
            </a:r>
            <a:endParaRPr lang="zh-CN" altLang="en-US" dirty="0"/>
          </a:p>
        </p:txBody>
      </p:sp>
      <p:sp>
        <p:nvSpPr>
          <p:cNvPr id="92162" name="内容占位符 2"/>
          <p:cNvSpPr>
            <a:spLocks noGrp="1"/>
          </p:cNvSpPr>
          <p:nvPr>
            <p:ph idx="1"/>
          </p:nvPr>
        </p:nvSpPr>
        <p:spPr>
          <a:xfrm>
            <a:off x="914281" y="1857375"/>
            <a:ext cx="10361851" cy="461962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系统启动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从复位到系统可用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初始化是什么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zh-CN" dirty="0">
                <a:latin typeface="宋体" panose="02000500000000000000" pitchFamily="2" charset="-122"/>
                <a:ea typeface="+mn-ea"/>
              </a:rPr>
              <a:t>将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系统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各种寄存器状态从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不确定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设置为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确定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，将一些模块状态从无序强制为有序的一个过程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什么东西需要初始化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、内存、各类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接口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怎么初始化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按照从核内到核外，从片内到片外的次序进行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系统启动过程示意图</a:t>
            </a:r>
            <a:endParaRPr lang="zh-CN" altLang="en-US" dirty="0"/>
          </a:p>
        </p:txBody>
      </p:sp>
      <p:sp>
        <p:nvSpPr>
          <p:cNvPr id="93186" name="内容占位符 2"/>
          <p:cNvSpPr>
            <a:spLocks noGrp="1"/>
          </p:cNvSpPr>
          <p:nvPr>
            <p:ph idx="1"/>
          </p:nvPr>
        </p:nvSpPr>
        <p:spPr>
          <a:xfrm>
            <a:off x="914281" y="1989138"/>
            <a:ext cx="10361851" cy="411480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endParaRPr lang="en-US" altLang="zh-CN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931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aphicFrame>
        <p:nvGraphicFramePr>
          <p:cNvPr id="93188" name="Object 30"/>
          <p:cNvGraphicFramePr/>
          <p:nvPr/>
        </p:nvGraphicFramePr>
        <p:xfrm>
          <a:off x="1060313" y="1981200"/>
          <a:ext cx="103004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4062730" imgH="2170430" progId="">
                  <p:embed/>
                </p:oleObj>
              </mc:Choice>
              <mc:Fallback>
                <p:oleObj name="" r:id="rId1" imgW="4062730" imgH="2170430" progId="">
                  <p:embed/>
                  <p:pic>
                    <p:nvPicPr>
                      <p:cNvPr id="0" name="图片 4096" descr="image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0313" y="1981200"/>
                        <a:ext cx="10300475" cy="411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9" name="圆角矩形 8"/>
          <p:cNvSpPr/>
          <p:nvPr/>
        </p:nvSpPr>
        <p:spPr>
          <a:xfrm>
            <a:off x="914281" y="3016250"/>
            <a:ext cx="1830679" cy="2984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宋体" panose="02000500000000000000" pitchFamily="2" charset="-122"/>
              </a:rPr>
              <a:t>处理器核初始化</a:t>
            </a:r>
            <a:endParaRPr lang="zh-CN" altLang="en-US" sz="2000" dirty="0">
              <a:solidFill>
                <a:srgbClr val="FF0000"/>
              </a:solidFill>
              <a:latin typeface="Times New Roman" pitchFamily="18" charset="0"/>
              <a:ea typeface="宋体" panose="02000500000000000000" pitchFamily="2" charset="-122"/>
            </a:endParaRPr>
          </a:p>
        </p:txBody>
      </p:sp>
      <p:sp>
        <p:nvSpPr>
          <p:cNvPr id="93190" name="圆角矩形 10"/>
          <p:cNvSpPr/>
          <p:nvPr/>
        </p:nvSpPr>
        <p:spPr>
          <a:xfrm>
            <a:off x="2962948" y="3013076"/>
            <a:ext cx="1832795" cy="2982913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宋体" panose="02000500000000000000" pitchFamily="2" charset="-122"/>
              </a:rPr>
              <a:t>总线接口初始化</a:t>
            </a:r>
            <a:endParaRPr lang="zh-CN" altLang="en-US" sz="2000" dirty="0">
              <a:solidFill>
                <a:srgbClr val="FF0000"/>
              </a:solidFill>
              <a:latin typeface="Times New Roman" pitchFamily="18" charset="0"/>
              <a:ea typeface="宋体" panose="02000500000000000000" pitchFamily="2" charset="-122"/>
            </a:endParaRPr>
          </a:p>
        </p:txBody>
      </p:sp>
      <p:sp>
        <p:nvSpPr>
          <p:cNvPr id="93191" name="圆角矩形 11"/>
          <p:cNvSpPr/>
          <p:nvPr/>
        </p:nvSpPr>
        <p:spPr>
          <a:xfrm>
            <a:off x="5058175" y="3016250"/>
            <a:ext cx="1832795" cy="2984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宋体" panose="02000500000000000000" pitchFamily="2" charset="-122"/>
              </a:rPr>
              <a:t>设备探测驱动加载</a:t>
            </a:r>
            <a:endParaRPr lang="zh-CN" altLang="en-US" sz="2000" dirty="0">
              <a:solidFill>
                <a:srgbClr val="FF0000"/>
              </a:solidFill>
              <a:latin typeface="Times New Roman" pitchFamily="18" charset="0"/>
              <a:ea typeface="宋体" panose="02000500000000000000" pitchFamily="2" charset="-122"/>
            </a:endParaRPr>
          </a:p>
        </p:txBody>
      </p:sp>
      <p:sp>
        <p:nvSpPr>
          <p:cNvPr id="93192" name="圆角矩形 12"/>
          <p:cNvSpPr/>
          <p:nvPr/>
        </p:nvSpPr>
        <p:spPr>
          <a:xfrm>
            <a:off x="7189381" y="3013075"/>
            <a:ext cx="4002095" cy="233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ctr"/>
            <a:endParaRPr lang="en-US" altLang="zh-CN" dirty="0">
              <a:latin typeface="Times New Roman" pitchFamily="18" charset="0"/>
              <a:ea typeface="宋体" panose="02000500000000000000" pitchFamily="2" charset="-122"/>
            </a:endParaRPr>
          </a:p>
          <a:p>
            <a:pPr algn="r"/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宋体" panose="02000500000000000000" pitchFamily="2" charset="-122"/>
              </a:rPr>
              <a:t>       多核启动</a:t>
            </a:r>
            <a:endParaRPr lang="zh-CN" altLang="en-US" sz="2000" dirty="0">
              <a:solidFill>
                <a:srgbClr val="FF0000"/>
              </a:solidFill>
              <a:latin typeface="Times New Roman" pitchFamily="18" charset="0"/>
              <a:ea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计算机系统启动过程分析</a:t>
            </a:r>
            <a:endParaRPr lang="zh-CN" altLang="en-US" dirty="0"/>
          </a:p>
        </p:txBody>
      </p:sp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914281" y="1989138"/>
            <a:ext cx="10361851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处理器核初始化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总线接口初始化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设备探测及驱动加载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多核启动过程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>
              <a:buNone/>
            </a:pP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60680" indent="-360680" eaLnBrk="1" hangingPunct="1">
              <a:buNone/>
            </a:pP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注意代码背后的结构</a:t>
            </a:r>
            <a:endParaRPr lang="zh-CN" altLang="en-US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42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标题 1"/>
          <p:cNvSpPr>
            <a:spLocks noGrp="1"/>
          </p:cNvSpPr>
          <p:nvPr>
            <p:ph type="title"/>
          </p:nvPr>
        </p:nvSpPr>
        <p:spPr>
          <a:xfrm>
            <a:off x="869837" y="12858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处理器复位</a:t>
            </a:r>
            <a:endParaRPr lang="zh-CN" altLang="en-US" dirty="0"/>
          </a:p>
        </p:txBody>
      </p:sp>
      <p:sp>
        <p:nvSpPr>
          <p:cNvPr id="95234" name="内容占位符 2"/>
          <p:cNvSpPr>
            <a:spLocks noGrp="1"/>
          </p:cNvSpPr>
          <p:nvPr>
            <p:ph idx="1"/>
          </p:nvPr>
        </p:nvSpPr>
        <p:spPr>
          <a:xfrm>
            <a:off x="224337" y="1179513"/>
            <a:ext cx="11667665" cy="5478462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从芯片引脚输入电平信号，将处理器内部的部分寄存器等状态置为预设值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开始取指（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LoongArch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处理器的第一条指令为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0x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1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00000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复位输入是一个硬件初始化动作，至少需要完成最基本的芯片状态初始化（保证第一条指令取指执行）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控制寄存器状态初始化，如处于核心态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核内程序计数器（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）初始化为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0x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1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C00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000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片内对于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0x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1Cx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xxxxx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段地址的路由通路初始化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清空流水线有效位避免混乱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为什么不初始化更多硬件（如内存、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TLB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、寄存器）？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复位后，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CPU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内部只有取指通路一丝光亮，其余漆黑一片</a:t>
            </a:r>
            <a:endParaRPr lang="zh-CN" altLang="en-US" dirty="0">
              <a:solidFill>
                <a:srgbClr val="FF0000"/>
              </a:solidFill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52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标题 1"/>
          <p:cNvSpPr>
            <a:spLocks noGrp="1"/>
          </p:cNvSpPr>
          <p:nvPr>
            <p:ph type="title"/>
          </p:nvPr>
        </p:nvSpPr>
        <p:spPr>
          <a:xfrm>
            <a:off x="915549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首条指令</a:t>
            </a:r>
            <a:endParaRPr lang="zh-CN" altLang="en-US" dirty="0"/>
          </a:p>
        </p:txBody>
      </p:sp>
      <p:sp>
        <p:nvSpPr>
          <p:cNvPr id="962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388501" y="1124586"/>
            <a:ext cx="10361851" cy="3660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初始化控制寄存器（用于控制处理器行为，如中断）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模式信息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 </a:t>
            </a:r>
            <a:r>
              <a:rPr kumimoji="1" lang="en-US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CRMD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0x0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1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例外配置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 </a:t>
            </a:r>
            <a:r>
              <a:rPr kumimoji="1" lang="en-US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ECFG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0x4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例外入口地址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 </a:t>
            </a:r>
            <a:r>
              <a:rPr kumimoji="1" lang="en-US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EENTRY 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0xC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1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重填例外入口地址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 </a:t>
            </a:r>
            <a:r>
              <a:rPr kumimoji="1" lang="en-US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TLBRENTRY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（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0x88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初始化软件约定使用的通用寄存器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栈指针：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BIOS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用的堆栈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全局指针：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BIOS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用的地址空间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内核约定物理地址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240MB-256MB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之间的空间给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BIOS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用</a:t>
            </a:r>
            <a:endParaRPr kumimoji="1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graphicFrame>
        <p:nvGraphicFramePr>
          <p:cNvPr id="7" name="内容占位符 4"/>
          <p:cNvGraphicFramePr/>
          <p:nvPr/>
        </p:nvGraphicFramePr>
        <p:xfrm>
          <a:off x="873177" y="3945572"/>
          <a:ext cx="10705413" cy="27866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6133"/>
                <a:gridCol w="5669280"/>
              </a:tblGrid>
              <a:tr h="27866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dli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(0x7 &lt;&lt; 16) 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csrxchg zero, t0, 0x4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设置中断入口间距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dli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0x1c001000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csrwr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0xc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设置普通例外入口地址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dli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0x1c001000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csrwr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0x88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设置</a:t>
                      </a:r>
                      <a:r>
                        <a:rPr lang="en-US" altLang="zh-CN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TLB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重填例外入口地址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dli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t0, (1 &lt;&lt; 2)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csrxchg zero, t0, 0x0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关中断执行</a:t>
                      </a: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la   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sp, stack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初始化</a:t>
                      </a:r>
                      <a:r>
                        <a:rPr lang="zh-CN" alt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栈指针</a:t>
                      </a:r>
                      <a:endParaRPr lang="zh-CN" alt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alt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la       </a:t>
                      </a:r>
                      <a:r>
                        <a:rPr lang="en-US" sz="1200" kern="100" dirty="0" smtClean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</a:t>
                      </a:r>
                      <a:r>
                        <a:rPr 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gp, _gp  //</a:t>
                      </a:r>
                      <a:r>
                        <a:rPr lang="zh-CN" altLang="en-US" sz="12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初始化全局指针</a:t>
                      </a:r>
                      <a:endParaRPr lang="zh-CN" altLang="en-US" sz="12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lu12i.w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r12, 0x70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csrxchg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r0, $r12, 0x4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lu12i.w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r12, 0x1c001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csrwr       $r12, 0xc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lui12i.w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r12, 0x1c001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csrwr       $r12, 0x88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ori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r12, $r0, 0x4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csrxchg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$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r0, $r12, 0x0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lu12i.w     $r3,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0x90400   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//0x0000,0000,</a:t>
                      </a:r>
                      <a:r>
                        <a:rPr lang="en-US" sz="1200" b="1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9040,0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000</a:t>
                      </a:r>
                      <a:endParaRPr lang="en-US" sz="1200" b="1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lu32i.d     $r3,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         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//0x000</a:t>
                      </a:r>
                      <a:r>
                        <a:rPr lang="en-US" sz="1200" b="1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0,0000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,9040,0000 </a:t>
                      </a:r>
                      <a:endParaRPr lang="en-US" sz="1200" b="1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lu52i.d     $r3, $r3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</a:t>
                      </a:r>
                      <a:r>
                        <a:rPr lang="en-US" sz="1200" b="1" kern="100" dirty="0" smtClean="0"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0x900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//</a:t>
                      </a:r>
                      <a:r>
                        <a:rPr lang="en-US" sz="1200" b="1" u="sng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</a:t>
                      </a:r>
                      <a:r>
                        <a:rPr lang="en-US" sz="1200" b="1" u="sng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900</a:t>
                      </a:r>
                      <a:r>
                        <a:rPr lang="en-US" sz="1200" b="1" u="sng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0,0000,9400,0000</a:t>
                      </a:r>
                      <a:endParaRPr lang="en-US" sz="1200" b="1" u="sng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lu12i.w     $r2,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0x90020   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//0x0000,0000,</a:t>
                      </a:r>
                      <a:r>
                        <a:rPr lang="en-US" sz="1200" b="1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9002,0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000</a:t>
                      </a:r>
                      <a:endParaRPr lang="en-US" sz="1200" b="1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ori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$r2, $r2,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0x900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//0x0000,0000,9002,0</a:t>
                      </a:r>
                      <a:r>
                        <a:rPr lang="en-US" sz="1200" b="1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900</a:t>
                      </a:r>
                      <a:endParaRPr lang="en-US" sz="1200" b="1" kern="100" dirty="0"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lu32i.d     $r2,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         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//0x000</a:t>
                      </a:r>
                      <a:r>
                        <a:rPr lang="en-US" sz="1200" b="1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0,0000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,9002,0900</a:t>
                      </a:r>
                      <a:endParaRPr lang="en-US" sz="1200" b="1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lu52i.d     $r2, $r2, </a:t>
                      </a:r>
                      <a:r>
                        <a:rPr lang="en-US" sz="1200" b="1" kern="100" dirty="0" smtClean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0x900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</a:t>
                      </a:r>
                      <a:r>
                        <a:rPr lang="en-US" sz="1200" b="1" u="sng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0x</a:t>
                      </a:r>
                      <a:r>
                        <a:rPr lang="en-US" sz="1200" b="1" u="sng" kern="100" dirty="0" smtClean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900</a:t>
                      </a:r>
                      <a:r>
                        <a:rPr lang="en-US" sz="1200" b="1" u="sng" kern="100" dirty="0" smtClean="0"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0,0000,9002,0900</a:t>
                      </a:r>
                      <a:endParaRPr lang="en-US" sz="1200" b="1" u="sng" kern="100" dirty="0"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767388" y="1338263"/>
            <a:ext cx="6423025" cy="2308225"/>
            <a:chOff x="5767388" y="1338263"/>
            <a:chExt cx="6423025" cy="2308225"/>
          </a:xfrm>
        </p:grpSpPr>
        <p:pic>
          <p:nvPicPr>
            <p:cNvPr id="9" name="内容占位符 3" descr="Screenshot-1_副本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5767388" y="1338263"/>
              <a:ext cx="6423025" cy="230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椭圆 6"/>
            <p:cNvSpPr>
              <a:spLocks noChangeArrowheads="1"/>
            </p:cNvSpPr>
            <p:nvPr/>
          </p:nvSpPr>
          <p:spPr bwMode="auto">
            <a:xfrm>
              <a:off x="11753850" y="1609725"/>
              <a:ext cx="92075" cy="27305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7"/>
            <p:cNvSpPr>
              <a:spLocks noChangeArrowheads="1"/>
            </p:cNvSpPr>
            <p:nvPr/>
          </p:nvSpPr>
          <p:spPr bwMode="auto">
            <a:xfrm>
              <a:off x="10369550" y="2019300"/>
              <a:ext cx="238125" cy="246063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8"/>
            <p:cNvSpPr>
              <a:spLocks noChangeArrowheads="1"/>
            </p:cNvSpPr>
            <p:nvPr/>
          </p:nvSpPr>
          <p:spPr bwMode="auto">
            <a:xfrm>
              <a:off x="6423025" y="2416175"/>
              <a:ext cx="4657725" cy="21748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xfrm>
            <a:off x="799996" y="21113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zh-CN" dirty="0"/>
              <a:t>模式信息</a:t>
            </a:r>
            <a:r>
              <a:rPr lang="zh-CN" altLang="en-US" dirty="0"/>
              <a:t>控制寄存器</a:t>
            </a:r>
            <a:endParaRPr lang="zh-CN" altLang="en-US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914281" y="1270001"/>
            <a:ext cx="10361851" cy="2633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四种特权等级</a:t>
            </a:r>
            <a:endParaRPr kumimoji="0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sz="1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复位后默认为最高特权等级</a:t>
            </a:r>
            <a:endParaRPr kumimoji="0" 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例外使能控制</a:t>
            </a:r>
            <a:endParaRPr kumimoji="0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360045" marR="0" lvl="1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</p:txBody>
      </p:sp>
      <p:pic>
        <p:nvPicPr>
          <p:cNvPr id="97284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399988" y="2227264"/>
            <a:ext cx="7563982" cy="2122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285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3056" y="4730750"/>
            <a:ext cx="7528004" cy="2101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>
                <a:latin typeface="Times New Roman" pitchFamily="18" charset="0"/>
              </a:rPr>
            </a:fld>
            <a:endParaRPr lang="en-US" altLang="zh-CN" sz="1400" b="0" dirty="0">
              <a:latin typeface="Times New Roman" pitchFamily="18" charset="0"/>
            </a:endParaRPr>
          </a:p>
        </p:txBody>
      </p:sp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799996" y="21113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zh-CN" dirty="0"/>
              <a:t>例外相关</a:t>
            </a:r>
            <a:r>
              <a:rPr lang="zh-CN" altLang="en-US" dirty="0"/>
              <a:t>控制寄存器</a:t>
            </a:r>
            <a:endParaRPr lang="zh-CN" altLang="en-US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914281" y="1270001"/>
            <a:ext cx="10361851" cy="2633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例外入口支持向量化</a:t>
            </a:r>
            <a:endParaRPr kumimoji="0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720725" marR="0" lvl="1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VS = 0</a:t>
            </a:r>
            <a:r>
              <a:rPr kumimoji="0" lang="zh-CN" altLang="en-US" sz="1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ea"/>
              </a:rPr>
              <a:t>，使用统一入口</a:t>
            </a:r>
            <a:endParaRPr kumimoji="0" lang="en-US" altLang="zh-CN" sz="1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例外入口地址</a:t>
            </a:r>
            <a:endParaRPr kumimoji="0" 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重填例外入口地址</a:t>
            </a:r>
            <a:endParaRPr kumimoji="0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360045" marR="0" lvl="1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ea"/>
            </a:endParaRPr>
          </a:p>
        </p:txBody>
      </p:sp>
      <p:pic>
        <p:nvPicPr>
          <p:cNvPr id="98308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0467" y="1798638"/>
            <a:ext cx="9102599" cy="1033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309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89939" y="3759200"/>
            <a:ext cx="9003128" cy="933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310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89939" y="5364163"/>
            <a:ext cx="9001011" cy="1223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1"/>
          <p:cNvSpPr>
            <a:spLocks noGrp="1"/>
          </p:cNvSpPr>
          <p:nvPr>
            <p:ph type="title"/>
          </p:nvPr>
        </p:nvSpPr>
        <p:spPr>
          <a:xfrm>
            <a:off x="998937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外部调试接口初始化</a:t>
            </a:r>
            <a:endParaRPr lang="zh-CN" altLang="en-US" dirty="0"/>
          </a:p>
        </p:txBody>
      </p:sp>
      <p:sp>
        <p:nvSpPr>
          <p:cNvPr id="99330" name="内容占位符 2"/>
          <p:cNvSpPr>
            <a:spLocks noGrp="1"/>
          </p:cNvSpPr>
          <p:nvPr>
            <p:ph idx="1"/>
          </p:nvPr>
        </p:nvSpPr>
        <p:spPr>
          <a:xfrm>
            <a:off x="469839" y="1382714"/>
            <a:ext cx="11379836" cy="5132387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外部调试接口本身不是处理器核初始化的内容，但调试时需要尽早开始人机交互，方便软件调试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输出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蜂鸣器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数码管显示</a:t>
            </a:r>
            <a:endParaRPr lang="en-US" altLang="zh-CN" dirty="0">
              <a:latin typeface="+mn-lt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输入输出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串口控制器</a:t>
            </a:r>
            <a:endParaRPr lang="en-US" altLang="zh-CN" dirty="0">
              <a:latin typeface="+mn-lt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显示器这样的设备相比之下是比较复杂的接口，在启动的后期才会使用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993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标题 1"/>
          <p:cNvSpPr>
            <a:spLocks noGrp="1"/>
          </p:cNvSpPr>
          <p:nvPr>
            <p:ph type="title"/>
          </p:nvPr>
        </p:nvSpPr>
        <p:spPr>
          <a:xfrm>
            <a:off x="886769" y="0"/>
            <a:ext cx="10361851" cy="10287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串口初始化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</p:nvPr>
        </p:nvGraphicFramePr>
        <p:xfrm>
          <a:off x="885369" y="2916238"/>
          <a:ext cx="10074818" cy="3855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0846"/>
                <a:gridCol w="5513972"/>
              </a:tblGrid>
              <a:tr h="38557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LEAF(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initserial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)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a0, GS3_UART_BASE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t1, 128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sb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.b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t1, </a:t>
                      </a:r>
                      <a:r>
                        <a:rPr 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</a:t>
                      </a:r>
                      <a:r>
                        <a:rPr lang="en-US" alt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, 3</a:t>
                      </a:r>
                      <a:endParaRPr lang="zh-CN" sz="1050" b="1" kern="10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t1, 0x12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sb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.b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t1, </a:t>
                      </a:r>
                      <a:r>
                        <a:rPr 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</a:t>
                      </a:r>
                      <a:r>
                        <a:rPr lang="en-US" alt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, 0</a:t>
                      </a:r>
                      <a:endParaRPr lang="zh-CN" sz="1050" b="1" kern="10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    </a:t>
                      </a:r>
                      <a:r>
                        <a:rPr lang="en-US" sz="105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li</a:t>
                      </a:r>
                      <a:r>
                        <a:rPr lang="en-US" sz="105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</a:t>
                      </a:r>
                      <a:r>
                        <a:rPr lang="en-US" sz="1050" kern="100" dirty="0" smtClean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</a:t>
                      </a:r>
                      <a:r>
                        <a:rPr lang="en-US" sz="105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t1, 0x12</a:t>
                      </a: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    </a:t>
                      </a:r>
                      <a:r>
                        <a:rPr lang="en-US" sz="105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sb</a:t>
                      </a:r>
                      <a:r>
                        <a:rPr lang="en-US" altLang="en-US" sz="105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.b</a:t>
                      </a:r>
                      <a:r>
                        <a:rPr lang="en-US" sz="105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  t1, 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a0</a:t>
                      </a:r>
                      <a:r>
                        <a:rPr lang="en-US" altLang="en-US" sz="105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, 1</a:t>
                      </a: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</a:t>
                      </a: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t1, 0x</a:t>
                      </a:r>
                      <a:r>
                        <a:rPr lang="en-US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3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sb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.b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t1, </a:t>
                      </a:r>
                      <a:r>
                        <a:rPr 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</a:t>
                      </a:r>
                      <a:r>
                        <a:rPr lang="en-US" alt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, 3</a:t>
                      </a:r>
                      <a:endParaRPr lang="zh-CN" sz="1050" b="1" kern="10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</a:t>
                      </a: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t1, 0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sb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.b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t1, </a:t>
                      </a:r>
                      <a:r>
                        <a:rPr lang="en-US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</a:t>
                      </a:r>
                      <a:r>
                        <a:rPr lang="en-US" alt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, 1</a:t>
                      </a:r>
                      <a:endParaRPr lang="zh-CN" sz="1050" b="1" kern="10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</a:t>
                      </a:r>
                      <a:r>
                        <a:rPr 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t1,71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sb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.b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t1,</a:t>
                      </a:r>
                      <a:r>
                        <a:rPr lang="en-US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a0</a:t>
                      </a:r>
                      <a:r>
                        <a:rPr lang="en-US" altLang="en-US" sz="105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, 2</a:t>
                      </a:r>
                      <a:endParaRPr lang="zh-CN" sz="1050" b="1" kern="10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j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</a:t>
                      </a:r>
                      <a:r>
                        <a:rPr lang="en-US" alt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ra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END(</a:t>
                      </a:r>
                      <a:r>
                        <a:rPr lang="en-US" sz="105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initserial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)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en-US" sz="1200" kern="100" dirty="0"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加载串口设备基地址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线路控制寄存器，写入</a:t>
                      </a:r>
                      <a:r>
                        <a:rPr lang="en-US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0x80</a:t>
                      </a: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128</a:t>
                      </a: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）表示后续寄存器访问为分频寄存器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配置串口波特率分频，当串口控制器输入频率为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33MHz</a:t>
                      </a:r>
                      <a:r>
                        <a:rPr 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时，将串口通讯速率设置在</a:t>
                      </a: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115200</a:t>
                      </a:r>
                      <a:r>
                        <a:rPr 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，分频的方式为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33,000,000 / 16 / 0x12 = 114583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由于串口通信有固定的格式，只要两端的速率保持在一定范围之内就可以保证传输的正确性</a:t>
                      </a:r>
                      <a:endParaRPr lang="en-US" alt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设置传输字符宽度为</a:t>
                      </a:r>
                      <a:r>
                        <a:rPr lang="en-US" altLang="zh-CN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8</a:t>
                      </a: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，同时将后续寄存器访问设置为正常寄存器</a:t>
                      </a:r>
                      <a:endParaRPr lang="en-US" alt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b="1" kern="100" dirty="0" smtClean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050" b="1" kern="100" dirty="0" smtClean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不</a:t>
                      </a: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使用中断模式</a:t>
                      </a:r>
                      <a:endParaRPr lang="zh-CN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  <p:sp>
        <p:nvSpPr>
          <p:cNvPr id="1003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155913" y="1147240"/>
            <a:ext cx="10361851" cy="169662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建立主机与被调试机之间的通信协议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GS3_UART_BASE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是串口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控制器寄存器基址</a:t>
            </a:r>
            <a:endParaRPr kumimoji="1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所谓驱动就是读写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设备控制寄存器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注意读写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设备与读写存储器不同</a:t>
            </a:r>
            <a:endParaRPr kumimoji="1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59036" y="989901"/>
            <a:ext cx="6531378" cy="183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0" y="545284"/>
            <a:ext cx="6710318" cy="707122"/>
          </a:xfrm>
        </p:spPr>
        <p:txBody>
          <a:bodyPr/>
          <a:lstStyle/>
          <a:p>
            <a:r>
              <a:rPr lang="zh-CN" altLang="en-US" dirty="0" smtClean="0"/>
              <a:t>串口字符输入与输出</a:t>
            </a:r>
            <a:endParaRPr lang="zh-CN" altLang="en-US" dirty="0" smtClean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11184" y="2734811"/>
            <a:ext cx="9093948" cy="4131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5305" y="209724"/>
            <a:ext cx="5728534" cy="260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标题 1"/>
          <p:cNvSpPr>
            <a:spLocks noGrp="1"/>
          </p:cNvSpPr>
          <p:nvPr>
            <p:ph type="title"/>
          </p:nvPr>
        </p:nvSpPr>
        <p:spPr>
          <a:xfrm>
            <a:off x="914281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TLB</a:t>
            </a:r>
            <a:r>
              <a:rPr lang="zh-CN" altLang="en-US" dirty="0"/>
              <a:t>初始化</a:t>
            </a:r>
            <a:endParaRPr lang="zh-CN" altLang="en-US" dirty="0"/>
          </a:p>
        </p:txBody>
      </p:sp>
      <p:sp>
        <p:nvSpPr>
          <p:cNvPr id="106498" name="内容占位符 2"/>
          <p:cNvSpPr>
            <a:spLocks noGrp="1"/>
          </p:cNvSpPr>
          <p:nvPr>
            <p:ph idx="1"/>
          </p:nvPr>
        </p:nvSpPr>
        <p:spPr>
          <a:xfrm>
            <a:off x="914281" y="1285876"/>
            <a:ext cx="10361851" cy="481012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用于虚实地址转换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从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来看，</a:t>
            </a:r>
            <a:r>
              <a:rPr lang="en-US" altLang="en-US" dirty="0">
                <a:latin typeface="宋体" panose="02000500000000000000" pitchFamily="2" charset="-122"/>
                <a:ea typeface="+mn-ea"/>
                <a:cs typeface="+mn-cs"/>
              </a:rPr>
              <a:t>LoongArch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地址空间，分为窗口映射和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映射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zh-CN" dirty="0">
                <a:latin typeface="宋体" panose="02000500000000000000" pitchFamily="2" charset="-122"/>
                <a:ea typeface="+mn-ea"/>
              </a:rPr>
              <a:t>在窗口映射中命中的地址，使用窗口直接映射的方式</a:t>
            </a:r>
            <a:endParaRPr lang="zh-CN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zh-CN" dirty="0">
                <a:latin typeface="宋体" panose="02000500000000000000" pitchFamily="2" charset="-122"/>
                <a:ea typeface="+mn-ea"/>
              </a:rPr>
              <a:t>其它未命中地址，全部使用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映射</a:t>
            </a:r>
            <a:endParaRPr lang="zh-CN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对于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BIOS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，基本使用非映射空间，无需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TLB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转换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对于特别的地址转换需求，会借助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映射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0xC0000000 -&gt; 0x40000000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：对应显存等大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064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>
                <a:latin typeface="Times New Roman" pitchFamily="18" charset="0"/>
              </a:rPr>
            </a:fld>
            <a:endParaRPr lang="en-US" altLang="zh-CN" sz="1400" b="0" dirty="0">
              <a:latin typeface="Times New Roman" pitchFamily="18" charset="0"/>
            </a:endParaRPr>
          </a:p>
        </p:txBody>
      </p:sp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937562" y="293689"/>
            <a:ext cx="10361851" cy="69532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en-US" dirty="0"/>
              <a:t>LoongArch</a:t>
            </a:r>
            <a:r>
              <a:rPr lang="zh-CN" altLang="en-US" dirty="0"/>
              <a:t>的虚拟地址空间</a:t>
            </a:r>
            <a:endParaRPr lang="zh-CN" altLang="en-US" dirty="0"/>
          </a:p>
        </p:txBody>
      </p:sp>
      <p:graphicFrame>
        <p:nvGraphicFramePr>
          <p:cNvPr id="107523" name="对象 -2147482624"/>
          <p:cNvGraphicFramePr/>
          <p:nvPr/>
        </p:nvGraphicFramePr>
        <p:xfrm>
          <a:off x="1197877" y="1320800"/>
          <a:ext cx="10285661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3886200" imgH="2228850" progId="">
                  <p:embed/>
                </p:oleObj>
              </mc:Choice>
              <mc:Fallback>
                <p:oleObj name="" r:id="rId1" imgW="3886200" imgH="2228850" progId="">
                  <p:embed/>
                  <p:pic>
                    <p:nvPicPr>
                      <p:cNvPr id="0" name="图片 5120" descr="image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7877" y="1320800"/>
                        <a:ext cx="10285661" cy="442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标题 1"/>
          <p:cNvSpPr>
            <a:spLocks noGrp="1"/>
          </p:cNvSpPr>
          <p:nvPr>
            <p:ph type="title"/>
          </p:nvPr>
        </p:nvSpPr>
        <p:spPr>
          <a:xfrm>
            <a:off x="929096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TLB</a:t>
            </a:r>
            <a:r>
              <a:rPr lang="zh-CN" altLang="en-US" dirty="0"/>
              <a:t>初始化代码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</p:nvPr>
        </p:nvGraphicFramePr>
        <p:xfrm>
          <a:off x="1316396" y="4024314"/>
          <a:ext cx="9445030" cy="2301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22092"/>
                <a:gridCol w="4722938"/>
              </a:tblGrid>
              <a:tr h="23018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LEAF(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CPU_TLBClear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li     a3, 0 </a:t>
                      </a:r>
                      <a:endParaRPr lang="en-US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baseline="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altLang="en-US" sz="1100" kern="100" baseline="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li     a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 (1&lt;&lt;31) | (12 &lt;&lt; 24)</a:t>
                      </a:r>
                      <a:endParaRPr lang="en-US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baseline="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li     a2,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1: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csrwr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a0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0x10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alt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.d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a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 1</a:t>
                      </a:r>
                      <a:endParaRPr lang="en-US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alt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addi.d  a0, 1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533400" indent="-533400"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sz="1100" kern="100" dirty="0" err="1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tlbw</a:t>
                      </a:r>
                      <a:r>
                        <a:rPr lang="en-US" altLang="en-US" sz="1100" kern="100" dirty="0" err="1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US" sz="1100" kern="100" dirty="0"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533400" indent="-533400"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bne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a3, a2, 1b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       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j</a:t>
                      </a:r>
                      <a:r>
                        <a:rPr lang="en-US" alt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r>
                        <a:rPr lang="en-US" alt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ra</a:t>
                      </a:r>
                      <a:endParaRPr lang="zh-CN" sz="1100" kern="100" dirty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END(</a:t>
                      </a:r>
                      <a:r>
                        <a:rPr lang="en-US" sz="1100" kern="1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CPU_TLBClear</a:t>
                      </a:r>
                      <a:r>
                        <a:rPr lang="en-US" sz="1100" kern="1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zh-CN" sz="1100" kern="100" dirty="0">
                        <a:effectLst/>
                        <a:latin typeface="Courier New" pitchFamily="49" charset="0"/>
                        <a:ea typeface="宋体" panose="02000500000000000000" pitchFamily="2" charset="-122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循环控制变量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设置页大小为4K，31位为1表示无效</a:t>
                      </a:r>
                      <a:endParaRPr lang="en-US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TLB表项数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sz="1100" kern="100" dirty="0">
                          <a:effectLst/>
                        </a:rPr>
                        <a:t>将表项写入编号为0x10的TLBIDX寄存器</a:t>
                      </a:r>
                      <a:endParaRPr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增加循环变量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sz="1100" kern="100" dirty="0">
                          <a:effectLst/>
                        </a:rPr>
                        <a:t>增加TLBIDX中的索引号</a:t>
                      </a:r>
                      <a:endParaRPr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当前处理的</a:t>
                      </a:r>
                      <a:r>
                        <a:rPr lang="en-US" sz="1100" kern="100" dirty="0">
                          <a:effectLst/>
                        </a:rPr>
                        <a:t>TLB</a:t>
                      </a:r>
                      <a:r>
                        <a:rPr lang="zh-CN" sz="1100" kern="100" dirty="0">
                          <a:effectLst/>
                        </a:rPr>
                        <a:t>项索引号</a:t>
                      </a:r>
                      <a:endParaRPr lang="zh-CN" sz="11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操作</a:t>
                      </a:r>
                      <a:r>
                        <a:rPr lang="en-US" sz="1100" kern="100" dirty="0">
                          <a:effectLst/>
                        </a:rPr>
                        <a:t>TLB</a:t>
                      </a:r>
                      <a:r>
                        <a:rPr lang="zh-CN" sz="1100" kern="100" dirty="0">
                          <a:effectLst/>
                        </a:rPr>
                        <a:t>表</a:t>
                      </a:r>
                      <a:endParaRPr lang="zh-CN" sz="1100" kern="100" dirty="0">
                        <a:effectLst/>
                        <a:latin typeface="Calibri" pitchFamily="34" charset="0"/>
                        <a:ea typeface="宋体" panose="02000500000000000000" pitchFamily="2" charset="-122"/>
                        <a:cs typeface="Times New Roman" pitchFamily="18" charset="0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  <p:sp>
        <p:nvSpPr>
          <p:cNvPr id="10855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857139" y="1371601"/>
            <a:ext cx="10361851" cy="2651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逐一清空每一个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项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需要使用时再填入正确映射（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通过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 Refill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例外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LoongArch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中支持更简洁的初始化指令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INVTLB 0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越来越多的处理器不再需要软件初始化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09570" name="Rectangle 2"/>
          <p:cNvSpPr>
            <a:spLocks noGrp="1"/>
          </p:cNvSpPr>
          <p:nvPr>
            <p:ph type="title"/>
          </p:nvPr>
        </p:nvSpPr>
        <p:spPr>
          <a:xfrm>
            <a:off x="971424" y="200025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en-US" dirty="0"/>
              <a:t>LoongArch</a:t>
            </a:r>
            <a:r>
              <a:rPr lang="zh-CN" altLang="en-US" dirty="0"/>
              <a:t>的</a:t>
            </a:r>
            <a:r>
              <a:rPr lang="en-US" altLang="zh-CN" dirty="0"/>
              <a:t>TLB</a:t>
            </a:r>
            <a:r>
              <a:rPr lang="zh-CN" altLang="en-US" dirty="0"/>
              <a:t>及相关控制寄存器</a:t>
            </a:r>
            <a:endParaRPr lang="zh-CN" altLang="en-US" dirty="0"/>
          </a:p>
        </p:txBody>
      </p:sp>
      <p:sp>
        <p:nvSpPr>
          <p:cNvPr id="109571" name="Rectangle 5"/>
          <p:cNvSpPr>
            <a:spLocks noGrp="1"/>
          </p:cNvSpPr>
          <p:nvPr>
            <p:ph idx="1"/>
          </p:nvPr>
        </p:nvSpPr>
        <p:spPr>
          <a:xfrm>
            <a:off x="404232" y="1697039"/>
            <a:ext cx="3796806" cy="206057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表项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817880" lvl="1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全相联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817880" lvl="1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32-64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项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控制寄存器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pic>
        <p:nvPicPr>
          <p:cNvPr id="10957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662420" y="2043114"/>
            <a:ext cx="9208419" cy="1220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424" y="4208464"/>
            <a:ext cx="10717405" cy="191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标题 1"/>
          <p:cNvSpPr>
            <a:spLocks noGrp="1"/>
          </p:cNvSpPr>
          <p:nvPr>
            <p:ph type="title"/>
          </p:nvPr>
        </p:nvSpPr>
        <p:spPr>
          <a:xfrm>
            <a:off x="886769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Cache</a:t>
            </a:r>
            <a:r>
              <a:rPr lang="zh-CN" altLang="en-US" dirty="0"/>
              <a:t>初始化</a:t>
            </a:r>
            <a:endParaRPr lang="zh-CN" altLang="en-US" dirty="0"/>
          </a:p>
        </p:txBody>
      </p:sp>
      <p:sp>
        <p:nvSpPr>
          <p:cNvPr id="101378" name="内容占位符 2"/>
          <p:cNvSpPr>
            <a:spLocks noGrp="1"/>
          </p:cNvSpPr>
          <p:nvPr>
            <p:ph idx="1"/>
          </p:nvPr>
        </p:nvSpPr>
        <p:spPr>
          <a:xfrm>
            <a:off x="0" y="1116014"/>
            <a:ext cx="12190413" cy="5589587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复位后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BIOS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刚开始启动时，处理器从非缓存空间开始执行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上千拍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完成一条指令的的取指和执行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初始化后，跳转到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空间执行，全速流水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尽早完成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初始化，使用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地址执行能够大大提升启动速度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从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来看，逻辑地址空间，分为非缓存与缓存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en-US" dirty="0">
                <a:latin typeface="宋体" panose="02000500000000000000" pitchFamily="2" charset="-122"/>
                <a:ea typeface="+mn-ea"/>
              </a:rPr>
              <a:t>LoongArch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使用窗口进行映射，一般情况下，按以下的设置方式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0x90000000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_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000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0000 </a:t>
            </a:r>
            <a:r>
              <a:rPr lang="en-US" altLang="zh-CN" dirty="0">
                <a:latin typeface="DejaVu Sans" panose="020B0606030804020204" charset="0"/>
                <a:ea typeface="+mn-ea"/>
              </a:rPr>
              <a:t>–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 0x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9FFFFFFF_F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FFFFFFF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0x80000000_00000000 – 0x8FFFFFFF_FFFFFFFF：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Unc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ached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访问方式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上述两个通过窗口来映射的空间，虽然访问的方式不同，但后面所映射的物理地址是相同的。</a:t>
            </a:r>
            <a:endParaRPr lang="zh-CN" altLang="en-US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区别在于用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方式访问时，如果在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中失效会自动到实际的物理位置取回数据；而用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Uncache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方式，则不会在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中查找。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Uncache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一般用于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访问</a:t>
            </a:r>
            <a:endParaRPr lang="zh-CN" altLang="en-US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为什么用一个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地址进行写操作后，用同样的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Uncache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地址无法得到写入的值？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13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937562" y="293689"/>
            <a:ext cx="10361851" cy="69532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en-US" dirty="0"/>
              <a:t>LoongArch</a:t>
            </a:r>
            <a:r>
              <a:rPr lang="zh-CN" altLang="en-US" dirty="0"/>
              <a:t>的虚拟地址空间</a:t>
            </a:r>
            <a:endParaRPr lang="zh-CN" altLang="en-US" dirty="0"/>
          </a:p>
        </p:txBody>
      </p:sp>
      <p:graphicFrame>
        <p:nvGraphicFramePr>
          <p:cNvPr id="102403" name="对象 -2147482624"/>
          <p:cNvGraphicFramePr/>
          <p:nvPr/>
        </p:nvGraphicFramePr>
        <p:xfrm>
          <a:off x="1197877" y="1320800"/>
          <a:ext cx="10285661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3886200" imgH="2228850" progId="">
                  <p:embed/>
                </p:oleObj>
              </mc:Choice>
              <mc:Fallback>
                <p:oleObj name="" r:id="rId1" imgW="3886200" imgH="2228850" progId="">
                  <p:embed/>
                  <p:pic>
                    <p:nvPicPr>
                      <p:cNvPr id="0" name="图片 6144" descr="image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7877" y="1320800"/>
                        <a:ext cx="10285661" cy="442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/>
          <p:cNvSpPr>
            <a:spLocks noGrp="1"/>
          </p:cNvSpPr>
          <p:nvPr>
            <p:ph type="title"/>
          </p:nvPr>
        </p:nvSpPr>
        <p:spPr>
          <a:xfrm>
            <a:off x="829625" y="195263"/>
            <a:ext cx="10361851" cy="9334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一级</a:t>
            </a:r>
            <a:r>
              <a:rPr lang="en-US" altLang="zh-CN" dirty="0"/>
              <a:t>Cache</a:t>
            </a:r>
            <a:r>
              <a:rPr lang="zh-CN" altLang="en-US" dirty="0"/>
              <a:t>初始化代码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</p:nvPr>
        </p:nvGraphicFramePr>
        <p:xfrm>
          <a:off x="353439" y="1285875"/>
          <a:ext cx="11507242" cy="2477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53198"/>
                <a:gridCol w="5754044"/>
              </a:tblGrid>
              <a:tr h="247777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LEAF(godson2_cache_init)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li      a2, (1&lt;&lt;14) 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li      a0, 0x0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 1: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CACOP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0x0, a0, 0x0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</a:t>
                      </a:r>
                      <a:r>
                        <a:rPr lang="en-US" alt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CACOP</a:t>
                      </a: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</a:t>
                      </a:r>
                      <a:r>
                        <a:rPr lang="en-US" altLang="en-US" sz="120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0x0, a0, 0x1</a:t>
                      </a:r>
                      <a:endParaRPr lang="en-US" altLang="en-US" sz="1200" kern="100" dirty="0" err="1">
                        <a:effectLst/>
                        <a:latin typeface="+mn-ea"/>
                        <a:cs typeface="Courier New" pitchFamily="49" charset="0"/>
                        <a:sym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</a:t>
                      </a:r>
                      <a:r>
                        <a:rPr lang="en-US" alt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CACOP</a:t>
                      </a: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</a:t>
                      </a:r>
                      <a:r>
                        <a:rPr lang="en-US" altLang="en-US" sz="120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0x0, a0, 0x2</a:t>
                      </a:r>
                      <a:endParaRPr lang="en-US" altLang="en-US" sz="1200" kern="100" dirty="0" err="1">
                        <a:effectLst/>
                        <a:latin typeface="+mn-ea"/>
                        <a:cs typeface="Courier New" pitchFamily="49" charset="0"/>
                        <a:sym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 </a:t>
                      </a:r>
                      <a:r>
                        <a:rPr lang="en-US" alt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CACOP</a:t>
                      </a:r>
                      <a:r>
                        <a:rPr lang="en-US" sz="1200" kern="100" dirty="0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   </a:t>
                      </a:r>
                      <a:r>
                        <a:rPr lang="en-US" altLang="en-US" sz="1200" kern="100" dirty="0" err="1">
                          <a:effectLst/>
                          <a:latin typeface="+mn-ea"/>
                          <a:cs typeface="Courier New" pitchFamily="49" charset="0"/>
                          <a:sym typeface="+mn-ea"/>
                        </a:rPr>
                        <a:t>0x0, a0, 0x3</a:t>
                      </a:r>
                      <a:endParaRPr lang="en-US" altLang="en-US" sz="1200" kern="100" dirty="0" err="1">
                        <a:effectLst/>
                        <a:latin typeface="+mn-ea"/>
                        <a:cs typeface="Courier New" pitchFamily="49" charset="0"/>
                        <a:sym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addi.d    a0, a0, 0x40</a:t>
                      </a:r>
                      <a:endParaRPr lang="en-US" altLang="en-US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b</a:t>
                      </a: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ne        a0, a2,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1b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j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l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  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ra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END(godson2_cache_init)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81069" marR="810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zh-CN" sz="1200" kern="100" dirty="0"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64KB/4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路，为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Index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的实际数量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a0</a:t>
                      </a:r>
                      <a:r>
                        <a:rPr lang="zh-CN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表示当前</a:t>
                      </a:r>
                      <a:r>
                        <a:rPr lang="en-US" alt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Index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对4路Cache分别进行写TAG操作</a:t>
                      </a:r>
                      <a:endParaRPr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 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每个cache行大小为64字节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，以此增加</a:t>
                      </a:r>
                      <a:r>
                        <a:rPr lang="en-US" altLang="zh-CN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I</a:t>
                      </a:r>
                      <a:r>
                        <a:rPr lang="en-US" altLang="en-US" sz="120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cs typeface="+mn-ea"/>
                        </a:rPr>
                        <a:t>ndex</a:t>
                      </a:r>
                      <a:endParaRPr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endParaRPr lang="en-US" alt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81069" marR="81069" marT="0" marB="0"/>
                </a:tc>
              </a:tr>
            </a:tbl>
          </a:graphicData>
        </a:graphic>
      </p:graphicFrame>
      <p:sp>
        <p:nvSpPr>
          <p:cNvPr id="1034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03435" name="内容占位符 2"/>
          <p:cNvSpPr>
            <a:spLocks noGrp="1"/>
          </p:cNvSpPr>
          <p:nvPr>
            <p:ph idx="1"/>
          </p:nvPr>
        </p:nvSpPr>
        <p:spPr>
          <a:xfrm>
            <a:off x="783065" y="4044951"/>
            <a:ext cx="10897299" cy="2555875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片上Cache容量越来越大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，使得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初始化时间越来越长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使用硬件资源在复位时对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TLB、Cache等结构的初始化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 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zh-CN" altLang="zh-CN" dirty="0">
                <a:latin typeface="宋体" panose="02000500000000000000" pitchFamily="2" charset="-122"/>
                <a:ea typeface="+mn-ea"/>
              </a:rPr>
              <a:t>大幅减少系统启动时间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zh-CN" dirty="0">
                <a:latin typeface="宋体" panose="02000500000000000000" pitchFamily="2" charset="-122"/>
                <a:ea typeface="+mn-ea"/>
              </a:rPr>
              <a:t>龙芯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3A2000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以后的处理器都支持硬件初始化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标题 1"/>
          <p:cNvSpPr>
            <a:spLocks noGrp="1"/>
          </p:cNvSpPr>
          <p:nvPr>
            <p:ph type="title"/>
          </p:nvPr>
        </p:nvSpPr>
        <p:spPr>
          <a:xfrm>
            <a:off x="933329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Cache</a:t>
            </a:r>
            <a:r>
              <a:rPr lang="zh-CN" altLang="en-US" dirty="0"/>
              <a:t>指令及寄存器</a:t>
            </a:r>
            <a:endParaRPr lang="zh-CN" altLang="en-US" dirty="0"/>
          </a:p>
        </p:txBody>
      </p:sp>
      <p:sp>
        <p:nvSpPr>
          <p:cNvPr id="104450" name="内容占位符 2"/>
          <p:cNvSpPr>
            <a:spLocks noGrp="1"/>
          </p:cNvSpPr>
          <p:nvPr>
            <p:ph idx="1"/>
          </p:nvPr>
        </p:nvSpPr>
        <p:spPr>
          <a:xfrm>
            <a:off x="783065" y="1160463"/>
            <a:ext cx="10897299" cy="3930650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在功能上对用户程序时透明的，但对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是可见的 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以前硬件一般不对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做初始化，刚上电时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内容是乱的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需要软件把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初始化成任何访问都不命中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/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/>
            <a:r>
              <a:rPr lang="en-US" altLang="en-US" dirty="0">
                <a:latin typeface="宋体" panose="02000500000000000000" pitchFamily="2" charset="-122"/>
                <a:ea typeface="+mn-ea"/>
                <a:cs typeface="+mn-cs"/>
              </a:rPr>
              <a:t>LoongArch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的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指令，只能在核心态下使用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LoongArch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指令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OPCODE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来表示具体的操作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包括初始化和维护一致性的操作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044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标题 1"/>
          <p:cNvSpPr>
            <a:spLocks noGrp="1"/>
          </p:cNvSpPr>
          <p:nvPr>
            <p:ph type="title"/>
          </p:nvPr>
        </p:nvSpPr>
        <p:spPr>
          <a:xfrm>
            <a:off x="1113222" y="17303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Cache</a:t>
            </a:r>
            <a:r>
              <a:rPr lang="zh-CN" altLang="en-US" dirty="0"/>
              <a:t>算法配置</a:t>
            </a:r>
            <a:endParaRPr lang="zh-CN" altLang="en-US" dirty="0"/>
          </a:p>
        </p:txBody>
      </p:sp>
      <p:sp>
        <p:nvSpPr>
          <p:cNvPr id="105474" name="内容占位符 2"/>
          <p:cNvSpPr>
            <a:spLocks noGrp="1"/>
          </p:cNvSpPr>
          <p:nvPr>
            <p:ph idx="1"/>
          </p:nvPr>
        </p:nvSpPr>
        <p:spPr>
          <a:xfrm>
            <a:off x="651849" y="1227138"/>
            <a:ext cx="11043329" cy="2366962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两位决定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算法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0-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Uncached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1-Cached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2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-Uncache ACC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对于</a:t>
            </a:r>
            <a:r>
              <a:rPr lang="zh-CN" altLang="zh-CN" dirty="0">
                <a:latin typeface="宋体" panose="02000500000000000000" pitchFamily="2" charset="-122"/>
                <a:ea typeface="+mn-ea"/>
              </a:rPr>
              <a:t>窗口映射方式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，由窗口配置寄存器的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</a:t>
            </a:r>
            <a:r>
              <a:rPr lang="en-US" altLang="en-US" dirty="0">
                <a:latin typeface="宋体" panose="02000500000000000000" pitchFamily="2" charset="-122"/>
                <a:ea typeface="+mn-ea"/>
              </a:rPr>
              <a:t>AT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域决定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其它部分由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TLB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表项决定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054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105476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680415" y="3221039"/>
            <a:ext cx="7635939" cy="172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77" name="椭圆 6"/>
          <p:cNvSpPr/>
          <p:nvPr/>
        </p:nvSpPr>
        <p:spPr>
          <a:xfrm>
            <a:off x="2467713" y="4111626"/>
            <a:ext cx="835975" cy="531813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itchFamily="18" charset="0"/>
              <a:ea typeface="宋体" panose="02000500000000000000" pitchFamily="2" charset="-122"/>
            </a:endParaRPr>
          </a:p>
        </p:txBody>
      </p:sp>
      <p:pic>
        <p:nvPicPr>
          <p:cNvPr id="105478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80415" y="4943476"/>
            <a:ext cx="6179862" cy="185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79" name="椭圆 8"/>
          <p:cNvSpPr/>
          <p:nvPr/>
        </p:nvSpPr>
        <p:spPr>
          <a:xfrm>
            <a:off x="2372475" y="5607051"/>
            <a:ext cx="838091" cy="531813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itchFamily="18" charset="0"/>
              <a:ea typeface="宋体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处理器核初始化后</a:t>
            </a:r>
            <a:endParaRPr lang="zh-CN" altLang="en-US" dirty="0"/>
          </a:p>
        </p:txBody>
      </p:sp>
      <p:sp>
        <p:nvSpPr>
          <p:cNvPr id="110594" name="内容占位符 2"/>
          <p:cNvSpPr>
            <a:spLocks noGrp="1"/>
          </p:cNvSpPr>
          <p:nvPr>
            <p:ph idx="1"/>
          </p:nvPr>
        </p:nvSpPr>
        <p:spPr>
          <a:xfrm>
            <a:off x="914281" y="1981200"/>
            <a:ext cx="10651797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内部一片光亮，除了串口和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BIOS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接口，多数</a:t>
            </a:r>
            <a:r>
              <a:rPr lang="zh-CN" altLang="en-US" dirty="0">
                <a:latin typeface="DejaVu Sans" panose="020B0606030804020204" charset="0"/>
                <a:ea typeface="+mn-ea"/>
                <a:cs typeface="+mn-cs"/>
              </a:rPr>
              <a:t>“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门窗</a:t>
            </a:r>
            <a:r>
              <a:rPr lang="zh-CN" altLang="en-US" dirty="0">
                <a:latin typeface="DejaVu Sans" panose="020B0606030804020204" charset="0"/>
                <a:ea typeface="+mn-ea"/>
                <a:cs typeface="+mn-cs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都没开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05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计算机系统启动过程分析</a:t>
            </a:r>
            <a:endParaRPr lang="zh-CN" altLang="en-US" dirty="0"/>
          </a:p>
        </p:txBody>
      </p:sp>
      <p:sp>
        <p:nvSpPr>
          <p:cNvPr id="111618" name="内容占位符 2"/>
          <p:cNvSpPr>
            <a:spLocks noGrp="1"/>
          </p:cNvSpPr>
          <p:nvPr>
            <p:ph idx="1"/>
          </p:nvPr>
        </p:nvSpPr>
        <p:spPr>
          <a:xfrm>
            <a:off x="914281" y="1989138"/>
            <a:ext cx="10361851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处理器核初始化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总线接口初始化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设备探测及驱动加载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多核启动过程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116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标题 1"/>
          <p:cNvSpPr>
            <a:spLocks noGrp="1"/>
          </p:cNvSpPr>
          <p:nvPr>
            <p:ph type="title"/>
          </p:nvPr>
        </p:nvSpPr>
        <p:spPr>
          <a:xfrm>
            <a:off x="857139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内存接口初始化</a:t>
            </a:r>
            <a:endParaRPr lang="zh-CN" altLang="en-US" dirty="0"/>
          </a:p>
        </p:txBody>
      </p:sp>
      <p:sp>
        <p:nvSpPr>
          <p:cNvPr id="112642" name="内容占位符 2"/>
          <p:cNvSpPr>
            <a:spLocks noGrp="1"/>
          </p:cNvSpPr>
          <p:nvPr>
            <p:ph idx="1"/>
          </p:nvPr>
        </p:nvSpPr>
        <p:spPr>
          <a:xfrm>
            <a:off x="368253" y="1339850"/>
            <a:ext cx="11212640" cy="5041900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 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到此为止，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BIOS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从 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Flash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读程序，写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或控制寄存器器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相比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Flash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设备，内存接口的访问性能大大提升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内存接口的初始化与核内部件的初始化的差别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Cache/TLB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的初始化主要是将内容设置为无效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内存接口的初始化针对接口控制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通过内存的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SPD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（并非必需），获取内存大小，类型，频率，延迟等各种信息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根据所得到的内存信息对控制器和内存进行设置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可能还有对于时序配合的信号训练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对内容并不关心（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ECC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内存除外，不初始化内容会导致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ECC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错）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标题 1"/>
          <p:cNvSpPr>
            <a:spLocks noGrp="1"/>
          </p:cNvSpPr>
          <p:nvPr>
            <p:ph type="title"/>
          </p:nvPr>
        </p:nvSpPr>
        <p:spPr>
          <a:xfrm>
            <a:off x="971424" y="18415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内存控制器配置代码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</p:nvPr>
        </p:nvGraphicFramePr>
        <p:xfrm>
          <a:off x="1667716" y="4049714"/>
          <a:ext cx="9068758" cy="23928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1505"/>
                <a:gridCol w="4897253"/>
              </a:tblGrid>
              <a:tr h="239282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ddr2_config: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a2, a2, s0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dli     t1, DDR_PARAM_NUM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addi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v0, t8, 0x0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1: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ld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a1, 0x0(a2)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t.d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a1, 0x0(v0)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addi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t1, t1, -1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addi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a2, a2, 0x8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addi</a:t>
                      </a:r>
                      <a:r>
                        <a:rPr lang="en-US" alt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.d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v0, v0, 0x8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bnez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t1, 1b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a2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为调用该程序时传入的参数，与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s0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之和用于表示初始化参数在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FLASH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中的基地址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t1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用于表示内存参数的个数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t8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为调用该程序时传入的参数，用于表示内存控制器的寄存器基地址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endParaRPr lang="en-US" alt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初始化的过程就是从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FLASH</a:t>
                      </a:r>
                      <a:r>
                        <a:rPr lang="zh-CN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中取数再写入内存控制器中的寄存器的过程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 </a:t>
                      </a:r>
                      <a:endParaRPr lang="zh-CN" sz="1200" b="1" kern="100" dirty="0">
                        <a:solidFill>
                          <a:schemeClr val="lt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  <p:sp>
        <p:nvSpPr>
          <p:cNvPr id="1136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914281" y="1530351"/>
            <a:ext cx="10361851" cy="23923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将预先定义好的值写入内存控制器的相应寄存器中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内存控制器将自动对内存进行初始化配置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主要设置延迟、匹配阻抗等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初始配置之后，会再对内存信号进行训练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标题 1"/>
          <p:cNvSpPr>
            <a:spLocks noGrp="1"/>
          </p:cNvSpPr>
          <p:nvPr>
            <p:ph type="title"/>
          </p:nvPr>
        </p:nvSpPr>
        <p:spPr>
          <a:xfrm>
            <a:off x="886769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IO</a:t>
            </a:r>
            <a:r>
              <a:rPr lang="zh-CN" altLang="en-US" dirty="0"/>
              <a:t>总线初始化</a:t>
            </a:r>
            <a:endParaRPr lang="zh-CN" altLang="en-US" dirty="0"/>
          </a:p>
        </p:txBody>
      </p:sp>
      <p:sp>
        <p:nvSpPr>
          <p:cNvPr id="114690" name="内容占位符 2"/>
          <p:cNvSpPr>
            <a:spLocks noGrp="1"/>
          </p:cNvSpPr>
          <p:nvPr>
            <p:ph idx="1"/>
          </p:nvPr>
        </p:nvSpPr>
        <p:spPr>
          <a:xfrm>
            <a:off x="914281" y="1457326"/>
            <a:ext cx="10641215" cy="481647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根据不同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总线的需求进行针对性的初始化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通过初始化配置消除与具体实现相关的总线特性，保证软件兼容性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信号定义，硬件实现各不相同：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HyperTransport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PCIE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软件协议兼容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：配置空间、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空间及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Memory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龙芯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3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号中使用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HyperTransport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接口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地址划分：确定配置访问、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访问及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Memory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访问的地址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设定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访问地址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对总线频率、宽度进行重新设置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46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总线接口初始化后</a:t>
            </a:r>
            <a:endParaRPr lang="zh-CN" altLang="en-US" dirty="0"/>
          </a:p>
        </p:txBody>
      </p:sp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914281" y="1981200"/>
            <a:ext cx="10651797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内部一片光亮，</a:t>
            </a:r>
            <a:r>
              <a:rPr lang="zh-CN" altLang="en-US" dirty="0">
                <a:latin typeface="DejaVu Sans" panose="020B0606030804020204" charset="0"/>
                <a:ea typeface="+mn-ea"/>
                <a:cs typeface="+mn-cs"/>
              </a:rPr>
              <a:t>“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门窗</a:t>
            </a:r>
            <a:r>
              <a:rPr lang="zh-CN" altLang="en-US" dirty="0">
                <a:latin typeface="DejaVu Sans" panose="020B0606030804020204" charset="0"/>
                <a:ea typeface="+mn-ea"/>
                <a:cs typeface="+mn-cs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也已打开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但窗外还是一片漆黑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57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计算机系统启动过程分析</a:t>
            </a:r>
            <a:endParaRPr lang="zh-CN" altLang="en-US" dirty="0"/>
          </a:p>
        </p:txBody>
      </p:sp>
      <p:sp>
        <p:nvSpPr>
          <p:cNvPr id="116738" name="内容占位符 2"/>
          <p:cNvSpPr>
            <a:spLocks noGrp="1"/>
          </p:cNvSpPr>
          <p:nvPr>
            <p:ph idx="1"/>
          </p:nvPr>
        </p:nvSpPr>
        <p:spPr>
          <a:xfrm>
            <a:off x="914281" y="1989138"/>
            <a:ext cx="10361851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处理器核初始化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总线接口初始化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设备探测及驱动加载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多核启动过程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167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标题 1"/>
          <p:cNvSpPr>
            <a:spLocks noGrp="1"/>
          </p:cNvSpPr>
          <p:nvPr>
            <p:ph type="title"/>
          </p:nvPr>
        </p:nvSpPr>
        <p:spPr>
          <a:xfrm>
            <a:off x="914281" y="141288"/>
            <a:ext cx="10361851" cy="9144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PCI</a:t>
            </a:r>
            <a:r>
              <a:rPr lang="zh-CN" altLang="en-US" dirty="0"/>
              <a:t>协议下的工作流程</a:t>
            </a:r>
            <a:endParaRPr lang="zh-CN" altLang="en-US" dirty="0"/>
          </a:p>
        </p:txBody>
      </p:sp>
      <p:sp>
        <p:nvSpPr>
          <p:cNvPr id="117762" name="内容占位符 2"/>
          <p:cNvSpPr>
            <a:spLocks noGrp="1"/>
          </p:cNvSpPr>
          <p:nvPr>
            <p:ph idx="1"/>
          </p:nvPr>
        </p:nvSpPr>
        <p:spPr>
          <a:xfrm>
            <a:off x="799996" y="1031876"/>
            <a:ext cx="10880368" cy="582612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上世纪九十年代提出，软件结构被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PCIE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HT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等继承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配置空间、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Memory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通过配置空间探测总线设备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配置空间大部分情况下是对设备的属性进行刻画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在完成设备探测之后基本不再使用配置空间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对总线上的各个设备所需的地址空间进行分配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Memory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空间是真正使用设备功能时的地址空间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对于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和内存统一编址的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，两者区别不大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使用分配好的空间对各个设备进行控制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主要是驱动程序加载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特点：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总线设备发生变化时无需修改软件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同一总线支持多个相同设备不会导致冲突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177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标题 1"/>
          <p:cNvSpPr>
            <a:spLocks noGrp="1"/>
          </p:cNvSpPr>
          <p:nvPr>
            <p:ph type="title"/>
          </p:nvPr>
        </p:nvSpPr>
        <p:spPr>
          <a:xfrm>
            <a:off x="871953" y="17303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设备探测</a:t>
            </a:r>
            <a:endParaRPr lang="zh-CN" altLang="en-US" dirty="0"/>
          </a:p>
        </p:txBody>
      </p:sp>
      <p:sp>
        <p:nvSpPr>
          <p:cNvPr id="118786" name="内容占位符 2"/>
          <p:cNvSpPr>
            <a:spLocks noGrp="1"/>
          </p:cNvSpPr>
          <p:nvPr>
            <p:ph idx="1"/>
          </p:nvPr>
        </p:nvSpPr>
        <p:spPr>
          <a:xfrm>
            <a:off x="914281" y="1190626"/>
            <a:ext cx="10361851" cy="5262563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使用配置空间：以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HyperTransport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的配置空间为例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高位地址访问不同设备，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FDFE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FDFF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是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HT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协议规定的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通过总线号、设备号及功能号可以遍历总线设备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Offset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是设备内地址偏移，索引设备空间寄存器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通过规定的寄存器得到设备的唯一标识、设备类型等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Device ID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Vendor ID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通过基址寄存器（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BAR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）获取并对设备空间进行配置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/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设备需要使用的内存空间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1878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6463" y="6184900"/>
            <a:ext cx="2539669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aphicFrame>
        <p:nvGraphicFramePr>
          <p:cNvPr id="118788" name="Object 17"/>
          <p:cNvGraphicFramePr/>
          <p:nvPr/>
        </p:nvGraphicFramePr>
        <p:xfrm>
          <a:off x="2033853" y="3259139"/>
          <a:ext cx="6958694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3871595" imgH="781050" progId="">
                  <p:embed/>
                </p:oleObj>
              </mc:Choice>
              <mc:Fallback>
                <p:oleObj name="" r:id="rId1" imgW="3871595" imgH="781050" progId="">
                  <p:embed/>
                  <p:pic>
                    <p:nvPicPr>
                      <p:cNvPr id="0" name="图片 7168" descr="image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3853" y="3259139"/>
                        <a:ext cx="6958694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标题 1"/>
          <p:cNvSpPr>
            <a:spLocks noGrp="1"/>
          </p:cNvSpPr>
          <p:nvPr>
            <p:ph type="title"/>
          </p:nvPr>
        </p:nvSpPr>
        <p:spPr>
          <a:xfrm>
            <a:off x="971424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设备配置空间寄存器分布</a:t>
            </a:r>
            <a:endParaRPr lang="zh-CN" altLang="en-US" dirty="0"/>
          </a:p>
        </p:txBody>
      </p:sp>
      <p:sp>
        <p:nvSpPr>
          <p:cNvPr id="119810" name="内容占位符 2"/>
          <p:cNvSpPr>
            <a:spLocks noGrp="1"/>
          </p:cNvSpPr>
          <p:nvPr>
            <p:ph idx="1"/>
          </p:nvPr>
        </p:nvSpPr>
        <p:spPr>
          <a:xfrm>
            <a:off x="871953" y="957263"/>
            <a:ext cx="10361851" cy="1700212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一般放在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控制器上（如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PCIE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控制器）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所有设备的空间分布都一致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Vender ID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Intel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0x8086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，龙芯为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0x0014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Device ID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：为全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或全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表示没有设备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198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119812" name="Picture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863478" y="2905126"/>
            <a:ext cx="6874038" cy="3751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标题 1"/>
          <p:cNvSpPr>
            <a:spLocks noGrp="1"/>
          </p:cNvSpPr>
          <p:nvPr>
            <p:ph type="title"/>
          </p:nvPr>
        </p:nvSpPr>
        <p:spPr>
          <a:xfrm>
            <a:off x="871953" y="21590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地址空间分配</a:t>
            </a:r>
            <a:endParaRPr lang="zh-CN" altLang="en-US" dirty="0"/>
          </a:p>
        </p:txBody>
      </p:sp>
      <p:sp>
        <p:nvSpPr>
          <p:cNvPr id="120834" name="内容占位符 2"/>
          <p:cNvSpPr>
            <a:spLocks noGrp="1"/>
          </p:cNvSpPr>
          <p:nvPr>
            <p:ph idx="1"/>
          </p:nvPr>
        </p:nvSpPr>
        <p:spPr>
          <a:xfrm>
            <a:off x="914281" y="1651001"/>
            <a:ext cx="10361851" cy="466407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基址寄存器（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BAR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）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向该寄存器写入全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，读出再判断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的个数来获取空间需求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再向该寄存器写入分配好的基地址供设备进行命中判断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每个设备地址空间为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2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的幂次方对齐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先收集所有的设备空间信息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按照大小排序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根据顺序分配基地址，以减少空间碎片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208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aphicFrame>
        <p:nvGraphicFramePr>
          <p:cNvPr id="120836" name="Object 12"/>
          <p:cNvGraphicFramePr/>
          <p:nvPr/>
        </p:nvGraphicFramePr>
        <p:xfrm>
          <a:off x="2577765" y="3425825"/>
          <a:ext cx="703488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1" imgW="3588385" imgH="364490" progId="">
                  <p:embed/>
                </p:oleObj>
              </mc:Choice>
              <mc:Fallback>
                <p:oleObj name="" r:id="rId1" imgW="3588385" imgH="364490" progId="">
                  <p:embed/>
                  <p:pic>
                    <p:nvPicPr>
                      <p:cNvPr id="0" name="图片 8192" descr="image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7765" y="3425825"/>
                        <a:ext cx="7034884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标题 1"/>
          <p:cNvSpPr>
            <a:spLocks noGrp="1"/>
          </p:cNvSpPr>
          <p:nvPr>
            <p:ph type="title"/>
          </p:nvPr>
        </p:nvSpPr>
        <p:spPr>
          <a:xfrm>
            <a:off x="899467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PCI</a:t>
            </a:r>
            <a:r>
              <a:rPr lang="zh-CN" altLang="en-US" dirty="0"/>
              <a:t>设备的探测</a:t>
            </a:r>
            <a:endParaRPr lang="zh-CN" altLang="en-US" dirty="0"/>
          </a:p>
        </p:txBody>
      </p:sp>
      <p:sp>
        <p:nvSpPr>
          <p:cNvPr id="121858" name="内容占位符 2"/>
          <p:cNvSpPr>
            <a:spLocks noGrp="1"/>
          </p:cNvSpPr>
          <p:nvPr>
            <p:ph idx="1"/>
          </p:nvPr>
        </p:nvSpPr>
        <p:spPr>
          <a:xfrm>
            <a:off x="0" y="1254125"/>
            <a:ext cx="12190413" cy="5348288"/>
          </a:xfrm>
        </p:spPr>
        <p:txBody>
          <a:bodyPr vert="horz" wrap="square" lIns="91440" tIns="45720" rIns="91440" bIns="45720" anchor="t" anchorCtr="0"/>
          <a:lstStyle/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将初始总线号、初始设备号、初始功能号设为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使用当前的总线号、设备号、功能号组成一个配置空间地址，这个地址的构成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如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图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7.3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所示，使用该地址，访问其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号寄存器，检查其设备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识别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号；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如果读出全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或全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，表示无设备；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如果该设备为有效设备，检查每个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BAR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所需空间大小，并收集相关信息；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检测其是否为多功能设备，如果是则将功能号加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重复扫描，执行第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2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步；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如果该设备为桥设备，则给该桥配置一个新的总线号，再使用该总线号，从设备号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、功能号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开始递归调用，执行第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2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步；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如果设备号非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31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，则设备号加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，继续执行第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2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步；如果设备号为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31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，且总线号为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，表示扫描结束；如果总线号非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zh-CN" sz="1800" dirty="0">
                <a:latin typeface="宋体" panose="02000500000000000000" pitchFamily="2" charset="-122"/>
                <a:ea typeface="+mn-ea"/>
                <a:cs typeface="+mn-cs"/>
              </a:rPr>
              <a:t>，则退回上一层递归调用；</a:t>
            </a: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457200" indent="-457200">
              <a:buFont typeface="Times New Roman" pitchFamily="18" charset="0"/>
              <a:buAutoNum type="arabicPeriod"/>
            </a:pPr>
            <a:endParaRPr lang="zh-CN" altLang="zh-CN" sz="1800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18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标题 1"/>
          <p:cNvSpPr>
            <a:spLocks noGrp="1"/>
          </p:cNvSpPr>
          <p:nvPr>
            <p:ph type="title"/>
          </p:nvPr>
        </p:nvSpPr>
        <p:spPr>
          <a:xfrm>
            <a:off x="799996" y="27940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/>
              <a:t>PCI</a:t>
            </a:r>
            <a:r>
              <a:rPr lang="zh-CN" altLang="en-US" dirty="0"/>
              <a:t>设备探测过程      </a:t>
            </a:r>
            <a:endParaRPr lang="zh-CN" altLang="en-US" dirty="0"/>
          </a:p>
        </p:txBody>
      </p:sp>
      <p:sp>
        <p:nvSpPr>
          <p:cNvPr id="122882" name="内容占位符 2"/>
          <p:cNvSpPr>
            <a:spLocks noGrp="1"/>
          </p:cNvSpPr>
          <p:nvPr>
            <p:ph idx="1"/>
          </p:nvPr>
        </p:nvSpPr>
        <p:spPr>
          <a:xfrm>
            <a:off x="533331" y="1530351"/>
            <a:ext cx="7009487" cy="508317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对多功能设备扫描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FUNC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可以有更多的地址空间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BAR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对桥设备递归调用该过程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如南桥上有很多设备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遍历整个总线获得所有设备信息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同时对设备地址空间大小进行排序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再次遍历对每个设备空间进行配置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把设备地址空间的信息传递给设备驱动程序，设备驱动程序使用配置好的设备地址空间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228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122884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360809" y="382588"/>
            <a:ext cx="4702621" cy="6399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标题 1"/>
          <p:cNvSpPr>
            <a:spLocks noGrp="1"/>
          </p:cNvSpPr>
          <p:nvPr>
            <p:ph type="title"/>
          </p:nvPr>
        </p:nvSpPr>
        <p:spPr>
          <a:xfrm>
            <a:off x="899467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地址空间分配示例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</p:nvPr>
        </p:nvGraphicFramePr>
        <p:xfrm>
          <a:off x="1441264" y="2463800"/>
          <a:ext cx="9314659" cy="1489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5507"/>
                <a:gridCol w="2344383"/>
                <a:gridCol w="2345507"/>
                <a:gridCol w="2279262"/>
              </a:tblGrid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设备号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名称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+mn-ea"/>
                        </a:rPr>
                        <a:t>BAR</a:t>
                      </a:r>
                      <a:r>
                        <a:rPr lang="zh-CN" sz="1600" b="1" kern="100">
                          <a:effectLst/>
                          <a:latin typeface="+mn-ea"/>
                          <a:cs typeface="+mn-ea"/>
                        </a:rPr>
                        <a:t>号</a:t>
                      </a:r>
                      <a:endParaRPr lang="zh-CN" sz="1600" b="1" kern="100">
                        <a:effectLst/>
                        <a:latin typeface="+mn-ea"/>
                        <a:cs typeface="+mn-ea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大小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+mn-ea"/>
                        </a:rPr>
                        <a:t>USB</a:t>
                      </a:r>
                      <a:r>
                        <a:rPr lang="zh-CN" sz="1600" b="1" kern="100">
                          <a:effectLst/>
                          <a:latin typeface="+mn-ea"/>
                          <a:cs typeface="+mn-ea"/>
                        </a:rPr>
                        <a:t>控制器</a:t>
                      </a:r>
                      <a:endParaRPr lang="zh-CN" sz="1600" b="1" kern="100">
                        <a:effectLst/>
                        <a:latin typeface="+mn-ea"/>
                        <a:cs typeface="+mn-ea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4KB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2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显示控制器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128MB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64KB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3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网卡控制器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4KB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48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16KB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  <p:sp>
        <p:nvSpPr>
          <p:cNvPr id="12394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6463" y="6162675"/>
            <a:ext cx="2539669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531215" y="1409701"/>
            <a:ext cx="11007351" cy="5160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设备内部的地址空间，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通过</a:t>
            </a:r>
            <a:r>
              <a:rPr kumimoji="1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Uncache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或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指令访问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配置空间扫描后得到的设备及空间需求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最终的地址空间分配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39147" y="4919663"/>
          <a:ext cx="9316778" cy="16897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4171"/>
                <a:gridCol w="1630522"/>
                <a:gridCol w="1142851"/>
                <a:gridCol w="1145779"/>
                <a:gridCol w="2310189"/>
                <a:gridCol w="1923266"/>
              </a:tblGrid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设备号</a:t>
                      </a:r>
                      <a:endParaRPr lang="zh-CN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名称</a:t>
                      </a:r>
                      <a:endParaRPr lang="zh-CN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+mn-ea"/>
                        </a:rPr>
                        <a:t>BAR</a:t>
                      </a:r>
                      <a:r>
                        <a:rPr lang="zh-CN" sz="1600" b="1" kern="100" dirty="0">
                          <a:effectLst/>
                          <a:latin typeface="+mn-ea"/>
                          <a:cs typeface="+mn-ea"/>
                        </a:rPr>
                        <a:t>号</a:t>
                      </a:r>
                      <a:endParaRPr lang="zh-CN" sz="1600" b="1" kern="100" dirty="0">
                        <a:effectLst/>
                        <a:latin typeface="+mn-ea"/>
                        <a:cs typeface="+mn-ea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大小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起始地址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结束地址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+mn-ea"/>
                        </a:rPr>
                        <a:t>USB</a:t>
                      </a:r>
                      <a:r>
                        <a:rPr lang="zh-CN" sz="1600" b="1" kern="100">
                          <a:effectLst/>
                          <a:latin typeface="+mn-ea"/>
                          <a:cs typeface="+mn-ea"/>
                        </a:rPr>
                        <a:t>控制器</a:t>
                      </a:r>
                      <a:endParaRPr lang="zh-CN" sz="1600" b="1" kern="100">
                        <a:effectLst/>
                        <a:latin typeface="+mn-ea"/>
                        <a:cs typeface="+mn-ea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4KB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0x48015000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0x48015FFF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2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显示控制器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128MB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0x40000000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0x47FFFFFF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64KB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0x48000000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0x4800FFFF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3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+mn-ea"/>
                          <a:cs typeface="Courier New" pitchFamily="49" charset="0"/>
                        </a:rPr>
                        <a:t>网卡控制器</a:t>
                      </a:r>
                      <a:endParaRPr lang="zh-CN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4KB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0x48014000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0x48014FFF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  <a:tr h="2816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 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16KB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ea"/>
                          <a:cs typeface="Courier New" pitchFamily="49" charset="0"/>
                        </a:rPr>
                        <a:t>0x48010000</a:t>
                      </a:r>
                      <a:endParaRPr lang="en-US" sz="1600" b="1" kern="10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ea"/>
                          <a:cs typeface="Courier New" pitchFamily="49" charset="0"/>
                        </a:rPr>
                        <a:t>0x48013FFF</a:t>
                      </a:r>
                      <a:endParaRPr lang="en-US" sz="1600" b="1" kern="100" dirty="0"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91428" marR="91428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424" y="0"/>
            <a:ext cx="10361851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实现</a:t>
            </a: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80604020202020204" pitchFamily="34" charset="0"/>
                <a:ea typeface="+mj-ea"/>
                <a:cs typeface="Arial" panose="02080604020202020204" pitchFamily="34" charset="0"/>
              </a:rPr>
              <a:t>OS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二进制兼容统一系统架构</a:t>
            </a:r>
            <a:endParaRPr kumimoji="1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1249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" name="矩形 4"/>
          <p:cNvSpPr/>
          <p:nvPr/>
        </p:nvSpPr>
        <p:spPr>
          <a:xfrm>
            <a:off x="4233" y="1085851"/>
            <a:ext cx="12175599" cy="1273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35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5"/>
          <p:cNvGrpSpPr/>
          <p:nvPr/>
        </p:nvGrpSpPr>
        <p:grpSpPr>
          <a:xfrm>
            <a:off x="76190" y="1263650"/>
            <a:ext cx="11963960" cy="819150"/>
            <a:chOff x="15378" y="948298"/>
            <a:chExt cx="8975136" cy="613464"/>
          </a:xfrm>
        </p:grpSpPr>
        <p:sp>
          <p:nvSpPr>
            <p:cNvPr id="7" name="矩形 6"/>
            <p:cNvSpPr/>
            <p:nvPr/>
          </p:nvSpPr>
          <p:spPr>
            <a:xfrm>
              <a:off x="3017675" y="949487"/>
              <a:ext cx="1476539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标准化的中断系统</a:t>
              </a:r>
              <a:endPara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（中断路由和编程模型）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514145" y="949487"/>
              <a:ext cx="1474952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711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标准化的全局</a:t>
              </a:r>
              <a:endPara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  <a:p>
              <a:pPr marL="0" marR="0" lvl="0" indent="0" algn="ctr" defTabSz="7112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地址空间布局</a:t>
              </a:r>
              <a:endParaRPr kumimoji="1" sz="105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524379" y="949487"/>
              <a:ext cx="1476539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编程接口标准化的</a:t>
              </a:r>
              <a:endPara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多核与互联架构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019971" y="949487"/>
              <a:ext cx="1476539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可动态枚举的扩展组件</a:t>
              </a:r>
              <a:r>
                <a:rPr kumimoji="1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GPU/Raid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等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5378" y="948298"/>
              <a:ext cx="1476539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跨代兼容、增量式</a:t>
              </a:r>
              <a:endPara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创新的指令集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513975" y="949487"/>
              <a:ext cx="1476539" cy="6122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86860" tIns="86860" rIns="86860" bIns="86860" spcCol="1270" anchor="ctr"/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动态插拔的外设接口</a:t>
              </a:r>
              <a:endPara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U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盘</a:t>
              </a:r>
              <a:r>
                <a:rPr kumimoji="1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/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+mn-ea"/>
                </a:rPr>
                <a:t>打印机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</p:grpSp>
      <p:pic>
        <p:nvPicPr>
          <p:cNvPr id="124939" name="Picture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79363" y="3795714"/>
            <a:ext cx="5346004" cy="2727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40" name="标题 1"/>
          <p:cNvSpPr txBox="1"/>
          <p:nvPr/>
        </p:nvSpPr>
        <p:spPr>
          <a:xfrm>
            <a:off x="313226" y="2847975"/>
            <a:ext cx="5688859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685800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宋体" panose="02000500000000000000" pitchFamily="2" charset="-122"/>
                <a:ea typeface="微软雅黑" charset="-122"/>
                <a:sym typeface="宋体" panose="02000500000000000000" pitchFamily="2" charset="-122"/>
              </a:rPr>
              <a:t>桥片确定系统架构</a:t>
            </a:r>
            <a:endParaRPr lang="en-US" altLang="zh-CN" sz="1600" dirty="0">
              <a:latin typeface="宋体" panose="02000500000000000000" pitchFamily="2" charset="-122"/>
              <a:ea typeface="微软雅黑" charset="-122"/>
            </a:endParaRPr>
          </a:p>
        </p:txBody>
      </p:sp>
      <p:pic>
        <p:nvPicPr>
          <p:cNvPr id="124941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58697" y="3582989"/>
            <a:ext cx="5333306" cy="3000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42" name="标题 1"/>
          <p:cNvSpPr txBox="1"/>
          <p:nvPr/>
        </p:nvSpPr>
        <p:spPr>
          <a:xfrm>
            <a:off x="6747056" y="2894013"/>
            <a:ext cx="4730135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685800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宋体" panose="02000500000000000000" pitchFamily="2" charset="-122"/>
                <a:ea typeface="微软雅黑" charset="-122"/>
                <a:sym typeface="宋体" panose="02000500000000000000" pitchFamily="2" charset="-122"/>
              </a:rPr>
              <a:t>BIOS</a:t>
            </a:r>
            <a:r>
              <a:rPr lang="zh-CN" altLang="en-US" sz="1600" dirty="0">
                <a:solidFill>
                  <a:srgbClr val="FF0000"/>
                </a:solidFill>
                <a:latin typeface="宋体" panose="02000500000000000000" pitchFamily="2" charset="-122"/>
                <a:ea typeface="微软雅黑" charset="-122"/>
                <a:sym typeface="宋体" panose="02000500000000000000" pitchFamily="2" charset="-122"/>
              </a:rPr>
              <a:t>规范系统架构</a:t>
            </a:r>
            <a:endParaRPr lang="en-US" altLang="zh-CN" sz="1600" dirty="0">
              <a:latin typeface="宋体" panose="02000500000000000000" pitchFamily="2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计算机系统启动过程分析</a:t>
            </a:r>
            <a:endParaRPr lang="zh-CN" altLang="en-US" dirty="0"/>
          </a:p>
        </p:txBody>
      </p:sp>
      <p:sp>
        <p:nvSpPr>
          <p:cNvPr id="125954" name="内容占位符 2"/>
          <p:cNvSpPr>
            <a:spLocks noGrp="1"/>
          </p:cNvSpPr>
          <p:nvPr>
            <p:ph idx="1"/>
          </p:nvPr>
        </p:nvSpPr>
        <p:spPr>
          <a:xfrm>
            <a:off x="914281" y="1989138"/>
            <a:ext cx="10361851" cy="4114800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处理器核初始化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总线接口初始化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设备探测及驱动加载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多核启动过程</a:t>
            </a:r>
            <a:endParaRPr lang="zh-CN" altLang="en-US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59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标题 1"/>
          <p:cNvSpPr>
            <a:spLocks noGrp="1"/>
          </p:cNvSpPr>
          <p:nvPr>
            <p:ph type="title"/>
          </p:nvPr>
        </p:nvSpPr>
        <p:spPr>
          <a:xfrm>
            <a:off x="929096" y="24765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多核初始化</a:t>
            </a:r>
            <a:endParaRPr lang="zh-CN" altLang="en-US" dirty="0"/>
          </a:p>
        </p:txBody>
      </p:sp>
      <p:sp>
        <p:nvSpPr>
          <p:cNvPr id="126978" name="内容占位符 2"/>
          <p:cNvSpPr>
            <a:spLocks noGrp="1"/>
          </p:cNvSpPr>
          <p:nvPr>
            <p:ph idx="1"/>
          </p:nvPr>
        </p:nvSpPr>
        <p:spPr>
          <a:xfrm>
            <a:off x="914281" y="1371601"/>
            <a:ext cx="10361851" cy="5305425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一个核执行主流程，其它核仅负责私有部件的初始化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主核：核内私有部件、片内共享部件、总线接口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从核：核内私有部件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通过核间通信机制进行同步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串口初始化后，通知从核，开始打印输出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共享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初始化后，通知从核，开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执行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内存初始化后，通知从核，可以读写内存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可以通过并行化共享部件初始化的方法来加速启动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每个核初始化一部分共享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每个核执行不同的初始化：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、内存、接口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269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标题 1"/>
          <p:cNvSpPr>
            <a:spLocks noGrp="1"/>
          </p:cNvSpPr>
          <p:nvPr>
            <p:ph type="title"/>
          </p:nvPr>
        </p:nvSpPr>
        <p:spPr>
          <a:xfrm>
            <a:off x="929096" y="18415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核间通信机制</a:t>
            </a:r>
            <a:endParaRPr lang="zh-CN" altLang="en-US" dirty="0"/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idx="4294967295"/>
          </p:nvPr>
        </p:nvGraphicFramePr>
        <p:xfrm>
          <a:off x="279365" y="3997325"/>
          <a:ext cx="11759095" cy="247005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839991"/>
                <a:gridCol w="1302004"/>
                <a:gridCol w="8617100"/>
              </a:tblGrid>
              <a:tr h="2439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名称</a:t>
                      </a:r>
                      <a:endParaRPr lang="zh-CN" sz="1600" b="1" kern="5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读写权限</a:t>
                      </a:r>
                      <a:endParaRPr lang="zh-CN" sz="1600" b="1" kern="5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solidFill>
                            <a:srgbClr val="FF0000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描述</a:t>
                      </a:r>
                      <a:endParaRPr lang="zh-CN" sz="1600" b="1" kern="50" dirty="0">
                        <a:solidFill>
                          <a:srgbClr val="FF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</a:tr>
              <a:tr h="293444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 err="1">
                          <a:effectLst/>
                          <a:latin typeface="+mn-ea"/>
                          <a:cs typeface="Courier New" pitchFamily="49" charset="0"/>
                        </a:rPr>
                        <a:t>IPI_Status</a:t>
                      </a:r>
                      <a:endParaRPr lang="en-US" sz="1600" b="1" kern="50" dirty="0" err="1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32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位状态寄存器，被置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且对应位使能情况下，处理器核中断线被置位</a:t>
                      </a:r>
                      <a:endParaRPr lang="zh-CN" sz="1600" b="1" dirty="0">
                        <a:solidFill>
                          <a:srgbClr val="000000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23704" marR="23704" marT="0" marB="0"/>
                </a:tc>
              </a:tr>
              <a:tr h="260666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 err="1">
                          <a:effectLst/>
                          <a:latin typeface="+mn-ea"/>
                          <a:cs typeface="Courier New" pitchFamily="49" charset="0"/>
                        </a:rPr>
                        <a:t>IPI_Enable</a:t>
                      </a:r>
                      <a:endParaRPr lang="en-US" sz="1600" b="1" kern="50" dirty="0" err="1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32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位使能寄存器，控制对应中断位是否有效</a:t>
                      </a:r>
                      <a:endParaRPr lang="zh-CN" sz="1600" b="1" dirty="0">
                        <a:solidFill>
                          <a:srgbClr val="000000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23704" marR="23704" marT="0" marB="0"/>
                </a:tc>
              </a:tr>
              <a:tr h="265174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 err="1">
                          <a:effectLst/>
                          <a:latin typeface="+mn-ea"/>
                          <a:cs typeface="Courier New" pitchFamily="49" charset="0"/>
                        </a:rPr>
                        <a:t>IPI_Set</a:t>
                      </a:r>
                      <a:endParaRPr lang="en-US" sz="1600" b="1" kern="50" dirty="0" err="1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32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位置位寄存器，往对应的位写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，则对应的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STATUS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寄存器位被置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1</a:t>
                      </a:r>
                      <a:endParaRPr lang="zh-CN" sz="1600" b="1" dirty="0">
                        <a:solidFill>
                          <a:srgbClr val="000000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23704" marR="23704" marT="0" marB="0"/>
                </a:tc>
              </a:tr>
              <a:tr h="263056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>
                          <a:effectLst/>
                          <a:latin typeface="+mn-ea"/>
                          <a:cs typeface="Courier New" pitchFamily="49" charset="0"/>
                        </a:rPr>
                        <a:t>IPI_Clear</a:t>
                      </a:r>
                      <a:endParaRPr lang="en-US" sz="1600" b="1" kern="5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32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位清除寄存器，往对应的位写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，则对应的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STATUS</a:t>
                      </a:r>
                      <a:r>
                        <a:rPr lang="zh-CN" sz="1600" b="1" kern="50" dirty="0">
                          <a:effectLst/>
                          <a:latin typeface="+mn-ea"/>
                          <a:cs typeface="+mn-ea"/>
                        </a:rPr>
                        <a:t>寄存器位被清</a:t>
                      </a:r>
                      <a:r>
                        <a:rPr lang="en-US" sz="1600" b="1" kern="50" dirty="0">
                          <a:effectLst/>
                          <a:latin typeface="+mn-ea"/>
                          <a:cs typeface="+mn-ea"/>
                        </a:rPr>
                        <a:t>0</a:t>
                      </a:r>
                      <a:endParaRPr lang="zh-CN" sz="1600" b="1" dirty="0">
                        <a:solidFill>
                          <a:srgbClr val="000000"/>
                        </a:solidFill>
                        <a:effectLst/>
                        <a:latin typeface="+mn-ea"/>
                        <a:cs typeface="+mn-ea"/>
                      </a:endParaRPr>
                    </a:p>
                  </a:txBody>
                  <a:tcPr marL="23704" marR="23704" marT="0" marB="0"/>
                </a:tc>
              </a:tr>
              <a:tr h="285930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>
                          <a:effectLst/>
                          <a:latin typeface="+mn-ea"/>
                          <a:cs typeface="Courier New" pitchFamily="49" charset="0"/>
                        </a:rPr>
                        <a:t>MailBox0</a:t>
                      </a:r>
                      <a:endParaRPr lang="en-US" sz="1600" b="1" kern="5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effectLst/>
                          <a:latin typeface="+mn-ea"/>
                          <a:cs typeface="Courier New" pitchFamily="49" charset="0"/>
                        </a:rPr>
                        <a:t>缓存寄存器，供传递参数使用</a:t>
                      </a:r>
                      <a:endParaRPr lang="zh-CN" sz="1600" b="1" kern="50" dirty="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</a:tr>
              <a:tr h="274493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>
                          <a:effectLst/>
                          <a:latin typeface="+mn-ea"/>
                          <a:cs typeface="Courier New" pitchFamily="49" charset="0"/>
                        </a:rPr>
                        <a:t>MailBox01</a:t>
                      </a:r>
                      <a:endParaRPr lang="en-US" sz="1600" b="1" kern="5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effectLst/>
                          <a:latin typeface="+mn-ea"/>
                          <a:cs typeface="Courier New" pitchFamily="49" charset="0"/>
                        </a:rPr>
                        <a:t>缓存寄存器，供传递参数使用</a:t>
                      </a:r>
                      <a:endParaRPr lang="zh-CN" sz="1600" b="1" kern="50" dirty="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</a:tr>
              <a:tr h="274493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>
                          <a:effectLst/>
                          <a:latin typeface="+mn-ea"/>
                          <a:cs typeface="Courier New" pitchFamily="49" charset="0"/>
                        </a:rPr>
                        <a:t>MailBox02</a:t>
                      </a:r>
                      <a:endParaRPr lang="en-US" sz="1600" b="1" kern="5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effectLst/>
                          <a:latin typeface="+mn-ea"/>
                          <a:cs typeface="Courier New" pitchFamily="49" charset="0"/>
                        </a:rPr>
                        <a:t>缓存寄存器，供传递参数使用</a:t>
                      </a:r>
                      <a:endParaRPr lang="zh-CN" sz="1600" b="1" kern="50" dirty="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</a:tr>
              <a:tr h="308804"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effectLst/>
                          <a:latin typeface="+mn-ea"/>
                          <a:cs typeface="Courier New" pitchFamily="49" charset="0"/>
                        </a:rPr>
                        <a:t>MailBox03</a:t>
                      </a:r>
                      <a:endParaRPr lang="en-US" sz="1600" b="1" kern="50" dirty="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50" dirty="0">
                          <a:solidFill>
                            <a:schemeClr val="bg1"/>
                          </a:solidFill>
                          <a:effectLst/>
                          <a:latin typeface="+mn-ea"/>
                          <a:cs typeface="Courier New" pitchFamily="49" charset="0"/>
                        </a:rPr>
                        <a:t>RW</a:t>
                      </a:r>
                      <a:endParaRPr lang="en-US" sz="1600" b="1" kern="50" dirty="0">
                        <a:solidFill>
                          <a:schemeClr val="bg1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  <a:tc>
                  <a:txBody>
                    <a:bodyPr/>
                    <a:lstStyle/>
                    <a:p>
                      <a:pPr marL="57150" indent="-571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50" dirty="0">
                          <a:effectLst/>
                          <a:latin typeface="+mn-ea"/>
                          <a:cs typeface="Courier New" pitchFamily="49" charset="0"/>
                        </a:rPr>
                        <a:t>缓存寄存器，供传递参数使用</a:t>
                      </a:r>
                      <a:endParaRPr lang="zh-CN" sz="1600" b="1" kern="50" dirty="0">
                        <a:solidFill>
                          <a:srgbClr val="000000"/>
                        </a:solidFill>
                        <a:effectLst/>
                        <a:latin typeface="+mn-ea"/>
                        <a:cs typeface="Courier New" pitchFamily="49" charset="0"/>
                      </a:endParaRPr>
                    </a:p>
                  </a:txBody>
                  <a:tcPr marL="23704" marR="23704" marT="0" marB="0"/>
                </a:tc>
              </a:tr>
            </a:tbl>
          </a:graphicData>
        </a:graphic>
      </p:graphicFrame>
      <p:sp>
        <p:nvSpPr>
          <p:cNvPr id="12804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799996" y="1268414"/>
            <a:ext cx="10723755" cy="28352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核间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中断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机制，以龙芯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3A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为例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每个核有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32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个不同的中断可供软件使用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可以约定为不同核产生的中断，或者对应不同事件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信箱寄存器（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查询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方式）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多个寄存器供传递参数及特殊事件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标题 1"/>
          <p:cNvSpPr>
            <a:spLocks noGrp="1"/>
          </p:cNvSpPr>
          <p:nvPr>
            <p:ph type="title"/>
          </p:nvPr>
        </p:nvSpPr>
        <p:spPr>
          <a:xfrm>
            <a:off x="956609" y="34448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多核唤醒</a:t>
            </a:r>
            <a:endParaRPr lang="zh-CN" altLang="en-US" dirty="0"/>
          </a:p>
        </p:txBody>
      </p:sp>
      <p:sp>
        <p:nvSpPr>
          <p:cNvPr id="129026" name="内容占位符 2"/>
          <p:cNvSpPr>
            <a:spLocks noGrp="1"/>
          </p:cNvSpPr>
          <p:nvPr>
            <p:ph idx="1"/>
          </p:nvPr>
        </p:nvSpPr>
        <p:spPr>
          <a:xfrm>
            <a:off x="524865" y="1636713"/>
            <a:ext cx="11225339" cy="4459287"/>
          </a:xfrm>
        </p:spPr>
        <p:txBody>
          <a:bodyPr vert="horz" wrap="square" lIns="91440" tIns="45720" rIns="91440" bIns="45720" anchor="t" anchorCtr="0"/>
          <a:lstStyle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内核启动过程中，会将从核逐一加入系统管理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这一过程称之为“唤醒”</a:t>
            </a:r>
            <a:endParaRPr lang="en-US" altLang="zh-CN" dirty="0">
              <a:latin typeface="+mn-lt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唤醒中主从核的运行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主核：将从核需要运行的程序指针、参数写入信箱寄存器。等待从核被唤醒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从核：轮询信箱寄存器，发现非零值则跳转执行。执行完相关的程序后，通过信箱寄存器通知主核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主核：收到信箱寄存器通知后，继续下一个核的唤醒或其它操作</a:t>
            </a:r>
            <a:endParaRPr lang="en-US" altLang="zh-CN" dirty="0">
              <a:latin typeface="+mn-lt"/>
              <a:ea typeface="+mn-ea"/>
            </a:endParaRPr>
          </a:p>
          <a:p>
            <a:pPr marL="360680" indent="-360680" eaLnBrk="1" hangingPunct="1"/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290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标题 1"/>
          <p:cNvSpPr>
            <a:spLocks noGrp="1"/>
          </p:cNvSpPr>
          <p:nvPr>
            <p:ph type="title"/>
          </p:nvPr>
        </p:nvSpPr>
        <p:spPr>
          <a:xfrm>
            <a:off x="956609" y="204788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BIOS</a:t>
            </a:r>
            <a:r>
              <a:rPr lang="zh-CN" altLang="en-US" dirty="0"/>
              <a:t>完成上述工作后</a:t>
            </a:r>
            <a:endParaRPr lang="zh-CN" altLang="en-US" dirty="0"/>
          </a:p>
        </p:txBody>
      </p:sp>
      <p:sp>
        <p:nvSpPr>
          <p:cNvPr id="130050" name="内容占位符 2"/>
          <p:cNvSpPr>
            <a:spLocks noGrp="1"/>
          </p:cNvSpPr>
          <p:nvPr>
            <p:ph idx="1"/>
          </p:nvPr>
        </p:nvSpPr>
        <p:spPr>
          <a:xfrm>
            <a:off x="666665" y="1285876"/>
            <a:ext cx="11170312" cy="4810125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从硬盘从把内核取到内存（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DMA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或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PIO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），并跳转到内核地址，由内核负责后续计算机控制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BIOS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要把基本的硬件参数通过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BIOS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与内核接口（如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ACPI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接口）传递给内核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en-US" altLang="zh-CN" dirty="0">
                <a:latin typeface="宋体" panose="02000500000000000000" pitchFamily="2" charset="-122"/>
                <a:ea typeface="+mn-ea"/>
              </a:rPr>
              <a:t>Intel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定义的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UEFI 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ACPI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接口是保证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跨代兼容的重要原因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内核根据预设的（如启动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X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系统）或临时的（如打开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PPT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）用户需求，把相关程序取到内存执行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内核通过进程方式调度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，通过虚拟存储管理管内存，通过设备驱动管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1300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标题 1"/>
          <p:cNvSpPr>
            <a:spLocks noGrp="1"/>
          </p:cNvSpPr>
          <p:nvPr>
            <p:ph type="title"/>
          </p:nvPr>
        </p:nvSpPr>
        <p:spPr>
          <a:xfrm>
            <a:off x="914281" y="0"/>
            <a:ext cx="10361851" cy="935038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681" y="882650"/>
            <a:ext cx="11309994" cy="5975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刚上电时，硬件只对必要的状态进行复位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除了从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PC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到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BIOS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接口有一丝光亮，其它都是漆黑一片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从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0x</a:t>
            </a:r>
            <a:r>
              <a:rPr kumimoji="1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C00</a:t>
            </a:r>
            <a:r>
              <a:rPr kumimoji="1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000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取第一条指令时要绕过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Cache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和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软件初始化必要的调试接口：指示灯、蜂鸣器、串口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从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SPI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接口（约为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33MHz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）取指，每拍一位，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32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拍才取回一条指令，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要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1000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拍才执行一条指令；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内部有些朦胧的光亮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Load/Store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指令访问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IO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接口的控制寄存器与访问内存有不同的含义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软件初始化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内部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先初始化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Cache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，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可以高速运行；再打开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TLB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，访问地址空间更大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内部一片光明，但外部还是漆黑一片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软件初始化内存控制器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通过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I2C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总线读取内存条信息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内存控制器参数太多，主要是从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BIOS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空间读取内存参数并写入内部控制寄存器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DDR4 3200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每传输一位数据只有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0.3ns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，电信号只能在主板上行进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4-5cm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内存是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的后花园，这时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CPU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通往后花园的路已经打通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sp>
        <p:nvSpPr>
          <p:cNvPr id="1310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871953" y="0"/>
            <a:ext cx="10361851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132098" name="内容占位符 2"/>
          <p:cNvSpPr>
            <a:spLocks noGrp="1"/>
          </p:cNvSpPr>
          <p:nvPr>
            <p:ph idx="1"/>
          </p:nvPr>
        </p:nvSpPr>
        <p:spPr>
          <a:xfrm>
            <a:off x="651848" y="952500"/>
            <a:ext cx="10914230" cy="5905500"/>
          </a:xfrm>
        </p:spPr>
        <p:txBody>
          <a:bodyPr vert="horz" wrap="square" lIns="91440" tIns="45720" rIns="91440" bIns="45720" anchor="t" anchorCtr="0"/>
          <a:lstStyle/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软件初始化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接口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PCI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协议：上世纪九十年代提出，软件结构被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PCIE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HT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等继承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配置空间：通过配置空间探测总线设备，配置空间大部分情况下是对设备的属性进行刻画；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通过对设备空间的扫描发现所有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控制器；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Memory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空间：驱动程序真正使用设备功能时的地址空间；对于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和内存统一编址的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，两者区别不大；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总线设备发生变化时无需修改软件，同一总线支持多个相同设备不会导致冲突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lnSpc>
                <a:spcPct val="135000"/>
              </a:lnSpc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Intel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的厉害之处：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PCI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协议使得硬件能自动识别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IO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设备并加载驱动程序；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UEFI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协议使得最新的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可以运行十年前的操作系统；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X86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指令系统使得最新的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可以运行几十年前的应用程序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唤醒其它处理器核，进入多核状态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多核之间通过信箱等方式通信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/>
            <a:r>
              <a:rPr lang="zh-CN" altLang="en-US" dirty="0">
                <a:latin typeface="宋体" panose="02000500000000000000" pitchFamily="2" charset="-122"/>
                <a:ea typeface="+mn-ea"/>
              </a:rPr>
              <a:t>信箱可以是内存单元，也可以是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内部寄存器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至此，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CPU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内部光明一片，对外四通八达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/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20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13510</Words>
  <Application>WPS 演示</Application>
  <PresentationFormat>自定义</PresentationFormat>
  <Paragraphs>1155</Paragraphs>
  <Slides>68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68</vt:i4>
      </vt:variant>
    </vt:vector>
  </HeadingPairs>
  <TitlesOfParts>
    <vt:vector size="81" baseType="lpstr">
      <vt:lpstr>Arial</vt:lpstr>
      <vt:lpstr>宋体</vt:lpstr>
      <vt:lpstr>Wingdings</vt:lpstr>
      <vt:lpstr>Nimbus Roman No9 L</vt:lpstr>
      <vt:lpstr>Times New Roman</vt:lpstr>
      <vt:lpstr>黑体</vt:lpstr>
      <vt:lpstr>微软雅黑</vt:lpstr>
      <vt:lpstr>Arial Unicode MS</vt:lpstr>
      <vt:lpstr>DejaVu Sans</vt:lpstr>
      <vt:lpstr>Calibri</vt:lpstr>
      <vt:lpstr>Courier New</vt:lpstr>
      <vt:lpstr>MathJax_Vector</vt:lpstr>
      <vt:lpstr>1_默认设计模板</vt:lpstr>
      <vt:lpstr>PowerPoint 演示文稿</vt:lpstr>
      <vt:lpstr>计算机组成原理和结构</vt:lpstr>
      <vt:lpstr>计算机的组成部件</vt:lpstr>
      <vt:lpstr>CPU、内存和IO</vt:lpstr>
      <vt:lpstr>存储器</vt:lpstr>
      <vt:lpstr>内存</vt:lpstr>
      <vt:lpstr>内存基本单元</vt:lpstr>
      <vt:lpstr>具体读写过程</vt:lpstr>
      <vt:lpstr>PowerPoint 演示文稿</vt:lpstr>
      <vt:lpstr>内存内部结构</vt:lpstr>
      <vt:lpstr>提高访存性能的方法</vt:lpstr>
      <vt:lpstr>输入/输出设备</vt:lpstr>
      <vt:lpstr>IO寄存器寻址</vt:lpstr>
      <vt:lpstr>CPU和IO设备间的同步</vt:lpstr>
      <vt:lpstr>存储器和IO设备间的通信</vt:lpstr>
      <vt:lpstr>PIO传输方式</vt:lpstr>
      <vt:lpstr>DMA数据传输</vt:lpstr>
      <vt:lpstr>CPU、GPU与DC间的数据传输</vt:lpstr>
      <vt:lpstr>GPU与DC间的DMA差异</vt:lpstr>
      <vt:lpstr>模式一：CPU与DC使用共享显存</vt:lpstr>
      <vt:lpstr>模式二：CPU与DC使用独立显存</vt:lpstr>
      <vt:lpstr>模式三：CPU、GPU/DC使用共享显存</vt:lpstr>
      <vt:lpstr>模式四：CPU、GPU/DC使用独立显存</vt:lpstr>
      <vt:lpstr>几种使用模式比较</vt:lpstr>
      <vt:lpstr>IO中断控制器</vt:lpstr>
      <vt:lpstr>PIO与DMA</vt:lpstr>
      <vt:lpstr>计算机系统启动过程分析</vt:lpstr>
      <vt:lpstr>一句话要点</vt:lpstr>
      <vt:lpstr>系统启动过程示意图</vt:lpstr>
      <vt:lpstr>计算机系统启动过程分析</vt:lpstr>
      <vt:lpstr>处理器复位</vt:lpstr>
      <vt:lpstr>首条指令</vt:lpstr>
      <vt:lpstr>模式信息控制寄存器</vt:lpstr>
      <vt:lpstr>例外相关控制寄存器</vt:lpstr>
      <vt:lpstr>外部调试接口初始化</vt:lpstr>
      <vt:lpstr>串口初始化</vt:lpstr>
      <vt:lpstr>串口字符输入与输出</vt:lpstr>
      <vt:lpstr>TLB初始化</vt:lpstr>
      <vt:lpstr>LoongArch的虚拟地址空间</vt:lpstr>
      <vt:lpstr>TLB初始化代码</vt:lpstr>
      <vt:lpstr>LoongArch的TLB及相关控制寄存器</vt:lpstr>
      <vt:lpstr>Cache初始化</vt:lpstr>
      <vt:lpstr>LoongArch的虚拟地址空间</vt:lpstr>
      <vt:lpstr>一级Cache初始化代码</vt:lpstr>
      <vt:lpstr>Cache指令及寄存器</vt:lpstr>
      <vt:lpstr>Cache算法配置</vt:lpstr>
      <vt:lpstr>处理器核初始化后</vt:lpstr>
      <vt:lpstr>计算机系统启动过程分析</vt:lpstr>
      <vt:lpstr>内存接口初始化</vt:lpstr>
      <vt:lpstr>内存控制器配置代码</vt:lpstr>
      <vt:lpstr>IO总线初始化</vt:lpstr>
      <vt:lpstr>总线接口初始化后</vt:lpstr>
      <vt:lpstr>计算机系统启动过程分析</vt:lpstr>
      <vt:lpstr>PCI协议下的工作流程</vt:lpstr>
      <vt:lpstr>设备探测</vt:lpstr>
      <vt:lpstr>设备配置空间寄存器分布</vt:lpstr>
      <vt:lpstr>地址空间分配</vt:lpstr>
      <vt:lpstr>PCI设备的探测</vt:lpstr>
      <vt:lpstr>PCI设备探测过程      </vt:lpstr>
      <vt:lpstr>地址空间分配示例</vt:lpstr>
      <vt:lpstr>实现OS二进制兼容统一系统架构</vt:lpstr>
      <vt:lpstr>计算机系统启动过程分析</vt:lpstr>
      <vt:lpstr>多核初始化</vt:lpstr>
      <vt:lpstr>核间通信机制</vt:lpstr>
      <vt:lpstr>多核唤醒</vt:lpstr>
      <vt:lpstr>BIOS完成上述工作后</vt:lpstr>
      <vt:lpstr>小结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计算机体系结构基础</dc:title>
  <dc:creator>chenxk</dc:creator>
  <cp:lastModifiedBy>loongson</cp:lastModifiedBy>
  <cp:revision>269</cp:revision>
  <dcterms:created xsi:type="dcterms:W3CDTF">2025-10-02T11:22:51Z</dcterms:created>
  <dcterms:modified xsi:type="dcterms:W3CDTF">2025-10-02T11:22:51Z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