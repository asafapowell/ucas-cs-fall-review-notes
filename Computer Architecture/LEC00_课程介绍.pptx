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6" r:id="rId3"/>
    <p:sldId id="543" r:id="rId4"/>
    <p:sldId id="546" r:id="rId5"/>
    <p:sldId id="545" r:id="rId6"/>
    <p:sldId id="538" r:id="rId7"/>
    <p:sldId id="354" r:id="rId8"/>
    <p:sldId id="412" r:id="rId9"/>
    <p:sldId id="416" r:id="rId10"/>
    <p:sldId id="423" r:id="rId11"/>
    <p:sldId id="418" r:id="rId12"/>
    <p:sldId id="419" r:id="rId13"/>
    <p:sldId id="421" r:id="rId14"/>
    <p:sldId id="422" r:id="rId15"/>
    <p:sldId id="530" r:id="rId16"/>
    <p:sldId id="413" r:id="rId17"/>
    <p:sldId id="425" r:id="rId18"/>
    <p:sldId id="414" r:id="rId19"/>
    <p:sldId id="415" r:id="rId20"/>
    <p:sldId id="406" r:id="rId21"/>
    <p:sldId id="533" r:id="rId22"/>
    <p:sldId id="534" r:id="rId23"/>
    <p:sldId id="535" r:id="rId24"/>
    <p:sldId id="540" r:id="rId25"/>
    <p:sldId id="541" r:id="rId26"/>
    <p:sldId id="542" r:id="rId27"/>
    <p:sldId id="411" r:id="rId28"/>
    <p:sldId id="529" r:id="rId29"/>
    <p:sldId id="486" r:id="rId30"/>
    <p:sldId id="484" r:id="rId31"/>
  </p:sldIdLst>
  <p:sldSz cx="1219073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FF99FF"/>
    <a:srgbClr val="FF66FF"/>
    <a:srgbClr val="FF3300"/>
    <a:srgbClr val="800000"/>
    <a:srgbClr val="0099CC"/>
    <a:srgbClr val="33CCFF"/>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3" d="100"/>
          <a:sy n="63" d="100"/>
        </p:scale>
        <p:origin x="-749" y="-67"/>
      </p:cViewPr>
      <p:guideLst>
        <p:guide orient="horz" pos="2160"/>
        <p:guide pos="382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49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49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00500000000000000"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49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49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Times New Roman" pitchFamily="18" charset="0"/>
                <a:ea typeface="宋体" panose="02000500000000000000"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288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00500000000000000"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076" name="Rectangle 4"/>
          <p:cNvSpPr>
            <a:spLocks noTextEdit="1"/>
          </p:cNvSpPr>
          <p:nvPr>
            <p:ph type="sldImg"/>
          </p:nvPr>
        </p:nvSpPr>
        <p:spPr>
          <a:xfrm>
            <a:off x="382588" y="685800"/>
            <a:ext cx="6092825" cy="3429000"/>
          </a:xfrm>
          <a:prstGeom prst="rect">
            <a:avLst/>
          </a:prstGeom>
          <a:noFill/>
          <a:ln w="9525" cap="flat" cmpd="sng">
            <a:solidFill>
              <a:srgbClr val="000000"/>
            </a:solidFill>
            <a:prstDash val="solid"/>
            <a:miter/>
            <a:headEnd type="none" w="med" len="med"/>
            <a:tailEnd type="none" w="med" len="med"/>
          </a:ln>
        </p:spPr>
      </p:sp>
      <p:sp>
        <p:nvSpPr>
          <p:cNvPr id="12288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p:txBody>
      </p:sp>
      <p:sp>
        <p:nvSpPr>
          <p:cNvPr id="12288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288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fontAlgn="base" hangingPunct="1">
              <a:buNone/>
            </a:pPr>
            <a:fld id="{9A0DB2DC-4C9A-4742-B13C-FB6460FD3503}" type="slidenum">
              <a:rPr lang="en-US" altLang="zh-CN" sz="1200" strike="noStrike" noProof="1" dirty="0">
                <a:latin typeface="Times New Roman" pitchFamily="18" charset="0"/>
                <a:ea typeface="宋体" panose="02000500000000000000" pitchFamily="2" charset="-122"/>
                <a:cs typeface="+mn-cs"/>
              </a:rPr>
            </a:fld>
            <a:endParaRPr lang="en-US" altLang="zh-CN"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dirty="0" smtClean="0"/>
              <a:t>单击此处编辑母版文本样式</a:t>
            </a:r>
            <a:endParaRPr lang="zh-CN" altLang="en-US" strike="noStrike" noProof="1" dirty="0" smtClean="0"/>
          </a:p>
          <a:p>
            <a:pPr lvl="1" fontAlgn="base"/>
            <a:r>
              <a:rPr lang="zh-CN" altLang="en-US" strike="noStrike" noProof="1" dirty="0" smtClean="0"/>
              <a:t>第二级</a:t>
            </a:r>
            <a:endParaRPr lang="zh-CN" altLang="en-US" strike="noStrike" noProof="1" dirty="0" smtClean="0"/>
          </a:p>
          <a:p>
            <a:pPr lvl="2" fontAlgn="base"/>
            <a:r>
              <a:rPr lang="zh-CN" altLang="en-US" strike="noStrike" noProof="1" dirty="0" smtClean="0"/>
              <a:t>第三级</a:t>
            </a:r>
            <a:endParaRPr lang="zh-CN" altLang="en-US" strike="noStrike" noProof="1" dirty="0"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p>
            <a:pPr lvl="0" eaLnBrk="1" fontAlgn="base" hangingPunct="1">
              <a:buNone/>
            </a:pPr>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914400" y="609600"/>
            <a:ext cx="10361613"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Rectangle 3"/>
          <p:cNvSpPr>
            <a:spLocks noGrp="1"/>
          </p:cNvSpPr>
          <p:nvPr>
            <p:ph type="body"/>
          </p:nvPr>
        </p:nvSpPr>
        <p:spPr>
          <a:xfrm>
            <a:off x="914400" y="1981200"/>
            <a:ext cx="10361613" cy="41148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4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defRPr sz="1400">
                <a:ea typeface="宋体" panose="02000500000000000000"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fontAlgn="base" hangingPunct="1">
              <a:buNone/>
            </a:pPr>
            <a:fld id="{9A0DB2DC-4C9A-4742-B13C-FB6460FD3503}" type="slidenum">
              <a:rPr lang="en-US" altLang="zh-CN" strike="noStrike" noProof="1" dirty="0">
                <a:latin typeface="Times New Roman" pitchFamily="18" charset="0"/>
                <a:ea typeface="宋体" panose="02000500000000000000" pitchFamily="2" charset="-122"/>
                <a:cs typeface="+mn-cs"/>
              </a:rPr>
            </a:fld>
            <a:endParaRPr lang="en-US" altLang="zh-CN" strike="noStrike" noProof="1"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rtl="0" eaLnBrk="0" fontAlgn="base" hangingPunct="0">
        <a:spcBef>
          <a:spcPct val="0"/>
        </a:spcBef>
        <a:spcAft>
          <a:spcPct val="0"/>
        </a:spcAft>
        <a:defRPr kumimoji="1" sz="3600">
          <a:solidFill>
            <a:srgbClr val="FF3300"/>
          </a:solidFill>
          <a:latin typeface="+mj-lt"/>
          <a:ea typeface="+mj-ea"/>
          <a:cs typeface="+mj-cs"/>
        </a:defRPr>
      </a:lvl1pPr>
      <a:lvl2pPr algn="ctr" rtl="0" eaLnBrk="0" fontAlgn="base" hangingPunct="0">
        <a:spcBef>
          <a:spcPct val="0"/>
        </a:spcBef>
        <a:spcAft>
          <a:spcPct val="0"/>
        </a:spcAft>
        <a:defRPr kumimoji="1" sz="3600">
          <a:solidFill>
            <a:srgbClr val="FF33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kumimoji="1" sz="3600">
          <a:solidFill>
            <a:srgbClr val="FF33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kumimoji="1" sz="3600">
          <a:solidFill>
            <a:srgbClr val="FF33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kumimoji="1" sz="3600">
          <a:solidFill>
            <a:srgbClr val="FF33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kumimoji="1" sz="3600">
          <a:solidFill>
            <a:srgbClr val="FF33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kumimoji="1" sz="3600">
          <a:solidFill>
            <a:srgbClr val="FF33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kumimoji="1" sz="3600">
          <a:solidFill>
            <a:srgbClr val="FF33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kumimoji="1" sz="3600">
          <a:solidFill>
            <a:srgbClr val="FF33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50000"/>
        </a:lnSpc>
        <a:spcBef>
          <a:spcPts val="600"/>
        </a:spcBef>
        <a:spcAft>
          <a:spcPct val="0"/>
        </a:spcAft>
        <a:buChar char="•"/>
        <a:defRPr kumimoji="1" sz="2000" b="1">
          <a:solidFill>
            <a:schemeClr val="tx1"/>
          </a:solidFill>
          <a:latin typeface="+mn-ea"/>
          <a:ea typeface="+mn-ea"/>
          <a:cs typeface="+mn-cs"/>
        </a:defRPr>
      </a:lvl1pPr>
      <a:lvl2pPr marL="742950" indent="-285750" algn="l" rtl="0" eaLnBrk="0" fontAlgn="base" hangingPunct="0">
        <a:lnSpc>
          <a:spcPct val="150000"/>
        </a:lnSpc>
        <a:spcBef>
          <a:spcPts val="600"/>
        </a:spcBef>
        <a:spcAft>
          <a:spcPct val="0"/>
        </a:spcAft>
        <a:buChar char="•"/>
        <a:defRPr kumimoji="1" sz="1600" b="1">
          <a:solidFill>
            <a:schemeClr val="tx1"/>
          </a:solidFill>
          <a:latin typeface="+mn-ea"/>
          <a:ea typeface="+mn-ea"/>
        </a:defRPr>
      </a:lvl2pPr>
      <a:lvl3pPr marL="1143000" indent="-228600" algn="l" rtl="0" eaLnBrk="0" fontAlgn="base" hangingPunct="0">
        <a:lnSpc>
          <a:spcPct val="150000"/>
        </a:lnSpc>
        <a:spcBef>
          <a:spcPts val="600"/>
        </a:spcBef>
        <a:spcAft>
          <a:spcPct val="0"/>
        </a:spcAft>
        <a:buChar char="•"/>
        <a:defRPr kumimoji="1" sz="1400" b="1">
          <a:solidFill>
            <a:schemeClr val="tx1"/>
          </a:solidFill>
          <a:latin typeface="+mn-ea"/>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4.xml"/><Relationship Id="rId2" Type="http://schemas.openxmlformats.org/officeDocument/2006/relationships/image" Target="../media/image3.png"/><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4098" name="Rectangle 2"/>
          <p:cNvSpPr>
            <a:spLocks noGrp="1"/>
          </p:cNvSpPr>
          <p:nvPr>
            <p:ph type="ctrTitle"/>
          </p:nvPr>
        </p:nvSpPr>
        <p:spPr>
          <a:xfrm>
            <a:off x="220663" y="914400"/>
            <a:ext cx="11723687" cy="1927225"/>
          </a:xfrm>
          <a:ln/>
        </p:spPr>
        <p:txBody>
          <a:bodyPr vert="horz" wrap="square" lIns="91440" tIns="45720" rIns="91440" bIns="45720" anchor="ctr" anchorCtr="0"/>
          <a:p>
            <a:pPr eaLnBrk="1" hangingPunct="1">
              <a:buClrTx/>
              <a:buSzTx/>
              <a:buFontTx/>
            </a:pPr>
            <a:r>
              <a:rPr lang="zh-CN" altLang="en-US" sz="4800" dirty="0"/>
              <a:t>计算机体系结构</a:t>
            </a:r>
            <a:endParaRPr lang="zh-CN" altLang="en-US" dirty="0"/>
          </a:p>
        </p:txBody>
      </p:sp>
      <p:sp>
        <p:nvSpPr>
          <p:cNvPr id="4099" name="Rectangle 3"/>
          <p:cNvSpPr>
            <a:spLocks noGrp="1"/>
          </p:cNvSpPr>
          <p:nvPr>
            <p:ph type="subTitle" idx="1"/>
          </p:nvPr>
        </p:nvSpPr>
        <p:spPr>
          <a:xfrm>
            <a:off x="2689225" y="3827463"/>
            <a:ext cx="6821488" cy="2124075"/>
          </a:xfrm>
          <a:ln/>
        </p:spPr>
        <p:txBody>
          <a:bodyPr vert="horz" wrap="square" lIns="91440" tIns="45720" rIns="91440" bIns="45720" anchor="t" anchorCtr="0"/>
          <a:p>
            <a:pPr eaLnBrk="1" hangingPunct="1">
              <a:buClrTx/>
              <a:buSzTx/>
              <a:buFontTx/>
            </a:pPr>
            <a:endParaRPr kumimoji="1" lang="en-US" altLang="zh-CN" dirty="0">
              <a:latin typeface="+mn-ea"/>
              <a:ea typeface="+mn-ea"/>
              <a:cs typeface="+mn-cs"/>
            </a:endParaRPr>
          </a:p>
          <a:p>
            <a:pPr eaLnBrk="1" hangingPunct="1">
              <a:buClrTx/>
              <a:buSzTx/>
              <a:buFontTx/>
            </a:pPr>
            <a:r>
              <a:rPr kumimoji="1" lang="zh-CN" altLang="en-US" dirty="0">
                <a:latin typeface="+mn-ea"/>
                <a:ea typeface="+mn-ea"/>
                <a:cs typeface="+mn-cs"/>
              </a:rPr>
              <a:t>胡伟武、汪文祥</a:t>
            </a:r>
            <a:endParaRPr kumimoji="1" lang="zh-CN" altLang="en-US" dirty="0">
              <a:latin typeface="+mn-ea"/>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标题 1"/>
          <p:cNvSpPr>
            <a:spLocks noGrp="1"/>
          </p:cNvSpPr>
          <p:nvPr>
            <p:ph type="title"/>
          </p:nvPr>
        </p:nvSpPr>
        <p:spPr>
          <a:xfrm>
            <a:off x="973138" y="203200"/>
            <a:ext cx="10361612" cy="1143000"/>
          </a:xfrm>
          <a:ln/>
        </p:spPr>
        <p:txBody>
          <a:bodyPr vert="horz" wrap="square" lIns="91440" tIns="45720" rIns="91440" bIns="45720" anchor="ctr" anchorCtr="0"/>
          <a:p>
            <a:r>
              <a:rPr lang="zh-CN" altLang="en-US" dirty="0"/>
              <a:t>计算机专业的几门“当家”课</a:t>
            </a:r>
            <a:endParaRPr lang="zh-CN" altLang="en-US" dirty="0"/>
          </a:p>
        </p:txBody>
      </p:sp>
      <p:sp>
        <p:nvSpPr>
          <p:cNvPr id="5122" name="内容占位符 2"/>
          <p:cNvSpPr>
            <a:spLocks noGrp="1"/>
          </p:cNvSpPr>
          <p:nvPr>
            <p:ph idx="1"/>
          </p:nvPr>
        </p:nvSpPr>
        <p:spPr>
          <a:xfrm>
            <a:off x="914400" y="1603375"/>
            <a:ext cx="10361613" cy="4492625"/>
          </a:xfrm>
          <a:ln/>
        </p:spPr>
        <p:txBody>
          <a:bodyPr vert="horz" wrap="square" lIns="91440" tIns="45720" rIns="91440" bIns="45720" anchor="t" anchorCtr="0"/>
          <a:p>
            <a:r>
              <a:rPr lang="zh-CN" altLang="en-US" dirty="0">
                <a:solidFill>
                  <a:schemeClr val="accent2"/>
                </a:solidFill>
              </a:rPr>
              <a:t>如何“造”计算机而不是如何“用”计算机</a:t>
            </a:r>
            <a:endParaRPr lang="zh-CN" altLang="en-US" dirty="0">
              <a:solidFill>
                <a:schemeClr val="accent2"/>
              </a:solidFill>
            </a:endParaRPr>
          </a:p>
          <a:p>
            <a:r>
              <a:rPr lang="zh-CN" altLang="en-US" dirty="0"/>
              <a:t>硬件（</a:t>
            </a:r>
            <a:r>
              <a:rPr lang="en-US" altLang="zh-CN" dirty="0"/>
              <a:t>CPU</a:t>
            </a:r>
            <a:r>
              <a:rPr lang="zh-CN" altLang="en-US" dirty="0"/>
              <a:t>）：</a:t>
            </a:r>
            <a:endParaRPr lang="en-US" altLang="zh-CN" dirty="0"/>
          </a:p>
          <a:p>
            <a:pPr lvl="1"/>
            <a:r>
              <a:rPr lang="zh-CN" altLang="en-US" dirty="0"/>
              <a:t>计算机组成原理</a:t>
            </a:r>
            <a:endParaRPr lang="en-US" altLang="zh-CN" dirty="0"/>
          </a:p>
          <a:p>
            <a:pPr lvl="1"/>
            <a:r>
              <a:rPr lang="zh-CN" altLang="en-US" dirty="0"/>
              <a:t>计算机体系结构</a:t>
            </a:r>
            <a:endParaRPr lang="en-US" altLang="zh-CN" dirty="0"/>
          </a:p>
          <a:p>
            <a:r>
              <a:rPr lang="zh-CN" altLang="en-US" dirty="0"/>
              <a:t>软件（</a:t>
            </a:r>
            <a:r>
              <a:rPr lang="en-US" altLang="zh-CN" dirty="0"/>
              <a:t>OS</a:t>
            </a:r>
            <a:r>
              <a:rPr lang="zh-CN" altLang="en-US" dirty="0"/>
              <a:t>）：</a:t>
            </a:r>
            <a:endParaRPr lang="en-US" altLang="zh-CN" dirty="0"/>
          </a:p>
          <a:p>
            <a:pPr lvl="1"/>
            <a:r>
              <a:rPr lang="zh-CN" altLang="en-US" dirty="0"/>
              <a:t>操作系统</a:t>
            </a:r>
            <a:endParaRPr lang="en-US" altLang="zh-CN" dirty="0"/>
          </a:p>
          <a:p>
            <a:pPr lvl="1"/>
            <a:r>
              <a:rPr lang="zh-CN" altLang="en-US" dirty="0"/>
              <a:t>编译原理</a:t>
            </a:r>
            <a:endParaRPr lang="en-US" altLang="zh-CN" dirty="0"/>
          </a:p>
        </p:txBody>
      </p:sp>
      <p:sp>
        <p:nvSpPr>
          <p:cNvPr id="5123"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标题 1"/>
          <p:cNvSpPr>
            <a:spLocks noGrp="1"/>
          </p:cNvSpPr>
          <p:nvPr>
            <p:ph type="title"/>
          </p:nvPr>
        </p:nvSpPr>
        <p:spPr>
          <a:xfrm>
            <a:off x="0" y="0"/>
            <a:ext cx="12120563" cy="1008063"/>
          </a:xfrm>
          <a:ln/>
        </p:spPr>
        <p:txBody>
          <a:bodyPr vert="horz" wrap="square" lIns="91440" tIns="45720" rIns="91440" bIns="45720" anchor="ctr" anchorCtr="0"/>
          <a:p>
            <a:r>
              <a:rPr lang="zh-CN" altLang="en-US" dirty="0"/>
              <a:t>我国</a:t>
            </a:r>
            <a:r>
              <a:rPr lang="en-US" altLang="zh-CN" dirty="0"/>
              <a:t>IT</a:t>
            </a:r>
            <a:r>
              <a:rPr lang="zh-CN" altLang="en-US" dirty="0"/>
              <a:t>产业发展不平衡</a:t>
            </a:r>
            <a:endParaRPr lang="zh-CN" altLang="en-US" dirty="0"/>
          </a:p>
        </p:txBody>
      </p:sp>
      <p:sp>
        <p:nvSpPr>
          <p:cNvPr id="6146" name="内容占位符 2"/>
          <p:cNvSpPr>
            <a:spLocks noGrp="1"/>
          </p:cNvSpPr>
          <p:nvPr>
            <p:ph idx="1"/>
          </p:nvPr>
        </p:nvSpPr>
        <p:spPr>
          <a:xfrm>
            <a:off x="241300" y="892175"/>
            <a:ext cx="11631613" cy="4049713"/>
          </a:xfrm>
          <a:ln/>
        </p:spPr>
        <p:txBody>
          <a:bodyPr vert="horz" wrap="square" lIns="91440" tIns="45720" rIns="91440" bIns="45720" anchor="t" anchorCtr="0"/>
          <a:p>
            <a:r>
              <a:rPr lang="zh-CN" altLang="en-US" dirty="0"/>
              <a:t>我国</a:t>
            </a:r>
            <a:r>
              <a:rPr lang="en-US" altLang="zh-CN" dirty="0"/>
              <a:t>IT</a:t>
            </a:r>
            <a:r>
              <a:rPr lang="zh-CN" altLang="en-US" dirty="0"/>
              <a:t>产业应用发达，基础薄弱</a:t>
            </a:r>
            <a:endParaRPr lang="en-US" altLang="zh-CN" dirty="0"/>
          </a:p>
          <a:p>
            <a:pPr lvl="1"/>
            <a:r>
              <a:rPr lang="zh-CN" altLang="en-US" dirty="0"/>
              <a:t>应用：微信、电商、搜索、电子政务等</a:t>
            </a:r>
            <a:endParaRPr lang="en-US" altLang="zh-CN" dirty="0"/>
          </a:p>
          <a:p>
            <a:pPr lvl="1"/>
            <a:r>
              <a:rPr lang="zh-CN" altLang="en-US" dirty="0"/>
              <a:t>基础：</a:t>
            </a:r>
            <a:r>
              <a:rPr lang="en-US" altLang="zh-CN" dirty="0"/>
              <a:t>CPU</a:t>
            </a:r>
            <a:r>
              <a:rPr lang="zh-CN" altLang="en-US" dirty="0"/>
              <a:t>、操作系统、数据库</a:t>
            </a:r>
            <a:endParaRPr lang="en-US" altLang="zh-CN" dirty="0"/>
          </a:p>
          <a:p>
            <a:pPr lvl="1"/>
            <a:r>
              <a:rPr lang="zh-CN" altLang="en-US" dirty="0">
                <a:solidFill>
                  <a:srgbClr val="FF0000"/>
                </a:solidFill>
              </a:rPr>
              <a:t>“</a:t>
            </a:r>
            <a:r>
              <a:rPr lang="zh-CN" altLang="zh-CN" dirty="0">
                <a:solidFill>
                  <a:srgbClr val="FF0000"/>
                </a:solidFill>
              </a:rPr>
              <a:t>好比在别人的墙基上砌房子，再大再漂亮也可能经不起风雨，甚至会不堪一击</a:t>
            </a:r>
            <a:r>
              <a:rPr lang="zh-CN" altLang="en-US" dirty="0">
                <a:solidFill>
                  <a:srgbClr val="FF0000"/>
                </a:solidFill>
              </a:rPr>
              <a:t>”</a:t>
            </a:r>
            <a:endParaRPr lang="en-US" altLang="zh-CN" dirty="0">
              <a:solidFill>
                <a:srgbClr val="FF0000"/>
              </a:solidFill>
            </a:endParaRPr>
          </a:p>
          <a:p>
            <a:r>
              <a:rPr lang="zh-CN" altLang="zh-CN" dirty="0"/>
              <a:t>产业主动权比市场占有率</a:t>
            </a:r>
            <a:r>
              <a:rPr lang="zh-CN" altLang="en-US" dirty="0"/>
              <a:t>更</a:t>
            </a:r>
            <a:r>
              <a:rPr lang="zh-CN" altLang="zh-CN" dirty="0"/>
              <a:t>重要</a:t>
            </a:r>
            <a:endParaRPr lang="zh-CN" altLang="zh-CN" dirty="0"/>
          </a:p>
          <a:p>
            <a:pPr lvl="1"/>
            <a:r>
              <a:rPr lang="en-US" altLang="zh-CN" dirty="0">
                <a:sym typeface="Times New Roman" pitchFamily="18" charset="0"/>
              </a:rPr>
              <a:t>2023</a:t>
            </a:r>
            <a:r>
              <a:rPr lang="zh-CN" altLang="en-US" dirty="0">
                <a:sym typeface="Times New Roman" pitchFamily="18" charset="0"/>
              </a:rPr>
              <a:t>年我国规上工业企业利润率</a:t>
            </a:r>
            <a:r>
              <a:rPr lang="en-US" altLang="zh-CN" dirty="0">
                <a:sym typeface="Times New Roman" pitchFamily="18" charset="0"/>
              </a:rPr>
              <a:t>5.8%</a:t>
            </a:r>
            <a:r>
              <a:rPr lang="zh-CN" altLang="en-US" dirty="0">
                <a:sym typeface="Times New Roman" pitchFamily="18" charset="0"/>
              </a:rPr>
              <a:t>，电子工业利润率</a:t>
            </a:r>
            <a:r>
              <a:rPr lang="en-US" altLang="zh-CN" dirty="0">
                <a:sym typeface="Times New Roman" pitchFamily="18" charset="0"/>
              </a:rPr>
              <a:t>4.2%</a:t>
            </a:r>
            <a:r>
              <a:rPr lang="zh-CN" altLang="en-US" dirty="0">
                <a:sym typeface="Times New Roman" pitchFamily="18" charset="0"/>
              </a:rPr>
              <a:t>，</a:t>
            </a:r>
            <a:endParaRPr lang="en-US" altLang="zh-CN" dirty="0">
              <a:sym typeface="Times New Roman" pitchFamily="18" charset="0"/>
            </a:endParaRPr>
          </a:p>
          <a:p>
            <a:pPr lvl="1"/>
            <a:r>
              <a:rPr lang="en-US" altLang="zh-CN" dirty="0">
                <a:sym typeface="Times New Roman" pitchFamily="18" charset="0"/>
              </a:rPr>
              <a:t>2023</a:t>
            </a:r>
            <a:r>
              <a:rPr lang="zh-CN" altLang="en-US" dirty="0">
                <a:sym typeface="Times New Roman" pitchFamily="18" charset="0"/>
              </a:rPr>
              <a:t>年我国电子工业利润总额</a:t>
            </a:r>
            <a:r>
              <a:rPr lang="en-US" altLang="zh-CN" dirty="0">
                <a:sym typeface="Times New Roman" pitchFamily="18" charset="0"/>
              </a:rPr>
              <a:t>6411</a:t>
            </a:r>
            <a:r>
              <a:rPr lang="zh-CN" altLang="en-US" dirty="0">
                <a:sym typeface="Times New Roman" pitchFamily="18" charset="0"/>
              </a:rPr>
              <a:t>亿元，苹果公司利润总额</a:t>
            </a:r>
            <a:r>
              <a:rPr lang="en-US" altLang="zh-CN" dirty="0">
                <a:sym typeface="Times New Roman" pitchFamily="18" charset="0"/>
              </a:rPr>
              <a:t>970</a:t>
            </a:r>
            <a:r>
              <a:rPr lang="zh-CN" altLang="en-US" dirty="0">
                <a:sym typeface="Times New Roman" pitchFamily="18" charset="0"/>
              </a:rPr>
              <a:t>亿美元</a:t>
            </a:r>
            <a:endParaRPr lang="en-US" altLang="zh-CN" dirty="0">
              <a:sym typeface="Times New Roman" pitchFamily="18" charset="0"/>
            </a:endParaRPr>
          </a:p>
          <a:p>
            <a:pPr lvl="1"/>
            <a:r>
              <a:rPr lang="en-US" altLang="zh-CN" dirty="0">
                <a:solidFill>
                  <a:srgbClr val="000000"/>
                </a:solidFill>
                <a:sym typeface="+mn-ea"/>
              </a:rPr>
              <a:t>2018</a:t>
            </a:r>
            <a:r>
              <a:rPr lang="zh-CN" altLang="en-US" dirty="0">
                <a:solidFill>
                  <a:srgbClr val="000000"/>
                </a:solidFill>
                <a:sym typeface="+mn-ea"/>
              </a:rPr>
              <a:t>年展锐销售手机芯片量与</a:t>
            </a:r>
            <a:r>
              <a:rPr lang="en-US" altLang="zh-CN" dirty="0">
                <a:solidFill>
                  <a:srgbClr val="000000"/>
                </a:solidFill>
                <a:sym typeface="+mn-ea"/>
              </a:rPr>
              <a:t>Intel</a:t>
            </a:r>
            <a:r>
              <a:rPr lang="zh-CN" altLang="en-US" dirty="0">
                <a:solidFill>
                  <a:srgbClr val="000000"/>
                </a:solidFill>
                <a:sym typeface="+mn-ea"/>
              </a:rPr>
              <a:t>销售电脑芯片量差不多，华为净利润（</a:t>
            </a:r>
            <a:r>
              <a:rPr lang="en-US" altLang="zh-CN" dirty="0">
                <a:solidFill>
                  <a:srgbClr val="000000"/>
                </a:solidFill>
                <a:sym typeface="+mn-ea"/>
              </a:rPr>
              <a:t>&lt;90</a:t>
            </a:r>
            <a:r>
              <a:rPr lang="zh-CN" altLang="en-US" dirty="0">
                <a:solidFill>
                  <a:srgbClr val="000000"/>
                </a:solidFill>
                <a:sym typeface="+mn-ea"/>
              </a:rPr>
              <a:t>亿</a:t>
            </a:r>
            <a:r>
              <a:rPr lang="en-US" altLang="zh-CN" dirty="0">
                <a:solidFill>
                  <a:srgbClr val="000000"/>
                </a:solidFill>
                <a:sym typeface="+mn-ea"/>
              </a:rPr>
              <a:t>$</a:t>
            </a:r>
            <a:r>
              <a:rPr lang="zh-CN" altLang="en-US" dirty="0">
                <a:solidFill>
                  <a:srgbClr val="000000"/>
                </a:solidFill>
                <a:sym typeface="+mn-ea"/>
              </a:rPr>
              <a:t>）不到苹果零头</a:t>
            </a:r>
            <a:endParaRPr lang="" altLang="zh-CN" dirty="0">
              <a:solidFill>
                <a:srgbClr val="000000"/>
              </a:solidFill>
            </a:endParaRPr>
          </a:p>
        </p:txBody>
      </p:sp>
      <p:graphicFrame>
        <p:nvGraphicFramePr>
          <p:cNvPr id="9220" name="表格 9219"/>
          <p:cNvGraphicFramePr/>
          <p:nvPr/>
        </p:nvGraphicFramePr>
        <p:xfrm>
          <a:off x="6656388" y="5043488"/>
          <a:ext cx="4892675" cy="1698625"/>
        </p:xfrm>
        <a:graphic>
          <a:graphicData uri="http://schemas.openxmlformats.org/drawingml/2006/table">
            <a:tbl>
              <a:tblPr/>
              <a:tblGrid>
                <a:gridCol w="1458913"/>
                <a:gridCol w="1774825"/>
                <a:gridCol w="1658937"/>
              </a:tblGrid>
              <a:tr h="3397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2018</a:t>
                      </a:r>
                      <a:r>
                        <a:rPr lang="zh-CN" altLang="en-US" sz="1800" b="1" dirty="0">
                          <a:latin typeface="宋体" panose="02000500000000000000" pitchFamily="2" charset="-122"/>
                        </a:rPr>
                        <a:t>年</a:t>
                      </a:r>
                      <a:r>
                        <a:rPr lang="en-US" altLang="zh-CN" sz="1800" b="1" dirty="0">
                          <a:latin typeface="宋体" panose="02000500000000000000" pitchFamily="2" charset="-122"/>
                        </a:rPr>
                        <a:t> </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销售收入</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利  润</a:t>
                      </a:r>
                      <a:endParaRPr lang="zh-CN" altLang="en-US"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97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联  想</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510</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6</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97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苹  果</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2656</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595</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97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英特尔</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708</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210</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9725">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展  锐</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16</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bl>
          </a:graphicData>
        </a:graphic>
      </p:graphicFrame>
      <p:graphicFrame>
        <p:nvGraphicFramePr>
          <p:cNvPr id="9246" name="表格 9245"/>
          <p:cNvGraphicFramePr/>
          <p:nvPr/>
        </p:nvGraphicFramePr>
        <p:xfrm>
          <a:off x="882650" y="5059363"/>
          <a:ext cx="5373688" cy="1682750"/>
        </p:xfrm>
        <a:graphic>
          <a:graphicData uri="http://schemas.openxmlformats.org/drawingml/2006/table">
            <a:tbl>
              <a:tblPr/>
              <a:tblGrid>
                <a:gridCol w="1757363"/>
                <a:gridCol w="1963737"/>
                <a:gridCol w="1652588"/>
              </a:tblGrid>
              <a:tr h="336550">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2017</a:t>
                      </a:r>
                      <a:r>
                        <a:rPr lang="zh-CN" altLang="en-US" sz="1800" b="1" dirty="0">
                          <a:latin typeface="宋体" panose="02000500000000000000" pitchFamily="2" charset="-122"/>
                        </a:rPr>
                        <a:t>年</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销售收入</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利  润</a:t>
                      </a:r>
                      <a:endParaRPr lang="zh-CN" altLang="en-US"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6550">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联  想</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453</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-1</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6550">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苹  果</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2292</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484</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6550">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英特尔</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628</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96</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r h="336550">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zh-CN" altLang="en-US" sz="1800" b="1" dirty="0">
                          <a:latin typeface="宋体" panose="02000500000000000000" pitchFamily="2" charset="-122"/>
                        </a:rPr>
                        <a:t>展  锐</a:t>
                      </a:r>
                      <a:endParaRPr lang="zh-CN" altLang="en-US"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  21</a:t>
                      </a:r>
                      <a:endParaRPr lang="en-US" altLang="zh-CN" sz="1800" b="1" dirty="0">
                        <a:latin typeface="宋体" panose="02000500000000000000" pitchFamily="2" charset="-122"/>
                      </a:endParaRPr>
                    </a:p>
                  </a:txBody>
                  <a:tcPr marL="0" marR="0" marT="0" marB="1" anchor="ctr" anchorCtr="0">
                    <a:lnL w="12700" cap="flat" cmpd="sng">
                      <a:solidFill>
                        <a:srgbClr val="08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c>
                  <a:txBody>
                    <a:bodyPr/>
                    <a:lstStyle>
                      <a:lvl1pPr marL="0" lvl="0" indent="0" algn="ctr"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eaLnBrk="1" hangingPunct="1">
                        <a:buNone/>
                      </a:pPr>
                      <a:r>
                        <a:rPr lang="en-US" altLang="zh-CN" sz="1800" b="1" dirty="0">
                          <a:latin typeface="宋体" panose="02000500000000000000" pitchFamily="2" charset="-122"/>
                        </a:rPr>
                        <a:t>-</a:t>
                      </a:r>
                      <a:endParaRPr lang="en-US" altLang="zh-CN" sz="1800" b="1" dirty="0">
                        <a:latin typeface="宋体" panose="02000500000000000000" pitchFamily="2" charset="-122"/>
                      </a:endParaRPr>
                    </a:p>
                  </a:txBody>
                  <a:tcPr marL="0" marR="0" marT="0" marB="1" anchor="ctr" anchorCtr="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C2FFF0"/>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1"/>
          <p:cNvSpPr>
            <a:spLocks noGrp="1"/>
          </p:cNvSpPr>
          <p:nvPr>
            <p:ph type="title"/>
          </p:nvPr>
        </p:nvSpPr>
        <p:spPr>
          <a:xfrm>
            <a:off x="869950" y="282575"/>
            <a:ext cx="10361613" cy="1143000"/>
          </a:xfrm>
          <a:ln/>
        </p:spPr>
        <p:txBody>
          <a:bodyPr vert="horz" wrap="square" lIns="91440" tIns="45720" rIns="91440" bIns="45720" anchor="ctr" anchorCtr="0"/>
          <a:p>
            <a:pPr>
              <a:spcBef>
                <a:spcPts val="600"/>
              </a:spcBef>
            </a:pPr>
            <a:r>
              <a:rPr lang="zh-CN" altLang="en-US" dirty="0">
                <a:latin typeface="黑体" panose="02000500000000000000" pitchFamily="49" charset="-122"/>
              </a:rPr>
              <a:t>我国</a:t>
            </a:r>
            <a:r>
              <a:rPr lang="en-US" altLang="zh-CN" dirty="0"/>
              <a:t>IT</a:t>
            </a:r>
            <a:r>
              <a:rPr lang="zh-CN" altLang="en-US" dirty="0">
                <a:latin typeface="黑体" panose="02000500000000000000" pitchFamily="49" charset="-122"/>
              </a:rPr>
              <a:t>产业人才严重失衡</a:t>
            </a:r>
            <a:endParaRPr lang="zh-CN" altLang="en-US" dirty="0"/>
          </a:p>
        </p:txBody>
      </p:sp>
      <p:sp>
        <p:nvSpPr>
          <p:cNvPr id="7170" name="内容占位符 2"/>
          <p:cNvSpPr>
            <a:spLocks noGrp="1"/>
          </p:cNvSpPr>
          <p:nvPr>
            <p:ph idx="1"/>
          </p:nvPr>
        </p:nvSpPr>
        <p:spPr>
          <a:xfrm>
            <a:off x="560388" y="1490663"/>
            <a:ext cx="11149012" cy="5124450"/>
          </a:xfrm>
          <a:ln/>
        </p:spPr>
        <p:txBody>
          <a:bodyPr vert="horz" wrap="square" lIns="91440" tIns="45720" rIns="91440" bIns="45720" anchor="t" anchorCtr="0"/>
          <a:p>
            <a:r>
              <a:rPr lang="zh-CN" altLang="en-US" dirty="0"/>
              <a:t>应用型人才充足，基础型人才匮乏</a:t>
            </a:r>
            <a:endParaRPr lang="en-US" altLang="zh-CN" dirty="0"/>
          </a:p>
          <a:p>
            <a:pPr lvl="1"/>
            <a:r>
              <a:rPr lang="en-US" altLang="zh-CN" dirty="0"/>
              <a:t>Java</a:t>
            </a:r>
            <a:r>
              <a:rPr lang="zh-CN" altLang="en-US" dirty="0"/>
              <a:t>及</a:t>
            </a:r>
            <a:r>
              <a:rPr lang="en-US" altLang="zh-CN" dirty="0"/>
              <a:t>JavaScript</a:t>
            </a:r>
            <a:r>
              <a:rPr lang="zh-CN" altLang="en-US" dirty="0"/>
              <a:t>编程工程师数以百万计，</a:t>
            </a:r>
            <a:r>
              <a:rPr lang="en-US" altLang="zh-CN" dirty="0"/>
              <a:t>Java/JS</a:t>
            </a:r>
            <a:r>
              <a:rPr lang="zh-CN" altLang="en-US" dirty="0"/>
              <a:t>虚拟机人才不到百人</a:t>
            </a:r>
            <a:endParaRPr lang="en-US" altLang="zh-CN" dirty="0"/>
          </a:p>
          <a:p>
            <a:pPr lvl="1"/>
            <a:r>
              <a:rPr lang="zh-CN" altLang="en-US" dirty="0"/>
              <a:t>熟悉内核的工程师是</a:t>
            </a:r>
            <a:r>
              <a:rPr lang="en-US" altLang="zh-CN" dirty="0"/>
              <a:t>BAT</a:t>
            </a:r>
            <a:r>
              <a:rPr lang="zh-CN" altLang="en-US" dirty="0"/>
              <a:t>等网络企业两百万以上年薪猎聘对象</a:t>
            </a:r>
            <a:endParaRPr lang="en-US" altLang="zh-CN" dirty="0"/>
          </a:p>
          <a:p>
            <a:pPr lvl="1"/>
            <a:r>
              <a:rPr lang="zh-CN" altLang="en-US" dirty="0"/>
              <a:t>用现成的</a:t>
            </a:r>
            <a:r>
              <a:rPr lang="en-US" altLang="zh-CN" dirty="0"/>
              <a:t>IP</a:t>
            </a:r>
            <a:r>
              <a:rPr lang="zh-CN" altLang="en-US" dirty="0"/>
              <a:t>“攒”</a:t>
            </a:r>
            <a:r>
              <a:rPr lang="en-US" altLang="zh-CN" dirty="0"/>
              <a:t>SOC</a:t>
            </a:r>
            <a:r>
              <a:rPr lang="zh-CN" altLang="en-US" dirty="0"/>
              <a:t>的人才不缺，设计</a:t>
            </a:r>
            <a:r>
              <a:rPr lang="en-US" altLang="zh-CN" dirty="0"/>
              <a:t>CPU</a:t>
            </a:r>
            <a:r>
              <a:rPr lang="zh-CN" altLang="en-US" dirty="0"/>
              <a:t>、</a:t>
            </a:r>
            <a:r>
              <a:rPr lang="en-US" altLang="zh-CN" dirty="0"/>
              <a:t>GPU</a:t>
            </a:r>
            <a:r>
              <a:rPr lang="zh-CN" altLang="en-US" dirty="0"/>
              <a:t>等核心</a:t>
            </a:r>
            <a:r>
              <a:rPr lang="en-US" altLang="zh-CN" dirty="0"/>
              <a:t>IP</a:t>
            </a:r>
            <a:r>
              <a:rPr lang="zh-CN" altLang="en-US" dirty="0"/>
              <a:t>人才奇缺</a:t>
            </a:r>
            <a:endParaRPr lang="en-US" altLang="zh-CN" dirty="0"/>
          </a:p>
          <a:p>
            <a:r>
              <a:rPr lang="en-US" altLang="zh-CN" dirty="0"/>
              <a:t>IT</a:t>
            </a:r>
            <a:r>
              <a:rPr lang="zh-CN" altLang="en-US" dirty="0"/>
              <a:t>教学主要基于国外平台，不熟悉自主平台</a:t>
            </a:r>
            <a:endParaRPr lang="en-US" altLang="zh-CN" dirty="0"/>
          </a:p>
          <a:p>
            <a:pPr lvl="1"/>
            <a:r>
              <a:rPr lang="zh-CN" altLang="en-US" dirty="0"/>
              <a:t>中小学信息化教育实际上是“微软培训班”</a:t>
            </a:r>
            <a:endParaRPr lang="en-US" altLang="zh-CN" dirty="0"/>
          </a:p>
          <a:p>
            <a:pPr lvl="1"/>
            <a:r>
              <a:rPr lang="zh-CN" altLang="en-US" dirty="0"/>
              <a:t>大学计算机专业主要教学生“用”计算机，而不是“造”计算机</a:t>
            </a:r>
            <a:endParaRPr lang="en-US" altLang="zh-CN" dirty="0"/>
          </a:p>
          <a:p>
            <a:r>
              <a:rPr lang="zh-CN" altLang="en-US" dirty="0"/>
              <a:t>研究生教育注重培养写论文的人才，缺少工程能力的培养</a:t>
            </a:r>
            <a:endParaRPr lang="en-US" altLang="zh-CN" dirty="0"/>
          </a:p>
          <a:p>
            <a:pPr lvl="1"/>
            <a:r>
              <a:rPr lang="zh-CN" altLang="en-US" dirty="0"/>
              <a:t>积极参与国际学术会议，但缺席国际工程会议（如</a:t>
            </a:r>
            <a:r>
              <a:rPr lang="en-US" altLang="zh-CN" dirty="0"/>
              <a:t>Java</a:t>
            </a:r>
            <a:r>
              <a:rPr lang="zh-CN" altLang="en-US" dirty="0"/>
              <a:t>虚拟机）</a:t>
            </a:r>
            <a:endParaRPr lang="en-US" altLang="zh-CN" dirty="0"/>
          </a:p>
          <a:p>
            <a:pPr lvl="1"/>
            <a:r>
              <a:rPr lang="zh-CN" altLang="en-US" dirty="0"/>
              <a:t>像</a:t>
            </a:r>
            <a:r>
              <a:rPr lang="en-US" altLang="zh-CN" dirty="0"/>
              <a:t>Java</a:t>
            </a:r>
            <a:r>
              <a:rPr lang="zh-CN" altLang="en-US" dirty="0"/>
              <a:t>虚拟机国际会议参会人员多在四、五十岁，有</a:t>
            </a:r>
            <a:r>
              <a:rPr lang="en-US" altLang="zh-CN" dirty="0"/>
              <a:t>20</a:t>
            </a:r>
            <a:r>
              <a:rPr lang="zh-CN" altLang="en-US" dirty="0"/>
              <a:t>年以上工程经验</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标题 1"/>
          <p:cNvSpPr>
            <a:spLocks noGrp="1"/>
          </p:cNvSpPr>
          <p:nvPr>
            <p:ph type="title"/>
          </p:nvPr>
        </p:nvSpPr>
        <p:spPr>
          <a:xfrm>
            <a:off x="334963" y="261938"/>
            <a:ext cx="11245850" cy="552450"/>
          </a:xfrm>
          <a:ln/>
        </p:spPr>
        <p:txBody>
          <a:bodyPr vert="horz" wrap="square" lIns="0" tIns="0" rIns="0" bIns="0" anchor="ctr" anchorCtr="0">
            <a:spAutoFit/>
          </a:bodyPr>
          <a:p>
            <a:pPr defTabSz="263525"/>
            <a:r>
              <a:rPr lang="zh-CN" altLang="en-US" dirty="0">
                <a:solidFill>
                  <a:srgbClr val="FF0000"/>
                </a:solidFill>
              </a:rPr>
              <a:t>能力一旦丧失，再建起来非常困难</a:t>
            </a:r>
            <a:endParaRPr lang="zh-CN" altLang="en-US" dirty="0">
              <a:solidFill>
                <a:srgbClr val="FF0000"/>
              </a:solidFill>
            </a:endParaRPr>
          </a:p>
        </p:txBody>
      </p:sp>
      <p:sp>
        <p:nvSpPr>
          <p:cNvPr id="19459" name="内容占位符 2"/>
          <p:cNvSpPr>
            <a:spLocks noGrp="1"/>
          </p:cNvSpPr>
          <p:nvPr>
            <p:ph idx="1"/>
          </p:nvPr>
        </p:nvSpPr>
        <p:spPr>
          <a:xfrm>
            <a:off x="334963" y="981075"/>
            <a:ext cx="11644313" cy="5611813"/>
          </a:xfrm>
        </p:spPr>
        <p:txBody>
          <a:bodyPr vert="horz" wrap="square" lIns="75195" tIns="39101" rIns="75195" bIns="39101" numCol="1" anchor="t" anchorCtr="0" compatLnSpc="1"/>
          <a:lstStyle/>
          <a:p>
            <a:pPr marL="342900" marR="0" lvl="0" indent="-342900" algn="l" defTabSz="263525" rtl="0" eaLnBrk="1" fontAlgn="base" latinLnBrk="0" hangingPunct="0">
              <a:lnSpc>
                <a:spcPct val="150000"/>
              </a:lnSpc>
              <a:spcBef>
                <a:spcPts val="600"/>
              </a:spcBef>
              <a:spcAft>
                <a:spcPct val="0"/>
              </a:spcAft>
              <a:buClrTx/>
              <a:buSzTx/>
              <a:buFont typeface="Arial" panose="02080604020202020204" pitchFamily="34" charset="0"/>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前苏联在乌克兰的尼古拉耶夫造船厂</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263525" rtl="0" eaLnBrk="1" fontAlgn="base" latinLnBrk="0" hangingPunct="0">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前苏联解体时，比“库兹涅佐夫海军元帅号”更先进的“乌里扬诺夫斯克号”航母大合拢已近尾声，一家挪威公司提出乌克兰制造</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6</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艘船舶，但指定要在乌里扬诺夫斯克号的</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0</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号船台，一家美国钢铁公司提出</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500</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美元一吨高价收购该航母的建造用钢并交了定金。等乌里扬诺夫斯克号拆解完毕，两家公司同时违约</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263525" rtl="0" eaLnBrk="1" fontAlgn="base" latinLnBrk="0" hangingPunct="0">
              <a:lnSpc>
                <a:spcPct val="150000"/>
              </a:lnSpc>
              <a:spcBef>
                <a:spcPts val="600"/>
              </a:spcBef>
              <a:spcAft>
                <a:spcPct val="0"/>
              </a:spcAft>
              <a:buClrTx/>
              <a:buSzTx/>
              <a:buFont typeface="Arial" panose="02080604020202020204" pitchFamily="34" charset="0"/>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运十下马</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263525" rtl="0" eaLnBrk="1" fontAlgn="base" latinLnBrk="0" hangingPunct="0">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运十下马原因很多，但要和麦道合作，组装麦道飞机需要使用运十占用的工厂也是重要原因。</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财富</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杂志：“因为上海搞过运十，我们才与上海合作，如果不扳倒运十，美国飞机就不好打进中国”。有关部门制定的大飞机三步走策略落空：第一步，中美合作组装</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MD80/90</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；第二步，中外合作研制</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AE100</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2005</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年服役；第三步，自行设计制造</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180</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座飞机，</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2010</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年实现</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263525" rtl="0" eaLnBrk="1" fontAlgn="base" latinLnBrk="0" hangingPunct="0">
              <a:lnSpc>
                <a:spcPct val="150000"/>
              </a:lnSpc>
              <a:spcBef>
                <a:spcPts val="600"/>
              </a:spcBef>
              <a:spcAft>
                <a:spcPct val="0"/>
              </a:spcAft>
              <a:buClrTx/>
              <a:buSzTx/>
              <a:buFont typeface="Arial" panose="02080604020202020204" pitchFamily="34" charset="0"/>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恢复能力需要三十年以上：工程能力只能在实践中多轮试错才能形成</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263525" rtl="0" eaLnBrk="1" fontAlgn="base" latinLnBrk="0" hangingPunct="0">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我国八十年代还能自主设计计算机，现在从小学到大学都在教如何用计算机</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p:txBody>
      </p:sp>
      <p:sp>
        <p:nvSpPr>
          <p:cNvPr id="8195" name="灯片编号占位符 3"/>
          <p:cNvSpPr txBox="1">
            <a:spLocks noGrp="1"/>
          </p:cNvSpPr>
          <p:nvPr/>
        </p:nvSpPr>
        <p:spPr>
          <a:xfrm>
            <a:off x="7631113" y="6265863"/>
            <a:ext cx="2844800" cy="476250"/>
          </a:xfrm>
          <a:prstGeom prst="rect">
            <a:avLst/>
          </a:prstGeom>
          <a:noFill/>
          <a:ln w="9525">
            <a:noFill/>
          </a:ln>
        </p:spPr>
        <p:txBody>
          <a:bodyPr anchor="t" anchorCtr="0"/>
          <a:p>
            <a:pPr algn="r"/>
            <a:r>
              <a:rPr lang="zh-CN" altLang="zh-CN" sz="1000" i="1" dirty="0">
                <a:latin typeface="微软雅黑" pitchFamily="34" charset="-122"/>
                <a:ea typeface="微软雅黑" pitchFamily="34" charset="-122"/>
              </a:rPr>
              <a:t>page </a:t>
            </a:r>
            <a:fld id="{9A0DB2DC-4C9A-4742-B13C-FB6460FD3503}" type="slidenum">
              <a:rPr lang="zh-CN" altLang="zh-CN" sz="1000" i="1" dirty="0">
                <a:latin typeface="微软雅黑" pitchFamily="34" charset="-122"/>
                <a:ea typeface="微软雅黑" pitchFamily="34" charset="-122"/>
              </a:rPr>
            </a:fld>
            <a:endParaRPr lang="zh-CN" altLang="zh-CN" sz="1000" i="1" dirty="0">
              <a:latin typeface="微软雅黑" pitchFamily="34" charset="-122"/>
              <a:ea typeface="微软雅黑"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9218" name="Rectangle 2"/>
          <p:cNvSpPr/>
          <p:nvPr/>
        </p:nvSpPr>
        <p:spPr>
          <a:xfrm>
            <a:off x="914400" y="457200"/>
            <a:ext cx="10361613" cy="762000"/>
          </a:xfrm>
          <a:prstGeom prst="rect">
            <a:avLst/>
          </a:prstGeom>
          <a:noFill/>
          <a:ln w="9525">
            <a:noFill/>
          </a:ln>
        </p:spPr>
        <p:txBody>
          <a:bodyPr anchor="ctr" anchorCtr="0"/>
          <a:p>
            <a:pPr algn="ctr"/>
            <a:r>
              <a:rPr lang="zh-CN" altLang="en-US" sz="3600" dirty="0">
                <a:solidFill>
                  <a:srgbClr val="FF3300"/>
                </a:solidFill>
                <a:latin typeface="Arial" panose="02080604020202020204" pitchFamily="34" charset="0"/>
                <a:ea typeface="黑体" panose="02000500000000000000" pitchFamily="49" charset="-122"/>
              </a:rPr>
              <a:t>课程介绍</a:t>
            </a:r>
            <a:endParaRPr lang="zh-CN" altLang="en-US" sz="3600" dirty="0">
              <a:solidFill>
                <a:srgbClr val="FF3300"/>
              </a:solidFill>
              <a:latin typeface="Arial" panose="02080604020202020204" pitchFamily="34" charset="0"/>
              <a:ea typeface="黑体" panose="02000500000000000000" pitchFamily="49" charset="-122"/>
            </a:endParaRPr>
          </a:p>
        </p:txBody>
      </p:sp>
      <p:sp>
        <p:nvSpPr>
          <p:cNvPr id="11268" name="Rectangle 3"/>
          <p:cNvSpPr>
            <a:spLocks noChangeArrowheads="1"/>
          </p:cNvSpPr>
          <p:nvPr/>
        </p:nvSpPr>
        <p:spPr bwMode="auto">
          <a:xfrm>
            <a:off x="1128713" y="2370138"/>
            <a:ext cx="10253663" cy="365760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对计算机</a:t>
            </a:r>
            <a:r>
              <a:rPr kumimoji="1" lang="en-US" altLang="zh-CN" sz="2400" b="1" i="0" u="none" strike="noStrike" kern="1200" cap="none" spc="0" normalizeH="0" baseline="0" noProof="0" dirty="0">
                <a:ln>
                  <a:noFill/>
                </a:ln>
                <a:solidFill>
                  <a:schemeClr val="tx1"/>
                </a:solidFill>
                <a:effectLst/>
                <a:uLnTx/>
                <a:uFillTx/>
                <a:latin typeface="+mn-ea"/>
                <a:ea typeface="+mn-ea"/>
                <a:cs typeface="+mn-cs"/>
              </a:rPr>
              <a:t>CPU</a:t>
            </a:r>
            <a:r>
              <a:rPr kumimoji="1" lang="zh-CN" altLang="en-US" sz="2400" b="1" i="0" u="none" strike="noStrike" kern="1200" cap="none" spc="0" normalizeH="0" baseline="0" noProof="0" dirty="0">
                <a:ln>
                  <a:noFill/>
                </a:ln>
                <a:solidFill>
                  <a:schemeClr val="tx1"/>
                </a:solidFill>
                <a:effectLst/>
                <a:uLnTx/>
                <a:uFillTx/>
                <a:latin typeface="+mn-ea"/>
                <a:ea typeface="+mn-ea"/>
                <a:cs typeface="+mn-cs"/>
              </a:rPr>
              <a:t>的认识</a:t>
            </a:r>
            <a:endParaRPr kumimoji="1" lang="zh-CN" altLang="en-US" sz="24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本课程的目的</a:t>
            </a:r>
            <a:endParaRPr kumimoji="1" lang="zh-CN" altLang="en-US" sz="24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ts val="600"/>
              </a:spcBef>
              <a:spcAft>
                <a:spcPct val="0"/>
              </a:spcAft>
              <a:buClrTx/>
              <a:buSzTx/>
              <a:buFontTx/>
              <a:buChar char="•"/>
              <a:defRPr/>
            </a:pPr>
            <a:r>
              <a:rPr kumimoji="1" lang="zh-CN" altLang="en-US" sz="2400" b="1" i="0" u="none" strike="noStrike" kern="1200" cap="none" spc="0" normalizeH="0" baseline="0" noProof="0" dirty="0">
                <a:ln>
                  <a:noFill/>
                </a:ln>
                <a:solidFill>
                  <a:schemeClr val="tx1"/>
                </a:solidFill>
                <a:effectLst/>
                <a:uLnTx/>
                <a:uFillTx/>
                <a:latin typeface="+mn-ea"/>
                <a:ea typeface="+mn-ea"/>
                <a:cs typeface="+mn-cs"/>
              </a:rPr>
              <a:t>本课程内容和要求</a:t>
            </a:r>
            <a:endParaRPr kumimoji="1" lang="zh-CN" altLang="en-US" sz="2400" b="1" i="0" u="none" strike="noStrike" kern="1200" cap="none" spc="0" normalizeH="0" baseline="0" noProof="0" dirty="0">
              <a:ln>
                <a:noFill/>
              </a:ln>
              <a:solidFill>
                <a:schemeClr val="tx1"/>
              </a:solidFill>
              <a:effectLst/>
              <a:uLnTx/>
              <a:uFillTx/>
              <a:latin typeface="+mn-ea"/>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10242" name="Rectangle 2"/>
          <p:cNvSpPr>
            <a:spLocks noGrp="1"/>
          </p:cNvSpPr>
          <p:nvPr>
            <p:ph type="title"/>
          </p:nvPr>
        </p:nvSpPr>
        <p:spPr>
          <a:ln/>
        </p:spPr>
        <p:txBody>
          <a:bodyPr vert="horz" wrap="square" lIns="91440" tIns="45720" rIns="91440" bIns="45720" anchor="ctr" anchorCtr="0"/>
          <a:p>
            <a:pPr eaLnBrk="1" hangingPunct="1"/>
            <a:r>
              <a:rPr lang="zh-CN" altLang="en-US" dirty="0"/>
              <a:t>什么是</a:t>
            </a:r>
            <a:r>
              <a:rPr lang="en-US" altLang="zh-CN" dirty="0"/>
              <a:t>CPU</a:t>
            </a:r>
            <a:endParaRPr lang="en-US" altLang="zh-CN" dirty="0"/>
          </a:p>
        </p:txBody>
      </p:sp>
      <p:sp>
        <p:nvSpPr>
          <p:cNvPr id="10243" name="Rectangle 3"/>
          <p:cNvSpPr>
            <a:spLocks noGrp="1"/>
          </p:cNvSpPr>
          <p:nvPr>
            <p:ph idx="1"/>
          </p:nvPr>
        </p:nvSpPr>
        <p:spPr>
          <a:ln/>
        </p:spPr>
        <p:txBody>
          <a:bodyPr vert="horz" wrap="square" lIns="91440" tIns="45720" rIns="91440" bIns="45720" anchor="t" anchorCtr="0"/>
          <a:p>
            <a:pPr eaLnBrk="1" hangingPunct="1"/>
            <a:r>
              <a:rPr lang="zh-CN" altLang="en-US" dirty="0"/>
              <a:t>一个</a:t>
            </a:r>
            <a:r>
              <a:rPr lang="en-US" altLang="zh-CN" dirty="0"/>
              <a:t>6</a:t>
            </a:r>
            <a:r>
              <a:rPr lang="zh-CN" altLang="en-US" dirty="0"/>
              <a:t>岁小孩的答案</a:t>
            </a:r>
            <a:endParaRPr lang="zh-CN" altLang="en-US" dirty="0"/>
          </a:p>
          <a:p>
            <a:pPr lvl="1" eaLnBrk="1" hangingPunct="1"/>
            <a:r>
              <a:rPr lang="en-US" altLang="zh-CN" dirty="0"/>
              <a:t>CPU</a:t>
            </a:r>
            <a:r>
              <a:rPr lang="zh-CN" altLang="en-US" dirty="0"/>
              <a:t>就是在一张纸上画一些方块，</a:t>
            </a:r>
            <a:endParaRPr lang="zh-CN" altLang="en-US" dirty="0"/>
          </a:p>
          <a:p>
            <a:pPr lvl="1" eaLnBrk="1" hangingPunct="1"/>
            <a:r>
              <a:rPr lang="zh-CN" altLang="en-US" dirty="0"/>
              <a:t>然后用线和箭头把这些方块连起来，</a:t>
            </a:r>
            <a:endParaRPr lang="zh-CN" altLang="en-US" dirty="0"/>
          </a:p>
          <a:p>
            <a:pPr lvl="1" eaLnBrk="1" hangingPunct="1"/>
            <a:r>
              <a:rPr lang="zh-CN" altLang="en-US" dirty="0"/>
              <a:t>再写上几个字，涂上点颜色，</a:t>
            </a:r>
            <a:endParaRPr lang="zh-CN" altLang="en-US" dirty="0"/>
          </a:p>
          <a:p>
            <a:pPr lvl="1" eaLnBrk="1" hangingPunct="1"/>
            <a:r>
              <a:rPr lang="zh-CN" altLang="en-US" dirty="0"/>
              <a:t>最后一烧，烧出一个亮晶晶的小方块</a:t>
            </a:r>
            <a:endParaRPr lang="zh-CN" altLang="en-US" dirty="0"/>
          </a:p>
          <a:p>
            <a:pPr eaLnBrk="1" hangingPunct="1"/>
            <a:r>
              <a:rPr lang="zh-CN" altLang="en-US" dirty="0"/>
              <a:t>我们比她多知道些什么？</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11266" name="Rectangle 2"/>
          <p:cNvSpPr>
            <a:spLocks noGrp="1"/>
          </p:cNvSpPr>
          <p:nvPr>
            <p:ph type="title"/>
          </p:nvPr>
        </p:nvSpPr>
        <p:spPr>
          <a:ln/>
        </p:spPr>
        <p:txBody>
          <a:bodyPr vert="horz" wrap="square" lIns="91440" tIns="45720" rIns="91440" bIns="45720" anchor="ctr" anchorCtr="0"/>
          <a:p>
            <a:pPr eaLnBrk="1" hangingPunct="1"/>
            <a:r>
              <a:rPr lang="zh-CN" altLang="en-US" dirty="0"/>
              <a:t>会用计算机不稀奇</a:t>
            </a:r>
            <a:endParaRPr lang="zh-CN" altLang="en-US" dirty="0"/>
          </a:p>
        </p:txBody>
      </p:sp>
      <p:pic>
        <p:nvPicPr>
          <p:cNvPr id="11267" name="Picture 4" descr="jingjing"/>
          <p:cNvPicPr>
            <a:picLocks noChangeAspect="1"/>
          </p:cNvPicPr>
          <p:nvPr/>
        </p:nvPicPr>
        <p:blipFill>
          <a:blip r:embed="rId1"/>
          <a:stretch>
            <a:fillRect/>
          </a:stretch>
        </p:blipFill>
        <p:spPr>
          <a:xfrm>
            <a:off x="1846263" y="2011363"/>
            <a:ext cx="8534400" cy="4189412"/>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graphicFrame>
        <p:nvGraphicFramePr>
          <p:cNvPr id="12290" name="Object 1026"/>
          <p:cNvGraphicFramePr/>
          <p:nvPr/>
        </p:nvGraphicFramePr>
        <p:xfrm>
          <a:off x="1287463" y="1695450"/>
          <a:ext cx="9431337" cy="4530725"/>
        </p:xfrm>
        <a:graphic>
          <a:graphicData uri="http://schemas.openxmlformats.org/presentationml/2006/ole">
            <mc:AlternateContent xmlns:mc="http://schemas.openxmlformats.org/markup-compatibility/2006">
              <mc:Choice xmlns:v="urn:schemas-microsoft-com:vml" Requires="v">
                <p:oleObj spid="_x0000_s3078" name="" r:id="rId1" imgW="6838950" imgH="4381500" progId="Paint.Picture">
                  <p:embed/>
                </p:oleObj>
              </mc:Choice>
              <mc:Fallback>
                <p:oleObj name="" r:id="rId1" imgW="6838950" imgH="4381500" progId="Paint.Picture">
                  <p:embed/>
                  <p:pic>
                    <p:nvPicPr>
                      <p:cNvPr id="0" name="图片 3077"/>
                      <p:cNvPicPr/>
                      <p:nvPr/>
                    </p:nvPicPr>
                    <p:blipFill>
                      <a:blip r:embed="rId2"/>
                      <a:stretch>
                        <a:fillRect/>
                      </a:stretch>
                    </p:blipFill>
                    <p:spPr>
                      <a:xfrm>
                        <a:off x="1287463" y="1695450"/>
                        <a:ext cx="9431337" cy="4530725"/>
                      </a:xfrm>
                      <a:prstGeom prst="rect">
                        <a:avLst/>
                      </a:prstGeom>
                      <a:noFill/>
                      <a:ln w="38100">
                        <a:noFill/>
                        <a:miter/>
                      </a:ln>
                    </p:spPr>
                  </p:pic>
                </p:oleObj>
              </mc:Fallback>
            </mc:AlternateContent>
          </a:graphicData>
        </a:graphic>
      </p:graphicFrame>
      <p:sp>
        <p:nvSpPr>
          <p:cNvPr id="12291" name="Rectangle 1027"/>
          <p:cNvSpPr/>
          <p:nvPr/>
        </p:nvSpPr>
        <p:spPr>
          <a:xfrm>
            <a:off x="881063" y="287338"/>
            <a:ext cx="10361612" cy="1143000"/>
          </a:xfrm>
          <a:prstGeom prst="rect">
            <a:avLst/>
          </a:prstGeom>
          <a:noFill/>
          <a:ln w="9525">
            <a:noFill/>
          </a:ln>
        </p:spPr>
        <p:txBody>
          <a:bodyPr anchor="ctr" anchorCtr="0"/>
          <a:p>
            <a:pPr algn="ctr"/>
            <a:r>
              <a:rPr lang="en-US" altLang="zh-CN" sz="3600" dirty="0">
                <a:solidFill>
                  <a:srgbClr val="FF3300"/>
                </a:solidFill>
                <a:latin typeface="Arial" panose="02080604020202020204" pitchFamily="34" charset="0"/>
                <a:ea typeface="黑体" panose="02000500000000000000" pitchFamily="49" charset="-122"/>
              </a:rPr>
              <a:t>5</a:t>
            </a:r>
            <a:r>
              <a:rPr lang="zh-CN" altLang="en-US" sz="3600" dirty="0">
                <a:solidFill>
                  <a:srgbClr val="FF3300"/>
                </a:solidFill>
                <a:latin typeface="Arial" panose="02080604020202020204" pitchFamily="34" charset="0"/>
                <a:ea typeface="黑体" panose="02000500000000000000" pitchFamily="49" charset="-122"/>
              </a:rPr>
              <a:t>岁小孩的画</a:t>
            </a:r>
            <a:endParaRPr lang="zh-CN" altLang="en-US" sz="3600" dirty="0">
              <a:solidFill>
                <a:srgbClr val="FF3300"/>
              </a:solidFill>
              <a:latin typeface="Arial" panose="02080604020202020204" pitchFamily="34" charset="0"/>
              <a:ea typeface="黑体" panose="02000500000000000000" pitchFamily="49"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graphicFrame>
        <p:nvGraphicFramePr>
          <p:cNvPr id="13314" name="Object 2"/>
          <p:cNvGraphicFramePr/>
          <p:nvPr/>
        </p:nvGraphicFramePr>
        <p:xfrm>
          <a:off x="1439863" y="1414463"/>
          <a:ext cx="9444037" cy="4546600"/>
        </p:xfrm>
        <a:graphic>
          <a:graphicData uri="http://schemas.openxmlformats.org/presentationml/2006/ole">
            <mc:AlternateContent xmlns:mc="http://schemas.openxmlformats.org/markup-compatibility/2006">
              <mc:Choice xmlns:v="urn:schemas-microsoft-com:vml" Requires="v">
                <p:oleObj spid="_x0000_s3076" name="" r:id="rId1" imgW="6810375" imgH="4371975" progId="Paint.Picture">
                  <p:embed/>
                </p:oleObj>
              </mc:Choice>
              <mc:Fallback>
                <p:oleObj name="" r:id="rId1" imgW="6810375" imgH="4371975" progId="Paint.Picture">
                  <p:embed/>
                  <p:pic>
                    <p:nvPicPr>
                      <p:cNvPr id="0" name="图片 3075"/>
                      <p:cNvPicPr/>
                      <p:nvPr/>
                    </p:nvPicPr>
                    <p:blipFill>
                      <a:blip r:embed="rId2"/>
                      <a:stretch>
                        <a:fillRect/>
                      </a:stretch>
                    </p:blipFill>
                    <p:spPr>
                      <a:xfrm>
                        <a:off x="1439863" y="1414463"/>
                        <a:ext cx="9444037" cy="4546600"/>
                      </a:xfrm>
                      <a:prstGeom prst="rect">
                        <a:avLst/>
                      </a:prstGeom>
                      <a:noFill/>
                      <a:ln w="38100">
                        <a:noFill/>
                        <a:miter/>
                      </a:ln>
                    </p:spPr>
                  </p:pic>
                </p:oleObj>
              </mc:Fallback>
            </mc:AlternateContent>
          </a:graphicData>
        </a:graphic>
      </p:graphicFrame>
      <p:sp>
        <p:nvSpPr>
          <p:cNvPr id="13315" name="Rectangle 3"/>
          <p:cNvSpPr/>
          <p:nvPr/>
        </p:nvSpPr>
        <p:spPr>
          <a:xfrm>
            <a:off x="881063" y="287338"/>
            <a:ext cx="10361612" cy="1143000"/>
          </a:xfrm>
          <a:prstGeom prst="rect">
            <a:avLst/>
          </a:prstGeom>
          <a:noFill/>
          <a:ln w="9525">
            <a:noFill/>
          </a:ln>
        </p:spPr>
        <p:txBody>
          <a:bodyPr anchor="ctr" anchorCtr="0"/>
          <a:p>
            <a:pPr algn="ctr"/>
            <a:r>
              <a:rPr lang="en-US" altLang="zh-CN" sz="3600" dirty="0">
                <a:solidFill>
                  <a:srgbClr val="FF3300"/>
                </a:solidFill>
                <a:latin typeface="Arial" panose="02080604020202020204" pitchFamily="34" charset="0"/>
                <a:ea typeface="黑体" panose="02000500000000000000" pitchFamily="49" charset="-122"/>
              </a:rPr>
              <a:t>5</a:t>
            </a:r>
            <a:r>
              <a:rPr lang="zh-CN" altLang="en-US" sz="3600" dirty="0">
                <a:solidFill>
                  <a:srgbClr val="FF3300"/>
                </a:solidFill>
                <a:latin typeface="Arial" panose="02080604020202020204" pitchFamily="34" charset="0"/>
                <a:ea typeface="黑体" panose="02000500000000000000" pitchFamily="49" charset="-122"/>
              </a:rPr>
              <a:t>岁小孩的画</a:t>
            </a:r>
            <a:endParaRPr lang="zh-CN" altLang="en-US" sz="3600" dirty="0">
              <a:solidFill>
                <a:srgbClr val="FF3300"/>
              </a:solidFill>
              <a:latin typeface="Arial" panose="02080604020202020204" pitchFamily="34" charset="0"/>
              <a:ea typeface="黑体" panose="02000500000000000000"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graphicFrame>
        <p:nvGraphicFramePr>
          <p:cNvPr id="14338" name="Object 2"/>
          <p:cNvGraphicFramePr/>
          <p:nvPr/>
        </p:nvGraphicFramePr>
        <p:xfrm>
          <a:off x="1589088" y="1893888"/>
          <a:ext cx="9145587" cy="4381500"/>
        </p:xfrm>
        <a:graphic>
          <a:graphicData uri="http://schemas.openxmlformats.org/presentationml/2006/ole">
            <mc:AlternateContent xmlns:mc="http://schemas.openxmlformats.org/markup-compatibility/2006">
              <mc:Choice xmlns:v="urn:schemas-microsoft-com:vml" Requires="v">
                <p:oleObj spid="_x0000_s3077" name="" r:id="rId1" imgW="6858000" imgH="4381500" progId="Paint.Picture">
                  <p:embed/>
                </p:oleObj>
              </mc:Choice>
              <mc:Fallback>
                <p:oleObj name="" r:id="rId1" imgW="6858000" imgH="4381500" progId="Paint.Picture">
                  <p:embed/>
                  <p:pic>
                    <p:nvPicPr>
                      <p:cNvPr id="0" name="图片 3076"/>
                      <p:cNvPicPr/>
                      <p:nvPr/>
                    </p:nvPicPr>
                    <p:blipFill>
                      <a:blip r:embed="rId2"/>
                      <a:stretch>
                        <a:fillRect/>
                      </a:stretch>
                    </p:blipFill>
                    <p:spPr>
                      <a:xfrm>
                        <a:off x="1589088" y="1893888"/>
                        <a:ext cx="9145587" cy="4381500"/>
                      </a:xfrm>
                      <a:prstGeom prst="rect">
                        <a:avLst/>
                      </a:prstGeom>
                      <a:noFill/>
                      <a:ln w="38100">
                        <a:noFill/>
                        <a:miter/>
                      </a:ln>
                    </p:spPr>
                  </p:pic>
                </p:oleObj>
              </mc:Fallback>
            </mc:AlternateContent>
          </a:graphicData>
        </a:graphic>
      </p:graphicFrame>
      <p:sp>
        <p:nvSpPr>
          <p:cNvPr id="14339" name="Rectangle 3"/>
          <p:cNvSpPr/>
          <p:nvPr/>
        </p:nvSpPr>
        <p:spPr>
          <a:xfrm>
            <a:off x="881063" y="287338"/>
            <a:ext cx="10361612" cy="1143000"/>
          </a:xfrm>
          <a:prstGeom prst="rect">
            <a:avLst/>
          </a:prstGeom>
          <a:noFill/>
          <a:ln w="9525">
            <a:noFill/>
          </a:ln>
        </p:spPr>
        <p:txBody>
          <a:bodyPr anchor="ctr" anchorCtr="0"/>
          <a:p>
            <a:pPr algn="ctr"/>
            <a:r>
              <a:rPr lang="en-US" altLang="zh-CN" sz="3600" dirty="0">
                <a:solidFill>
                  <a:srgbClr val="FF3300"/>
                </a:solidFill>
                <a:latin typeface="Arial" panose="02080604020202020204" pitchFamily="34" charset="0"/>
                <a:ea typeface="黑体" panose="02000500000000000000" pitchFamily="49" charset="-122"/>
              </a:rPr>
              <a:t>5</a:t>
            </a:r>
            <a:r>
              <a:rPr lang="zh-CN" altLang="en-US" sz="3600" dirty="0">
                <a:solidFill>
                  <a:srgbClr val="FF3300"/>
                </a:solidFill>
                <a:latin typeface="Arial" panose="02080604020202020204" pitchFamily="34" charset="0"/>
                <a:ea typeface="黑体" panose="02000500000000000000" pitchFamily="49" charset="-122"/>
              </a:rPr>
              <a:t>岁小孩的画</a:t>
            </a:r>
            <a:endParaRPr lang="zh-CN" altLang="en-US" sz="3600" dirty="0">
              <a:solidFill>
                <a:srgbClr val="FF3300"/>
              </a:solidFill>
              <a:latin typeface="Arial" panose="02080604020202020204" pitchFamily="34" charset="0"/>
              <a:ea typeface="黑体" panose="02000500000000000000"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graphicFrame>
        <p:nvGraphicFramePr>
          <p:cNvPr id="15362" name="Object 1026"/>
          <p:cNvGraphicFramePr/>
          <p:nvPr/>
        </p:nvGraphicFramePr>
        <p:xfrm>
          <a:off x="1536700" y="1243013"/>
          <a:ext cx="9118600" cy="4371975"/>
        </p:xfrm>
        <a:graphic>
          <a:graphicData uri="http://schemas.openxmlformats.org/presentationml/2006/ole">
            <mc:AlternateContent xmlns:mc="http://schemas.openxmlformats.org/markup-compatibility/2006">
              <mc:Choice xmlns:v="urn:schemas-microsoft-com:vml" Requires="v">
                <p:oleObj spid="_x0000_s3079" name="" r:id="rId1" imgW="6838950" imgH="4371975" progId="Paint.Picture">
                  <p:embed/>
                </p:oleObj>
              </mc:Choice>
              <mc:Fallback>
                <p:oleObj name="" r:id="rId1" imgW="6838950" imgH="4371975" progId="Paint.Picture">
                  <p:embed/>
                  <p:pic>
                    <p:nvPicPr>
                      <p:cNvPr id="0" name="图片 3078"/>
                      <p:cNvPicPr/>
                      <p:nvPr/>
                    </p:nvPicPr>
                    <p:blipFill>
                      <a:blip r:embed="rId2"/>
                      <a:stretch>
                        <a:fillRect/>
                      </a:stretch>
                    </p:blipFill>
                    <p:spPr>
                      <a:xfrm>
                        <a:off x="1536700" y="1243013"/>
                        <a:ext cx="9118600" cy="4371975"/>
                      </a:xfrm>
                      <a:prstGeom prst="rect">
                        <a:avLst/>
                      </a:prstGeom>
                      <a:noFill/>
                      <a:ln w="38100">
                        <a:noFill/>
                        <a:miter/>
                      </a:ln>
                    </p:spPr>
                  </p:pic>
                </p:oleObj>
              </mc:Fallback>
            </mc:AlternateContent>
          </a:graphicData>
        </a:graphic>
      </p:graphicFrame>
      <p:sp>
        <p:nvSpPr>
          <p:cNvPr id="15363" name="Rectangle 1027"/>
          <p:cNvSpPr/>
          <p:nvPr/>
        </p:nvSpPr>
        <p:spPr>
          <a:xfrm>
            <a:off x="881063" y="287338"/>
            <a:ext cx="10361612" cy="1143000"/>
          </a:xfrm>
          <a:prstGeom prst="rect">
            <a:avLst/>
          </a:prstGeom>
          <a:noFill/>
          <a:ln w="9525">
            <a:noFill/>
          </a:ln>
        </p:spPr>
        <p:txBody>
          <a:bodyPr anchor="ctr" anchorCtr="0"/>
          <a:p>
            <a:pPr algn="ctr"/>
            <a:r>
              <a:rPr lang="en-US" altLang="zh-CN" sz="3600" dirty="0">
                <a:solidFill>
                  <a:srgbClr val="FF3300"/>
                </a:solidFill>
                <a:latin typeface="Arial" panose="02080604020202020204" pitchFamily="34" charset="0"/>
                <a:ea typeface="黑体" panose="02000500000000000000" pitchFamily="49" charset="-122"/>
              </a:rPr>
              <a:t>5</a:t>
            </a:r>
            <a:r>
              <a:rPr lang="zh-CN" altLang="en-US" sz="3600" dirty="0">
                <a:solidFill>
                  <a:srgbClr val="FF3300"/>
                </a:solidFill>
                <a:latin typeface="Arial" panose="02080604020202020204" pitchFamily="34" charset="0"/>
                <a:ea typeface="黑体" panose="02000500000000000000" pitchFamily="49" charset="-122"/>
              </a:rPr>
              <a:t>岁小孩的画</a:t>
            </a:r>
            <a:endParaRPr lang="zh-CN" altLang="en-US" sz="3600" dirty="0">
              <a:solidFill>
                <a:srgbClr val="FF3300"/>
              </a:solidFill>
              <a:latin typeface="Arial" panose="02080604020202020204" pitchFamily="34" charset="0"/>
              <a:ea typeface="黑体" panose="02000500000000000000"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graphicFrame>
        <p:nvGraphicFramePr>
          <p:cNvPr id="16386" name="Object 1024"/>
          <p:cNvGraphicFramePr/>
          <p:nvPr/>
        </p:nvGraphicFramePr>
        <p:xfrm>
          <a:off x="1389063" y="1563688"/>
          <a:ext cx="9118600" cy="4572000"/>
        </p:xfrm>
        <a:graphic>
          <a:graphicData uri="http://schemas.openxmlformats.org/presentationml/2006/ole">
            <mc:AlternateContent xmlns:mc="http://schemas.openxmlformats.org/markup-compatibility/2006">
              <mc:Choice xmlns:v="urn:schemas-microsoft-com:vml" Requires="v">
                <p:oleObj spid="_x0000_s3080" name="" r:id="rId1" imgW="6838950" imgH="4572000" progId="Paint.Picture">
                  <p:embed/>
                </p:oleObj>
              </mc:Choice>
              <mc:Fallback>
                <p:oleObj name="" r:id="rId1" imgW="6838950" imgH="4572000" progId="Paint.Picture">
                  <p:embed/>
                  <p:pic>
                    <p:nvPicPr>
                      <p:cNvPr id="0" name="图片 3079"/>
                      <p:cNvPicPr/>
                      <p:nvPr/>
                    </p:nvPicPr>
                    <p:blipFill>
                      <a:blip r:embed="rId2"/>
                      <a:stretch>
                        <a:fillRect/>
                      </a:stretch>
                    </p:blipFill>
                    <p:spPr>
                      <a:xfrm>
                        <a:off x="1389063" y="1563688"/>
                        <a:ext cx="9118600" cy="4572000"/>
                      </a:xfrm>
                      <a:prstGeom prst="rect">
                        <a:avLst/>
                      </a:prstGeom>
                      <a:noFill/>
                      <a:ln w="38100">
                        <a:noFill/>
                        <a:miter/>
                      </a:ln>
                    </p:spPr>
                  </p:pic>
                </p:oleObj>
              </mc:Fallback>
            </mc:AlternateContent>
          </a:graphicData>
        </a:graphic>
      </p:graphicFrame>
      <p:sp>
        <p:nvSpPr>
          <p:cNvPr id="16387" name="Rectangle 1027"/>
          <p:cNvSpPr/>
          <p:nvPr/>
        </p:nvSpPr>
        <p:spPr>
          <a:xfrm>
            <a:off x="881063" y="287338"/>
            <a:ext cx="10361612" cy="1143000"/>
          </a:xfrm>
          <a:prstGeom prst="rect">
            <a:avLst/>
          </a:prstGeom>
          <a:noFill/>
          <a:ln w="9525">
            <a:noFill/>
          </a:ln>
        </p:spPr>
        <p:txBody>
          <a:bodyPr anchor="ctr" anchorCtr="0"/>
          <a:p>
            <a:pPr algn="ctr"/>
            <a:r>
              <a:rPr lang="en-US" altLang="zh-CN" sz="3600" dirty="0">
                <a:solidFill>
                  <a:srgbClr val="FF3300"/>
                </a:solidFill>
                <a:latin typeface="Arial" panose="02080604020202020204" pitchFamily="34" charset="0"/>
                <a:ea typeface="黑体" panose="02000500000000000000" pitchFamily="49" charset="-122"/>
              </a:rPr>
              <a:t>5</a:t>
            </a:r>
            <a:r>
              <a:rPr lang="zh-CN" altLang="en-US" sz="3600" dirty="0">
                <a:solidFill>
                  <a:srgbClr val="FF3300"/>
                </a:solidFill>
                <a:latin typeface="Arial" panose="02080604020202020204" pitchFamily="34" charset="0"/>
                <a:ea typeface="黑体" panose="02000500000000000000" pitchFamily="49" charset="-122"/>
              </a:rPr>
              <a:t>岁小孩的画</a:t>
            </a:r>
            <a:endParaRPr lang="zh-CN" altLang="en-US" sz="3600" dirty="0">
              <a:solidFill>
                <a:srgbClr val="FF3300"/>
              </a:solidFill>
              <a:latin typeface="Arial" panose="02080604020202020204" pitchFamily="34" charset="0"/>
              <a:ea typeface="黑体" panose="02000500000000000000"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17410" name="Rectangle 2"/>
          <p:cNvSpPr>
            <a:spLocks noGrp="1"/>
          </p:cNvSpPr>
          <p:nvPr>
            <p:ph type="title"/>
          </p:nvPr>
        </p:nvSpPr>
        <p:spPr>
          <a:xfrm>
            <a:off x="0" y="225425"/>
            <a:ext cx="6256338" cy="763588"/>
          </a:xfrm>
          <a:ln/>
        </p:spPr>
        <p:txBody>
          <a:bodyPr vert="horz" wrap="square" lIns="91440" tIns="45720" rIns="91440" bIns="45720" anchor="ctr" anchorCtr="0"/>
          <a:p>
            <a:pPr eaLnBrk="1" hangingPunct="1"/>
            <a:r>
              <a:rPr lang="en-US" altLang="zh-CN" dirty="0"/>
              <a:t>8</a:t>
            </a:r>
            <a:r>
              <a:rPr lang="zh-CN" altLang="en-US" dirty="0"/>
              <a:t>岁小孩用计算机编的报纸</a:t>
            </a:r>
            <a:endParaRPr lang="zh-CN" altLang="en-US" dirty="0"/>
          </a:p>
        </p:txBody>
      </p:sp>
      <p:pic>
        <p:nvPicPr>
          <p:cNvPr id="17411" name="Picture 3"/>
          <p:cNvPicPr>
            <a:picLocks noChangeAspect="1"/>
          </p:cNvPicPr>
          <p:nvPr/>
        </p:nvPicPr>
        <p:blipFill>
          <a:blip r:embed="rId1"/>
          <a:stretch>
            <a:fillRect/>
          </a:stretch>
        </p:blipFill>
        <p:spPr>
          <a:xfrm>
            <a:off x="6256338" y="-14287"/>
            <a:ext cx="5453062" cy="687387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18434" name="Rectangle 2"/>
          <p:cNvSpPr>
            <a:spLocks noGrp="1"/>
          </p:cNvSpPr>
          <p:nvPr>
            <p:ph type="title"/>
          </p:nvPr>
        </p:nvSpPr>
        <p:spPr>
          <a:ln/>
        </p:spPr>
        <p:txBody>
          <a:bodyPr vert="horz" wrap="square" lIns="91440" tIns="45720" rIns="91440" bIns="45720" anchor="ctr" anchorCtr="0"/>
          <a:p>
            <a:pPr eaLnBrk="1" hangingPunct="1"/>
            <a:r>
              <a:rPr lang="zh-CN" altLang="en-US" dirty="0"/>
              <a:t>一个</a:t>
            </a:r>
            <a:r>
              <a:rPr lang="en-US" altLang="zh-CN" dirty="0"/>
              <a:t>5</a:t>
            </a:r>
            <a:r>
              <a:rPr lang="zh-CN" altLang="en-US" dirty="0"/>
              <a:t>岁小孩设计的</a:t>
            </a:r>
            <a:r>
              <a:rPr lang="en-US" altLang="zh-CN" dirty="0"/>
              <a:t>CPU</a:t>
            </a:r>
            <a:endParaRPr lang="en-US" altLang="zh-CN" dirty="0"/>
          </a:p>
        </p:txBody>
      </p:sp>
      <p:pic>
        <p:nvPicPr>
          <p:cNvPr id="18435" name="Picture 4" descr="draft1"/>
          <p:cNvPicPr>
            <a:picLocks noChangeAspect="1"/>
          </p:cNvPicPr>
          <p:nvPr/>
        </p:nvPicPr>
        <p:blipFill>
          <a:blip r:embed="rId1"/>
          <a:stretch>
            <a:fillRect/>
          </a:stretch>
        </p:blipFill>
        <p:spPr>
          <a:xfrm>
            <a:off x="2479675" y="1928813"/>
            <a:ext cx="7334250" cy="4281487"/>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4"/>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19458" name="Rectangle 4"/>
          <p:cNvSpPr>
            <a:spLocks noGrp="1"/>
          </p:cNvSpPr>
          <p:nvPr>
            <p:ph type="title"/>
          </p:nvPr>
        </p:nvSpPr>
        <p:spPr>
          <a:xfrm>
            <a:off x="947738" y="188913"/>
            <a:ext cx="10361612" cy="796925"/>
          </a:xfrm>
          <a:ln/>
        </p:spPr>
        <p:txBody>
          <a:bodyPr vert="horz" wrap="square" lIns="91440" tIns="45720" rIns="91440" bIns="45720" anchor="ctr" anchorCtr="0"/>
          <a:p>
            <a:pPr eaLnBrk="1" hangingPunct="1"/>
            <a:r>
              <a:rPr lang="en-US" altLang="zh-CN" dirty="0"/>
              <a:t>8</a:t>
            </a:r>
            <a:r>
              <a:rPr lang="zh-CN" altLang="en-US" dirty="0"/>
              <a:t>岁孩子的设计</a:t>
            </a:r>
            <a:endParaRPr lang="zh-CN" altLang="en-US" dirty="0"/>
          </a:p>
        </p:txBody>
      </p:sp>
      <p:pic>
        <p:nvPicPr>
          <p:cNvPr id="19459" name="Picture 5" descr="cpu   9岁"/>
          <p:cNvPicPr>
            <a:picLocks noChangeAspect="1"/>
          </p:cNvPicPr>
          <p:nvPr/>
        </p:nvPicPr>
        <p:blipFill>
          <a:blip r:embed="rId1"/>
          <a:stretch>
            <a:fillRect/>
          </a:stretch>
        </p:blipFill>
        <p:spPr>
          <a:xfrm>
            <a:off x="1204913" y="1063625"/>
            <a:ext cx="9929812" cy="561022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20482" name="Rectangle 2"/>
          <p:cNvSpPr>
            <a:spLocks noGrp="1"/>
          </p:cNvSpPr>
          <p:nvPr>
            <p:ph type="title"/>
          </p:nvPr>
        </p:nvSpPr>
        <p:spPr>
          <a:xfrm>
            <a:off x="831850" y="185738"/>
            <a:ext cx="10361613" cy="523875"/>
          </a:xfrm>
          <a:ln/>
        </p:spPr>
        <p:txBody>
          <a:bodyPr vert="horz" wrap="square" lIns="91440" tIns="45720" rIns="91440" bIns="45720" anchor="ctr" anchorCtr="0"/>
          <a:p>
            <a:pPr eaLnBrk="1" hangingPunct="1"/>
            <a:r>
              <a:rPr lang="zh-CN" altLang="en-US" dirty="0"/>
              <a:t>我的设计</a:t>
            </a:r>
            <a:endParaRPr lang="zh-CN" altLang="en-US" dirty="0"/>
          </a:p>
        </p:txBody>
      </p:sp>
      <p:pic>
        <p:nvPicPr>
          <p:cNvPr id="20483" name="Picture 2" descr="841286100824181"/>
          <p:cNvPicPr>
            <a:picLocks noChangeAspect="1"/>
          </p:cNvPicPr>
          <p:nvPr/>
        </p:nvPicPr>
        <p:blipFill>
          <a:blip r:embed="rId1"/>
          <a:stretch>
            <a:fillRect/>
          </a:stretch>
        </p:blipFill>
        <p:spPr>
          <a:xfrm>
            <a:off x="487363" y="1350963"/>
            <a:ext cx="11123612" cy="5173662"/>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21506" name="Rectangle 2"/>
          <p:cNvSpPr>
            <a:spLocks noGrp="1"/>
          </p:cNvSpPr>
          <p:nvPr>
            <p:ph type="title"/>
          </p:nvPr>
        </p:nvSpPr>
        <p:spPr>
          <a:ln/>
        </p:spPr>
        <p:txBody>
          <a:bodyPr vert="horz" wrap="square" lIns="91440" tIns="45720" rIns="91440" bIns="45720" anchor="ctr" anchorCtr="0"/>
          <a:p>
            <a:pPr eaLnBrk="1" hangingPunct="1"/>
            <a:r>
              <a:rPr lang="zh-CN" altLang="en-US" dirty="0"/>
              <a:t>这几个设计有什么不同？</a:t>
            </a:r>
            <a:endParaRPr lang="zh-CN" altLang="en-US" dirty="0"/>
          </a:p>
        </p:txBody>
      </p:sp>
      <p:sp>
        <p:nvSpPr>
          <p:cNvPr id="21507" name="Rectangle 3"/>
          <p:cNvSpPr>
            <a:spLocks noGrp="1"/>
          </p:cNvSpPr>
          <p:nvPr>
            <p:ph idx="1"/>
          </p:nvPr>
        </p:nvSpPr>
        <p:spPr>
          <a:ln/>
        </p:spPr>
        <p:txBody>
          <a:bodyPr vert="horz" wrap="square" lIns="91440" tIns="45720" rIns="91440" bIns="45720" anchor="t" anchorCtr="0"/>
          <a:p>
            <a:pPr eaLnBrk="1" hangingPunct="1"/>
            <a:endParaRPr lang="zh-CN"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22530" name="Rectangle 2"/>
          <p:cNvSpPr>
            <a:spLocks noGrp="1"/>
          </p:cNvSpPr>
          <p:nvPr>
            <p:ph type="title"/>
          </p:nvPr>
        </p:nvSpPr>
        <p:spPr>
          <a:xfrm>
            <a:off x="895350" y="325438"/>
            <a:ext cx="10361613" cy="1143000"/>
          </a:xfrm>
          <a:ln/>
        </p:spPr>
        <p:txBody>
          <a:bodyPr vert="horz" wrap="square" lIns="91440" tIns="45720" rIns="91440" bIns="45720" anchor="ctr" anchorCtr="0"/>
          <a:p>
            <a:pPr eaLnBrk="1" hangingPunct="1"/>
            <a:r>
              <a:rPr lang="zh-CN" altLang="en-US" dirty="0"/>
              <a:t>本课程内容和要求</a:t>
            </a:r>
            <a:endParaRPr lang="zh-CN" altLang="en-US" dirty="0"/>
          </a:p>
        </p:txBody>
      </p:sp>
      <p:sp>
        <p:nvSpPr>
          <p:cNvPr id="22531" name="Rectangle 3"/>
          <p:cNvSpPr>
            <a:spLocks noGrp="1"/>
          </p:cNvSpPr>
          <p:nvPr>
            <p:ph idx="1"/>
          </p:nvPr>
        </p:nvSpPr>
        <p:spPr>
          <a:xfrm>
            <a:off x="914400" y="1727200"/>
            <a:ext cx="10691813" cy="4773613"/>
          </a:xfrm>
          <a:ln/>
        </p:spPr>
        <p:txBody>
          <a:bodyPr vert="horz" wrap="square" lIns="91440" tIns="45720" rIns="91440" bIns="45720" anchor="t" anchorCtr="0"/>
          <a:p>
            <a:pPr eaLnBrk="1" hangingPunct="1"/>
            <a:r>
              <a:rPr lang="zh-CN" altLang="en-US" dirty="0"/>
              <a:t>就从我按下键盘翻一页幻灯片讲起</a:t>
            </a:r>
            <a:endParaRPr lang="zh-CN" altLang="en-US" dirty="0"/>
          </a:p>
          <a:p>
            <a:pPr lvl="1" eaLnBrk="1" hangingPunct="1"/>
            <a:r>
              <a:rPr lang="zh-CN" altLang="en-US" dirty="0"/>
              <a:t>为什么我按一下键盘能够翻一页幻灯片？</a:t>
            </a:r>
            <a:endParaRPr lang="zh-CN" altLang="en-US" dirty="0"/>
          </a:p>
          <a:p>
            <a:pPr lvl="1" eaLnBrk="1" hangingPunct="1"/>
            <a:r>
              <a:rPr lang="zh-CN" altLang="en-US" dirty="0"/>
              <a:t>从按一下键盘到翻一页幻灯片经过了什么过程？包括应用程序、操作系统、硬件系统、处理器、以及晶体管？</a:t>
            </a:r>
            <a:endParaRPr lang="zh-CN" altLang="en-US" dirty="0"/>
          </a:p>
          <a:p>
            <a:pPr lvl="1" eaLnBrk="1" hangingPunct="1"/>
            <a:r>
              <a:rPr lang="zh-CN" altLang="en-US" dirty="0"/>
              <a:t>程序的运行和晶片中的电子的流动之间的关系？</a:t>
            </a:r>
            <a:endParaRPr lang="zh-CN" altLang="en-US" dirty="0"/>
          </a:p>
          <a:p>
            <a:pPr lvl="1" eaLnBrk="1" hangingPunct="1"/>
            <a:r>
              <a:rPr lang="zh-CN" altLang="en-US" dirty="0"/>
              <a:t>在上述过程中涉及的重要量化指标（性能、功耗、成本）的关系？</a:t>
            </a:r>
            <a:endParaRPr lang="zh-CN" altLang="en-US" dirty="0"/>
          </a:p>
          <a:p>
            <a:pPr eaLnBrk="1" hangingPunct="1"/>
            <a:r>
              <a:rPr lang="zh-CN" altLang="en-US" dirty="0"/>
              <a:t>这些是本课程希望回答的问题</a:t>
            </a:r>
            <a:endParaRPr lang="zh-CN" altLang="en-US" dirty="0"/>
          </a:p>
          <a:p>
            <a:pPr lvl="1" eaLnBrk="1" hangingPunct="1"/>
            <a:r>
              <a:rPr lang="zh-CN" altLang="en-US" dirty="0"/>
              <a:t>知其然，还要知其所以然</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23554" name="Rectangle 2"/>
          <p:cNvSpPr>
            <a:spLocks noGrp="1"/>
          </p:cNvSpPr>
          <p:nvPr>
            <p:ph type="title"/>
          </p:nvPr>
        </p:nvSpPr>
        <p:spPr>
          <a:xfrm>
            <a:off x="914400" y="31750"/>
            <a:ext cx="10361613" cy="933450"/>
          </a:xfrm>
          <a:ln/>
        </p:spPr>
        <p:txBody>
          <a:bodyPr vert="horz" wrap="square" lIns="91440" tIns="45720" rIns="91440" bIns="45720" anchor="ctr" anchorCtr="0"/>
          <a:p>
            <a:pPr eaLnBrk="1" hangingPunct="1"/>
            <a:r>
              <a:rPr lang="zh-CN" altLang="en-US" dirty="0"/>
              <a:t>上知天文、下知地理</a:t>
            </a:r>
            <a:endParaRPr lang="zh-CN" altLang="en-US" dirty="0"/>
          </a:p>
        </p:txBody>
      </p:sp>
      <p:sp>
        <p:nvSpPr>
          <p:cNvPr id="23555" name="Rectangle 3"/>
          <p:cNvSpPr>
            <a:spLocks noGrp="1"/>
          </p:cNvSpPr>
          <p:nvPr>
            <p:ph idx="1"/>
          </p:nvPr>
        </p:nvSpPr>
        <p:spPr>
          <a:xfrm>
            <a:off x="495300" y="914400"/>
            <a:ext cx="11198225" cy="4605338"/>
          </a:xfrm>
          <a:ln/>
        </p:spPr>
        <p:txBody>
          <a:bodyPr vert="horz" wrap="square" lIns="91440" tIns="45720" rIns="91440" bIns="45720" anchor="t" anchorCtr="0"/>
          <a:p>
            <a:pPr eaLnBrk="1" hangingPunct="1"/>
            <a:r>
              <a:rPr lang="zh-CN" altLang="en-US" dirty="0"/>
              <a:t>计算机系统结构的位置</a:t>
            </a:r>
            <a:endParaRPr lang="zh-CN" altLang="en-US" dirty="0"/>
          </a:p>
          <a:p>
            <a:pPr lvl="1" eaLnBrk="1" hangingPunct="1"/>
            <a:r>
              <a:rPr lang="zh-CN" altLang="en-US" dirty="0"/>
              <a:t>居于系统软件和逻辑电路之间</a:t>
            </a:r>
            <a:endParaRPr lang="zh-CN" altLang="en-US" dirty="0"/>
          </a:p>
          <a:p>
            <a:pPr eaLnBrk="1" hangingPunct="1"/>
            <a:r>
              <a:rPr lang="zh-CN" altLang="en-US" dirty="0"/>
              <a:t>计算机体系结构的演变</a:t>
            </a:r>
            <a:endParaRPr lang="en-US" altLang="zh-CN" dirty="0"/>
          </a:p>
          <a:p>
            <a:pPr lvl="1" eaLnBrk="1" hangingPunct="1"/>
            <a:r>
              <a:rPr lang="en-US" altLang="zh-CN" dirty="0"/>
              <a:t>1950-60</a:t>
            </a:r>
            <a:r>
              <a:rPr lang="zh-CN" altLang="en-US" dirty="0"/>
              <a:t>年代：</a:t>
            </a:r>
            <a:r>
              <a:rPr lang="en-US" altLang="zh-CN" dirty="0"/>
              <a:t>Computer Arithmetic</a:t>
            </a:r>
            <a:endParaRPr lang="en-US" altLang="zh-CN" dirty="0"/>
          </a:p>
          <a:p>
            <a:pPr lvl="1" eaLnBrk="1" hangingPunct="1"/>
            <a:r>
              <a:rPr lang="en-US" altLang="zh-CN" dirty="0"/>
              <a:t>1970-80</a:t>
            </a:r>
            <a:r>
              <a:rPr lang="zh-CN" altLang="zh-CN" dirty="0"/>
              <a:t>年代</a:t>
            </a:r>
            <a:r>
              <a:rPr lang="zh-CN" altLang="en-US" dirty="0"/>
              <a:t>：</a:t>
            </a:r>
            <a:r>
              <a:rPr lang="en-US" altLang="zh-CN" dirty="0"/>
              <a:t>Instruction Set Architecture</a:t>
            </a:r>
            <a:endParaRPr lang="en-US" altLang="zh-CN" dirty="0"/>
          </a:p>
          <a:p>
            <a:pPr lvl="1" eaLnBrk="1" hangingPunct="1"/>
            <a:r>
              <a:rPr lang="en-US" altLang="zh-CN" dirty="0"/>
              <a:t>1990</a:t>
            </a:r>
            <a:r>
              <a:rPr lang="zh-CN" altLang="en-US" dirty="0"/>
              <a:t>年代后：</a:t>
            </a:r>
            <a:r>
              <a:rPr lang="en-US" altLang="zh-CN" dirty="0"/>
              <a:t>CPU, Memory, I/O, Multiprocessors……</a:t>
            </a:r>
            <a:endParaRPr lang="en-US" altLang="zh-CN" dirty="0"/>
          </a:p>
          <a:p>
            <a:pPr eaLnBrk="1" hangingPunct="1"/>
            <a:r>
              <a:rPr lang="zh-CN" altLang="en-US" dirty="0"/>
              <a:t>从界限清晰到界限不清晰</a:t>
            </a:r>
            <a:endParaRPr lang="zh-CN" altLang="en-US" dirty="0"/>
          </a:p>
          <a:p>
            <a:pPr lvl="1" eaLnBrk="1" hangingPunct="1"/>
            <a:r>
              <a:rPr lang="en-US" altLang="zh-CN" dirty="0"/>
              <a:t>ISA</a:t>
            </a:r>
            <a:r>
              <a:rPr lang="zh-CN" altLang="en-US" dirty="0"/>
              <a:t>：</a:t>
            </a:r>
            <a:r>
              <a:rPr lang="en-US" altLang="zh-CN" dirty="0"/>
              <a:t>RISC</a:t>
            </a:r>
            <a:r>
              <a:rPr lang="zh-CN" altLang="en-US" dirty="0"/>
              <a:t>、</a:t>
            </a:r>
            <a:r>
              <a:rPr lang="en-US" altLang="zh-CN" dirty="0"/>
              <a:t>CISC=&gt;Transmeta</a:t>
            </a:r>
            <a:r>
              <a:rPr lang="zh-CN" altLang="en-US" dirty="0"/>
              <a:t>、</a:t>
            </a:r>
            <a:r>
              <a:rPr lang="en-US" altLang="zh-CN" dirty="0"/>
              <a:t>Itanium</a:t>
            </a:r>
            <a:r>
              <a:rPr lang="zh-CN" altLang="en-US" dirty="0"/>
              <a:t>、虚拟机</a:t>
            </a:r>
            <a:endParaRPr lang="zh-CN" altLang="en-US" dirty="0"/>
          </a:p>
          <a:p>
            <a:pPr lvl="1" eaLnBrk="1" hangingPunct="1"/>
            <a:r>
              <a:rPr lang="zh-CN" altLang="en-US" dirty="0"/>
              <a:t>逻辑和电路：晶体管</a:t>
            </a:r>
            <a:r>
              <a:rPr lang="en-US" altLang="zh-CN" dirty="0"/>
              <a:t>=&gt;</a:t>
            </a:r>
            <a:r>
              <a:rPr lang="zh-CN" altLang="en-US" dirty="0"/>
              <a:t>晶体管</a:t>
            </a:r>
            <a:r>
              <a:rPr lang="en-US" altLang="zh-CN" dirty="0"/>
              <a:t>+</a:t>
            </a:r>
            <a:r>
              <a:rPr lang="zh-CN" altLang="en-US" dirty="0"/>
              <a:t>连线</a:t>
            </a:r>
            <a:endParaRPr lang="zh-CN" altLang="en-US" dirty="0"/>
          </a:p>
        </p:txBody>
      </p:sp>
      <p:grpSp>
        <p:nvGrpSpPr>
          <p:cNvPr id="23556" name="Group 4"/>
          <p:cNvGrpSpPr/>
          <p:nvPr/>
        </p:nvGrpSpPr>
        <p:grpSpPr>
          <a:xfrm>
            <a:off x="2346325" y="5486400"/>
            <a:ext cx="7466013" cy="1216025"/>
            <a:chOff x="583" y="2863"/>
            <a:chExt cx="3244" cy="857"/>
          </a:xfrm>
        </p:grpSpPr>
        <p:sp>
          <p:nvSpPr>
            <p:cNvPr id="23557" name="Text Box 5"/>
            <p:cNvSpPr txBox="1"/>
            <p:nvPr/>
          </p:nvSpPr>
          <p:spPr>
            <a:xfrm>
              <a:off x="583" y="2863"/>
              <a:ext cx="3238" cy="282"/>
            </a:xfrm>
            <a:prstGeom prst="rect">
              <a:avLst/>
            </a:prstGeom>
            <a:solidFill>
              <a:srgbClr val="CCFF99"/>
            </a:solidFill>
            <a:ln w="9525">
              <a:noFill/>
            </a:ln>
          </p:spPr>
          <p:txBody>
            <a:bodyPr anchor="t" anchorCtr="0">
              <a:spAutoFit/>
            </a:bodyPr>
            <a:p>
              <a:pPr algn="ctr">
                <a:spcBef>
                  <a:spcPct val="50000"/>
                </a:spcBef>
              </a:pPr>
              <a:r>
                <a:rPr lang="zh-CN" altLang="en-US" sz="2000" b="1" dirty="0">
                  <a:latin typeface="Times New Roman" pitchFamily="18" charset="0"/>
                  <a:ea typeface="宋体" panose="02000500000000000000" pitchFamily="2" charset="-122"/>
                </a:rPr>
                <a:t>应用、操作系统、编译系统</a:t>
              </a:r>
              <a:endParaRPr lang="zh-CN" altLang="en-US" sz="2000" b="1" dirty="0">
                <a:latin typeface="Times New Roman" pitchFamily="18" charset="0"/>
                <a:ea typeface="宋体" panose="02000500000000000000" pitchFamily="2" charset="-122"/>
              </a:endParaRPr>
            </a:p>
          </p:txBody>
        </p:sp>
        <p:sp>
          <p:nvSpPr>
            <p:cNvPr id="23558" name="Text Box 6"/>
            <p:cNvSpPr txBox="1"/>
            <p:nvPr/>
          </p:nvSpPr>
          <p:spPr>
            <a:xfrm>
              <a:off x="589" y="3152"/>
              <a:ext cx="3238" cy="282"/>
            </a:xfrm>
            <a:prstGeom prst="rect">
              <a:avLst/>
            </a:prstGeom>
            <a:solidFill>
              <a:srgbClr val="FF99FF"/>
            </a:solidFill>
            <a:ln w="9525">
              <a:noFill/>
            </a:ln>
          </p:spPr>
          <p:txBody>
            <a:bodyPr anchor="t" anchorCtr="0">
              <a:spAutoFit/>
            </a:bodyPr>
            <a:p>
              <a:pPr algn="ctr">
                <a:spcBef>
                  <a:spcPct val="50000"/>
                </a:spcBef>
              </a:pPr>
              <a:r>
                <a:rPr lang="zh-CN" altLang="en-US" sz="2000" b="1" dirty="0">
                  <a:latin typeface="Times New Roman" pitchFamily="18" charset="0"/>
                  <a:ea typeface="宋体" panose="02000500000000000000" pitchFamily="2" charset="-122"/>
                </a:rPr>
                <a:t>计算机系统结构（性能、价格、功耗）</a:t>
              </a:r>
              <a:endParaRPr lang="zh-CN" altLang="en-US" sz="2000" b="1" dirty="0">
                <a:latin typeface="Times New Roman" pitchFamily="18" charset="0"/>
                <a:ea typeface="宋体" panose="02000500000000000000" pitchFamily="2" charset="-122"/>
              </a:endParaRPr>
            </a:p>
          </p:txBody>
        </p:sp>
        <p:sp>
          <p:nvSpPr>
            <p:cNvPr id="23559" name="Text Box 7"/>
            <p:cNvSpPr txBox="1"/>
            <p:nvPr/>
          </p:nvSpPr>
          <p:spPr>
            <a:xfrm>
              <a:off x="585" y="3438"/>
              <a:ext cx="3238" cy="282"/>
            </a:xfrm>
            <a:prstGeom prst="rect">
              <a:avLst/>
            </a:prstGeom>
            <a:solidFill>
              <a:srgbClr val="0099CC"/>
            </a:solidFill>
            <a:ln w="9525">
              <a:noFill/>
            </a:ln>
          </p:spPr>
          <p:txBody>
            <a:bodyPr anchor="t" anchorCtr="0">
              <a:spAutoFit/>
            </a:bodyPr>
            <a:p>
              <a:pPr algn="ctr">
                <a:spcBef>
                  <a:spcPct val="50000"/>
                </a:spcBef>
              </a:pPr>
              <a:r>
                <a:rPr lang="zh-CN" altLang="en-US" sz="2000" b="1" dirty="0">
                  <a:latin typeface="Times New Roman" pitchFamily="18" charset="0"/>
                  <a:ea typeface="宋体" panose="02000500000000000000" pitchFamily="2" charset="-122"/>
                </a:rPr>
                <a:t>逻辑设计、电路设计、工艺制造</a:t>
              </a:r>
              <a:endParaRPr lang="zh-CN" altLang="en-US" sz="2000" b="1" dirty="0">
                <a:latin typeface="Times New Roman" pitchFamily="18" charset="0"/>
                <a:ea typeface="宋体" panose="02000500000000000000" pitchFamily="2"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xfrm>
            <a:off x="900113" y="0"/>
            <a:ext cx="10361612" cy="1143000"/>
          </a:xfrm>
          <a:ln/>
        </p:spPr>
        <p:txBody>
          <a:bodyPr vert="horz" wrap="square" lIns="91440" tIns="45720" rIns="91440" bIns="45720" anchor="ctr" anchorCtr="0"/>
          <a:p>
            <a:r>
              <a:rPr lang="zh-CN" altLang="en-US" dirty="0"/>
              <a:t>国科大</a:t>
            </a:r>
            <a:r>
              <a:rPr lang="en-US" altLang="zh-CN" dirty="0"/>
              <a:t>《</a:t>
            </a:r>
            <a:r>
              <a:rPr lang="zh-CN" altLang="en-US" dirty="0"/>
              <a:t>计算机体系结构</a:t>
            </a:r>
            <a:r>
              <a:rPr lang="en-US" altLang="zh-CN" dirty="0"/>
              <a:t>》</a:t>
            </a:r>
            <a:r>
              <a:rPr lang="zh-CN" altLang="en-US" dirty="0"/>
              <a:t>课程设置</a:t>
            </a:r>
            <a:endParaRPr lang="zh-CN" altLang="en-US" dirty="0"/>
          </a:p>
        </p:txBody>
      </p:sp>
      <p:sp>
        <p:nvSpPr>
          <p:cNvPr id="24578" name="内容占位符 2"/>
          <p:cNvSpPr>
            <a:spLocks noGrp="1"/>
          </p:cNvSpPr>
          <p:nvPr>
            <p:ph idx="1"/>
          </p:nvPr>
        </p:nvSpPr>
        <p:spPr>
          <a:xfrm>
            <a:off x="571500" y="1162050"/>
            <a:ext cx="11168063" cy="5453063"/>
          </a:xfrm>
          <a:ln/>
        </p:spPr>
        <p:txBody>
          <a:bodyPr vert="horz" wrap="square" lIns="91440" tIns="45720" rIns="91440" bIns="45720" anchor="t" anchorCtr="0"/>
          <a:p>
            <a:r>
              <a:rPr lang="zh-CN" altLang="zh-CN" dirty="0"/>
              <a:t>本科</a:t>
            </a:r>
            <a:r>
              <a:rPr lang="en-US" altLang="zh-CN" dirty="0"/>
              <a:t>《</a:t>
            </a:r>
            <a:r>
              <a:rPr lang="zh-CN" altLang="zh-CN" dirty="0"/>
              <a:t>计算机体系结构基础》</a:t>
            </a:r>
            <a:r>
              <a:rPr lang="zh-CN" altLang="en-US" dirty="0"/>
              <a:t>：主要强调基础性和系统性</a:t>
            </a:r>
            <a:endParaRPr lang="en-US" altLang="zh-CN" dirty="0"/>
          </a:p>
          <a:p>
            <a:pPr lvl="1"/>
            <a:r>
              <a:rPr lang="zh-CN" altLang="zh-CN" dirty="0"/>
              <a:t>作为软硬件界面的指令系统结构，包含</a:t>
            </a:r>
            <a:r>
              <a:rPr lang="en-US" altLang="zh-CN" dirty="0"/>
              <a:t>CPU</a:t>
            </a:r>
            <a:r>
              <a:rPr lang="zh-CN" altLang="zh-CN" dirty="0"/>
              <a:t>、</a:t>
            </a:r>
            <a:r>
              <a:rPr lang="en-US" altLang="zh-CN" dirty="0"/>
              <a:t>GPU</a:t>
            </a:r>
            <a:r>
              <a:rPr lang="zh-CN" altLang="zh-CN" dirty="0"/>
              <a:t>、南北桥协同的计算机硬件结构，</a:t>
            </a:r>
            <a:r>
              <a:rPr lang="en-US" altLang="zh-CN" dirty="0"/>
              <a:t>CPU</a:t>
            </a:r>
            <a:r>
              <a:rPr lang="zh-CN" altLang="zh-CN" dirty="0"/>
              <a:t>的微结构，并行处理结构，计算机性能分析等五部分主要内容。</a:t>
            </a:r>
            <a:endParaRPr lang="en-US" altLang="zh-CN" dirty="0"/>
          </a:p>
          <a:p>
            <a:r>
              <a:rPr lang="zh-CN" altLang="zh-CN" dirty="0"/>
              <a:t>硕士《计算机体系结构》</a:t>
            </a:r>
            <a:r>
              <a:rPr lang="zh-CN" altLang="en-US" dirty="0"/>
              <a:t>：主要介绍</a:t>
            </a:r>
            <a:r>
              <a:rPr lang="en-US" altLang="zh-CN" dirty="0"/>
              <a:t>CPU</a:t>
            </a:r>
            <a:r>
              <a:rPr lang="zh-CN" altLang="en-US" dirty="0"/>
              <a:t>微结构</a:t>
            </a:r>
            <a:endParaRPr lang="en-US" altLang="zh-CN" dirty="0"/>
          </a:p>
          <a:p>
            <a:pPr lvl="1"/>
            <a:r>
              <a:rPr lang="zh-CN" altLang="zh-CN" dirty="0"/>
              <a:t>包括指令系统结构、二进制和逻辑电路、静态流水线、动态流水线、多发射流水线、运算部件、转移猜测、高速缓存、</a:t>
            </a:r>
            <a:r>
              <a:rPr lang="en-US" altLang="zh-CN" dirty="0"/>
              <a:t>TLB</a:t>
            </a:r>
            <a:r>
              <a:rPr lang="zh-CN" altLang="zh-CN" dirty="0"/>
              <a:t>、多核对流水线的影响等</a:t>
            </a:r>
            <a:endParaRPr lang="zh-CN" altLang="zh-CN" dirty="0"/>
          </a:p>
          <a:p>
            <a:r>
              <a:rPr lang="zh-CN" altLang="zh-CN" dirty="0"/>
              <a:t>博士《高级计算机体系结构》</a:t>
            </a:r>
            <a:r>
              <a:rPr lang="zh-CN" altLang="en-US" dirty="0"/>
              <a:t>：</a:t>
            </a:r>
            <a:r>
              <a:rPr lang="zh-CN" altLang="zh-CN" dirty="0"/>
              <a:t>主要强调实践性</a:t>
            </a:r>
            <a:endParaRPr lang="en-US" altLang="zh-CN" dirty="0"/>
          </a:p>
          <a:p>
            <a:pPr lvl="1"/>
            <a:r>
              <a:rPr lang="zh-CN" altLang="zh-CN" dirty="0"/>
              <a:t>通过设计真实的（而不是简化的）</a:t>
            </a:r>
            <a:r>
              <a:rPr lang="en-US" altLang="zh-CN" dirty="0"/>
              <a:t>CPU</a:t>
            </a:r>
            <a:r>
              <a:rPr lang="zh-CN" altLang="zh-CN" dirty="0"/>
              <a:t>，运行真实的（而不是简化的）操作系统，对结构设计、物理设计、操作系统做到融会贯通</a:t>
            </a:r>
            <a:endParaRPr lang="zh-CN" altLang="zh-CN" dirty="0"/>
          </a:p>
          <a:p>
            <a:endParaRPr lang="zh-CN" altLang="en-US" dirty="0"/>
          </a:p>
        </p:txBody>
      </p:sp>
      <p:sp>
        <p:nvSpPr>
          <p:cNvPr id="24579"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p:cNvSpPr>
          <p:nvPr>
            <p:ph type="title"/>
          </p:nvPr>
        </p:nvSpPr>
        <p:spPr>
          <a:xfrm>
            <a:off x="928688" y="192088"/>
            <a:ext cx="10361612" cy="1143000"/>
          </a:xfrm>
          <a:ln/>
        </p:spPr>
        <p:txBody>
          <a:bodyPr vert="horz" wrap="square" lIns="91440" tIns="45720" rIns="91440" bIns="45720" anchor="ctr" anchorCtr="0"/>
          <a:p>
            <a:r>
              <a:rPr lang="zh-CN" altLang="en-US" dirty="0"/>
              <a:t>系列课程的特点</a:t>
            </a:r>
            <a:endParaRPr lang="zh-CN" altLang="en-US" dirty="0"/>
          </a:p>
        </p:txBody>
      </p:sp>
      <p:sp>
        <p:nvSpPr>
          <p:cNvPr id="25602" name="内容占位符 2"/>
          <p:cNvSpPr>
            <a:spLocks noGrp="1"/>
          </p:cNvSpPr>
          <p:nvPr>
            <p:ph idx="1"/>
          </p:nvPr>
        </p:nvSpPr>
        <p:spPr>
          <a:xfrm>
            <a:off x="647700" y="1490663"/>
            <a:ext cx="11150600" cy="4921250"/>
          </a:xfrm>
          <a:ln/>
        </p:spPr>
        <p:txBody>
          <a:bodyPr vert="horz" wrap="square" lIns="91440" tIns="45720" rIns="91440" bIns="45720" anchor="t" anchorCtr="0"/>
          <a:p>
            <a:r>
              <a:rPr lang="zh-CN" altLang="zh-CN" dirty="0"/>
              <a:t>一是系统性，体系是“系统的系统”，很难就体系结构本身讲体系结构，需要做到对体系结构、基础软件、电路和器件的融汇贯通</a:t>
            </a:r>
            <a:r>
              <a:rPr lang="zh-CN" altLang="en-US" dirty="0"/>
              <a:t>。</a:t>
            </a:r>
            <a:endParaRPr lang="en-US" altLang="zh-CN" dirty="0"/>
          </a:p>
          <a:p>
            <a:r>
              <a:rPr lang="zh-CN" altLang="zh-CN" dirty="0"/>
              <a:t>二是基础性，计算机体系结构千变万化，但几十年发展下来沉淀下来的原理性的东西不多，希望从体系结构快速发展的很多现象中找出一些内在的本质的东西</a:t>
            </a:r>
            <a:r>
              <a:rPr lang="zh-CN" altLang="en-US" dirty="0"/>
              <a:t>。</a:t>
            </a:r>
            <a:endParaRPr lang="en-US" altLang="zh-CN" dirty="0"/>
          </a:p>
          <a:p>
            <a:r>
              <a:rPr lang="zh-CN" altLang="zh-CN" dirty="0"/>
              <a:t>三是实践性，计算机体系结构是实践性很强的学科，要设计在“硅”上运行而不是在“纸”上运行的体系结构。</a:t>
            </a:r>
            <a:r>
              <a:rPr lang="zh-CN" altLang="en-US" dirty="0"/>
              <a:t>因此课程作业和实验强调实践性。</a:t>
            </a:r>
            <a:endParaRPr lang="zh-CN" altLang="zh-CN" dirty="0"/>
          </a:p>
          <a:p>
            <a:endParaRPr lang="zh-CN" altLang="en-US" dirty="0"/>
          </a:p>
        </p:txBody>
      </p:sp>
      <p:sp>
        <p:nvSpPr>
          <p:cNvPr id="25603"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xfrm>
            <a:off x="869950" y="192088"/>
            <a:ext cx="10361613" cy="1143000"/>
          </a:xfrm>
          <a:ln/>
        </p:spPr>
        <p:txBody>
          <a:bodyPr vert="horz" wrap="square" lIns="91440" tIns="45720" rIns="91440" bIns="45720" anchor="ctr" anchorCtr="0"/>
          <a:p>
            <a:r>
              <a:rPr lang="zh-CN" altLang="en-US" dirty="0"/>
              <a:t>什么是计算机体系结构</a:t>
            </a:r>
            <a:endParaRPr lang="zh-CN" altLang="en-US" dirty="0"/>
          </a:p>
        </p:txBody>
      </p:sp>
      <p:sp>
        <p:nvSpPr>
          <p:cNvPr id="26626" name="内容占位符 2"/>
          <p:cNvSpPr>
            <a:spLocks noGrp="1"/>
          </p:cNvSpPr>
          <p:nvPr>
            <p:ph idx="1"/>
          </p:nvPr>
        </p:nvSpPr>
        <p:spPr>
          <a:xfrm>
            <a:off x="376238" y="1636713"/>
            <a:ext cx="11483975" cy="4910137"/>
          </a:xfrm>
          <a:ln/>
        </p:spPr>
        <p:txBody>
          <a:bodyPr vert="horz" wrap="square" lIns="91440" tIns="45720" rIns="91440" bIns="45720" anchor="t" anchorCtr="0"/>
          <a:p>
            <a:r>
              <a:rPr lang="zh-CN" altLang="zh-CN" dirty="0"/>
              <a:t>计算机体系结构（</a:t>
            </a:r>
            <a:r>
              <a:rPr lang="en-US" altLang="zh-CN" dirty="0"/>
              <a:t>Computer Architecture</a:t>
            </a:r>
            <a:r>
              <a:rPr lang="zh-CN" altLang="zh-CN" dirty="0"/>
              <a:t>）是描述计算机各组成部分及其相互关系的一组规则和方法，是程序员所看到的计算机属性。</a:t>
            </a:r>
            <a:endParaRPr lang="en-US" altLang="zh-CN" dirty="0"/>
          </a:p>
          <a:p>
            <a:pPr lvl="1"/>
            <a:r>
              <a:rPr lang="zh-CN" altLang="zh-CN" dirty="0"/>
              <a:t>计算机体系结构主要研究内容包括指令系统结构（</a:t>
            </a:r>
            <a:r>
              <a:rPr lang="en-US" altLang="zh-CN" dirty="0"/>
              <a:t>Instruction Set Architecture</a:t>
            </a:r>
            <a:r>
              <a:rPr lang="zh-CN" altLang="zh-CN" dirty="0"/>
              <a:t>，简称</a:t>
            </a:r>
            <a:r>
              <a:rPr lang="en-US" altLang="zh-CN" dirty="0"/>
              <a:t>ISA</a:t>
            </a:r>
            <a:r>
              <a:rPr lang="zh-CN" altLang="zh-CN" dirty="0"/>
              <a:t>）和计算机组织结构（</a:t>
            </a:r>
            <a:r>
              <a:rPr lang="en-US" altLang="zh-CN" dirty="0"/>
              <a:t>Computer Organization</a:t>
            </a:r>
            <a:r>
              <a:rPr lang="zh-CN" altLang="zh-CN" dirty="0"/>
              <a:t>）。</a:t>
            </a:r>
            <a:endParaRPr lang="en-US" altLang="zh-CN" dirty="0"/>
          </a:p>
          <a:p>
            <a:pPr lvl="1"/>
            <a:r>
              <a:rPr lang="zh-CN" altLang="zh-CN" dirty="0"/>
              <a:t>微体系结构（</a:t>
            </a:r>
            <a:r>
              <a:rPr lang="en-US" altLang="zh-CN" dirty="0"/>
              <a:t>Micro-architecture</a:t>
            </a:r>
            <a:r>
              <a:rPr lang="zh-CN" altLang="zh-CN" dirty="0"/>
              <a:t>）是微处理器的组织结构，并行体系结构是并行计算机的组织结构。</a:t>
            </a:r>
            <a:endParaRPr lang="en-US" altLang="zh-CN" dirty="0"/>
          </a:p>
          <a:p>
            <a:pPr lvl="1"/>
            <a:r>
              <a:rPr lang="zh-CN" altLang="zh-CN" dirty="0"/>
              <a:t>冯诺依曼结构的存储程序和指令驱动执行原理是现代计算机体系结构的基础。</a:t>
            </a:r>
            <a:endParaRPr lang="zh-CN" altLang="zh-CN" dirty="0"/>
          </a:p>
          <a:p>
            <a:endParaRPr lang="zh-CN" altLang="zh-CN" dirty="0"/>
          </a:p>
          <a:p>
            <a:endParaRPr lang="zh-CN" altLang="en-US" dirty="0"/>
          </a:p>
        </p:txBody>
      </p:sp>
      <p:sp>
        <p:nvSpPr>
          <p:cNvPr id="26627"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xfrm>
            <a:off x="869950" y="304800"/>
            <a:ext cx="10361613" cy="1143000"/>
          </a:xfrm>
          <a:ln/>
        </p:spPr>
        <p:txBody>
          <a:bodyPr vert="horz" wrap="square" lIns="91440" tIns="45720" rIns="91440" bIns="45720" anchor="ctr" anchorCtr="0"/>
          <a:p>
            <a:r>
              <a:rPr lang="zh-CN" altLang="en-US" dirty="0"/>
              <a:t>计算机体系结构的表现方式</a:t>
            </a:r>
            <a:endParaRPr lang="zh-CN" altLang="en-US" dirty="0"/>
          </a:p>
        </p:txBody>
      </p:sp>
      <p:sp>
        <p:nvSpPr>
          <p:cNvPr id="27650" name="内容占位符 2"/>
          <p:cNvSpPr>
            <a:spLocks noGrp="1"/>
          </p:cNvSpPr>
          <p:nvPr>
            <p:ph idx="1"/>
          </p:nvPr>
        </p:nvSpPr>
        <p:spPr>
          <a:xfrm>
            <a:off x="361950" y="1411288"/>
            <a:ext cx="11512550" cy="4684712"/>
          </a:xfrm>
          <a:ln/>
        </p:spPr>
        <p:txBody>
          <a:bodyPr vert="horz" wrap="square" lIns="91440" tIns="45720" rIns="91440" bIns="45720" anchor="t" anchorCtr="0"/>
          <a:p>
            <a:r>
              <a:rPr lang="zh-CN" altLang="zh-CN" dirty="0"/>
              <a:t>计算机体系结构可以有不同层次和形式的表现方式。</a:t>
            </a:r>
            <a:endParaRPr lang="en-US" altLang="zh-CN" dirty="0"/>
          </a:p>
          <a:p>
            <a:pPr lvl="1"/>
            <a:r>
              <a:rPr lang="zh-CN" altLang="zh-CN" dirty="0"/>
              <a:t>计算机体系结构通常用指令系统手册和结构框图来表示，结构框图中的方块表示计算机的功能模块，线条和箭头表示指令和数据在功能模块中的流动，结构框图可以不断分解一直到门级或晶体管级。</a:t>
            </a:r>
            <a:endParaRPr lang="en-US" altLang="zh-CN" dirty="0"/>
          </a:p>
          <a:p>
            <a:pPr lvl="1"/>
            <a:r>
              <a:rPr lang="zh-CN" altLang="zh-CN" dirty="0"/>
              <a:t>计算机体系结构也可以用高级语言如</a:t>
            </a:r>
            <a:r>
              <a:rPr lang="en-US" altLang="zh-CN" dirty="0"/>
              <a:t>C</a:t>
            </a:r>
            <a:r>
              <a:rPr lang="zh-CN" altLang="zh-CN" dirty="0"/>
              <a:t>语言来表示，形成结构模拟器，用于性能评估和分析。</a:t>
            </a:r>
            <a:endParaRPr lang="en-US" altLang="zh-CN" dirty="0"/>
          </a:p>
          <a:p>
            <a:pPr lvl="1"/>
            <a:r>
              <a:rPr lang="zh-CN" altLang="zh-CN" dirty="0"/>
              <a:t>用硬件描述语言（如</a:t>
            </a:r>
            <a:r>
              <a:rPr lang="en-US" altLang="zh-CN" dirty="0"/>
              <a:t>Verilog</a:t>
            </a:r>
            <a:r>
              <a:rPr lang="zh-CN" altLang="zh-CN" dirty="0"/>
              <a:t>）描述的体系结构可以通过电子设计自动化（</a:t>
            </a:r>
            <a:r>
              <a:rPr lang="en-US" altLang="zh-CN" dirty="0"/>
              <a:t>Electronic Design Automation</a:t>
            </a:r>
            <a:r>
              <a:rPr lang="zh-CN" altLang="zh-CN" dirty="0"/>
              <a:t>，简称</a:t>
            </a:r>
            <a:r>
              <a:rPr lang="en-US" altLang="zh-CN" dirty="0"/>
              <a:t>EDA</a:t>
            </a:r>
            <a:r>
              <a:rPr lang="zh-CN" altLang="zh-CN" dirty="0"/>
              <a:t>）工具进行功能验证和性能分析，转换成门级及晶体管级网表，并通过布局布线最终转换成版图，用于芯片制造。</a:t>
            </a:r>
            <a:endParaRPr lang="zh-CN" altLang="en-US" dirty="0"/>
          </a:p>
        </p:txBody>
      </p:sp>
      <p:sp>
        <p:nvSpPr>
          <p:cNvPr id="27651"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xfrm>
            <a:off x="482600" y="11113"/>
            <a:ext cx="11528425" cy="1143000"/>
          </a:xfrm>
          <a:ln/>
        </p:spPr>
        <p:txBody>
          <a:bodyPr vert="horz" wrap="square" lIns="91440" tIns="45720" rIns="91440" bIns="45720" anchor="ctr" anchorCtr="0"/>
          <a:p>
            <a:r>
              <a:rPr lang="zh-CN" altLang="en-US" dirty="0"/>
              <a:t>本科</a:t>
            </a:r>
            <a:r>
              <a:rPr lang="en-US" altLang="zh-CN" dirty="0"/>
              <a:t>《</a:t>
            </a:r>
            <a:r>
              <a:rPr lang="zh-CN" altLang="en-US" dirty="0"/>
              <a:t>计算机体系结构基础</a:t>
            </a:r>
            <a:r>
              <a:rPr lang="en-US" altLang="zh-CN" dirty="0"/>
              <a:t>》</a:t>
            </a:r>
            <a:r>
              <a:rPr lang="zh-CN" altLang="en-US" dirty="0"/>
              <a:t>主要内容</a:t>
            </a:r>
            <a:endParaRPr lang="zh-CN" altLang="en-US" dirty="0"/>
          </a:p>
        </p:txBody>
      </p:sp>
      <p:sp>
        <p:nvSpPr>
          <p:cNvPr id="28674" name="内容占位符 2"/>
          <p:cNvSpPr>
            <a:spLocks noGrp="1"/>
          </p:cNvSpPr>
          <p:nvPr>
            <p:ph idx="1"/>
          </p:nvPr>
        </p:nvSpPr>
        <p:spPr>
          <a:xfrm>
            <a:off x="300038" y="903288"/>
            <a:ext cx="11649075" cy="5954712"/>
          </a:xfrm>
          <a:ln/>
        </p:spPr>
        <p:txBody>
          <a:bodyPr vert="horz" wrap="square" lIns="91440" tIns="45720" rIns="91440" bIns="45720" anchor="t" anchorCtr="0"/>
          <a:p>
            <a:pPr latinLnBrk="0">
              <a:lnSpc>
                <a:spcPct val="100000"/>
              </a:lnSpc>
            </a:pPr>
            <a:r>
              <a:rPr lang="zh-CN" altLang="en-US" sz="1800" dirty="0"/>
              <a:t>第一部分：引言（第</a:t>
            </a:r>
            <a:r>
              <a:rPr lang="en-US" altLang="zh-CN" sz="1800" dirty="0"/>
              <a:t>1</a:t>
            </a:r>
            <a:r>
              <a:rPr lang="zh-CN" altLang="en-US" sz="1800" dirty="0"/>
              <a:t>章）</a:t>
            </a:r>
            <a:endParaRPr lang="en-US" altLang="zh-CN" sz="1800" dirty="0"/>
          </a:p>
          <a:p>
            <a:pPr lvl="1" latinLnBrk="0">
              <a:lnSpc>
                <a:spcPct val="100000"/>
              </a:lnSpc>
            </a:pPr>
            <a:r>
              <a:rPr lang="zh-CN" altLang="zh-CN" dirty="0"/>
              <a:t>体系结构研究内容、主要性能指标、发展趋势以及设计原则</a:t>
            </a:r>
            <a:endParaRPr lang="en-US" altLang="zh-CN" dirty="0"/>
          </a:p>
          <a:p>
            <a:pPr latinLnBrk="0">
              <a:lnSpc>
                <a:spcPct val="100000"/>
              </a:lnSpc>
            </a:pPr>
            <a:r>
              <a:rPr lang="zh-CN" altLang="en-US" sz="1800" dirty="0"/>
              <a:t>第二部分：</a:t>
            </a:r>
            <a:r>
              <a:rPr lang="zh-CN" altLang="zh-CN" sz="1800" dirty="0"/>
              <a:t>作为软硬件界面的指令系统结构</a:t>
            </a:r>
            <a:r>
              <a:rPr lang="zh-CN" altLang="en-US" sz="1800" dirty="0"/>
              <a:t>（第</a:t>
            </a:r>
            <a:r>
              <a:rPr lang="en-US" altLang="zh-CN" sz="1800" dirty="0"/>
              <a:t>2-4</a:t>
            </a:r>
            <a:r>
              <a:rPr lang="zh-CN" altLang="en-US" sz="1800" dirty="0"/>
              <a:t>章）</a:t>
            </a:r>
            <a:endParaRPr lang="en-US" altLang="zh-CN" sz="1800" dirty="0"/>
          </a:p>
          <a:p>
            <a:pPr lvl="1" latinLnBrk="0">
              <a:lnSpc>
                <a:spcPct val="100000"/>
              </a:lnSpc>
            </a:pPr>
            <a:r>
              <a:rPr lang="zh-CN" altLang="en-US" dirty="0"/>
              <a:t>指令反映了结构设计者对应用和基础软件的深刻理解，不仅仅是操作编码</a:t>
            </a:r>
            <a:endParaRPr lang="en-US" altLang="zh-CN" dirty="0"/>
          </a:p>
          <a:p>
            <a:pPr lvl="1" latinLnBrk="0">
              <a:lnSpc>
                <a:spcPct val="100000"/>
              </a:lnSpc>
            </a:pPr>
            <a:r>
              <a:rPr lang="zh-CN" altLang="zh-CN" dirty="0"/>
              <a:t>指令系统</a:t>
            </a:r>
            <a:r>
              <a:rPr lang="zh-CN" altLang="en-US" dirty="0"/>
              <a:t>结构</a:t>
            </a:r>
            <a:r>
              <a:rPr lang="zh-CN" altLang="zh-CN" dirty="0"/>
              <a:t>、</a:t>
            </a:r>
            <a:r>
              <a:rPr lang="zh-CN" altLang="en-US" dirty="0"/>
              <a:t>特权态指令系统结构、</a:t>
            </a:r>
            <a:r>
              <a:rPr lang="zh-CN" altLang="zh-CN" dirty="0"/>
              <a:t>软硬件协同</a:t>
            </a:r>
            <a:endParaRPr lang="en-US" altLang="zh-CN" dirty="0"/>
          </a:p>
          <a:p>
            <a:pPr latinLnBrk="0">
              <a:lnSpc>
                <a:spcPct val="100000"/>
              </a:lnSpc>
            </a:pPr>
            <a:r>
              <a:rPr lang="zh-CN" altLang="en-US" sz="1800" dirty="0"/>
              <a:t>第三部分：</a:t>
            </a:r>
            <a:r>
              <a:rPr lang="en-US" altLang="zh-CN" sz="1800" dirty="0"/>
              <a:t>CPU</a:t>
            </a:r>
            <a:r>
              <a:rPr lang="zh-CN" altLang="zh-CN" sz="1800" dirty="0"/>
              <a:t>、</a:t>
            </a:r>
            <a:r>
              <a:rPr lang="en-US" altLang="zh-CN" sz="1800" dirty="0"/>
              <a:t>GPU</a:t>
            </a:r>
            <a:r>
              <a:rPr lang="zh-CN" altLang="zh-CN" sz="1800" dirty="0"/>
              <a:t>、南北桥协同的硬件结构</a:t>
            </a:r>
            <a:r>
              <a:rPr lang="zh-CN" altLang="en-US" sz="1800" dirty="0"/>
              <a:t>（</a:t>
            </a:r>
            <a:r>
              <a:rPr lang="en-US" altLang="zh-CN" sz="1800" dirty="0"/>
              <a:t>5-7</a:t>
            </a:r>
            <a:r>
              <a:rPr lang="zh-CN" altLang="en-US" sz="1800" dirty="0"/>
              <a:t>章）</a:t>
            </a:r>
            <a:endParaRPr lang="en-US" altLang="zh-CN" sz="1800" dirty="0"/>
          </a:p>
          <a:p>
            <a:pPr lvl="1" latinLnBrk="0">
              <a:lnSpc>
                <a:spcPct val="100000"/>
              </a:lnSpc>
            </a:pPr>
            <a:r>
              <a:rPr lang="zh-CN" altLang="en-US" dirty="0"/>
              <a:t>冯诺依曼结构的具体体现，</a:t>
            </a:r>
            <a:r>
              <a:rPr lang="en-US" altLang="zh-CN" dirty="0"/>
              <a:t>CPU</a:t>
            </a:r>
            <a:r>
              <a:rPr lang="zh-CN" altLang="zh-CN" dirty="0"/>
              <a:t>、</a:t>
            </a:r>
            <a:r>
              <a:rPr lang="en-US" altLang="zh-CN" dirty="0"/>
              <a:t>GPU</a:t>
            </a:r>
            <a:r>
              <a:rPr lang="zh-CN" altLang="zh-CN" dirty="0"/>
              <a:t>、内存、</a:t>
            </a:r>
            <a:r>
              <a:rPr lang="en-US" altLang="zh-CN" dirty="0"/>
              <a:t>IO</a:t>
            </a:r>
            <a:r>
              <a:rPr lang="zh-CN" altLang="zh-CN" dirty="0"/>
              <a:t>之间是如何协同的</a:t>
            </a:r>
            <a:endParaRPr lang="en-US" altLang="zh-CN" dirty="0"/>
          </a:p>
          <a:p>
            <a:pPr lvl="1" latinLnBrk="0">
              <a:lnSpc>
                <a:spcPct val="100000"/>
              </a:lnSpc>
            </a:pPr>
            <a:r>
              <a:rPr lang="zh-CN" altLang="en-US" dirty="0"/>
              <a:t>计算机硬件结构、计算机接口及总线、计算机系统上电启动过程</a:t>
            </a:r>
            <a:endParaRPr lang="en-US" altLang="zh-CN" dirty="0"/>
          </a:p>
          <a:p>
            <a:pPr latinLnBrk="0">
              <a:lnSpc>
                <a:spcPct val="100000"/>
              </a:lnSpc>
            </a:pPr>
            <a:r>
              <a:rPr lang="zh-CN" altLang="en-US" sz="1800" dirty="0"/>
              <a:t>第四部分：</a:t>
            </a:r>
            <a:r>
              <a:rPr lang="en-US" altLang="zh-CN" sz="1800" dirty="0"/>
              <a:t>CPU</a:t>
            </a:r>
            <a:r>
              <a:rPr lang="zh-CN" altLang="zh-CN" sz="1800" dirty="0"/>
              <a:t>的微结构</a:t>
            </a:r>
            <a:r>
              <a:rPr lang="zh-CN" altLang="en-US" sz="1800" dirty="0"/>
              <a:t>（第</a:t>
            </a:r>
            <a:r>
              <a:rPr lang="en-US" altLang="zh-CN" sz="1800" dirty="0"/>
              <a:t>8-9</a:t>
            </a:r>
            <a:r>
              <a:rPr lang="zh-CN" altLang="en-US" sz="1800" dirty="0"/>
              <a:t>章）</a:t>
            </a:r>
            <a:endParaRPr lang="en-US" altLang="zh-CN" sz="1800" dirty="0"/>
          </a:p>
          <a:p>
            <a:pPr lvl="1" latinLnBrk="0">
              <a:lnSpc>
                <a:spcPct val="100000"/>
              </a:lnSpc>
            </a:pPr>
            <a:r>
              <a:rPr lang="zh-CN" altLang="zh-CN" dirty="0"/>
              <a:t>建立指令系统和晶体管之间的“桥梁”</a:t>
            </a:r>
            <a:r>
              <a:rPr lang="zh-CN" altLang="en-US" dirty="0"/>
              <a:t>，硕士课程的重点内容</a:t>
            </a:r>
            <a:endParaRPr lang="en-US" altLang="zh-CN" dirty="0"/>
          </a:p>
          <a:p>
            <a:pPr lvl="1" latinLnBrk="0">
              <a:lnSpc>
                <a:spcPct val="100000"/>
              </a:lnSpc>
            </a:pPr>
            <a:r>
              <a:rPr lang="zh-CN" altLang="en-US" dirty="0"/>
              <a:t>运算器设计、指令流水线（控制器设计）</a:t>
            </a:r>
            <a:endParaRPr lang="en-US" altLang="zh-CN" dirty="0"/>
          </a:p>
          <a:p>
            <a:pPr latinLnBrk="0">
              <a:lnSpc>
                <a:spcPct val="100000"/>
              </a:lnSpc>
            </a:pPr>
            <a:r>
              <a:rPr lang="zh-CN" altLang="en-US" sz="1800" dirty="0"/>
              <a:t>第五部分：</a:t>
            </a:r>
            <a:r>
              <a:rPr lang="zh-CN" altLang="zh-CN" sz="1800" dirty="0"/>
              <a:t>并行处理结构</a:t>
            </a:r>
            <a:r>
              <a:rPr lang="zh-CN" altLang="en-US" sz="1800" dirty="0"/>
              <a:t>（第</a:t>
            </a:r>
            <a:r>
              <a:rPr lang="en-US" altLang="zh-CN" sz="1800" dirty="0"/>
              <a:t>10-11</a:t>
            </a:r>
            <a:r>
              <a:rPr lang="zh-CN" altLang="en-US" sz="1800" dirty="0"/>
              <a:t>章）</a:t>
            </a:r>
            <a:endParaRPr lang="en-US" altLang="zh-CN" sz="1800" dirty="0"/>
          </a:p>
          <a:p>
            <a:pPr lvl="1" latinLnBrk="0">
              <a:lnSpc>
                <a:spcPct val="100000"/>
              </a:lnSpc>
            </a:pPr>
            <a:r>
              <a:rPr lang="zh-CN" altLang="zh-CN" dirty="0"/>
              <a:t>现代计算机通过多层次的并行性开发来提高性能</a:t>
            </a:r>
            <a:endParaRPr lang="en-US" altLang="zh-CN" dirty="0"/>
          </a:p>
          <a:p>
            <a:pPr lvl="1" latinLnBrk="0">
              <a:lnSpc>
                <a:spcPct val="100000"/>
              </a:lnSpc>
            </a:pPr>
            <a:r>
              <a:rPr lang="zh-CN" altLang="en-US" dirty="0"/>
              <a:t>应用程序的并行行为、多核处理器</a:t>
            </a:r>
            <a:endParaRPr lang="en-US" altLang="zh-CN" dirty="0"/>
          </a:p>
          <a:p>
            <a:pPr latinLnBrk="0">
              <a:lnSpc>
                <a:spcPct val="100000"/>
              </a:lnSpc>
            </a:pPr>
            <a:r>
              <a:rPr lang="zh-CN" altLang="en-US" sz="1800" dirty="0"/>
              <a:t>第六部分：</a:t>
            </a:r>
            <a:r>
              <a:rPr lang="zh-CN" altLang="zh-CN" sz="1800" dirty="0"/>
              <a:t>计算机性能分析</a:t>
            </a:r>
            <a:r>
              <a:rPr lang="zh-CN" altLang="en-US" sz="1800" dirty="0"/>
              <a:t>（第</a:t>
            </a:r>
            <a:r>
              <a:rPr lang="en-US" altLang="zh-CN" sz="1800" dirty="0"/>
              <a:t>12</a:t>
            </a:r>
            <a:r>
              <a:rPr lang="zh-CN" altLang="en-US" sz="1800" dirty="0"/>
              <a:t>章）</a:t>
            </a:r>
            <a:endParaRPr lang="en-US" altLang="zh-CN" sz="1800" dirty="0"/>
          </a:p>
          <a:p>
            <a:pPr lvl="1" latinLnBrk="0">
              <a:lnSpc>
                <a:spcPct val="100000"/>
              </a:lnSpc>
            </a:pPr>
            <a:r>
              <a:rPr lang="zh-CN" altLang="zh-CN" dirty="0"/>
              <a:t>性能不由一两个具体指标决定，而是若干因素综合平衡的结果</a:t>
            </a:r>
            <a:endParaRPr lang="en-US" altLang="zh-CN" dirty="0"/>
          </a:p>
          <a:p>
            <a:pPr lvl="1" latinLnBrk="0">
              <a:lnSpc>
                <a:spcPct val="100000"/>
              </a:lnSpc>
            </a:pPr>
            <a:r>
              <a:rPr lang="zh-CN" altLang="en-US" dirty="0"/>
              <a:t>计算机性能指标（计算机性能基准测试程序、计算机性能比较）、计算机性能分析方法</a:t>
            </a:r>
            <a:endParaRPr lang="en-US" altLang="zh-CN" dirty="0"/>
          </a:p>
          <a:p>
            <a:pPr>
              <a:lnSpc>
                <a:spcPct val="135000"/>
              </a:lnSpc>
            </a:pPr>
            <a:endParaRPr lang="zh-CN" altLang="en-US" sz="1800" dirty="0"/>
          </a:p>
        </p:txBody>
      </p:sp>
      <p:sp>
        <p:nvSpPr>
          <p:cNvPr id="28675" name="灯片编号占位符 3"/>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29698" name="Rectangle 2"/>
          <p:cNvSpPr>
            <a:spLocks noGrp="1"/>
          </p:cNvSpPr>
          <p:nvPr>
            <p:ph type="title"/>
          </p:nvPr>
        </p:nvSpPr>
        <p:spPr>
          <a:xfrm>
            <a:off x="647700" y="30163"/>
            <a:ext cx="10941050" cy="692150"/>
          </a:xfrm>
          <a:ln/>
        </p:spPr>
        <p:txBody>
          <a:bodyPr vert="horz" wrap="square" lIns="91440" tIns="45720" rIns="91440" bIns="45720" anchor="ctr" anchorCtr="0"/>
          <a:p>
            <a:pPr eaLnBrk="1" hangingPunct="1"/>
            <a:r>
              <a:rPr lang="zh-CN" altLang="en-US" dirty="0"/>
              <a:t>硕士</a:t>
            </a:r>
            <a:r>
              <a:rPr lang="en-US" altLang="zh-CN" dirty="0"/>
              <a:t>《</a:t>
            </a:r>
            <a:r>
              <a:rPr lang="zh-CN" altLang="en-US" dirty="0"/>
              <a:t>计算机体系结构</a:t>
            </a:r>
            <a:r>
              <a:rPr lang="en-US" altLang="zh-CN" dirty="0"/>
              <a:t>》</a:t>
            </a:r>
            <a:r>
              <a:rPr lang="zh-CN" altLang="en-US" dirty="0"/>
              <a:t>主要内容</a:t>
            </a:r>
            <a:endParaRPr lang="zh-CN" altLang="en-US" dirty="0"/>
          </a:p>
        </p:txBody>
      </p:sp>
      <p:sp>
        <p:nvSpPr>
          <p:cNvPr id="22532" name="Rectangle 3"/>
          <p:cNvSpPr>
            <a:spLocks noGrp="1" noChangeArrowheads="1"/>
          </p:cNvSpPr>
          <p:nvPr>
            <p:ph idx="1"/>
          </p:nvPr>
        </p:nvSpPr>
        <p:spPr>
          <a:xfrm>
            <a:off x="884238" y="711200"/>
            <a:ext cx="10758488" cy="5972175"/>
          </a:xfrm>
        </p:spPr>
        <p:txBody>
          <a:bodyPr vert="horz" wrap="square" lIns="91440" tIns="45720" rIns="91440" bIns="45720" numCol="1" anchor="t" anchorCtr="0" compatLnSpc="1"/>
          <a:lstStyle/>
          <a:p>
            <a:pPr marL="342900" marR="0" lvl="0" indent="-342900" algn="l" defTabSz="914400" rtl="0" eaLnBrk="1" fontAlgn="base" latinLnBrk="0" hangingPunct="1">
              <a:lnSpc>
                <a:spcPct val="135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第一部分：计算机体系结构基础</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、计算机系统结构基础</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02</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、二进制与逻辑电路</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03</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、指令系统结构</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42900" marR="0" lvl="0" indent="-342900" algn="l" defTabSz="914400" rtl="0" eaLnBrk="1" fontAlgn="base" latinLnBrk="0" hangingPunct="1">
              <a:lnSpc>
                <a:spcPct val="135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第二部分：指令流水线</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04</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、静态流水线</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05</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、动态流水线</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06</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、多发射与动态调度</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42900" marR="0" lvl="0" indent="-342900" algn="l" defTabSz="914400" rtl="0" eaLnBrk="1" fontAlgn="base" latinLnBrk="0" hangingPunct="1">
              <a:lnSpc>
                <a:spcPct val="135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第三部分：重要功能模块</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07</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、功能部件设计</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08</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、转移及转移猜测</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09</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CACHE</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及存储层次</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10</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、存储管理</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42900" marR="0" lvl="0" indent="-342900" algn="l" defTabSz="914400" rtl="0" eaLnBrk="1" fontAlgn="base" latinLnBrk="0" hangingPunct="1">
              <a:lnSpc>
                <a:spcPct val="135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第四部分：多核结构</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11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、多处理器结构与并行处理</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42900" marR="0" lvl="0" indent="-342900" algn="l" defTabSz="914400" rtl="0" eaLnBrk="1" fontAlgn="base" latinLnBrk="0" hangingPunct="1">
              <a:lnSpc>
                <a:spcPct val="135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第五部分：实践是最好的课堂</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35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12</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、介绍龙芯</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10</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个设计失误</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42900" marR="0" lvl="0" indent="-342900" algn="l" defTabSz="914400" rtl="0" eaLnBrk="1" fontAlgn="base" latinLnBrk="0" hangingPunct="1">
              <a:lnSpc>
                <a:spcPct val="135000"/>
              </a:lnSpc>
              <a:spcBef>
                <a:spcPts val="0"/>
              </a:spcBef>
              <a:spcAft>
                <a:spcPct val="0"/>
              </a:spcAft>
              <a:buClrTx/>
              <a:buSzTx/>
              <a:buFontTx/>
              <a:buNone/>
              <a:defRPr/>
            </a:pPr>
            <a:endParaRPr kumimoji="1" lang="zh-CN" altLang="en-US" sz="2000" b="1" i="0" u="none" strike="noStrike" kern="0" cap="none" spc="0" normalizeH="0" baseline="0" noProof="0" dirty="0" smtClean="0">
              <a:ln>
                <a:noFill/>
              </a:ln>
              <a:solidFill>
                <a:schemeClr val="bg1">
                  <a:lumMod val="50000"/>
                </a:schemeClr>
              </a:solidFill>
              <a:effectLst/>
              <a:uLnTx/>
              <a:uFillTx/>
              <a:latin typeface="+mn-ea"/>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30722" name="Rectangle 2"/>
          <p:cNvSpPr>
            <a:spLocks noGrp="1"/>
          </p:cNvSpPr>
          <p:nvPr>
            <p:ph type="title"/>
          </p:nvPr>
        </p:nvSpPr>
        <p:spPr>
          <a:ln/>
        </p:spPr>
        <p:txBody>
          <a:bodyPr vert="horz" wrap="square" lIns="91440" tIns="45720" rIns="91440" bIns="45720" anchor="ctr" anchorCtr="0"/>
          <a:p>
            <a:pPr eaLnBrk="1" hangingPunct="1"/>
            <a:r>
              <a:rPr lang="zh-CN" altLang="en-US" dirty="0"/>
              <a:t>教材与参考书</a:t>
            </a:r>
            <a:endParaRPr lang="zh-CN" altLang="en-US" dirty="0"/>
          </a:p>
        </p:txBody>
      </p:sp>
      <p:sp>
        <p:nvSpPr>
          <p:cNvPr id="30723" name="Rectangle 3"/>
          <p:cNvSpPr>
            <a:spLocks noGrp="1"/>
          </p:cNvSpPr>
          <p:nvPr>
            <p:ph idx="1"/>
          </p:nvPr>
        </p:nvSpPr>
        <p:spPr>
          <a:xfrm>
            <a:off x="285750" y="1981200"/>
            <a:ext cx="11579225" cy="4114800"/>
          </a:xfrm>
          <a:ln/>
        </p:spPr>
        <p:txBody>
          <a:bodyPr vert="horz" wrap="square" lIns="91440" tIns="45720" rIns="91440" bIns="45720" anchor="t" anchorCtr="0"/>
          <a:p>
            <a:pPr eaLnBrk="1" hangingPunct="1"/>
            <a:r>
              <a:rPr lang="zh-CN" altLang="en-US" dirty="0"/>
              <a:t>教材</a:t>
            </a:r>
            <a:endParaRPr lang="zh-CN" altLang="en-US" dirty="0"/>
          </a:p>
          <a:p>
            <a:pPr lvl="1" eaLnBrk="1" hangingPunct="1"/>
            <a:r>
              <a:rPr lang="en-US" altLang="zh-CN" dirty="0"/>
              <a:t>《</a:t>
            </a:r>
            <a:r>
              <a:rPr lang="zh-CN" altLang="en-US" dirty="0"/>
              <a:t>计算机体系结构</a:t>
            </a:r>
            <a:r>
              <a:rPr lang="en-US" altLang="zh-CN" dirty="0"/>
              <a:t>》</a:t>
            </a:r>
            <a:r>
              <a:rPr lang="zh-CN" altLang="en-US" dirty="0"/>
              <a:t>（第二版）：清华大学出版社</a:t>
            </a:r>
            <a:endParaRPr lang="zh-CN" altLang="en-US" dirty="0"/>
          </a:p>
          <a:p>
            <a:pPr eaLnBrk="1" hangingPunct="1"/>
            <a:r>
              <a:rPr lang="zh-CN" altLang="en-US" dirty="0"/>
              <a:t>参考书</a:t>
            </a:r>
            <a:endParaRPr lang="zh-CN" altLang="en-US" dirty="0"/>
          </a:p>
          <a:p>
            <a:pPr lvl="1" eaLnBrk="1" hangingPunct="1"/>
            <a:r>
              <a:rPr lang="en-US" altLang="zh-CN" dirty="0"/>
              <a:t>《</a:t>
            </a:r>
            <a:r>
              <a:rPr lang="zh-CN" altLang="en-US" dirty="0"/>
              <a:t>计算机体系结构基础</a:t>
            </a:r>
            <a:r>
              <a:rPr lang="en-US" altLang="zh-CN" dirty="0"/>
              <a:t>》</a:t>
            </a:r>
            <a:r>
              <a:rPr lang="zh-CN" altLang="en-US" dirty="0"/>
              <a:t>（第三版）：机械工业出版社</a:t>
            </a:r>
            <a:endParaRPr lang="zh-CN" altLang="en-US" dirty="0"/>
          </a:p>
          <a:p>
            <a:pPr lvl="1" eaLnBrk="1" hangingPunct="1"/>
            <a:r>
              <a:rPr lang="en-US" altLang="zh-CN" dirty="0"/>
              <a:t>《MIPS</a:t>
            </a:r>
            <a:r>
              <a:rPr lang="zh-CN" altLang="en-US" dirty="0"/>
              <a:t>设计透视</a:t>
            </a:r>
            <a:r>
              <a:rPr lang="en-US" altLang="zh-CN" dirty="0"/>
              <a:t>》</a:t>
            </a:r>
            <a:r>
              <a:rPr lang="zh-CN" altLang="en-US" dirty="0"/>
              <a:t>：北航出版社</a:t>
            </a:r>
            <a:endParaRPr lang="zh-CN" altLang="en-US" dirty="0"/>
          </a:p>
          <a:p>
            <a:pPr lvl="1" eaLnBrk="1" hangingPunct="1"/>
            <a:r>
              <a:rPr lang="en-US" altLang="zh-CN" dirty="0"/>
              <a:t>《</a:t>
            </a:r>
            <a:r>
              <a:rPr lang="zh-CN" altLang="en-US" dirty="0"/>
              <a:t>数字集成电路</a:t>
            </a:r>
            <a:r>
              <a:rPr lang="en-US" altLang="zh-CN" dirty="0"/>
              <a:t>---</a:t>
            </a:r>
            <a:r>
              <a:rPr lang="zh-CN" altLang="en-US" dirty="0"/>
              <a:t>设计透视</a:t>
            </a:r>
            <a:r>
              <a:rPr lang="en-US" altLang="zh-CN" dirty="0"/>
              <a:t>》</a:t>
            </a:r>
            <a:r>
              <a:rPr lang="zh-CN" altLang="en-US" dirty="0"/>
              <a:t>：清华大学出版社</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31746" name="Rectangle 2"/>
          <p:cNvSpPr>
            <a:spLocks noGrp="1"/>
          </p:cNvSpPr>
          <p:nvPr>
            <p:ph type="title"/>
          </p:nvPr>
        </p:nvSpPr>
        <p:spPr>
          <a:ln/>
        </p:spPr>
        <p:txBody>
          <a:bodyPr vert="horz" wrap="square" lIns="91440" tIns="45720" rIns="91440" bIns="45720" anchor="ctr" anchorCtr="0"/>
          <a:p>
            <a:pPr eaLnBrk="1" hangingPunct="1"/>
            <a:r>
              <a:rPr lang="zh-CN" altLang="en-US" dirty="0"/>
              <a:t>辅导老师</a:t>
            </a:r>
            <a:endParaRPr lang="zh-CN" altLang="en-US" dirty="0"/>
          </a:p>
        </p:txBody>
      </p:sp>
      <p:sp>
        <p:nvSpPr>
          <p:cNvPr id="31747" name="Rectangle 3"/>
          <p:cNvSpPr>
            <a:spLocks noGrp="1"/>
          </p:cNvSpPr>
          <p:nvPr>
            <p:ph idx="1"/>
          </p:nvPr>
        </p:nvSpPr>
        <p:spPr>
          <a:ln/>
        </p:spPr>
        <p:txBody>
          <a:bodyPr vert="horz" wrap="square" lIns="91440" tIns="45720" rIns="91440" bIns="45720" anchor="t" anchorCtr="0"/>
          <a:p>
            <a:pPr eaLnBrk="1" hangingPunct="1"/>
            <a:r>
              <a:rPr lang="zh-CN" altLang="en-US" dirty="0"/>
              <a:t>辅导老师</a:t>
            </a:r>
            <a:endParaRPr lang="zh-CN" altLang="en-US" dirty="0"/>
          </a:p>
          <a:p>
            <a:pPr lvl="1" eaLnBrk="1" hangingPunct="1"/>
            <a:r>
              <a:rPr lang="zh-CN" altLang="en-US" dirty="0"/>
              <a:t>王宇洋恒：</a:t>
            </a:r>
            <a:r>
              <a:rPr lang="en-US" altLang="zh-CN" dirty="0"/>
              <a:t>wangyuyangheng@loongson.cn</a:t>
            </a:r>
            <a:endParaRPr lang="en-US" altLang="zh-CN" dirty="0"/>
          </a:p>
          <a:p>
            <a:pPr lvl="1" eaLnBrk="1" hangingPunct="1"/>
            <a:r>
              <a:rPr lang="zh-CN" altLang="en-US" dirty="0"/>
              <a:t>刘子扬：</a:t>
            </a:r>
            <a:r>
              <a:rPr lang="en-US" altLang="zh-CN" dirty="0"/>
              <a:t>liuziyang@loongson.cn</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灯片编号占位符 5"/>
          <p:cNvSpPr>
            <a:spLocks noGrp="1"/>
          </p:cNvSpPr>
          <p:nvPr>
            <p:ph type="sldNum" sz="quarter" idx="12"/>
          </p:nvPr>
        </p:nvSpPr>
        <p:spPr>
          <a:ln/>
        </p:spPr>
        <p:txBody>
          <a:bodyPr wrap="square" lIns="91440" tIns="45720" rIns="91440" bIns="45720" anchor="t" anchorCtr="0"/>
          <a:lstStyle>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itchFamily="18" charset="0"/>
                <a:ea typeface="宋体" panose="02000500000000000000" pitchFamily="2" charset="-122"/>
                <a:cs typeface="+mn-cs"/>
              </a:defRPr>
            </a:lvl5pPr>
          </a:lstStyle>
          <a:p>
            <a:pPr lvl="0" algn="r">
              <a:buSzTx/>
            </a:pPr>
            <a:fld id="{9A0DB2DC-4C9A-4742-B13C-FB6460FD3503}" type="slidenum">
              <a:rPr lang="en-US" altLang="zh-CN" sz="1400" dirty="0"/>
            </a:fld>
            <a:endParaRPr lang="en-US" altLang="zh-CN" sz="1400" dirty="0"/>
          </a:p>
        </p:txBody>
      </p:sp>
      <p:sp>
        <p:nvSpPr>
          <p:cNvPr id="32770" name="Rectangle 2"/>
          <p:cNvSpPr>
            <a:spLocks noGrp="1"/>
          </p:cNvSpPr>
          <p:nvPr>
            <p:ph type="title"/>
          </p:nvPr>
        </p:nvSpPr>
        <p:spPr>
          <a:xfrm>
            <a:off x="914400" y="180975"/>
            <a:ext cx="10361613" cy="1143000"/>
          </a:xfrm>
          <a:ln/>
        </p:spPr>
        <p:txBody>
          <a:bodyPr vert="horz" wrap="square" lIns="91440" tIns="45720" rIns="91440" bIns="45720" anchor="ctr" anchorCtr="0"/>
          <a:p>
            <a:pPr eaLnBrk="1" hangingPunct="1"/>
            <a:r>
              <a:rPr lang="zh-CN" altLang="en-US" dirty="0"/>
              <a:t>作业与考核</a:t>
            </a:r>
            <a:endParaRPr lang="zh-CN" altLang="en-US" dirty="0"/>
          </a:p>
        </p:txBody>
      </p:sp>
      <p:sp>
        <p:nvSpPr>
          <p:cNvPr id="32771" name="Rectangle 3"/>
          <p:cNvSpPr>
            <a:spLocks noGrp="1"/>
          </p:cNvSpPr>
          <p:nvPr>
            <p:ph idx="1"/>
          </p:nvPr>
        </p:nvSpPr>
        <p:spPr>
          <a:xfrm>
            <a:off x="661988" y="1263650"/>
            <a:ext cx="11031537" cy="5249863"/>
          </a:xfrm>
          <a:ln/>
        </p:spPr>
        <p:txBody>
          <a:bodyPr vert="horz" wrap="square" lIns="91440" tIns="45720" rIns="91440" bIns="45720" anchor="t" anchorCtr="0"/>
          <a:p>
            <a:pPr eaLnBrk="1" hangingPunct="1"/>
            <a:r>
              <a:rPr lang="zh-CN" altLang="en-US" dirty="0"/>
              <a:t>本课程的学习任务较重</a:t>
            </a:r>
            <a:endParaRPr lang="zh-CN" altLang="en-US" dirty="0"/>
          </a:p>
          <a:p>
            <a:pPr lvl="1" eaLnBrk="1" hangingPunct="1"/>
            <a:r>
              <a:rPr lang="zh-CN" altLang="en-US" dirty="0"/>
              <a:t>平时作业：</a:t>
            </a:r>
            <a:r>
              <a:rPr lang="en-US" altLang="zh-CN" dirty="0"/>
              <a:t>33</a:t>
            </a:r>
            <a:r>
              <a:rPr lang="zh-CN" altLang="en-US" dirty="0"/>
              <a:t>分（共</a:t>
            </a:r>
            <a:r>
              <a:rPr lang="en-US" altLang="zh-CN" dirty="0"/>
              <a:t>11</a:t>
            </a:r>
            <a:r>
              <a:rPr lang="zh-CN" altLang="en-US" dirty="0"/>
              <a:t>次作业，每次</a:t>
            </a:r>
            <a:r>
              <a:rPr lang="en-US" altLang="zh-CN" dirty="0"/>
              <a:t>3</a:t>
            </a:r>
            <a:r>
              <a:rPr lang="zh-CN" altLang="en-US" dirty="0"/>
              <a:t>分）</a:t>
            </a:r>
            <a:endParaRPr lang="zh-CN" altLang="en-US" dirty="0"/>
          </a:p>
          <a:p>
            <a:pPr lvl="1" eaLnBrk="1" hangingPunct="1"/>
            <a:r>
              <a:rPr lang="zh-CN" altLang="en-US" dirty="0"/>
              <a:t>期末考试：</a:t>
            </a:r>
            <a:r>
              <a:rPr lang="en-US" altLang="zh-CN" dirty="0"/>
              <a:t>67</a:t>
            </a:r>
            <a:r>
              <a:rPr lang="zh-CN" altLang="en-US" dirty="0"/>
              <a:t>分</a:t>
            </a:r>
            <a:endParaRPr lang="zh-CN" altLang="en-US" dirty="0"/>
          </a:p>
          <a:p>
            <a:pPr lvl="1" eaLnBrk="1" hangingPunct="1"/>
            <a:r>
              <a:rPr lang="zh-CN" altLang="en-US" dirty="0"/>
              <a:t>作业：一周内上交为有效，不得打印</a:t>
            </a:r>
            <a:endParaRPr lang="zh-CN" altLang="en-US" dirty="0"/>
          </a:p>
          <a:p>
            <a:pPr lvl="1" eaLnBrk="1" hangingPunct="1"/>
            <a:r>
              <a:rPr lang="zh-CN" altLang="en-US" dirty="0"/>
              <a:t>考试方式：课堂闭卷，</a:t>
            </a:r>
            <a:r>
              <a:rPr lang="en-US" altLang="zh-CN" dirty="0"/>
              <a:t>70%</a:t>
            </a:r>
            <a:r>
              <a:rPr lang="zh-CN" altLang="en-US" dirty="0"/>
              <a:t>题目是作业题</a:t>
            </a:r>
            <a:endParaRPr lang="en-US" altLang="zh-CN" dirty="0"/>
          </a:p>
          <a:p>
            <a:pPr lvl="1" eaLnBrk="1" hangingPunct="1"/>
            <a:r>
              <a:rPr lang="zh-CN" altLang="en-US" dirty="0"/>
              <a:t>辅导老师会定期讲解作业答案</a:t>
            </a:r>
            <a:endParaRPr lang="en-US" altLang="zh-CN" dirty="0"/>
          </a:p>
          <a:p>
            <a:pPr eaLnBrk="1" hangingPunct="1"/>
            <a:r>
              <a:rPr lang="zh-CN" altLang="en-US" dirty="0"/>
              <a:t>多数作业不是对课堂内容的复习，而是对课堂内容的延伸</a:t>
            </a:r>
            <a:endParaRPr lang="en-US" altLang="zh-CN" dirty="0"/>
          </a:p>
          <a:p>
            <a:pPr lvl="1" eaLnBrk="1" hangingPunct="1"/>
            <a:r>
              <a:rPr lang="zh-CN" altLang="en-US" dirty="0"/>
              <a:t>所以不要抱怨“这道题老师没讲过”</a:t>
            </a:r>
            <a:endParaRPr lang="en-US" altLang="zh-CN" dirty="0"/>
          </a:p>
          <a:p>
            <a:pPr lvl="1" eaLnBrk="1" hangingPunct="1"/>
            <a:r>
              <a:rPr lang="zh-CN" altLang="en-US" dirty="0"/>
              <a:t>小学是老师抱着爬山，中学是老师牵着手爬山，大学是跟在老师后面爬山，硕士是顺着老师指的方向自个爬，博士是老师指定一座山自己找方向爬</a:t>
            </a:r>
            <a:endParaRPr lang="zh-CN" altLang="en-US" dirty="0"/>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3773</Words>
  <Application>WPS 演示</Application>
  <PresentationFormat>自定义</PresentationFormat>
  <Paragraphs>328</Paragraphs>
  <Slides>29</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5</vt:i4>
      </vt:variant>
      <vt:variant>
        <vt:lpstr>幻灯片标题</vt:lpstr>
      </vt:variant>
      <vt:variant>
        <vt:i4>29</vt:i4>
      </vt:variant>
    </vt:vector>
  </HeadingPairs>
  <TitlesOfParts>
    <vt:vector size="46" baseType="lpstr">
      <vt:lpstr>Arial</vt:lpstr>
      <vt:lpstr>宋体</vt:lpstr>
      <vt:lpstr>Wingdings</vt:lpstr>
      <vt:lpstr>Nimbus Roman No9 L</vt:lpstr>
      <vt:lpstr>MathJax_Vector</vt:lpstr>
      <vt:lpstr>Times New Roman</vt:lpstr>
      <vt:lpstr>黑体</vt:lpstr>
      <vt:lpstr>+mn-ea</vt:lpstr>
      <vt:lpstr>Quicksand Light</vt:lpstr>
      <vt:lpstr>微软雅黑</vt:lpstr>
      <vt:lpstr>Arial Unicode MS</vt:lpstr>
      <vt:lpstr>默认设计模板</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CPU设计</dc:title>
  <dc:creator>Weiwu Hu</dc:creator>
  <cp:lastModifiedBy>loongson</cp:lastModifiedBy>
  <cp:revision>462</cp:revision>
  <dcterms:created xsi:type="dcterms:W3CDTF">2025-10-02T11:38:24Z</dcterms:created>
  <dcterms:modified xsi:type="dcterms:W3CDTF">2025-10-02T11:38:24Z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