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 ContentType="application/msword"/>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6"/>
  </p:notesMasterIdLst>
  <p:sldIdLst>
    <p:sldId id="256" r:id="rId3"/>
    <p:sldId id="416" r:id="rId4"/>
    <p:sldId id="260" r:id="rId5"/>
    <p:sldId id="418" r:id="rId6"/>
    <p:sldId id="419" r:id="rId7"/>
    <p:sldId id="420" r:id="rId8"/>
    <p:sldId id="421" r:id="rId9"/>
    <p:sldId id="422" r:id="rId10"/>
    <p:sldId id="423" r:id="rId11"/>
    <p:sldId id="424" r:id="rId12"/>
    <p:sldId id="425" r:id="rId13"/>
    <p:sldId id="426" r:id="rId14"/>
    <p:sldId id="427" r:id="rId15"/>
    <p:sldId id="428" r:id="rId16"/>
    <p:sldId id="429" r:id="rId17"/>
    <p:sldId id="430" r:id="rId18"/>
    <p:sldId id="431" r:id="rId19"/>
    <p:sldId id="432" r:id="rId20"/>
    <p:sldId id="433" r:id="rId21"/>
    <p:sldId id="434" r:id="rId22"/>
    <p:sldId id="435" r:id="rId23"/>
    <p:sldId id="436" r:id="rId24"/>
    <p:sldId id="437" r:id="rId25"/>
    <p:sldId id="438" r:id="rId26"/>
    <p:sldId id="439" r:id="rId27"/>
    <p:sldId id="440" r:id="rId28"/>
    <p:sldId id="441" r:id="rId29"/>
    <p:sldId id="442" r:id="rId30"/>
    <p:sldId id="443" r:id="rId31"/>
    <p:sldId id="444" r:id="rId32"/>
    <p:sldId id="445" r:id="rId33"/>
    <p:sldId id="446" r:id="rId34"/>
    <p:sldId id="447" r:id="rId35"/>
    <p:sldId id="448" r:id="rId36"/>
    <p:sldId id="449" r:id="rId37"/>
    <p:sldId id="450" r:id="rId38"/>
    <p:sldId id="451" r:id="rId39"/>
    <p:sldId id="487" r:id="rId40"/>
    <p:sldId id="453" r:id="rId41"/>
    <p:sldId id="454" r:id="rId42"/>
    <p:sldId id="455" r:id="rId43"/>
    <p:sldId id="456" r:id="rId44"/>
    <p:sldId id="457" r:id="rId45"/>
    <p:sldId id="458" r:id="rId46"/>
    <p:sldId id="459" r:id="rId47"/>
    <p:sldId id="460" r:id="rId48"/>
    <p:sldId id="462" r:id="rId49"/>
    <p:sldId id="463" r:id="rId50"/>
    <p:sldId id="464" r:id="rId51"/>
    <p:sldId id="465" r:id="rId52"/>
    <p:sldId id="466" r:id="rId53"/>
    <p:sldId id="467" r:id="rId54"/>
    <p:sldId id="468" r:id="rId55"/>
    <p:sldId id="469" r:id="rId56"/>
    <p:sldId id="470" r:id="rId57"/>
    <p:sldId id="471" r:id="rId58"/>
    <p:sldId id="472" r:id="rId59"/>
    <p:sldId id="473" r:id="rId60"/>
    <p:sldId id="474" r:id="rId61"/>
    <p:sldId id="475" r:id="rId62"/>
    <p:sldId id="476" r:id="rId63"/>
    <p:sldId id="479" r:id="rId64"/>
    <p:sldId id="480" r:id="rId65"/>
    <p:sldId id="481" r:id="rId66"/>
    <p:sldId id="482" r:id="rId67"/>
    <p:sldId id="483" r:id="rId68"/>
    <p:sldId id="484" r:id="rId69"/>
    <p:sldId id="485" r:id="rId70"/>
    <p:sldId id="486" r:id="rId71"/>
    <p:sldId id="477" r:id="rId72"/>
    <p:sldId id="522" r:id="rId73"/>
    <p:sldId id="414" r:id="rId74"/>
    <p:sldId id="332" r:id="rId75"/>
  </p:sldIdLst>
  <p:sldSz cx="12190730" cy="6858000"/>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5pPr>
    <a:lvl6pPr marL="2286000" lvl="5"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6pPr>
    <a:lvl7pPr marL="2743200" lvl="6"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7pPr>
    <a:lvl8pPr marL="3200400" lvl="7"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8pPr>
    <a:lvl9pPr marL="3657600" lvl="8"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u" lastIdx="1" clrIdx="0"/>
  <p:cmAuthor id="1" name="wangwx" initials="w" lastIdx="2" clrIdx="0"/>
  <p:cmAuthor id="2" name="Athene" initials="A" lastIdx="2" clrIdx="1"/>
  <p:cmAuthor id="3" name="Microsoft Office User" initials="M" lastIdx="1" clrIdx="2"/>
  <p:cmAuthor id="4" name="loongson" initials="l" lastIdx="19" clrIdx="3"/>
  <p:cmAuthor id="5" name=" " initials=" " lastIdx="1" clrIdx="3"/>
  <p:cmAuthor id="6" name="liulili" initials="l" lastIdx="13" clrIdx="5"/>
  <p:cmAuthor id="7" name="WenWen" initials="W" lastIdx="1" clrIdx="6"/>
  <p:cmAuthor id="8" name="姜伟光" initials="姜" lastIdx="1" clrIdx="0"/>
  <p:cmAuthor id="9" name="宋洁然" initials="宋" lastIdx="2" clrIdx="1"/>
  <p:cmAuthor id="10" name="ming qiu" initials="m" lastIdx="17" clrIdx="1"/>
  <p:cmAuthor id="11" name="沈霄雷" initials="沈" lastIdx="833089" clrIdx="0"/>
  <p:cmAuthor id="12" name="韩雨" initials="韩" lastIdx="0" clrIdx="0"/>
  <p:cmAuthor id="13" name="仇怿俊" initials="仇" lastIdx="0" clrIdx="0"/>
  <p:cmAuthor id="14" name="D" initials="D" lastIdx="1" clrIdx="13"/>
  <p:cmAuthor id="15" name="于晖_zy632mY3" initials="authorId_387757713" lastIdx="0" clrIdx="0"/>
  <p:cmAuthor id="16" name="YM.Leo" initials="Y" lastIdx="20" clrIdx="13"/>
  <p:cmAuthor id="17" name="李臻_jiai6ZRr" initials="authorId_192999303" lastIdx="0" clrIdx="0"/>
  <p:cmAuthor id="18" name="robin.song" initials="r [3]" lastIdx="1" clrIdx="17"/>
  <p:cmAuthor id="19" name="孙军_a2y2UrEv" initials="authorId_524475945" lastIdx="0" clrIdx="0"/>
  <p:cmAuthor id="20" name="KSOGZD21000128" initials="K" lastIdx="1" clrIdx="19"/>
  <p:cmAuthor id="21" name="Microsoft Office 用户" initials="Office [10]" lastIdx="1" clrIdx="20"/>
  <p:cmAuthor id="22" name="grace" initials="g" lastIdx="1" clrIdx="21"/>
  <p:cmAuthor id="23" name="张 令旗" initials="张" lastIdx="6" clrIdx="22"/>
  <p:cmAuthor id="24" name="Liu Ym" initials="LY" lastIdx="3" clrIdx="23"/>
  <p:cmAuthor id="25" name="李蕾00009994" initials="" lastIdx="6" clrIdx="17"/>
  <p:cmAuthor id="26" name="yangkun" initials="y" lastIdx="1" clrIdx="25"/>
  <p:cmAuthor id="27" name="10270945" initials="" lastIdx="2" clrIdx="25"/>
  <p:cmAuthor id="28" name="10073006" initials="" lastIdx="4" clrIdx="26"/>
  <p:cmAuthor id="29" name="Hou Yingfeng" initials="" lastIdx="10" clrIdx="23"/>
  <p:cmAuthor id="30" name="赵诚荣10027092" initials="" lastIdx="2" clrIdx="25"/>
  <p:cmAuthor id="31" name="10056791" initials="" lastIdx="1" clrIdx="29"/>
  <p:cmAuthor id="32" name="10033224" initials="" lastIdx="1" clrIdx="31"/>
  <p:cmAuthor id="33" name="10045953" initials="" lastIdx="1" clrIdx="32"/>
  <p:cmAuthor id="34" name="关全全10258021" initials="" lastIdx="1" clrIdx="36"/>
  <p:cmAuthor id="35" name="suny hong" initials="sh" lastIdx="1" clrIdx="34"/>
  <p:cmAuthor id="36" name="Charley" initials="C" lastIdx="1" clrIdx="0"/>
  <p:cmAuthor id="37" name="tangj" initials="t" lastIdx="1" clrIdx="36"/>
  <p:cmAuthor id="38" name="鞠瑞" initials="鞠" lastIdx="1" clrIdx="37"/>
  <p:cmAuthor id="39" name="Hi" initials="H" lastIdx="1" clrIdx="38"/>
  <p:cmAuthor id="40" name="P1063cindychen" initials="P" lastIdx="6" clrIdx="0"/>
  <p:cmAuthor id="41" name="Pueschner, Franziska {FA~Shanghai}" initials="P" lastIdx="5" clrIdx="0"/>
  <p:cmAuthor id="691587970" name="小延魔法师" initials="小" lastIdx="1126286" clrIdx="0"/>
  <p:cmAuthor id="42" name="jianbest" initials="j" lastIdx="1" clrIdx="41"/>
  <p:cmAuthor id="691587971" name="刘春杰10244342" initials="刘春杰10244342" lastIdx="1" clrIdx="41"/>
  <p:cmAuthor id="43" name="王静" initials="王" lastIdx="1" clrIdx="42"/>
  <p:cmAuthor id="44" name="P00035_jeremy" initials="P" lastIdx="1" clrIdx="0"/>
  <p:cmAuthor id="45" name="未知的使用者12" initials="未" lastIdx="1" clrIdx="0"/>
  <p:cmAuthor id="46" name="未知的使用者13" initials="未" lastIdx="5" clrIdx="1"/>
  <p:cmAuthor id="47" name="未知的使用者14" initials="未" lastIdx="0" clrIdx="1"/>
  <p:cmAuthor id="49" name="cui yun" initials="cy" lastIdx="1" clrIdx="22"/>
  <p:cmAuthor id="50" name="未知的使用者9" initials="未" lastIdx="1" clrIdx="0"/>
  <p:cmAuthor id="51" name="未知的使用者11" initials="未" lastIdx="0" clrIdx="1"/>
  <p:cmAuthor id="52" name="未知的使用者27" initials="未" lastIdx="1" clrIdx="0"/>
  <p:cmAuthor id="53" name="未知的使用者28" initials="未" lastIdx="3" clrIdx="1"/>
  <p:cmAuthor id="54" name="未知的使用者29" initials="未" lastIdx="1" clrIdx="1"/>
  <p:cmAuthor id="55" name="未知的使用者21" initials="未" lastIdx="1" clrIdx="0"/>
  <p:cmAuthor id="2000" name="梁亚栋" initials="authorId_233440905" lastIdx="776053" clrIdx="0"/>
  <p:cmAuthor id="56" name="未知的使用者22" initials="未" lastIdx="3" clrIdx="1"/>
  <p:cmAuthor id="57" name="未知的使用者23" initials="未" lastIdx="1" clrIdx="1"/>
  <p:cmAuthor id="58" name="未知的使用者24" initials="未" lastIdx="1" clrIdx="0"/>
  <p:cmAuthor id="59" name="未知的使用者25" initials="未" lastIdx="3" clrIdx="1"/>
  <p:cmAuthor id="60" name="未知的使用者26" initials="未" lastIdx="1" clrIdx="1"/>
  <p:cmAuthor id="61" name="August" initials="A" lastIdx="1" clrIdx="0"/>
  <p:cmAuthor id="62" name="qihua-DCMS" initials="q" lastIdx="0" clrIdx="0"/>
  <p:cmAuthor id="63" name="未知用户5" initials="未" lastIdx="1" clrIdx="0"/>
  <p:cmAuthor id="64" name="YUMINGNJ" initials="Y" lastIdx="3" clrIdx="0"/>
  <p:cmAuthor id="65" name="daphne" initials="d" lastIdx="1" clrIdx="0"/>
  <p:cmAuthor id="66" name="未知用户8" initials="未" lastIdx="1" clrIdx="0"/>
  <p:cmAuthor id="67" name="Unknown User7" initials="U" lastIdx="1" clrIdx="0"/>
  <p:cmAuthor id="68" name="Unknown User8" initials="U" lastIdx="1" clrIdx="0"/>
  <p:cmAuthor id="69" name="未知用户15" initials="未" lastIdx="1" clrIdx="0"/>
  <p:cmAuthor id="70" name="未知用户13" initials="未" lastIdx="1" clrIdx="0"/>
  <p:cmAuthor id="71" name="未知用户14" initials="未" lastIdx="1" clrIdx="0"/>
  <p:cmAuthor id="72" name="Jason Wang" initials="J" lastIdx="1" clrIdx="0"/>
  <p:cmAuthor id="73" name="未知的使用者3" initials="未" lastIdx="0" clrIdx="1"/>
  <p:cmAuthor id="74" name="qiantong" initials="q" lastIdx="3" clrIdx="1"/>
  <p:cmAuthor id="75" name="作者" initials="A" lastIdx="0" clrIdx="24"/>
  <p:cmAuthor id="76" name="wang wei" initials="ww" lastIdx="1" clrIdx="25"/>
  <p:cmAuthor id="77" name="张 波" initials="张" lastIdx="1" clrIdx="26"/>
  <p:cmAuthor id="78" name="JIANG DY" initials="JD" lastIdx="7" clrIdx="27"/>
  <p:cmAuthor id="79" name="YANG Yaqin" initials="YY" lastIdx="1" clrIdx="28"/>
  <p:cmAuthor id="80" name="钱福利" initials="Q" lastIdx="1" clrIdx="29"/>
  <p:cmAuthor id="81" name="未知的使用者53" initials="未" lastIdx="1" clrIdx="0"/>
  <p:cmAuthor id="82" name="未知的使用者46" initials="未" lastIdx="1" clrIdx="1"/>
  <p:cmAuthor id="83" name="yuanzh" initials="y" lastIdx="1" clrIdx="1"/>
  <p:cmAuthor id="84" name="曾红" initials="曾" lastIdx="0" clrIdx="0"/>
  <p:cmAuthor id="85" name="未知用户16" initials="未" lastIdx="1" clrIdx="0"/>
  <p:cmAuthor id="86" name="未知用户17" initials="未" lastIdx="0" clrIdx="1"/>
  <p:cmAuthor id="87" name="mm" initials="m" lastIdx="1" clrIdx="0"/>
  <p:cmAuthor id="88" name="liupeng" initials="l" lastIdx="1" clrIdx="1"/>
  <p:cmAuthor id="89" name="周宏達JerryChou" initials="周" lastIdx="6" clrIdx="2"/>
  <p:cmAuthor id="90" name="luxu" initials="l" lastIdx="22" clrIdx="0"/>
  <p:cmAuthor id="91" name="hl sun" initials="h" lastIdx="1" clrIdx="0"/>
  <p:cmAuthor id="92" name="未知的使用者50" initials="未" lastIdx="1" clrIdx="0"/>
  <p:cmAuthor id="93" name="未知的使用者48" initials="未" lastIdx="1" clrIdx="0"/>
  <p:cmAuthor id="94" name="未知的使用者49" initials="未" lastIdx="1" clrIdx="0"/>
  <p:cmAuthor id="95" name="未知用户22" initials="未" lastIdx="1" clrIdx="0"/>
  <p:cmAuthor id="96" name="未知用户24" initials="未" lastIdx="1" clrIdx="0"/>
  <p:cmAuthor id="97" name="Mary Feil-Jacobs" initials="M" lastIdx="43" clrIdx="1"/>
  <p:cmAuthor id="511165158" name="Eva bling bling" initials="E" lastIdx="1" clrIdx="31"/>
  <p:cmAuthor id="98" name="朱晓瑜" initials="朱" lastIdx="54" clrIdx="0"/>
  <p:cmAuthor id="100" name="djj" initials="d" lastIdx="2" clrIdx="0"/>
  <p:cmAuthor id="101" name="張秀娟" initials="張" lastIdx="1" clrIdx="2"/>
  <p:cmAuthor id="102" name="lianghb" initials="l" lastIdx="19" clrIdx="0"/>
  <p:cmAuthor id="103" name="Shawna Strickland" initials="S" lastIdx="2" clrIdx="0"/>
  <p:cmAuthor id="104" name="linyd" initials="l" lastIdx="3" clrIdx="1"/>
  <p:cmAuthor id="105" name="Ashley Eberenz" initials="A" lastIdx="7" clrIdx="1"/>
  <p:cmAuthor id="106" name="muzi wei" initials="m" lastIdx="1" clrIdx="0"/>
  <p:cmAuthor id="107" name="周元元" initials="" lastIdx="5" clrIdx="0"/>
  <p:cmAuthor id="108" name="未知用户56" initials="未" lastIdx="1" clrIdx="0"/>
  <p:cmAuthor id="109" name="未知用户55" initials="未" lastIdx="1" clrIdx="0"/>
  <p:cmAuthor id="110" name="未知用户51" initials="未" lastIdx="1" clrIdx="1"/>
  <p:cmAuthor id="111" name="LeeElva" initials="L" lastIdx="1" clrIdx="0"/>
  <p:cmAuthor id="21433622" name="悠真" initials="悠" lastIdx="4" clrIdx="26"/>
  <p:cmAuthor id="112" name="唐可欣" initials="唐" lastIdx="1" clrIdx="0"/>
  <p:cmAuthor id="113" name="未知的使用者36" initials="未" lastIdx="10" clrIdx="0"/>
  <p:cmAuthor id="114" name="未知的使用者35" initials="未" lastIdx="1" clrIdx="0"/>
  <p:cmAuthor id="115" name="未知的使用者33" initials="未" lastIdx="1" clrIdx="0"/>
  <p:cmAuthor id="116" name="王鹏凯" initials="王" lastIdx="1" clrIdx="0"/>
  <p:cmAuthor id="117" name="未知的使用者34" initials="未" lastIdx="1" clrIdx="0"/>
  <p:cmAuthor id="119" name="未知用户66" initials="" lastIdx="1" clrIdx="0"/>
  <p:cmAuthor id="121" name="未知用户12" initials="未" lastIdx="8" clrIdx="0"/>
  <p:cmAuthor id="122" name="未知的使用者37" initials="未" lastIdx="8" clrIdx="0"/>
  <p:cmAuthor id="123" name="Harry xu" initials="H" lastIdx="1" clrIdx="0"/>
  <p:cmAuthor id="124" name="未知的使用者59" initials="未" lastIdx="8" clrIdx="0"/>
  <p:cmAuthor id="125" name="未知的使用者60" initials="未" lastIdx="1" clrIdx="0"/>
  <p:cmAuthor id="126" name="未知的使用者54" initials="未" lastIdx="1" clrIdx="0"/>
  <p:cmAuthor id="127" name="未知用户47" initials="未" lastIdx="6" clrIdx="0"/>
  <p:cmAuthor id="128" name="未知用户53" initials="未" lastIdx="10" clrIdx="0"/>
  <p:cmAuthor id="129" name="未知用户48" initials="未" lastIdx="1" clrIdx="0"/>
  <p:cmAuthor id="130" name="未知用户49" initials="未" lastIdx="1" clrIdx="0"/>
  <p:cmAuthor id="131" name="未知的使用者56" initials="未" lastIdx="6" clrIdx="0"/>
  <p:cmAuthor id="132" name="未知的使用者61" initials="未" lastIdx="1" clrIdx="0"/>
  <p:cmAuthor id="133" name="未知的使用者62" initials="未" lastIdx="1" clrIdx="1"/>
  <p:cmAuthor id="134" name="未知的使用者58" initials="未" lastIdx="1" clrIdx="0"/>
  <p:cmAuthor id="135" name="未知用户50" initials="未" lastIdx="1" clrIdx="0"/>
  <p:cmAuthor id="136" name="未知用户52" initials="未" lastIdx="1" clrIdx="0"/>
  <p:cmAuthor id="137" name="未知的使用者120" initials="未" lastIdx="1" clrIdx="0"/>
  <p:cmAuthor id="138" name="未知的使用者109" initials="未" lastIdx="5" clrIdx="1"/>
  <p:cmAuthor id="139" name="未知的使用者110" initials="未" lastIdx="1" clrIdx="1"/>
  <p:cmAuthor id="140" name="未知的使用者111" initials="未" lastIdx="1" clrIdx="0"/>
  <p:cmAuthor id="141" name="未知的使用者121" initials="未" lastIdx="1" clrIdx="0"/>
  <p:cmAuthor id="142" name="thomas" initials="t" lastIdx="1" clrIdx="49"/>
  <p:cmAuthor id="143" name="未知的使用者113" initials="未" lastIdx="1" clrIdx="0"/>
  <p:cmAuthor id="144" name="未知的使用者122" initials="未" lastIdx="1" clrIdx="0"/>
  <p:cmAuthor id="145" name="未知的使用者123" initials="未" lastIdx="8" clrIdx="0"/>
  <p:cmAuthor id="146" name="未知的使用者124" initials="未" lastIdx="8" clrIdx="0"/>
  <p:cmAuthor id="1411827" name="黄晓平" initials="黄" lastIdx="0" clrIdx="0"/>
  <p:cmAuthor id="147" name="未知的使用者125" initials="未" lastIdx="1" clrIdx="0"/>
  <p:cmAuthor id="1411828" name="Xmj" initials="X" lastIdx="3" clrIdx="85"/>
  <p:cmAuthor id="148" name="未知的使用者118" initials="未" lastIdx="1" clrIdx="0"/>
  <p:cmAuthor id="1411829" name="张静_Anua7Nne" initials="authorId_935319063" lastIdx="0" clrIdx="0"/>
  <p:cmAuthor id="149" name="未知的使用者126" initials="未" lastIdx="1" clrIdx="0"/>
  <p:cmAuthor id="1411830" name="晶 王" initials="晶王" lastIdx="1" clrIdx="46"/>
  <p:cmAuthor id="150" name="未知用户57" initials="未" lastIdx="1" clrIdx="0"/>
  <p:cmAuthor id="151" name="未知用户58" initials="未" lastIdx="5" clrIdx="1"/>
  <p:cmAuthor id="152" name="未知用户59" initials="未" lastIdx="0" clrIdx="1"/>
  <p:cmAuthor id="153" name="yuexuejun" initials="y" lastIdx="3" clrIdx="0"/>
  <p:cmAuthor id="154" name="未知的使用者74" initials="未" lastIdx="8" clrIdx="0"/>
  <p:cmAuthor id="155" name="未知的使用者76" initials="未" lastIdx="1" clrIdx="0"/>
  <p:cmAuthor id="156" name="未知的使用者70" initials="未" lastIdx="1" clrIdx="0"/>
  <p:cmAuthor id="157" name="未知的使用者73" initials="未" lastIdx="1" clrIdx="0"/>
  <p:cmAuthor id="158" name="未知的使用者67" initials="未" lastIdx="8" clrIdx="0"/>
  <p:cmAuthor id="159" name="未知的使用者68" initials="未" lastIdx="1" clrIdx="0"/>
  <p:cmAuthor id="160" name="未知的使用者69" initials="未" lastIdx="1" clrIdx="0"/>
  <p:cmAuthor id="161" name="未知的使用者43" initials="未" lastIdx="1" clrIdx="0"/>
  <p:cmAuthor id="162" name="未知的使用者40" initials="未" lastIdx="1" clrIdx="0"/>
  <p:cmAuthor id="163" name="未知的使用者55" initials="未" lastIdx="1" clrIdx="0"/>
  <p:cmAuthor id="164" name="未知的使用者52" initials="未" lastIdx="1" clrIdx="1"/>
  <p:cmAuthor id="165" name="未知的使用者72" initials="未" lastIdx="1" clrIdx="0"/>
  <p:cmAuthor id="166" name="未知的使用者71" initials="未" lastIdx="1" clrIdx="1"/>
  <p:cmAuthor id="167" name="不明使用者20" initials="不" lastIdx="1" clrIdx="0"/>
  <p:cmAuthor id="168" name="不明使用者21" initials="不" lastIdx="1" clrIdx="0"/>
  <p:cmAuthor id="169" name="不明使用者18" initials="不" lastIdx="0" clrIdx="1"/>
  <p:cmAuthor id="170" name="不明使用者19" initials="不" lastIdx="1" clrIdx="0"/>
  <p:cmAuthor id="171" name="未知用户2" initials="未" lastIdx="1" clrIdx="0"/>
  <p:cmAuthor id="172" name="未知用户93" initials="未" lastIdx="1" clrIdx="0"/>
  <p:cmAuthor id="173" name="未知用户90" initials="未" lastIdx="5" clrIdx="1"/>
  <p:cmAuthor id="174" name="未知用户91" initials="未" lastIdx="0" clrIdx="1"/>
  <p:cmAuthor id="175" name="未知用户92" initials="未" lastIdx="1" clrIdx="0"/>
  <p:cmAuthor id="176" name="未知用户74" initials="未" lastIdx="5" clrIdx="1"/>
  <p:cmAuthor id="177" name="未知用户75" initials="未" lastIdx="8" clrIdx="0"/>
  <p:cmAuthor id="178" name="未知用户76" initials="未" lastIdx="1" clrIdx="0"/>
  <p:cmAuthor id="179" name="未知用户77" initials="未" lastIdx="8" clrIdx="0"/>
  <p:cmAuthor id="180" name="未知用户78" initials="未" lastIdx="8" clrIdx="0"/>
  <p:cmAuthor id="181" name="未知用户79" initials="未" lastIdx="1" clrIdx="0"/>
  <p:cmAuthor id="182" name="未知用户80" initials="未" lastIdx="1" clrIdx="0"/>
  <p:cmAuthor id="183" name="未知用户81" initials="未" lastIdx="1" clrIdx="0"/>
  <p:cmAuthor id="184" name="未知的使用者95" initials="未" lastIdx="1" clrIdx="0"/>
  <p:cmAuthor id="185" name="未知的使用者92" initials="未" lastIdx="1" clrIdx="0"/>
  <p:cmAuthor id="186" name="未知的使用者93" initials="未" lastIdx="1" clrIdx="1"/>
  <p:cmAuthor id="187" name="未知的使用者94" initials="未" lastIdx="1" clrIdx="2"/>
  <p:cmAuthor id="188" name="Christina" initials="C" lastIdx="0" clrIdx="0"/>
  <p:cmAuthor id="189" name="jet" initials="j" lastIdx="1" clrIdx="0"/>
  <p:cmAuthor id="190" name="未知用户61" initials="未" lastIdx="8" clrIdx="0"/>
  <p:cmAuthor id="191" name="未知用户60" initials="未" lastIdx="1" clrIdx="0"/>
  <p:cmAuthor id="192" name="Unknown User24" initials="U" lastIdx="1" clrIdx="0"/>
  <p:cmAuthor id="193" name="Unknown User25" initials="U" lastIdx="1" clrIdx="0"/>
  <p:cmAuthor id="194" name="Unknown User26" initials="U" lastIdx="1" clrIdx="1"/>
  <p:cmAuthor id="195" name="Unknown User27" initials="U" lastIdx="1" clrIdx="0"/>
  <p:cmAuthor id="196" name="Unknown User28" initials="U" lastIdx="3" clrIdx="1"/>
  <p:cmAuthor id="197" name="Unknown User11" initials="U" lastIdx="0" clrIdx="1"/>
  <p:cmAuthor id="198" name="Unknown User22" initials="U" lastIdx="1" clrIdx="0"/>
  <p:cmAuthor id="199" name="Unknown User23" initials="U" lastIdx="1" clrIdx="0"/>
  <p:cmAuthor id="200" name="未知的使用者112" initials="未" lastIdx="1" clrIdx="1"/>
  <p:cmAuthor id="201" name="未知的使用者107" initials="未" lastIdx="1" clrIdx="0"/>
  <p:cmAuthor id="202" name="未知的使用者108" initials="未" lastIdx="1" clrIdx="1"/>
  <p:cmAuthor id="203" name="未知的使用者98" initials="未" lastIdx="1" clrIdx="2"/>
  <p:cmAuthor id="204" name="未知的使用者145" initials="未" lastIdx="1" clrIdx="0"/>
  <p:cmAuthor id="205" name="未知的使用者146" initials="未" lastIdx="1" clrIdx="0"/>
  <p:cmAuthor id="206" name="未知的使用者147" initials="未" lastIdx="1" clrIdx="1"/>
  <p:cmAuthor id="207" name="未知的使用者144" initials="未" lastIdx="1" clrIdx="2"/>
  <p:cmAuthor id="208" name="未知的使用者133" initials="未" lastIdx="1" clrIdx="0"/>
  <p:cmAuthor id="209" name="未知的使用者134" initials="未" lastIdx="1" clrIdx="0"/>
  <p:cmAuthor id="210" name="未知的使用者135" initials="未" lastIdx="2" clrIdx="0"/>
  <p:cmAuthor id="211" name="未知的使用者136" initials="未" lastIdx="1" clrIdx="0"/>
  <p:cmAuthor id="212" name="未知的使用者137" initials="未" lastIdx="5" clrIdx="0"/>
  <p:cmAuthor id="47245819" name="群智集" initials="群" lastIdx="0" clrIdx="0"/>
  <p:cmAuthor id="213" name="未知的使用者138" initials="未" lastIdx="10" clrIdx="0"/>
  <p:cmAuthor id="47245820" name="18937034561@189.cn" initials="1" lastIdx="1" clrIdx="16"/>
  <p:cmAuthor id="214" name="未知的使用者139" initials="未" lastIdx="1" clrIdx="0"/>
  <p:cmAuthor id="47245821" name="宋玉坤" initials="W用" lastIdx="1" clrIdx="24"/>
  <p:cmAuthor id="215" name="未知的使用者140" initials="未" lastIdx="1" clrIdx="1"/>
  <p:cmAuthor id="47245822" name="xw" initials="x" lastIdx="4" clrIdx="42"/>
  <p:cmAuthor id="216" name="未知的使用者197" initials="未" lastIdx="8" clrIdx="0"/>
  <p:cmAuthor id="47245823" name="tangjp@mvtech.com.cn" initials="t" lastIdx="14" clrIdx="37"/>
  <p:cmAuthor id="217" name="未知的使用者162" initials="未" lastIdx="8" clrIdx="0"/>
  <p:cmAuthor id="218" name="未知的使用者163" initials="未" lastIdx="1" clrIdx="0"/>
  <p:cmAuthor id="219" name="未知的使用者170" initials="未" lastIdx="0" clrIdx="1"/>
  <p:cmAuthor id="220" name="未知的使用者165" initials="未" lastIdx="1" clrIdx="0"/>
  <p:cmAuthor id="221" name="未知的使用者158" initials="未" lastIdx="1" clrIdx="0"/>
  <p:cmAuthor id="222" name="未知的使用者148" initials="未" lastIdx="5" clrIdx="0"/>
  <p:cmAuthor id="223" name="未知的使用者149" initials="未" lastIdx="10" clrIdx="0"/>
  <p:cmAuthor id="224" name="未知的使用者150" initials="未" lastIdx="1" clrIdx="0"/>
  <p:cmAuthor id="225" name="未知的使用者166" initials="未" lastIdx="8" clrIdx="0"/>
  <p:cmAuthor id="226" name="未知的使用者167" initials="未" lastIdx="0" clrIdx="1"/>
  <p:cmAuthor id="227" name="未知的使用者159" initials="未" lastIdx="1" clrIdx="1"/>
  <p:cmAuthor id="228" name="未知的使用者160" initials="未" lastIdx="1" clrIdx="0"/>
  <p:cmAuthor id="229" name="未知的使用者168" initials="未" lastIdx="1" clrIdx="0"/>
  <p:cmAuthor id="230" name="未知的使用者169" initials="未" lastIdx="1" clrIdx="0"/>
  <p:cmAuthor id="231" name="未知的使用者117" initials="未" lastIdx="1" clrIdx="0"/>
  <p:cmAuthor id="232" name="未知的使用者115" initials="未" lastIdx="1" clrIdx="1"/>
  <p:cmAuthor id="233" name="未知的使用者119" initials="未" lastIdx="1" clrIdx="2"/>
  <p:cmAuthor id="234" name="clinchen" initials="c" lastIdx="0" clrIdx="1"/>
  <p:cmAuthor id="235" name="未知用户6" initials="未" lastIdx="1" clrIdx="0"/>
  <p:cmAuthor id="236" name="未知用户7" initials="未" lastIdx="1" clrIdx="0"/>
  <p:cmAuthor id="237" name="未知的使用者198" initials="未" lastIdx="1" clrIdx="0"/>
  <p:cmAuthor id="238" name="未知的使用者205" initials="未" lastIdx="0" clrIdx="1"/>
  <p:cmAuthor id="239" name="未知的使用者200" initials="未" lastIdx="1" clrIdx="0"/>
  <p:cmAuthor id="240" name="未知的使用者181" initials="未" lastIdx="1" clrIdx="0"/>
  <p:cmAuthor id="241" name="未知的使用者194" initials="未" lastIdx="1" clrIdx="0"/>
  <p:cmAuthor id="242" name="未知的使用者182" initials="未" lastIdx="1" clrIdx="0"/>
  <p:cmAuthor id="243" name="未知的使用者183" initials="未" lastIdx="2" clrIdx="0"/>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4" name="未知用户39" initials="未" lastIdx="1" clrIdx="0"/>
  <p:cmAuthor id="265" name="Admin" initials="A" lastIdx="1" clrIdx="2"/>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0" name="未知用户35" initials="未" lastIdx="1" clrIdx="0"/>
  <p:cmAuthor id="271" name="未知用户36" initials="未" lastIdx="1" clrIdx="0"/>
  <p:cmAuthor id="272" name="未知用户154" initials="" lastIdx="1" clrIdx="0"/>
  <p:cmAuthor id="273" name="未知用户23" initials="未"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33" initials="未" lastIdx="1" clrIdx="0"/>
  <p:cmAuthor id="279" name="未知用户34" initials="未" lastIdx="2" clrIdx="0"/>
  <p:cmAuthor id="280" name="huang gerrard" initials="h" lastIdx="2" clrIdx="0"/>
  <p:cmAuthor id="281" name="未知用户98" initials="未" lastIdx="8" clrIdx="0"/>
  <p:cmAuthor id="282" name="未知用户100" initials="未" lastIdx="1" clrIdx="0"/>
  <p:cmAuthor id="283" name="未知用户101" initials="未" lastIdx="1" clrIdx="0"/>
  <p:cmAuthor id="284" name="未知用户72" initials="" lastIdx="1" clrIdx="0"/>
  <p:cmAuthor id="285" name="未知用户73" initials="" lastIdx="2" clrIdx="0"/>
  <p:cmAuthor id="289" name="未知用户42" initials="未" lastIdx="1" clrIdx="0"/>
  <p:cmAuthor id="291" name="未知用户96" initials="" lastIdx="1" clrIdx="0"/>
  <p:cmAuthor id="565656472" name="Lijx" initials="L" lastIdx="6" clrIdx="4"/>
  <p:cmAuthor id="293" name="未知用户97" initials="" lastIdx="2" clrIdx="0"/>
  <p:cmAuthor id="294" name="未知用户40" initials="" lastIdx="5" clrIdx="1"/>
  <p:cmAuthor id="295" name="未知用户43" initials="" lastIdx="1" clrIdx="0"/>
  <p:cmAuthor id="298" name="未知用户26" initials="" lastIdx="1" clrIdx="0"/>
  <p:cmAuthor id="309" name="mapengcheng" initials="m" lastIdx="1" clrIdx="308"/>
  <p:cmAuthor id="311" name="郎蕊" initials="郎" lastIdx="4" clrIdx="310"/>
  <p:cmAuthor id="312" name="Chun Chung YEH" initials="C" lastIdx="2" clrIdx="0"/>
  <p:cmAuthor id="314" name="Vicky" initials="V" lastIdx="2" clrIdx="1"/>
  <p:cmAuthor id="315" name="刘云轩" initials="刘" lastIdx="2" clrIdx="0"/>
  <p:cmAuthor id="316" name="sharon" initials="s" lastIdx="5" clrIdx="84"/>
  <p:cmAuthor id="317" name="未知的使用者81" initials="未" lastIdx="1" clrIdx="0"/>
  <p:cmAuthor id="318" name="仝德志" initials="仝" lastIdx="1" clrIdx="0"/>
  <p:cmAuthor id="1554701838" name="宗哲" initials="宗" lastIdx="1" clrIdx="337"/>
  <p:cmAuthor id="321" name="未知用户111" initials="未" lastIdx="1" clrIdx="1"/>
  <p:cmAuthor id="322" name="alpha" initials="a" lastIdx="1" clrIdx="0"/>
  <p:cmAuthor id="326" name="未知的使用者75" initials="未" lastIdx="1" clrIdx="0"/>
  <p:cmAuthor id="327" name="未知的使用者77" initials="未" lastIdx="1" clrIdx="0"/>
  <p:cmAuthor id="328" name="未知的使用者78" initials="未" lastIdx="5" clrIdx="1"/>
  <p:cmAuthor id="329" name="未知的使用者79" initials="未" lastIdx="0" clrIdx="1"/>
  <p:cmAuthor id="330" name="未知的使用者80" initials="未" lastIdx="0" clrIdx="0"/>
  <p:cmAuthor id="331" name="未知的使用者82" initials="未" lastIdx="1" clrIdx="0"/>
  <p:cmAuthor id="332" name="未知的使用者83" initials="未" lastIdx="1" clrIdx="0"/>
  <p:cmAuthor id="333" name="未知的使用者84" initials="未" lastIdx="1" clrIdx="1"/>
  <p:cmAuthor id="1483810881" name="WPS_1679281038" initials="W" lastIdx="1" clrIdx="2"/>
  <p:cmAuthor id="334" name="未知的使用者85" initials="未" lastIdx="1" clrIdx="0"/>
  <p:cmAuthor id="335" name="未知的使用者87" initials="未" lastIdx="1" clrIdx="0"/>
  <p:cmAuthor id="336" name="未知的使用者90" initials="未" lastIdx="8" clrIdx="0"/>
  <p:cmAuthor id="337" name="未知的使用者91" initials="未" lastIdx="1" clrIdx="0"/>
  <p:cmAuthor id="338" name="CHRISYU" initials="C" lastIdx="1" clrIdx="0"/>
  <p:cmAuthor id="339" name="liucunri" initials="l" lastIdx="1" clrIdx="0"/>
  <p:cmAuthor id="340" name="Unknown User48" initials="U" lastIdx="8" clrIdx="0"/>
  <p:cmAuthor id="341" name="Unknown User52" initials="U" lastIdx="1" clrIdx="0"/>
  <p:cmAuthor id="342" name="Unknown User50" initials="U" lastIdx="1" clrIdx="0"/>
  <p:cmAuthor id="346" name="PC" initials="P" lastIdx="4" clrIdx="0"/>
  <p:cmAuthor id="352" name="未知的使用者161" initials="未" lastIdx="1" clrIdx="0"/>
  <p:cmAuthor id="355" name="未知的使用者152" initials="未" lastIdx="1" clrIdx="0"/>
  <p:cmAuthor id="360" name="未知的使用者176" initials="未" lastIdx="1" clrIdx="0"/>
  <p:cmAuthor id="362" name="未知的使用者178" initials="未" lastIdx="1" clrIdx="0"/>
  <p:cmAuthor id="363" name="未知的使用者179" initials="未" lastIdx="1" clrIdx="0"/>
  <p:cmAuthor id="364" name="未知的使用者180" initials="未" lastIdx="2" clrIdx="0"/>
  <p:cmAuthor id="475196944" name="姚琳" initials="姚" lastIdx="1133934" clrIdx="0"/>
  <p:cmAuthor id="475196945" name="chen" initials="c"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3300"/>
    <a:srgbClr val="FF9933"/>
    <a:srgbClr val="00F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3177"/>
  </p:normalViewPr>
  <p:slideViewPr>
    <p:cSldViewPr snapToGrid="0" showGuides="1">
      <p:cViewPr varScale="1">
        <p:scale>
          <a:sx n="62" d="100"/>
          <a:sy n="62" d="100"/>
        </p:scale>
        <p:origin x="-811" y="-91"/>
      </p:cViewPr>
      <p:guideLst>
        <p:guide orient="horz" pos="2143"/>
        <p:guide pos="3840"/>
      </p:guideLst>
    </p:cSldViewPr>
  </p:slideViewPr>
  <p:outlineViewPr>
    <p:cViewPr>
      <p:scale>
        <a:sx n="33" d="100"/>
        <a:sy n="33" d="100"/>
      </p:scale>
      <p:origin x="0" y="0"/>
    </p:cViewPr>
  </p:outlineViewPr>
  <p:notesTextViewPr>
    <p:cViewPr>
      <p:scale>
        <a:sx n="100" d="100"/>
        <a:sy n="100" d="100"/>
      </p:scale>
      <p:origin x="0" y="0"/>
    </p:cViewPr>
  </p:notesText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0" Type="http://schemas.openxmlformats.org/officeDocument/2006/relationships/commentAuthors" Target="commentAuthors.xml"/><Relationship Id="rId8" Type="http://schemas.openxmlformats.org/officeDocument/2006/relationships/slide" Target="slides/slide6.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notesMaster" Target="notesMasters/notesMaster1.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14.wmf"/><Relationship Id="rId5" Type="http://schemas.openxmlformats.org/officeDocument/2006/relationships/image" Target="../media/image13.emf"/><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14.wmf"/><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27.emf"/><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image" Target="../media/image24.emf"/></Relationships>
</file>

<file path=ppt/drawings/_rels/vmlDrawing7.vml.rels><?xml version="1.0" encoding="UTF-8" standalone="yes"?>
<Relationships xmlns="http://schemas.openxmlformats.org/package/2006/relationships"><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10.vml.rels><?xml version="1.0" encoding="UTF-8" standalone="yes"?>
<Relationships xmlns="http://schemas.openxmlformats.org/package/2006/relationships"><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image" Target="../media/image4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252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defRPr sz="1200">
                <a:ea typeface="宋体" panose="02000500000000000000"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22528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defRPr sz="1200">
                <a:ea typeface="宋体" panose="02000500000000000000"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78852" name="Rectangle 4"/>
          <p:cNvSpPr>
            <a:spLocks noRot="1" noTextEdit="1"/>
          </p:cNvSpPr>
          <p:nvPr>
            <p:ph type="sldImg" idx="2"/>
          </p:nvPr>
        </p:nvSpPr>
        <p:spPr>
          <a:xfrm>
            <a:off x="382588" y="685800"/>
            <a:ext cx="6092825" cy="3429000"/>
          </a:xfrm>
          <a:prstGeom prst="rect">
            <a:avLst/>
          </a:prstGeom>
          <a:noFill/>
          <a:ln w="9525" cap="flat" cmpd="sng">
            <a:solidFill>
              <a:srgbClr val="000000"/>
            </a:solidFill>
            <a:prstDash val="solid"/>
            <a:miter/>
            <a:headEnd type="none" w="med" len="med"/>
            <a:tailEnd type="none" w="med" len="med"/>
          </a:ln>
        </p:spPr>
      </p:sp>
      <p:sp>
        <p:nvSpPr>
          <p:cNvPr id="22528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p:txBody>
      </p:sp>
      <p:sp>
        <p:nvSpPr>
          <p:cNvPr id="22528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0"/>
              </a:spcBef>
              <a:defRPr sz="1200">
                <a:ea typeface="宋体" panose="02000500000000000000"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22528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fld>
            <a:endParaRPr lang="en-US" altLang="zh-CN"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281" y="2130426"/>
            <a:ext cx="10361851"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562" y="3886200"/>
            <a:ext cx="8533289"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39678" y="0"/>
            <a:ext cx="10361851"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914281" y="1543050"/>
            <a:ext cx="5079339" cy="45529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6196793" y="1543051"/>
            <a:ext cx="5079339" cy="22002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196793" y="3895725"/>
            <a:ext cx="5079339" cy="22002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8" name="灯片编号占位符 7"/>
          <p:cNvSpPr>
            <a:spLocks noGrp="1"/>
          </p:cNvSpPr>
          <p:nvPr>
            <p:ph type="sldNum" sz="quarter" idx="12"/>
          </p:nvPr>
        </p:nvSpPr>
        <p:spPr/>
        <p:txBody>
          <a:bodyPr/>
          <a:p>
            <a:pPr lvl="0" eaLnBrk="1" hangingPunct="1">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7106" name="Rectangle 2"/>
          <p:cNvSpPr>
            <a:spLocks noGrp="1"/>
          </p:cNvSpPr>
          <p:nvPr>
            <p:ph type="title"/>
          </p:nvPr>
        </p:nvSpPr>
        <p:spPr>
          <a:xfrm>
            <a:off x="939800" y="0"/>
            <a:ext cx="10361613"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47107" name="Rectangle 3"/>
          <p:cNvSpPr>
            <a:spLocks noGrp="1"/>
          </p:cNvSpPr>
          <p:nvPr>
            <p:ph type="body" idx="1"/>
          </p:nvPr>
        </p:nvSpPr>
        <p:spPr>
          <a:xfrm>
            <a:off x="914400" y="1543050"/>
            <a:ext cx="10361613" cy="455295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defRPr sz="1400">
                <a:ea typeface="宋体" panose="02000500000000000000"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029" name="Rectangle 5"/>
          <p:cNvSpPr>
            <a:spLocks noGrp="1" noChangeArrowheads="1"/>
          </p:cNvSpPr>
          <p:nvPr>
            <p:ph type="ftr" sz="quarter" idx="3"/>
          </p:nvPr>
        </p:nvSpPr>
        <p:spPr bwMode="auto">
          <a:xfrm>
            <a:off x="4165600" y="6248400"/>
            <a:ext cx="3859213"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defRPr sz="1400">
                <a:ea typeface="宋体" panose="02000500000000000000"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030" name="Rectangle 6"/>
          <p:cNvSpPr>
            <a:spLocks noGrp="1" noChangeArrowheads="1"/>
          </p:cNvSpPr>
          <p:nvPr>
            <p:ph type="sldNum" sz="quarter" idx="4"/>
          </p:nvPr>
        </p:nvSpPr>
        <p:spPr bwMode="auto">
          <a:xfrm>
            <a:off x="8736013" y="6248400"/>
            <a:ext cx="2540000" cy="45720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rtl="0" eaLnBrk="0" fontAlgn="base" hangingPunct="0">
        <a:spcBef>
          <a:spcPct val="0"/>
        </a:spcBef>
        <a:spcAft>
          <a:spcPct val="0"/>
        </a:spcAft>
        <a:defRPr kumimoji="1" sz="3200">
          <a:solidFill>
            <a:srgbClr val="FF0000"/>
          </a:solidFill>
          <a:latin typeface="+mj-lt"/>
          <a:ea typeface="+mj-ea"/>
          <a:cs typeface="+mj-cs"/>
        </a:defRPr>
      </a:lvl1pPr>
      <a:lvl2pPr algn="ctr" rtl="0" eaLnBrk="0" fontAlgn="base" hangingPunct="0">
        <a:spcBef>
          <a:spcPct val="0"/>
        </a:spcBef>
        <a:spcAft>
          <a:spcPct val="0"/>
        </a:spcAft>
        <a:defRPr kumimoji="1" sz="3200">
          <a:solidFill>
            <a:srgbClr val="FF0000"/>
          </a:solidFill>
          <a:latin typeface="Arial" panose="02080604020202020204" pitchFamily="34" charset="0"/>
          <a:ea typeface="黑体" panose="02000500000000000000" pitchFamily="49" charset="-122"/>
        </a:defRPr>
      </a:lvl2pPr>
      <a:lvl3pPr algn="ctr" rtl="0" eaLnBrk="0" fontAlgn="base" hangingPunct="0">
        <a:spcBef>
          <a:spcPct val="0"/>
        </a:spcBef>
        <a:spcAft>
          <a:spcPct val="0"/>
        </a:spcAft>
        <a:defRPr kumimoji="1" sz="3200">
          <a:solidFill>
            <a:srgbClr val="FF0000"/>
          </a:solidFill>
          <a:latin typeface="Arial" panose="02080604020202020204" pitchFamily="34" charset="0"/>
          <a:ea typeface="黑体" panose="02000500000000000000" pitchFamily="49" charset="-122"/>
        </a:defRPr>
      </a:lvl3pPr>
      <a:lvl4pPr algn="ctr" rtl="0" eaLnBrk="0" fontAlgn="base" hangingPunct="0">
        <a:spcBef>
          <a:spcPct val="0"/>
        </a:spcBef>
        <a:spcAft>
          <a:spcPct val="0"/>
        </a:spcAft>
        <a:defRPr kumimoji="1" sz="3200">
          <a:solidFill>
            <a:srgbClr val="FF0000"/>
          </a:solidFill>
          <a:latin typeface="Arial" panose="02080604020202020204" pitchFamily="34" charset="0"/>
          <a:ea typeface="黑体" panose="02000500000000000000" pitchFamily="49" charset="-122"/>
        </a:defRPr>
      </a:lvl4pPr>
      <a:lvl5pPr algn="ctr" rtl="0" eaLnBrk="0" fontAlgn="base" hangingPunct="0">
        <a:spcBef>
          <a:spcPct val="0"/>
        </a:spcBef>
        <a:spcAft>
          <a:spcPct val="0"/>
        </a:spcAft>
        <a:defRPr kumimoji="1" sz="3200">
          <a:solidFill>
            <a:srgbClr val="FF0000"/>
          </a:solidFill>
          <a:latin typeface="Arial" panose="02080604020202020204" pitchFamily="34" charset="0"/>
          <a:ea typeface="黑体" panose="02000500000000000000" pitchFamily="49" charset="-122"/>
        </a:defRPr>
      </a:lvl5pPr>
      <a:lvl6pPr marL="4572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6pPr>
      <a:lvl7pPr marL="9144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7pPr>
      <a:lvl8pPr marL="13716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8pPr>
      <a:lvl9pPr marL="18288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9pPr>
    </p:titleStyle>
    <p:bodyStyle>
      <a:lvl1pPr marL="342900" indent="-342900" algn="l" rtl="0" eaLnBrk="0" fontAlgn="base" hangingPunct="0">
        <a:lnSpc>
          <a:spcPct val="150000"/>
        </a:lnSpc>
        <a:spcBef>
          <a:spcPts val="600"/>
        </a:spcBef>
        <a:spcAft>
          <a:spcPct val="0"/>
        </a:spcAft>
        <a:buChar char="•"/>
        <a:defRPr kumimoji="1" sz="2000" b="1">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kumimoji="1"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kumimoji="1" sz="1400" b="1">
          <a:solidFill>
            <a:schemeClr val="tx1"/>
          </a:solidFill>
          <a:latin typeface="+mn-ea"/>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emf"/></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4.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9" Type="http://schemas.openxmlformats.org/officeDocument/2006/relationships/oleObject" Target="../embeddings/Document6.doc"/><Relationship Id="rId8" Type="http://schemas.openxmlformats.org/officeDocument/2006/relationships/oleObject" Target="../embeddings/Document5.doc"/><Relationship Id="rId7" Type="http://schemas.openxmlformats.org/officeDocument/2006/relationships/oleObject" Target="../embeddings/Document4.doc"/><Relationship Id="rId6" Type="http://schemas.openxmlformats.org/officeDocument/2006/relationships/image" Target="../media/image11.wmf"/><Relationship Id="rId5" Type="http://schemas.openxmlformats.org/officeDocument/2006/relationships/oleObject" Target="../embeddings/Document3.doc"/><Relationship Id="rId4" Type="http://schemas.openxmlformats.org/officeDocument/2006/relationships/image" Target="../media/image10.wmf"/><Relationship Id="rId3" Type="http://schemas.openxmlformats.org/officeDocument/2006/relationships/oleObject" Target="../embeddings/Document2.doc"/><Relationship Id="rId2" Type="http://schemas.openxmlformats.org/officeDocument/2006/relationships/image" Target="../media/image9.wmf"/><Relationship Id="rId17" Type="http://schemas.openxmlformats.org/officeDocument/2006/relationships/vmlDrawing" Target="../drawings/vmlDrawing2.vml"/><Relationship Id="rId16" Type="http://schemas.openxmlformats.org/officeDocument/2006/relationships/slideLayout" Target="../slideLayouts/slideLayout2.xml"/><Relationship Id="rId15" Type="http://schemas.openxmlformats.org/officeDocument/2006/relationships/image" Target="../media/image14.wmf"/><Relationship Id="rId14" Type="http://schemas.openxmlformats.org/officeDocument/2006/relationships/oleObject" Target="../embeddings/Document9.doc"/><Relationship Id="rId13" Type="http://schemas.openxmlformats.org/officeDocument/2006/relationships/image" Target="../media/image13.emf"/><Relationship Id="rId12" Type="http://schemas.openxmlformats.org/officeDocument/2006/relationships/oleObject" Target="../embeddings/Document8.doc"/><Relationship Id="rId11" Type="http://schemas.openxmlformats.org/officeDocument/2006/relationships/image" Target="../media/image12.wmf"/><Relationship Id="rId10" Type="http://schemas.openxmlformats.org/officeDocument/2006/relationships/oleObject" Target="../embeddings/Document7.doc"/><Relationship Id="rId1" Type="http://schemas.openxmlformats.org/officeDocument/2006/relationships/oleObject" Target="../embeddings/Document1.doc"/></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emf"/></Relationships>
</file>

<file path=ppt/slides/_rels/slide19.xml.rels><?xml version="1.0" encoding="UTF-8" standalone="yes"?>
<Relationships xmlns="http://schemas.openxmlformats.org/package/2006/relationships"><Relationship Id="rId9" Type="http://schemas.openxmlformats.org/officeDocument/2006/relationships/oleObject" Target="../embeddings/Document14.doc"/><Relationship Id="rId8" Type="http://schemas.openxmlformats.org/officeDocument/2006/relationships/image" Target="../media/image12.wmf"/><Relationship Id="rId7" Type="http://schemas.openxmlformats.org/officeDocument/2006/relationships/oleObject" Target="../embeddings/Document13.doc"/><Relationship Id="rId6" Type="http://schemas.openxmlformats.org/officeDocument/2006/relationships/image" Target="../media/image11.wmf"/><Relationship Id="rId5" Type="http://schemas.openxmlformats.org/officeDocument/2006/relationships/oleObject" Target="../embeddings/Document12.doc"/><Relationship Id="rId4" Type="http://schemas.openxmlformats.org/officeDocument/2006/relationships/image" Target="../media/image10.wmf"/><Relationship Id="rId3" Type="http://schemas.openxmlformats.org/officeDocument/2006/relationships/oleObject" Target="../embeddings/Document11.doc"/><Relationship Id="rId2" Type="http://schemas.openxmlformats.org/officeDocument/2006/relationships/image" Target="../media/image9.wmf"/><Relationship Id="rId13" Type="http://schemas.openxmlformats.org/officeDocument/2006/relationships/vmlDrawing" Target="../drawings/vmlDrawing3.vml"/><Relationship Id="rId12" Type="http://schemas.openxmlformats.org/officeDocument/2006/relationships/slideLayout" Target="../slideLayouts/slideLayout2.xml"/><Relationship Id="rId11" Type="http://schemas.openxmlformats.org/officeDocument/2006/relationships/oleObject" Target="../embeddings/Document15.doc"/><Relationship Id="rId10" Type="http://schemas.openxmlformats.org/officeDocument/2006/relationships/image" Target="../media/image14.wmf"/><Relationship Id="rId1" Type="http://schemas.openxmlformats.org/officeDocument/2006/relationships/oleObject" Target="../embeddings/Document10.doc"/></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7.em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emf"/></Relationships>
</file>

<file path=ppt/slides/_rels/slide25.xml.rels><?xml version="1.0" encoding="UTF-8" standalone="yes"?>
<Relationships xmlns="http://schemas.openxmlformats.org/package/2006/relationships"><Relationship Id="rId9" Type="http://schemas.openxmlformats.org/officeDocument/2006/relationships/oleObject" Target="../embeddings/Document20.doc"/><Relationship Id="rId8" Type="http://schemas.openxmlformats.org/officeDocument/2006/relationships/image" Target="../media/image22.wmf"/><Relationship Id="rId7" Type="http://schemas.openxmlformats.org/officeDocument/2006/relationships/oleObject" Target="../embeddings/Document19.doc"/><Relationship Id="rId6" Type="http://schemas.openxmlformats.org/officeDocument/2006/relationships/image" Target="../media/image21.wmf"/><Relationship Id="rId5" Type="http://schemas.openxmlformats.org/officeDocument/2006/relationships/oleObject" Target="../embeddings/Document18.doc"/><Relationship Id="rId4" Type="http://schemas.openxmlformats.org/officeDocument/2006/relationships/image" Target="../media/image20.wmf"/><Relationship Id="rId3" Type="http://schemas.openxmlformats.org/officeDocument/2006/relationships/oleObject" Target="../embeddings/Document17.doc"/><Relationship Id="rId2" Type="http://schemas.openxmlformats.org/officeDocument/2006/relationships/image" Target="../media/image19.wmf"/><Relationship Id="rId12" Type="http://schemas.openxmlformats.org/officeDocument/2006/relationships/vmlDrawing" Target="../drawings/vmlDrawing4.vml"/><Relationship Id="rId11" Type="http://schemas.openxmlformats.org/officeDocument/2006/relationships/slideLayout" Target="../slideLayouts/slideLayout4.xml"/><Relationship Id="rId10" Type="http://schemas.openxmlformats.org/officeDocument/2006/relationships/image" Target="../media/image23.wmf"/><Relationship Id="rId1" Type="http://schemas.openxmlformats.org/officeDocument/2006/relationships/oleObject" Target="../embeddings/Document16.doc"/></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9" Type="http://schemas.openxmlformats.org/officeDocument/2006/relationships/oleObject" Target="../embeddings/Document25.doc"/><Relationship Id="rId8" Type="http://schemas.openxmlformats.org/officeDocument/2006/relationships/image" Target="../media/image22.wmf"/><Relationship Id="rId7" Type="http://schemas.openxmlformats.org/officeDocument/2006/relationships/oleObject" Target="../embeddings/Document24.doc"/><Relationship Id="rId6" Type="http://schemas.openxmlformats.org/officeDocument/2006/relationships/image" Target="../media/image21.wmf"/><Relationship Id="rId5" Type="http://schemas.openxmlformats.org/officeDocument/2006/relationships/oleObject" Target="../embeddings/Document23.doc"/><Relationship Id="rId4" Type="http://schemas.openxmlformats.org/officeDocument/2006/relationships/image" Target="../media/image20.wmf"/><Relationship Id="rId3" Type="http://schemas.openxmlformats.org/officeDocument/2006/relationships/oleObject" Target="../embeddings/Document22.doc"/><Relationship Id="rId2" Type="http://schemas.openxmlformats.org/officeDocument/2006/relationships/image" Target="../media/image19.wmf"/><Relationship Id="rId12" Type="http://schemas.openxmlformats.org/officeDocument/2006/relationships/vmlDrawing" Target="../drawings/vmlDrawing5.vml"/><Relationship Id="rId11" Type="http://schemas.openxmlformats.org/officeDocument/2006/relationships/slideLayout" Target="../slideLayouts/slideLayout2.xml"/><Relationship Id="rId10" Type="http://schemas.openxmlformats.org/officeDocument/2006/relationships/image" Target="../media/image23.wmf"/><Relationship Id="rId1" Type="http://schemas.openxmlformats.org/officeDocument/2006/relationships/oleObject" Target="../embeddings/Document21.doc"/></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9" Type="http://schemas.openxmlformats.org/officeDocument/2006/relationships/oleObject" Target="../embeddings/Document32.doc"/><Relationship Id="rId8" Type="http://schemas.openxmlformats.org/officeDocument/2006/relationships/image" Target="../media/image25.emf"/><Relationship Id="rId7" Type="http://schemas.openxmlformats.org/officeDocument/2006/relationships/oleObject" Target="../embeddings/Document31.doc"/><Relationship Id="rId6" Type="http://schemas.openxmlformats.org/officeDocument/2006/relationships/oleObject" Target="../embeddings/Document30.doc"/><Relationship Id="rId5" Type="http://schemas.openxmlformats.org/officeDocument/2006/relationships/oleObject" Target="../embeddings/Document29.doc"/><Relationship Id="rId4" Type="http://schemas.openxmlformats.org/officeDocument/2006/relationships/oleObject" Target="../embeddings/Document28.doc"/><Relationship Id="rId3" Type="http://schemas.openxmlformats.org/officeDocument/2006/relationships/oleObject" Target="../embeddings/Document27.doc"/><Relationship Id="rId2" Type="http://schemas.openxmlformats.org/officeDocument/2006/relationships/image" Target="../media/image24.emf"/><Relationship Id="rId16" Type="http://schemas.openxmlformats.org/officeDocument/2006/relationships/vmlDrawing" Target="../drawings/vmlDrawing6.vml"/><Relationship Id="rId15" Type="http://schemas.openxmlformats.org/officeDocument/2006/relationships/slideLayout" Target="../slideLayouts/slideLayout2.xml"/><Relationship Id="rId14" Type="http://schemas.openxmlformats.org/officeDocument/2006/relationships/image" Target="../media/image27.emf"/><Relationship Id="rId13" Type="http://schemas.openxmlformats.org/officeDocument/2006/relationships/oleObject" Target="../embeddings/Document35.doc"/><Relationship Id="rId12" Type="http://schemas.openxmlformats.org/officeDocument/2006/relationships/oleObject" Target="../embeddings/Document34.doc"/><Relationship Id="rId11" Type="http://schemas.openxmlformats.org/officeDocument/2006/relationships/oleObject" Target="../embeddings/Document33.doc"/><Relationship Id="rId10" Type="http://schemas.openxmlformats.org/officeDocument/2006/relationships/image" Target="../media/image26.emf"/><Relationship Id="rId1" Type="http://schemas.openxmlformats.org/officeDocument/2006/relationships/oleObject" Target="../embeddings/Document26.doc"/></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9" Type="http://schemas.openxmlformats.org/officeDocument/2006/relationships/oleObject" Target="../embeddings/Document40.doc"/><Relationship Id="rId8" Type="http://schemas.openxmlformats.org/officeDocument/2006/relationships/image" Target="../media/image22.wmf"/><Relationship Id="rId7" Type="http://schemas.openxmlformats.org/officeDocument/2006/relationships/oleObject" Target="../embeddings/Document39.doc"/><Relationship Id="rId6" Type="http://schemas.openxmlformats.org/officeDocument/2006/relationships/image" Target="../media/image21.wmf"/><Relationship Id="rId5" Type="http://schemas.openxmlformats.org/officeDocument/2006/relationships/oleObject" Target="../embeddings/Document38.doc"/><Relationship Id="rId4" Type="http://schemas.openxmlformats.org/officeDocument/2006/relationships/image" Target="../media/image20.wmf"/><Relationship Id="rId3" Type="http://schemas.openxmlformats.org/officeDocument/2006/relationships/oleObject" Target="../embeddings/Document37.doc"/><Relationship Id="rId2" Type="http://schemas.openxmlformats.org/officeDocument/2006/relationships/image" Target="../media/image19.wmf"/><Relationship Id="rId12" Type="http://schemas.openxmlformats.org/officeDocument/2006/relationships/vmlDrawing" Target="../drawings/vmlDrawing7.vml"/><Relationship Id="rId11" Type="http://schemas.openxmlformats.org/officeDocument/2006/relationships/slideLayout" Target="../slideLayouts/slideLayout5.xml"/><Relationship Id="rId10" Type="http://schemas.openxmlformats.org/officeDocument/2006/relationships/image" Target="../media/image23.wmf"/><Relationship Id="rId1" Type="http://schemas.openxmlformats.org/officeDocument/2006/relationships/oleObject" Target="../embeddings/Document36.doc"/></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emf"/></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e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em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emf"/></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e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emf"/></Relationships>
</file>

<file path=ppt/slides/_rels/slide38.xml.rels><?xml version="1.0" encoding="UTF-8" standalone="yes"?>
<Relationships xmlns="http://schemas.openxmlformats.org/package/2006/relationships"><Relationship Id="rId9" Type="http://schemas.openxmlformats.org/officeDocument/2006/relationships/oleObject" Target="../embeddings/Document45.doc"/><Relationship Id="rId8" Type="http://schemas.openxmlformats.org/officeDocument/2006/relationships/image" Target="../media/image22.wmf"/><Relationship Id="rId7" Type="http://schemas.openxmlformats.org/officeDocument/2006/relationships/oleObject" Target="../embeddings/Document44.doc"/><Relationship Id="rId6" Type="http://schemas.openxmlformats.org/officeDocument/2006/relationships/image" Target="../media/image21.wmf"/><Relationship Id="rId5" Type="http://schemas.openxmlformats.org/officeDocument/2006/relationships/oleObject" Target="../embeddings/Document43.doc"/><Relationship Id="rId4" Type="http://schemas.openxmlformats.org/officeDocument/2006/relationships/image" Target="../media/image20.wmf"/><Relationship Id="rId3" Type="http://schemas.openxmlformats.org/officeDocument/2006/relationships/oleObject" Target="../embeddings/Document42.doc"/><Relationship Id="rId2" Type="http://schemas.openxmlformats.org/officeDocument/2006/relationships/image" Target="../media/image19.wmf"/><Relationship Id="rId17" Type="http://schemas.openxmlformats.org/officeDocument/2006/relationships/vmlDrawing" Target="../drawings/vmlDrawing8.vml"/><Relationship Id="rId16" Type="http://schemas.openxmlformats.org/officeDocument/2006/relationships/slideLayout" Target="../slideLayouts/slideLayout2.xml"/><Relationship Id="rId15" Type="http://schemas.openxmlformats.org/officeDocument/2006/relationships/oleObject" Target="../embeddings/Document50.doc"/><Relationship Id="rId14" Type="http://schemas.openxmlformats.org/officeDocument/2006/relationships/oleObject" Target="../embeddings/Document49.doc"/><Relationship Id="rId13" Type="http://schemas.openxmlformats.org/officeDocument/2006/relationships/oleObject" Target="../embeddings/Document48.doc"/><Relationship Id="rId12" Type="http://schemas.openxmlformats.org/officeDocument/2006/relationships/oleObject" Target="../embeddings/Document47.doc"/><Relationship Id="rId11" Type="http://schemas.openxmlformats.org/officeDocument/2006/relationships/oleObject" Target="../embeddings/Document46.doc"/><Relationship Id="rId10" Type="http://schemas.openxmlformats.org/officeDocument/2006/relationships/image" Target="../media/image23.wmf"/><Relationship Id="rId1" Type="http://schemas.openxmlformats.org/officeDocument/2006/relationships/oleObject" Target="../embeddings/Document41.doc"/></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emf"/></Relationships>
</file>

<file path=ppt/slides/_rels/slide40.xml.rels><?xml version="1.0" encoding="UTF-8" standalone="yes"?>
<Relationships xmlns="http://schemas.openxmlformats.org/package/2006/relationships"><Relationship Id="rId9" Type="http://schemas.openxmlformats.org/officeDocument/2006/relationships/oleObject" Target="../embeddings/Document55.doc"/><Relationship Id="rId8" Type="http://schemas.openxmlformats.org/officeDocument/2006/relationships/image" Target="../media/image22.wmf"/><Relationship Id="rId7" Type="http://schemas.openxmlformats.org/officeDocument/2006/relationships/oleObject" Target="../embeddings/Document54.doc"/><Relationship Id="rId6" Type="http://schemas.openxmlformats.org/officeDocument/2006/relationships/image" Target="../media/image21.wmf"/><Relationship Id="rId5" Type="http://schemas.openxmlformats.org/officeDocument/2006/relationships/oleObject" Target="../embeddings/Document53.doc"/><Relationship Id="rId4" Type="http://schemas.openxmlformats.org/officeDocument/2006/relationships/image" Target="../media/image20.wmf"/><Relationship Id="rId3" Type="http://schemas.openxmlformats.org/officeDocument/2006/relationships/oleObject" Target="../embeddings/Document52.doc"/><Relationship Id="rId2" Type="http://schemas.openxmlformats.org/officeDocument/2006/relationships/image" Target="../media/image19.wmf"/><Relationship Id="rId12" Type="http://schemas.openxmlformats.org/officeDocument/2006/relationships/vmlDrawing" Target="../drawings/vmlDrawing9.vml"/><Relationship Id="rId11" Type="http://schemas.openxmlformats.org/officeDocument/2006/relationships/slideLayout" Target="../slideLayouts/slideLayout2.xml"/><Relationship Id="rId10" Type="http://schemas.openxmlformats.org/officeDocument/2006/relationships/image" Target="../media/image23.wmf"/><Relationship Id="rId1" Type="http://schemas.openxmlformats.org/officeDocument/2006/relationships/oleObject" Target="../embeddings/Document51.doc"/></Relationships>
</file>

<file path=ppt/slides/_rels/slide41.xml.rels><?xml version="1.0" encoding="UTF-8" standalone="yes"?>
<Relationships xmlns="http://schemas.openxmlformats.org/package/2006/relationships"><Relationship Id="rId9" Type="http://schemas.openxmlformats.org/officeDocument/2006/relationships/oleObject" Target="../embeddings/Document60.doc"/><Relationship Id="rId8" Type="http://schemas.openxmlformats.org/officeDocument/2006/relationships/image" Target="../media/image22.wmf"/><Relationship Id="rId7" Type="http://schemas.openxmlformats.org/officeDocument/2006/relationships/oleObject" Target="../embeddings/Document59.doc"/><Relationship Id="rId6" Type="http://schemas.openxmlformats.org/officeDocument/2006/relationships/image" Target="../media/image21.wmf"/><Relationship Id="rId5" Type="http://schemas.openxmlformats.org/officeDocument/2006/relationships/oleObject" Target="../embeddings/Document58.doc"/><Relationship Id="rId4" Type="http://schemas.openxmlformats.org/officeDocument/2006/relationships/image" Target="../media/image20.wmf"/><Relationship Id="rId3" Type="http://schemas.openxmlformats.org/officeDocument/2006/relationships/oleObject" Target="../embeddings/Document57.doc"/><Relationship Id="rId2" Type="http://schemas.openxmlformats.org/officeDocument/2006/relationships/image" Target="../media/image19.wmf"/><Relationship Id="rId12" Type="http://schemas.openxmlformats.org/officeDocument/2006/relationships/vmlDrawing" Target="../drawings/vmlDrawing10.vml"/><Relationship Id="rId11" Type="http://schemas.openxmlformats.org/officeDocument/2006/relationships/slideLayout" Target="../slideLayouts/slideLayout2.xml"/><Relationship Id="rId10" Type="http://schemas.openxmlformats.org/officeDocument/2006/relationships/image" Target="../media/image23.wmf"/><Relationship Id="rId1" Type="http://schemas.openxmlformats.org/officeDocument/2006/relationships/oleObject" Target="../embeddings/Document56.doc"/></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0.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34.png"/><Relationship Id="rId7" Type="http://schemas.openxmlformats.org/officeDocument/2006/relationships/oleObject" Target="../embeddings/Document64.doc"/><Relationship Id="rId6" Type="http://schemas.openxmlformats.org/officeDocument/2006/relationships/image" Target="../media/image33.png"/><Relationship Id="rId5" Type="http://schemas.openxmlformats.org/officeDocument/2006/relationships/oleObject" Target="../embeddings/Document63.doc"/><Relationship Id="rId4" Type="http://schemas.openxmlformats.org/officeDocument/2006/relationships/image" Target="../media/image32.png"/><Relationship Id="rId3" Type="http://schemas.openxmlformats.org/officeDocument/2006/relationships/oleObject" Target="../embeddings/Document62.doc"/><Relationship Id="rId2" Type="http://schemas.openxmlformats.org/officeDocument/2006/relationships/image" Target="../media/image31.png"/><Relationship Id="rId10" Type="http://schemas.openxmlformats.org/officeDocument/2006/relationships/vmlDrawing" Target="../drawings/vmlDrawing11.vml"/><Relationship Id="rId1" Type="http://schemas.openxmlformats.org/officeDocument/2006/relationships/oleObject" Target="../embeddings/Document61.doc"/></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5.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emf"/></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emf"/></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emf"/></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emf"/></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emf"/></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7.emf"/></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emf"/></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emf"/></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0.emf"/></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5.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oleObject" Target="../embeddings/oleObject4.bin"/><Relationship Id="rId4" Type="http://schemas.openxmlformats.org/officeDocument/2006/relationships/image" Target="../media/image37.png"/><Relationship Id="rId3" Type="http://schemas.openxmlformats.org/officeDocument/2006/relationships/oleObject" Target="../embeddings/oleObject3.bin"/><Relationship Id="rId2" Type="http://schemas.openxmlformats.org/officeDocument/2006/relationships/image" Target="../media/image36.png"/><Relationship Id="rId1" Type="http://schemas.openxmlformats.org/officeDocument/2006/relationships/oleObject" Target="../embeddings/oleObject2.bin"/></Relationships>
</file>

<file path=ppt/slides/_rels/slide66.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42.png"/><Relationship Id="rId7" Type="http://schemas.openxmlformats.org/officeDocument/2006/relationships/oleObject" Target="../embeddings/oleObject8.bin"/><Relationship Id="rId6" Type="http://schemas.openxmlformats.org/officeDocument/2006/relationships/image" Target="../media/image41.png"/><Relationship Id="rId5" Type="http://schemas.openxmlformats.org/officeDocument/2006/relationships/oleObject" Target="../embeddings/oleObject7.bin"/><Relationship Id="rId4" Type="http://schemas.openxmlformats.org/officeDocument/2006/relationships/image" Target="../media/image40.png"/><Relationship Id="rId3" Type="http://schemas.openxmlformats.org/officeDocument/2006/relationships/oleObject" Target="../embeddings/oleObject6.bin"/><Relationship Id="rId2" Type="http://schemas.openxmlformats.org/officeDocument/2006/relationships/image" Target="../media/image39.png"/><Relationship Id="rId10" Type="http://schemas.openxmlformats.org/officeDocument/2006/relationships/vmlDrawing" Target="../drawings/vmlDrawing13.vml"/><Relationship Id="rId1" Type="http://schemas.openxmlformats.org/officeDocument/2006/relationships/oleObject" Target="../embeddings/oleObject5.bin"/></Relationships>
</file>

<file path=ppt/slides/_rels/slide67.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4.xml"/><Relationship Id="rId4" Type="http://schemas.openxmlformats.org/officeDocument/2006/relationships/image" Target="../media/image44.png"/><Relationship Id="rId3" Type="http://schemas.openxmlformats.org/officeDocument/2006/relationships/oleObject" Target="../embeddings/oleObject10.bin"/><Relationship Id="rId2" Type="http://schemas.openxmlformats.org/officeDocument/2006/relationships/image" Target="../media/image43.png"/><Relationship Id="rId1" Type="http://schemas.openxmlformats.org/officeDocument/2006/relationships/oleObject" Target="../embeddings/oleObject9.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8131" name="Rectangle 115"/>
          <p:cNvSpPr/>
          <p:nvPr/>
        </p:nvSpPr>
        <p:spPr>
          <a:xfrm>
            <a:off x="996950" y="1530350"/>
            <a:ext cx="10361613" cy="1143000"/>
          </a:xfrm>
          <a:prstGeom prst="rect">
            <a:avLst/>
          </a:prstGeom>
          <a:noFill/>
          <a:ln w="9525">
            <a:noFill/>
          </a:ln>
        </p:spPr>
        <p:txBody>
          <a:bodyPr anchor="ctr" anchorCtr="0"/>
          <a:p>
            <a:pPr algn="ctr" eaLnBrk="1" hangingPunct="1"/>
            <a:r>
              <a:rPr lang="zh-CN" altLang="en-US" sz="4400" dirty="0">
                <a:solidFill>
                  <a:srgbClr val="FF0000"/>
                </a:solidFill>
                <a:latin typeface="Arial" panose="02080604020202020204" pitchFamily="34" charset="0"/>
                <a:ea typeface="黑体" panose="02000500000000000000" pitchFamily="49" charset="-122"/>
              </a:rPr>
              <a:t>计算机体系结构</a:t>
            </a:r>
            <a:endParaRPr lang="zh-CN" altLang="en-US" sz="4400" dirty="0">
              <a:solidFill>
                <a:srgbClr val="FF0000"/>
              </a:solidFill>
              <a:latin typeface="Arial" panose="02080604020202020204" pitchFamily="34" charset="0"/>
              <a:ea typeface="黑体" panose="02000500000000000000" pitchFamily="49" charset="-122"/>
            </a:endParaRPr>
          </a:p>
        </p:txBody>
      </p:sp>
      <p:sp>
        <p:nvSpPr>
          <p:cNvPr id="48132" name="Rectangle 116"/>
          <p:cNvSpPr/>
          <p:nvPr/>
        </p:nvSpPr>
        <p:spPr>
          <a:xfrm>
            <a:off x="1828800" y="3886200"/>
            <a:ext cx="8532813" cy="838200"/>
          </a:xfrm>
          <a:prstGeom prst="rect">
            <a:avLst/>
          </a:prstGeom>
          <a:noFill/>
          <a:ln w="9525">
            <a:noFill/>
          </a:ln>
        </p:spPr>
        <p:txBody>
          <a:bodyPr/>
          <a:p>
            <a:pPr algn="ctr" eaLnBrk="1" hangingPunct="1">
              <a:lnSpc>
                <a:spcPct val="110000"/>
              </a:lnSpc>
              <a:spcBef>
                <a:spcPct val="10000"/>
              </a:spcBef>
            </a:pPr>
            <a:r>
              <a:rPr lang="zh-CN" altLang="en-US" sz="2800" b="1" dirty="0">
                <a:latin typeface="Times New Roman" pitchFamily="18" charset="0"/>
              </a:rPr>
              <a:t>胡伟武、汪文祥</a:t>
            </a:r>
            <a:endParaRPr lang="zh-CN" altLang="en-US" sz="2800" b="1" dirty="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pic>
        <p:nvPicPr>
          <p:cNvPr id="49155" name="Picture 2" descr="841286100824181"/>
          <p:cNvPicPr>
            <a:picLocks noChangeAspect="1"/>
          </p:cNvPicPr>
          <p:nvPr/>
        </p:nvPicPr>
        <p:blipFill>
          <a:blip r:embed="rId1"/>
          <a:stretch>
            <a:fillRect/>
          </a:stretch>
        </p:blipFill>
        <p:spPr>
          <a:xfrm>
            <a:off x="563563" y="1306513"/>
            <a:ext cx="11123612" cy="5173662"/>
          </a:xfrm>
          <a:prstGeom prst="rect">
            <a:avLst/>
          </a:prstGeom>
          <a:noFill/>
          <a:ln w="9525">
            <a:noFill/>
          </a:ln>
        </p:spPr>
      </p:pic>
      <p:sp>
        <p:nvSpPr>
          <p:cNvPr id="49156" name="Rectangle 3"/>
          <p:cNvSpPr/>
          <p:nvPr/>
        </p:nvSpPr>
        <p:spPr>
          <a:xfrm>
            <a:off x="914400" y="95250"/>
            <a:ext cx="10361613" cy="1143000"/>
          </a:xfrm>
          <a:prstGeom prst="rect">
            <a:avLst/>
          </a:prstGeom>
          <a:noFill/>
          <a:ln w="9525">
            <a:noFill/>
          </a:ln>
        </p:spPr>
        <p:txBody>
          <a:bodyPr anchor="ctr" anchorCtr="0"/>
          <a:p>
            <a:pPr algn="ctr"/>
            <a:r>
              <a:rPr lang="zh-CN" altLang="en-US" sz="3600" dirty="0">
                <a:solidFill>
                  <a:srgbClr val="FF3300"/>
                </a:solidFill>
                <a:latin typeface="Times New Roman" pitchFamily="18" charset="0"/>
                <a:ea typeface="黑体" panose="02000500000000000000" pitchFamily="49" charset="-122"/>
              </a:rPr>
              <a:t>龙芯</a:t>
            </a:r>
            <a:r>
              <a:rPr lang="en-US" altLang="zh-CN" sz="3600" dirty="0">
                <a:solidFill>
                  <a:srgbClr val="FF3300"/>
                </a:solidFill>
                <a:latin typeface="Times New Roman" pitchFamily="18" charset="0"/>
                <a:ea typeface="黑体" panose="02000500000000000000" pitchFamily="49" charset="-122"/>
              </a:rPr>
              <a:t>2</a:t>
            </a:r>
            <a:r>
              <a:rPr lang="zh-CN" altLang="en-US" sz="3600" dirty="0">
                <a:solidFill>
                  <a:srgbClr val="FF3300"/>
                </a:solidFill>
                <a:latin typeface="Times New Roman" pitchFamily="18" charset="0"/>
                <a:ea typeface="黑体" panose="02000500000000000000" pitchFamily="49" charset="-122"/>
              </a:rPr>
              <a:t>号处理器核结构图</a:t>
            </a:r>
            <a:endParaRPr lang="zh-CN" altLang="en-US" sz="3600" dirty="0">
              <a:solidFill>
                <a:srgbClr val="FF3300"/>
              </a:solidFill>
              <a:latin typeface="Times New Roman" pitchFamily="18" charset="0"/>
              <a:ea typeface="黑体" panose="02000500000000000000" pitchFamily="49" charset="-122"/>
            </a:endParaRPr>
          </a:p>
        </p:txBody>
      </p:sp>
      <p:sp>
        <p:nvSpPr>
          <p:cNvPr id="49157" name="椭圆 4"/>
          <p:cNvSpPr/>
          <p:nvPr/>
        </p:nvSpPr>
        <p:spPr>
          <a:xfrm>
            <a:off x="1290638" y="1398588"/>
            <a:ext cx="2617787" cy="4043362"/>
          </a:xfrm>
          <a:prstGeom prst="ellipse">
            <a:avLst/>
          </a:prstGeom>
          <a:noFill/>
          <a:ln w="38100" cap="flat" cmpd="sng">
            <a:solidFill>
              <a:schemeClr val="accent2"/>
            </a:solidFill>
            <a:prstDash val="solid"/>
            <a:headEnd type="none" w="med" len="med"/>
            <a:tailEnd type="none" w="med" len="med"/>
          </a:ln>
        </p:spPr>
        <p:txBody>
          <a:bodyPr/>
          <a:p>
            <a:endParaRPr lang="zh-CN" altLang="en-US" dirty="0">
              <a:latin typeface="Times New Roman" pitchFamily="18" charset="0"/>
            </a:endParaRPr>
          </a:p>
        </p:txBody>
      </p:sp>
      <p:sp>
        <p:nvSpPr>
          <p:cNvPr id="49158" name="椭圆 5"/>
          <p:cNvSpPr/>
          <p:nvPr/>
        </p:nvSpPr>
        <p:spPr>
          <a:xfrm>
            <a:off x="4078288" y="1416050"/>
            <a:ext cx="3482975" cy="4154488"/>
          </a:xfrm>
          <a:prstGeom prst="ellipse">
            <a:avLst/>
          </a:prstGeom>
          <a:noFill/>
          <a:ln w="38100" cap="flat" cmpd="sng">
            <a:solidFill>
              <a:srgbClr val="FF0000"/>
            </a:solidFill>
            <a:prstDash val="solid"/>
            <a:headEnd type="none" w="med" len="med"/>
            <a:tailEnd type="none" w="med" len="med"/>
          </a:ln>
        </p:spPr>
        <p:txBody>
          <a:bodyPr/>
          <a:p>
            <a:endParaRPr lang="zh-CN" altLang="en-US" dirty="0">
              <a:latin typeface="Times New Roman" pitchFamily="18" charset="0"/>
            </a:endParaRPr>
          </a:p>
        </p:txBody>
      </p:sp>
      <p:sp>
        <p:nvSpPr>
          <p:cNvPr id="49159" name="椭圆 6"/>
          <p:cNvSpPr/>
          <p:nvPr/>
        </p:nvSpPr>
        <p:spPr>
          <a:xfrm>
            <a:off x="7637463" y="1404938"/>
            <a:ext cx="790575" cy="4154487"/>
          </a:xfrm>
          <a:prstGeom prst="ellipse">
            <a:avLst/>
          </a:prstGeom>
          <a:noFill/>
          <a:ln w="38100" cap="flat" cmpd="sng">
            <a:solidFill>
              <a:schemeClr val="accent2"/>
            </a:solidFill>
            <a:prstDash val="solid"/>
            <a:headEnd type="none" w="med" len="med"/>
            <a:tailEnd type="none" w="med" len="med"/>
          </a:ln>
        </p:spPr>
        <p:txBody>
          <a:bodyPr/>
          <a:p>
            <a:endParaRPr lang="zh-CN" altLang="en-US" dirty="0">
              <a:solidFill>
                <a:schemeClr val="accent2"/>
              </a:solidFill>
              <a:latin typeface="Times New Roman" pitchFamily="18" charset="0"/>
            </a:endParaRPr>
          </a:p>
        </p:txBody>
      </p:sp>
      <p:sp>
        <p:nvSpPr>
          <p:cNvPr id="49160" name="椭圆 7"/>
          <p:cNvSpPr/>
          <p:nvPr/>
        </p:nvSpPr>
        <p:spPr>
          <a:xfrm>
            <a:off x="8816975" y="1408113"/>
            <a:ext cx="2740025" cy="4087812"/>
          </a:xfrm>
          <a:prstGeom prst="ellipse">
            <a:avLst/>
          </a:prstGeom>
          <a:noFill/>
          <a:ln w="38100" cap="flat" cmpd="sng">
            <a:solidFill>
              <a:schemeClr val="accent2"/>
            </a:solidFill>
            <a:prstDash val="solid"/>
            <a:headEnd type="none" w="med" len="med"/>
            <a:tailEnd type="none" w="med" len="med"/>
          </a:ln>
        </p:spPr>
        <p:txBody>
          <a:bodyPr/>
          <a:p>
            <a:endParaRPr lang="zh-CN" altLang="en-US" dirty="0">
              <a:solidFill>
                <a:srgbClr val="0000FF"/>
              </a:solidFill>
              <a:latin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0179" name="Rectangle 2"/>
          <p:cNvSpPr>
            <a:spLocks noGrp="1"/>
          </p:cNvSpPr>
          <p:nvPr>
            <p:ph type="title"/>
          </p:nvPr>
        </p:nvSpPr>
        <p:spPr/>
        <p:txBody>
          <a:bodyPr vert="horz" wrap="square" lIns="91440" tIns="45720" rIns="91440" bIns="45720" anchor="ctr" anchorCtr="0"/>
          <a:p>
            <a:pPr eaLnBrk="1" hangingPunct="1"/>
            <a:r>
              <a:rPr lang="zh-CN" altLang="en-US" dirty="0"/>
              <a:t>指令流水线</a:t>
            </a:r>
            <a:endParaRPr lang="zh-CN" altLang="en-US" dirty="0"/>
          </a:p>
        </p:txBody>
      </p:sp>
      <p:sp>
        <p:nvSpPr>
          <p:cNvPr id="50180" name="Rectangle 3"/>
          <p:cNvSpPr>
            <a:spLocks noGrp="1"/>
          </p:cNvSpPr>
          <p:nvPr>
            <p:ph idx="1"/>
          </p:nvPr>
        </p:nvSpPr>
        <p:spPr>
          <a:xfrm>
            <a:off x="2371725" y="1179513"/>
            <a:ext cx="8169275" cy="5164137"/>
          </a:xfrm>
        </p:spPr>
        <p:txBody>
          <a:bodyPr vert="horz" wrap="square" lIns="91440" tIns="45720" rIns="91440" bIns="45720" anchor="t" anchorCtr="0"/>
          <a:p>
            <a:pPr eaLnBrk="1" hangingPunct="1"/>
            <a:r>
              <a:rPr lang="zh-CN" altLang="en-US" dirty="0"/>
              <a:t>一个简单的</a:t>
            </a:r>
            <a:r>
              <a:rPr lang="en-US" altLang="zh-CN" dirty="0"/>
              <a:t>LoongArch CPU</a:t>
            </a:r>
            <a:endParaRPr lang="en-US" altLang="zh-CN" dirty="0"/>
          </a:p>
          <a:p>
            <a:pPr lvl="1" eaLnBrk="1" hangingPunct="1"/>
            <a:r>
              <a:rPr lang="zh-CN" altLang="en-US" dirty="0"/>
              <a:t>数据通路</a:t>
            </a:r>
            <a:endParaRPr lang="zh-CN" altLang="en-US" dirty="0"/>
          </a:p>
          <a:p>
            <a:pPr lvl="1" eaLnBrk="1" hangingPunct="1"/>
            <a:r>
              <a:rPr lang="zh-CN" altLang="en-US" dirty="0"/>
              <a:t>控制逻辑</a:t>
            </a:r>
            <a:endParaRPr lang="zh-CN" altLang="en-US" dirty="0"/>
          </a:p>
          <a:p>
            <a:pPr lvl="1" eaLnBrk="1" hangingPunct="1"/>
            <a:r>
              <a:rPr lang="zh-CN" altLang="en-US" dirty="0"/>
              <a:t>时序控制</a:t>
            </a:r>
            <a:endParaRPr lang="zh-CN" altLang="en-US" sz="1800" dirty="0"/>
          </a:p>
          <a:p>
            <a:pPr eaLnBrk="1" hangingPunct="1"/>
            <a:r>
              <a:rPr lang="zh-CN" altLang="en-US" dirty="0"/>
              <a:t>指令流水线</a:t>
            </a:r>
            <a:endParaRPr lang="zh-CN" altLang="en-US" dirty="0"/>
          </a:p>
          <a:p>
            <a:pPr eaLnBrk="1" hangingPunct="1"/>
            <a:r>
              <a:rPr lang="zh-CN" altLang="en-US" dirty="0"/>
              <a:t>指令相关和流水线冲突</a:t>
            </a:r>
            <a:endParaRPr lang="zh-CN" altLang="en-US" dirty="0"/>
          </a:p>
          <a:p>
            <a:pPr eaLnBrk="1" hangingPunct="1"/>
            <a:r>
              <a:rPr lang="zh-CN" altLang="en-US" dirty="0"/>
              <a:t>流水线的前递技术</a:t>
            </a:r>
            <a:endParaRPr lang="zh-CN" altLang="en-US" dirty="0"/>
          </a:p>
          <a:p>
            <a:pPr eaLnBrk="1" hangingPunct="1"/>
            <a:r>
              <a:rPr lang="zh-CN" altLang="en-US" dirty="0"/>
              <a:t>流水线和例外</a:t>
            </a:r>
            <a:endParaRPr lang="zh-CN" altLang="en-US" dirty="0"/>
          </a:p>
          <a:p>
            <a:pPr eaLnBrk="1" hangingPunct="1"/>
            <a:r>
              <a:rPr lang="zh-CN" altLang="en-US" dirty="0"/>
              <a:t>多功能部件与多拍操作</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4"/>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9219" name="Rectangle 4"/>
          <p:cNvSpPr>
            <a:spLocks noGrp="1"/>
          </p:cNvSpPr>
          <p:nvPr>
            <p:ph type="title"/>
          </p:nvPr>
        </p:nvSpPr>
        <p:spPr>
          <a:xfrm>
            <a:off x="1043700" y="2938463"/>
            <a:ext cx="10361851" cy="1143000"/>
          </a:xfrm>
        </p:spPr>
        <p:txBody>
          <a:bodyPr vert="horz" wrap="square" lIns="91440" tIns="45720" rIns="91440" bIns="45720" anchor="ctr" anchorCtr="0"/>
          <a:lstStyle/>
          <a:p>
            <a:pPr eaLnBrk="1" hangingPunct="1"/>
            <a:r>
              <a:rPr lang="zh-CN" altLang="en-US" dirty="0"/>
              <a:t>简单的处理器数据通路</a:t>
            </a:r>
            <a:endParaRPr lang="en-US" altLang="zh-CN" dirty="0"/>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10243" name="Rectangle 2"/>
          <p:cNvSpPr>
            <a:spLocks noGrp="1"/>
          </p:cNvSpPr>
          <p:nvPr>
            <p:ph type="title"/>
          </p:nvPr>
        </p:nvSpPr>
        <p:spPr>
          <a:xfrm>
            <a:off x="914599" y="0"/>
            <a:ext cx="10361851" cy="1143000"/>
          </a:xfrm>
        </p:spPr>
        <p:txBody>
          <a:bodyPr vert="horz" wrap="square" lIns="91440" tIns="45720" rIns="91440" bIns="45720" anchor="ctr" anchorCtr="0"/>
          <a:lstStyle/>
          <a:p>
            <a:pPr eaLnBrk="1" hangingPunct="1"/>
            <a:r>
              <a:rPr lang="zh-CN" altLang="en-US" dirty="0"/>
              <a:t>一个简单的</a:t>
            </a:r>
            <a:r>
              <a:rPr lang="en-US" altLang="zh-CN" dirty="0"/>
              <a:t>LoongArch CPU</a:t>
            </a:r>
            <a:endParaRPr lang="en-US" altLang="zh-CN" dirty="0"/>
          </a:p>
        </p:txBody>
      </p:sp>
      <p:sp>
        <p:nvSpPr>
          <p:cNvPr id="10244" name="Rectangle 3"/>
          <p:cNvSpPr>
            <a:spLocks noGrp="1"/>
          </p:cNvSpPr>
          <p:nvPr>
            <p:ph idx="1"/>
          </p:nvPr>
        </p:nvSpPr>
        <p:spPr>
          <a:xfrm>
            <a:off x="800314" y="1230314"/>
            <a:ext cx="10361851" cy="2416175"/>
          </a:xfrm>
        </p:spPr>
        <p:txBody>
          <a:bodyPr vert="horz" wrap="square" lIns="91440" tIns="45720" rIns="91440" bIns="45720" anchor="t" anchorCtr="0"/>
          <a:lstStyle/>
          <a:p>
            <a:pPr eaLnBrk="1" hangingPunct="1"/>
            <a:r>
              <a:rPr lang="zh-CN" altLang="en-US" dirty="0"/>
              <a:t>从</a:t>
            </a:r>
            <a:r>
              <a:rPr lang="en-US" altLang="zh-CN" dirty="0"/>
              <a:t>LoongArch</a:t>
            </a:r>
            <a:r>
              <a:rPr lang="zh-CN" altLang="en-US" dirty="0"/>
              <a:t>指令集拣选部分代表性的指令，基本特征包括：</a:t>
            </a:r>
            <a:endParaRPr lang="zh-CN" altLang="en-US" dirty="0"/>
          </a:p>
          <a:p>
            <a:pPr lvl="1" eaLnBrk="1" hangingPunct="1"/>
            <a:r>
              <a:rPr lang="en-US" altLang="zh-CN" dirty="0"/>
              <a:t>RISC</a:t>
            </a:r>
            <a:r>
              <a:rPr lang="zh-CN" altLang="en-US" dirty="0"/>
              <a:t>结构</a:t>
            </a:r>
            <a:endParaRPr lang="zh-CN" altLang="en-US" dirty="0"/>
          </a:p>
          <a:p>
            <a:pPr lvl="1" eaLnBrk="1" hangingPunct="1"/>
            <a:r>
              <a:rPr lang="en-US" altLang="zh-CN" dirty="0"/>
              <a:t>32</a:t>
            </a:r>
            <a:r>
              <a:rPr lang="zh-CN" altLang="en-US" dirty="0"/>
              <a:t>位指令及数据</a:t>
            </a:r>
            <a:endParaRPr lang="zh-CN" altLang="en-US" dirty="0"/>
          </a:p>
          <a:p>
            <a:pPr lvl="1" eaLnBrk="1" hangingPunct="1"/>
            <a:r>
              <a:rPr lang="en-US" altLang="zh-CN" dirty="0"/>
              <a:t>32</a:t>
            </a:r>
            <a:r>
              <a:rPr lang="zh-CN" altLang="en-US" dirty="0"/>
              <a:t>个通用寄存器，</a:t>
            </a:r>
            <a:r>
              <a:rPr lang="en-US" altLang="zh-CN" dirty="0"/>
              <a:t>0</a:t>
            </a:r>
            <a:r>
              <a:rPr lang="zh-CN" altLang="en-US" dirty="0"/>
              <a:t>号</a:t>
            </a:r>
            <a:r>
              <a:rPr lang="en-US" altLang="zh-CN" dirty="0"/>
              <a:t>GPR</a:t>
            </a:r>
            <a:r>
              <a:rPr lang="zh-CN" altLang="en-US" dirty="0"/>
              <a:t>恒为</a:t>
            </a:r>
            <a:r>
              <a:rPr lang="en-US" altLang="zh-CN" dirty="0"/>
              <a:t>0</a:t>
            </a:r>
            <a:r>
              <a:rPr lang="zh-CN" altLang="en-US" dirty="0"/>
              <a:t>。</a:t>
            </a:r>
            <a:endParaRPr lang="zh-CN" altLang="en-US" dirty="0"/>
          </a:p>
          <a:p>
            <a:pPr lvl="1" eaLnBrk="1" hangingPunct="1"/>
            <a:r>
              <a:rPr lang="zh-CN" altLang="en-US" dirty="0"/>
              <a:t>指令格式</a:t>
            </a:r>
            <a:endParaRPr lang="zh-CN" altLang="en-US" dirty="0"/>
          </a:p>
        </p:txBody>
      </p:sp>
      <p:pic>
        <p:nvPicPr>
          <p:cNvPr id="10245" name="图片 1" descr="LA指令格式_01"/>
          <p:cNvPicPr>
            <a:picLocks noChangeAspect="1"/>
          </p:cNvPicPr>
          <p:nvPr/>
        </p:nvPicPr>
        <p:blipFill>
          <a:blip r:embed="rId1" cstate="print"/>
          <a:srcRect l="7576" t="16960" r="31357" b="36313"/>
          <a:stretch>
            <a:fillRect/>
          </a:stretch>
        </p:blipFill>
        <p:spPr>
          <a:xfrm>
            <a:off x="2146339" y="3484563"/>
            <a:ext cx="7898372" cy="3205162"/>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圆角矩形 113"/>
          <p:cNvSpPr/>
          <p:nvPr/>
        </p:nvSpPr>
        <p:spPr>
          <a:xfrm>
            <a:off x="1651104" y="5400676"/>
            <a:ext cx="8605246" cy="1400175"/>
          </a:xfrm>
          <a:prstGeom prst="roundRect">
            <a:avLst>
              <a:gd name="adj" fmla="val 14944"/>
            </a:avLst>
          </a:prstGeom>
          <a:noFill/>
          <a:ln w="9525" cap="flat" cmpd="sng">
            <a:solidFill>
              <a:srgbClr val="FF0000"/>
            </a:solidFill>
            <a:prstDash val="solid"/>
            <a:headEnd type="none" w="med" len="med"/>
            <a:tailEnd type="none" w="med" len="med"/>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eaLnBrk="1" hangingPunct="1">
              <a:lnSpc>
                <a:spcPct val="100000"/>
              </a:lnSpc>
              <a:spcBef>
                <a:spcPct val="50000"/>
              </a:spcBef>
              <a:buNone/>
            </a:pPr>
            <a:endParaRPr lang="zh-CN" altLang="en-US" sz="2400" dirty="0">
              <a:latin typeface="Times New Roman" pitchFamily="18" charset="0"/>
            </a:endParaRPr>
          </a:p>
        </p:txBody>
      </p:sp>
      <p:sp>
        <p:nvSpPr>
          <p:cNvPr id="11267" name="圆角矩形 112"/>
          <p:cNvSpPr/>
          <p:nvPr/>
        </p:nvSpPr>
        <p:spPr>
          <a:xfrm>
            <a:off x="1651104" y="4819650"/>
            <a:ext cx="8605246" cy="514350"/>
          </a:xfrm>
          <a:prstGeom prst="roundRect">
            <a:avLst>
              <a:gd name="adj" fmla="val 31546"/>
            </a:avLst>
          </a:prstGeom>
          <a:noFill/>
          <a:ln w="9525" cap="flat" cmpd="sng">
            <a:solidFill>
              <a:srgbClr val="FF0000"/>
            </a:solidFill>
            <a:prstDash val="solid"/>
            <a:headEnd type="none" w="med" len="med"/>
            <a:tailEnd type="none" w="med" len="med"/>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eaLnBrk="1" hangingPunct="1">
              <a:lnSpc>
                <a:spcPct val="100000"/>
              </a:lnSpc>
              <a:spcBef>
                <a:spcPct val="50000"/>
              </a:spcBef>
              <a:buNone/>
            </a:pPr>
            <a:endParaRPr lang="zh-CN" altLang="en-US" sz="2400" dirty="0">
              <a:latin typeface="Times New Roman" pitchFamily="18" charset="0"/>
            </a:endParaRPr>
          </a:p>
        </p:txBody>
      </p:sp>
      <p:sp>
        <p:nvSpPr>
          <p:cNvPr id="11268" name="圆角矩形 3"/>
          <p:cNvSpPr/>
          <p:nvPr/>
        </p:nvSpPr>
        <p:spPr>
          <a:xfrm>
            <a:off x="1648987" y="1069975"/>
            <a:ext cx="8607362" cy="3708400"/>
          </a:xfrm>
          <a:prstGeom prst="roundRect">
            <a:avLst>
              <a:gd name="adj" fmla="val 6472"/>
            </a:avLst>
          </a:prstGeom>
          <a:noFill/>
          <a:ln w="9525" cap="flat" cmpd="sng">
            <a:solidFill>
              <a:srgbClr val="FF0000"/>
            </a:solidFill>
            <a:prstDash val="solid"/>
            <a:headEnd type="none" w="med" len="med"/>
            <a:tailEnd type="none" w="med" len="med"/>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eaLnBrk="1" hangingPunct="1">
              <a:lnSpc>
                <a:spcPct val="100000"/>
              </a:lnSpc>
              <a:spcBef>
                <a:spcPct val="50000"/>
              </a:spcBef>
              <a:buNone/>
            </a:pPr>
            <a:endParaRPr lang="zh-CN" altLang="en-US" sz="2400" dirty="0">
              <a:latin typeface="Times New Roman" pitchFamily="18" charset="0"/>
            </a:endParaRPr>
          </a:p>
        </p:txBody>
      </p:sp>
      <p:sp>
        <p:nvSpPr>
          <p:cNvPr id="11270" name="Rectangle 3"/>
          <p:cNvSpPr>
            <a:spLocks noGrp="1"/>
          </p:cNvSpPr>
          <p:nvPr>
            <p:ph idx="1"/>
          </p:nvPr>
        </p:nvSpPr>
        <p:spPr>
          <a:xfrm>
            <a:off x="504831" y="131128"/>
            <a:ext cx="10361851" cy="552450"/>
          </a:xfrm>
        </p:spPr>
        <p:txBody>
          <a:bodyPr vert="horz" wrap="square" lIns="91440" tIns="45720" rIns="91440" bIns="45720" anchor="t" anchorCtr="0"/>
          <a:lstStyle/>
          <a:p>
            <a:pPr eaLnBrk="1" hangingPunct="1"/>
            <a:r>
              <a:rPr lang="zh-CN" altLang="en-US" dirty="0"/>
              <a:t>基本指令</a:t>
            </a:r>
            <a:endParaRPr lang="zh-CN" altLang="en-US" dirty="0"/>
          </a:p>
        </p:txBody>
      </p:sp>
      <p:graphicFrame>
        <p:nvGraphicFramePr>
          <p:cNvPr id="3" name="表格 2"/>
          <p:cNvGraphicFramePr>
            <a:graphicFrameLocks noGrp="1"/>
          </p:cNvGraphicFramePr>
          <p:nvPr/>
        </p:nvGraphicFramePr>
        <p:xfrm>
          <a:off x="1682850" y="768350"/>
          <a:ext cx="8179435" cy="6032122"/>
        </p:xfrm>
        <a:graphic>
          <a:graphicData uri="http://schemas.openxmlformats.org/drawingml/2006/table">
            <a:tbl>
              <a:tblPr firstRow="1" firstCol="1" bandRow="1"/>
              <a:tblGrid>
                <a:gridCol w="1589405"/>
                <a:gridCol w="205740"/>
                <a:gridCol w="206375"/>
                <a:gridCol w="205740"/>
                <a:gridCol w="205740"/>
                <a:gridCol w="206375"/>
                <a:gridCol w="205740"/>
                <a:gridCol w="205740"/>
                <a:gridCol w="206375"/>
                <a:gridCol w="205740"/>
                <a:gridCol w="205740"/>
                <a:gridCol w="206375"/>
                <a:gridCol w="205740"/>
                <a:gridCol w="205105"/>
                <a:gridCol w="206375"/>
                <a:gridCol w="205740"/>
                <a:gridCol w="205740"/>
                <a:gridCol w="206375"/>
                <a:gridCol w="205740"/>
                <a:gridCol w="205740"/>
                <a:gridCol w="206375"/>
                <a:gridCol w="205740"/>
                <a:gridCol w="205740"/>
                <a:gridCol w="206375"/>
                <a:gridCol w="205740"/>
                <a:gridCol w="205740"/>
                <a:gridCol w="206375"/>
                <a:gridCol w="205740"/>
                <a:gridCol w="205740"/>
                <a:gridCol w="206375"/>
                <a:gridCol w="205740"/>
                <a:gridCol w="205740"/>
                <a:gridCol w="206375"/>
              </a:tblGrid>
              <a:tr h="322450">
                <a:tc>
                  <a:txBody>
                    <a:bodyPr/>
                    <a:lstStyle/>
                    <a:p>
                      <a:pPr algn="ctr">
                        <a:spcAft>
                          <a:spcPts val="0"/>
                        </a:spcAft>
                      </a:pPr>
                      <a:r>
                        <a:rPr lang="en-US" sz="900" kern="100" dirty="0">
                          <a:effectLst/>
                          <a:latin typeface="Times New Roman" pitchFamily="18" charset="0"/>
                          <a:ea typeface="宋体" panose="02000500000000000000" pitchFamily="2" charset="-122"/>
                          <a:cs typeface="Times New Roman" pitchFamily="18" charset="0"/>
                        </a:rPr>
                        <a:t> </a:t>
                      </a:r>
                      <a:endParaRPr lang="zh-CN" sz="1100" kern="100" dirty="0">
                        <a:effectLst/>
                        <a:latin typeface="Lucida Sans" pitchFamily="34" charset="0"/>
                        <a:ea typeface="永中宋体"/>
                        <a:cs typeface="Times New Roman" pitchFamily="18" charset="0"/>
                      </a:endParaRPr>
                    </a:p>
                  </a:txBody>
                  <a:tcPr marL="0" marR="0" marT="0" marB="0" anchor="ctr">
                    <a:lnL>
                      <a:noFill/>
                    </a:lnL>
                    <a:lnR>
                      <a:noFill/>
                    </a:lnR>
                    <a:lnT>
                      <a:noFill/>
                    </a:lnT>
                    <a:lnB>
                      <a:noFill/>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3</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1</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3</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0</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2</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9</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2</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8</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2</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7</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2</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6</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2</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5</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2</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4</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2</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3</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2</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2</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2</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1</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2</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0</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1</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9</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1</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8</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1</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7</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a:effectLst/>
                          <a:latin typeface="Times New Roman" pitchFamily="18" charset="0"/>
                          <a:ea typeface="宋体" panose="02000500000000000000" pitchFamily="2" charset="-122"/>
                          <a:cs typeface="Times New Roman" pitchFamily="18" charset="0"/>
                        </a:rPr>
                        <a:t>1</a:t>
                      </a:r>
                      <a:endParaRPr lang="zh-CN" sz="1100" b="1" kern="100">
                        <a:effectLst/>
                        <a:latin typeface="Lucida Sans" pitchFamily="34" charset="0"/>
                        <a:ea typeface="永中宋体"/>
                        <a:cs typeface="Times New Roman" pitchFamily="18" charset="0"/>
                      </a:endParaRPr>
                    </a:p>
                    <a:p>
                      <a:pPr algn="ctr">
                        <a:spcAft>
                          <a:spcPts val="0"/>
                        </a:spcAft>
                      </a:pPr>
                      <a:r>
                        <a:rPr lang="en-US" sz="800" b="1" kern="100">
                          <a:effectLst/>
                          <a:latin typeface="Times New Roman" pitchFamily="18" charset="0"/>
                          <a:ea typeface="宋体" panose="02000500000000000000" pitchFamily="2" charset="-122"/>
                          <a:cs typeface="Times New Roman" pitchFamily="18" charset="0"/>
                        </a:rPr>
                        <a:t>6</a:t>
                      </a:r>
                      <a:endParaRPr lang="zh-CN" sz="1100" b="1" kern="10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1</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5</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1</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4</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1</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3</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1</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2</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1</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1</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1</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0</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0</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9</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0</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8</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0</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7</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0</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6</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0</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5</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0</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4</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0</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3</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0</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2</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0</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1</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0</a:t>
                      </a:r>
                      <a:endParaRPr lang="zh-CN" sz="1100" b="1" kern="100" dirty="0">
                        <a:effectLst/>
                        <a:latin typeface="Lucida Sans" pitchFamily="34" charset="0"/>
                        <a:ea typeface="永中宋体"/>
                        <a:cs typeface="Times New Roman" pitchFamily="18" charset="0"/>
                      </a:endParaRPr>
                    </a:p>
                    <a:p>
                      <a:pPr algn="ctr">
                        <a:spcAft>
                          <a:spcPts val="0"/>
                        </a:spcAft>
                      </a:pPr>
                      <a:r>
                        <a:rPr lang="en-US" sz="800" b="1" kern="100" dirty="0">
                          <a:effectLst/>
                          <a:latin typeface="Times New Roman" pitchFamily="18" charset="0"/>
                          <a:ea typeface="宋体" panose="02000500000000000000" pitchFamily="2" charset="-122"/>
                          <a:cs typeface="Times New Roman" pitchFamily="18" charset="0"/>
                        </a:rPr>
                        <a:t>0</a:t>
                      </a:r>
                      <a:endParaRPr lang="zh-CN" sz="1100" b="1" kern="100" dirty="0">
                        <a:effectLst/>
                        <a:latin typeface="Lucida Sans" pitchFamily="34" charset="0"/>
                        <a:ea typeface="永中宋体"/>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r>
              <a:tr h="285503">
                <a:tc>
                  <a:txBody>
                    <a:bodyPr/>
                    <a:lstStyle/>
                    <a:p>
                      <a:pPr algn="ctr">
                        <a:spcAft>
                          <a:spcPts val="0"/>
                        </a:spcAft>
                      </a:pPr>
                      <a:r>
                        <a:rPr lang="en-US" sz="1800" b="1" kern="100" dirty="0" err="1">
                          <a:effectLst/>
                          <a:latin typeface="+mn-ea"/>
                          <a:cs typeface="Times New Roman" pitchFamily="18" charset="0"/>
                        </a:rPr>
                        <a:t>add.</a:t>
                      </a:r>
                      <a:r>
                        <a:rPr lang="en-US" altLang="zh-CN" sz="1800" b="1" kern="100" dirty="0" err="1">
                          <a:effectLst/>
                          <a:latin typeface="+mn-ea"/>
                          <a:cs typeface="Times New Roman" pitchFamily="18" charset="0"/>
                        </a:rPr>
                        <a:t>w</a:t>
                      </a:r>
                      <a:endParaRPr lang="zh-CN" sz="1400" b="1" kern="100" dirty="0">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lstStyle/>
                    <a:p>
                      <a:pPr algn="ctr">
                        <a:spcAft>
                          <a:spcPts val="0"/>
                        </a:spcAft>
                      </a:pPr>
                      <a:r>
                        <a:rPr lang="en-US" altLang="zh-CN" sz="1200" b="0" kern="100" dirty="0">
                          <a:effectLst/>
                          <a:latin typeface="+mj-lt"/>
                          <a:ea typeface="永中宋体"/>
                          <a:cs typeface="Times New Roman" pitchFamily="18" charset="0"/>
                        </a:rPr>
                        <a:t>00000000000100000</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lnT w="19050" cap="flat" cmpd="sng" algn="ctr">
                      <a:solidFill>
                        <a:srgbClr val="000000"/>
                      </a:solidFill>
                      <a:prstDash val="solid"/>
                      <a:round/>
                      <a:headEnd type="none" w="med" len="med"/>
                      <a:tailEnd type="none" w="med" len="med"/>
                    </a:lnT>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rk</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50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kern="100" dirty="0" err="1">
                          <a:effectLst/>
                          <a:latin typeface="+mn-ea"/>
                          <a:cs typeface="Times New Roman" pitchFamily="18" charset="0"/>
                        </a:rPr>
                        <a:t>sub.w</a:t>
                      </a:r>
                      <a:endParaRPr lang="en-US" altLang="zh-CN" sz="1800" b="1" kern="100" dirty="0" err="1">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lstStyle/>
                    <a:p>
                      <a:pPr algn="ctr">
                        <a:spcAft>
                          <a:spcPts val="0"/>
                        </a:spcAft>
                      </a:pPr>
                      <a:r>
                        <a:rPr lang="en-US" altLang="zh-CN" sz="1200" b="0" kern="100" dirty="0">
                          <a:effectLst/>
                          <a:latin typeface="+mj-lt"/>
                          <a:ea typeface="永中宋体"/>
                          <a:cs typeface="Times New Roman" pitchFamily="18" charset="0"/>
                        </a:rPr>
                        <a:t>00000000000100010</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rk</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solidFill>
                            <a:schemeClr val="tx1"/>
                          </a:solidFill>
                          <a:effectLst/>
                          <a:latin typeface="+mn-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0" kern="100" dirty="0" err="1">
                          <a:effectLst/>
                          <a:latin typeface="+mj-lt"/>
                          <a:ea typeface="永中宋体"/>
                          <a:cs typeface="Times New Roman" pitchFamily="18" charset="0"/>
                        </a:rPr>
                        <a:t>rd</a:t>
                      </a:r>
                      <a:endParaRPr lang="zh-CN" alt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503">
                <a:tc>
                  <a:txBody>
                    <a:bodyPr/>
                    <a:lstStyle/>
                    <a:p>
                      <a:pPr algn="ctr">
                        <a:spcAft>
                          <a:spcPts val="0"/>
                        </a:spcAft>
                      </a:pPr>
                      <a:r>
                        <a:rPr lang="en-US" altLang="zh-CN" sz="1800" b="1" kern="100" dirty="0" err="1">
                          <a:effectLst/>
                          <a:latin typeface="+mn-ea"/>
                          <a:cs typeface="Times New Roman" pitchFamily="18" charset="0"/>
                        </a:rPr>
                        <a:t>slt</a:t>
                      </a:r>
                      <a:endParaRPr lang="en-US" altLang="zh-CN" sz="1800" b="1" kern="100" dirty="0" err="1">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lstStyle/>
                    <a:p>
                      <a:pPr algn="ctr">
                        <a:spcAft>
                          <a:spcPts val="0"/>
                        </a:spcAft>
                      </a:pPr>
                      <a:r>
                        <a:rPr lang="en-US" altLang="zh-CN" sz="1200" b="0" kern="100" dirty="0">
                          <a:effectLst/>
                          <a:latin typeface="+mj-lt"/>
                          <a:ea typeface="永中宋体"/>
                          <a:cs typeface="Times New Roman" pitchFamily="18" charset="0"/>
                        </a:rPr>
                        <a:t>00000000000100100</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rk</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solidFill>
                            <a:schemeClr val="tx1"/>
                          </a:solidFill>
                          <a:effectLst/>
                          <a:latin typeface="+mn-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11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00" cap="none" spc="0" normalizeH="0" baseline="0" noProof="0" dirty="0" err="1">
                          <a:ln>
                            <a:noFill/>
                          </a:ln>
                          <a:solidFill>
                            <a:srgbClr val="000000"/>
                          </a:solidFill>
                          <a:effectLst/>
                          <a:uLnTx/>
                          <a:uFillTx/>
                          <a:latin typeface="+mn-ea"/>
                          <a:cs typeface="Times New Roman" pitchFamily="18" charset="0"/>
                        </a:rPr>
                        <a:t>sltu</a:t>
                      </a:r>
                      <a:endParaRPr kumimoji="0" lang="en-US" altLang="zh-CN" sz="1800" b="1" i="0" u="none" strike="noStrike" kern="100" cap="none" spc="0" normalizeH="0" baseline="0" noProof="0" dirty="0" err="1">
                        <a:ln>
                          <a:noFill/>
                        </a:ln>
                        <a:solidFill>
                          <a:srgbClr val="000000"/>
                        </a:solidFill>
                        <a:effectLst/>
                        <a:uLnTx/>
                        <a:uFillTx/>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lstStyle/>
                    <a:p>
                      <a:pPr algn="ctr">
                        <a:spcAft>
                          <a:spcPts val="0"/>
                        </a:spcAft>
                      </a:pPr>
                      <a:r>
                        <a:rPr lang="en-US" altLang="zh-CN" sz="1200" b="0" kern="100" dirty="0">
                          <a:effectLst/>
                          <a:latin typeface="+mj-lt"/>
                          <a:ea typeface="永中宋体"/>
                          <a:cs typeface="Times New Roman" pitchFamily="18" charset="0"/>
                        </a:rPr>
                        <a:t>00000000000100101</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solidFill>
                            <a:schemeClr val="tx1"/>
                          </a:solidFill>
                          <a:effectLst/>
                          <a:latin typeface="+mn-lt"/>
                          <a:ea typeface="永中宋体"/>
                          <a:cs typeface="Times New Roman" pitchFamily="18" charset="0"/>
                        </a:rPr>
                        <a:t>rk</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solidFill>
                            <a:schemeClr val="tx1"/>
                          </a:solidFill>
                          <a:effectLst/>
                          <a:latin typeface="+mn-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503">
                <a:tc>
                  <a:txBody>
                    <a:bodyPr/>
                    <a:lstStyle/>
                    <a:p>
                      <a:pPr algn="ctr">
                        <a:spcAft>
                          <a:spcPts val="0"/>
                        </a:spcAft>
                      </a:pPr>
                      <a:r>
                        <a:rPr lang="en-US" altLang="zh-CN" sz="1800" b="1" kern="100" dirty="0">
                          <a:effectLst/>
                          <a:latin typeface="+mn-ea"/>
                          <a:cs typeface="Times New Roman" pitchFamily="18" charset="0"/>
                        </a:rPr>
                        <a:t>nor</a:t>
                      </a:r>
                      <a:endParaRPr lang="en-US" altLang="zh-CN" sz="1800" b="1" kern="100" dirty="0">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lstStyle/>
                    <a:p>
                      <a:pPr algn="ctr">
                        <a:spcAft>
                          <a:spcPts val="0"/>
                        </a:spcAft>
                      </a:pPr>
                      <a:r>
                        <a:rPr lang="en-US" altLang="zh-CN" sz="1200" b="0" kern="100" dirty="0">
                          <a:effectLst/>
                          <a:latin typeface="+mj-lt"/>
                          <a:ea typeface="永中宋体"/>
                          <a:cs typeface="Times New Roman" pitchFamily="18" charset="0"/>
                        </a:rPr>
                        <a:t>00000000000101000</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rk</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solidFill>
                            <a:schemeClr val="tx1"/>
                          </a:solidFill>
                          <a:effectLst/>
                          <a:latin typeface="+mn-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503">
                <a:tc>
                  <a:txBody>
                    <a:bodyPr/>
                    <a:lstStyle/>
                    <a:p>
                      <a:pPr algn="ctr">
                        <a:spcAft>
                          <a:spcPts val="0"/>
                        </a:spcAft>
                      </a:pPr>
                      <a:r>
                        <a:rPr lang="en-US" altLang="zh-CN" sz="1800" b="1" kern="100" dirty="0">
                          <a:solidFill>
                            <a:schemeClr val="tx1"/>
                          </a:solidFill>
                          <a:effectLst/>
                          <a:latin typeface="+mn-ea"/>
                          <a:cs typeface="Times New Roman" pitchFamily="18" charset="0"/>
                        </a:rPr>
                        <a:t>and</a:t>
                      </a:r>
                      <a:endParaRPr lang="en-US" altLang="zh-CN" sz="1800" b="1" kern="100" dirty="0">
                        <a:solidFill>
                          <a:schemeClr val="tx1"/>
                        </a:solidFill>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lstStyle/>
                    <a:p>
                      <a:pPr algn="ctr">
                        <a:spcAft>
                          <a:spcPts val="0"/>
                        </a:spcAft>
                      </a:pPr>
                      <a:r>
                        <a:rPr lang="en-US" altLang="zh-CN" sz="1200" b="0" kern="100" dirty="0">
                          <a:effectLst/>
                          <a:latin typeface="+mj-lt"/>
                          <a:ea typeface="永中宋体"/>
                          <a:cs typeface="Times New Roman" pitchFamily="18" charset="0"/>
                        </a:rPr>
                        <a:t>00000000000101001</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rk</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solidFill>
                            <a:schemeClr val="tx1"/>
                          </a:solidFill>
                          <a:effectLst/>
                          <a:latin typeface="+mn-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503">
                <a:tc>
                  <a:txBody>
                    <a:bodyPr/>
                    <a:lstStyle/>
                    <a:p>
                      <a:pPr algn="ctr">
                        <a:spcAft>
                          <a:spcPts val="0"/>
                        </a:spcAft>
                      </a:pPr>
                      <a:r>
                        <a:rPr lang="en-US" altLang="zh-CN" sz="1800" b="1" kern="100" dirty="0">
                          <a:solidFill>
                            <a:schemeClr val="tx1"/>
                          </a:solidFill>
                          <a:effectLst/>
                          <a:latin typeface="+mn-ea"/>
                          <a:cs typeface="Times New Roman" pitchFamily="18" charset="0"/>
                        </a:rPr>
                        <a:t>or</a:t>
                      </a:r>
                      <a:endParaRPr lang="en-US" altLang="zh-CN" sz="1800" b="1" kern="100" dirty="0">
                        <a:solidFill>
                          <a:schemeClr val="tx1"/>
                        </a:solidFill>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lstStyle/>
                    <a:p>
                      <a:pPr algn="ctr">
                        <a:spcAft>
                          <a:spcPts val="0"/>
                        </a:spcAft>
                      </a:pPr>
                      <a:r>
                        <a:rPr lang="en-US" altLang="zh-CN" sz="1200" b="0" kern="100" dirty="0">
                          <a:effectLst/>
                          <a:latin typeface="+mj-lt"/>
                          <a:ea typeface="永中宋体"/>
                          <a:cs typeface="Times New Roman" pitchFamily="18" charset="0"/>
                        </a:rPr>
                        <a:t>00000000000101010</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rk</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solidFill>
                            <a:schemeClr val="tx1"/>
                          </a:solidFill>
                          <a:effectLst/>
                          <a:latin typeface="+mn-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503">
                <a:tc>
                  <a:txBody>
                    <a:bodyPr/>
                    <a:lstStyle/>
                    <a:p>
                      <a:pPr algn="ctr">
                        <a:spcAft>
                          <a:spcPts val="0"/>
                        </a:spcAft>
                      </a:pPr>
                      <a:r>
                        <a:rPr lang="en-US" altLang="zh-CN" sz="1800" b="1" kern="100" dirty="0" err="1">
                          <a:solidFill>
                            <a:schemeClr val="tx1"/>
                          </a:solidFill>
                          <a:effectLst/>
                          <a:latin typeface="+mn-ea"/>
                          <a:cs typeface="Times New Roman" pitchFamily="18" charset="0"/>
                        </a:rPr>
                        <a:t>xor</a:t>
                      </a:r>
                      <a:endParaRPr lang="en-US" altLang="zh-CN" sz="1800" b="1" kern="100" dirty="0" err="1">
                        <a:solidFill>
                          <a:schemeClr val="tx1"/>
                        </a:solidFill>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lstStyle/>
                    <a:p>
                      <a:pPr algn="ctr">
                        <a:spcAft>
                          <a:spcPts val="0"/>
                        </a:spcAft>
                      </a:pPr>
                      <a:r>
                        <a:rPr lang="en-US" altLang="zh-CN" sz="1200" b="0" kern="100" dirty="0">
                          <a:effectLst/>
                          <a:latin typeface="+mj-lt"/>
                          <a:ea typeface="永中宋体"/>
                          <a:cs typeface="Times New Roman" pitchFamily="18" charset="0"/>
                        </a:rPr>
                        <a:t>00000000000101011</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rk</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solidFill>
                            <a:schemeClr val="tx1"/>
                          </a:solidFill>
                          <a:effectLst/>
                          <a:latin typeface="+mn-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503">
                <a:tc>
                  <a:txBody>
                    <a:bodyPr/>
                    <a:lstStyle/>
                    <a:p>
                      <a:pPr algn="ctr">
                        <a:spcAft>
                          <a:spcPts val="0"/>
                        </a:spcAft>
                      </a:pPr>
                      <a:r>
                        <a:rPr lang="en-US" altLang="zh-CN" sz="1800" b="1" kern="100" dirty="0" err="1">
                          <a:effectLst/>
                          <a:latin typeface="+mn-ea"/>
                          <a:cs typeface="Times New Roman" pitchFamily="18" charset="0"/>
                        </a:rPr>
                        <a:t>slli.w</a:t>
                      </a:r>
                      <a:endParaRPr lang="en-US" altLang="zh-CN" sz="1800" b="1" kern="100" dirty="0" err="1">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4">
                  <a:txBody>
                    <a:bodyPr/>
                    <a:lstStyle/>
                    <a:p>
                      <a:pPr algn="ctr">
                        <a:spcAft>
                          <a:spcPts val="0"/>
                        </a:spcAft>
                      </a:pPr>
                      <a:r>
                        <a:rPr lang="en-US" altLang="zh-CN" sz="1200" b="0" kern="100" dirty="0">
                          <a:effectLst/>
                          <a:latin typeface="+mj-lt"/>
                          <a:ea typeface="永中宋体"/>
                          <a:cs typeface="Times New Roman" pitchFamily="18" charset="0"/>
                        </a:rPr>
                        <a:t>00000000010000</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spcAft>
                          <a:spcPts val="0"/>
                        </a:spcAft>
                      </a:pPr>
                      <a:r>
                        <a:rPr lang="en-US" altLang="zh-CN" sz="1200" b="0" kern="100" dirty="0">
                          <a:effectLst/>
                          <a:latin typeface="+mj-lt"/>
                          <a:ea typeface="永中宋体"/>
                          <a:cs typeface="Times New Roman" pitchFamily="18" charset="0"/>
                        </a:rPr>
                        <a:t>001</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a:effectLst/>
                          <a:latin typeface="+mj-lt"/>
                          <a:ea typeface="永中宋体"/>
                          <a:cs typeface="Times New Roman" pitchFamily="18" charset="0"/>
                        </a:rPr>
                        <a:t>ui5</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503">
                <a:tc>
                  <a:txBody>
                    <a:bodyPr/>
                    <a:lstStyle/>
                    <a:p>
                      <a:pPr algn="ctr">
                        <a:spcAft>
                          <a:spcPts val="0"/>
                        </a:spcAft>
                      </a:pPr>
                      <a:r>
                        <a:rPr lang="en-US" altLang="zh-CN" sz="1800" b="1" kern="100" dirty="0" err="1">
                          <a:effectLst/>
                          <a:latin typeface="+mn-ea"/>
                          <a:cs typeface="Times New Roman" pitchFamily="18" charset="0"/>
                        </a:rPr>
                        <a:t>slri.w</a:t>
                      </a:r>
                      <a:endParaRPr lang="en-US" altLang="zh-CN" sz="1800" b="1" kern="100" dirty="0" err="1">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4">
                  <a:txBody>
                    <a:bodyPr/>
                    <a:lstStyle/>
                    <a:p>
                      <a:pPr algn="ctr">
                        <a:spcAft>
                          <a:spcPts val="0"/>
                        </a:spcAft>
                      </a:pPr>
                      <a:r>
                        <a:rPr lang="en-US" altLang="zh-CN" sz="1200" b="0" kern="100" dirty="0">
                          <a:effectLst/>
                          <a:latin typeface="+mj-lt"/>
                          <a:ea typeface="永中宋体"/>
                          <a:cs typeface="Times New Roman" pitchFamily="18" charset="0"/>
                        </a:rPr>
                        <a:t>00000000010001</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spcAft>
                          <a:spcPts val="0"/>
                        </a:spcAft>
                      </a:pPr>
                      <a:r>
                        <a:rPr lang="en-US" altLang="zh-CN" sz="1200" b="0" kern="100" dirty="0">
                          <a:effectLst/>
                          <a:latin typeface="+mj-lt"/>
                          <a:ea typeface="永中宋体"/>
                          <a:cs typeface="Times New Roman" pitchFamily="18" charset="0"/>
                        </a:rPr>
                        <a:t>001</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a:effectLst/>
                          <a:latin typeface="+mj-lt"/>
                          <a:ea typeface="永中宋体"/>
                          <a:cs typeface="Times New Roman" pitchFamily="18" charset="0"/>
                        </a:rPr>
                        <a:t>ui5</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503">
                <a:tc>
                  <a:txBody>
                    <a:bodyPr/>
                    <a:lstStyle/>
                    <a:p>
                      <a:pPr algn="ctr">
                        <a:spcAft>
                          <a:spcPts val="0"/>
                        </a:spcAft>
                      </a:pPr>
                      <a:r>
                        <a:rPr lang="en-US" altLang="zh-CN" sz="1800" b="1" kern="100" dirty="0" err="1">
                          <a:effectLst/>
                          <a:latin typeface="+mn-ea"/>
                          <a:cs typeface="Times New Roman" pitchFamily="18" charset="0"/>
                        </a:rPr>
                        <a:t>srai.w</a:t>
                      </a:r>
                      <a:endParaRPr lang="en-US" altLang="zh-CN" sz="1800" b="1" kern="100" dirty="0" err="1">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4">
                  <a:txBody>
                    <a:bodyPr/>
                    <a:lstStyle/>
                    <a:p>
                      <a:pPr algn="ctr">
                        <a:spcAft>
                          <a:spcPts val="0"/>
                        </a:spcAft>
                      </a:pPr>
                      <a:r>
                        <a:rPr lang="en-US" altLang="zh-CN" sz="1200" b="0" kern="100" dirty="0">
                          <a:effectLst/>
                          <a:latin typeface="+mj-lt"/>
                          <a:ea typeface="永中宋体"/>
                          <a:cs typeface="Times New Roman" pitchFamily="18" charset="0"/>
                        </a:rPr>
                        <a:t>00000000010010</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spcAft>
                          <a:spcPts val="0"/>
                        </a:spcAft>
                      </a:pPr>
                      <a:r>
                        <a:rPr lang="en-US" altLang="zh-CN" sz="1200" b="0" kern="100" dirty="0">
                          <a:effectLst/>
                          <a:latin typeface="+mj-lt"/>
                          <a:ea typeface="永中宋体"/>
                          <a:cs typeface="Times New Roman" pitchFamily="18" charset="0"/>
                        </a:rPr>
                        <a:t>001</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a:effectLst/>
                          <a:latin typeface="+mj-lt"/>
                          <a:ea typeface="永中宋体"/>
                          <a:cs typeface="Times New Roman" pitchFamily="18" charset="0"/>
                        </a:rPr>
                        <a:t>ui5</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503">
                <a:tc>
                  <a:txBody>
                    <a:bodyPr/>
                    <a:lstStyle/>
                    <a:p>
                      <a:pPr algn="ctr">
                        <a:spcAft>
                          <a:spcPts val="0"/>
                        </a:spcAft>
                      </a:pPr>
                      <a:r>
                        <a:rPr lang="en-US" altLang="zh-CN" sz="1800" b="1" kern="100" dirty="0" err="1">
                          <a:solidFill>
                            <a:schemeClr val="tx1"/>
                          </a:solidFill>
                          <a:effectLst/>
                          <a:latin typeface="+mn-ea"/>
                          <a:cs typeface="Times New Roman" pitchFamily="18" charset="0"/>
                        </a:rPr>
                        <a:t>addi.w</a:t>
                      </a:r>
                      <a:endParaRPr lang="en-US" altLang="zh-CN" sz="1800" b="1" kern="100" dirty="0" err="1">
                        <a:solidFill>
                          <a:schemeClr val="tx1"/>
                        </a:solidFill>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0">
                  <a:txBody>
                    <a:bodyPr/>
                    <a:lstStyle/>
                    <a:p>
                      <a:pPr algn="ctr">
                        <a:spcAft>
                          <a:spcPts val="0"/>
                        </a:spcAft>
                      </a:pPr>
                      <a:r>
                        <a:rPr lang="en-US" altLang="zh-CN" sz="1200" b="0" kern="100" dirty="0">
                          <a:effectLst/>
                          <a:latin typeface="+mj-lt"/>
                          <a:ea typeface="永中宋体"/>
                          <a:cs typeface="Times New Roman" pitchFamily="18" charset="0"/>
                        </a:rPr>
                        <a:t>0000001010</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gridSpan="12">
                  <a:txBody>
                    <a:bodyPr/>
                    <a:lstStyle/>
                    <a:p>
                      <a:pPr algn="ctr">
                        <a:spcAft>
                          <a:spcPts val="0"/>
                        </a:spcAft>
                      </a:pPr>
                      <a:r>
                        <a:rPr lang="en-US" altLang="zh-CN" sz="1200" b="0" kern="100" dirty="0">
                          <a:effectLst/>
                          <a:latin typeface="+mj-lt"/>
                          <a:ea typeface="永中宋体"/>
                          <a:cs typeface="Times New Roman" pitchFamily="18" charset="0"/>
                        </a:rPr>
                        <a:t>si12</a:t>
                      </a:r>
                      <a:endParaRPr lang="zh-CN" sz="1200" b="0" kern="100" dirty="0">
                        <a:effectLst/>
                        <a:latin typeface="+mj-lt"/>
                        <a:ea typeface="永中宋体"/>
                        <a:cs typeface="Times New Roman" pitchFamily="18" charset="0"/>
                      </a:endParaRPr>
                    </a:p>
                  </a:txBody>
                  <a:tcPr marL="0" marR="0" marT="0" marB="0" anchor="ctr"/>
                </a:tc>
                <a:tc hMerge="1">
                  <a:tcPr marL="0" marR="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lstStyle/>
                    <a:p>
                      <a:pPr algn="ctr">
                        <a:spcAft>
                          <a:spcPts val="0"/>
                        </a:spcAft>
                      </a:pPr>
                      <a:r>
                        <a:rPr lang="en-US" altLang="zh-CN" sz="1200" b="0" kern="100" dirty="0" err="1">
                          <a:effectLst/>
                          <a:latin typeface="+mj-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T w="12700" cap="flat" cmpd="sng" algn="ctr">
                      <a:solidFill>
                        <a:srgbClr val="000000"/>
                      </a:solidFill>
                      <a:prstDash val="solid"/>
                      <a:round/>
                      <a:headEnd type="none" w="med" len="med"/>
                      <a:tailEnd type="none" w="med" len="med"/>
                    </a:lnT>
                  </a:tcPr>
                </a:tc>
                <a:tc hMerge="1">
                  <a:tcPr marL="0" marR="0" marT="0" marB="0" anchor="ctr">
                    <a:lnT w="12700" cap="flat" cmpd="sng" algn="ctr">
                      <a:solidFill>
                        <a:srgbClr val="000000"/>
                      </a:solidFill>
                      <a:prstDash val="solid"/>
                      <a:round/>
                      <a:headEnd type="none" w="med" len="med"/>
                      <a:tailEnd type="none" w="med" len="med"/>
                    </a:lnT>
                  </a:tcPr>
                </a:tc>
                <a:tc hMerge="1">
                  <a:tcPr marL="0" marR="0" marT="0" marB="0" anchor="ctr"/>
                </a:tc>
                <a:tc hMerge="1">
                  <a:tcPr marL="0" marR="0" marT="0" marB="0" anchor="ctr"/>
                </a:tc>
                <a:tc hMerge="1">
                  <a:tcPr marL="0" marR="0" marT="0" marB="0" anchor="ct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lnT w="12700" cap="flat" cmpd="sng" algn="ctr">
                      <a:solidFill>
                        <a:srgbClr val="000000"/>
                      </a:solidFill>
                      <a:prstDash val="solid"/>
                      <a:round/>
                      <a:headEnd type="none" w="med" len="med"/>
                      <a:tailEnd type="none" w="med" len="med"/>
                    </a:lnT>
                  </a:tcP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hMerge="1">
                  <a:tcPr marL="0" marR="0" marT="0" marB="0" anchor="ctr">
                    <a:lnT w="12700" cap="flat" cmpd="sng" algn="ctr">
                      <a:solidFill>
                        <a:srgbClr val="000000"/>
                      </a:solidFill>
                      <a:prstDash val="solid"/>
                      <a:round/>
                      <a:headEnd type="none" w="med" len="med"/>
                      <a:tailEnd type="none" w="med" len="med"/>
                    </a:lnT>
                  </a:tcPr>
                </a:tc>
                <a:tc hMerge="1">
                  <a:tcPr marL="0" marR="0" marT="0" marB="0" anchor="ctr">
                    <a:lnT w="12700" cap="flat" cmpd="sng" algn="ctr">
                      <a:solidFill>
                        <a:srgbClr val="000000"/>
                      </a:solidFill>
                      <a:prstDash val="solid"/>
                      <a:round/>
                      <a:headEnd type="none" w="med" len="med"/>
                      <a:tailEnd type="none" w="med" len="med"/>
                    </a:lnT>
                  </a:tcPr>
                </a:tc>
              </a:tr>
              <a:tr h="28550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00" cap="none" spc="0" normalizeH="0" baseline="0" noProof="0" dirty="0">
                          <a:ln>
                            <a:noFill/>
                          </a:ln>
                          <a:solidFill>
                            <a:srgbClr val="000000"/>
                          </a:solidFill>
                          <a:effectLst/>
                          <a:uLnTx/>
                          <a:uFillTx/>
                          <a:latin typeface="+mn-ea"/>
                          <a:cs typeface="Times New Roman" pitchFamily="18" charset="0"/>
                        </a:rPr>
                        <a:t>lu12i.w</a:t>
                      </a:r>
                      <a:endParaRPr kumimoji="0" lang="en-US" altLang="zh-CN" sz="1800" b="1" i="0" u="none" strike="noStrike" kern="100" cap="none" spc="0" normalizeH="0" baseline="0" noProof="0" dirty="0">
                        <a:ln>
                          <a:noFill/>
                        </a:ln>
                        <a:solidFill>
                          <a:srgbClr val="000000"/>
                        </a:solidFill>
                        <a:effectLst/>
                        <a:uLnTx/>
                        <a:uFillTx/>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7">
                  <a:txBody>
                    <a:bodyPr/>
                    <a:lstStyle/>
                    <a:p>
                      <a:pPr algn="ctr">
                        <a:spcAft>
                          <a:spcPts val="0"/>
                        </a:spcAft>
                      </a:pPr>
                      <a:r>
                        <a:rPr lang="en-US" altLang="zh-CN" sz="1200" b="0" kern="100" dirty="0">
                          <a:effectLst/>
                          <a:latin typeface="+mj-lt"/>
                          <a:ea typeface="永中宋体"/>
                          <a:cs typeface="Times New Roman" pitchFamily="18" charset="0"/>
                        </a:rPr>
                        <a:t>0001010</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0">
                  <a:txBody>
                    <a:bodyPr/>
                    <a:lstStyle/>
                    <a:p>
                      <a:pPr algn="ctr">
                        <a:spcAft>
                          <a:spcPts val="0"/>
                        </a:spcAft>
                      </a:pPr>
                      <a:r>
                        <a:rPr lang="en-US" altLang="zh-CN" sz="1200" b="0" kern="100" dirty="0">
                          <a:effectLst/>
                          <a:latin typeface="+mj-lt"/>
                          <a:cs typeface="Times New Roman" pitchFamily="18" charset="0"/>
                        </a:rPr>
                        <a:t>si20</a:t>
                      </a:r>
                      <a:endParaRPr lang="zh-CN" altLang="en-US" sz="1200" b="0" kern="100" dirty="0">
                        <a:effectLst/>
                        <a:latin typeface="+mj-lt"/>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c hMerge="1">
                  <a:tcPr marL="0" marR="0" marT="0" marB="0" anchor="ctr"/>
                </a:tc>
                <a:tc hMerge="1">
                  <a:tcPr marL="0" marR="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285503">
                <a:tc>
                  <a:txBody>
                    <a:bodyPr/>
                    <a:lstStyle/>
                    <a:p>
                      <a:pPr algn="ctr">
                        <a:spcAft>
                          <a:spcPts val="0"/>
                        </a:spcAft>
                      </a:pPr>
                      <a:r>
                        <a:rPr lang="en-US" sz="1800" b="1" kern="100" dirty="0" err="1">
                          <a:effectLst/>
                          <a:latin typeface="+mn-ea"/>
                          <a:cs typeface="Times New Roman" pitchFamily="18" charset="0"/>
                        </a:rPr>
                        <a:t>ld.w</a:t>
                      </a:r>
                      <a:endParaRPr lang="en-US" sz="1800" b="1" kern="100" dirty="0" err="1">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0">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0" kern="100" dirty="0">
                          <a:solidFill>
                            <a:schemeClr val="tx1"/>
                          </a:solidFill>
                          <a:effectLst/>
                          <a:latin typeface="+mn-lt"/>
                          <a:ea typeface="永中宋体"/>
                          <a:cs typeface="Times New Roman" pitchFamily="18" charset="0"/>
                        </a:rPr>
                        <a:t>0010100010</a:t>
                      </a:r>
                      <a:endParaRPr lang="zh-CN" altLang="zh-CN" sz="1200" b="0" kern="100" dirty="0">
                        <a:solidFill>
                          <a:schemeClr val="tx1"/>
                        </a:solidFill>
                        <a:effectLst/>
                        <a:latin typeface="+mn-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gridSpan="12">
                  <a:txBody>
                    <a:bodyPr/>
                    <a:lstStyle/>
                    <a:p>
                      <a:pPr algn="ctr">
                        <a:spcAft>
                          <a:spcPts val="0"/>
                        </a:spcAft>
                      </a:pPr>
                      <a:r>
                        <a:rPr lang="en-US" altLang="zh-CN" sz="1200" b="0" kern="100" dirty="0">
                          <a:effectLst/>
                          <a:latin typeface="+mj-lt"/>
                          <a:ea typeface="永中宋体"/>
                          <a:cs typeface="Times New Roman" pitchFamily="18" charset="0"/>
                        </a:rPr>
                        <a:t>si12</a:t>
                      </a:r>
                      <a:endParaRPr lang="zh-CN" sz="1200" b="0" kern="100" dirty="0">
                        <a:effectLst/>
                        <a:latin typeface="+mj-lt"/>
                        <a:ea typeface="永中宋体"/>
                        <a:cs typeface="Times New Roman" pitchFamily="18" charset="0"/>
                      </a:endParaRPr>
                    </a:p>
                  </a:txBody>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lstStyle/>
                    <a:p>
                      <a:pPr algn="ctr">
                        <a:spcAft>
                          <a:spcPts val="0"/>
                        </a:spcAft>
                      </a:pPr>
                      <a:r>
                        <a:rPr lang="en-US" altLang="zh-CN" sz="1200" b="0" kern="100" dirty="0" err="1">
                          <a:effectLst/>
                          <a:latin typeface="+mj-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285503">
                <a:tc>
                  <a:txBody>
                    <a:bodyPr/>
                    <a:lstStyle/>
                    <a:p>
                      <a:pPr algn="ctr">
                        <a:spcAft>
                          <a:spcPts val="0"/>
                        </a:spcAft>
                      </a:pPr>
                      <a:r>
                        <a:rPr lang="en-US" altLang="zh-CN" sz="1800" b="1" kern="100" dirty="0" err="1">
                          <a:effectLst/>
                          <a:latin typeface="+mn-ea"/>
                          <a:cs typeface="Times New Roman" pitchFamily="18" charset="0"/>
                        </a:rPr>
                        <a:t>st.w</a:t>
                      </a:r>
                      <a:endParaRPr lang="en-US" altLang="zh-CN" sz="1800" b="1" kern="100" dirty="0" err="1">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0">
                  <a:txBody>
                    <a:bodyPr/>
                    <a:lstStyle/>
                    <a:p>
                      <a:pPr algn="ctr">
                        <a:spcAft>
                          <a:spcPts val="0"/>
                        </a:spcAft>
                      </a:pPr>
                      <a:r>
                        <a:rPr lang="en-US" altLang="zh-CN" sz="1200" b="0" kern="100" dirty="0">
                          <a:effectLst/>
                          <a:latin typeface="+mj-lt"/>
                          <a:ea typeface="永中宋体"/>
                          <a:cs typeface="Times New Roman" pitchFamily="18" charset="0"/>
                        </a:rPr>
                        <a:t>0010100110</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gridSpan="12">
                  <a:txBody>
                    <a:bodyPr/>
                    <a:lstStyle/>
                    <a:p>
                      <a:pPr algn="ctr">
                        <a:spcAft>
                          <a:spcPts val="0"/>
                        </a:spcAft>
                      </a:pPr>
                      <a:r>
                        <a:rPr lang="en-US" altLang="zh-CN" sz="1200" b="0" kern="100" dirty="0">
                          <a:effectLst/>
                          <a:latin typeface="+mj-lt"/>
                          <a:ea typeface="永中宋体"/>
                          <a:cs typeface="Times New Roman" pitchFamily="18" charset="0"/>
                        </a:rPr>
                        <a:t>si12</a:t>
                      </a:r>
                      <a:endParaRPr lang="zh-CN" sz="1200" b="0" kern="100" dirty="0">
                        <a:effectLst/>
                        <a:latin typeface="+mj-lt"/>
                        <a:ea typeface="永中宋体"/>
                        <a:cs typeface="Times New Roman" pitchFamily="18" charset="0"/>
                      </a:endParaRPr>
                    </a:p>
                  </a:txBody>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lstStyle/>
                    <a:p>
                      <a:pPr algn="ctr">
                        <a:spcAft>
                          <a:spcPts val="0"/>
                        </a:spcAft>
                      </a:pPr>
                      <a:r>
                        <a:rPr lang="en-US" altLang="zh-CN" sz="1200" b="0" kern="100" dirty="0" err="1">
                          <a:effectLst/>
                          <a:latin typeface="+mj-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285503">
                <a:tc>
                  <a:txBody>
                    <a:bodyPr/>
                    <a:lstStyle/>
                    <a:p>
                      <a:pPr algn="ctr">
                        <a:spcAft>
                          <a:spcPts val="0"/>
                        </a:spcAft>
                      </a:pPr>
                      <a:r>
                        <a:rPr lang="en-US" altLang="zh-CN" sz="1800" b="1" kern="100" dirty="0" err="1">
                          <a:solidFill>
                            <a:schemeClr val="tx1"/>
                          </a:solidFill>
                          <a:effectLst/>
                          <a:latin typeface="+mn-ea"/>
                          <a:cs typeface="Times New Roman" pitchFamily="18" charset="0"/>
                        </a:rPr>
                        <a:t>jirl</a:t>
                      </a:r>
                      <a:endParaRPr lang="en-US" altLang="zh-CN" sz="1800" b="1" kern="100" dirty="0" err="1">
                        <a:solidFill>
                          <a:schemeClr val="tx1"/>
                        </a:solidFill>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6">
                  <a:txBody>
                    <a:bodyPr/>
                    <a:lstStyle/>
                    <a:p>
                      <a:pPr algn="ctr">
                        <a:spcAft>
                          <a:spcPts val="0"/>
                        </a:spcAft>
                      </a:pPr>
                      <a:r>
                        <a:rPr lang="en-US" altLang="zh-CN" sz="1200" b="0" kern="100" dirty="0">
                          <a:effectLst/>
                          <a:latin typeface="+mj-lt"/>
                          <a:ea typeface="永中宋体"/>
                          <a:cs typeface="Times New Roman" pitchFamily="18" charset="0"/>
                        </a:rPr>
                        <a:t>010011</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gridSpan="16">
                  <a:txBody>
                    <a:bodyPr/>
                    <a:lstStyle/>
                    <a:p>
                      <a:pPr algn="ctr">
                        <a:spcAft>
                          <a:spcPts val="0"/>
                        </a:spcAft>
                      </a:pPr>
                      <a:r>
                        <a:rPr lang="en-US" altLang="zh-CN" sz="1200" b="0" kern="100" dirty="0">
                          <a:solidFill>
                            <a:schemeClr val="tx1"/>
                          </a:solidFill>
                          <a:effectLst/>
                          <a:latin typeface="+mn-lt"/>
                          <a:ea typeface="永中宋体"/>
                          <a:cs typeface="Times New Roman" pitchFamily="18" charset="0"/>
                        </a:rPr>
                        <a:t>offs[15:0]</a:t>
                      </a:r>
                      <a:endParaRPr lang="zh-CN" altLang="zh-CN" sz="1200" b="0" kern="100" dirty="0">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lstStyle/>
                    <a:p>
                      <a:pPr algn="ctr">
                        <a:spcAft>
                          <a:spcPts val="0"/>
                        </a:spcAft>
                      </a:pPr>
                      <a:r>
                        <a:rPr lang="en-US" altLang="zh-CN" sz="1200" b="0" kern="100" dirty="0" err="1">
                          <a:effectLst/>
                          <a:latin typeface="+mj-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285503">
                <a:tc>
                  <a:txBody>
                    <a:bodyPr/>
                    <a:lstStyle/>
                    <a:p>
                      <a:pPr algn="ctr">
                        <a:spcAft>
                          <a:spcPts val="0"/>
                        </a:spcAft>
                      </a:pPr>
                      <a:r>
                        <a:rPr lang="en-US" altLang="zh-CN" sz="1800" b="1" kern="100" dirty="0" err="1">
                          <a:effectLst/>
                          <a:latin typeface="+mn-ea"/>
                          <a:cs typeface="Times New Roman" pitchFamily="18" charset="0"/>
                        </a:rPr>
                        <a:t>beq</a:t>
                      </a:r>
                      <a:endParaRPr lang="en-US" altLang="zh-CN" sz="1800" b="1" kern="100" dirty="0" err="1">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6">
                  <a:txBody>
                    <a:bodyPr/>
                    <a:lstStyle/>
                    <a:p>
                      <a:pPr algn="ctr">
                        <a:spcAft>
                          <a:spcPts val="0"/>
                        </a:spcAft>
                      </a:pPr>
                      <a:r>
                        <a:rPr lang="en-US" altLang="zh-CN" sz="1200" b="0" kern="100" dirty="0">
                          <a:effectLst/>
                          <a:latin typeface="+mj-lt"/>
                          <a:ea typeface="永中宋体"/>
                          <a:cs typeface="Times New Roman" pitchFamily="18" charset="0"/>
                        </a:rPr>
                        <a:t>010110</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gridSpan="16">
                  <a:txBody>
                    <a:bodyPr/>
                    <a:lstStyle/>
                    <a:p>
                      <a:pPr algn="ctr">
                        <a:spcAft>
                          <a:spcPts val="0"/>
                        </a:spcAft>
                      </a:pPr>
                      <a:r>
                        <a:rPr lang="en-US" altLang="zh-CN" sz="1200" b="0" kern="100" dirty="0">
                          <a:solidFill>
                            <a:schemeClr val="tx1"/>
                          </a:solidFill>
                          <a:effectLst/>
                          <a:latin typeface="+mn-lt"/>
                          <a:ea typeface="永中宋体"/>
                          <a:cs typeface="Times New Roman" pitchFamily="18" charset="0"/>
                        </a:rPr>
                        <a:t>offs[15:0]</a:t>
                      </a:r>
                      <a:endParaRPr lang="zh-CN" altLang="zh-CN" sz="1200" b="0" kern="100" dirty="0">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lstStyle/>
                    <a:p>
                      <a:pPr algn="ctr">
                        <a:spcAft>
                          <a:spcPts val="0"/>
                        </a:spcAft>
                      </a:pPr>
                      <a:r>
                        <a:rPr lang="en-US" altLang="zh-CN" sz="1200" b="0" kern="100" dirty="0" err="1">
                          <a:effectLst/>
                          <a:latin typeface="+mj-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c hMerge="1">
                  <a:tcPr marL="0" marR="0" marT="0" marB="0" anchor="ctr"/>
                </a:tc>
                <a:tc hMerge="1">
                  <a:tcPr marL="0" marR="0" marT="0" marB="0" anchor="ct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285503">
                <a:tc>
                  <a:txBody>
                    <a:bodyPr/>
                    <a:lstStyle/>
                    <a:p>
                      <a:pPr algn="ctr">
                        <a:spcAft>
                          <a:spcPts val="0"/>
                        </a:spcAft>
                      </a:pPr>
                      <a:r>
                        <a:rPr lang="en-US" altLang="zh-CN" sz="1800" b="1" kern="100" dirty="0" err="1">
                          <a:effectLst/>
                          <a:latin typeface="+mn-ea"/>
                          <a:cs typeface="Times New Roman" pitchFamily="18" charset="0"/>
                        </a:rPr>
                        <a:t>bne</a:t>
                      </a:r>
                      <a:endParaRPr lang="en-US" altLang="zh-CN" sz="1800" b="1" kern="100" dirty="0" err="1">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6">
                  <a:txBody>
                    <a:bodyPr/>
                    <a:lstStyle/>
                    <a:p>
                      <a:pPr algn="ctr">
                        <a:spcAft>
                          <a:spcPts val="0"/>
                        </a:spcAft>
                      </a:pPr>
                      <a:r>
                        <a:rPr lang="en-US" altLang="zh-CN" sz="1200" b="0" kern="100" dirty="0">
                          <a:effectLst/>
                          <a:latin typeface="+mj-lt"/>
                          <a:ea typeface="永中宋体"/>
                          <a:cs typeface="Times New Roman" pitchFamily="18" charset="0"/>
                        </a:rPr>
                        <a:t>010111</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gridSpan="16">
                  <a:txBody>
                    <a:bodyPr/>
                    <a:lstStyle/>
                    <a:p>
                      <a:pPr algn="ctr">
                        <a:spcAft>
                          <a:spcPts val="0"/>
                        </a:spcAft>
                      </a:pPr>
                      <a:r>
                        <a:rPr lang="en-US" altLang="zh-CN" sz="1200" b="0" kern="100" dirty="0">
                          <a:solidFill>
                            <a:schemeClr val="tx1"/>
                          </a:solidFill>
                          <a:effectLst/>
                          <a:latin typeface="+mn-lt"/>
                          <a:ea typeface="永中宋体"/>
                          <a:cs typeface="Times New Roman" pitchFamily="18" charset="0"/>
                        </a:rPr>
                        <a:t>offs[15:0]</a:t>
                      </a:r>
                      <a:endParaRPr lang="zh-CN" altLang="zh-CN" sz="1200" b="0" kern="100" dirty="0">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lstStyle/>
                    <a:p>
                      <a:pPr algn="ctr">
                        <a:spcAft>
                          <a:spcPts val="0"/>
                        </a:spcAft>
                      </a:pPr>
                      <a:r>
                        <a:rPr lang="en-US" altLang="zh-CN" sz="1200" b="0" kern="100" dirty="0" err="1">
                          <a:effectLst/>
                          <a:latin typeface="+mj-lt"/>
                          <a:ea typeface="永中宋体"/>
                          <a:cs typeface="Times New Roman" pitchFamily="18" charset="0"/>
                        </a:rPr>
                        <a:t>rj</a:t>
                      </a:r>
                      <a:endParaRPr lang="zh-CN" sz="12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c hMerge="1">
                  <a:tcPr marL="0" marR="0" marT="0" marB="0" anchor="ctr"/>
                </a:tc>
                <a:tc hMerge="1">
                  <a:tcPr marL="0" marR="0" marT="0" marB="0" anchor="ctr"/>
                </a:tc>
                <a:tc gridSpan="5">
                  <a:txBody>
                    <a:bodyPr/>
                    <a:lstStyle/>
                    <a:p>
                      <a:pPr algn="ctr">
                        <a:spcAft>
                          <a:spcPts val="0"/>
                        </a:spcAft>
                      </a:pPr>
                      <a:r>
                        <a:rPr lang="en-US" altLang="zh-CN" sz="1200" b="0" kern="100" dirty="0" err="1">
                          <a:effectLst/>
                          <a:latin typeface="+mj-lt"/>
                          <a:ea typeface="永中宋体"/>
                          <a:cs typeface="Times New Roman" pitchFamily="18" charset="0"/>
                        </a:rPr>
                        <a:t>rd</a:t>
                      </a:r>
                      <a:endParaRPr lang="zh-CN" sz="1200" b="0" kern="100" dirty="0">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285503">
                <a:tc>
                  <a:txBody>
                    <a:bodyPr/>
                    <a:lstStyle/>
                    <a:p>
                      <a:pPr algn="ctr">
                        <a:spcAft>
                          <a:spcPts val="0"/>
                        </a:spcAft>
                      </a:pPr>
                      <a:r>
                        <a:rPr lang="en-US" altLang="zh-CN" sz="1800" b="1" kern="100" dirty="0">
                          <a:effectLst/>
                          <a:latin typeface="+mn-ea"/>
                          <a:cs typeface="Times New Roman" pitchFamily="18" charset="0"/>
                        </a:rPr>
                        <a:t>b</a:t>
                      </a:r>
                      <a:endParaRPr lang="en-US" altLang="zh-CN" sz="1800" b="1" kern="100" dirty="0">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6">
                  <a:txBody>
                    <a:bodyPr/>
                    <a:lstStyle/>
                    <a:p>
                      <a:pPr algn="ctr">
                        <a:spcAft>
                          <a:spcPts val="0"/>
                        </a:spcAft>
                      </a:pPr>
                      <a:r>
                        <a:rPr lang="en-US" altLang="zh-CN" sz="1200" b="0" kern="100" dirty="0">
                          <a:effectLst/>
                          <a:latin typeface="+mj-lt"/>
                          <a:ea typeface="永中宋体"/>
                          <a:cs typeface="Times New Roman" pitchFamily="18" charset="0"/>
                        </a:rPr>
                        <a:t>010100</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gridSpan="16">
                  <a:txBody>
                    <a:bodyPr/>
                    <a:lstStyle/>
                    <a:p>
                      <a:pPr algn="ctr">
                        <a:spcAft>
                          <a:spcPts val="0"/>
                        </a:spcAft>
                      </a:pPr>
                      <a:r>
                        <a:rPr lang="en-US" altLang="zh-CN" sz="1200" b="0" kern="100" dirty="0">
                          <a:solidFill>
                            <a:schemeClr val="tx1"/>
                          </a:solidFill>
                          <a:effectLst/>
                          <a:latin typeface="+mn-lt"/>
                          <a:ea typeface="永中宋体"/>
                          <a:cs typeface="Times New Roman" pitchFamily="18" charset="0"/>
                        </a:rPr>
                        <a:t>offs[15:0]</a:t>
                      </a:r>
                      <a:endParaRPr lang="zh-CN" altLang="zh-CN" sz="1200" b="0" kern="100" dirty="0">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10">
                  <a:txBody>
                    <a:bodyPr/>
                    <a:lstStyle/>
                    <a:p>
                      <a:pPr algn="ctr">
                        <a:spcAft>
                          <a:spcPts val="0"/>
                        </a:spcAft>
                      </a:pPr>
                      <a:r>
                        <a:rPr lang="en-US" altLang="zh-CN" sz="1200" b="0" kern="100" dirty="0">
                          <a:effectLst/>
                          <a:latin typeface="+mj-lt"/>
                          <a:ea typeface="永中宋体"/>
                          <a:cs typeface="Times New Roman" pitchFamily="18" charset="0"/>
                        </a:rPr>
                        <a:t>offs[25:16]</a:t>
                      </a:r>
                      <a:endParaRPr lang="zh-CN" sz="1200" b="0" kern="100" dirty="0">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285503">
                <a:tc>
                  <a:txBody>
                    <a:bodyPr/>
                    <a:lstStyle/>
                    <a:p>
                      <a:pPr algn="ctr">
                        <a:spcAft>
                          <a:spcPts val="0"/>
                        </a:spcAft>
                      </a:pPr>
                      <a:r>
                        <a:rPr lang="en-US" altLang="zh-CN" sz="1800" b="1" kern="100" dirty="0">
                          <a:effectLst/>
                          <a:latin typeface="+mn-ea"/>
                          <a:cs typeface="Times New Roman" pitchFamily="18" charset="0"/>
                        </a:rPr>
                        <a:t>bl</a:t>
                      </a:r>
                      <a:endParaRPr lang="en-US" altLang="zh-CN" sz="1800" b="1" kern="100" dirty="0">
                        <a:effectLst/>
                        <a:latin typeface="+mn-ea"/>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6">
                  <a:txBody>
                    <a:bodyPr/>
                    <a:lstStyle/>
                    <a:p>
                      <a:pPr algn="ctr">
                        <a:spcAft>
                          <a:spcPts val="0"/>
                        </a:spcAft>
                      </a:pPr>
                      <a:r>
                        <a:rPr lang="en-US" altLang="zh-CN" sz="1200" b="0" kern="100" dirty="0">
                          <a:effectLst/>
                          <a:latin typeface="+mj-lt"/>
                          <a:ea typeface="永中宋体"/>
                          <a:cs typeface="Times New Roman" pitchFamily="18" charset="0"/>
                        </a:rPr>
                        <a:t>010101</a:t>
                      </a:r>
                      <a:endParaRPr lang="zh-CN" sz="12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gridSpan="16">
                  <a:txBody>
                    <a:bodyPr/>
                    <a:lstStyle/>
                    <a:p>
                      <a:pPr algn="ctr">
                        <a:spcAft>
                          <a:spcPts val="0"/>
                        </a:spcAft>
                      </a:pPr>
                      <a:r>
                        <a:rPr lang="en-US" altLang="zh-CN" sz="1200" b="0" kern="100" dirty="0">
                          <a:solidFill>
                            <a:schemeClr val="tx1"/>
                          </a:solidFill>
                          <a:effectLst/>
                          <a:latin typeface="+mn-lt"/>
                          <a:ea typeface="永中宋体"/>
                          <a:cs typeface="Times New Roman" pitchFamily="18" charset="0"/>
                        </a:rPr>
                        <a:t>offs[15:0]</a:t>
                      </a:r>
                      <a:endParaRPr lang="zh-CN" altLang="zh-CN" sz="1200" b="0" kern="100" dirty="0">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10">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0" kern="100" dirty="0">
                          <a:solidFill>
                            <a:schemeClr val="tx1"/>
                          </a:solidFill>
                          <a:effectLst/>
                          <a:latin typeface="+mn-lt"/>
                          <a:ea typeface="永中宋体"/>
                          <a:cs typeface="Times New Roman" pitchFamily="18" charset="0"/>
                        </a:rPr>
                        <a:t>offs[25:16]</a:t>
                      </a:r>
                      <a:endParaRPr lang="zh-CN" altLang="zh-CN" sz="1200" b="0" kern="100" dirty="0">
                        <a:solidFill>
                          <a:schemeClr val="tx1"/>
                        </a:solidFill>
                        <a:effectLst/>
                        <a:latin typeface="+mn-lt"/>
                        <a:ea typeface="永中宋体"/>
                        <a:cs typeface="Times New Roman" pitchFamily="18" charset="0"/>
                      </a:endParaRPr>
                    </a:p>
                  </a:txBody>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bl>
          </a:graphicData>
        </a:graphic>
      </p:graphicFrame>
      <p:sp>
        <p:nvSpPr>
          <p:cNvPr id="11455" name="文本框 4"/>
          <p:cNvSpPr txBox="1"/>
          <p:nvPr/>
        </p:nvSpPr>
        <p:spPr>
          <a:xfrm>
            <a:off x="10256350" y="2604294"/>
            <a:ext cx="1625388" cy="368300"/>
          </a:xfrm>
          <a:prstGeom prst="rect">
            <a:avLst/>
          </a:prstGeom>
          <a:noFill/>
          <a:ln w="9525">
            <a:noFill/>
          </a:ln>
        </p:spPr>
        <p:txBody>
          <a:bodyPr anchor="ctr" anchorCtr="0">
            <a:spAutoFit/>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algn="ctr" eaLnBrk="1" hangingPunct="1">
              <a:lnSpc>
                <a:spcPct val="100000"/>
              </a:lnSpc>
              <a:spcBef>
                <a:spcPct val="50000"/>
              </a:spcBef>
              <a:buNone/>
            </a:pPr>
            <a:r>
              <a:rPr lang="en-US" altLang="zh-CN" sz="1800" dirty="0">
                <a:solidFill>
                  <a:srgbClr val="C00000"/>
                </a:solidFill>
                <a:latin typeface="Times New Roman" pitchFamily="18" charset="0"/>
              </a:rPr>
              <a:t>ALU</a:t>
            </a:r>
            <a:endParaRPr lang="zh-CN" altLang="en-US" sz="1800" dirty="0">
              <a:solidFill>
                <a:srgbClr val="C00000"/>
              </a:solidFill>
              <a:latin typeface="Times New Roman" pitchFamily="18" charset="0"/>
            </a:endParaRPr>
          </a:p>
        </p:txBody>
      </p:sp>
      <p:sp>
        <p:nvSpPr>
          <p:cNvPr id="11456" name="文本框 115"/>
          <p:cNvSpPr txBox="1"/>
          <p:nvPr/>
        </p:nvSpPr>
        <p:spPr>
          <a:xfrm>
            <a:off x="10256350" y="4892675"/>
            <a:ext cx="1625388" cy="368300"/>
          </a:xfrm>
          <a:prstGeom prst="rect">
            <a:avLst/>
          </a:prstGeom>
          <a:noFill/>
          <a:ln w="9525">
            <a:noFill/>
          </a:ln>
        </p:spPr>
        <p:txBody>
          <a:bodyPr anchor="ctr" anchorCtr="0">
            <a:spAutoFit/>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algn="ctr" eaLnBrk="1" hangingPunct="1">
              <a:lnSpc>
                <a:spcPct val="100000"/>
              </a:lnSpc>
              <a:spcBef>
                <a:spcPct val="50000"/>
              </a:spcBef>
              <a:buNone/>
            </a:pPr>
            <a:r>
              <a:rPr lang="zh-CN" altLang="en-US" sz="1800" dirty="0">
                <a:solidFill>
                  <a:srgbClr val="C00000"/>
                </a:solidFill>
                <a:latin typeface="Times New Roman" pitchFamily="18" charset="0"/>
              </a:rPr>
              <a:t>访存</a:t>
            </a:r>
            <a:endParaRPr lang="zh-CN" altLang="en-US" sz="1800" dirty="0">
              <a:solidFill>
                <a:srgbClr val="C00000"/>
              </a:solidFill>
              <a:latin typeface="Times New Roman" pitchFamily="18" charset="0"/>
            </a:endParaRPr>
          </a:p>
        </p:txBody>
      </p:sp>
      <p:sp>
        <p:nvSpPr>
          <p:cNvPr id="11457" name="文本框 116"/>
          <p:cNvSpPr txBox="1"/>
          <p:nvPr/>
        </p:nvSpPr>
        <p:spPr>
          <a:xfrm>
            <a:off x="10256350" y="5879308"/>
            <a:ext cx="1625388" cy="368300"/>
          </a:xfrm>
          <a:prstGeom prst="rect">
            <a:avLst/>
          </a:prstGeom>
          <a:noFill/>
          <a:ln w="9525">
            <a:noFill/>
          </a:ln>
        </p:spPr>
        <p:txBody>
          <a:bodyPr anchor="ctr" anchorCtr="0">
            <a:spAutoFit/>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algn="ctr" eaLnBrk="1" hangingPunct="1">
              <a:lnSpc>
                <a:spcPct val="100000"/>
              </a:lnSpc>
              <a:spcBef>
                <a:spcPct val="50000"/>
              </a:spcBef>
              <a:buNone/>
            </a:pPr>
            <a:r>
              <a:rPr lang="zh-CN" altLang="en-US" sz="1800" dirty="0">
                <a:solidFill>
                  <a:srgbClr val="C00000"/>
                </a:solidFill>
                <a:latin typeface="Times New Roman" pitchFamily="18" charset="0"/>
              </a:rPr>
              <a:t>转移</a:t>
            </a:r>
            <a:endParaRPr lang="zh-CN" altLang="en-US" sz="1800" dirty="0">
              <a:solidFill>
                <a:srgbClr val="C00000"/>
              </a:solidFill>
              <a:latin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12291" name="Rectangle 289"/>
          <p:cNvSpPr/>
          <p:nvPr/>
        </p:nvSpPr>
        <p:spPr>
          <a:xfrm>
            <a:off x="504020" y="515939"/>
            <a:ext cx="5314259" cy="2447925"/>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spcBef>
                <a:spcPct val="0"/>
              </a:spcBef>
            </a:pPr>
            <a:r>
              <a:rPr lang="zh-CN" altLang="en-US" b="1" dirty="0">
                <a:cs typeface="+mn-ea"/>
              </a:rPr>
              <a:t>主要数据通路</a:t>
            </a:r>
            <a:endParaRPr lang="en-US" altLang="zh-CN" b="1" dirty="0">
              <a:cs typeface="+mn-ea"/>
            </a:endParaRPr>
          </a:p>
          <a:p>
            <a:pPr marL="742950" lvl="1" indent="-285750" eaLnBrk="1" hangingPunct="1">
              <a:spcBef>
                <a:spcPct val="0"/>
              </a:spcBef>
            </a:pPr>
            <a:r>
              <a:rPr lang="zh-CN" altLang="en-US" b="1" dirty="0">
                <a:cs typeface="+mn-ea"/>
              </a:rPr>
              <a:t>指令存储器</a:t>
            </a:r>
            <a:endParaRPr lang="en-US" altLang="zh-CN" b="1" dirty="0">
              <a:cs typeface="+mn-ea"/>
            </a:endParaRPr>
          </a:p>
          <a:p>
            <a:pPr marL="742950" lvl="1" indent="-285750" eaLnBrk="1" hangingPunct="1">
              <a:spcBef>
                <a:spcPct val="0"/>
              </a:spcBef>
            </a:pPr>
            <a:r>
              <a:rPr lang="zh-CN" altLang="en-US" b="1" dirty="0">
                <a:cs typeface="+mn-ea"/>
              </a:rPr>
              <a:t>数据存储器</a:t>
            </a:r>
            <a:endParaRPr lang="en-US" altLang="zh-CN" b="1" dirty="0">
              <a:cs typeface="+mn-ea"/>
            </a:endParaRPr>
          </a:p>
          <a:p>
            <a:pPr marL="742950" lvl="1" indent="-285750" eaLnBrk="1" hangingPunct="1">
              <a:spcBef>
                <a:spcPct val="0"/>
              </a:spcBef>
            </a:pPr>
            <a:r>
              <a:rPr lang="zh-CN" altLang="en-US" b="1" dirty="0">
                <a:cs typeface="+mn-ea"/>
              </a:rPr>
              <a:t>寄存器堆</a:t>
            </a:r>
            <a:endParaRPr lang="en-US" altLang="zh-CN" b="1" dirty="0">
              <a:cs typeface="+mn-ea"/>
            </a:endParaRPr>
          </a:p>
          <a:p>
            <a:pPr marL="742950" lvl="1" indent="-285750" eaLnBrk="1" hangingPunct="1">
              <a:spcBef>
                <a:spcPct val="0"/>
              </a:spcBef>
            </a:pPr>
            <a:r>
              <a:rPr lang="zh-CN" altLang="en-US" b="1" dirty="0">
                <a:cs typeface="+mn-ea"/>
              </a:rPr>
              <a:t>程序计数器（</a:t>
            </a:r>
            <a:r>
              <a:rPr lang="en-US" altLang="zh-CN" b="1" dirty="0">
                <a:cs typeface="+mn-ea"/>
              </a:rPr>
              <a:t>PC</a:t>
            </a:r>
            <a:r>
              <a:rPr lang="zh-CN" altLang="en-US" b="1" dirty="0">
                <a:cs typeface="+mn-ea"/>
              </a:rPr>
              <a:t>）</a:t>
            </a:r>
            <a:endParaRPr lang="zh-CN" altLang="en-US" b="1" dirty="0">
              <a:cs typeface="+mn-ea"/>
            </a:endParaRPr>
          </a:p>
        </p:txBody>
      </p:sp>
      <p:pic>
        <p:nvPicPr>
          <p:cNvPr id="12292" name="图片 8"/>
          <p:cNvPicPr>
            <a:picLocks noChangeAspect="1"/>
          </p:cNvPicPr>
          <p:nvPr/>
        </p:nvPicPr>
        <p:blipFill>
          <a:blip r:embed="rId1" cstate="print"/>
          <a:stretch>
            <a:fillRect/>
          </a:stretch>
        </p:blipFill>
        <p:spPr>
          <a:xfrm>
            <a:off x="3881779" y="401639"/>
            <a:ext cx="7925886" cy="6251575"/>
          </a:xfrm>
          <a:prstGeom prst="rect">
            <a:avLst/>
          </a:prstGeom>
          <a:noFill/>
          <a:ln w="9525">
            <a:noFill/>
          </a:ln>
        </p:spPr>
      </p:pic>
      <p:graphicFrame>
        <p:nvGraphicFramePr>
          <p:cNvPr id="3" name="表格 2"/>
          <p:cNvGraphicFramePr>
            <a:graphicFrameLocks noGrp="1"/>
          </p:cNvGraphicFramePr>
          <p:nvPr/>
        </p:nvGraphicFramePr>
        <p:xfrm>
          <a:off x="101918" y="3623945"/>
          <a:ext cx="3655695" cy="3176270"/>
        </p:xfrm>
        <a:graphic>
          <a:graphicData uri="http://schemas.openxmlformats.org/drawingml/2006/table">
            <a:tbl>
              <a:tblPr firstRow="1" firstCol="1" bandRow="1"/>
              <a:tblGrid>
                <a:gridCol w="710565"/>
                <a:gridCol w="91440"/>
                <a:gridCol w="92710"/>
                <a:gridCol w="91440"/>
                <a:gridCol w="92075"/>
                <a:gridCol w="92075"/>
                <a:gridCol w="92075"/>
                <a:gridCol w="92075"/>
                <a:gridCol w="92075"/>
                <a:gridCol w="92075"/>
                <a:gridCol w="92075"/>
                <a:gridCol w="92075"/>
                <a:gridCol w="92075"/>
                <a:gridCol w="92075"/>
                <a:gridCol w="92075"/>
                <a:gridCol w="92075"/>
                <a:gridCol w="92075"/>
                <a:gridCol w="92075"/>
                <a:gridCol w="92075"/>
                <a:gridCol w="91440"/>
                <a:gridCol w="92710"/>
                <a:gridCol w="91440"/>
                <a:gridCol w="92075"/>
                <a:gridCol w="92075"/>
                <a:gridCol w="92075"/>
                <a:gridCol w="92075"/>
                <a:gridCol w="92075"/>
                <a:gridCol w="92075"/>
                <a:gridCol w="92075"/>
                <a:gridCol w="92075"/>
                <a:gridCol w="92075"/>
                <a:gridCol w="92075"/>
                <a:gridCol w="92075"/>
              </a:tblGrid>
              <a:tr h="128270">
                <a:tc>
                  <a:txBody>
                    <a:bodyPr/>
                    <a:p>
                      <a:pPr algn="ctr">
                        <a:spcAft>
                          <a:spcPts val="0"/>
                        </a:spcAft>
                      </a:pPr>
                      <a:r>
                        <a:rPr lang="en-US" sz="500" kern="100" dirty="0">
                          <a:effectLst/>
                          <a:latin typeface="Times New Roman" pitchFamily="18" charset="0"/>
                          <a:ea typeface="宋体" panose="02000500000000000000" pitchFamily="2" charset="-122"/>
                          <a:cs typeface="Times New Roman" pitchFamily="18" charset="0"/>
                        </a:rPr>
                        <a:t> </a:t>
                      </a:r>
                      <a:endParaRPr lang="en-US" sz="5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a:noFill/>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3</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1</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3</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0</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2</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9</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2</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8</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2</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7</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2</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6</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2</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5</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2</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4</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2</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3</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2</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2</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2</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1</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2</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0</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1</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9</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1</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8</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1</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7</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a:effectLst/>
                          <a:latin typeface="Times New Roman" pitchFamily="18" charset="0"/>
                          <a:ea typeface="宋体" panose="02000500000000000000" pitchFamily="2" charset="-122"/>
                          <a:cs typeface="Times New Roman" pitchFamily="18" charset="0"/>
                        </a:rPr>
                        <a:t>1</a:t>
                      </a:r>
                      <a:endParaRPr lang="zh-CN" sz="700" kern="100">
                        <a:effectLst/>
                        <a:latin typeface="Lucida Sans" pitchFamily="34" charset="0"/>
                        <a:ea typeface="永中宋体"/>
                        <a:cs typeface="Times New Roman" pitchFamily="18" charset="0"/>
                      </a:endParaRPr>
                    </a:p>
                    <a:p>
                      <a:pPr algn="ctr">
                        <a:spcAft>
                          <a:spcPts val="0"/>
                        </a:spcAft>
                      </a:pPr>
                      <a:r>
                        <a:rPr lang="en-US" sz="400" kern="100">
                          <a:effectLst/>
                          <a:latin typeface="Times New Roman" pitchFamily="18" charset="0"/>
                          <a:ea typeface="宋体" panose="02000500000000000000" pitchFamily="2" charset="-122"/>
                          <a:cs typeface="Times New Roman" pitchFamily="18" charset="0"/>
                        </a:rPr>
                        <a:t>6</a:t>
                      </a:r>
                      <a:endParaRPr lang="en-US" sz="400" kern="10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1</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5</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1</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4</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1</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3</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1</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2</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1</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1</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1</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0</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0</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9</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0</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8</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0</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7</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0</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6</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0</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5</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0</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4</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0</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3</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0</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2</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0</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1</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c>
                  <a:txBody>
                    <a:bodyPr/>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0</a:t>
                      </a:r>
                      <a:endParaRPr lang="zh-CN" sz="700" kern="100" dirty="0">
                        <a:effectLst/>
                        <a:latin typeface="Lucida Sans" pitchFamily="34" charset="0"/>
                        <a:ea typeface="永中宋体"/>
                        <a:cs typeface="Times New Roman" pitchFamily="18" charset="0"/>
                      </a:endParaRPr>
                    </a:p>
                    <a:p>
                      <a:pPr algn="ctr">
                        <a:spcAft>
                          <a:spcPts val="0"/>
                        </a:spcAft>
                      </a:pPr>
                      <a:r>
                        <a:rPr lang="en-US" sz="400" kern="100" dirty="0">
                          <a:effectLst/>
                          <a:latin typeface="Times New Roman" pitchFamily="18" charset="0"/>
                          <a:ea typeface="宋体" panose="02000500000000000000" pitchFamily="2" charset="-122"/>
                          <a:cs typeface="Times New Roman" pitchFamily="18" charset="0"/>
                        </a:rPr>
                        <a:t>0</a:t>
                      </a:r>
                      <a:endParaRPr lang="en-US" sz="400"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a:noFill/>
                    </a:lnR>
                    <a:lnT>
                      <a:noFill/>
                    </a:lnT>
                    <a:lnB w="19050" cap="flat" cmpd="sng" algn="ctr">
                      <a:solidFill>
                        <a:srgbClr val="000000"/>
                      </a:solidFill>
                      <a:prstDash val="solid"/>
                      <a:round/>
                      <a:headEnd type="none" w="med" len="med"/>
                      <a:tailEnd type="none" w="med" len="med"/>
                    </a:lnB>
                  </a:tcPr>
                </a:tc>
              </a:tr>
              <a:tr h="152400">
                <a:tc>
                  <a:txBody>
                    <a:bodyPr/>
                    <a:p>
                      <a:pPr algn="ctr">
                        <a:spcAft>
                          <a:spcPts val="0"/>
                        </a:spcAft>
                      </a:pPr>
                      <a:r>
                        <a:rPr lang="en-US" sz="1000" b="1" kern="100" dirty="0" err="1">
                          <a:effectLst/>
                          <a:latin typeface="Times New Roman" pitchFamily="18" charset="0"/>
                          <a:ea typeface="宋体" panose="02000500000000000000" pitchFamily="2" charset="-122"/>
                          <a:cs typeface="Times New Roman" pitchFamily="18" charset="0"/>
                        </a:rPr>
                        <a:t>add.</a:t>
                      </a:r>
                      <a:r>
                        <a:rPr lang="en-US" altLang="zh-CN" sz="1000" b="1" kern="100" dirty="0" err="1">
                          <a:effectLst/>
                          <a:latin typeface="Times New Roman" pitchFamily="18" charset="0"/>
                          <a:ea typeface="宋体" panose="02000500000000000000" pitchFamily="2" charset="-122"/>
                          <a:cs typeface="Times New Roman" pitchFamily="18" charset="0"/>
                        </a:rPr>
                        <a:t>w</a:t>
                      </a:r>
                      <a:endParaRPr lang="en-US" altLang="zh-CN" sz="1000" b="1" kern="100" dirty="0" err="1">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p>
                      <a:pPr algn="ctr">
                        <a:spcAft>
                          <a:spcPts val="0"/>
                        </a:spcAft>
                      </a:pPr>
                      <a:r>
                        <a:rPr lang="en-US" altLang="zh-CN" sz="700" b="0" kern="100" dirty="0">
                          <a:effectLst/>
                          <a:latin typeface="+mj-lt"/>
                          <a:ea typeface="永中宋体"/>
                          <a:cs typeface="Times New Roman" pitchFamily="18" charset="0"/>
                        </a:rPr>
                        <a:t>00000000000100000</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lnT w="19050" cap="flat" cmpd="sng" algn="ctr">
                      <a:solidFill>
                        <a:srgbClr val="000000"/>
                      </a:solidFill>
                      <a:prstDash val="solid"/>
                      <a:round/>
                      <a:headEnd type="none" w="med" len="med"/>
                      <a:tailEnd type="none" w="med" len="med"/>
                    </a:lnT>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rk</a:t>
                      </a:r>
                      <a:endParaRPr lang="en-US" altLang="zh-CN" sz="700" b="0" kern="100" dirty="0" err="1">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rj</a:t>
                      </a:r>
                      <a:endParaRPr lang="en-US" altLang="zh-CN" sz="700" b="0" kern="100" dirty="0" err="1">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2400">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b="1" kern="100" dirty="0" err="1">
                          <a:effectLst/>
                          <a:latin typeface="Times New Roman" pitchFamily="18" charset="0"/>
                          <a:ea typeface="宋体" panose="02000500000000000000" pitchFamily="2" charset="-122"/>
                          <a:cs typeface="Times New Roman" pitchFamily="18" charset="0"/>
                        </a:rPr>
                        <a:t>sub.w</a:t>
                      </a:r>
                      <a:endParaRPr lang="en-US" altLang="zh-CN" sz="1000" b="1" kern="100" dirty="0" err="1">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p>
                      <a:pPr algn="ctr">
                        <a:spcAft>
                          <a:spcPts val="0"/>
                        </a:spcAft>
                      </a:pPr>
                      <a:r>
                        <a:rPr lang="en-US" altLang="zh-CN" sz="700" b="0" kern="100" dirty="0">
                          <a:effectLst/>
                          <a:latin typeface="+mj-lt"/>
                          <a:ea typeface="永中宋体"/>
                          <a:cs typeface="Times New Roman" pitchFamily="18" charset="0"/>
                        </a:rPr>
                        <a:t>00000000000100010</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rk</a:t>
                      </a:r>
                      <a:endParaRPr lang="en-US" altLang="zh-CN" sz="700" b="0" kern="100" dirty="0" err="1">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solidFill>
                            <a:schemeClr val="tx1"/>
                          </a:solidFill>
                          <a:effectLst/>
                          <a:latin typeface="+mn-lt"/>
                          <a:ea typeface="永中宋体"/>
                          <a:cs typeface="Times New Roman" pitchFamily="18" charset="0"/>
                        </a:rPr>
                        <a:t>rj</a:t>
                      </a:r>
                      <a:endParaRPr lang="en-US" altLang="zh-CN" sz="700" b="0" kern="100" dirty="0" err="1">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2400">
                <a:tc>
                  <a:txBody>
                    <a:bodyPr/>
                    <a:p>
                      <a:pPr algn="ctr">
                        <a:spcAft>
                          <a:spcPts val="0"/>
                        </a:spcAft>
                      </a:pPr>
                      <a:r>
                        <a:rPr lang="en-US" altLang="zh-CN" sz="1000" b="1" kern="100" dirty="0" err="1">
                          <a:effectLst/>
                          <a:latin typeface="Times New Roman" pitchFamily="18" charset="0"/>
                          <a:ea typeface="宋体" panose="02000500000000000000" pitchFamily="2" charset="-122"/>
                          <a:cs typeface="Times New Roman" pitchFamily="18" charset="0"/>
                        </a:rPr>
                        <a:t>slt</a:t>
                      </a:r>
                      <a:endParaRPr lang="en-US" altLang="zh-CN" sz="1000" b="1" kern="100" dirty="0" err="1">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p>
                      <a:pPr algn="ctr">
                        <a:spcAft>
                          <a:spcPts val="0"/>
                        </a:spcAft>
                      </a:pPr>
                      <a:r>
                        <a:rPr lang="en-US" altLang="zh-CN" sz="700" b="0" kern="100" dirty="0">
                          <a:effectLst/>
                          <a:latin typeface="+mj-lt"/>
                          <a:ea typeface="永中宋体"/>
                          <a:cs typeface="Times New Roman" pitchFamily="18" charset="0"/>
                        </a:rPr>
                        <a:t>00000000000100100</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rk</a:t>
                      </a:r>
                      <a:endParaRPr lang="en-US" altLang="zh-CN" sz="700" b="0" kern="100" dirty="0" err="1">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solidFill>
                            <a:schemeClr val="tx1"/>
                          </a:solidFill>
                          <a:effectLst/>
                          <a:latin typeface="+mn-lt"/>
                          <a:ea typeface="永中宋体"/>
                          <a:cs typeface="Times New Roman" pitchFamily="18" charset="0"/>
                        </a:rPr>
                        <a:t>rj</a:t>
                      </a:r>
                      <a:endParaRPr lang="en-US" altLang="zh-CN" sz="700" b="0" kern="100" dirty="0" err="1">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2400">
                <a:tc>
                  <a: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100" cap="none" spc="0" normalizeH="0" baseline="0" noProof="0" dirty="0" err="1">
                          <a:ln>
                            <a:noFill/>
                          </a:ln>
                          <a:solidFill>
                            <a:srgbClr val="000000"/>
                          </a:solidFill>
                          <a:effectLst/>
                          <a:uLnTx/>
                          <a:uFillTx/>
                          <a:latin typeface="Times New Roman" pitchFamily="18" charset="0"/>
                          <a:ea typeface="宋体" panose="02000500000000000000" pitchFamily="2" charset="-122"/>
                          <a:cs typeface="Times New Roman" pitchFamily="18" charset="0"/>
                        </a:rPr>
                        <a:t>sltu</a:t>
                      </a:r>
                      <a:endParaRPr kumimoji="0" lang="en-US" altLang="zh-CN" sz="1000" b="1" i="0" u="none" strike="noStrike" kern="100" cap="none" spc="0" normalizeH="0" baseline="0" noProof="0" dirty="0" err="1">
                        <a:ln>
                          <a:noFill/>
                        </a:ln>
                        <a:solidFill>
                          <a:srgbClr val="000000"/>
                        </a:solidFill>
                        <a:effectLst/>
                        <a:uLnTx/>
                        <a:uFillTx/>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p>
                      <a:pPr algn="ctr">
                        <a:spcAft>
                          <a:spcPts val="0"/>
                        </a:spcAft>
                      </a:pPr>
                      <a:r>
                        <a:rPr lang="en-US" altLang="zh-CN" sz="700" b="0" kern="100" dirty="0">
                          <a:effectLst/>
                          <a:latin typeface="+mj-lt"/>
                          <a:ea typeface="永中宋体"/>
                          <a:cs typeface="Times New Roman" pitchFamily="18" charset="0"/>
                        </a:rPr>
                        <a:t>00000000000100101</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solidFill>
                            <a:schemeClr val="tx1"/>
                          </a:solidFill>
                          <a:effectLst/>
                          <a:latin typeface="+mn-lt"/>
                          <a:ea typeface="永中宋体"/>
                          <a:cs typeface="Times New Roman" pitchFamily="18" charset="0"/>
                        </a:rPr>
                        <a:t>rk</a:t>
                      </a:r>
                      <a:endParaRPr lang="en-US" altLang="zh-CN" sz="700" b="0" kern="100" dirty="0" err="1">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solidFill>
                            <a:schemeClr val="tx1"/>
                          </a:solidFill>
                          <a:effectLst/>
                          <a:latin typeface="+mn-lt"/>
                          <a:ea typeface="永中宋体"/>
                          <a:cs typeface="Times New Roman" pitchFamily="18" charset="0"/>
                        </a:rPr>
                        <a:t>rj</a:t>
                      </a:r>
                      <a:endParaRPr lang="en-US" altLang="zh-CN" sz="700" b="0" kern="100" dirty="0" err="1">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2400">
                <a:tc>
                  <a:txBody>
                    <a:bodyPr/>
                    <a:p>
                      <a:pPr algn="ctr">
                        <a:spcAft>
                          <a:spcPts val="0"/>
                        </a:spcAft>
                      </a:pPr>
                      <a:r>
                        <a:rPr lang="en-US" altLang="zh-CN" sz="1000" b="1" kern="100" dirty="0">
                          <a:effectLst/>
                          <a:latin typeface="Times New Roman" pitchFamily="18" charset="0"/>
                          <a:ea typeface="宋体" panose="02000500000000000000" pitchFamily="2" charset="-122"/>
                          <a:cs typeface="Times New Roman" pitchFamily="18" charset="0"/>
                        </a:rPr>
                        <a:t>nor</a:t>
                      </a:r>
                      <a:endParaRPr lang="en-US" altLang="zh-CN" sz="1000" b="1"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p>
                      <a:pPr algn="ctr">
                        <a:spcAft>
                          <a:spcPts val="0"/>
                        </a:spcAft>
                      </a:pPr>
                      <a:r>
                        <a:rPr lang="en-US" altLang="zh-CN" sz="700" b="0" kern="100" dirty="0">
                          <a:effectLst/>
                          <a:latin typeface="+mj-lt"/>
                          <a:ea typeface="永中宋体"/>
                          <a:cs typeface="Times New Roman" pitchFamily="18" charset="0"/>
                        </a:rPr>
                        <a:t>00000000000101000</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rk</a:t>
                      </a:r>
                      <a:endParaRPr lang="en-US" altLang="zh-CN" sz="700" b="0" kern="100" dirty="0" err="1">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solidFill>
                            <a:schemeClr val="tx1"/>
                          </a:solidFill>
                          <a:effectLst/>
                          <a:latin typeface="+mn-lt"/>
                          <a:ea typeface="永中宋体"/>
                          <a:cs typeface="Times New Roman" pitchFamily="18" charset="0"/>
                        </a:rPr>
                        <a:t>rj</a:t>
                      </a:r>
                      <a:endParaRPr lang="en-US" altLang="zh-CN" sz="700" b="0" kern="100" dirty="0" err="1">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2400">
                <a:tc>
                  <a:txBody>
                    <a:bodyPr/>
                    <a:p>
                      <a:pPr algn="ctr">
                        <a:spcAft>
                          <a:spcPts val="0"/>
                        </a:spcAft>
                      </a:pPr>
                      <a:r>
                        <a:rPr lang="en-US" altLang="zh-CN" sz="1000" b="1" kern="100" dirty="0">
                          <a:solidFill>
                            <a:schemeClr val="tx1"/>
                          </a:solidFill>
                          <a:effectLst/>
                          <a:latin typeface="Times New Roman" pitchFamily="18" charset="0"/>
                          <a:ea typeface="宋体" panose="02000500000000000000" pitchFamily="2" charset="-122"/>
                          <a:cs typeface="Times New Roman" pitchFamily="18" charset="0"/>
                        </a:rPr>
                        <a:t>and</a:t>
                      </a:r>
                      <a:endParaRPr lang="en-US" altLang="zh-CN" sz="1000" b="1" kern="100" dirty="0">
                        <a:solidFill>
                          <a:schemeClr val="tx1"/>
                        </a:solidFill>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p>
                      <a:pPr algn="ctr">
                        <a:spcAft>
                          <a:spcPts val="0"/>
                        </a:spcAft>
                      </a:pPr>
                      <a:r>
                        <a:rPr lang="en-US" altLang="zh-CN" sz="700" b="0" kern="100" dirty="0">
                          <a:effectLst/>
                          <a:latin typeface="+mj-lt"/>
                          <a:ea typeface="永中宋体"/>
                          <a:cs typeface="Times New Roman" pitchFamily="18" charset="0"/>
                        </a:rPr>
                        <a:t>00000000000101001</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rk</a:t>
                      </a:r>
                      <a:endParaRPr lang="en-US" altLang="zh-CN" sz="700" b="0" kern="100" dirty="0" err="1">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solidFill>
                            <a:schemeClr val="tx1"/>
                          </a:solidFill>
                          <a:effectLst/>
                          <a:latin typeface="+mn-lt"/>
                          <a:ea typeface="永中宋体"/>
                          <a:cs typeface="Times New Roman" pitchFamily="18" charset="0"/>
                        </a:rPr>
                        <a:t>rj</a:t>
                      </a:r>
                      <a:endParaRPr lang="en-US" altLang="zh-CN" sz="700" b="0" kern="100" dirty="0" err="1">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2400">
                <a:tc>
                  <a:txBody>
                    <a:bodyPr/>
                    <a:p>
                      <a:pPr algn="ctr">
                        <a:spcAft>
                          <a:spcPts val="0"/>
                        </a:spcAft>
                      </a:pPr>
                      <a:r>
                        <a:rPr lang="en-US" altLang="zh-CN" sz="1000" b="1" kern="100" dirty="0">
                          <a:solidFill>
                            <a:schemeClr val="tx1"/>
                          </a:solidFill>
                          <a:effectLst/>
                          <a:latin typeface="Times New Roman" pitchFamily="18" charset="0"/>
                          <a:ea typeface="宋体" panose="02000500000000000000" pitchFamily="2" charset="-122"/>
                          <a:cs typeface="Times New Roman" pitchFamily="18" charset="0"/>
                        </a:rPr>
                        <a:t>or</a:t>
                      </a:r>
                      <a:endParaRPr lang="en-US" altLang="zh-CN" sz="1000" b="1" kern="100" dirty="0">
                        <a:solidFill>
                          <a:schemeClr val="tx1"/>
                        </a:solidFill>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p>
                      <a:pPr algn="ctr">
                        <a:spcAft>
                          <a:spcPts val="0"/>
                        </a:spcAft>
                      </a:pPr>
                      <a:r>
                        <a:rPr lang="en-US" altLang="zh-CN" sz="700" b="0" kern="100" dirty="0">
                          <a:effectLst/>
                          <a:latin typeface="+mj-lt"/>
                          <a:ea typeface="永中宋体"/>
                          <a:cs typeface="Times New Roman" pitchFamily="18" charset="0"/>
                        </a:rPr>
                        <a:t>00000000000101010</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rk</a:t>
                      </a:r>
                      <a:endParaRPr lang="en-US" altLang="zh-CN" sz="700" b="0" kern="100" dirty="0" err="1">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solidFill>
                            <a:schemeClr val="tx1"/>
                          </a:solidFill>
                          <a:effectLst/>
                          <a:latin typeface="+mn-lt"/>
                          <a:ea typeface="永中宋体"/>
                          <a:cs typeface="Times New Roman" pitchFamily="18" charset="0"/>
                        </a:rPr>
                        <a:t>rj</a:t>
                      </a:r>
                      <a:endParaRPr lang="en-US" altLang="zh-CN" sz="700" b="0" kern="100" dirty="0" err="1">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2400">
                <a:tc>
                  <a:txBody>
                    <a:bodyPr/>
                    <a:p>
                      <a:pPr algn="ctr">
                        <a:spcAft>
                          <a:spcPts val="0"/>
                        </a:spcAft>
                      </a:pPr>
                      <a:r>
                        <a:rPr lang="en-US" altLang="zh-CN" sz="1000" b="1" kern="100" dirty="0" err="1">
                          <a:solidFill>
                            <a:schemeClr val="tx1"/>
                          </a:solidFill>
                          <a:effectLst/>
                          <a:latin typeface="Times New Roman" pitchFamily="18" charset="0"/>
                          <a:ea typeface="宋体" panose="02000500000000000000" pitchFamily="2" charset="-122"/>
                          <a:cs typeface="Times New Roman" pitchFamily="18" charset="0"/>
                        </a:rPr>
                        <a:t>xor</a:t>
                      </a:r>
                      <a:endParaRPr lang="en-US" altLang="zh-CN" sz="1000" b="1" kern="100" dirty="0" err="1">
                        <a:solidFill>
                          <a:schemeClr val="tx1"/>
                        </a:solidFill>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7">
                  <a:txBody>
                    <a:bodyPr/>
                    <a:p>
                      <a:pPr algn="ctr">
                        <a:spcAft>
                          <a:spcPts val="0"/>
                        </a:spcAft>
                      </a:pPr>
                      <a:r>
                        <a:rPr lang="en-US" altLang="zh-CN" sz="700" b="0" kern="100" dirty="0">
                          <a:effectLst/>
                          <a:latin typeface="+mj-lt"/>
                          <a:ea typeface="永中宋体"/>
                          <a:cs typeface="Times New Roman" pitchFamily="18" charset="0"/>
                        </a:rPr>
                        <a:t>00000000000101011</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rk</a:t>
                      </a:r>
                      <a:endParaRPr lang="en-US" altLang="zh-CN" sz="700" b="0" kern="100" dirty="0" err="1">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solidFill>
                            <a:schemeClr val="tx1"/>
                          </a:solidFill>
                          <a:effectLst/>
                          <a:latin typeface="+mn-lt"/>
                          <a:ea typeface="永中宋体"/>
                          <a:cs typeface="Times New Roman" pitchFamily="18" charset="0"/>
                        </a:rPr>
                        <a:t>rj</a:t>
                      </a:r>
                      <a:endParaRPr lang="en-US" altLang="zh-CN" sz="700" b="0" kern="100" dirty="0" err="1">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2400">
                <a:tc>
                  <a:txBody>
                    <a:bodyPr/>
                    <a:p>
                      <a:pPr algn="ctr">
                        <a:spcAft>
                          <a:spcPts val="0"/>
                        </a:spcAft>
                      </a:pPr>
                      <a:r>
                        <a:rPr lang="en-US" altLang="zh-CN" sz="1000" b="1" kern="100" dirty="0" err="1">
                          <a:effectLst/>
                          <a:latin typeface="Times New Roman" pitchFamily="18" charset="0"/>
                          <a:ea typeface="宋体" panose="02000500000000000000" pitchFamily="2" charset="-122"/>
                          <a:cs typeface="Times New Roman" pitchFamily="18" charset="0"/>
                        </a:rPr>
                        <a:t>slli.w</a:t>
                      </a:r>
                      <a:endParaRPr lang="en-US" altLang="zh-CN" sz="1000" b="1" kern="100" dirty="0" err="1">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4">
                  <a:txBody>
                    <a:bodyPr/>
                    <a:p>
                      <a:pPr algn="ctr">
                        <a:spcAft>
                          <a:spcPts val="0"/>
                        </a:spcAft>
                      </a:pPr>
                      <a:r>
                        <a:rPr lang="en-US" altLang="zh-CN" sz="700" b="0" kern="100" dirty="0">
                          <a:effectLst/>
                          <a:latin typeface="+mj-lt"/>
                          <a:ea typeface="永中宋体"/>
                          <a:cs typeface="Times New Roman" pitchFamily="18" charset="0"/>
                        </a:rPr>
                        <a:t>00000000010000</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p>
                      <a:pPr algn="ctr">
                        <a:spcAft>
                          <a:spcPts val="0"/>
                        </a:spcAft>
                      </a:pPr>
                      <a:r>
                        <a:rPr lang="en-US" altLang="zh-CN" sz="700" b="0" kern="100" dirty="0">
                          <a:effectLst/>
                          <a:latin typeface="+mj-lt"/>
                          <a:ea typeface="永中宋体"/>
                          <a:cs typeface="Times New Roman" pitchFamily="18" charset="0"/>
                        </a:rPr>
                        <a:t>001</a:t>
                      </a:r>
                      <a:endParaRPr lang="en-US" altLang="zh-CN" sz="7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a:effectLst/>
                          <a:latin typeface="+mj-lt"/>
                          <a:ea typeface="永中宋体"/>
                          <a:cs typeface="Times New Roman" pitchFamily="18" charset="0"/>
                        </a:rPr>
                        <a:t>ui5</a:t>
                      </a:r>
                      <a:endParaRPr lang="en-US" altLang="zh-CN" sz="7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rj</a:t>
                      </a:r>
                      <a:endParaRPr lang="en-US" altLang="zh-CN" sz="700" b="0" kern="100" dirty="0" err="1">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2400">
                <a:tc>
                  <a:txBody>
                    <a:bodyPr/>
                    <a:p>
                      <a:pPr algn="ctr">
                        <a:spcAft>
                          <a:spcPts val="0"/>
                        </a:spcAft>
                      </a:pPr>
                      <a:r>
                        <a:rPr lang="en-US" altLang="zh-CN" sz="1000" b="1" kern="100" dirty="0" err="1">
                          <a:effectLst/>
                          <a:latin typeface="Times New Roman" pitchFamily="18" charset="0"/>
                          <a:ea typeface="宋体" panose="02000500000000000000" pitchFamily="2" charset="-122"/>
                          <a:cs typeface="Times New Roman" pitchFamily="18" charset="0"/>
                        </a:rPr>
                        <a:t>slri.w</a:t>
                      </a:r>
                      <a:endParaRPr lang="en-US" altLang="zh-CN" sz="1000" b="1" kern="100" dirty="0" err="1">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4">
                  <a:txBody>
                    <a:bodyPr/>
                    <a:p>
                      <a:pPr algn="ctr">
                        <a:spcAft>
                          <a:spcPts val="0"/>
                        </a:spcAft>
                      </a:pPr>
                      <a:r>
                        <a:rPr lang="en-US" altLang="zh-CN" sz="700" b="0" kern="100" dirty="0">
                          <a:effectLst/>
                          <a:latin typeface="+mj-lt"/>
                          <a:ea typeface="永中宋体"/>
                          <a:cs typeface="Times New Roman" pitchFamily="18" charset="0"/>
                        </a:rPr>
                        <a:t>00000000010001</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p>
                      <a:pPr algn="ctr">
                        <a:spcAft>
                          <a:spcPts val="0"/>
                        </a:spcAft>
                      </a:pPr>
                      <a:r>
                        <a:rPr lang="en-US" altLang="zh-CN" sz="700" b="0" kern="100" dirty="0">
                          <a:effectLst/>
                          <a:latin typeface="+mj-lt"/>
                          <a:ea typeface="永中宋体"/>
                          <a:cs typeface="Times New Roman" pitchFamily="18" charset="0"/>
                        </a:rPr>
                        <a:t>001</a:t>
                      </a:r>
                      <a:endParaRPr lang="en-US" altLang="zh-CN" sz="7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a:effectLst/>
                          <a:latin typeface="+mj-lt"/>
                          <a:ea typeface="永中宋体"/>
                          <a:cs typeface="Times New Roman" pitchFamily="18" charset="0"/>
                        </a:rPr>
                        <a:t>ui5</a:t>
                      </a:r>
                      <a:endParaRPr lang="en-US" altLang="zh-CN" sz="7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rj</a:t>
                      </a:r>
                      <a:endParaRPr lang="en-US" altLang="zh-CN" sz="700" b="0" kern="100" dirty="0" err="1">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2400">
                <a:tc>
                  <a:txBody>
                    <a:bodyPr/>
                    <a:p>
                      <a:pPr algn="ctr">
                        <a:spcAft>
                          <a:spcPts val="0"/>
                        </a:spcAft>
                      </a:pPr>
                      <a:r>
                        <a:rPr lang="en-US" altLang="zh-CN" sz="1000" b="1" kern="100" dirty="0" err="1">
                          <a:effectLst/>
                          <a:latin typeface="Times New Roman" pitchFamily="18" charset="0"/>
                          <a:ea typeface="宋体" panose="02000500000000000000" pitchFamily="2" charset="-122"/>
                          <a:cs typeface="Times New Roman" pitchFamily="18" charset="0"/>
                        </a:rPr>
                        <a:t>srai.w</a:t>
                      </a:r>
                      <a:endParaRPr lang="en-US" altLang="zh-CN" sz="1000" b="1" kern="100" dirty="0" err="1">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4">
                  <a:txBody>
                    <a:bodyPr/>
                    <a:p>
                      <a:pPr algn="ctr">
                        <a:spcAft>
                          <a:spcPts val="0"/>
                        </a:spcAft>
                      </a:pPr>
                      <a:r>
                        <a:rPr lang="en-US" altLang="zh-CN" sz="700" b="0" kern="100" dirty="0">
                          <a:effectLst/>
                          <a:latin typeface="+mj-lt"/>
                          <a:ea typeface="永中宋体"/>
                          <a:cs typeface="Times New Roman" pitchFamily="18" charset="0"/>
                        </a:rPr>
                        <a:t>00000000010010</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lnL w="12700" cap="flat" cmpd="sng" algn="ctr">
                      <a:solidFill>
                        <a:srgbClr val="000000"/>
                      </a:solidFill>
                      <a:prstDash val="solid"/>
                      <a:round/>
                      <a:headEnd type="none" w="med" len="med"/>
                      <a:tailEnd type="none" w="med" len="med"/>
                    </a:lnL>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p>
                      <a:pPr algn="ctr">
                        <a:spcAft>
                          <a:spcPts val="0"/>
                        </a:spcAft>
                      </a:pPr>
                      <a:r>
                        <a:rPr lang="en-US" altLang="zh-CN" sz="700" b="0" kern="100" dirty="0">
                          <a:effectLst/>
                          <a:latin typeface="+mj-lt"/>
                          <a:ea typeface="永中宋体"/>
                          <a:cs typeface="Times New Roman" pitchFamily="18" charset="0"/>
                        </a:rPr>
                        <a:t>001</a:t>
                      </a:r>
                      <a:endParaRPr lang="en-US" altLang="zh-CN" sz="7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a:effectLst/>
                          <a:latin typeface="+mj-lt"/>
                          <a:ea typeface="永中宋体"/>
                          <a:cs typeface="Times New Roman" pitchFamily="18" charset="0"/>
                        </a:rPr>
                        <a:t>ui5</a:t>
                      </a:r>
                      <a:endParaRPr lang="en-US" altLang="zh-CN" sz="700" b="0" kern="100" dirty="0">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rj</a:t>
                      </a:r>
                      <a:endParaRPr lang="en-US" altLang="zh-CN" sz="700" b="0" kern="100" dirty="0" err="1">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2400">
                <a:tc>
                  <a:txBody>
                    <a:bodyPr/>
                    <a:p>
                      <a:pPr algn="ctr">
                        <a:spcAft>
                          <a:spcPts val="0"/>
                        </a:spcAft>
                      </a:pPr>
                      <a:r>
                        <a:rPr lang="en-US" altLang="zh-CN" sz="1000" b="1" kern="100" dirty="0" err="1">
                          <a:solidFill>
                            <a:schemeClr val="tx1"/>
                          </a:solidFill>
                          <a:effectLst/>
                          <a:latin typeface="Times New Roman" pitchFamily="18" charset="0"/>
                          <a:ea typeface="宋体" panose="02000500000000000000" pitchFamily="2" charset="-122"/>
                          <a:cs typeface="Times New Roman" pitchFamily="18" charset="0"/>
                        </a:rPr>
                        <a:t>addi.w</a:t>
                      </a:r>
                      <a:endParaRPr lang="en-US" altLang="zh-CN" sz="1000" b="1" kern="100" dirty="0" err="1">
                        <a:solidFill>
                          <a:schemeClr val="tx1"/>
                        </a:solidFill>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0">
                  <a:txBody>
                    <a:bodyPr/>
                    <a:p>
                      <a:pPr algn="ctr">
                        <a:spcAft>
                          <a:spcPts val="0"/>
                        </a:spcAft>
                      </a:pPr>
                      <a:r>
                        <a:rPr lang="en-US" altLang="zh-CN" sz="700" b="0" kern="100" dirty="0">
                          <a:effectLst/>
                          <a:latin typeface="+mj-lt"/>
                          <a:ea typeface="永中宋体"/>
                          <a:cs typeface="Times New Roman" pitchFamily="18" charset="0"/>
                        </a:rPr>
                        <a:t>0000001010</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gridSpan="12">
                  <a:txBody>
                    <a:bodyPr/>
                    <a:p>
                      <a:pPr algn="ctr">
                        <a:spcAft>
                          <a:spcPts val="0"/>
                        </a:spcAft>
                      </a:pPr>
                      <a:r>
                        <a:rPr lang="en-US" altLang="zh-CN" sz="700" b="0" kern="100" dirty="0">
                          <a:effectLst/>
                          <a:latin typeface="+mj-lt"/>
                          <a:ea typeface="永中宋体"/>
                          <a:cs typeface="Times New Roman" pitchFamily="18" charset="0"/>
                        </a:rPr>
                        <a:t>si12</a:t>
                      </a:r>
                      <a:endParaRPr lang="en-US" altLang="zh-CN" sz="700" b="0" kern="100" dirty="0">
                        <a:effectLst/>
                        <a:latin typeface="+mj-lt"/>
                        <a:ea typeface="永中宋体"/>
                        <a:cs typeface="Times New Roman" pitchFamily="18" charset="0"/>
                      </a:endParaRPr>
                    </a:p>
                  </a:txBody>
                  <a:tcPr marL="0" marR="0" marT="0" marB="0" anchor="ctr"/>
                </a:tc>
                <a:tc hMerge="1">
                  <a:tcPr marL="0" marR="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tcP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p>
                      <a:pPr algn="ctr">
                        <a:spcAft>
                          <a:spcPts val="0"/>
                        </a:spcAft>
                      </a:pPr>
                      <a:r>
                        <a:rPr lang="en-US" altLang="zh-CN" sz="700" b="0" kern="100" dirty="0" err="1">
                          <a:effectLst/>
                          <a:latin typeface="+mj-lt"/>
                          <a:ea typeface="永中宋体"/>
                          <a:cs typeface="Times New Roman" pitchFamily="18" charset="0"/>
                        </a:rPr>
                        <a:t>rj</a:t>
                      </a:r>
                      <a:endParaRPr lang="en-US" altLang="zh-CN" sz="700" b="0" kern="100" dirty="0" err="1">
                        <a:effectLst/>
                        <a:latin typeface="+mj-lt"/>
                        <a:ea typeface="永中宋体"/>
                        <a:cs typeface="Times New Roman" pitchFamily="18" charset="0"/>
                      </a:endParaRPr>
                    </a:p>
                  </a:txBody>
                  <a:tcPr marL="0" marR="0" marT="0" marB="0" anchor="ctr">
                    <a:lnT w="12700" cap="flat" cmpd="sng" algn="ctr">
                      <a:solidFill>
                        <a:srgbClr val="000000"/>
                      </a:solidFill>
                      <a:prstDash val="solid"/>
                      <a:round/>
                      <a:headEnd type="none" w="med" len="med"/>
                      <a:tailEnd type="none" w="med" len="med"/>
                    </a:lnT>
                  </a:tcPr>
                </a:tc>
                <a:tc hMerge="1">
                  <a:tcPr marL="0" marR="0" marT="0" marB="0" anchor="ctr">
                    <a:lnT w="12700" cap="flat" cmpd="sng" algn="ctr">
                      <a:solidFill>
                        <a:srgbClr val="000000"/>
                      </a:solidFill>
                      <a:prstDash val="solid"/>
                      <a:round/>
                      <a:headEnd type="none" w="med" len="med"/>
                      <a:tailEnd type="none" w="med" len="med"/>
                    </a:lnT>
                  </a:tcPr>
                </a:tc>
                <a:tc hMerge="1">
                  <a:tcPr marL="0" marR="0" marT="0" marB="0" anchor="ctr"/>
                </a:tc>
                <a:tc hMerge="1">
                  <a:tcPr marL="0" marR="0" marT="0" marB="0" anchor="ctr"/>
                </a:tc>
                <a:tc hMerge="1">
                  <a:tcPr marL="0" marR="0" marT="0" marB="0" anchor="ct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lnT w="12700" cap="flat" cmpd="sng" algn="ctr">
                      <a:solidFill>
                        <a:srgbClr val="000000"/>
                      </a:solidFill>
                      <a:prstDash val="solid"/>
                      <a:round/>
                      <a:headEnd type="none" w="med" len="med"/>
                      <a:tailEnd type="none" w="med" len="med"/>
                    </a:lnT>
                  </a:tcP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hMerge="1">
                  <a:tcPr marL="0" marR="0" marT="0" marB="0" anchor="ctr">
                    <a:lnT w="12700" cap="flat" cmpd="sng" algn="ctr">
                      <a:solidFill>
                        <a:srgbClr val="000000"/>
                      </a:solidFill>
                      <a:prstDash val="solid"/>
                      <a:round/>
                      <a:headEnd type="none" w="med" len="med"/>
                      <a:tailEnd type="none" w="med" len="med"/>
                    </a:lnT>
                  </a:tcPr>
                </a:tc>
                <a:tc hMerge="1">
                  <a:tcPr marL="0" marR="0" marT="0" marB="0" anchor="ctr">
                    <a:lnT w="12700" cap="flat" cmpd="sng" algn="ctr">
                      <a:solidFill>
                        <a:srgbClr val="000000"/>
                      </a:solidFill>
                      <a:prstDash val="solid"/>
                      <a:round/>
                      <a:headEnd type="none" w="med" len="med"/>
                      <a:tailEnd type="none" w="med" len="med"/>
                    </a:lnT>
                  </a:tcPr>
                </a:tc>
              </a:tr>
              <a:tr h="152400">
                <a:tc>
                  <a: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100" cap="none" spc="0" normalizeH="0" baseline="0" noProof="0" dirty="0">
                          <a:ln>
                            <a:noFill/>
                          </a:ln>
                          <a:solidFill>
                            <a:srgbClr val="000000"/>
                          </a:solidFill>
                          <a:effectLst/>
                          <a:uLnTx/>
                          <a:uFillTx/>
                          <a:latin typeface="Times New Roman" pitchFamily="18" charset="0"/>
                          <a:ea typeface="宋体" panose="02000500000000000000" pitchFamily="2" charset="-122"/>
                          <a:cs typeface="Times New Roman" pitchFamily="18" charset="0"/>
                        </a:rPr>
                        <a:t>lu12i.w</a:t>
                      </a:r>
                      <a:endParaRPr kumimoji="0" lang="en-US" altLang="zh-CN" sz="1000" b="1" i="0" u="none" strike="noStrike" kern="100" cap="none" spc="0" normalizeH="0" baseline="0" noProof="0" dirty="0">
                        <a:ln>
                          <a:noFill/>
                        </a:ln>
                        <a:solidFill>
                          <a:srgbClr val="000000"/>
                        </a:solidFill>
                        <a:effectLst/>
                        <a:uLnTx/>
                        <a:uFillTx/>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7">
                  <a:txBody>
                    <a:bodyPr/>
                    <a:p>
                      <a:pPr algn="ctr">
                        <a:spcAft>
                          <a:spcPts val="0"/>
                        </a:spcAft>
                      </a:pPr>
                      <a:r>
                        <a:rPr lang="en-US" altLang="zh-CN" sz="700" b="0" kern="100" dirty="0">
                          <a:effectLst/>
                          <a:latin typeface="+mj-lt"/>
                          <a:ea typeface="永中宋体"/>
                          <a:cs typeface="Times New Roman" pitchFamily="18" charset="0"/>
                        </a:rPr>
                        <a:t>0001010</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0">
                  <a:txBody>
                    <a:bodyPr/>
                    <a:p>
                      <a:pPr algn="ctr">
                        <a:spcAft>
                          <a:spcPts val="0"/>
                        </a:spcAft>
                      </a:pPr>
                      <a:r>
                        <a:rPr lang="en-US" altLang="zh-CN" sz="700" b="0" kern="100" dirty="0">
                          <a:effectLst/>
                          <a:latin typeface="+mj-lt"/>
                          <a:cs typeface="Times New Roman" pitchFamily="18" charset="0"/>
                        </a:rPr>
                        <a:t>si20</a:t>
                      </a:r>
                      <a:endParaRPr lang="en-US" altLang="zh-CN" sz="700" b="0" kern="100" dirty="0">
                        <a:effectLst/>
                        <a:latin typeface="+mj-lt"/>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c hMerge="1">
                  <a:tcPr marL="0" marR="0" marT="0" marB="0" anchor="ctr"/>
                </a:tc>
                <a:tc hMerge="1">
                  <a:tcPr marL="0" marR="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152400">
                <a:tc>
                  <a:txBody>
                    <a:bodyPr/>
                    <a:p>
                      <a:pPr algn="ctr">
                        <a:spcAft>
                          <a:spcPts val="0"/>
                        </a:spcAft>
                      </a:pPr>
                      <a:r>
                        <a:rPr lang="en-US" sz="1000" b="1" kern="100" dirty="0" err="1">
                          <a:effectLst/>
                          <a:latin typeface="Times New Roman" pitchFamily="18" charset="0"/>
                          <a:ea typeface="宋体" panose="02000500000000000000" pitchFamily="2" charset="-122"/>
                          <a:cs typeface="Times New Roman" pitchFamily="18" charset="0"/>
                        </a:rPr>
                        <a:t>ld.w</a:t>
                      </a:r>
                      <a:endParaRPr lang="en-US" sz="1000" b="1" kern="100" dirty="0" err="1">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0">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700" b="0" kern="100" dirty="0">
                          <a:solidFill>
                            <a:schemeClr val="tx1"/>
                          </a:solidFill>
                          <a:effectLst/>
                          <a:latin typeface="+mn-lt"/>
                          <a:ea typeface="永中宋体"/>
                          <a:cs typeface="Times New Roman" pitchFamily="18" charset="0"/>
                        </a:rPr>
                        <a:t>0010100010</a:t>
                      </a:r>
                      <a:endParaRPr lang="en-US" altLang="zh-CN" sz="700" b="0" kern="100" dirty="0">
                        <a:solidFill>
                          <a:schemeClr val="tx1"/>
                        </a:solidFill>
                        <a:effectLst/>
                        <a:latin typeface="+mn-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gridSpan="12">
                  <a:txBody>
                    <a:bodyPr/>
                    <a:p>
                      <a:pPr algn="ctr">
                        <a:spcAft>
                          <a:spcPts val="0"/>
                        </a:spcAft>
                      </a:pPr>
                      <a:r>
                        <a:rPr lang="en-US" altLang="zh-CN" sz="700" b="0" kern="100" dirty="0">
                          <a:effectLst/>
                          <a:latin typeface="+mj-lt"/>
                          <a:ea typeface="永中宋体"/>
                          <a:cs typeface="Times New Roman" pitchFamily="18" charset="0"/>
                        </a:rPr>
                        <a:t>si12</a:t>
                      </a:r>
                      <a:endParaRPr lang="en-US" altLang="zh-CN" sz="700" b="0" kern="100" dirty="0">
                        <a:effectLst/>
                        <a:latin typeface="+mj-lt"/>
                        <a:ea typeface="永中宋体"/>
                        <a:cs typeface="Times New Roman" pitchFamily="18" charset="0"/>
                      </a:endParaRPr>
                    </a:p>
                  </a:txBody>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p>
                      <a:pPr algn="ctr">
                        <a:spcAft>
                          <a:spcPts val="0"/>
                        </a:spcAft>
                      </a:pPr>
                      <a:r>
                        <a:rPr lang="en-US" altLang="zh-CN" sz="700" b="0" kern="100" dirty="0" err="1">
                          <a:effectLst/>
                          <a:latin typeface="+mj-lt"/>
                          <a:ea typeface="永中宋体"/>
                          <a:cs typeface="Times New Roman" pitchFamily="18" charset="0"/>
                        </a:rPr>
                        <a:t>rj</a:t>
                      </a:r>
                      <a:endParaRPr lang="en-US" altLang="zh-CN" sz="700" b="0" kern="100" dirty="0" err="1">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152400">
                <a:tc>
                  <a:txBody>
                    <a:bodyPr/>
                    <a:p>
                      <a:pPr algn="ctr">
                        <a:spcAft>
                          <a:spcPts val="0"/>
                        </a:spcAft>
                      </a:pPr>
                      <a:r>
                        <a:rPr lang="en-US" altLang="zh-CN" sz="1000" b="1" kern="100" dirty="0" err="1">
                          <a:effectLst/>
                          <a:latin typeface="Times New Roman" pitchFamily="18" charset="0"/>
                          <a:ea typeface="宋体" panose="02000500000000000000" pitchFamily="2" charset="-122"/>
                          <a:cs typeface="Times New Roman" pitchFamily="18" charset="0"/>
                        </a:rPr>
                        <a:t>st.w</a:t>
                      </a:r>
                      <a:endParaRPr lang="en-US" altLang="zh-CN" sz="1000" b="1" kern="100" dirty="0" err="1">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10">
                  <a:txBody>
                    <a:bodyPr/>
                    <a:p>
                      <a:pPr algn="ctr">
                        <a:spcAft>
                          <a:spcPts val="0"/>
                        </a:spcAft>
                      </a:pPr>
                      <a:r>
                        <a:rPr lang="en-US" altLang="zh-CN" sz="700" b="0" kern="100" dirty="0">
                          <a:effectLst/>
                          <a:latin typeface="+mj-lt"/>
                          <a:ea typeface="永中宋体"/>
                          <a:cs typeface="Times New Roman" pitchFamily="18" charset="0"/>
                        </a:rPr>
                        <a:t>0010100110</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gridSpan="12">
                  <a:txBody>
                    <a:bodyPr/>
                    <a:p>
                      <a:pPr algn="ctr">
                        <a:spcAft>
                          <a:spcPts val="0"/>
                        </a:spcAft>
                      </a:pPr>
                      <a:r>
                        <a:rPr lang="en-US" altLang="zh-CN" sz="700" b="0" kern="100" dirty="0">
                          <a:effectLst/>
                          <a:latin typeface="+mj-lt"/>
                          <a:ea typeface="永中宋体"/>
                          <a:cs typeface="Times New Roman" pitchFamily="18" charset="0"/>
                        </a:rPr>
                        <a:t>si12</a:t>
                      </a:r>
                      <a:endParaRPr lang="en-US" altLang="zh-CN" sz="700" b="0" kern="100" dirty="0">
                        <a:effectLst/>
                        <a:latin typeface="+mj-lt"/>
                        <a:ea typeface="永中宋体"/>
                        <a:cs typeface="Times New Roman" pitchFamily="18" charset="0"/>
                      </a:endParaRPr>
                    </a:p>
                  </a:txBody>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p>
                      <a:pPr algn="ctr">
                        <a:spcAft>
                          <a:spcPts val="0"/>
                        </a:spcAft>
                      </a:pPr>
                      <a:r>
                        <a:rPr lang="en-US" altLang="zh-CN" sz="700" b="0" kern="100" dirty="0" err="1">
                          <a:effectLst/>
                          <a:latin typeface="+mj-lt"/>
                          <a:ea typeface="永中宋体"/>
                          <a:cs typeface="Times New Roman" pitchFamily="18" charset="0"/>
                        </a:rPr>
                        <a:t>rj</a:t>
                      </a:r>
                      <a:endParaRPr lang="en-US" altLang="zh-CN" sz="700" b="0" kern="100" dirty="0" err="1">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152400">
                <a:tc>
                  <a:txBody>
                    <a:bodyPr/>
                    <a:p>
                      <a:pPr algn="ctr">
                        <a:spcAft>
                          <a:spcPts val="0"/>
                        </a:spcAft>
                      </a:pPr>
                      <a:r>
                        <a:rPr lang="en-US" altLang="zh-CN" sz="1000" b="1" kern="100" dirty="0" err="1">
                          <a:solidFill>
                            <a:schemeClr val="tx1"/>
                          </a:solidFill>
                          <a:effectLst/>
                          <a:latin typeface="Times New Roman" pitchFamily="18" charset="0"/>
                          <a:ea typeface="宋体" panose="02000500000000000000" pitchFamily="2" charset="-122"/>
                          <a:cs typeface="Times New Roman" pitchFamily="18" charset="0"/>
                        </a:rPr>
                        <a:t>jirl</a:t>
                      </a:r>
                      <a:endParaRPr lang="en-US" altLang="zh-CN" sz="1000" b="1" kern="100" dirty="0" err="1">
                        <a:solidFill>
                          <a:schemeClr val="tx1"/>
                        </a:solidFill>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6">
                  <a:txBody>
                    <a:bodyPr/>
                    <a:p>
                      <a:pPr algn="ctr">
                        <a:spcAft>
                          <a:spcPts val="0"/>
                        </a:spcAft>
                      </a:pPr>
                      <a:r>
                        <a:rPr lang="en-US" altLang="zh-CN" sz="700" b="0" kern="100" dirty="0">
                          <a:effectLst/>
                          <a:latin typeface="+mj-lt"/>
                          <a:ea typeface="永中宋体"/>
                          <a:cs typeface="Times New Roman" pitchFamily="18" charset="0"/>
                        </a:rPr>
                        <a:t>010011</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gridSpan="16">
                  <a:txBody>
                    <a:bodyPr/>
                    <a:p>
                      <a:pPr algn="ctr">
                        <a:spcAft>
                          <a:spcPts val="0"/>
                        </a:spcAft>
                      </a:pPr>
                      <a:r>
                        <a:rPr lang="en-US" altLang="zh-CN" sz="700" b="0" kern="100" dirty="0">
                          <a:solidFill>
                            <a:schemeClr val="tx1"/>
                          </a:solidFill>
                          <a:effectLst/>
                          <a:latin typeface="+mn-lt"/>
                          <a:ea typeface="永中宋体"/>
                          <a:cs typeface="Times New Roman" pitchFamily="18" charset="0"/>
                        </a:rPr>
                        <a:t>offs[15:0]</a:t>
                      </a:r>
                      <a:endParaRPr lang="en-US" altLang="zh-CN" sz="700" b="0" kern="100" dirty="0">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p>
                      <a:pPr algn="ctr">
                        <a:spcAft>
                          <a:spcPts val="0"/>
                        </a:spcAft>
                      </a:pPr>
                      <a:r>
                        <a:rPr lang="en-US" altLang="zh-CN" sz="700" b="0" kern="100" dirty="0" err="1">
                          <a:effectLst/>
                          <a:latin typeface="+mj-lt"/>
                          <a:ea typeface="永中宋体"/>
                          <a:cs typeface="Times New Roman" pitchFamily="18" charset="0"/>
                        </a:rPr>
                        <a:t>rj</a:t>
                      </a:r>
                      <a:endParaRPr lang="en-US" altLang="zh-CN" sz="700" b="0" kern="100" dirty="0" err="1">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152400">
                <a:tc>
                  <a:txBody>
                    <a:bodyPr/>
                    <a:p>
                      <a:pPr algn="ctr">
                        <a:spcAft>
                          <a:spcPts val="0"/>
                        </a:spcAft>
                      </a:pPr>
                      <a:r>
                        <a:rPr lang="en-US" altLang="zh-CN" sz="1000" b="1" kern="100" dirty="0" err="1">
                          <a:effectLst/>
                          <a:latin typeface="Times New Roman" pitchFamily="18" charset="0"/>
                          <a:ea typeface="宋体" panose="02000500000000000000" pitchFamily="2" charset="-122"/>
                          <a:cs typeface="Times New Roman" pitchFamily="18" charset="0"/>
                        </a:rPr>
                        <a:t>beq</a:t>
                      </a:r>
                      <a:endParaRPr lang="en-US" altLang="zh-CN" sz="1000" b="1" kern="100" dirty="0" err="1">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6">
                  <a:txBody>
                    <a:bodyPr/>
                    <a:p>
                      <a:pPr algn="ctr">
                        <a:spcAft>
                          <a:spcPts val="0"/>
                        </a:spcAft>
                      </a:pPr>
                      <a:r>
                        <a:rPr lang="en-US" altLang="zh-CN" sz="700" b="0" kern="100" dirty="0">
                          <a:effectLst/>
                          <a:latin typeface="+mj-lt"/>
                          <a:ea typeface="永中宋体"/>
                          <a:cs typeface="Times New Roman" pitchFamily="18" charset="0"/>
                        </a:rPr>
                        <a:t>010110</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gridSpan="16">
                  <a:txBody>
                    <a:bodyPr/>
                    <a:p>
                      <a:pPr algn="ctr">
                        <a:spcAft>
                          <a:spcPts val="0"/>
                        </a:spcAft>
                      </a:pPr>
                      <a:r>
                        <a:rPr lang="en-US" altLang="zh-CN" sz="700" b="0" kern="100" dirty="0">
                          <a:solidFill>
                            <a:schemeClr val="tx1"/>
                          </a:solidFill>
                          <a:effectLst/>
                          <a:latin typeface="+mn-lt"/>
                          <a:ea typeface="永中宋体"/>
                          <a:cs typeface="Times New Roman" pitchFamily="18" charset="0"/>
                        </a:rPr>
                        <a:t>offs[15:0]</a:t>
                      </a:r>
                      <a:endParaRPr lang="en-US" altLang="zh-CN" sz="700" b="0" kern="100" dirty="0">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p>
                      <a:pPr algn="ctr">
                        <a:spcAft>
                          <a:spcPts val="0"/>
                        </a:spcAft>
                      </a:pPr>
                      <a:r>
                        <a:rPr lang="en-US" altLang="zh-CN" sz="700" b="0" kern="100" dirty="0" err="1">
                          <a:effectLst/>
                          <a:latin typeface="+mj-lt"/>
                          <a:ea typeface="永中宋体"/>
                          <a:cs typeface="Times New Roman" pitchFamily="18" charset="0"/>
                        </a:rPr>
                        <a:t>rj</a:t>
                      </a:r>
                      <a:endParaRPr lang="en-US" altLang="zh-CN" sz="700" b="0" kern="100" dirty="0" err="1">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c hMerge="1">
                  <a:tcPr marL="0" marR="0" marT="0" marB="0" anchor="ctr"/>
                </a:tc>
                <a:tc hMerge="1">
                  <a:tcPr marL="0" marR="0" marT="0" marB="0" anchor="ct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152400">
                <a:tc>
                  <a:txBody>
                    <a:bodyPr/>
                    <a:p>
                      <a:pPr algn="ctr">
                        <a:spcAft>
                          <a:spcPts val="0"/>
                        </a:spcAft>
                      </a:pPr>
                      <a:r>
                        <a:rPr lang="en-US" altLang="zh-CN" sz="1000" b="1" kern="100" dirty="0" err="1">
                          <a:effectLst/>
                          <a:latin typeface="Times New Roman" pitchFamily="18" charset="0"/>
                          <a:ea typeface="宋体" panose="02000500000000000000" pitchFamily="2" charset="-122"/>
                          <a:cs typeface="Times New Roman" pitchFamily="18" charset="0"/>
                        </a:rPr>
                        <a:t>bne</a:t>
                      </a:r>
                      <a:endParaRPr lang="en-US" altLang="zh-CN" sz="1000" b="1" kern="100" dirty="0" err="1">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6">
                  <a:txBody>
                    <a:bodyPr/>
                    <a:p>
                      <a:pPr algn="ctr">
                        <a:spcAft>
                          <a:spcPts val="0"/>
                        </a:spcAft>
                      </a:pPr>
                      <a:r>
                        <a:rPr lang="en-US" altLang="zh-CN" sz="700" b="0" kern="100" dirty="0">
                          <a:effectLst/>
                          <a:latin typeface="+mj-lt"/>
                          <a:ea typeface="永中宋体"/>
                          <a:cs typeface="Times New Roman" pitchFamily="18" charset="0"/>
                        </a:rPr>
                        <a:t>010111</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gridSpan="16">
                  <a:txBody>
                    <a:bodyPr/>
                    <a:p>
                      <a:pPr algn="ctr">
                        <a:spcAft>
                          <a:spcPts val="0"/>
                        </a:spcAft>
                      </a:pPr>
                      <a:r>
                        <a:rPr lang="en-US" altLang="zh-CN" sz="700" b="0" kern="100" dirty="0">
                          <a:solidFill>
                            <a:schemeClr val="tx1"/>
                          </a:solidFill>
                          <a:effectLst/>
                          <a:latin typeface="+mn-lt"/>
                          <a:ea typeface="永中宋体"/>
                          <a:cs typeface="Times New Roman" pitchFamily="18" charset="0"/>
                        </a:rPr>
                        <a:t>offs[15:0]</a:t>
                      </a:r>
                      <a:endParaRPr lang="en-US" altLang="zh-CN" sz="700" b="0" kern="100" dirty="0">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5">
                  <a:txBody>
                    <a:bodyPr/>
                    <a:p>
                      <a:pPr algn="ctr">
                        <a:spcAft>
                          <a:spcPts val="0"/>
                        </a:spcAft>
                      </a:pPr>
                      <a:r>
                        <a:rPr lang="en-US" altLang="zh-CN" sz="700" b="0" kern="100" dirty="0" err="1">
                          <a:effectLst/>
                          <a:latin typeface="+mj-lt"/>
                          <a:ea typeface="永中宋体"/>
                          <a:cs typeface="Times New Roman" pitchFamily="18" charset="0"/>
                        </a:rPr>
                        <a:t>rj</a:t>
                      </a:r>
                      <a:endParaRPr lang="en-US" altLang="zh-CN" sz="700" b="0" kern="100" dirty="0" err="1">
                        <a:effectLst/>
                        <a:latin typeface="+mj-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c hMerge="1">
                  <a:tcPr marL="0" marR="0" marT="0" marB="0" anchor="ctr"/>
                </a:tc>
                <a:tc hMerge="1">
                  <a:tcPr marL="0" marR="0" marT="0" marB="0" anchor="ctr"/>
                </a:tc>
                <a:tc gridSpan="5">
                  <a:txBody>
                    <a:bodyPr/>
                    <a:p>
                      <a:pPr algn="ctr">
                        <a:spcAft>
                          <a:spcPts val="0"/>
                        </a:spcAft>
                      </a:pPr>
                      <a:r>
                        <a:rPr lang="en-US" altLang="zh-CN" sz="700" b="0" kern="100" dirty="0" err="1">
                          <a:effectLst/>
                          <a:latin typeface="+mj-lt"/>
                          <a:ea typeface="永中宋体"/>
                          <a:cs typeface="Times New Roman" pitchFamily="18" charset="0"/>
                        </a:rPr>
                        <a:t>rd</a:t>
                      </a:r>
                      <a:endParaRPr lang="en-US" altLang="zh-CN" sz="700" b="0" kern="100" dirty="0" err="1">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152400">
                <a:tc>
                  <a:txBody>
                    <a:bodyPr/>
                    <a:p>
                      <a:pPr algn="ctr">
                        <a:spcAft>
                          <a:spcPts val="0"/>
                        </a:spcAft>
                      </a:pPr>
                      <a:r>
                        <a:rPr lang="en-US" altLang="zh-CN" sz="1000" b="1" kern="100" dirty="0">
                          <a:effectLst/>
                          <a:latin typeface="Times New Roman" pitchFamily="18" charset="0"/>
                          <a:ea typeface="宋体" panose="02000500000000000000" pitchFamily="2" charset="-122"/>
                          <a:cs typeface="Times New Roman" pitchFamily="18" charset="0"/>
                        </a:rPr>
                        <a:t>b</a:t>
                      </a:r>
                      <a:endParaRPr lang="en-US" altLang="zh-CN" sz="1000" b="1"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6">
                  <a:txBody>
                    <a:bodyPr/>
                    <a:p>
                      <a:pPr algn="ctr">
                        <a:spcAft>
                          <a:spcPts val="0"/>
                        </a:spcAft>
                      </a:pPr>
                      <a:r>
                        <a:rPr lang="en-US" altLang="zh-CN" sz="700" b="0" kern="100" dirty="0">
                          <a:effectLst/>
                          <a:latin typeface="+mj-lt"/>
                          <a:ea typeface="永中宋体"/>
                          <a:cs typeface="Times New Roman" pitchFamily="18" charset="0"/>
                        </a:rPr>
                        <a:t>010100</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gridSpan="16">
                  <a:txBody>
                    <a:bodyPr/>
                    <a:p>
                      <a:pPr algn="ctr">
                        <a:spcAft>
                          <a:spcPts val="0"/>
                        </a:spcAft>
                      </a:pPr>
                      <a:r>
                        <a:rPr lang="en-US" altLang="zh-CN" sz="700" b="0" kern="100" dirty="0">
                          <a:solidFill>
                            <a:schemeClr val="tx1"/>
                          </a:solidFill>
                          <a:effectLst/>
                          <a:latin typeface="+mn-lt"/>
                          <a:ea typeface="永中宋体"/>
                          <a:cs typeface="Times New Roman" pitchFamily="18" charset="0"/>
                        </a:rPr>
                        <a:t>offs[15:0]</a:t>
                      </a:r>
                      <a:endParaRPr lang="en-US" altLang="zh-CN" sz="700" b="0" kern="100" dirty="0">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10">
                  <a:txBody>
                    <a:bodyPr/>
                    <a:p>
                      <a:pPr algn="ctr">
                        <a:spcAft>
                          <a:spcPts val="0"/>
                        </a:spcAft>
                      </a:pPr>
                      <a:r>
                        <a:rPr lang="en-US" altLang="zh-CN" sz="700" b="0" kern="100" dirty="0">
                          <a:effectLst/>
                          <a:latin typeface="+mj-lt"/>
                          <a:ea typeface="永中宋体"/>
                          <a:cs typeface="Times New Roman" pitchFamily="18" charset="0"/>
                        </a:rPr>
                        <a:t>offs[25:16]</a:t>
                      </a:r>
                      <a:endParaRPr lang="en-US" altLang="zh-CN" sz="700" b="0" kern="100" dirty="0">
                        <a:effectLst/>
                        <a:latin typeface="+mj-lt"/>
                        <a:ea typeface="永中宋体"/>
                        <a:cs typeface="Times New Roman" pitchFamily="18" charset="0"/>
                      </a:endParaRPr>
                    </a:p>
                  </a:txBody>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r h="152400">
                <a:tc>
                  <a:txBody>
                    <a:bodyPr/>
                    <a:p>
                      <a:pPr algn="ctr">
                        <a:spcAft>
                          <a:spcPts val="0"/>
                        </a:spcAft>
                      </a:pPr>
                      <a:r>
                        <a:rPr lang="en-US" altLang="zh-CN" sz="1000" b="1" kern="100" dirty="0">
                          <a:effectLst/>
                          <a:latin typeface="Times New Roman" pitchFamily="18" charset="0"/>
                          <a:ea typeface="宋体" panose="02000500000000000000" pitchFamily="2" charset="-122"/>
                          <a:cs typeface="Times New Roman" pitchFamily="18" charset="0"/>
                        </a:rPr>
                        <a:t>bl</a:t>
                      </a:r>
                      <a:endParaRPr lang="en-US" altLang="zh-CN" sz="1000" b="1" kern="100" dirty="0">
                        <a:effectLst/>
                        <a:latin typeface="Times New Roman" pitchFamily="18" charset="0"/>
                        <a:ea typeface="宋体" panose="02000500000000000000" pitchFamily="2" charset="-122"/>
                        <a:cs typeface="Times New Roman" pitchFamily="18" charset="0"/>
                      </a:endParaRPr>
                    </a:p>
                  </a:txBody>
                  <a:tcPr marL="0" marR="0" marT="0" marB="0" anchor="ctr">
                    <a:lnL>
                      <a:noFill/>
                    </a:lnL>
                    <a:lnR w="19050" cap="flat" cmpd="sng" algn="ctr">
                      <a:solidFill>
                        <a:srgbClr val="000000"/>
                      </a:solidFill>
                      <a:prstDash val="solid"/>
                      <a:round/>
                      <a:headEnd type="none" w="med" len="med"/>
                      <a:tailEnd type="none" w="med" len="med"/>
                    </a:lnR>
                    <a:lnT>
                      <a:noFill/>
                    </a:lnT>
                    <a:lnB>
                      <a:noFill/>
                    </a:lnB>
                  </a:tcPr>
                </a:tc>
                <a:tc gridSpan="6">
                  <a:txBody>
                    <a:bodyPr/>
                    <a:p>
                      <a:pPr algn="ctr">
                        <a:spcAft>
                          <a:spcPts val="0"/>
                        </a:spcAft>
                      </a:pPr>
                      <a:r>
                        <a:rPr lang="en-US" altLang="zh-CN" sz="700" b="0" kern="100" dirty="0">
                          <a:effectLst/>
                          <a:latin typeface="+mj-lt"/>
                          <a:ea typeface="永中宋体"/>
                          <a:cs typeface="Times New Roman" pitchFamily="18" charset="0"/>
                        </a:rPr>
                        <a:t>010101</a:t>
                      </a:r>
                      <a:endParaRPr lang="en-US" altLang="zh-CN" sz="700" b="0" kern="100" dirty="0">
                        <a:effectLst/>
                        <a:latin typeface="+mj-lt"/>
                        <a:ea typeface="永中宋体"/>
                        <a:cs typeface="Times New Roman" pitchFamily="18" charset="0"/>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gridSpan="16">
                  <a:txBody>
                    <a:bodyPr/>
                    <a:p>
                      <a:pPr algn="ctr">
                        <a:spcAft>
                          <a:spcPts val="0"/>
                        </a:spcAft>
                      </a:pPr>
                      <a:r>
                        <a:rPr lang="en-US" altLang="zh-CN" sz="700" b="0" kern="100" dirty="0">
                          <a:solidFill>
                            <a:schemeClr val="tx1"/>
                          </a:solidFill>
                          <a:effectLst/>
                          <a:latin typeface="+mn-lt"/>
                          <a:ea typeface="永中宋体"/>
                          <a:cs typeface="Times New Roman" pitchFamily="18" charset="0"/>
                        </a:rPr>
                        <a:t>offs[15:0]</a:t>
                      </a:r>
                      <a:endParaRPr lang="en-US" altLang="zh-CN" sz="700" b="0" kern="100" dirty="0">
                        <a:solidFill>
                          <a:schemeClr val="tx1"/>
                        </a:solidFill>
                        <a:effectLst/>
                        <a:latin typeface="+mn-lt"/>
                        <a:ea typeface="永中宋体"/>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gridSpan="10">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700" b="0" kern="100" dirty="0">
                          <a:solidFill>
                            <a:schemeClr val="tx1"/>
                          </a:solidFill>
                          <a:effectLst/>
                          <a:latin typeface="+mn-lt"/>
                          <a:ea typeface="永中宋体"/>
                          <a:cs typeface="Times New Roman" pitchFamily="18" charset="0"/>
                        </a:rPr>
                        <a:t>offs[25:16]</a:t>
                      </a:r>
                      <a:endParaRPr lang="en-US" altLang="zh-CN" sz="700" b="0" kern="100" dirty="0">
                        <a:solidFill>
                          <a:schemeClr val="tx1"/>
                        </a:solidFill>
                        <a:effectLst/>
                        <a:latin typeface="+mn-lt"/>
                        <a:ea typeface="永中宋体"/>
                        <a:cs typeface="Times New Roman" pitchFamily="18" charset="0"/>
                      </a:endParaRPr>
                    </a:p>
                  </a:txBody>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lnL w="19050" cap="flat" cmpd="sng" algn="ctr">
                      <a:solidFill>
                        <a:srgbClr val="000000"/>
                      </a:solidFill>
                      <a:prstDash val="solid"/>
                      <a:round/>
                      <a:headEnd type="none" w="med" len="med"/>
                      <a:tailEnd type="none" w="med" len="med"/>
                    </a:lnL>
                  </a:tcPr>
                </a:tc>
                <a:tc hMerge="1">
                  <a:tcPr marL="0" marR="0" marT="0" marB="0" anchor="ctr"/>
                </a:tc>
                <a:tc hMerge="1">
                  <a:tcPr marL="0" marR="0" marT="0" marB="0" anchor="ctr"/>
                </a:tc>
              </a:tr>
            </a:tbl>
          </a:graphicData>
        </a:graphic>
      </p:graphicFrame>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13315" name="Rectangle 289"/>
          <p:cNvSpPr/>
          <p:nvPr/>
        </p:nvSpPr>
        <p:spPr>
          <a:xfrm>
            <a:off x="504020" y="515938"/>
            <a:ext cx="7665569" cy="576262"/>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latin typeface="Times New Roman" pitchFamily="18" charset="0"/>
              </a:rPr>
              <a:t>“两读一写”寄存器堆电路结构</a:t>
            </a:r>
            <a:endParaRPr lang="zh-CN" altLang="en-US" b="1" dirty="0">
              <a:latin typeface="Times New Roman" pitchFamily="18" charset="0"/>
            </a:endParaRPr>
          </a:p>
        </p:txBody>
      </p:sp>
      <p:graphicFrame>
        <p:nvGraphicFramePr>
          <p:cNvPr id="13316" name="对象 1"/>
          <p:cNvGraphicFramePr/>
          <p:nvPr/>
        </p:nvGraphicFramePr>
        <p:xfrm>
          <a:off x="2256392" y="1252538"/>
          <a:ext cx="7879325" cy="4905375"/>
        </p:xfrm>
        <a:graphic>
          <a:graphicData uri="http://schemas.openxmlformats.org/presentationml/2006/ole">
            <mc:AlternateContent xmlns:mc="http://schemas.openxmlformats.org/markup-compatibility/2006">
              <mc:Choice xmlns:v="urn:schemas-microsoft-com:vml" Requires="v">
                <p:oleObj spid="_x0000_s1025" name="" r:id="rId1" imgW="5676900" imgH="4711700" progId="">
                  <p:embed/>
                </p:oleObj>
              </mc:Choice>
              <mc:Fallback>
                <p:oleObj name="" r:id="rId1" imgW="5676900" imgH="4711700" progId="">
                  <p:embed/>
                  <p:pic>
                    <p:nvPicPr>
                      <p:cNvPr id="0" name="图片 1024" descr="image4"/>
                      <p:cNvPicPr/>
                      <p:nvPr/>
                    </p:nvPicPr>
                    <p:blipFill>
                      <a:blip r:embed="rId2"/>
                      <a:stretch>
                        <a:fillRect/>
                      </a:stretch>
                    </p:blipFill>
                    <p:spPr>
                      <a:xfrm>
                        <a:off x="2256392" y="1252538"/>
                        <a:ext cx="7879325" cy="4905375"/>
                      </a:xfrm>
                      <a:prstGeom prst="rect">
                        <a:avLst/>
                      </a:prstGeom>
                      <a:noFill/>
                      <a:ln w="38100">
                        <a:noFill/>
                      </a:ln>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14339" name="Rectangle 3"/>
          <p:cNvSpPr>
            <a:spLocks noGrp="1"/>
          </p:cNvSpPr>
          <p:nvPr>
            <p:ph idx="1"/>
          </p:nvPr>
        </p:nvSpPr>
        <p:spPr>
          <a:xfrm>
            <a:off x="185738" y="1040130"/>
            <a:ext cx="5539740" cy="5104765"/>
          </a:xfrm>
        </p:spPr>
        <p:txBody>
          <a:bodyPr vert="horz" wrap="square" lIns="91440" tIns="45720" rIns="91440" bIns="45720" anchor="t" anchorCtr="0"/>
          <a:lstStyle/>
          <a:p>
            <a:pPr eaLnBrk="1" hangingPunct="1"/>
            <a:r>
              <a:rPr lang="zh-CN" altLang="en-US" dirty="0">
                <a:cs typeface="+mn-ea"/>
              </a:rPr>
              <a:t>主要控制逻辑</a:t>
            </a:r>
            <a:r>
              <a:rPr lang="en-US" altLang="zh-CN" dirty="0">
                <a:cs typeface="+mn-ea"/>
              </a:rPr>
              <a:t>---</a:t>
            </a:r>
            <a:r>
              <a:rPr lang="zh-CN" altLang="en-US" dirty="0">
                <a:cs typeface="+mn-ea"/>
              </a:rPr>
              <a:t>控制信号</a:t>
            </a:r>
            <a:endParaRPr lang="en-US" altLang="zh-CN" dirty="0">
              <a:cs typeface="+mn-ea"/>
            </a:endParaRPr>
          </a:p>
          <a:p>
            <a:pPr lvl="1" eaLnBrk="1" hangingPunct="1">
              <a:lnSpc>
                <a:spcPct val="130000"/>
              </a:lnSpc>
            </a:pPr>
            <a:r>
              <a:rPr lang="en-US" altLang="zh-CN" dirty="0">
                <a:cs typeface="+mn-ea"/>
              </a:rPr>
              <a:t>br_op         </a:t>
            </a:r>
            <a:r>
              <a:rPr lang="zh-CN" altLang="en-US" dirty="0">
                <a:cs typeface="+mn-ea"/>
              </a:rPr>
              <a:t>：转移部件控制</a:t>
            </a:r>
            <a:endParaRPr lang="zh-CN" altLang="en-US" dirty="0">
              <a:cs typeface="+mn-ea"/>
            </a:endParaRPr>
          </a:p>
          <a:p>
            <a:pPr lvl="1" eaLnBrk="1" hangingPunct="1">
              <a:lnSpc>
                <a:spcPct val="130000"/>
              </a:lnSpc>
            </a:pPr>
            <a:r>
              <a:rPr lang="en-US" altLang="zh-CN" dirty="0">
                <a:cs typeface="+mn-ea"/>
              </a:rPr>
              <a:t>sel_rf_ra2      </a:t>
            </a:r>
            <a:r>
              <a:rPr lang="zh-CN" altLang="en-US" dirty="0">
                <a:cs typeface="+mn-ea"/>
              </a:rPr>
              <a:t>：源寄存器</a:t>
            </a:r>
            <a:r>
              <a:rPr lang="en-US" altLang="zh-CN" dirty="0">
                <a:cs typeface="+mn-ea"/>
              </a:rPr>
              <a:t>2</a:t>
            </a:r>
            <a:r>
              <a:rPr lang="zh-CN" altLang="en-US" dirty="0">
                <a:cs typeface="+mn-ea"/>
              </a:rPr>
              <a:t>的地址二选一</a:t>
            </a:r>
            <a:endParaRPr lang="en-US" altLang="zh-CN" dirty="0">
              <a:cs typeface="+mn-ea"/>
            </a:endParaRPr>
          </a:p>
          <a:p>
            <a:pPr lvl="1" eaLnBrk="1" hangingPunct="1">
              <a:lnSpc>
                <a:spcPct val="130000"/>
              </a:lnSpc>
            </a:pPr>
            <a:r>
              <a:rPr lang="en-US" altLang="zh-CN" dirty="0">
                <a:cs typeface="+mn-ea"/>
              </a:rPr>
              <a:t>sel_alu_src1    ：ALU源操作数1的</a:t>
            </a:r>
            <a:r>
              <a:rPr lang="zh-CN" altLang="en-US" dirty="0">
                <a:cs typeface="+mn-ea"/>
              </a:rPr>
              <a:t>二</a:t>
            </a:r>
            <a:r>
              <a:rPr lang="en-US" altLang="zh-CN" dirty="0">
                <a:cs typeface="+mn-ea"/>
              </a:rPr>
              <a:t>选一</a:t>
            </a:r>
            <a:endParaRPr lang="en-US" altLang="zh-CN" dirty="0">
              <a:cs typeface="+mn-ea"/>
            </a:endParaRPr>
          </a:p>
          <a:p>
            <a:pPr lvl="1" eaLnBrk="1" hangingPunct="1">
              <a:lnSpc>
                <a:spcPct val="130000"/>
              </a:lnSpc>
            </a:pPr>
            <a:r>
              <a:rPr lang="en-US" altLang="zh-CN" dirty="0">
                <a:cs typeface="+mn-ea"/>
              </a:rPr>
              <a:t>sel_alu_src2    ：ALU源操作数2的</a:t>
            </a:r>
            <a:r>
              <a:rPr lang="zh-CN" altLang="en-US" dirty="0">
                <a:cs typeface="+mn-ea"/>
              </a:rPr>
              <a:t>四</a:t>
            </a:r>
            <a:r>
              <a:rPr lang="en-US" altLang="zh-CN" dirty="0">
                <a:cs typeface="+mn-ea"/>
              </a:rPr>
              <a:t>选一</a:t>
            </a:r>
            <a:endParaRPr lang="en-US" altLang="zh-CN" dirty="0">
              <a:cs typeface="+mn-ea"/>
            </a:endParaRPr>
          </a:p>
          <a:p>
            <a:pPr lvl="1" eaLnBrk="1" hangingPunct="1">
              <a:lnSpc>
                <a:spcPct val="130000"/>
              </a:lnSpc>
            </a:pPr>
            <a:r>
              <a:rPr lang="en-US" altLang="zh-CN" dirty="0">
                <a:cs typeface="+mn-ea"/>
              </a:rPr>
              <a:t>alu_op        ：ALU控制</a:t>
            </a:r>
            <a:endParaRPr lang="en-US" altLang="zh-CN" dirty="0">
              <a:cs typeface="+mn-ea"/>
            </a:endParaRPr>
          </a:p>
          <a:p>
            <a:pPr lvl="1" eaLnBrk="1" hangingPunct="1">
              <a:lnSpc>
                <a:spcPct val="130000"/>
              </a:lnSpc>
            </a:pPr>
            <a:r>
              <a:rPr lang="en-US" altLang="zh-CN" dirty="0">
                <a:cs typeface="+mn-ea"/>
                <a:sym typeface="+mn-ea"/>
              </a:rPr>
              <a:t>sel_rf_res      </a:t>
            </a:r>
            <a:r>
              <a:rPr lang="zh-CN" altLang="en-US" dirty="0">
                <a:cs typeface="+mn-ea"/>
                <a:sym typeface="+mn-ea"/>
              </a:rPr>
              <a:t>：寄存器写回结果的二选一</a:t>
            </a:r>
            <a:endParaRPr lang="en-US" altLang="zh-CN" dirty="0">
              <a:cs typeface="+mn-ea"/>
            </a:endParaRPr>
          </a:p>
          <a:p>
            <a:pPr lvl="1" eaLnBrk="1" hangingPunct="1">
              <a:lnSpc>
                <a:spcPct val="130000"/>
              </a:lnSpc>
            </a:pPr>
            <a:r>
              <a:rPr lang="en-US" altLang="zh-CN" dirty="0">
                <a:cs typeface="+mn-ea"/>
                <a:sym typeface="+mn-ea"/>
              </a:rPr>
              <a:t>sel_rf_dst      </a:t>
            </a:r>
            <a:r>
              <a:rPr lang="zh-CN" altLang="en-US" dirty="0">
                <a:cs typeface="+mn-ea"/>
                <a:sym typeface="+mn-ea"/>
              </a:rPr>
              <a:t>：目的寄存器号的二选一</a:t>
            </a:r>
            <a:endParaRPr lang="zh-CN" altLang="en-US" dirty="0">
              <a:cs typeface="+mn-ea"/>
            </a:endParaRPr>
          </a:p>
          <a:p>
            <a:pPr lvl="1" eaLnBrk="1" hangingPunct="1">
              <a:lnSpc>
                <a:spcPct val="130000"/>
              </a:lnSpc>
            </a:pPr>
            <a:r>
              <a:rPr lang="en-US" altLang="zh-CN" dirty="0">
                <a:cs typeface="+mn-ea"/>
              </a:rPr>
              <a:t>rf_we         </a:t>
            </a:r>
            <a:r>
              <a:rPr lang="zh-CN" altLang="en-US" dirty="0">
                <a:cs typeface="+mn-ea"/>
              </a:rPr>
              <a:t>：寄存器堆的写使能</a:t>
            </a:r>
            <a:endParaRPr lang="en-US" altLang="zh-CN" dirty="0">
              <a:cs typeface="+mn-ea"/>
            </a:endParaRPr>
          </a:p>
          <a:p>
            <a:pPr lvl="1" eaLnBrk="1" hangingPunct="1">
              <a:lnSpc>
                <a:spcPct val="130000"/>
              </a:lnSpc>
            </a:pPr>
            <a:r>
              <a:rPr lang="en-US" altLang="zh-CN" dirty="0">
                <a:cs typeface="+mn-ea"/>
              </a:rPr>
              <a:t>data_ram_ce    ：数据存储器的</a:t>
            </a:r>
            <a:r>
              <a:rPr lang="zh-CN" altLang="en-US" dirty="0">
                <a:cs typeface="+mn-ea"/>
              </a:rPr>
              <a:t>片选使能</a:t>
            </a:r>
            <a:endParaRPr lang="en-US" altLang="zh-CN" dirty="0">
              <a:cs typeface="+mn-ea"/>
            </a:endParaRPr>
          </a:p>
          <a:p>
            <a:pPr lvl="1" eaLnBrk="1" hangingPunct="1">
              <a:lnSpc>
                <a:spcPct val="130000"/>
              </a:lnSpc>
            </a:pPr>
            <a:r>
              <a:rPr lang="en-US" altLang="zh-CN" dirty="0">
                <a:cs typeface="+mn-ea"/>
              </a:rPr>
              <a:t>data_ram_we   </a:t>
            </a:r>
            <a:r>
              <a:rPr lang="zh-CN" altLang="en-US" dirty="0">
                <a:cs typeface="+mn-ea"/>
              </a:rPr>
              <a:t>：数据存储器的写使能</a:t>
            </a:r>
            <a:endParaRPr lang="en-US" altLang="zh-CN" dirty="0">
              <a:cs typeface="+mn-ea"/>
            </a:endParaRPr>
          </a:p>
        </p:txBody>
      </p:sp>
      <p:pic>
        <p:nvPicPr>
          <p:cNvPr id="12292" name="图片 8"/>
          <p:cNvPicPr>
            <a:picLocks noChangeAspect="1"/>
          </p:cNvPicPr>
          <p:nvPr/>
        </p:nvPicPr>
        <p:blipFill>
          <a:blip r:embed="rId1" cstate="print"/>
          <a:stretch>
            <a:fillRect/>
          </a:stretch>
        </p:blipFill>
        <p:spPr>
          <a:xfrm>
            <a:off x="5033963" y="894715"/>
            <a:ext cx="6965315" cy="5494655"/>
          </a:xfrm>
          <a:prstGeom prst="rect">
            <a:avLst/>
          </a:prstGeom>
          <a:noFill/>
          <a:ln w="9525">
            <a:noFill/>
          </a:ln>
        </p:spPr>
      </p:pic>
      <p:sp>
        <p:nvSpPr>
          <p:cNvPr id="2" name="文本框 1"/>
          <p:cNvSpPr txBox="1"/>
          <p:nvPr/>
        </p:nvSpPr>
        <p:spPr>
          <a:xfrm>
            <a:off x="7619048" y="3685540"/>
            <a:ext cx="596900" cy="275590"/>
          </a:xfrm>
          <a:prstGeom prst="rect">
            <a:avLst/>
          </a:prstGeom>
          <a:noFill/>
        </p:spPr>
        <p:txBody>
          <a:bodyPr wrap="square" rtlCol="0">
            <a:spAutoFit/>
          </a:bodyPr>
          <a:p>
            <a:r>
              <a:rPr lang="en-US" altLang="zh-CN" sz="1200">
                <a:latin typeface="宋体" panose="02000500000000000000" pitchFamily="2" charset="-122"/>
              </a:rPr>
              <a:t>ra=1</a:t>
            </a:r>
            <a:endParaRPr lang="en-US" altLang="zh-CN" sz="1200">
              <a:latin typeface="宋体" panose="02000500000000000000" pitchFamily="2" charset="-122"/>
            </a:endParaRPr>
          </a:p>
        </p:txBody>
      </p:sp>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11"/>
          <p:cNvSpPr/>
          <p:nvPr/>
        </p:nvSpPr>
        <p:spPr>
          <a:xfrm>
            <a:off x="437984" y="160020"/>
            <a:ext cx="6533299" cy="527050"/>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latin typeface="Times New Roman" pitchFamily="18" charset="0"/>
              </a:rPr>
              <a:t>主要控制逻辑</a:t>
            </a:r>
            <a:endParaRPr lang="zh-CN" altLang="en-US" b="1" dirty="0">
              <a:latin typeface="Times New Roman" pitchFamily="18" charset="0"/>
            </a:endParaRPr>
          </a:p>
        </p:txBody>
      </p:sp>
      <p:pic>
        <p:nvPicPr>
          <p:cNvPr id="17412" name="图片 1"/>
          <p:cNvPicPr>
            <a:picLocks noChangeAspect="1"/>
          </p:cNvPicPr>
          <p:nvPr/>
        </p:nvPicPr>
        <p:blipFill>
          <a:blip r:embed="rId1" cstate="print"/>
          <a:stretch>
            <a:fillRect/>
          </a:stretch>
        </p:blipFill>
        <p:spPr>
          <a:xfrm>
            <a:off x="128301" y="730251"/>
            <a:ext cx="7669802" cy="6043613"/>
          </a:xfrm>
          <a:prstGeom prst="rect">
            <a:avLst/>
          </a:prstGeom>
          <a:noFill/>
          <a:ln w="9525">
            <a:noFill/>
          </a:ln>
        </p:spPr>
      </p:pic>
      <p:pic>
        <p:nvPicPr>
          <p:cNvPr id="5" name="图片 4"/>
          <p:cNvPicPr>
            <a:picLocks noChangeAspect="1"/>
          </p:cNvPicPr>
          <p:nvPr/>
        </p:nvPicPr>
        <p:blipFill>
          <a:blip r:embed="rId2" cstate="print"/>
          <a:stretch>
            <a:fillRect/>
          </a:stretch>
        </p:blipFill>
        <p:spPr>
          <a:xfrm>
            <a:off x="8066723" y="3552825"/>
            <a:ext cx="4065270" cy="3126105"/>
          </a:xfrm>
          <a:prstGeom prst="rect">
            <a:avLst/>
          </a:prstGeom>
        </p:spPr>
      </p:pic>
      <p:pic>
        <p:nvPicPr>
          <p:cNvPr id="2" name="图片 1"/>
          <p:cNvPicPr>
            <a:picLocks noChangeAspect="1"/>
          </p:cNvPicPr>
          <p:nvPr/>
        </p:nvPicPr>
        <p:blipFill>
          <a:blip r:embed="rId3"/>
          <a:stretch>
            <a:fillRect/>
          </a:stretch>
        </p:blipFill>
        <p:spPr>
          <a:xfrm>
            <a:off x="7898130" y="423545"/>
            <a:ext cx="4292600" cy="3104515"/>
          </a:xfrm>
          <a:prstGeom prst="rect">
            <a:avLst/>
          </a:prstGeom>
        </p:spPr>
      </p:pic>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15363" name="Rectangle 3"/>
          <p:cNvSpPr>
            <a:spLocks noGrp="1"/>
          </p:cNvSpPr>
          <p:nvPr>
            <p:ph idx="1"/>
          </p:nvPr>
        </p:nvSpPr>
        <p:spPr>
          <a:xfrm>
            <a:off x="706127" y="596583"/>
            <a:ext cx="10361851" cy="527050"/>
          </a:xfrm>
        </p:spPr>
        <p:txBody>
          <a:bodyPr vert="horz" wrap="square" lIns="91440" tIns="45720" rIns="91440" bIns="45720" anchor="t" anchorCtr="0"/>
          <a:lstStyle/>
          <a:p>
            <a:pPr eaLnBrk="1" hangingPunct="1"/>
            <a:r>
              <a:rPr lang="zh-CN" altLang="en-US" dirty="0"/>
              <a:t>主要控制逻辑</a:t>
            </a:r>
            <a:r>
              <a:rPr lang="en-US" altLang="zh-CN" dirty="0"/>
              <a:t>---</a:t>
            </a:r>
            <a:r>
              <a:rPr lang="zh-CN" altLang="en-US" dirty="0"/>
              <a:t>真值表</a:t>
            </a:r>
            <a:endParaRPr lang="zh-CN" altLang="en-US" dirty="0"/>
          </a:p>
        </p:txBody>
      </p:sp>
      <p:sp>
        <p:nvSpPr>
          <p:cNvPr id="15364" name="Rectangle 5"/>
          <p:cNvSpPr/>
          <p:nvPr/>
        </p:nvSpPr>
        <p:spPr>
          <a:xfrm>
            <a:off x="2774906" y="1353503"/>
            <a:ext cx="309880" cy="829945"/>
          </a:xfrm>
          <a:prstGeom prst="rect">
            <a:avLst/>
          </a:prstGeom>
          <a:noFill/>
          <a:ln w="9525">
            <a:noFill/>
          </a:ln>
        </p:spPr>
        <p:txBody>
          <a:bodyPr wrap="none" anchor="ctr" anchorCtr="0">
            <a:spAutoFit/>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eaLnBrk="1" hangingPunct="1">
              <a:lnSpc>
                <a:spcPct val="100000"/>
              </a:lnSpc>
              <a:spcBef>
                <a:spcPct val="50000"/>
              </a:spcBef>
              <a:buNone/>
            </a:pPr>
            <a:br>
              <a:rPr lang="zh-CN" altLang="zh-CN" sz="2400" dirty="0">
                <a:latin typeface="Times New Roman" pitchFamily="18" charset="0"/>
              </a:rPr>
            </a:br>
            <a:endParaRPr lang="zh-CN" altLang="zh-CN" sz="2400" dirty="0">
              <a:latin typeface="Times New Roman" pitchFamily="18" charset="0"/>
            </a:endParaRPr>
          </a:p>
        </p:txBody>
      </p:sp>
      <p:pic>
        <p:nvPicPr>
          <p:cNvPr id="4" name="图片 3"/>
          <p:cNvPicPr>
            <a:picLocks noChangeAspect="1"/>
          </p:cNvPicPr>
          <p:nvPr/>
        </p:nvPicPr>
        <p:blipFill>
          <a:blip r:embed="rId1" cstate="print"/>
          <a:stretch>
            <a:fillRect/>
          </a:stretch>
        </p:blipFill>
        <p:spPr>
          <a:xfrm>
            <a:off x="2859986" y="1406526"/>
            <a:ext cx="6648854" cy="5299075"/>
          </a:xfrm>
          <a:prstGeom prst="rect">
            <a:avLst/>
          </a:prstGeom>
        </p:spPr>
      </p:pic>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16387" name="Rectangle 3"/>
          <p:cNvSpPr>
            <a:spLocks noGrp="1"/>
          </p:cNvSpPr>
          <p:nvPr>
            <p:ph idx="1"/>
          </p:nvPr>
        </p:nvSpPr>
        <p:spPr>
          <a:xfrm>
            <a:off x="239471" y="276226"/>
            <a:ext cx="5856054" cy="1331913"/>
          </a:xfrm>
        </p:spPr>
        <p:txBody>
          <a:bodyPr vert="horz" wrap="square" lIns="91440" tIns="45720" rIns="91440" bIns="45720" anchor="t" anchorCtr="0"/>
          <a:lstStyle/>
          <a:p>
            <a:pPr eaLnBrk="1" hangingPunct="1"/>
            <a:r>
              <a:rPr lang="zh-CN" altLang="en-US" dirty="0"/>
              <a:t>控制信号的</a:t>
            </a:r>
            <a:r>
              <a:rPr lang="en-US" altLang="zh-CN" dirty="0"/>
              <a:t>Verilog</a:t>
            </a:r>
            <a:r>
              <a:rPr lang="zh-CN" altLang="en-US" dirty="0"/>
              <a:t>描述</a:t>
            </a:r>
            <a:endParaRPr lang="zh-CN" altLang="en-US" dirty="0"/>
          </a:p>
        </p:txBody>
      </p:sp>
      <p:graphicFrame>
        <p:nvGraphicFramePr>
          <p:cNvPr id="4" name="表格 3"/>
          <p:cNvGraphicFramePr>
            <a:graphicFrameLocks noGrp="1"/>
          </p:cNvGraphicFramePr>
          <p:nvPr/>
        </p:nvGraphicFramePr>
        <p:xfrm>
          <a:off x="305895" y="993140"/>
          <a:ext cx="11116945" cy="5486400"/>
        </p:xfrm>
        <a:graphic>
          <a:graphicData uri="http://schemas.openxmlformats.org/drawingml/2006/table">
            <a:tbl>
              <a:tblPr firstRow="1" firstCol="1" bandRow="1"/>
              <a:tblGrid>
                <a:gridCol w="11116945"/>
              </a:tblGrid>
              <a:tr h="4871720">
                <a:tc>
                  <a:txBody>
                    <a:bodyPr/>
                    <a:lstStyle/>
                    <a:p>
                      <a:pPr algn="l">
                        <a:spcAft>
                          <a:spcPts val="0"/>
                        </a:spcAft>
                      </a:pPr>
                      <a:r>
                        <a:rPr lang="en-US" altLang="zh-CN" sz="1200" kern="100" dirty="0">
                          <a:effectLst/>
                          <a:latin typeface="Courier New" pitchFamily="49" charset="0"/>
                          <a:ea typeface="永中宋体"/>
                          <a:cs typeface="Courier New" pitchFamily="49" charset="0"/>
                        </a:rPr>
                        <a:t>wire [5:0] op1     = inst[31:26];</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wire [3:0] op2     = inst[25:22];</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wire [1:0] op3     = inst[21:20];</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wire [4:0] op4     = inst[19:15];</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wire </a:t>
                      </a:r>
                      <a:r>
                        <a:rPr lang="en-US" altLang="zh-CN" sz="1200" kern="100" dirty="0" err="1">
                          <a:effectLst/>
                          <a:latin typeface="Courier New" pitchFamily="49" charset="0"/>
                          <a:ea typeface="永中宋体"/>
                          <a:cs typeface="Courier New" pitchFamily="49" charset="0"/>
                          <a:sym typeface="+mn-ea"/>
                        </a:rPr>
                        <a:t>inst_add_w</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 (op1==6’h00) &amp;&amp; (op2==4’h0) &amp;&amp; (op3==2’h1) &amp;&amp; (op4==5’h00);</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inst_sub_w</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 (op1==6’h00) &amp;&amp; (op2==4’h0) &amp;&amp; (op3==2’h1) &amp;&amp; (op4==5’h02);</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rPr>
                        <a:t>wire </a:t>
                      </a:r>
                      <a:r>
                        <a:rPr lang="en-US" altLang="zh-CN" sz="1200" kern="100" dirty="0" err="1">
                          <a:effectLst/>
                          <a:latin typeface="Courier New" pitchFamily="49" charset="0"/>
                          <a:ea typeface="永中宋体"/>
                          <a:cs typeface="Courier New" pitchFamily="49" charset="0"/>
                          <a:sym typeface="+mn-ea"/>
                        </a:rPr>
                        <a:t>inst_slt</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(op1==6’h00) &amp;&amp; (op2==4’h0) &amp;&amp; (op3==2’h1) &amp;&amp; (op4==5’h04);</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inst_sltu</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(op1==6’h00) &amp;&amp; (op2==4’h0) &amp;&amp; (op3==2’h1) &amp;&amp; (op4==5’h05);</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inst_nor</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(op1==6’h00) &amp;&amp; (op2==4’h0) &amp;&amp; (op3==2’h1) &amp;&amp; (op4==5’h08);</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inst_and</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(op1==6’h00) &amp;&amp; (op2==4’h0) &amp;&amp; (op3==2’h1) &amp;&amp; (op4==5’h09);</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inst_or</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(op1==6’h00) &amp;&amp; (op2==4’h0) &amp;&amp; (op3==2’h1) &amp;&amp; (op4==5’h0a);</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inst_xor</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(op1==6’h00) &amp;&amp; (op2==4’h0) &amp;&amp; (op3==2’h1) &amp;&amp; (op4==5’h0b);</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inst_slli_w</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(op1==6’h00) &amp;&amp; (op2==4’h1) &amp;&amp; (op3==2’h0) &amp;&amp; (op4==5’h01);</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inst_srli_w</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(op1==6’h00) &amp;&amp; (op2==4’h1) &amp;&amp; (op3==2’h0) &amp;&amp; (op4==5’h09);</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inst_srai_w </a:t>
                      </a:r>
                      <a:r>
                        <a:rPr lang="en-US" altLang="zh-CN" sz="1200" kern="100" dirty="0">
                          <a:effectLst/>
                          <a:latin typeface="Courier New" pitchFamily="49" charset="0"/>
                          <a:ea typeface="永中宋体"/>
                          <a:cs typeface="Courier New" pitchFamily="49" charset="0"/>
                          <a:sym typeface="+mn-ea"/>
                        </a:rPr>
                        <a:t> </a:t>
                      </a:r>
                      <a:r>
                        <a:rPr lang="en-US" altLang="zh-CN" sz="1200" kern="100" dirty="0" err="1">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op1==6’h00) &amp;&amp; (op2==4’h1) &amp;&amp; (op3==2’h0) &amp;&amp; (op4==5’h11);</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inst_addi_w</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(op1==6’h00) &amp;&amp; (op2==4’ha);</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inst_ld_w</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(op1==6’h0a) &amp;&amp; (op2==4’h2);</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inst_st_w</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(op1==6’h0a) &amp;&amp; (op2==4’h6);</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inst_jirl</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(op1==6’h13);</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inst_b</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(op1==6’h14);</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inst_bl</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(op1==6’h15);</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inst_beq</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(op1==6’h16);</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sym typeface="+mn-ea"/>
                        </a:rPr>
                        <a:t>wire </a:t>
                      </a:r>
                      <a:r>
                        <a:rPr lang="en-US" altLang="zh-CN" sz="1200" kern="100" dirty="0" err="1">
                          <a:effectLst/>
                          <a:latin typeface="Courier New" pitchFamily="49" charset="0"/>
                          <a:ea typeface="永中宋体"/>
                          <a:cs typeface="Courier New" pitchFamily="49" charset="0"/>
                          <a:sym typeface="+mn-ea"/>
                        </a:rPr>
                        <a:t>inst_bne</a:t>
                      </a:r>
                      <a:r>
                        <a:rPr lang="en-US" altLang="zh-CN" sz="1200" kern="100" dirty="0">
                          <a:effectLst/>
                          <a:latin typeface="Courier New" pitchFamily="49" charset="0"/>
                          <a:ea typeface="永中宋体"/>
                          <a:cs typeface="Courier New" pitchFamily="49" charset="0"/>
                          <a:sym typeface="+mn-ea"/>
                        </a:rPr>
                        <a:t>      </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(op1==6’h17);</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wire inst_lu12i_w</a:t>
                      </a:r>
                      <a:r>
                        <a:rPr lang="en-US" altLang="zh-CN" sz="1200" kern="100" dirty="0" smtClean="0">
                          <a:effectLst/>
                          <a:latin typeface="Courier New" pitchFamily="49" charset="0"/>
                          <a:ea typeface="永中宋体"/>
                          <a:cs typeface="Courier New" pitchFamily="49" charset="0"/>
                          <a:sym typeface="+mn-ea"/>
                        </a:rPr>
                        <a:t>= </a:t>
                      </a:r>
                      <a:r>
                        <a:rPr lang="en-US" altLang="zh-CN" sz="1200" kern="100" dirty="0">
                          <a:effectLst/>
                          <a:latin typeface="Courier New" pitchFamily="49" charset="0"/>
                          <a:ea typeface="永中宋体"/>
                          <a:cs typeface="Courier New" pitchFamily="49" charset="0"/>
                          <a:sym typeface="+mn-ea"/>
                        </a:rPr>
                        <a:t>(op1==6’h05) &amp;&amp; !op2[3];</a:t>
                      </a:r>
                      <a:endParaRPr lang="en-US" altLang="zh-CN" sz="1200" kern="100" dirty="0">
                        <a:effectLst/>
                        <a:latin typeface="Courier New" pitchFamily="49" charset="0"/>
                        <a:ea typeface="永中宋体"/>
                        <a:cs typeface="Courier New" pitchFamily="49" charset="0"/>
                      </a:endParaRPr>
                    </a:p>
                    <a:p>
                      <a:pPr algn="l">
                        <a:spcAft>
                          <a:spcPts val="0"/>
                        </a:spcAft>
                      </a:pPr>
                      <a:endParaRPr lang="en-US" altLang="zh-CN" sz="1000" kern="100" dirty="0">
                        <a:effectLst/>
                        <a:latin typeface="Courier New" pitchFamily="49" charset="0"/>
                        <a:ea typeface="永中宋体"/>
                        <a:cs typeface="Courier New" pitchFamily="49" charset="0"/>
                      </a:endParaRPr>
                    </a:p>
                    <a:p>
                      <a:pPr algn="l">
                        <a:spcAft>
                          <a:spcPts val="0"/>
                        </a:spcAft>
                      </a:pPr>
                      <a:endParaRPr lang="en-US" altLang="zh-CN" sz="1000" kern="100" dirty="0">
                        <a:effectLst/>
                        <a:latin typeface="Courier New" pitchFamily="49" charset="0"/>
                        <a:ea typeface="永中宋体"/>
                        <a:cs typeface="Courier New" pitchFamily="49" charset="0"/>
                      </a:endParaRPr>
                    </a:p>
                  </a:txBody>
                  <a:tcPr marL="63217" marR="63217" marT="0" marB="0">
                    <a:lnL>
                      <a:noFill/>
                    </a:lnL>
                    <a:lnR>
                      <a:noFill/>
                    </a:lnR>
                    <a:lnT>
                      <a:noFill/>
                    </a:lnT>
                    <a:lnB>
                      <a:noFill/>
                    </a:lnB>
                    <a:solidFill>
                      <a:schemeClr val="bg1"/>
                    </a:solidFill>
                  </a:tcPr>
                </a:tc>
              </a:tr>
            </a:tbl>
          </a:graphicData>
        </a:graphic>
      </p:graphicFrame>
      <p:pic>
        <p:nvPicPr>
          <p:cNvPr id="2" name="图片 1"/>
          <p:cNvPicPr>
            <a:picLocks noChangeAspect="1"/>
          </p:cNvPicPr>
          <p:nvPr/>
        </p:nvPicPr>
        <p:blipFill>
          <a:blip r:embed="rId1"/>
          <a:stretch>
            <a:fillRect/>
          </a:stretch>
        </p:blipFill>
        <p:spPr>
          <a:xfrm>
            <a:off x="7266940" y="1661160"/>
            <a:ext cx="4889500" cy="353631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16387" name="Rectangle 3"/>
          <p:cNvSpPr>
            <a:spLocks noGrp="1"/>
          </p:cNvSpPr>
          <p:nvPr>
            <p:ph idx="1"/>
          </p:nvPr>
        </p:nvSpPr>
        <p:spPr>
          <a:xfrm>
            <a:off x="239471" y="276226"/>
            <a:ext cx="5856054" cy="1331913"/>
          </a:xfrm>
        </p:spPr>
        <p:txBody>
          <a:bodyPr vert="horz" wrap="square" lIns="91440" tIns="45720" rIns="91440" bIns="45720" anchor="t" anchorCtr="0"/>
          <a:lstStyle/>
          <a:p>
            <a:pPr eaLnBrk="1" hangingPunct="1"/>
            <a:r>
              <a:rPr lang="zh-CN" altLang="en-US" dirty="0"/>
              <a:t>控制信号的</a:t>
            </a:r>
            <a:r>
              <a:rPr lang="en-US" altLang="zh-CN" dirty="0"/>
              <a:t>Verilog</a:t>
            </a:r>
            <a:r>
              <a:rPr lang="zh-CN" altLang="en-US" dirty="0"/>
              <a:t>描述（续）</a:t>
            </a:r>
            <a:endParaRPr lang="zh-CN" altLang="en-US" dirty="0"/>
          </a:p>
        </p:txBody>
      </p:sp>
      <p:graphicFrame>
        <p:nvGraphicFramePr>
          <p:cNvPr id="4" name="表格 3"/>
          <p:cNvGraphicFramePr>
            <a:graphicFrameLocks noGrp="1"/>
          </p:cNvGraphicFramePr>
          <p:nvPr/>
        </p:nvGraphicFramePr>
        <p:xfrm>
          <a:off x="648335" y="993140"/>
          <a:ext cx="10796270" cy="5255895"/>
        </p:xfrm>
        <a:graphic>
          <a:graphicData uri="http://schemas.openxmlformats.org/drawingml/2006/table">
            <a:tbl>
              <a:tblPr firstRow="1" firstCol="1" bandRow="1"/>
              <a:tblGrid>
                <a:gridCol w="10796270"/>
              </a:tblGrid>
              <a:tr h="5255895">
                <a:tc>
                  <a:txBody>
                    <a:bodyPr/>
                    <a:lstStyle/>
                    <a:p>
                      <a:pPr algn="l">
                        <a:spcAft>
                          <a:spcPts val="0"/>
                        </a:spcAft>
                      </a:pPr>
                      <a:r>
                        <a:rPr lang="en-US" altLang="zh-CN" sz="1200" kern="100" dirty="0">
                          <a:effectLst/>
                          <a:latin typeface="Courier New" pitchFamily="49" charset="0"/>
                          <a:ea typeface="永中宋体"/>
                          <a:cs typeface="Courier New" pitchFamily="49" charset="0"/>
                        </a:rPr>
                        <a:t>wire [2:0] br_op;</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br_op[2] = inst_jirl;</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br_op[1] = inst_beq | inst_bne;</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br_op[0] = inst_bne | inst_b | inst_bl | inst_jirl;</a:t>
                      </a:r>
                      <a:endParaRPr lang="en-US" altLang="zh-CN" sz="1200" kern="100" dirty="0">
                        <a:effectLst/>
                        <a:latin typeface="Courier New" pitchFamily="49" charset="0"/>
                        <a:ea typeface="永中宋体"/>
                        <a:cs typeface="Courier New" pitchFamily="49" charset="0"/>
                      </a:endParaRPr>
                    </a:p>
                    <a:p>
                      <a:pPr algn="l">
                        <a:spcAft>
                          <a:spcPts val="0"/>
                        </a:spcAft>
                      </a:pP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wire sel_rf_ra2 = inst_st_w | inst_beq | inst_bne;</a:t>
                      </a:r>
                      <a:endParaRPr lang="en-US" altLang="zh-CN" sz="1200" kern="100" dirty="0">
                        <a:effectLst/>
                        <a:latin typeface="Courier New" pitchFamily="49" charset="0"/>
                        <a:ea typeface="永中宋体"/>
                        <a:cs typeface="Courier New" pitchFamily="49" charset="0"/>
                      </a:endParaRPr>
                    </a:p>
                    <a:p>
                      <a:pPr algn="l">
                        <a:spcAft>
                          <a:spcPts val="0"/>
                        </a:spcAft>
                      </a:pP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wire sel_alu_src1 = inst_bl | inst_jirl;</a:t>
                      </a:r>
                      <a:endParaRPr lang="en-US" altLang="zh-CN" sz="1200" kern="100" dirty="0">
                        <a:effectLst/>
                        <a:latin typeface="Courier New" pitchFamily="49" charset="0"/>
                        <a:ea typeface="永中宋体"/>
                        <a:cs typeface="Courier New" pitchFamily="49" charset="0"/>
                      </a:endParaRPr>
                    </a:p>
                    <a:p>
                      <a:pPr algn="l">
                        <a:spcAft>
                          <a:spcPts val="0"/>
                        </a:spcAft>
                      </a:pP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wire [3:0] sel_alu_src2;</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sel_alu_src2[3] = inst_lu12i_w;</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sel_alu_src2[2] = </a:t>
                      </a:r>
                      <a:r>
                        <a:rPr lang="en-US" altLang="zh-CN" sz="1200" kern="100" dirty="0">
                          <a:effectLst/>
                          <a:latin typeface="Courier New" pitchFamily="49" charset="0"/>
                          <a:ea typeface="永中宋体"/>
                          <a:cs typeface="Courier New" pitchFamily="49" charset="0"/>
                          <a:sym typeface="+mn-ea"/>
                        </a:rPr>
                        <a:t>inst_bl | inst_jirl;</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assign sel_alu_src2[1] = inst_addi_w | inst_ld_w | inst_st_w | inst_slli_w | inst_srli_w </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                                     | inst_srai_w;</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assign sel_alu_src2[0] = inst_add_w | inst_sub_w | inst_beq | inst_bne | inst_b | inst_slt </a:t>
                      </a:r>
                      <a:endParaRPr lang="en-US" altLang="zh-CN" sz="1200" kern="100" dirty="0">
                        <a:effectLst/>
                        <a:latin typeface="Courier New" pitchFamily="49" charset="0"/>
                        <a:ea typeface="永中宋体"/>
                        <a:cs typeface="Courier New" pitchFamily="49" charset="0"/>
                        <a:sym typeface="+mn-ea"/>
                      </a:endParaRPr>
                    </a:p>
                    <a:p>
                      <a:pPr algn="l">
                        <a:spcAft>
                          <a:spcPts val="0"/>
                        </a:spcAft>
                      </a:pPr>
                      <a:r>
                        <a:rPr lang="en-US" altLang="zh-CN" sz="1200" kern="100" dirty="0">
                          <a:effectLst/>
                          <a:latin typeface="Courier New" pitchFamily="49" charset="0"/>
                          <a:ea typeface="永中宋体"/>
                          <a:cs typeface="Courier New" pitchFamily="49" charset="0"/>
                          <a:sym typeface="+mn-ea"/>
                        </a:rPr>
                        <a:t>                                     | inst_sltu | inst_and | inst_nor | inst_or | inst_xor;</a:t>
                      </a:r>
                      <a:endParaRPr lang="en-US" altLang="zh-CN" sz="1200" kern="100" dirty="0">
                        <a:effectLst/>
                        <a:latin typeface="Courier New" pitchFamily="49" charset="0"/>
                        <a:ea typeface="永中宋体"/>
                        <a:cs typeface="Courier New" pitchFamily="49" charset="0"/>
                        <a:sym typeface="+mn-ea"/>
                      </a:endParaRPr>
                    </a:p>
                    <a:p>
                      <a:pPr algn="l">
                        <a:spcAft>
                          <a:spcPts val="0"/>
                        </a:spcAft>
                      </a:pP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wire sel_rf_res = inst_ld_w;</a:t>
                      </a:r>
                      <a:endParaRPr lang="en-US" altLang="zh-CN" sz="1200" kern="100" dirty="0">
                        <a:effectLst/>
                        <a:latin typeface="Courier New" pitchFamily="49" charset="0"/>
                        <a:ea typeface="永中宋体"/>
                        <a:cs typeface="Courier New" pitchFamily="49" charset="0"/>
                      </a:endParaRPr>
                    </a:p>
                    <a:p>
                      <a:pPr algn="l">
                        <a:spcAft>
                          <a:spcPts val="0"/>
                        </a:spcAft>
                      </a:pP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wire sel_rf_dst = inst_bl;</a:t>
                      </a:r>
                      <a:endParaRPr lang="en-US" altLang="zh-CN" sz="1200" kern="100" dirty="0">
                        <a:effectLst/>
                        <a:latin typeface="Courier New" pitchFamily="49" charset="0"/>
                        <a:ea typeface="永中宋体"/>
                        <a:cs typeface="Courier New" pitchFamily="49" charset="0"/>
                      </a:endParaRPr>
                    </a:p>
                    <a:p>
                      <a:pPr algn="l">
                        <a:spcAft>
                          <a:spcPts val="0"/>
                        </a:spcAft>
                      </a:pP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wire rf_we = ~(inst_st_w | inst_beq | inst_bne | inst_b);</a:t>
                      </a:r>
                      <a:endParaRPr lang="en-US" altLang="zh-CN" sz="1200" kern="100" dirty="0">
                        <a:effectLst/>
                        <a:latin typeface="Courier New" pitchFamily="49" charset="0"/>
                        <a:ea typeface="永中宋体"/>
                        <a:cs typeface="Courier New" pitchFamily="49" charset="0"/>
                      </a:endParaRPr>
                    </a:p>
                    <a:p>
                      <a:pPr algn="l">
                        <a:spcAft>
                          <a:spcPts val="0"/>
                        </a:spcAft>
                      </a:pP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wire data_ram_ce = inst_ld_w | inst_st_w;</a:t>
                      </a:r>
                      <a:endParaRPr lang="en-US" altLang="zh-CN" sz="1200" kern="100" dirty="0">
                        <a:effectLst/>
                        <a:latin typeface="Courier New" pitchFamily="49" charset="0"/>
                        <a:ea typeface="永中宋体"/>
                        <a:cs typeface="Courier New" pitchFamily="49" charset="0"/>
                      </a:endParaRPr>
                    </a:p>
                    <a:p>
                      <a:pPr algn="l">
                        <a:spcAft>
                          <a:spcPts val="0"/>
                        </a:spcAft>
                      </a:pP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wire data_ram_we = inst_st_w;</a:t>
                      </a:r>
                      <a:endParaRPr lang="en-US" altLang="zh-CN" sz="1200" kern="100" dirty="0">
                        <a:effectLst/>
                        <a:latin typeface="Courier New" pitchFamily="49" charset="0"/>
                        <a:ea typeface="永中宋体"/>
                        <a:cs typeface="Courier New" pitchFamily="49" charset="0"/>
                      </a:endParaRPr>
                    </a:p>
                  </a:txBody>
                  <a:tcPr marL="63217" marR="63217" marT="0" marB="0">
                    <a:lnL>
                      <a:noFill/>
                    </a:lnL>
                    <a:lnR>
                      <a:noFill/>
                    </a:lnR>
                    <a:lnT>
                      <a:noFill/>
                    </a:lnT>
                    <a:lnB>
                      <a:noFill/>
                    </a:lnB>
                    <a:solidFill>
                      <a:schemeClr val="bg1"/>
                    </a:solidFill>
                  </a:tcPr>
                </a:tc>
              </a:tr>
            </a:tbl>
          </a:graphicData>
        </a:graphic>
      </p:graphicFrame>
      <p:pic>
        <p:nvPicPr>
          <p:cNvPr id="5" name="图片 4"/>
          <p:cNvPicPr>
            <a:picLocks noChangeAspect="1"/>
          </p:cNvPicPr>
          <p:nvPr/>
        </p:nvPicPr>
        <p:blipFill>
          <a:blip r:embed="rId1" cstate="print"/>
          <a:stretch>
            <a:fillRect/>
          </a:stretch>
        </p:blipFill>
        <p:spPr>
          <a:xfrm>
            <a:off x="7589838" y="2099945"/>
            <a:ext cx="4542155" cy="349313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16387" name="Rectangle 3"/>
          <p:cNvSpPr>
            <a:spLocks noGrp="1"/>
          </p:cNvSpPr>
          <p:nvPr>
            <p:ph idx="1"/>
          </p:nvPr>
        </p:nvSpPr>
        <p:spPr>
          <a:xfrm>
            <a:off x="239471" y="276226"/>
            <a:ext cx="5856054" cy="1331913"/>
          </a:xfrm>
        </p:spPr>
        <p:txBody>
          <a:bodyPr vert="horz" wrap="square" lIns="91440" tIns="45720" rIns="91440" bIns="45720" anchor="t" anchorCtr="0"/>
          <a:lstStyle/>
          <a:p>
            <a:pPr eaLnBrk="1" hangingPunct="1"/>
            <a:r>
              <a:rPr lang="zh-CN" altLang="en-US" dirty="0"/>
              <a:t>控制信号的</a:t>
            </a:r>
            <a:r>
              <a:rPr lang="en-US" altLang="zh-CN" dirty="0"/>
              <a:t>Verilog</a:t>
            </a:r>
            <a:r>
              <a:rPr lang="zh-CN" altLang="en-US" dirty="0"/>
              <a:t>描述（续）</a:t>
            </a:r>
            <a:endParaRPr lang="zh-CN" altLang="en-US" dirty="0"/>
          </a:p>
        </p:txBody>
      </p:sp>
      <p:graphicFrame>
        <p:nvGraphicFramePr>
          <p:cNvPr id="4" name="表格 3"/>
          <p:cNvGraphicFramePr>
            <a:graphicFrameLocks noGrp="1"/>
          </p:cNvGraphicFramePr>
          <p:nvPr/>
        </p:nvGraphicFramePr>
        <p:xfrm>
          <a:off x="697230" y="1163320"/>
          <a:ext cx="10956925" cy="4095750"/>
        </p:xfrm>
        <a:graphic>
          <a:graphicData uri="http://schemas.openxmlformats.org/drawingml/2006/table">
            <a:tbl>
              <a:tblPr firstRow="1" firstCol="1" bandRow="1"/>
              <a:tblGrid>
                <a:gridCol w="10956925"/>
              </a:tblGrid>
              <a:tr h="4095750">
                <a:tc>
                  <a:txBody>
                    <a:bodyPr/>
                    <a:lstStyle/>
                    <a:p>
                      <a:pPr algn="l">
                        <a:spcAft>
                          <a:spcPts val="0"/>
                        </a:spcAft>
                      </a:pPr>
                      <a:r>
                        <a:rPr lang="en-US" altLang="zh-CN" sz="1200" kern="100" dirty="0">
                          <a:effectLst/>
                          <a:latin typeface="Courier New" pitchFamily="49" charset="0"/>
                          <a:ea typeface="永中宋体"/>
                          <a:cs typeface="Courier New" pitchFamily="49" charset="0"/>
                        </a:rPr>
                        <a:t>wire [11:0] alu_op;</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alu_op[ 0] = inst_add_w | inst_addi_w | inst_ld_w | inst_st_w | inst_bl | inst_jirl;</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alu_op[ 1] = inst_sub_w;</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alu_op[ 2] = inst_slt;</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alu_op[ 3] = inst_sltu;</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alu_op[ 4] = inst_and;</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alu_op[ 5] = inst_nor;</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alu_op[ 6] = inst_or;</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alu_op[ 7] = inst_xor;</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alu_op[ 8] = inst_slli_w;</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alu_op[ 9] = inst_srli_w;</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alu_op[10] = inst_srai_w;</a:t>
                      </a:r>
                      <a:endParaRPr lang="en-US" altLang="zh-CN" sz="1200" kern="100" dirty="0">
                        <a:effectLst/>
                        <a:latin typeface="Courier New" pitchFamily="49" charset="0"/>
                        <a:ea typeface="永中宋体"/>
                        <a:cs typeface="Courier New" pitchFamily="49" charset="0"/>
                      </a:endParaRPr>
                    </a:p>
                    <a:p>
                      <a:pPr algn="l">
                        <a:spcAft>
                          <a:spcPts val="0"/>
                        </a:spcAft>
                      </a:pPr>
                      <a:r>
                        <a:rPr lang="en-US" altLang="zh-CN" sz="1200" kern="100" dirty="0">
                          <a:effectLst/>
                          <a:latin typeface="Courier New" pitchFamily="49" charset="0"/>
                          <a:ea typeface="永中宋体"/>
                          <a:cs typeface="Courier New" pitchFamily="49" charset="0"/>
                        </a:rPr>
                        <a:t>assign alu_op[11] = inst_lu12i_w;</a:t>
                      </a:r>
                      <a:endParaRPr lang="en-US" altLang="zh-CN" sz="1200" kern="100" dirty="0">
                        <a:effectLst/>
                        <a:latin typeface="Courier New" pitchFamily="49" charset="0"/>
                        <a:ea typeface="永中宋体"/>
                        <a:cs typeface="Courier New" pitchFamily="49" charset="0"/>
                      </a:endParaRPr>
                    </a:p>
                  </a:txBody>
                  <a:tcPr marL="63217" marR="63217" marT="0" marB="0">
                    <a:lnL>
                      <a:noFill/>
                    </a:lnL>
                    <a:lnR>
                      <a:noFill/>
                    </a:lnR>
                    <a:lnT>
                      <a:noFill/>
                    </a:lnT>
                    <a:lnB>
                      <a:noFill/>
                    </a:lnB>
                    <a:solidFill>
                      <a:schemeClr val="bg1"/>
                    </a:solidFill>
                  </a:tcPr>
                </a:tc>
              </a:tr>
            </a:tbl>
          </a:graphicData>
        </a:graphic>
      </p:graphicFrame>
      <p:pic>
        <p:nvPicPr>
          <p:cNvPr id="2" name="图片 1"/>
          <p:cNvPicPr>
            <a:picLocks noChangeAspect="1"/>
          </p:cNvPicPr>
          <p:nvPr/>
        </p:nvPicPr>
        <p:blipFill>
          <a:blip r:embed="rId1"/>
          <a:stretch>
            <a:fillRect/>
          </a:stretch>
        </p:blipFill>
        <p:spPr>
          <a:xfrm>
            <a:off x="7167880" y="1710690"/>
            <a:ext cx="4889500" cy="353631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18435" name="Rectangle 368"/>
          <p:cNvSpPr/>
          <p:nvPr/>
        </p:nvSpPr>
        <p:spPr>
          <a:xfrm>
            <a:off x="436294" y="227013"/>
            <a:ext cx="5775632" cy="577850"/>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latin typeface="Times New Roman" pitchFamily="18" charset="0"/>
              </a:rPr>
              <a:t>时序：指令内、指令间</a:t>
            </a:r>
            <a:endParaRPr lang="zh-CN" altLang="en-US" b="1" dirty="0">
              <a:latin typeface="Times New Roman" pitchFamily="18" charset="0"/>
            </a:endParaRPr>
          </a:p>
        </p:txBody>
      </p:sp>
      <p:pic>
        <p:nvPicPr>
          <p:cNvPr id="18436" name="图片 4"/>
          <p:cNvPicPr>
            <a:picLocks noChangeAspect="1"/>
          </p:cNvPicPr>
          <p:nvPr/>
        </p:nvPicPr>
        <p:blipFill>
          <a:blip r:embed="rId1" cstate="print"/>
          <a:stretch>
            <a:fillRect/>
          </a:stretch>
        </p:blipFill>
        <p:spPr>
          <a:xfrm>
            <a:off x="2833318" y="769938"/>
            <a:ext cx="7966096" cy="5835650"/>
          </a:xfrm>
          <a:prstGeom prst="rect">
            <a:avLst/>
          </a:prstGeom>
          <a:noFill/>
          <a:ln w="9525">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4"/>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19459" name="Rectangle 2"/>
          <p:cNvSpPr>
            <a:spLocks noGrp="1"/>
          </p:cNvSpPr>
          <p:nvPr>
            <p:ph type="title"/>
          </p:nvPr>
        </p:nvSpPr>
        <p:spPr>
          <a:xfrm>
            <a:off x="1043700" y="2938463"/>
            <a:ext cx="10361851" cy="1143000"/>
          </a:xfrm>
        </p:spPr>
        <p:txBody>
          <a:bodyPr vert="horz" wrap="square" lIns="91440" tIns="45720" rIns="91440" bIns="45720" anchor="ctr" anchorCtr="0"/>
          <a:lstStyle/>
          <a:p>
            <a:pPr eaLnBrk="1" hangingPunct="1"/>
            <a:r>
              <a:rPr lang="zh-CN" altLang="en-US" dirty="0"/>
              <a:t>指令流水线</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20483" name="Rectangle 2"/>
          <p:cNvSpPr>
            <a:spLocks noGrp="1"/>
          </p:cNvSpPr>
          <p:nvPr>
            <p:ph type="title"/>
          </p:nvPr>
        </p:nvSpPr>
        <p:spPr>
          <a:xfrm>
            <a:off x="948461" y="122239"/>
            <a:ext cx="10361851" cy="573087"/>
          </a:xfrm>
        </p:spPr>
        <p:txBody>
          <a:bodyPr vert="horz" wrap="square" lIns="91440" tIns="45720" rIns="91440" bIns="45720" anchor="ctr" anchorCtr="0"/>
          <a:lstStyle/>
          <a:p>
            <a:pPr eaLnBrk="1" hangingPunct="1"/>
            <a:r>
              <a:rPr lang="zh-CN" altLang="en-US" dirty="0"/>
              <a:t>时序的改进</a:t>
            </a:r>
            <a:endParaRPr lang="zh-CN" altLang="en-US" dirty="0"/>
          </a:p>
        </p:txBody>
      </p:sp>
      <p:sp>
        <p:nvSpPr>
          <p:cNvPr id="20484" name="Rectangle 3"/>
          <p:cNvSpPr>
            <a:spLocks noGrp="1"/>
          </p:cNvSpPr>
          <p:nvPr>
            <p:ph idx="1"/>
          </p:nvPr>
        </p:nvSpPr>
        <p:spPr>
          <a:xfrm>
            <a:off x="846874" y="785813"/>
            <a:ext cx="10361851" cy="1047750"/>
          </a:xfrm>
        </p:spPr>
        <p:txBody>
          <a:bodyPr vert="horz" wrap="square" lIns="91440" tIns="45720" rIns="91440" bIns="45720" anchor="t" anchorCtr="0"/>
          <a:lstStyle/>
          <a:p>
            <a:pPr eaLnBrk="1" hangingPunct="1"/>
            <a:r>
              <a:rPr lang="zh-CN" altLang="en-US" dirty="0"/>
              <a:t>上述时序的三个步骤</a:t>
            </a:r>
            <a:endParaRPr lang="zh-CN" altLang="en-US" dirty="0"/>
          </a:p>
          <a:p>
            <a:pPr lvl="1" eaLnBrk="1" hangingPunct="1"/>
            <a:r>
              <a:rPr lang="zh-CN" altLang="en-US" dirty="0"/>
              <a:t>指令地址送到</a:t>
            </a:r>
            <a:r>
              <a:rPr lang="en-US" altLang="zh-CN" dirty="0"/>
              <a:t>PC</a:t>
            </a:r>
            <a:r>
              <a:rPr lang="zh-CN" altLang="en-US" dirty="0"/>
              <a:t>、取指到</a:t>
            </a:r>
            <a:r>
              <a:rPr lang="en-US" altLang="zh-CN" dirty="0"/>
              <a:t>IR</a:t>
            </a:r>
            <a:r>
              <a:rPr lang="zh-CN" altLang="en-US" dirty="0"/>
              <a:t>、计算结果到</a:t>
            </a:r>
            <a:r>
              <a:rPr lang="en-US" altLang="zh-CN" dirty="0"/>
              <a:t>GPR</a:t>
            </a:r>
            <a:endParaRPr lang="en-US" altLang="zh-CN" dirty="0"/>
          </a:p>
        </p:txBody>
      </p:sp>
      <p:grpSp>
        <p:nvGrpSpPr>
          <p:cNvPr id="20485" name="Group 13"/>
          <p:cNvGrpSpPr/>
          <p:nvPr/>
        </p:nvGrpSpPr>
        <p:grpSpPr>
          <a:xfrm>
            <a:off x="821478" y="1911351"/>
            <a:ext cx="10842273" cy="1292225"/>
            <a:chOff x="358" y="2759"/>
            <a:chExt cx="5123" cy="814"/>
          </a:xfrm>
        </p:grpSpPr>
        <p:graphicFrame>
          <p:nvGraphicFramePr>
            <p:cNvPr id="20495" name="Object 5"/>
            <p:cNvGraphicFramePr/>
            <p:nvPr/>
          </p:nvGraphicFramePr>
          <p:xfrm>
            <a:off x="358" y="2759"/>
            <a:ext cx="2091" cy="382"/>
          </p:xfrm>
          <a:graphic>
            <a:graphicData uri="http://schemas.openxmlformats.org/presentationml/2006/ole">
              <mc:AlternateContent xmlns:mc="http://schemas.openxmlformats.org/markup-compatibility/2006">
                <mc:Choice xmlns:v="urn:schemas-microsoft-com:vml" Requires="v">
                  <p:oleObj spid="_x0000_s2049" name="" r:id="rId1" imgW="12449175" imgH="2276475" progId="Word.Document.8">
                    <p:embed/>
                  </p:oleObj>
                </mc:Choice>
                <mc:Fallback>
                  <p:oleObj name="" r:id="rId1" imgW="12449175" imgH="2276475" progId="Word.Document.8">
                    <p:embed/>
                    <p:pic>
                      <p:nvPicPr>
                        <p:cNvPr id="0" name="图片 2048" descr="image8"/>
                        <p:cNvPicPr/>
                        <p:nvPr/>
                      </p:nvPicPr>
                      <p:blipFill>
                        <a:blip r:embed="rId2"/>
                        <a:stretch>
                          <a:fillRect/>
                        </a:stretch>
                      </p:blipFill>
                      <p:spPr>
                        <a:xfrm>
                          <a:off x="358" y="2759"/>
                          <a:ext cx="2091" cy="382"/>
                        </a:xfrm>
                        <a:prstGeom prst="rect">
                          <a:avLst/>
                        </a:prstGeom>
                        <a:noFill/>
                        <a:ln w="38100">
                          <a:noFill/>
                        </a:ln>
                      </p:spPr>
                    </p:pic>
                  </p:oleObj>
                </mc:Fallback>
              </mc:AlternateContent>
            </a:graphicData>
          </a:graphic>
        </p:graphicFrame>
        <p:graphicFrame>
          <p:nvGraphicFramePr>
            <p:cNvPr id="20496" name="Object 6"/>
            <p:cNvGraphicFramePr/>
            <p:nvPr/>
          </p:nvGraphicFramePr>
          <p:xfrm>
            <a:off x="1878" y="2975"/>
            <a:ext cx="2091" cy="382"/>
          </p:xfrm>
          <a:graphic>
            <a:graphicData uri="http://schemas.openxmlformats.org/presentationml/2006/ole">
              <mc:AlternateContent xmlns:mc="http://schemas.openxmlformats.org/markup-compatibility/2006">
                <mc:Choice xmlns:v="urn:schemas-microsoft-com:vml" Requires="v">
                  <p:oleObj spid="_x0000_s2050" name="" r:id="rId3" imgW="12449175" imgH="2276475" progId="Word.Document.8">
                    <p:embed/>
                  </p:oleObj>
                </mc:Choice>
                <mc:Fallback>
                  <p:oleObj name="" r:id="rId3" imgW="12449175" imgH="2276475" progId="Word.Document.8">
                    <p:embed/>
                    <p:pic>
                      <p:nvPicPr>
                        <p:cNvPr id="0" name="图片 2049" descr="image9"/>
                        <p:cNvPicPr/>
                        <p:nvPr/>
                      </p:nvPicPr>
                      <p:blipFill>
                        <a:blip r:embed="rId4"/>
                        <a:stretch>
                          <a:fillRect/>
                        </a:stretch>
                      </p:blipFill>
                      <p:spPr>
                        <a:xfrm>
                          <a:off x="1878" y="2975"/>
                          <a:ext cx="2091" cy="382"/>
                        </a:xfrm>
                        <a:prstGeom prst="rect">
                          <a:avLst/>
                        </a:prstGeom>
                        <a:noFill/>
                        <a:ln w="38100">
                          <a:noFill/>
                        </a:ln>
                      </p:spPr>
                    </p:pic>
                  </p:oleObj>
                </mc:Fallback>
              </mc:AlternateContent>
            </a:graphicData>
          </a:graphic>
        </p:graphicFrame>
        <p:graphicFrame>
          <p:nvGraphicFramePr>
            <p:cNvPr id="20497" name="Object 7"/>
            <p:cNvGraphicFramePr/>
            <p:nvPr/>
          </p:nvGraphicFramePr>
          <p:xfrm>
            <a:off x="3390" y="3191"/>
            <a:ext cx="2091" cy="382"/>
          </p:xfrm>
          <a:graphic>
            <a:graphicData uri="http://schemas.openxmlformats.org/presentationml/2006/ole">
              <mc:AlternateContent xmlns:mc="http://schemas.openxmlformats.org/markup-compatibility/2006">
                <mc:Choice xmlns:v="urn:schemas-microsoft-com:vml" Requires="v">
                  <p:oleObj spid="_x0000_s2051" name="" r:id="rId5" imgW="12449175" imgH="2276475" progId="Word.Document.8">
                    <p:embed/>
                  </p:oleObj>
                </mc:Choice>
                <mc:Fallback>
                  <p:oleObj name="" r:id="rId5" imgW="12449175" imgH="2276475" progId="Word.Document.8">
                    <p:embed/>
                    <p:pic>
                      <p:nvPicPr>
                        <p:cNvPr id="0" name="图片 2050" descr="image10"/>
                        <p:cNvPicPr/>
                        <p:nvPr/>
                      </p:nvPicPr>
                      <p:blipFill>
                        <a:blip r:embed="rId6"/>
                        <a:stretch>
                          <a:fillRect/>
                        </a:stretch>
                      </p:blipFill>
                      <p:spPr>
                        <a:xfrm>
                          <a:off x="3390" y="3191"/>
                          <a:ext cx="2091" cy="382"/>
                        </a:xfrm>
                        <a:prstGeom prst="rect">
                          <a:avLst/>
                        </a:prstGeom>
                        <a:noFill/>
                        <a:ln w="38100">
                          <a:noFill/>
                        </a:ln>
                      </p:spPr>
                    </p:pic>
                  </p:oleObj>
                </mc:Fallback>
              </mc:AlternateContent>
            </a:graphicData>
          </a:graphic>
        </p:graphicFrame>
      </p:grpSp>
      <p:grpSp>
        <p:nvGrpSpPr>
          <p:cNvPr id="20486" name="Group 14"/>
          <p:cNvGrpSpPr/>
          <p:nvPr/>
        </p:nvGrpSpPr>
        <p:grpSpPr>
          <a:xfrm>
            <a:off x="1399253" y="4570414"/>
            <a:ext cx="8708949" cy="1292225"/>
            <a:chOff x="357" y="3506"/>
            <a:chExt cx="4115" cy="814"/>
          </a:xfrm>
        </p:grpSpPr>
        <p:graphicFrame>
          <p:nvGraphicFramePr>
            <p:cNvPr id="20492" name="Object 9"/>
            <p:cNvGraphicFramePr/>
            <p:nvPr/>
          </p:nvGraphicFramePr>
          <p:xfrm>
            <a:off x="357" y="3506"/>
            <a:ext cx="2091" cy="382"/>
          </p:xfrm>
          <a:graphic>
            <a:graphicData uri="http://schemas.openxmlformats.org/presentationml/2006/ole">
              <mc:AlternateContent xmlns:mc="http://schemas.openxmlformats.org/markup-compatibility/2006">
                <mc:Choice xmlns:v="urn:schemas-microsoft-com:vml" Requires="v">
                  <p:oleObj spid="_x0000_s2052" name="" r:id="rId7" imgW="12449175" imgH="2276475" progId="Word.Document.8">
                    <p:embed/>
                  </p:oleObj>
                </mc:Choice>
                <mc:Fallback>
                  <p:oleObj name="" r:id="rId7" imgW="12449175" imgH="2276475" progId="Word.Document.8">
                    <p:embed/>
                    <p:pic>
                      <p:nvPicPr>
                        <p:cNvPr id="0" name="图片 2051" descr="image8"/>
                        <p:cNvPicPr/>
                        <p:nvPr/>
                      </p:nvPicPr>
                      <p:blipFill>
                        <a:blip r:embed="rId2"/>
                        <a:stretch>
                          <a:fillRect/>
                        </a:stretch>
                      </p:blipFill>
                      <p:spPr>
                        <a:xfrm>
                          <a:off x="357" y="3506"/>
                          <a:ext cx="2091" cy="382"/>
                        </a:xfrm>
                        <a:prstGeom prst="rect">
                          <a:avLst/>
                        </a:prstGeom>
                        <a:noFill/>
                        <a:ln w="38100">
                          <a:noFill/>
                        </a:ln>
                      </p:spPr>
                    </p:pic>
                  </p:oleObj>
                </mc:Fallback>
              </mc:AlternateContent>
            </a:graphicData>
          </a:graphic>
        </p:graphicFrame>
        <p:graphicFrame>
          <p:nvGraphicFramePr>
            <p:cNvPr id="20493" name="Object 10"/>
            <p:cNvGraphicFramePr/>
            <p:nvPr/>
          </p:nvGraphicFramePr>
          <p:xfrm>
            <a:off x="1373" y="3722"/>
            <a:ext cx="2091" cy="382"/>
          </p:xfrm>
          <a:graphic>
            <a:graphicData uri="http://schemas.openxmlformats.org/presentationml/2006/ole">
              <mc:AlternateContent xmlns:mc="http://schemas.openxmlformats.org/markup-compatibility/2006">
                <mc:Choice xmlns:v="urn:schemas-microsoft-com:vml" Requires="v">
                  <p:oleObj spid="_x0000_s2053" name="" r:id="rId8" imgW="12449175" imgH="2276475" progId="Word.Document.8">
                    <p:embed/>
                  </p:oleObj>
                </mc:Choice>
                <mc:Fallback>
                  <p:oleObj name="" r:id="rId8" imgW="12449175" imgH="2276475" progId="Word.Document.8">
                    <p:embed/>
                    <p:pic>
                      <p:nvPicPr>
                        <p:cNvPr id="0" name="图片 2052" descr="image9"/>
                        <p:cNvPicPr/>
                        <p:nvPr/>
                      </p:nvPicPr>
                      <p:blipFill>
                        <a:blip r:embed="rId4"/>
                        <a:stretch>
                          <a:fillRect/>
                        </a:stretch>
                      </p:blipFill>
                      <p:spPr>
                        <a:xfrm>
                          <a:off x="1373" y="3722"/>
                          <a:ext cx="2091" cy="382"/>
                        </a:xfrm>
                        <a:prstGeom prst="rect">
                          <a:avLst/>
                        </a:prstGeom>
                        <a:noFill/>
                        <a:ln w="38100">
                          <a:noFill/>
                        </a:ln>
                      </p:spPr>
                    </p:pic>
                  </p:oleObj>
                </mc:Fallback>
              </mc:AlternateContent>
            </a:graphicData>
          </a:graphic>
        </p:graphicFrame>
        <p:graphicFrame>
          <p:nvGraphicFramePr>
            <p:cNvPr id="20494" name="Object 11"/>
            <p:cNvGraphicFramePr/>
            <p:nvPr/>
          </p:nvGraphicFramePr>
          <p:xfrm>
            <a:off x="2381" y="3938"/>
            <a:ext cx="2091" cy="382"/>
          </p:xfrm>
          <a:graphic>
            <a:graphicData uri="http://schemas.openxmlformats.org/presentationml/2006/ole">
              <mc:AlternateContent xmlns:mc="http://schemas.openxmlformats.org/markup-compatibility/2006">
                <mc:Choice xmlns:v="urn:schemas-microsoft-com:vml" Requires="v">
                  <p:oleObj spid="_x0000_s2054" name="" r:id="rId9" imgW="12449175" imgH="2276475" progId="Word.Document.8">
                    <p:embed/>
                  </p:oleObj>
                </mc:Choice>
                <mc:Fallback>
                  <p:oleObj name="" r:id="rId9" imgW="12449175" imgH="2276475" progId="Word.Document.8">
                    <p:embed/>
                    <p:pic>
                      <p:nvPicPr>
                        <p:cNvPr id="0" name="图片 2053" descr="image10"/>
                        <p:cNvPicPr/>
                        <p:nvPr/>
                      </p:nvPicPr>
                      <p:blipFill>
                        <a:blip r:embed="rId6"/>
                        <a:stretch>
                          <a:fillRect/>
                        </a:stretch>
                      </p:blipFill>
                      <p:spPr>
                        <a:xfrm>
                          <a:off x="2381" y="3938"/>
                          <a:ext cx="2091" cy="382"/>
                        </a:xfrm>
                        <a:prstGeom prst="rect">
                          <a:avLst/>
                        </a:prstGeom>
                        <a:noFill/>
                        <a:ln w="38100">
                          <a:noFill/>
                        </a:ln>
                      </p:spPr>
                    </p:pic>
                  </p:oleObj>
                </mc:Fallback>
              </mc:AlternateContent>
            </a:graphicData>
          </a:graphic>
        </p:graphicFrame>
      </p:grpSp>
      <p:sp>
        <p:nvSpPr>
          <p:cNvPr id="5136" name="Rectangle 12"/>
          <p:cNvSpPr>
            <a:spLocks noChangeArrowheads="1"/>
          </p:cNvSpPr>
          <p:nvPr/>
        </p:nvSpPr>
        <p:spPr bwMode="auto">
          <a:xfrm>
            <a:off x="939996" y="2876550"/>
            <a:ext cx="10988303" cy="1704975"/>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可以合并为两个</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计算下一条指令的</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PC</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和指令执行重叠</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可以把计算下一拍</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PC</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值作为指令执行的一部分（转移指令的运算结果是</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PC</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的值）</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p:txBody>
      </p:sp>
      <p:grpSp>
        <p:nvGrpSpPr>
          <p:cNvPr id="20488" name="Group 21"/>
          <p:cNvGrpSpPr/>
          <p:nvPr/>
        </p:nvGrpSpPr>
        <p:grpSpPr>
          <a:xfrm>
            <a:off x="2493428" y="5778500"/>
            <a:ext cx="7777738" cy="928688"/>
            <a:chOff x="1178" y="3552"/>
            <a:chExt cx="3675" cy="585"/>
          </a:xfrm>
        </p:grpSpPr>
        <p:graphicFrame>
          <p:nvGraphicFramePr>
            <p:cNvPr id="20489" name="Object 16"/>
            <p:cNvGraphicFramePr/>
            <p:nvPr/>
          </p:nvGraphicFramePr>
          <p:xfrm>
            <a:off x="1178" y="3552"/>
            <a:ext cx="1667" cy="257"/>
          </p:xfrm>
          <a:graphic>
            <a:graphicData uri="http://schemas.openxmlformats.org/presentationml/2006/ole">
              <mc:AlternateContent xmlns:mc="http://schemas.openxmlformats.org/markup-compatibility/2006">
                <mc:Choice xmlns:v="urn:schemas-microsoft-com:vml" Requires="v">
                  <p:oleObj spid="_x0000_s2055" name="" r:id="rId10" imgW="9953625" imgH="1533525" progId="Word.Document.8">
                    <p:embed/>
                  </p:oleObj>
                </mc:Choice>
                <mc:Fallback>
                  <p:oleObj name="" r:id="rId10" imgW="9953625" imgH="1533525" progId="Word.Document.8">
                    <p:embed/>
                    <p:pic>
                      <p:nvPicPr>
                        <p:cNvPr id="0" name="图片 2054" descr="image11"/>
                        <p:cNvPicPr/>
                        <p:nvPr/>
                      </p:nvPicPr>
                      <p:blipFill>
                        <a:blip r:embed="rId11"/>
                        <a:stretch>
                          <a:fillRect/>
                        </a:stretch>
                      </p:blipFill>
                      <p:spPr>
                        <a:xfrm>
                          <a:off x="1178" y="3552"/>
                          <a:ext cx="1667" cy="257"/>
                        </a:xfrm>
                        <a:prstGeom prst="rect">
                          <a:avLst/>
                        </a:prstGeom>
                        <a:noFill/>
                        <a:ln w="38100">
                          <a:noFill/>
                        </a:ln>
                      </p:spPr>
                    </p:pic>
                  </p:oleObj>
                </mc:Fallback>
              </mc:AlternateContent>
            </a:graphicData>
          </a:graphic>
        </p:graphicFrame>
        <p:graphicFrame>
          <p:nvGraphicFramePr>
            <p:cNvPr id="20490" name="Object 19"/>
            <p:cNvGraphicFramePr/>
            <p:nvPr/>
          </p:nvGraphicFramePr>
          <p:xfrm>
            <a:off x="2186" y="3720"/>
            <a:ext cx="1667" cy="257"/>
          </p:xfrm>
          <a:graphic>
            <a:graphicData uri="http://schemas.openxmlformats.org/presentationml/2006/ole">
              <mc:AlternateContent xmlns:mc="http://schemas.openxmlformats.org/markup-compatibility/2006">
                <mc:Choice xmlns:v="urn:schemas-microsoft-com:vml" Requires="v">
                  <p:oleObj spid="_x0000_s2056" name="" r:id="rId12" imgW="2658110" imgH="410210" progId="Word.Document.8">
                    <p:embed/>
                  </p:oleObj>
                </mc:Choice>
                <mc:Fallback>
                  <p:oleObj name="" r:id="rId12" imgW="2658110" imgH="410210" progId="Word.Document.8">
                    <p:embed/>
                    <p:pic>
                      <p:nvPicPr>
                        <p:cNvPr id="0" name="图片 2055" descr="image12"/>
                        <p:cNvPicPr/>
                        <p:nvPr/>
                      </p:nvPicPr>
                      <p:blipFill>
                        <a:blip r:embed="rId13"/>
                        <a:stretch>
                          <a:fillRect/>
                        </a:stretch>
                      </p:blipFill>
                      <p:spPr>
                        <a:xfrm>
                          <a:off x="2186" y="3720"/>
                          <a:ext cx="1667" cy="257"/>
                        </a:xfrm>
                        <a:prstGeom prst="rect">
                          <a:avLst/>
                        </a:prstGeom>
                        <a:noFill/>
                        <a:ln w="38100">
                          <a:noFill/>
                        </a:ln>
                      </p:spPr>
                    </p:pic>
                  </p:oleObj>
                </mc:Fallback>
              </mc:AlternateContent>
            </a:graphicData>
          </a:graphic>
        </p:graphicFrame>
        <p:graphicFrame>
          <p:nvGraphicFramePr>
            <p:cNvPr id="20491" name="Object 20"/>
            <p:cNvGraphicFramePr/>
            <p:nvPr/>
          </p:nvGraphicFramePr>
          <p:xfrm>
            <a:off x="3186" y="3880"/>
            <a:ext cx="1667" cy="257"/>
          </p:xfrm>
          <a:graphic>
            <a:graphicData uri="http://schemas.openxmlformats.org/presentationml/2006/ole">
              <mc:AlternateContent xmlns:mc="http://schemas.openxmlformats.org/markup-compatibility/2006">
                <mc:Choice xmlns:v="urn:schemas-microsoft-com:vml" Requires="v">
                  <p:oleObj spid="_x0000_s2057" name="" r:id="rId14" imgW="9953625" imgH="1533525" progId="Word.Document.8">
                    <p:embed/>
                  </p:oleObj>
                </mc:Choice>
                <mc:Fallback>
                  <p:oleObj name="" r:id="rId14" imgW="9953625" imgH="1533525" progId="Word.Document.8">
                    <p:embed/>
                    <p:pic>
                      <p:nvPicPr>
                        <p:cNvPr id="0" name="图片 2056" descr="image13"/>
                        <p:cNvPicPr/>
                        <p:nvPr/>
                      </p:nvPicPr>
                      <p:blipFill>
                        <a:blip r:embed="rId15"/>
                        <a:stretch>
                          <a:fillRect/>
                        </a:stretch>
                      </p:blipFill>
                      <p:spPr>
                        <a:xfrm>
                          <a:off x="3186" y="3880"/>
                          <a:ext cx="1667" cy="257"/>
                        </a:xfrm>
                        <a:prstGeom prst="rect">
                          <a:avLst/>
                        </a:prstGeom>
                        <a:noFill/>
                        <a:ln w="38100">
                          <a:noFill/>
                        </a:ln>
                      </p:spPr>
                    </p:pic>
                  </p:oleObj>
                </mc:Fallback>
              </mc:AlternateContent>
            </a:graphicData>
          </a:graphic>
        </p:graphicFrame>
      </p:grpSp>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6148" name="Rectangle 359"/>
          <p:cNvSpPr>
            <a:spLocks noChangeArrowheads="1"/>
          </p:cNvSpPr>
          <p:nvPr/>
        </p:nvSpPr>
        <p:spPr bwMode="auto">
          <a:xfrm>
            <a:off x="584442" y="273050"/>
            <a:ext cx="5775632" cy="527050"/>
          </a:xfrm>
          <a:prstGeom prst="rect">
            <a:avLst/>
          </a:prstGeom>
          <a:noFill/>
          <a:ln w="9525">
            <a:noFill/>
            <a:miter lim="800000"/>
          </a:ln>
        </p:spPr>
        <p:txBody>
          <a:bodyPr/>
          <a:lstStyle/>
          <a:p>
            <a:pPr marL="342900" marR="0" lvl="0" indent="-342900" algn="l" defTabSz="914400" rtl="0" eaLnBrk="1" fontAlgn="base" latinLnBrk="0" hangingPunct="1">
              <a:lnSpc>
                <a:spcPct val="110000"/>
              </a:lnSpc>
              <a:spcBef>
                <a:spcPct val="100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改进后的时序</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p:txBody>
      </p:sp>
      <p:pic>
        <p:nvPicPr>
          <p:cNvPr id="21508" name="图片 2"/>
          <p:cNvPicPr>
            <a:picLocks noChangeAspect="1"/>
          </p:cNvPicPr>
          <p:nvPr/>
        </p:nvPicPr>
        <p:blipFill>
          <a:blip r:embed="rId1" cstate="print"/>
          <a:stretch>
            <a:fillRect/>
          </a:stretch>
        </p:blipFill>
        <p:spPr>
          <a:xfrm>
            <a:off x="2694485" y="657225"/>
            <a:ext cx="8342814" cy="5984875"/>
          </a:xfrm>
          <a:prstGeom prst="rect">
            <a:avLst/>
          </a:prstGeom>
          <a:noFill/>
          <a:ln w="9525">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txBox="1">
            <a:spLocks noGrp="1"/>
          </p:cNvSpPr>
          <p:nvPr>
            <p:ph type="sldNum" sz="quarter" idx="12"/>
          </p:nvPr>
        </p:nvSpPr>
        <p:spPr>
          <a:xfrm>
            <a:off x="8736781" y="6353175"/>
            <a:ext cx="2539669" cy="457200"/>
          </a:xfrm>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22531" name="Rectangle 2"/>
          <p:cNvSpPr>
            <a:spLocks noGrp="1"/>
          </p:cNvSpPr>
          <p:nvPr>
            <p:ph type="title"/>
          </p:nvPr>
        </p:nvSpPr>
        <p:spPr>
          <a:xfrm>
            <a:off x="897668" y="200025"/>
            <a:ext cx="10361851" cy="661988"/>
          </a:xfrm>
        </p:spPr>
        <p:txBody>
          <a:bodyPr vert="horz" wrap="square" lIns="91440" tIns="45720" rIns="91440" bIns="45720" anchor="ctr" anchorCtr="0"/>
          <a:lstStyle/>
          <a:p>
            <a:pPr eaLnBrk="1" hangingPunct="1"/>
            <a:r>
              <a:rPr lang="en-US" altLang="zh-CN" dirty="0"/>
              <a:t> </a:t>
            </a:r>
            <a:r>
              <a:rPr lang="zh-CN" altLang="en-US" dirty="0"/>
              <a:t>能否把取指和运算也重叠？</a:t>
            </a:r>
            <a:endParaRPr lang="zh-CN" altLang="en-US" dirty="0"/>
          </a:p>
        </p:txBody>
      </p:sp>
      <p:sp>
        <p:nvSpPr>
          <p:cNvPr id="22532" name="Rectangle 3"/>
          <p:cNvSpPr>
            <a:spLocks noGrp="1"/>
          </p:cNvSpPr>
          <p:nvPr>
            <p:ph idx="1"/>
          </p:nvPr>
        </p:nvSpPr>
        <p:spPr>
          <a:xfrm>
            <a:off x="393967" y="939800"/>
            <a:ext cx="11549147" cy="3354388"/>
          </a:xfrm>
        </p:spPr>
        <p:txBody>
          <a:bodyPr vert="horz" wrap="square" lIns="91440" tIns="45720" rIns="91440" bIns="45720" anchor="t" anchorCtr="0"/>
          <a:lstStyle/>
          <a:p>
            <a:pPr eaLnBrk="1" hangingPunct="1"/>
            <a:r>
              <a:rPr lang="zh-CN" altLang="en-US" dirty="0"/>
              <a:t>大多数情况可以重叠</a:t>
            </a:r>
            <a:endParaRPr lang="zh-CN" altLang="en-US" dirty="0"/>
          </a:p>
          <a:p>
            <a:pPr lvl="1" eaLnBrk="1" hangingPunct="1"/>
            <a:r>
              <a:rPr lang="zh-CN" altLang="en-US" dirty="0"/>
              <a:t>第</a:t>
            </a:r>
            <a:r>
              <a:rPr lang="en-US" altLang="zh-CN" dirty="0"/>
              <a:t>n+1</a:t>
            </a:r>
            <a:r>
              <a:rPr lang="zh-CN" altLang="en-US" dirty="0"/>
              <a:t>条指令执行时，第</a:t>
            </a:r>
            <a:r>
              <a:rPr lang="en-US" altLang="zh-CN" dirty="0"/>
              <a:t>n</a:t>
            </a:r>
            <a:r>
              <a:rPr lang="zh-CN" altLang="en-US" dirty="0"/>
              <a:t>条指令已经执行完，因此第</a:t>
            </a:r>
            <a:r>
              <a:rPr lang="en-US" altLang="zh-CN" dirty="0"/>
              <a:t>n+1</a:t>
            </a:r>
            <a:r>
              <a:rPr lang="zh-CN" altLang="en-US" dirty="0"/>
              <a:t>条指令可以用到第</a:t>
            </a:r>
            <a:r>
              <a:rPr lang="en-US" altLang="zh-CN" dirty="0"/>
              <a:t>n</a:t>
            </a:r>
            <a:r>
              <a:rPr lang="zh-CN" altLang="en-US" dirty="0"/>
              <a:t>条指令的结果。</a:t>
            </a:r>
            <a:endParaRPr lang="zh-CN" altLang="en-US" dirty="0"/>
          </a:p>
          <a:p>
            <a:pPr eaLnBrk="1" hangingPunct="1"/>
            <a:r>
              <a:rPr lang="zh-CN" altLang="en-US" dirty="0"/>
              <a:t>但有一个例外</a:t>
            </a:r>
            <a:endParaRPr lang="zh-CN" altLang="en-US" dirty="0"/>
          </a:p>
          <a:p>
            <a:pPr lvl="1" eaLnBrk="1" hangingPunct="1"/>
            <a:r>
              <a:rPr lang="zh-CN" altLang="en-US" dirty="0"/>
              <a:t>如果第</a:t>
            </a:r>
            <a:r>
              <a:rPr lang="en-US" altLang="zh-CN" dirty="0"/>
              <a:t>n+1</a:t>
            </a:r>
            <a:r>
              <a:rPr lang="zh-CN" altLang="en-US" dirty="0"/>
              <a:t>条指令的取指也要用到第</a:t>
            </a:r>
            <a:r>
              <a:rPr lang="en-US" altLang="zh-CN" dirty="0"/>
              <a:t>n</a:t>
            </a:r>
            <a:r>
              <a:rPr lang="zh-CN" altLang="en-US" dirty="0"/>
              <a:t>条指令的结果，则第</a:t>
            </a:r>
            <a:r>
              <a:rPr lang="en-US" altLang="zh-CN" dirty="0"/>
              <a:t>n+1</a:t>
            </a:r>
            <a:r>
              <a:rPr lang="zh-CN" altLang="en-US" dirty="0"/>
              <a:t>条指令的取指必须等到第</a:t>
            </a:r>
            <a:r>
              <a:rPr lang="en-US" altLang="zh-CN" dirty="0"/>
              <a:t>n</a:t>
            </a:r>
            <a:r>
              <a:rPr lang="zh-CN" altLang="en-US" dirty="0"/>
              <a:t>条指令结束后才能执行。</a:t>
            </a:r>
            <a:endParaRPr lang="zh-CN" altLang="en-US" dirty="0"/>
          </a:p>
          <a:p>
            <a:pPr lvl="1" eaLnBrk="1" hangingPunct="1"/>
            <a:r>
              <a:rPr lang="zh-CN" altLang="en-US" dirty="0"/>
              <a:t>这正是转移</a:t>
            </a:r>
            <a:r>
              <a:rPr lang="zh-CN" altLang="zh-CN" dirty="0"/>
              <a:t>指令的情况，可以通过在转移跳转时取消错误取指来解决这个问题</a:t>
            </a:r>
            <a:endParaRPr lang="zh-CN" altLang="en-US" dirty="0"/>
          </a:p>
        </p:txBody>
      </p:sp>
      <p:grpSp>
        <p:nvGrpSpPr>
          <p:cNvPr id="22533" name="Group 8"/>
          <p:cNvGrpSpPr/>
          <p:nvPr/>
        </p:nvGrpSpPr>
        <p:grpSpPr>
          <a:xfrm>
            <a:off x="2381259" y="4616451"/>
            <a:ext cx="6558695" cy="1292225"/>
            <a:chOff x="685" y="3304"/>
            <a:chExt cx="3099" cy="814"/>
          </a:xfrm>
        </p:grpSpPr>
        <p:graphicFrame>
          <p:nvGraphicFramePr>
            <p:cNvPr id="22540" name="Object 5"/>
            <p:cNvGraphicFramePr/>
            <p:nvPr/>
          </p:nvGraphicFramePr>
          <p:xfrm>
            <a:off x="685" y="3304"/>
            <a:ext cx="2091" cy="382"/>
          </p:xfrm>
          <a:graphic>
            <a:graphicData uri="http://schemas.openxmlformats.org/presentationml/2006/ole">
              <mc:AlternateContent xmlns:mc="http://schemas.openxmlformats.org/markup-compatibility/2006">
                <mc:Choice xmlns:v="urn:schemas-microsoft-com:vml" Requires="v">
                  <p:oleObj spid="_x0000_s3073" name="" r:id="rId1" imgW="12449175" imgH="2276475" progId="Word.Document.8">
                    <p:embed/>
                  </p:oleObj>
                </mc:Choice>
                <mc:Fallback>
                  <p:oleObj name="" r:id="rId1" imgW="12449175" imgH="2276475" progId="Word.Document.8">
                    <p:embed/>
                    <p:pic>
                      <p:nvPicPr>
                        <p:cNvPr id="0" name="图片 3072" descr="image8"/>
                        <p:cNvPicPr/>
                        <p:nvPr/>
                      </p:nvPicPr>
                      <p:blipFill>
                        <a:blip r:embed="rId2"/>
                        <a:stretch>
                          <a:fillRect/>
                        </a:stretch>
                      </p:blipFill>
                      <p:spPr>
                        <a:xfrm>
                          <a:off x="685" y="3304"/>
                          <a:ext cx="2091" cy="382"/>
                        </a:xfrm>
                        <a:prstGeom prst="rect">
                          <a:avLst/>
                        </a:prstGeom>
                        <a:noFill/>
                        <a:ln w="38100">
                          <a:noFill/>
                        </a:ln>
                      </p:spPr>
                    </p:pic>
                  </p:oleObj>
                </mc:Fallback>
              </mc:AlternateContent>
            </a:graphicData>
          </a:graphic>
        </p:graphicFrame>
        <p:graphicFrame>
          <p:nvGraphicFramePr>
            <p:cNvPr id="22541" name="Object 6"/>
            <p:cNvGraphicFramePr/>
            <p:nvPr/>
          </p:nvGraphicFramePr>
          <p:xfrm>
            <a:off x="1189" y="3520"/>
            <a:ext cx="2091" cy="382"/>
          </p:xfrm>
          <a:graphic>
            <a:graphicData uri="http://schemas.openxmlformats.org/presentationml/2006/ole">
              <mc:AlternateContent xmlns:mc="http://schemas.openxmlformats.org/markup-compatibility/2006">
                <mc:Choice xmlns:v="urn:schemas-microsoft-com:vml" Requires="v">
                  <p:oleObj spid="_x0000_s3074" name="" r:id="rId3" imgW="12449175" imgH="2276475" progId="Word.Document.8">
                    <p:embed/>
                  </p:oleObj>
                </mc:Choice>
                <mc:Fallback>
                  <p:oleObj name="" r:id="rId3" imgW="12449175" imgH="2276475" progId="Word.Document.8">
                    <p:embed/>
                    <p:pic>
                      <p:nvPicPr>
                        <p:cNvPr id="0" name="图片 3073" descr="image9"/>
                        <p:cNvPicPr/>
                        <p:nvPr/>
                      </p:nvPicPr>
                      <p:blipFill>
                        <a:blip r:embed="rId4"/>
                        <a:stretch>
                          <a:fillRect/>
                        </a:stretch>
                      </p:blipFill>
                      <p:spPr>
                        <a:xfrm>
                          <a:off x="1189" y="3520"/>
                          <a:ext cx="2091" cy="382"/>
                        </a:xfrm>
                        <a:prstGeom prst="rect">
                          <a:avLst/>
                        </a:prstGeom>
                        <a:noFill/>
                        <a:ln w="38100">
                          <a:noFill/>
                        </a:ln>
                      </p:spPr>
                    </p:pic>
                  </p:oleObj>
                </mc:Fallback>
              </mc:AlternateContent>
            </a:graphicData>
          </a:graphic>
        </p:graphicFrame>
        <p:graphicFrame>
          <p:nvGraphicFramePr>
            <p:cNvPr id="22542" name="Object 7"/>
            <p:cNvGraphicFramePr/>
            <p:nvPr/>
          </p:nvGraphicFramePr>
          <p:xfrm>
            <a:off x="1693" y="3736"/>
            <a:ext cx="2091" cy="382"/>
          </p:xfrm>
          <a:graphic>
            <a:graphicData uri="http://schemas.openxmlformats.org/presentationml/2006/ole">
              <mc:AlternateContent xmlns:mc="http://schemas.openxmlformats.org/markup-compatibility/2006">
                <mc:Choice xmlns:v="urn:schemas-microsoft-com:vml" Requires="v">
                  <p:oleObj spid="_x0000_s3075" name="" r:id="rId5" imgW="12449175" imgH="2276475" progId="Word.Document.8">
                    <p:embed/>
                  </p:oleObj>
                </mc:Choice>
                <mc:Fallback>
                  <p:oleObj name="" r:id="rId5" imgW="12449175" imgH="2276475" progId="Word.Document.8">
                    <p:embed/>
                    <p:pic>
                      <p:nvPicPr>
                        <p:cNvPr id="0" name="图片 3074" descr="image10"/>
                        <p:cNvPicPr/>
                        <p:nvPr/>
                      </p:nvPicPr>
                      <p:blipFill>
                        <a:blip r:embed="rId6"/>
                        <a:stretch>
                          <a:fillRect/>
                        </a:stretch>
                      </p:blipFill>
                      <p:spPr>
                        <a:xfrm>
                          <a:off x="1693" y="3736"/>
                          <a:ext cx="2091" cy="382"/>
                        </a:xfrm>
                        <a:prstGeom prst="rect">
                          <a:avLst/>
                        </a:prstGeom>
                        <a:noFill/>
                        <a:ln w="38100">
                          <a:noFill/>
                        </a:ln>
                      </p:spPr>
                    </p:pic>
                  </p:oleObj>
                </mc:Fallback>
              </mc:AlternateContent>
            </a:graphicData>
          </a:graphic>
        </p:graphicFrame>
      </p:grpSp>
      <p:grpSp>
        <p:nvGrpSpPr>
          <p:cNvPr id="22534" name="Group 15"/>
          <p:cNvGrpSpPr/>
          <p:nvPr/>
        </p:nvGrpSpPr>
        <p:grpSpPr>
          <a:xfrm>
            <a:off x="3443687" y="5815014"/>
            <a:ext cx="5661346" cy="928687"/>
            <a:chOff x="1039" y="3405"/>
            <a:chExt cx="2675" cy="585"/>
          </a:xfrm>
        </p:grpSpPr>
        <p:grpSp>
          <p:nvGrpSpPr>
            <p:cNvPr id="22535" name="Group 13"/>
            <p:cNvGrpSpPr/>
            <p:nvPr/>
          </p:nvGrpSpPr>
          <p:grpSpPr>
            <a:xfrm>
              <a:off x="1039" y="3405"/>
              <a:ext cx="2675" cy="585"/>
              <a:chOff x="1879" y="2383"/>
              <a:chExt cx="2675" cy="585"/>
            </a:xfrm>
          </p:grpSpPr>
          <p:graphicFrame>
            <p:nvGraphicFramePr>
              <p:cNvPr id="22537" name="Object 10"/>
              <p:cNvGraphicFramePr/>
              <p:nvPr/>
            </p:nvGraphicFramePr>
            <p:xfrm>
              <a:off x="1879" y="2383"/>
              <a:ext cx="1667" cy="257"/>
            </p:xfrm>
            <a:graphic>
              <a:graphicData uri="http://schemas.openxmlformats.org/presentationml/2006/ole">
                <mc:AlternateContent xmlns:mc="http://schemas.openxmlformats.org/markup-compatibility/2006">
                  <mc:Choice xmlns:v="urn:schemas-microsoft-com:vml" Requires="v">
                    <p:oleObj spid="_x0000_s3076" name="" r:id="rId7" imgW="9953625" imgH="1533525" progId="Word.Document.8">
                      <p:embed/>
                    </p:oleObj>
                  </mc:Choice>
                  <mc:Fallback>
                    <p:oleObj name="" r:id="rId7" imgW="9953625" imgH="1533525" progId="Word.Document.8">
                      <p:embed/>
                      <p:pic>
                        <p:nvPicPr>
                          <p:cNvPr id="0" name="图片 3075" descr="image11"/>
                          <p:cNvPicPr/>
                          <p:nvPr/>
                        </p:nvPicPr>
                        <p:blipFill>
                          <a:blip r:embed="rId8"/>
                          <a:stretch>
                            <a:fillRect/>
                          </a:stretch>
                        </p:blipFill>
                        <p:spPr>
                          <a:xfrm>
                            <a:off x="1879" y="2383"/>
                            <a:ext cx="1667" cy="257"/>
                          </a:xfrm>
                          <a:prstGeom prst="rect">
                            <a:avLst/>
                          </a:prstGeom>
                          <a:noFill/>
                          <a:ln w="38100">
                            <a:noFill/>
                          </a:ln>
                        </p:spPr>
                      </p:pic>
                    </p:oleObj>
                  </mc:Fallback>
                </mc:AlternateContent>
              </a:graphicData>
            </a:graphic>
          </p:graphicFrame>
          <p:graphicFrame>
            <p:nvGraphicFramePr>
              <p:cNvPr id="22538" name="Object 11"/>
              <p:cNvGraphicFramePr/>
              <p:nvPr/>
            </p:nvGraphicFramePr>
            <p:xfrm>
              <a:off x="2383" y="2551"/>
              <a:ext cx="1667" cy="257"/>
            </p:xfrm>
            <a:graphic>
              <a:graphicData uri="http://schemas.openxmlformats.org/presentationml/2006/ole">
                <mc:AlternateContent xmlns:mc="http://schemas.openxmlformats.org/markup-compatibility/2006">
                  <mc:Choice xmlns:v="urn:schemas-microsoft-com:vml" Requires="v">
                    <p:oleObj spid="_x0000_s3077" name="" r:id="rId9" imgW="9953625" imgH="1533525" progId="Word.Document.8">
                      <p:embed/>
                    </p:oleObj>
                  </mc:Choice>
                  <mc:Fallback>
                    <p:oleObj name="" r:id="rId9" imgW="9953625" imgH="1533525" progId="Word.Document.8">
                      <p:embed/>
                      <p:pic>
                        <p:nvPicPr>
                          <p:cNvPr id="0" name="图片 3076" descr="image13"/>
                          <p:cNvPicPr/>
                          <p:nvPr/>
                        </p:nvPicPr>
                        <p:blipFill>
                          <a:blip r:embed="rId10"/>
                          <a:stretch>
                            <a:fillRect/>
                          </a:stretch>
                        </p:blipFill>
                        <p:spPr>
                          <a:xfrm>
                            <a:off x="2383" y="2551"/>
                            <a:ext cx="1667" cy="257"/>
                          </a:xfrm>
                          <a:prstGeom prst="rect">
                            <a:avLst/>
                          </a:prstGeom>
                          <a:noFill/>
                          <a:ln w="38100">
                            <a:noFill/>
                          </a:ln>
                        </p:spPr>
                      </p:pic>
                    </p:oleObj>
                  </mc:Fallback>
                </mc:AlternateContent>
              </a:graphicData>
            </a:graphic>
          </p:graphicFrame>
          <p:graphicFrame>
            <p:nvGraphicFramePr>
              <p:cNvPr id="22539" name="Object 12"/>
              <p:cNvGraphicFramePr/>
              <p:nvPr/>
            </p:nvGraphicFramePr>
            <p:xfrm>
              <a:off x="2887" y="2711"/>
              <a:ext cx="1667" cy="257"/>
            </p:xfrm>
            <a:graphic>
              <a:graphicData uri="http://schemas.openxmlformats.org/presentationml/2006/ole">
                <mc:AlternateContent xmlns:mc="http://schemas.openxmlformats.org/markup-compatibility/2006">
                  <mc:Choice xmlns:v="urn:schemas-microsoft-com:vml" Requires="v">
                    <p:oleObj spid="_x0000_s3078" name="" r:id="rId11" imgW="9953625" imgH="1533525" progId="Word.Document.8">
                      <p:embed/>
                    </p:oleObj>
                  </mc:Choice>
                  <mc:Fallback>
                    <p:oleObj name="" r:id="rId11" imgW="9953625" imgH="1533525" progId="Word.Document.8">
                      <p:embed/>
                      <p:pic>
                        <p:nvPicPr>
                          <p:cNvPr id="0" name="图片 3077" descr="image13"/>
                          <p:cNvPicPr/>
                          <p:nvPr/>
                        </p:nvPicPr>
                        <p:blipFill>
                          <a:blip r:embed="rId10"/>
                          <a:stretch>
                            <a:fillRect/>
                          </a:stretch>
                        </p:blipFill>
                        <p:spPr>
                          <a:xfrm>
                            <a:off x="2887" y="2711"/>
                            <a:ext cx="1667" cy="257"/>
                          </a:xfrm>
                          <a:prstGeom prst="rect">
                            <a:avLst/>
                          </a:prstGeom>
                          <a:noFill/>
                          <a:ln w="38100">
                            <a:noFill/>
                          </a:ln>
                        </p:spPr>
                      </p:pic>
                    </p:oleObj>
                  </mc:Fallback>
                </mc:AlternateContent>
              </a:graphicData>
            </a:graphic>
          </p:graphicFrame>
        </p:grpSp>
        <p:sp>
          <p:nvSpPr>
            <p:cNvPr id="22536" name="Line 14"/>
            <p:cNvSpPr/>
            <p:nvPr/>
          </p:nvSpPr>
          <p:spPr>
            <a:xfrm flipH="1">
              <a:off x="2088" y="3476"/>
              <a:ext cx="499" cy="163"/>
            </a:xfrm>
            <a:prstGeom prst="line">
              <a:avLst/>
            </a:prstGeom>
            <a:ln w="19050" cap="flat" cmpd="sng">
              <a:solidFill>
                <a:srgbClr val="FF0000"/>
              </a:solidFill>
              <a:prstDash val="solid"/>
              <a:headEnd type="none" w="med" len="med"/>
              <a:tailEnd type="triangle" w="med" len="med"/>
            </a:ln>
          </p:spPr>
        </p:sp>
      </p:grpSp>
    </p:spTree>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noChangeArrowheads="1"/>
          </p:cNvSpPr>
          <p:nvPr>
            <p:ph type="title"/>
          </p:nvPr>
        </p:nvSpPr>
        <p:spPr>
          <a:xfrm>
            <a:off x="1016318" y="171450"/>
            <a:ext cx="10361613" cy="1143000"/>
          </a:xfrm>
        </p:spPr>
        <p:txBody>
          <a:bodyPr/>
          <a:lstStyle/>
          <a:p>
            <a:r>
              <a:rPr lang="zh-CN" altLang="en-US" smtClean="0"/>
              <a:t>转移指令的延迟槽</a:t>
            </a:r>
            <a:endParaRPr lang="zh-CN" altLang="en-US" smtClean="0"/>
          </a:p>
        </p:txBody>
      </p:sp>
      <p:sp>
        <p:nvSpPr>
          <p:cNvPr id="75779" name="内容占位符 2"/>
          <p:cNvSpPr>
            <a:spLocks noGrp="1" noChangeArrowheads="1"/>
          </p:cNvSpPr>
          <p:nvPr>
            <p:ph idx="1"/>
          </p:nvPr>
        </p:nvSpPr>
        <p:spPr>
          <a:xfrm>
            <a:off x="648018" y="1065213"/>
            <a:ext cx="11096625" cy="2511425"/>
          </a:xfrm>
        </p:spPr>
        <p:txBody>
          <a:bodyPr/>
          <a:lstStyle/>
          <a:p>
            <a:r>
              <a:rPr lang="zh-CN" altLang="en-US" dirty="0" smtClean="0"/>
              <a:t>在</a:t>
            </a:r>
            <a:r>
              <a:rPr lang="en-US" altLang="zh-CN" dirty="0" smtClean="0"/>
              <a:t>MIPS</a:t>
            </a:r>
            <a:r>
              <a:rPr lang="zh-CN" altLang="en-US" dirty="0" smtClean="0"/>
              <a:t>等指令系统中，紧挨着转移指令后面的一条指令不依赖转移条件执行</a:t>
            </a:r>
            <a:endParaRPr lang="en-US" altLang="zh-CN" dirty="0" smtClean="0"/>
          </a:p>
          <a:p>
            <a:pPr lvl="1"/>
            <a:r>
              <a:rPr lang="zh-CN" altLang="en-US" dirty="0" smtClean="0"/>
              <a:t>从转移指令前面放一条指令到后面去</a:t>
            </a:r>
            <a:endParaRPr lang="en-US" altLang="zh-CN" dirty="0" smtClean="0"/>
          </a:p>
          <a:p>
            <a:pPr lvl="1"/>
            <a:r>
              <a:rPr lang="zh-CN" altLang="en-US" dirty="0" smtClean="0"/>
              <a:t>也可以放一条</a:t>
            </a:r>
            <a:r>
              <a:rPr lang="en-US" altLang="zh-CN" dirty="0" err="1" smtClean="0"/>
              <a:t>nop</a:t>
            </a:r>
            <a:endParaRPr lang="en-US" altLang="zh-CN" dirty="0" smtClean="0"/>
          </a:p>
          <a:p>
            <a:pPr lvl="1"/>
            <a:r>
              <a:rPr lang="zh-CN" altLang="en-US" dirty="0" smtClean="0"/>
              <a:t>例：把内存中</a:t>
            </a:r>
            <a:r>
              <a:rPr lang="en-US" altLang="zh-CN" dirty="0" smtClean="0"/>
              <a:t>100</a:t>
            </a:r>
            <a:r>
              <a:rPr lang="zh-CN" altLang="en-US" dirty="0" smtClean="0"/>
              <a:t>个整数的值分别加</a:t>
            </a:r>
            <a:r>
              <a:rPr lang="en-US" altLang="zh-CN" dirty="0" smtClean="0"/>
              <a:t>1</a:t>
            </a:r>
            <a:r>
              <a:rPr lang="zh-CN" altLang="en-US" dirty="0" smtClean="0"/>
              <a:t>（注意延迟槽</a:t>
            </a:r>
            <a:r>
              <a:rPr lang="en-US" altLang="zh-CN" dirty="0" smtClean="0"/>
              <a:t>SW</a:t>
            </a:r>
            <a:r>
              <a:rPr lang="zh-CN" altLang="en-US" dirty="0" smtClean="0"/>
              <a:t>指令访存地址偏移量的调整）</a:t>
            </a:r>
            <a:endParaRPr lang="en-US" altLang="zh-CN" dirty="0" smtClean="0"/>
          </a:p>
          <a:p>
            <a:r>
              <a:rPr lang="zh-CN" altLang="en-US" dirty="0" smtClean="0">
                <a:solidFill>
                  <a:srgbClr val="FF0000"/>
                </a:solidFill>
              </a:rPr>
              <a:t>延迟槽在后来的动态流水线设计中成为负担，后续的指令系统（如</a:t>
            </a:r>
            <a:r>
              <a:rPr lang="en-US" altLang="zh-CN" dirty="0" smtClean="0">
                <a:solidFill>
                  <a:srgbClr val="FF0000"/>
                </a:solidFill>
              </a:rPr>
              <a:t>ARM</a:t>
            </a:r>
            <a:r>
              <a:rPr lang="zh-CN" altLang="en-US" dirty="0" smtClean="0">
                <a:solidFill>
                  <a:srgbClr val="FF0000"/>
                </a:solidFill>
              </a:rPr>
              <a:t>）不再支持延迟槽</a:t>
            </a:r>
            <a:endParaRPr lang="zh-CN" altLang="en-US" dirty="0" smtClean="0">
              <a:solidFill>
                <a:srgbClr val="FF0000"/>
              </a:solidFill>
            </a:endParaRPr>
          </a:p>
        </p:txBody>
      </p:sp>
      <p:sp>
        <p:nvSpPr>
          <p:cNvPr id="75780" name="灯片编号占位符 3"/>
          <p:cNvSpPr>
            <a:spLocks noGrp="1" noChangeArrowheads="1"/>
          </p:cNvSpPr>
          <p:nvPr>
            <p:ph type="sldNum" sz="quarter" idx="12"/>
          </p:nvPr>
        </p:nvSpPr>
        <p:spPr>
          <a:noFill/>
        </p:spPr>
        <p:txBody>
          <a:bodyPr/>
          <a:lstStyle/>
          <a:p>
            <a:fld id="{66AF1624-D55A-405B-B25B-53035777BC27}" type="slidenum">
              <a:rPr lang="en-US" altLang="zh-CN" smtClean="0"/>
            </a:fld>
            <a:endParaRPr lang="en-US" altLang="zh-CN" smtClean="0"/>
          </a:p>
        </p:txBody>
      </p:sp>
      <p:sp>
        <p:nvSpPr>
          <p:cNvPr id="75781" name="Rectangle 2"/>
          <p:cNvSpPr>
            <a:spLocks noChangeArrowheads="1"/>
          </p:cNvSpPr>
          <p:nvPr/>
        </p:nvSpPr>
        <p:spPr bwMode="auto">
          <a:xfrm>
            <a:off x="681356" y="4043363"/>
            <a:ext cx="4951412" cy="2265362"/>
          </a:xfrm>
          <a:prstGeom prst="rect">
            <a:avLst/>
          </a:prstGeom>
          <a:noFill/>
          <a:ln w="12700">
            <a:noFill/>
            <a:miter lim="800000"/>
          </a:ln>
        </p:spPr>
        <p:txBody>
          <a:bodyPr lIns="90487" tIns="44450" rIns="90487" bIns="44450"/>
          <a:lstStyle/>
          <a:p>
            <a:pPr marL="285750" indent="-285750">
              <a:lnSpc>
                <a:spcPct val="90000"/>
              </a:lnSpc>
              <a:spcBef>
                <a:spcPct val="30000"/>
              </a:spcBef>
              <a:tabLst>
                <a:tab pos="1200150" algn="l"/>
                <a:tab pos="2000250" algn="l"/>
                <a:tab pos="3371850" algn="l"/>
              </a:tabLst>
            </a:pPr>
            <a:r>
              <a:rPr lang="en-US" altLang="zh-CN" sz="1800">
                <a:latin typeface="宋体" panose="02000500000000000000" pitchFamily="2" charset="-122"/>
              </a:rPr>
              <a:t> </a:t>
            </a:r>
            <a:r>
              <a:rPr lang="en-US" altLang="zh-CN" sz="1400">
                <a:latin typeface="宋体" panose="02000500000000000000" pitchFamily="2" charset="-122"/>
              </a:rPr>
              <a:t>1 </a:t>
            </a:r>
            <a:r>
              <a:rPr lang="en-US" altLang="zh-CN" sz="1800">
                <a:latin typeface="宋体" panose="02000500000000000000" pitchFamily="2" charset="-122"/>
              </a:rPr>
              <a:t>Loop:	LW	R2,0(R1)	</a:t>
            </a:r>
            <a:endParaRPr lang="en-US" altLang="zh-CN" sz="1800">
              <a:latin typeface="宋体" panose="02000500000000000000" pitchFamily="2" charset="-122"/>
            </a:endParaRPr>
          </a:p>
          <a:p>
            <a:pPr marL="285750" indent="-285750">
              <a:lnSpc>
                <a:spcPct val="90000"/>
              </a:lnSpc>
              <a:spcBef>
                <a:spcPct val="30000"/>
              </a:spcBef>
              <a:tabLst>
                <a:tab pos="1200150" algn="l"/>
                <a:tab pos="2000250" algn="l"/>
                <a:tab pos="3371850" algn="l"/>
              </a:tabLst>
            </a:pPr>
            <a:r>
              <a:rPr lang="en-US" altLang="zh-CN" sz="1800">
                <a:latin typeface="宋体" panose="02000500000000000000" pitchFamily="2" charset="-122"/>
              </a:rPr>
              <a:t> </a:t>
            </a:r>
            <a:r>
              <a:rPr lang="en-US" altLang="zh-CN" sz="1400">
                <a:latin typeface="宋体" panose="02000500000000000000" pitchFamily="2" charset="-122"/>
              </a:rPr>
              <a:t>2</a:t>
            </a:r>
            <a:r>
              <a:rPr lang="en-US" altLang="zh-CN" sz="1800">
                <a:latin typeface="宋体" panose="02000500000000000000" pitchFamily="2" charset="-122"/>
              </a:rPr>
              <a:t>		ADDIU	R3,R2,#1	</a:t>
            </a:r>
            <a:endParaRPr lang="en-US" altLang="zh-CN" sz="1800">
              <a:latin typeface="宋体" panose="02000500000000000000" pitchFamily="2" charset="-122"/>
            </a:endParaRPr>
          </a:p>
          <a:p>
            <a:pPr marL="285750" indent="-285750">
              <a:lnSpc>
                <a:spcPct val="90000"/>
              </a:lnSpc>
              <a:spcBef>
                <a:spcPct val="30000"/>
              </a:spcBef>
              <a:tabLst>
                <a:tab pos="1200150" algn="l"/>
                <a:tab pos="2000250" algn="l"/>
                <a:tab pos="3371850" algn="l"/>
              </a:tabLst>
            </a:pPr>
            <a:r>
              <a:rPr lang="en-US" altLang="zh-CN" sz="1800">
                <a:latin typeface="宋体" panose="02000500000000000000" pitchFamily="2" charset="-122"/>
              </a:rPr>
              <a:t> </a:t>
            </a:r>
            <a:r>
              <a:rPr lang="en-US" altLang="zh-CN" sz="1400">
                <a:latin typeface="宋体" panose="02000500000000000000" pitchFamily="2" charset="-122"/>
              </a:rPr>
              <a:t>3 </a:t>
            </a:r>
            <a:r>
              <a:rPr lang="en-US" altLang="zh-CN" sz="1800">
                <a:latin typeface="宋体" panose="02000500000000000000" pitchFamily="2" charset="-122"/>
              </a:rPr>
              <a:t>	SW	0(R1),R3	</a:t>
            </a:r>
            <a:endParaRPr lang="en-US" altLang="zh-CN" sz="1800">
              <a:latin typeface="宋体" panose="02000500000000000000" pitchFamily="2" charset="-122"/>
            </a:endParaRPr>
          </a:p>
          <a:p>
            <a:pPr marL="285750" indent="-285750">
              <a:lnSpc>
                <a:spcPct val="90000"/>
              </a:lnSpc>
              <a:spcBef>
                <a:spcPct val="30000"/>
              </a:spcBef>
              <a:tabLst>
                <a:tab pos="1200150" algn="l"/>
                <a:tab pos="2000250" algn="l"/>
                <a:tab pos="3371850" algn="l"/>
              </a:tabLst>
            </a:pPr>
            <a:r>
              <a:rPr lang="en-US" altLang="zh-CN" sz="1800">
                <a:latin typeface="宋体" panose="02000500000000000000" pitchFamily="2" charset="-122"/>
              </a:rPr>
              <a:t> </a:t>
            </a:r>
            <a:r>
              <a:rPr lang="en-US" altLang="zh-CN" sz="1400">
                <a:latin typeface="宋体" panose="02000500000000000000" pitchFamily="2" charset="-122"/>
              </a:rPr>
              <a:t>4 </a:t>
            </a:r>
            <a:r>
              <a:rPr lang="en-US" altLang="zh-CN" sz="1800">
                <a:latin typeface="宋体" panose="02000500000000000000" pitchFamily="2" charset="-122"/>
              </a:rPr>
              <a:t>	ADDIU	R1,R1,-4	</a:t>
            </a:r>
            <a:endParaRPr lang="en-US" altLang="zh-CN" sz="1800">
              <a:latin typeface="宋体" panose="02000500000000000000" pitchFamily="2" charset="-122"/>
            </a:endParaRPr>
          </a:p>
          <a:p>
            <a:pPr marL="285750" indent="-285750">
              <a:lnSpc>
                <a:spcPct val="90000"/>
              </a:lnSpc>
              <a:spcBef>
                <a:spcPct val="30000"/>
              </a:spcBef>
              <a:tabLst>
                <a:tab pos="1200150" algn="l"/>
                <a:tab pos="2000250" algn="l"/>
                <a:tab pos="3371850" algn="l"/>
              </a:tabLst>
            </a:pPr>
            <a:r>
              <a:rPr lang="en-US" altLang="zh-CN" sz="1800">
                <a:latin typeface="宋体" panose="02000500000000000000" pitchFamily="2" charset="-122"/>
              </a:rPr>
              <a:t> </a:t>
            </a:r>
            <a:r>
              <a:rPr lang="en-US" altLang="zh-CN" sz="1400">
                <a:latin typeface="宋体" panose="02000500000000000000" pitchFamily="2" charset="-122"/>
              </a:rPr>
              <a:t>5 </a:t>
            </a:r>
            <a:r>
              <a:rPr lang="en-US" altLang="zh-CN" sz="1800">
                <a:latin typeface="宋体" panose="02000500000000000000" pitchFamily="2" charset="-122"/>
              </a:rPr>
              <a:t>	BNEZ	R1,Loop	</a:t>
            </a:r>
            <a:endParaRPr lang="en-US" altLang="zh-CN" sz="1800">
              <a:latin typeface="宋体" panose="02000500000000000000" pitchFamily="2" charset="-122"/>
            </a:endParaRPr>
          </a:p>
          <a:p>
            <a:pPr marL="285750" indent="-285750">
              <a:lnSpc>
                <a:spcPct val="90000"/>
              </a:lnSpc>
              <a:spcBef>
                <a:spcPct val="30000"/>
              </a:spcBef>
              <a:tabLst>
                <a:tab pos="1200150" algn="l"/>
                <a:tab pos="2000250" algn="l"/>
                <a:tab pos="3371850" algn="l"/>
              </a:tabLst>
            </a:pPr>
            <a:r>
              <a:rPr lang="en-US" altLang="zh-CN" sz="1800">
                <a:latin typeface="宋体" panose="02000500000000000000" pitchFamily="2" charset="-122"/>
              </a:rPr>
              <a:t> </a:t>
            </a:r>
            <a:r>
              <a:rPr lang="en-US" altLang="zh-CN" sz="1400">
                <a:latin typeface="宋体" panose="02000500000000000000" pitchFamily="2" charset="-122"/>
              </a:rPr>
              <a:t>6</a:t>
            </a:r>
            <a:r>
              <a:rPr lang="en-US" altLang="zh-CN" sz="1800">
                <a:latin typeface="宋体" panose="02000500000000000000" pitchFamily="2" charset="-122"/>
              </a:rPr>
              <a:t>		</a:t>
            </a:r>
            <a:r>
              <a:rPr lang="en-US" altLang="zh-CN" sz="1800">
                <a:solidFill>
                  <a:srgbClr val="FF0000"/>
                </a:solidFill>
                <a:latin typeface="宋体" panose="02000500000000000000" pitchFamily="2" charset="-122"/>
              </a:rPr>
              <a:t>NOP	</a:t>
            </a:r>
            <a:r>
              <a:rPr lang="en-US" altLang="zh-CN" sz="1800">
                <a:latin typeface="宋体" panose="02000500000000000000" pitchFamily="2" charset="-122"/>
              </a:rPr>
              <a:t>	</a:t>
            </a:r>
            <a:endParaRPr lang="en-US" altLang="zh-CN" sz="1800">
              <a:latin typeface="宋体" panose="02000500000000000000" pitchFamily="2" charset="-122"/>
            </a:endParaRPr>
          </a:p>
        </p:txBody>
      </p:sp>
      <p:sp>
        <p:nvSpPr>
          <p:cNvPr id="75782" name="Rectangle 2"/>
          <p:cNvSpPr>
            <a:spLocks noChangeArrowheads="1"/>
          </p:cNvSpPr>
          <p:nvPr/>
        </p:nvSpPr>
        <p:spPr bwMode="auto">
          <a:xfrm>
            <a:off x="6531293" y="4138613"/>
            <a:ext cx="4953000" cy="2263775"/>
          </a:xfrm>
          <a:prstGeom prst="rect">
            <a:avLst/>
          </a:prstGeom>
          <a:noFill/>
          <a:ln w="12700">
            <a:noFill/>
            <a:miter lim="800000"/>
          </a:ln>
        </p:spPr>
        <p:txBody>
          <a:bodyPr lIns="90487" tIns="44450" rIns="90487" bIns="44450"/>
          <a:lstStyle/>
          <a:p>
            <a:pPr marL="285750" indent="-285750">
              <a:lnSpc>
                <a:spcPct val="90000"/>
              </a:lnSpc>
              <a:spcBef>
                <a:spcPct val="30000"/>
              </a:spcBef>
              <a:tabLst>
                <a:tab pos="1200150" algn="l"/>
                <a:tab pos="2000250" algn="l"/>
                <a:tab pos="3371850" algn="l"/>
              </a:tabLst>
            </a:pPr>
            <a:r>
              <a:rPr lang="en-US" altLang="zh-CN" sz="1800">
                <a:latin typeface="宋体" panose="02000500000000000000" pitchFamily="2" charset="-122"/>
              </a:rPr>
              <a:t> </a:t>
            </a:r>
            <a:r>
              <a:rPr lang="en-US" altLang="zh-CN" sz="1400">
                <a:latin typeface="宋体" panose="02000500000000000000" pitchFamily="2" charset="-122"/>
              </a:rPr>
              <a:t>1 </a:t>
            </a:r>
            <a:r>
              <a:rPr lang="en-US" altLang="zh-CN" sz="1800">
                <a:latin typeface="宋体" panose="02000500000000000000" pitchFamily="2" charset="-122"/>
              </a:rPr>
              <a:t>Loop:	LW	R2,0(R1)	</a:t>
            </a:r>
            <a:endParaRPr lang="en-US" altLang="zh-CN" sz="1800">
              <a:latin typeface="宋体" panose="02000500000000000000" pitchFamily="2" charset="-122"/>
            </a:endParaRPr>
          </a:p>
          <a:p>
            <a:pPr marL="285750" indent="-285750">
              <a:lnSpc>
                <a:spcPct val="90000"/>
              </a:lnSpc>
              <a:spcBef>
                <a:spcPct val="30000"/>
              </a:spcBef>
              <a:tabLst>
                <a:tab pos="1200150" algn="l"/>
                <a:tab pos="2000250" algn="l"/>
                <a:tab pos="3371850" algn="l"/>
              </a:tabLst>
            </a:pPr>
            <a:r>
              <a:rPr lang="en-US" altLang="zh-CN" sz="1800">
                <a:latin typeface="宋体" panose="02000500000000000000" pitchFamily="2" charset="-122"/>
              </a:rPr>
              <a:t> </a:t>
            </a:r>
            <a:r>
              <a:rPr lang="en-US" altLang="zh-CN" sz="1400">
                <a:latin typeface="宋体" panose="02000500000000000000" pitchFamily="2" charset="-122"/>
              </a:rPr>
              <a:t>2</a:t>
            </a:r>
            <a:r>
              <a:rPr lang="en-US" altLang="zh-CN" sz="1800">
                <a:latin typeface="宋体" panose="02000500000000000000" pitchFamily="2" charset="-122"/>
              </a:rPr>
              <a:t>		ADDIU	R3,R2,#1	</a:t>
            </a:r>
            <a:endParaRPr lang="en-US" altLang="zh-CN" sz="1800">
              <a:latin typeface="宋体" panose="02000500000000000000" pitchFamily="2" charset="-122"/>
            </a:endParaRPr>
          </a:p>
          <a:p>
            <a:pPr marL="285750" indent="-285750">
              <a:lnSpc>
                <a:spcPct val="90000"/>
              </a:lnSpc>
              <a:spcBef>
                <a:spcPct val="30000"/>
              </a:spcBef>
              <a:tabLst>
                <a:tab pos="1200150" algn="l"/>
                <a:tab pos="2000250" algn="l"/>
                <a:tab pos="3371850" algn="l"/>
              </a:tabLst>
            </a:pPr>
            <a:r>
              <a:rPr lang="en-US" altLang="zh-CN" sz="1800">
                <a:latin typeface="宋体" panose="02000500000000000000" pitchFamily="2" charset="-122"/>
              </a:rPr>
              <a:t> </a:t>
            </a:r>
            <a:r>
              <a:rPr lang="en-US" altLang="zh-CN" sz="1100">
                <a:latin typeface="宋体" panose="02000500000000000000" pitchFamily="2" charset="-122"/>
              </a:rPr>
              <a:t>3</a:t>
            </a:r>
            <a:r>
              <a:rPr lang="en-US" altLang="zh-CN" sz="1100">
                <a:solidFill>
                  <a:srgbClr val="FF0000"/>
                </a:solidFill>
                <a:latin typeface="宋体" panose="02000500000000000000" pitchFamily="2" charset="-122"/>
              </a:rPr>
              <a:t> </a:t>
            </a:r>
            <a:r>
              <a:rPr lang="en-US" altLang="zh-CN" sz="1400">
                <a:solidFill>
                  <a:srgbClr val="FF0000"/>
                </a:solidFill>
                <a:latin typeface="宋体" panose="02000500000000000000" pitchFamily="2" charset="-122"/>
              </a:rPr>
              <a:t>	</a:t>
            </a:r>
            <a:r>
              <a:rPr lang="en-US" altLang="zh-CN" sz="1800">
                <a:latin typeface="宋体" panose="02000500000000000000" pitchFamily="2" charset="-122"/>
              </a:rPr>
              <a:t>ADDIU	R1,R1,-4	</a:t>
            </a:r>
            <a:endParaRPr lang="en-US" altLang="zh-CN" sz="1800">
              <a:latin typeface="宋体" panose="02000500000000000000" pitchFamily="2" charset="-122"/>
            </a:endParaRPr>
          </a:p>
          <a:p>
            <a:pPr marL="285750" indent="-285750">
              <a:lnSpc>
                <a:spcPct val="90000"/>
              </a:lnSpc>
              <a:spcBef>
                <a:spcPct val="30000"/>
              </a:spcBef>
              <a:tabLst>
                <a:tab pos="1200150" algn="l"/>
                <a:tab pos="2000250" algn="l"/>
                <a:tab pos="3371850" algn="l"/>
              </a:tabLst>
            </a:pPr>
            <a:r>
              <a:rPr lang="en-US" altLang="zh-CN" sz="1400">
                <a:latin typeface="宋体" panose="02000500000000000000" pitchFamily="2" charset="-122"/>
              </a:rPr>
              <a:t> 4 </a:t>
            </a:r>
            <a:r>
              <a:rPr lang="en-US" altLang="zh-CN" sz="1800">
                <a:latin typeface="宋体" panose="02000500000000000000" pitchFamily="2" charset="-122"/>
              </a:rPr>
              <a:t>	BNEZ	R1,Loop</a:t>
            </a:r>
            <a:endParaRPr lang="en-US" altLang="zh-CN" sz="1800">
              <a:latin typeface="宋体" panose="02000500000000000000" pitchFamily="2" charset="-122"/>
            </a:endParaRPr>
          </a:p>
          <a:p>
            <a:pPr marL="285750" indent="-285750">
              <a:lnSpc>
                <a:spcPct val="90000"/>
              </a:lnSpc>
              <a:spcBef>
                <a:spcPct val="30000"/>
              </a:spcBef>
              <a:tabLst>
                <a:tab pos="1200150" algn="l"/>
                <a:tab pos="2000250" algn="l"/>
                <a:tab pos="3371850" algn="l"/>
              </a:tabLst>
            </a:pPr>
            <a:r>
              <a:rPr lang="en-US" altLang="zh-CN" sz="1400">
                <a:solidFill>
                  <a:srgbClr val="FF0000"/>
                </a:solidFill>
                <a:latin typeface="宋体" panose="02000500000000000000" pitchFamily="2" charset="-122"/>
              </a:rPr>
              <a:t> 3 </a:t>
            </a:r>
            <a:r>
              <a:rPr lang="en-US" altLang="zh-CN" sz="1800">
                <a:solidFill>
                  <a:srgbClr val="FF0000"/>
                </a:solidFill>
                <a:latin typeface="宋体" panose="02000500000000000000" pitchFamily="2" charset="-122"/>
              </a:rPr>
              <a:t>	SW	4(R1),R3</a:t>
            </a:r>
            <a:r>
              <a:rPr lang="en-US" altLang="zh-CN" sz="1800">
                <a:latin typeface="宋体" panose="02000500000000000000" pitchFamily="2" charset="-122"/>
              </a:rPr>
              <a:t>		</a:t>
            </a:r>
            <a:endParaRPr lang="en-US" altLang="zh-CN" sz="180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24579" name="Rectangle 339"/>
          <p:cNvSpPr/>
          <p:nvPr/>
        </p:nvSpPr>
        <p:spPr>
          <a:xfrm>
            <a:off x="339090" y="95250"/>
            <a:ext cx="5775325" cy="594995"/>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r>
              <a:rPr lang="zh-CN" altLang="en-US" b="1" dirty="0">
                <a:latin typeface="Times New Roman" pitchFamily="18" charset="0"/>
              </a:rPr>
              <a:t>再次改进后的时序</a:t>
            </a:r>
            <a:endParaRPr lang="zh-CN" altLang="en-US" b="1" dirty="0">
              <a:latin typeface="Times New Roman" pitchFamily="18" charset="0"/>
            </a:endParaRPr>
          </a:p>
        </p:txBody>
      </p:sp>
      <p:pic>
        <p:nvPicPr>
          <p:cNvPr id="24580" name="图片 2"/>
          <p:cNvPicPr>
            <a:picLocks noChangeAspect="1"/>
          </p:cNvPicPr>
          <p:nvPr/>
        </p:nvPicPr>
        <p:blipFill>
          <a:blip r:embed="rId1" cstate="print"/>
          <a:stretch>
            <a:fillRect/>
          </a:stretch>
        </p:blipFill>
        <p:spPr>
          <a:xfrm>
            <a:off x="2698717" y="536576"/>
            <a:ext cx="7830647" cy="6169025"/>
          </a:xfrm>
          <a:prstGeom prst="rect">
            <a:avLst/>
          </a:prstGeom>
          <a:noFill/>
          <a:ln w="9525">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25603" name="Rectangle 2"/>
          <p:cNvSpPr>
            <a:spLocks noGrp="1"/>
          </p:cNvSpPr>
          <p:nvPr>
            <p:ph type="title"/>
          </p:nvPr>
        </p:nvSpPr>
        <p:spPr>
          <a:xfrm>
            <a:off x="897668" y="361950"/>
            <a:ext cx="10361851" cy="685800"/>
          </a:xfrm>
        </p:spPr>
        <p:txBody>
          <a:bodyPr vert="horz" wrap="square" lIns="91440" tIns="45720" rIns="91440" bIns="45720" anchor="ctr" anchorCtr="0"/>
          <a:lstStyle/>
          <a:p>
            <a:pPr eaLnBrk="1" hangingPunct="1"/>
            <a:r>
              <a:rPr lang="zh-CN" altLang="en-US" dirty="0"/>
              <a:t>上述流水线的进一步改进</a:t>
            </a:r>
            <a:endParaRPr lang="zh-CN" altLang="en-US" dirty="0"/>
          </a:p>
        </p:txBody>
      </p:sp>
      <p:sp>
        <p:nvSpPr>
          <p:cNvPr id="25604" name="Rectangle 3"/>
          <p:cNvSpPr>
            <a:spLocks noGrp="1"/>
          </p:cNvSpPr>
          <p:nvPr>
            <p:ph idx="1"/>
          </p:nvPr>
        </p:nvSpPr>
        <p:spPr>
          <a:xfrm>
            <a:off x="914599" y="1296988"/>
            <a:ext cx="10361851" cy="5346700"/>
          </a:xfrm>
        </p:spPr>
        <p:txBody>
          <a:bodyPr vert="horz" wrap="square" lIns="91440" tIns="45720" rIns="91440" bIns="45720" anchor="t" anchorCtr="0"/>
          <a:lstStyle/>
          <a:p>
            <a:pPr eaLnBrk="1" hangingPunct="1"/>
            <a:r>
              <a:rPr lang="zh-CN" altLang="en-US" dirty="0"/>
              <a:t>上述流水线是两级流水线</a:t>
            </a:r>
            <a:endParaRPr lang="zh-CN" altLang="en-US" dirty="0"/>
          </a:p>
          <a:p>
            <a:pPr lvl="1" eaLnBrk="1" hangingPunct="1"/>
            <a:r>
              <a:rPr lang="zh-CN" altLang="en-US" sz="1800" dirty="0"/>
              <a:t>取指和执行</a:t>
            </a:r>
            <a:endParaRPr lang="zh-CN" altLang="en-US" sz="1800" dirty="0"/>
          </a:p>
          <a:p>
            <a:pPr lvl="1" eaLnBrk="1" hangingPunct="1"/>
            <a:r>
              <a:rPr lang="zh-CN" altLang="en-US" sz="1800" dirty="0"/>
              <a:t>执行阶段做的事情较多</a:t>
            </a:r>
            <a:endParaRPr lang="zh-CN" altLang="en-US" sz="1800" dirty="0"/>
          </a:p>
          <a:p>
            <a:pPr lvl="2" eaLnBrk="1" hangingPunct="1"/>
            <a:r>
              <a:rPr lang="zh-CN" altLang="en-US" sz="1600" dirty="0"/>
              <a:t>译码（包括读取寄存器的值）</a:t>
            </a:r>
            <a:endParaRPr lang="zh-CN" altLang="en-US" sz="1600" dirty="0"/>
          </a:p>
          <a:p>
            <a:pPr lvl="2" eaLnBrk="1" hangingPunct="1"/>
            <a:r>
              <a:rPr lang="zh-CN" altLang="en-US" sz="1600" dirty="0"/>
              <a:t>运算（</a:t>
            </a:r>
            <a:r>
              <a:rPr lang="en-US" altLang="zh-CN" sz="1600" dirty="0"/>
              <a:t>ALU</a:t>
            </a:r>
            <a:r>
              <a:rPr lang="zh-CN" altLang="en-US" sz="1600" dirty="0"/>
              <a:t>操作）</a:t>
            </a:r>
            <a:endParaRPr lang="zh-CN" altLang="en-US" sz="1600" dirty="0"/>
          </a:p>
          <a:p>
            <a:pPr lvl="2" eaLnBrk="1" hangingPunct="1"/>
            <a:r>
              <a:rPr lang="zh-CN" altLang="en-US" sz="1600" dirty="0"/>
              <a:t>访存（取数或存数）</a:t>
            </a:r>
            <a:endParaRPr lang="zh-CN" altLang="en-US" sz="1600" dirty="0"/>
          </a:p>
          <a:p>
            <a:pPr lvl="2" eaLnBrk="1" hangingPunct="1"/>
            <a:r>
              <a:rPr lang="zh-CN" altLang="en-US" sz="1600" dirty="0"/>
              <a:t>写回到寄存器</a:t>
            </a:r>
            <a:endParaRPr lang="zh-CN" altLang="en-US" sz="1600" dirty="0"/>
          </a:p>
          <a:p>
            <a:pPr lvl="1" eaLnBrk="1" hangingPunct="1"/>
            <a:r>
              <a:rPr lang="zh-CN" altLang="en-US" sz="1800" dirty="0"/>
              <a:t>时钟周期较长，一拍内必须做完上述四件事情</a:t>
            </a:r>
            <a:endParaRPr lang="zh-CN" altLang="en-US" sz="1800" dirty="0"/>
          </a:p>
          <a:p>
            <a:pPr eaLnBrk="1" hangingPunct="1"/>
            <a:r>
              <a:rPr lang="zh-CN" altLang="en-US" dirty="0"/>
              <a:t>可以把执行阶段再细分</a:t>
            </a:r>
            <a:endParaRPr lang="zh-CN" altLang="en-US" dirty="0"/>
          </a:p>
          <a:p>
            <a:pPr lvl="1" eaLnBrk="1" hangingPunct="1"/>
            <a:r>
              <a:rPr lang="zh-CN" altLang="en-US" sz="1800" dirty="0"/>
              <a:t>执行阶段分成译码、运算、访存、写回</a:t>
            </a:r>
            <a:endParaRPr lang="zh-CN" altLang="en-US" sz="18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9220" name="Rectangle 119"/>
          <p:cNvSpPr>
            <a:spLocks noChangeArrowheads="1"/>
          </p:cNvSpPr>
          <p:nvPr/>
        </p:nvSpPr>
        <p:spPr bwMode="auto">
          <a:xfrm>
            <a:off x="584442" y="273051"/>
            <a:ext cx="5775632" cy="2054225"/>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Times New Roman" pitchFamily="18" charset="0"/>
                <a:ea typeface="宋体" panose="02000500000000000000" pitchFamily="2" charset="-122"/>
                <a:cs typeface="+mn-cs"/>
              </a:rPr>
              <a:t>指令流水线阶段划分</a:t>
            </a:r>
            <a:endParaRPr kumimoji="1" lang="zh-CN" altLang="en-US" sz="2000" b="1" i="0" u="none" strike="noStrike" kern="1200" cap="none" spc="0" normalizeH="0" baseline="0" noProof="0" dirty="0">
              <a:ln>
                <a:noFill/>
              </a:ln>
              <a:solidFill>
                <a:schemeClr val="tx1"/>
              </a:solidFill>
              <a:effectLst/>
              <a:uLnTx/>
              <a:uFillTx/>
              <a:latin typeface="Times New Roman" pitchFamily="18" charset="0"/>
              <a:ea typeface="宋体" panose="02000500000000000000" pitchFamily="2" charset="-122"/>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IF, ID, EX, MEM, WB</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计算</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PC</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在</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ID</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阶段</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p:txBody>
      </p:sp>
      <p:pic>
        <p:nvPicPr>
          <p:cNvPr id="26628" name="图片 4"/>
          <p:cNvPicPr>
            <a:picLocks noChangeAspect="1"/>
          </p:cNvPicPr>
          <p:nvPr/>
        </p:nvPicPr>
        <p:blipFill>
          <a:blip r:embed="rId1" cstate="print"/>
          <a:stretch>
            <a:fillRect/>
          </a:stretch>
        </p:blipFill>
        <p:spPr>
          <a:xfrm>
            <a:off x="4332572" y="563563"/>
            <a:ext cx="7858160" cy="6189662"/>
          </a:xfrm>
          <a:prstGeom prst="rect">
            <a:avLst/>
          </a:prstGeom>
          <a:noFill/>
          <a:ln w="9525">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27651" name="Rectangle 383"/>
          <p:cNvSpPr/>
          <p:nvPr/>
        </p:nvSpPr>
        <p:spPr>
          <a:xfrm>
            <a:off x="404549" y="157163"/>
            <a:ext cx="5204205" cy="1135062"/>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latin typeface="Times New Roman" pitchFamily="18" charset="0"/>
              </a:rPr>
              <a:t>指令流水线控制及时序</a:t>
            </a:r>
            <a:endParaRPr lang="zh-CN" altLang="en-US" b="1" dirty="0">
              <a:latin typeface="Times New Roman" pitchFamily="18" charset="0"/>
            </a:endParaRPr>
          </a:p>
        </p:txBody>
      </p:sp>
      <p:pic>
        <p:nvPicPr>
          <p:cNvPr id="27652" name="图片 4"/>
          <p:cNvPicPr>
            <a:picLocks noChangeAspect="1"/>
          </p:cNvPicPr>
          <p:nvPr/>
        </p:nvPicPr>
        <p:blipFill>
          <a:blip r:embed="rId1" cstate="print"/>
          <a:stretch>
            <a:fillRect/>
          </a:stretch>
        </p:blipFill>
        <p:spPr>
          <a:xfrm>
            <a:off x="3236281" y="604838"/>
            <a:ext cx="7849694" cy="6183312"/>
          </a:xfrm>
          <a:prstGeom prst="rect">
            <a:avLst/>
          </a:prstGeom>
          <a:noFill/>
          <a:ln w="9525">
            <a:no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grpSp>
        <p:nvGrpSpPr>
          <p:cNvPr id="28675" name="Group 10"/>
          <p:cNvGrpSpPr/>
          <p:nvPr/>
        </p:nvGrpSpPr>
        <p:grpSpPr>
          <a:xfrm>
            <a:off x="2489195" y="2919413"/>
            <a:ext cx="6861340" cy="1417637"/>
            <a:chOff x="514" y="1745"/>
            <a:chExt cx="3242" cy="893"/>
          </a:xfrm>
        </p:grpSpPr>
        <p:graphicFrame>
          <p:nvGraphicFramePr>
            <p:cNvPr id="28677" name="Object 3"/>
            <p:cNvGraphicFramePr/>
            <p:nvPr/>
          </p:nvGraphicFramePr>
          <p:xfrm>
            <a:off x="514" y="1745"/>
            <a:ext cx="2088" cy="273"/>
          </p:xfrm>
          <a:graphic>
            <a:graphicData uri="http://schemas.openxmlformats.org/presentationml/2006/ole">
              <mc:AlternateContent xmlns:mc="http://schemas.openxmlformats.org/markup-compatibility/2006">
                <mc:Choice xmlns:v="urn:schemas-microsoft-com:vml" Requires="v">
                  <p:oleObj spid="_x0000_s4097" name="" r:id="rId1" imgW="12439650" imgH="1666875" progId="Word.Document.8">
                    <p:embed/>
                  </p:oleObj>
                </mc:Choice>
                <mc:Fallback>
                  <p:oleObj name="" r:id="rId1" imgW="12439650" imgH="1666875" progId="Word.Document.8">
                    <p:embed/>
                    <p:pic>
                      <p:nvPicPr>
                        <p:cNvPr id="0" name="图片 4096" descr="image18"/>
                        <p:cNvPicPr/>
                        <p:nvPr/>
                      </p:nvPicPr>
                      <p:blipFill>
                        <a:blip r:embed="rId2"/>
                        <a:stretch>
                          <a:fillRect/>
                        </a:stretch>
                      </p:blipFill>
                      <p:spPr>
                        <a:xfrm>
                          <a:off x="514" y="1745"/>
                          <a:ext cx="2088" cy="273"/>
                        </a:xfrm>
                        <a:prstGeom prst="rect">
                          <a:avLst/>
                        </a:prstGeom>
                        <a:noFill/>
                        <a:ln w="38100">
                          <a:noFill/>
                        </a:ln>
                      </p:spPr>
                    </p:pic>
                  </p:oleObj>
                </mc:Fallback>
              </mc:AlternateContent>
            </a:graphicData>
          </a:graphic>
        </p:graphicFrame>
        <p:graphicFrame>
          <p:nvGraphicFramePr>
            <p:cNvPr id="28678" name="Object 6"/>
            <p:cNvGraphicFramePr/>
            <p:nvPr/>
          </p:nvGraphicFramePr>
          <p:xfrm>
            <a:off x="802" y="1905"/>
            <a:ext cx="2088" cy="273"/>
          </p:xfrm>
          <a:graphic>
            <a:graphicData uri="http://schemas.openxmlformats.org/presentationml/2006/ole">
              <mc:AlternateContent xmlns:mc="http://schemas.openxmlformats.org/markup-compatibility/2006">
                <mc:Choice xmlns:v="urn:schemas-microsoft-com:vml" Requires="v">
                  <p:oleObj spid="_x0000_s4098" name="" r:id="rId3" imgW="12439650" imgH="1666875" progId="Word.Document.8">
                    <p:embed/>
                  </p:oleObj>
                </mc:Choice>
                <mc:Fallback>
                  <p:oleObj name="" r:id="rId3" imgW="12439650" imgH="1666875" progId="Word.Document.8">
                    <p:embed/>
                    <p:pic>
                      <p:nvPicPr>
                        <p:cNvPr id="0" name="图片 4097" descr="image19"/>
                        <p:cNvPicPr/>
                        <p:nvPr/>
                      </p:nvPicPr>
                      <p:blipFill>
                        <a:blip r:embed="rId4"/>
                        <a:stretch>
                          <a:fillRect/>
                        </a:stretch>
                      </p:blipFill>
                      <p:spPr>
                        <a:xfrm>
                          <a:off x="802" y="1905"/>
                          <a:ext cx="2088" cy="273"/>
                        </a:xfrm>
                        <a:prstGeom prst="rect">
                          <a:avLst/>
                        </a:prstGeom>
                        <a:noFill/>
                        <a:ln w="38100">
                          <a:noFill/>
                        </a:ln>
                      </p:spPr>
                    </p:pic>
                  </p:oleObj>
                </mc:Fallback>
              </mc:AlternateContent>
            </a:graphicData>
          </a:graphic>
        </p:graphicFrame>
        <p:graphicFrame>
          <p:nvGraphicFramePr>
            <p:cNvPr id="28679" name="Object 7"/>
            <p:cNvGraphicFramePr/>
            <p:nvPr/>
          </p:nvGraphicFramePr>
          <p:xfrm>
            <a:off x="1090" y="2057"/>
            <a:ext cx="2088" cy="273"/>
          </p:xfrm>
          <a:graphic>
            <a:graphicData uri="http://schemas.openxmlformats.org/presentationml/2006/ole">
              <mc:AlternateContent xmlns:mc="http://schemas.openxmlformats.org/markup-compatibility/2006">
                <mc:Choice xmlns:v="urn:schemas-microsoft-com:vml" Requires="v">
                  <p:oleObj spid="_x0000_s4099" name="" r:id="rId5" imgW="12439650" imgH="1666875" progId="Word.Document.8">
                    <p:embed/>
                  </p:oleObj>
                </mc:Choice>
                <mc:Fallback>
                  <p:oleObj name="" r:id="rId5" imgW="12439650" imgH="1666875" progId="Word.Document.8">
                    <p:embed/>
                    <p:pic>
                      <p:nvPicPr>
                        <p:cNvPr id="0" name="图片 4098" descr="image20"/>
                        <p:cNvPicPr/>
                        <p:nvPr/>
                      </p:nvPicPr>
                      <p:blipFill>
                        <a:blip r:embed="rId6"/>
                        <a:stretch>
                          <a:fillRect/>
                        </a:stretch>
                      </p:blipFill>
                      <p:spPr>
                        <a:xfrm>
                          <a:off x="1090" y="2057"/>
                          <a:ext cx="2088" cy="273"/>
                        </a:xfrm>
                        <a:prstGeom prst="rect">
                          <a:avLst/>
                        </a:prstGeom>
                        <a:noFill/>
                        <a:ln w="38100">
                          <a:noFill/>
                        </a:ln>
                      </p:spPr>
                    </p:pic>
                  </p:oleObj>
                </mc:Fallback>
              </mc:AlternateContent>
            </a:graphicData>
          </a:graphic>
        </p:graphicFrame>
        <p:graphicFrame>
          <p:nvGraphicFramePr>
            <p:cNvPr id="28680" name="Object 8"/>
            <p:cNvGraphicFramePr/>
            <p:nvPr/>
          </p:nvGraphicFramePr>
          <p:xfrm>
            <a:off x="1668" y="2365"/>
            <a:ext cx="2088" cy="273"/>
          </p:xfrm>
          <a:graphic>
            <a:graphicData uri="http://schemas.openxmlformats.org/presentationml/2006/ole">
              <mc:AlternateContent xmlns:mc="http://schemas.openxmlformats.org/markup-compatibility/2006">
                <mc:Choice xmlns:v="urn:schemas-microsoft-com:vml" Requires="v">
                  <p:oleObj spid="_x0000_s4100" name="" r:id="rId7" imgW="12439650" imgH="1666875" progId="Word.Document.8">
                    <p:embed/>
                  </p:oleObj>
                </mc:Choice>
                <mc:Fallback>
                  <p:oleObj name="" r:id="rId7" imgW="12439650" imgH="1666875" progId="Word.Document.8">
                    <p:embed/>
                    <p:pic>
                      <p:nvPicPr>
                        <p:cNvPr id="0" name="图片 4099" descr="image21"/>
                        <p:cNvPicPr/>
                        <p:nvPr/>
                      </p:nvPicPr>
                      <p:blipFill>
                        <a:blip r:embed="rId8"/>
                        <a:stretch>
                          <a:fillRect/>
                        </a:stretch>
                      </p:blipFill>
                      <p:spPr>
                        <a:xfrm>
                          <a:off x="1668" y="2365"/>
                          <a:ext cx="2088" cy="273"/>
                        </a:xfrm>
                        <a:prstGeom prst="rect">
                          <a:avLst/>
                        </a:prstGeom>
                        <a:noFill/>
                        <a:ln w="38100">
                          <a:noFill/>
                        </a:ln>
                      </p:spPr>
                    </p:pic>
                  </p:oleObj>
                </mc:Fallback>
              </mc:AlternateContent>
            </a:graphicData>
          </a:graphic>
        </p:graphicFrame>
        <p:graphicFrame>
          <p:nvGraphicFramePr>
            <p:cNvPr id="28681" name="Object 9"/>
            <p:cNvGraphicFramePr/>
            <p:nvPr/>
          </p:nvGraphicFramePr>
          <p:xfrm>
            <a:off x="1378" y="2217"/>
            <a:ext cx="2088" cy="273"/>
          </p:xfrm>
          <a:graphic>
            <a:graphicData uri="http://schemas.openxmlformats.org/presentationml/2006/ole">
              <mc:AlternateContent xmlns:mc="http://schemas.openxmlformats.org/markup-compatibility/2006">
                <mc:Choice xmlns:v="urn:schemas-microsoft-com:vml" Requires="v">
                  <p:oleObj spid="_x0000_s4101" name="" r:id="rId9" imgW="12439650" imgH="1666875" progId="Word.Document.8">
                    <p:embed/>
                  </p:oleObj>
                </mc:Choice>
                <mc:Fallback>
                  <p:oleObj name="" r:id="rId9" imgW="12439650" imgH="1666875" progId="Word.Document.8">
                    <p:embed/>
                    <p:pic>
                      <p:nvPicPr>
                        <p:cNvPr id="0" name="图片 4100" descr="image22"/>
                        <p:cNvPicPr/>
                        <p:nvPr/>
                      </p:nvPicPr>
                      <p:blipFill>
                        <a:blip r:embed="rId10"/>
                        <a:stretch>
                          <a:fillRect/>
                        </a:stretch>
                      </p:blipFill>
                      <p:spPr>
                        <a:xfrm>
                          <a:off x="1378" y="2217"/>
                          <a:ext cx="2088" cy="273"/>
                        </a:xfrm>
                        <a:prstGeom prst="rect">
                          <a:avLst/>
                        </a:prstGeom>
                        <a:noFill/>
                        <a:ln w="38100">
                          <a:noFill/>
                        </a:ln>
                      </p:spPr>
                    </p:pic>
                  </p:oleObj>
                </mc:Fallback>
              </mc:AlternateContent>
            </a:graphicData>
          </a:graphic>
        </p:graphicFrame>
      </p:grpSp>
      <p:sp>
        <p:nvSpPr>
          <p:cNvPr id="28676" name="Rectangle 11"/>
          <p:cNvSpPr/>
          <p:nvPr/>
        </p:nvSpPr>
        <p:spPr>
          <a:xfrm>
            <a:off x="897668" y="361950"/>
            <a:ext cx="10361851" cy="685800"/>
          </a:xfrm>
          <a:prstGeom prst="rect">
            <a:avLst/>
          </a:prstGeom>
          <a:noFill/>
          <a:ln w="9525">
            <a:noFill/>
          </a:ln>
        </p:spPr>
        <p:txBody>
          <a:bodyPr anchor="ctr" anchorCtr="0"/>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algn="ctr" eaLnBrk="1" hangingPunct="1">
              <a:lnSpc>
                <a:spcPct val="100000"/>
              </a:lnSpc>
              <a:spcBef>
                <a:spcPct val="0"/>
              </a:spcBef>
              <a:buNone/>
            </a:pPr>
            <a:r>
              <a:rPr lang="zh-CN" altLang="en-US" sz="3200" dirty="0">
                <a:solidFill>
                  <a:srgbClr val="FF0000"/>
                </a:solidFill>
                <a:latin typeface="Arial" panose="02080604020202020204" pitchFamily="34" charset="0"/>
                <a:ea typeface="黑体" panose="02000500000000000000" pitchFamily="49" charset="-122"/>
              </a:rPr>
              <a:t>标准指令流水线</a:t>
            </a:r>
            <a:endParaRPr lang="zh-CN" altLang="en-US" sz="3200" dirty="0">
              <a:solidFill>
                <a:srgbClr val="FF0000"/>
              </a:solidFill>
              <a:latin typeface="Arial" panose="02080604020202020204" pitchFamily="34" charset="0"/>
              <a:ea typeface="黑体" panose="02000500000000000000" pitchFamily="49" charset="-122"/>
            </a:endParaRPr>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4"/>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29699" name="Rectangle 2"/>
          <p:cNvSpPr>
            <a:spLocks noGrp="1"/>
          </p:cNvSpPr>
          <p:nvPr>
            <p:ph type="title"/>
          </p:nvPr>
        </p:nvSpPr>
        <p:spPr>
          <a:xfrm>
            <a:off x="1043700" y="2938463"/>
            <a:ext cx="10361851" cy="1143000"/>
          </a:xfrm>
        </p:spPr>
        <p:txBody>
          <a:bodyPr vert="horz" wrap="square" lIns="91440" tIns="45720" rIns="91440" bIns="45720" anchor="ctr" anchorCtr="0"/>
          <a:lstStyle/>
          <a:p>
            <a:pPr eaLnBrk="1" hangingPunct="1"/>
            <a:r>
              <a:rPr lang="zh-CN" altLang="en-US" dirty="0"/>
              <a:t>指令相关和流水线冲突</a:t>
            </a:r>
            <a:endParaRPr lang="zh-CN" altLang="en-US" dirty="0"/>
          </a:p>
        </p:txBody>
      </p:sp>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30723" name="Rectangle 2"/>
          <p:cNvSpPr>
            <a:spLocks noGrp="1"/>
          </p:cNvSpPr>
          <p:nvPr>
            <p:ph type="title"/>
          </p:nvPr>
        </p:nvSpPr>
        <p:spPr>
          <a:xfrm>
            <a:off x="846874" y="160339"/>
            <a:ext cx="10361851" cy="561975"/>
          </a:xfrm>
        </p:spPr>
        <p:txBody>
          <a:bodyPr vert="horz" wrap="square" lIns="91440" tIns="45720" rIns="91440" bIns="45720" anchor="ctr" anchorCtr="0"/>
          <a:lstStyle/>
          <a:p>
            <a:pPr eaLnBrk="1" hangingPunct="1"/>
            <a:r>
              <a:rPr lang="zh-CN" altLang="en-US" dirty="0"/>
              <a:t>流水线的相关问题</a:t>
            </a:r>
            <a:endParaRPr lang="zh-CN" altLang="en-US" dirty="0"/>
          </a:p>
        </p:txBody>
      </p:sp>
      <p:sp>
        <p:nvSpPr>
          <p:cNvPr id="30724" name="Rectangle 3"/>
          <p:cNvSpPr>
            <a:spLocks noGrp="1"/>
          </p:cNvSpPr>
          <p:nvPr>
            <p:ph idx="1"/>
          </p:nvPr>
        </p:nvSpPr>
        <p:spPr>
          <a:xfrm>
            <a:off x="205609" y="720725"/>
            <a:ext cx="11781949" cy="4383088"/>
          </a:xfrm>
        </p:spPr>
        <p:txBody>
          <a:bodyPr vert="horz" wrap="square" lIns="91440" tIns="45720" rIns="91440" bIns="45720" anchor="t" anchorCtr="0"/>
          <a:lstStyle/>
          <a:p>
            <a:pPr eaLnBrk="1" hangingPunct="1"/>
            <a:r>
              <a:rPr lang="zh-CN" altLang="en-US" dirty="0"/>
              <a:t>指令相关的概念</a:t>
            </a:r>
            <a:endParaRPr lang="zh-CN" altLang="en-US" dirty="0"/>
          </a:p>
          <a:p>
            <a:pPr lvl="1" eaLnBrk="1" hangingPunct="1"/>
            <a:r>
              <a:rPr lang="zh-CN" altLang="en-US" dirty="0"/>
              <a:t>流水线变深了，相关问题更为突出。</a:t>
            </a:r>
            <a:endParaRPr lang="zh-CN" altLang="en-US" dirty="0"/>
          </a:p>
          <a:p>
            <a:pPr lvl="1" eaLnBrk="1" hangingPunct="1"/>
            <a:r>
              <a:rPr lang="zh-CN" altLang="en-US" dirty="0"/>
              <a:t>在流水线中，如果某指令的某个阶段必须等到它前面另一条指令的某个阶段后才能开始，则这两条指令存在相关</a:t>
            </a:r>
            <a:endParaRPr lang="zh-CN" altLang="en-US" dirty="0"/>
          </a:p>
          <a:p>
            <a:pPr lvl="1" eaLnBrk="1" hangingPunct="1"/>
            <a:r>
              <a:rPr lang="zh-CN" altLang="en-US" dirty="0"/>
              <a:t>相关的指令要隔开足够远，否则后面的指令就必须等待</a:t>
            </a:r>
            <a:endParaRPr lang="zh-CN" altLang="en-US" sz="1800" dirty="0"/>
          </a:p>
          <a:p>
            <a:pPr eaLnBrk="1" hangingPunct="1"/>
            <a:r>
              <a:rPr lang="zh-CN" altLang="en-US" dirty="0"/>
              <a:t>在我们的流水线中，可能发生如下相关</a:t>
            </a:r>
            <a:endParaRPr lang="zh-CN" altLang="en-US" dirty="0"/>
          </a:p>
          <a:p>
            <a:pPr lvl="1" eaLnBrk="1" hangingPunct="1"/>
            <a:r>
              <a:rPr lang="zh-CN" altLang="en-US" dirty="0"/>
              <a:t>红线表示数据相关</a:t>
            </a:r>
            <a:endParaRPr lang="zh-CN" altLang="en-US" dirty="0"/>
          </a:p>
          <a:p>
            <a:pPr lvl="1" eaLnBrk="1" hangingPunct="1"/>
            <a:r>
              <a:rPr lang="zh-CN" altLang="en-US" dirty="0"/>
              <a:t>蓝线表示转移相关（从中可看出转移指令在译码阶段执行的必要性）</a:t>
            </a:r>
            <a:endParaRPr lang="zh-CN" altLang="en-US" dirty="0"/>
          </a:p>
          <a:p>
            <a:pPr lvl="1" eaLnBrk="1" hangingPunct="1"/>
            <a:r>
              <a:rPr lang="zh-CN" altLang="en-US" dirty="0"/>
              <a:t>还有结构相关（在我们的例子中不存在）</a:t>
            </a:r>
            <a:endParaRPr lang="zh-CN" altLang="en-US" dirty="0"/>
          </a:p>
        </p:txBody>
      </p:sp>
      <p:grpSp>
        <p:nvGrpSpPr>
          <p:cNvPr id="30725" name="Group 15"/>
          <p:cNvGrpSpPr/>
          <p:nvPr/>
        </p:nvGrpSpPr>
        <p:grpSpPr>
          <a:xfrm>
            <a:off x="2095546" y="5230814"/>
            <a:ext cx="6861340" cy="1430337"/>
            <a:chOff x="990" y="3257"/>
            <a:chExt cx="3242" cy="901"/>
          </a:xfrm>
        </p:grpSpPr>
        <p:graphicFrame>
          <p:nvGraphicFramePr>
            <p:cNvPr id="30726" name="Object 5"/>
            <p:cNvGraphicFramePr/>
            <p:nvPr/>
          </p:nvGraphicFramePr>
          <p:xfrm>
            <a:off x="990" y="3257"/>
            <a:ext cx="2088" cy="273"/>
          </p:xfrm>
          <a:graphic>
            <a:graphicData uri="http://schemas.openxmlformats.org/presentationml/2006/ole">
              <mc:AlternateContent xmlns:mc="http://schemas.openxmlformats.org/markup-compatibility/2006">
                <mc:Choice xmlns:v="urn:schemas-microsoft-com:vml" Requires="v">
                  <p:oleObj spid="_x0000_s5121" name="" r:id="rId1" imgW="12439650" imgH="1666875" progId="Word.Document.8">
                    <p:embed/>
                  </p:oleObj>
                </mc:Choice>
                <mc:Fallback>
                  <p:oleObj name="" r:id="rId1" imgW="12439650" imgH="1666875" progId="Word.Document.8">
                    <p:embed/>
                    <p:pic>
                      <p:nvPicPr>
                        <p:cNvPr id="0" name="图片 5120" descr="image18"/>
                        <p:cNvPicPr/>
                        <p:nvPr/>
                      </p:nvPicPr>
                      <p:blipFill>
                        <a:blip r:embed="rId2"/>
                        <a:stretch>
                          <a:fillRect/>
                        </a:stretch>
                      </p:blipFill>
                      <p:spPr>
                        <a:xfrm>
                          <a:off x="990" y="3257"/>
                          <a:ext cx="2088" cy="273"/>
                        </a:xfrm>
                        <a:prstGeom prst="rect">
                          <a:avLst/>
                        </a:prstGeom>
                        <a:noFill/>
                        <a:ln w="38100">
                          <a:noFill/>
                        </a:ln>
                      </p:spPr>
                    </p:pic>
                  </p:oleObj>
                </mc:Fallback>
              </mc:AlternateContent>
            </a:graphicData>
          </a:graphic>
        </p:graphicFrame>
        <p:graphicFrame>
          <p:nvGraphicFramePr>
            <p:cNvPr id="30727" name="Object 6"/>
            <p:cNvGraphicFramePr/>
            <p:nvPr/>
          </p:nvGraphicFramePr>
          <p:xfrm>
            <a:off x="1278" y="3417"/>
            <a:ext cx="2088" cy="273"/>
          </p:xfrm>
          <a:graphic>
            <a:graphicData uri="http://schemas.openxmlformats.org/presentationml/2006/ole">
              <mc:AlternateContent xmlns:mc="http://schemas.openxmlformats.org/markup-compatibility/2006">
                <mc:Choice xmlns:v="urn:schemas-microsoft-com:vml" Requires="v">
                  <p:oleObj spid="_x0000_s5122" name="" r:id="rId3" imgW="12439650" imgH="1666875" progId="Word.Document.8">
                    <p:embed/>
                  </p:oleObj>
                </mc:Choice>
                <mc:Fallback>
                  <p:oleObj name="" r:id="rId3" imgW="12439650" imgH="1666875" progId="Word.Document.8">
                    <p:embed/>
                    <p:pic>
                      <p:nvPicPr>
                        <p:cNvPr id="0" name="图片 5121" descr="image19"/>
                        <p:cNvPicPr/>
                        <p:nvPr/>
                      </p:nvPicPr>
                      <p:blipFill>
                        <a:blip r:embed="rId4"/>
                        <a:stretch>
                          <a:fillRect/>
                        </a:stretch>
                      </p:blipFill>
                      <p:spPr>
                        <a:xfrm>
                          <a:off x="1278" y="3417"/>
                          <a:ext cx="2088" cy="273"/>
                        </a:xfrm>
                        <a:prstGeom prst="rect">
                          <a:avLst/>
                        </a:prstGeom>
                        <a:noFill/>
                        <a:ln w="38100">
                          <a:noFill/>
                        </a:ln>
                      </p:spPr>
                    </p:pic>
                  </p:oleObj>
                </mc:Fallback>
              </mc:AlternateContent>
            </a:graphicData>
          </a:graphic>
        </p:graphicFrame>
        <p:graphicFrame>
          <p:nvGraphicFramePr>
            <p:cNvPr id="30728" name="Object 7"/>
            <p:cNvGraphicFramePr/>
            <p:nvPr/>
          </p:nvGraphicFramePr>
          <p:xfrm>
            <a:off x="1566" y="3569"/>
            <a:ext cx="2088" cy="273"/>
          </p:xfrm>
          <a:graphic>
            <a:graphicData uri="http://schemas.openxmlformats.org/presentationml/2006/ole">
              <mc:AlternateContent xmlns:mc="http://schemas.openxmlformats.org/markup-compatibility/2006">
                <mc:Choice xmlns:v="urn:schemas-microsoft-com:vml" Requires="v">
                  <p:oleObj spid="_x0000_s5123" name="" r:id="rId5" imgW="12439650" imgH="1666875" progId="Word.Document.8">
                    <p:embed/>
                  </p:oleObj>
                </mc:Choice>
                <mc:Fallback>
                  <p:oleObj name="" r:id="rId5" imgW="12439650" imgH="1666875" progId="Word.Document.8">
                    <p:embed/>
                    <p:pic>
                      <p:nvPicPr>
                        <p:cNvPr id="0" name="图片 5122" descr="image20"/>
                        <p:cNvPicPr/>
                        <p:nvPr/>
                      </p:nvPicPr>
                      <p:blipFill>
                        <a:blip r:embed="rId6"/>
                        <a:stretch>
                          <a:fillRect/>
                        </a:stretch>
                      </p:blipFill>
                      <p:spPr>
                        <a:xfrm>
                          <a:off x="1566" y="3569"/>
                          <a:ext cx="2088" cy="273"/>
                        </a:xfrm>
                        <a:prstGeom prst="rect">
                          <a:avLst/>
                        </a:prstGeom>
                        <a:noFill/>
                        <a:ln w="38100">
                          <a:noFill/>
                        </a:ln>
                      </p:spPr>
                    </p:pic>
                  </p:oleObj>
                </mc:Fallback>
              </mc:AlternateContent>
            </a:graphicData>
          </a:graphic>
        </p:graphicFrame>
        <p:graphicFrame>
          <p:nvGraphicFramePr>
            <p:cNvPr id="30729" name="Object 8"/>
            <p:cNvGraphicFramePr/>
            <p:nvPr/>
          </p:nvGraphicFramePr>
          <p:xfrm>
            <a:off x="2144" y="3885"/>
            <a:ext cx="2088" cy="273"/>
          </p:xfrm>
          <a:graphic>
            <a:graphicData uri="http://schemas.openxmlformats.org/presentationml/2006/ole">
              <mc:AlternateContent xmlns:mc="http://schemas.openxmlformats.org/markup-compatibility/2006">
                <mc:Choice xmlns:v="urn:schemas-microsoft-com:vml" Requires="v">
                  <p:oleObj spid="_x0000_s5124" name="" r:id="rId7" imgW="12439650" imgH="1666875" progId="Word.Document.8">
                    <p:embed/>
                  </p:oleObj>
                </mc:Choice>
                <mc:Fallback>
                  <p:oleObj name="" r:id="rId7" imgW="12439650" imgH="1666875" progId="Word.Document.8">
                    <p:embed/>
                    <p:pic>
                      <p:nvPicPr>
                        <p:cNvPr id="0" name="图片 5123" descr="image21"/>
                        <p:cNvPicPr/>
                        <p:nvPr/>
                      </p:nvPicPr>
                      <p:blipFill>
                        <a:blip r:embed="rId8"/>
                        <a:stretch>
                          <a:fillRect/>
                        </a:stretch>
                      </p:blipFill>
                      <p:spPr>
                        <a:xfrm>
                          <a:off x="2144" y="3885"/>
                          <a:ext cx="2088" cy="273"/>
                        </a:xfrm>
                        <a:prstGeom prst="rect">
                          <a:avLst/>
                        </a:prstGeom>
                        <a:noFill/>
                        <a:ln w="38100">
                          <a:noFill/>
                        </a:ln>
                      </p:spPr>
                    </p:pic>
                  </p:oleObj>
                </mc:Fallback>
              </mc:AlternateContent>
            </a:graphicData>
          </a:graphic>
        </p:graphicFrame>
        <p:graphicFrame>
          <p:nvGraphicFramePr>
            <p:cNvPr id="30730" name="Object 9"/>
            <p:cNvGraphicFramePr/>
            <p:nvPr/>
          </p:nvGraphicFramePr>
          <p:xfrm>
            <a:off x="1854" y="3729"/>
            <a:ext cx="2088" cy="273"/>
          </p:xfrm>
          <a:graphic>
            <a:graphicData uri="http://schemas.openxmlformats.org/presentationml/2006/ole">
              <mc:AlternateContent xmlns:mc="http://schemas.openxmlformats.org/markup-compatibility/2006">
                <mc:Choice xmlns:v="urn:schemas-microsoft-com:vml" Requires="v">
                  <p:oleObj spid="_x0000_s5125" name="" r:id="rId9" imgW="12439650" imgH="1666875" progId="Word.Document.8">
                    <p:embed/>
                  </p:oleObj>
                </mc:Choice>
                <mc:Fallback>
                  <p:oleObj name="" r:id="rId9" imgW="12439650" imgH="1666875" progId="Word.Document.8">
                    <p:embed/>
                    <p:pic>
                      <p:nvPicPr>
                        <p:cNvPr id="0" name="图片 5124" descr="image22"/>
                        <p:cNvPicPr/>
                        <p:nvPr/>
                      </p:nvPicPr>
                      <p:blipFill>
                        <a:blip r:embed="rId10"/>
                        <a:stretch>
                          <a:fillRect/>
                        </a:stretch>
                      </p:blipFill>
                      <p:spPr>
                        <a:xfrm>
                          <a:off x="1854" y="3729"/>
                          <a:ext cx="2088" cy="273"/>
                        </a:xfrm>
                        <a:prstGeom prst="rect">
                          <a:avLst/>
                        </a:prstGeom>
                        <a:noFill/>
                        <a:ln w="38100">
                          <a:noFill/>
                        </a:ln>
                      </p:spPr>
                    </p:pic>
                  </p:oleObj>
                </mc:Fallback>
              </mc:AlternateContent>
            </a:graphicData>
          </a:graphic>
        </p:graphicFrame>
        <p:sp>
          <p:nvSpPr>
            <p:cNvPr id="30731" name="Line 10"/>
            <p:cNvSpPr/>
            <p:nvPr/>
          </p:nvSpPr>
          <p:spPr>
            <a:xfrm flipH="1">
              <a:off x="2120" y="3335"/>
              <a:ext cx="858" cy="133"/>
            </a:xfrm>
            <a:prstGeom prst="line">
              <a:avLst/>
            </a:prstGeom>
            <a:ln w="19050" cap="flat" cmpd="sng">
              <a:solidFill>
                <a:srgbClr val="FF0000"/>
              </a:solidFill>
              <a:prstDash val="solid"/>
              <a:headEnd type="none" w="med" len="med"/>
              <a:tailEnd type="triangle" w="med" len="med"/>
            </a:ln>
          </p:spPr>
        </p:sp>
        <p:sp>
          <p:nvSpPr>
            <p:cNvPr id="30732" name="Line 11"/>
            <p:cNvSpPr/>
            <p:nvPr/>
          </p:nvSpPr>
          <p:spPr>
            <a:xfrm flipH="1">
              <a:off x="2412" y="3338"/>
              <a:ext cx="569" cy="305"/>
            </a:xfrm>
            <a:prstGeom prst="line">
              <a:avLst/>
            </a:prstGeom>
            <a:ln w="19050" cap="flat" cmpd="sng">
              <a:solidFill>
                <a:srgbClr val="FF0000"/>
              </a:solidFill>
              <a:prstDash val="solid"/>
              <a:headEnd type="none" w="med" len="med"/>
              <a:tailEnd type="triangle" w="med" len="med"/>
            </a:ln>
          </p:spPr>
        </p:sp>
        <p:sp>
          <p:nvSpPr>
            <p:cNvPr id="30733" name="Line 12"/>
            <p:cNvSpPr/>
            <p:nvPr/>
          </p:nvSpPr>
          <p:spPr>
            <a:xfrm flipH="1">
              <a:off x="2697" y="3335"/>
              <a:ext cx="281" cy="484"/>
            </a:xfrm>
            <a:prstGeom prst="line">
              <a:avLst/>
            </a:prstGeom>
            <a:ln w="19050" cap="flat" cmpd="sng">
              <a:solidFill>
                <a:srgbClr val="FF0000"/>
              </a:solidFill>
              <a:prstDash val="solid"/>
              <a:headEnd type="none" w="med" len="med"/>
              <a:tailEnd type="triangle" w="med" len="med"/>
            </a:ln>
          </p:spPr>
        </p:sp>
        <p:sp>
          <p:nvSpPr>
            <p:cNvPr id="30734" name="Line 13"/>
            <p:cNvSpPr/>
            <p:nvPr/>
          </p:nvSpPr>
          <p:spPr>
            <a:xfrm flipH="1">
              <a:off x="1832" y="3335"/>
              <a:ext cx="288" cy="148"/>
            </a:xfrm>
            <a:prstGeom prst="line">
              <a:avLst/>
            </a:prstGeom>
            <a:ln w="19050" cap="flat" cmpd="sng">
              <a:solidFill>
                <a:srgbClr val="0000FF"/>
              </a:solidFill>
              <a:prstDash val="solid"/>
              <a:headEnd type="none" w="med" len="med"/>
              <a:tailEnd type="triangle" w="med" len="med"/>
            </a:ln>
          </p:spPr>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31747" name="Rectangle 2"/>
          <p:cNvSpPr>
            <a:spLocks noGrp="1"/>
          </p:cNvSpPr>
          <p:nvPr>
            <p:ph type="title"/>
          </p:nvPr>
        </p:nvSpPr>
        <p:spPr>
          <a:xfrm>
            <a:off x="914599" y="495301"/>
            <a:ext cx="10361851" cy="722313"/>
          </a:xfrm>
        </p:spPr>
        <p:txBody>
          <a:bodyPr vert="horz" wrap="square" lIns="91440" tIns="45720" rIns="91440" bIns="45720" anchor="ctr" anchorCtr="0"/>
          <a:lstStyle/>
          <a:p>
            <a:pPr eaLnBrk="1" hangingPunct="1"/>
            <a:r>
              <a:rPr lang="zh-CN" altLang="en-US" dirty="0"/>
              <a:t>指令流水线的相关</a:t>
            </a:r>
            <a:endParaRPr lang="zh-CN" altLang="en-US" dirty="0"/>
          </a:p>
        </p:txBody>
      </p:sp>
      <p:sp>
        <p:nvSpPr>
          <p:cNvPr id="31748" name="Rectangle 3"/>
          <p:cNvSpPr>
            <a:spLocks noGrp="1"/>
          </p:cNvSpPr>
          <p:nvPr>
            <p:ph idx="1"/>
          </p:nvPr>
        </p:nvSpPr>
        <p:spPr>
          <a:xfrm>
            <a:off x="914599" y="1701800"/>
            <a:ext cx="10361851" cy="4394200"/>
          </a:xfrm>
        </p:spPr>
        <p:txBody>
          <a:bodyPr vert="horz" wrap="square" lIns="91440" tIns="45720" rIns="91440" bIns="45720" anchor="t" anchorCtr="0"/>
          <a:lstStyle/>
          <a:p>
            <a:pPr eaLnBrk="1" hangingPunct="1"/>
            <a:r>
              <a:rPr lang="zh-CN" altLang="en-US" dirty="0"/>
              <a:t>数据相关：使用同一个寄存器引起的相关</a:t>
            </a:r>
            <a:endParaRPr lang="zh-CN" altLang="en-US" dirty="0"/>
          </a:p>
          <a:p>
            <a:pPr lvl="1" eaLnBrk="1" hangingPunct="1"/>
            <a:r>
              <a:rPr lang="zh-CN" altLang="en-US" sz="1800" dirty="0"/>
              <a:t>如后面的指令用到前面指令的结果</a:t>
            </a:r>
            <a:endParaRPr lang="zh-CN" altLang="en-US" sz="1800" dirty="0"/>
          </a:p>
          <a:p>
            <a:pPr eaLnBrk="1" hangingPunct="1"/>
            <a:r>
              <a:rPr lang="zh-CN" altLang="en-US" dirty="0"/>
              <a:t>控制相关：与</a:t>
            </a:r>
            <a:r>
              <a:rPr lang="en-US" altLang="zh-CN" dirty="0"/>
              <a:t>PC</a:t>
            </a:r>
            <a:r>
              <a:rPr lang="zh-CN" altLang="en-US" dirty="0"/>
              <a:t>有关的相关</a:t>
            </a:r>
            <a:endParaRPr lang="zh-CN" altLang="en-US" dirty="0"/>
          </a:p>
          <a:p>
            <a:pPr lvl="1" eaLnBrk="1" hangingPunct="1"/>
            <a:r>
              <a:rPr lang="zh-CN" altLang="en-US" sz="1800" dirty="0"/>
              <a:t>每条指令取指用到</a:t>
            </a:r>
            <a:r>
              <a:rPr lang="en-US" altLang="zh-CN" sz="1800" dirty="0"/>
              <a:t>PC</a:t>
            </a:r>
            <a:r>
              <a:rPr lang="zh-CN" altLang="en-US" sz="1800" dirty="0"/>
              <a:t>，转移指令修改</a:t>
            </a:r>
            <a:r>
              <a:rPr lang="en-US" altLang="zh-CN" sz="1800" dirty="0"/>
              <a:t>PC</a:t>
            </a:r>
            <a:endParaRPr lang="en-US" altLang="zh-CN" sz="1800" dirty="0"/>
          </a:p>
          <a:p>
            <a:pPr eaLnBrk="1" hangingPunct="1"/>
            <a:r>
              <a:rPr lang="zh-CN" altLang="en-US" dirty="0"/>
              <a:t>结构相关：资源冲突</a:t>
            </a:r>
            <a:endParaRPr lang="zh-CN" altLang="en-US" dirty="0"/>
          </a:p>
          <a:p>
            <a:pPr lvl="1" eaLnBrk="1" hangingPunct="1"/>
            <a:r>
              <a:rPr lang="zh-CN" altLang="en-US" sz="1800" dirty="0"/>
              <a:t>多条指令同时使用一个功能部件</a:t>
            </a:r>
            <a:endParaRPr lang="zh-CN" altLang="en-US" sz="1800" dirty="0"/>
          </a:p>
          <a:p>
            <a:pPr eaLnBrk="1" hangingPunct="1"/>
            <a:r>
              <a:rPr lang="zh-CN" altLang="en-US" dirty="0">
                <a:solidFill>
                  <a:srgbClr val="FF0000"/>
                </a:solidFill>
              </a:rPr>
              <a:t>相关引起流水线阻塞</a:t>
            </a:r>
            <a:endParaRPr lang="zh-CN" altLang="en-US" dirty="0">
              <a:solidFill>
                <a:srgbClr val="FF0000"/>
              </a:solidFill>
            </a:endParaRPr>
          </a:p>
          <a:p>
            <a:pPr eaLnBrk="1" hangingPunct="1"/>
            <a:endParaRPr lang="en-US" altLang="zh-CN" dirty="0">
              <a:solidFill>
                <a:srgbClr val="FF0000"/>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32771" name="Rectangle 33"/>
          <p:cNvSpPr/>
          <p:nvPr/>
        </p:nvSpPr>
        <p:spPr>
          <a:xfrm>
            <a:off x="3149508" y="4414838"/>
            <a:ext cx="9015826" cy="2432050"/>
          </a:xfrm>
          <a:prstGeom prst="rect">
            <a:avLst/>
          </a:prstGeom>
          <a:solidFill>
            <a:schemeClr val="hlink"/>
          </a:solidFill>
          <a:ln w="9525">
            <a:noFill/>
          </a:ln>
        </p:spPr>
        <p:txBody>
          <a:bodyPr wrap="none" anchor="ctr" anchorCtr="0"/>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eaLnBrk="1" hangingPunct="1">
              <a:lnSpc>
                <a:spcPct val="100000"/>
              </a:lnSpc>
              <a:spcBef>
                <a:spcPct val="50000"/>
              </a:spcBef>
              <a:buNone/>
            </a:pPr>
            <a:endParaRPr lang="zh-CN" altLang="en-US" sz="2400" dirty="0">
              <a:latin typeface="Times New Roman" pitchFamily="18" charset="0"/>
            </a:endParaRPr>
          </a:p>
        </p:txBody>
      </p:sp>
      <p:sp>
        <p:nvSpPr>
          <p:cNvPr id="32772" name="Rectangle 32"/>
          <p:cNvSpPr/>
          <p:nvPr/>
        </p:nvSpPr>
        <p:spPr>
          <a:xfrm>
            <a:off x="3138928" y="1954214"/>
            <a:ext cx="9051804" cy="2257425"/>
          </a:xfrm>
          <a:prstGeom prst="rect">
            <a:avLst/>
          </a:prstGeom>
          <a:solidFill>
            <a:schemeClr val="hlink"/>
          </a:solidFill>
          <a:ln w="9525">
            <a:noFill/>
          </a:ln>
        </p:spPr>
        <p:txBody>
          <a:bodyPr wrap="none" anchor="ctr" anchorCtr="0"/>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eaLnBrk="1" hangingPunct="1">
              <a:lnSpc>
                <a:spcPct val="100000"/>
              </a:lnSpc>
              <a:spcBef>
                <a:spcPct val="50000"/>
              </a:spcBef>
              <a:buNone/>
            </a:pPr>
            <a:endParaRPr lang="zh-CN" altLang="en-US" sz="2400" dirty="0">
              <a:latin typeface="Times New Roman" pitchFamily="18" charset="0"/>
            </a:endParaRPr>
          </a:p>
        </p:txBody>
      </p:sp>
      <p:sp>
        <p:nvSpPr>
          <p:cNvPr id="32773" name="Rectangle 2"/>
          <p:cNvSpPr>
            <a:spLocks noGrp="1"/>
          </p:cNvSpPr>
          <p:nvPr>
            <p:ph type="title"/>
          </p:nvPr>
        </p:nvSpPr>
        <p:spPr/>
        <p:txBody>
          <a:bodyPr vert="horz" wrap="square" lIns="91440" tIns="45720" rIns="91440" bIns="45720" anchor="ctr" anchorCtr="0"/>
          <a:lstStyle/>
          <a:p>
            <a:pPr eaLnBrk="1" hangingPunct="1"/>
            <a:r>
              <a:rPr lang="zh-CN" altLang="en-US" dirty="0"/>
              <a:t>由访存引起的结构相关</a:t>
            </a:r>
            <a:endParaRPr lang="zh-CN" altLang="en-US" dirty="0"/>
          </a:p>
        </p:txBody>
      </p:sp>
      <p:sp>
        <p:nvSpPr>
          <p:cNvPr id="32774" name="Rectangle 3"/>
          <p:cNvSpPr>
            <a:spLocks noGrp="1"/>
          </p:cNvSpPr>
          <p:nvPr>
            <p:ph idx="1"/>
          </p:nvPr>
        </p:nvSpPr>
        <p:spPr>
          <a:xfrm>
            <a:off x="537882" y="816611"/>
            <a:ext cx="10213704" cy="1069975"/>
          </a:xfrm>
        </p:spPr>
        <p:txBody>
          <a:bodyPr vert="horz" wrap="square" lIns="91440" tIns="45720" rIns="91440" bIns="45720" anchor="t" anchorCtr="0"/>
          <a:lstStyle/>
          <a:p>
            <a:pPr eaLnBrk="1" hangingPunct="1"/>
            <a:r>
              <a:rPr lang="zh-CN" altLang="en-US" dirty="0"/>
              <a:t>访存和取指都需要存储器端口</a:t>
            </a:r>
            <a:endParaRPr lang="zh-CN" altLang="en-US" dirty="0"/>
          </a:p>
          <a:p>
            <a:pPr lvl="1" eaLnBrk="1" hangingPunct="1"/>
            <a:r>
              <a:rPr lang="en-US" altLang="zh-CN" dirty="0"/>
              <a:t>Havard</a:t>
            </a:r>
            <a:r>
              <a:rPr lang="zh-CN" altLang="en-US" dirty="0"/>
              <a:t>结构</a:t>
            </a:r>
            <a:endParaRPr lang="zh-CN" altLang="en-US" dirty="0"/>
          </a:p>
        </p:txBody>
      </p:sp>
      <p:grpSp>
        <p:nvGrpSpPr>
          <p:cNvPr id="32775" name="Group 24"/>
          <p:cNvGrpSpPr/>
          <p:nvPr/>
        </p:nvGrpSpPr>
        <p:grpSpPr>
          <a:xfrm>
            <a:off x="3331519" y="2071688"/>
            <a:ext cx="8021122" cy="2076450"/>
            <a:chOff x="1958" y="741"/>
            <a:chExt cx="3790" cy="1308"/>
          </a:xfrm>
        </p:grpSpPr>
        <p:graphicFrame>
          <p:nvGraphicFramePr>
            <p:cNvPr id="32785" name="Object 7"/>
            <p:cNvGraphicFramePr/>
            <p:nvPr/>
          </p:nvGraphicFramePr>
          <p:xfrm>
            <a:off x="1958" y="741"/>
            <a:ext cx="2441" cy="382"/>
          </p:xfrm>
          <a:graphic>
            <a:graphicData uri="http://schemas.openxmlformats.org/presentationml/2006/ole">
              <mc:AlternateContent xmlns:mc="http://schemas.openxmlformats.org/markup-compatibility/2006">
                <mc:Choice xmlns:v="urn:schemas-microsoft-com:vml" Requires="v">
                  <p:oleObj spid="_x0000_s6145" name="" r:id="rId1" imgW="3315970" imgH="445770" progId="Word.Document.8">
                    <p:embed/>
                  </p:oleObj>
                </mc:Choice>
                <mc:Fallback>
                  <p:oleObj name="" r:id="rId1" imgW="3315970" imgH="445770" progId="Word.Document.8">
                    <p:embed/>
                    <p:pic>
                      <p:nvPicPr>
                        <p:cNvPr id="0" name="图片 6144" descr="image23"/>
                        <p:cNvPicPr/>
                        <p:nvPr/>
                      </p:nvPicPr>
                      <p:blipFill>
                        <a:blip r:embed="rId2"/>
                        <a:stretch>
                          <a:fillRect/>
                        </a:stretch>
                      </p:blipFill>
                      <p:spPr>
                        <a:xfrm>
                          <a:off x="1958" y="741"/>
                          <a:ext cx="2441" cy="382"/>
                        </a:xfrm>
                        <a:prstGeom prst="rect">
                          <a:avLst/>
                        </a:prstGeom>
                        <a:noFill/>
                        <a:ln w="38100">
                          <a:noFill/>
                        </a:ln>
                      </p:spPr>
                    </p:pic>
                  </p:oleObj>
                </mc:Fallback>
              </mc:AlternateContent>
            </a:graphicData>
          </a:graphic>
        </p:graphicFrame>
        <p:graphicFrame>
          <p:nvGraphicFramePr>
            <p:cNvPr id="32786" name="Object 8"/>
            <p:cNvGraphicFramePr/>
            <p:nvPr/>
          </p:nvGraphicFramePr>
          <p:xfrm>
            <a:off x="2295" y="965"/>
            <a:ext cx="2441" cy="381"/>
          </p:xfrm>
          <a:graphic>
            <a:graphicData uri="http://schemas.openxmlformats.org/presentationml/2006/ole">
              <mc:AlternateContent xmlns:mc="http://schemas.openxmlformats.org/markup-compatibility/2006">
                <mc:Choice xmlns:v="urn:schemas-microsoft-com:vml" Requires="v">
                  <p:oleObj spid="_x0000_s6146" name="" r:id="rId3" imgW="3315970" imgH="445770" progId="Word.Document.8">
                    <p:embed/>
                  </p:oleObj>
                </mc:Choice>
                <mc:Fallback>
                  <p:oleObj name="" r:id="rId3" imgW="3315970" imgH="445770" progId="Word.Document.8">
                    <p:embed/>
                    <p:pic>
                      <p:nvPicPr>
                        <p:cNvPr id="0" name="图片 6145" descr="image23"/>
                        <p:cNvPicPr/>
                        <p:nvPr/>
                      </p:nvPicPr>
                      <p:blipFill>
                        <a:blip r:embed="rId2"/>
                        <a:stretch>
                          <a:fillRect/>
                        </a:stretch>
                      </p:blipFill>
                      <p:spPr>
                        <a:xfrm>
                          <a:off x="2295" y="965"/>
                          <a:ext cx="2441" cy="381"/>
                        </a:xfrm>
                        <a:prstGeom prst="rect">
                          <a:avLst/>
                        </a:prstGeom>
                        <a:noFill/>
                        <a:ln w="38100">
                          <a:noFill/>
                        </a:ln>
                      </p:spPr>
                    </p:pic>
                  </p:oleObj>
                </mc:Fallback>
              </mc:AlternateContent>
            </a:graphicData>
          </a:graphic>
        </p:graphicFrame>
        <p:graphicFrame>
          <p:nvGraphicFramePr>
            <p:cNvPr id="32787" name="Object 9"/>
            <p:cNvGraphicFramePr/>
            <p:nvPr/>
          </p:nvGraphicFramePr>
          <p:xfrm>
            <a:off x="2631" y="1201"/>
            <a:ext cx="2441" cy="382"/>
          </p:xfrm>
          <a:graphic>
            <a:graphicData uri="http://schemas.openxmlformats.org/presentationml/2006/ole">
              <mc:AlternateContent xmlns:mc="http://schemas.openxmlformats.org/markup-compatibility/2006">
                <mc:Choice xmlns:v="urn:schemas-microsoft-com:vml" Requires="v">
                  <p:oleObj spid="_x0000_s6147" name="" r:id="rId4" imgW="3315970" imgH="445770" progId="Word.Document.8">
                    <p:embed/>
                  </p:oleObj>
                </mc:Choice>
                <mc:Fallback>
                  <p:oleObj name="" r:id="rId4" imgW="3315970" imgH="445770" progId="Word.Document.8">
                    <p:embed/>
                    <p:pic>
                      <p:nvPicPr>
                        <p:cNvPr id="0" name="图片 6146" descr="image23"/>
                        <p:cNvPicPr/>
                        <p:nvPr/>
                      </p:nvPicPr>
                      <p:blipFill>
                        <a:blip r:embed="rId2"/>
                        <a:stretch>
                          <a:fillRect/>
                        </a:stretch>
                      </p:blipFill>
                      <p:spPr>
                        <a:xfrm>
                          <a:off x="2631" y="1201"/>
                          <a:ext cx="2441" cy="382"/>
                        </a:xfrm>
                        <a:prstGeom prst="rect">
                          <a:avLst/>
                        </a:prstGeom>
                        <a:noFill/>
                        <a:ln w="38100">
                          <a:noFill/>
                        </a:ln>
                      </p:spPr>
                    </p:pic>
                  </p:oleObj>
                </mc:Fallback>
              </mc:AlternateContent>
            </a:graphicData>
          </a:graphic>
        </p:graphicFrame>
        <p:graphicFrame>
          <p:nvGraphicFramePr>
            <p:cNvPr id="32788" name="Object 10"/>
            <p:cNvGraphicFramePr/>
            <p:nvPr/>
          </p:nvGraphicFramePr>
          <p:xfrm>
            <a:off x="3307" y="1667"/>
            <a:ext cx="2441" cy="382"/>
          </p:xfrm>
          <a:graphic>
            <a:graphicData uri="http://schemas.openxmlformats.org/presentationml/2006/ole">
              <mc:AlternateContent xmlns:mc="http://schemas.openxmlformats.org/markup-compatibility/2006">
                <mc:Choice xmlns:v="urn:schemas-microsoft-com:vml" Requires="v">
                  <p:oleObj spid="_x0000_s6148" name="" r:id="rId5" imgW="3315970" imgH="445770" progId="Word.Document.8">
                    <p:embed/>
                  </p:oleObj>
                </mc:Choice>
                <mc:Fallback>
                  <p:oleObj name="" r:id="rId5" imgW="3315970" imgH="445770" progId="Word.Document.8">
                    <p:embed/>
                    <p:pic>
                      <p:nvPicPr>
                        <p:cNvPr id="0" name="图片 6147" descr="image23"/>
                        <p:cNvPicPr/>
                        <p:nvPr/>
                      </p:nvPicPr>
                      <p:blipFill>
                        <a:blip r:embed="rId2"/>
                        <a:stretch>
                          <a:fillRect/>
                        </a:stretch>
                      </p:blipFill>
                      <p:spPr>
                        <a:xfrm>
                          <a:off x="3307" y="1667"/>
                          <a:ext cx="2441" cy="382"/>
                        </a:xfrm>
                        <a:prstGeom prst="rect">
                          <a:avLst/>
                        </a:prstGeom>
                        <a:noFill/>
                        <a:ln w="38100">
                          <a:noFill/>
                        </a:ln>
                      </p:spPr>
                    </p:pic>
                  </p:oleObj>
                </mc:Fallback>
              </mc:AlternateContent>
            </a:graphicData>
          </a:graphic>
        </p:graphicFrame>
        <p:graphicFrame>
          <p:nvGraphicFramePr>
            <p:cNvPr id="32789" name="Object 11"/>
            <p:cNvGraphicFramePr/>
            <p:nvPr/>
          </p:nvGraphicFramePr>
          <p:xfrm>
            <a:off x="2968" y="1437"/>
            <a:ext cx="2441" cy="381"/>
          </p:xfrm>
          <a:graphic>
            <a:graphicData uri="http://schemas.openxmlformats.org/presentationml/2006/ole">
              <mc:AlternateContent xmlns:mc="http://schemas.openxmlformats.org/markup-compatibility/2006">
                <mc:Choice xmlns:v="urn:schemas-microsoft-com:vml" Requires="v">
                  <p:oleObj spid="_x0000_s6149" name="" r:id="rId6" imgW="3315970" imgH="445770" progId="Word.Document.8">
                    <p:embed/>
                  </p:oleObj>
                </mc:Choice>
                <mc:Fallback>
                  <p:oleObj name="" r:id="rId6" imgW="3315970" imgH="445770" progId="Word.Document.8">
                    <p:embed/>
                    <p:pic>
                      <p:nvPicPr>
                        <p:cNvPr id="0" name="图片 6148" descr="image23"/>
                        <p:cNvPicPr/>
                        <p:nvPr/>
                      </p:nvPicPr>
                      <p:blipFill>
                        <a:blip r:embed="rId2"/>
                        <a:stretch>
                          <a:fillRect/>
                        </a:stretch>
                      </p:blipFill>
                      <p:spPr>
                        <a:xfrm>
                          <a:off x="2968" y="1437"/>
                          <a:ext cx="2441" cy="381"/>
                        </a:xfrm>
                        <a:prstGeom prst="rect">
                          <a:avLst/>
                        </a:prstGeom>
                        <a:noFill/>
                        <a:ln w="38100">
                          <a:noFill/>
                        </a:ln>
                      </p:spPr>
                    </p:pic>
                  </p:oleObj>
                </mc:Fallback>
              </mc:AlternateContent>
            </a:graphicData>
          </a:graphic>
        </p:graphicFrame>
      </p:grpSp>
      <p:sp>
        <p:nvSpPr>
          <p:cNvPr id="32776" name="Rectangle 16"/>
          <p:cNvSpPr/>
          <p:nvPr/>
        </p:nvSpPr>
        <p:spPr>
          <a:xfrm>
            <a:off x="3246863" y="2017714"/>
            <a:ext cx="1784118" cy="2314575"/>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buNone/>
            </a:pPr>
            <a:r>
              <a:rPr lang="en-US" altLang="zh-CN" b="1" dirty="0"/>
              <a:t>load</a:t>
            </a:r>
            <a:endParaRPr lang="en-US" altLang="zh-CN" b="1" dirty="0"/>
          </a:p>
          <a:p>
            <a:pPr marL="342900" lvl="0" indent="-342900" eaLnBrk="1" hangingPunct="1">
              <a:lnSpc>
                <a:spcPct val="110000"/>
              </a:lnSpc>
              <a:spcBef>
                <a:spcPct val="10000"/>
              </a:spcBef>
              <a:buNone/>
            </a:pPr>
            <a:r>
              <a:rPr lang="en-US" altLang="zh-CN" b="1" dirty="0"/>
              <a:t>inst1</a:t>
            </a:r>
            <a:endParaRPr lang="en-US" altLang="zh-CN" b="1" dirty="0"/>
          </a:p>
          <a:p>
            <a:pPr marL="342900" lvl="0" indent="-342900" eaLnBrk="1" hangingPunct="1">
              <a:lnSpc>
                <a:spcPct val="110000"/>
              </a:lnSpc>
              <a:spcBef>
                <a:spcPct val="10000"/>
              </a:spcBef>
              <a:buNone/>
            </a:pPr>
            <a:r>
              <a:rPr lang="en-US" altLang="zh-CN" b="1" dirty="0"/>
              <a:t>inst2</a:t>
            </a:r>
            <a:endParaRPr lang="en-US" altLang="zh-CN" b="1" dirty="0"/>
          </a:p>
          <a:p>
            <a:pPr marL="342900" lvl="0" indent="-342900" eaLnBrk="1" hangingPunct="1">
              <a:lnSpc>
                <a:spcPct val="110000"/>
              </a:lnSpc>
              <a:spcBef>
                <a:spcPct val="10000"/>
              </a:spcBef>
              <a:buNone/>
            </a:pPr>
            <a:r>
              <a:rPr lang="en-US" altLang="zh-CN" b="1" dirty="0"/>
              <a:t>inst3</a:t>
            </a:r>
            <a:endParaRPr lang="en-US" altLang="zh-CN" b="1" dirty="0"/>
          </a:p>
          <a:p>
            <a:pPr marL="342900" lvl="0" indent="-342900" eaLnBrk="1" hangingPunct="1">
              <a:lnSpc>
                <a:spcPct val="110000"/>
              </a:lnSpc>
              <a:spcBef>
                <a:spcPct val="10000"/>
              </a:spcBef>
              <a:buNone/>
            </a:pPr>
            <a:r>
              <a:rPr lang="en-US" altLang="zh-CN" b="1" dirty="0"/>
              <a:t>inst4</a:t>
            </a:r>
            <a:endParaRPr lang="en-US" altLang="zh-CN" b="1" dirty="0"/>
          </a:p>
        </p:txBody>
      </p:sp>
      <p:graphicFrame>
        <p:nvGraphicFramePr>
          <p:cNvPr id="32777" name="Object 26"/>
          <p:cNvGraphicFramePr/>
          <p:nvPr/>
        </p:nvGraphicFramePr>
        <p:xfrm>
          <a:off x="3342101" y="4518026"/>
          <a:ext cx="5166110" cy="606425"/>
        </p:xfrm>
        <a:graphic>
          <a:graphicData uri="http://schemas.openxmlformats.org/presentationml/2006/ole">
            <mc:AlternateContent xmlns:mc="http://schemas.openxmlformats.org/markup-compatibility/2006">
              <mc:Choice xmlns:v="urn:schemas-microsoft-com:vml" Requires="v">
                <p:oleObj spid="_x0000_s6150" name="" r:id="rId7" imgW="3315970" imgH="445770" progId="Word.Document.8">
                  <p:embed/>
                </p:oleObj>
              </mc:Choice>
              <mc:Fallback>
                <p:oleObj name="" r:id="rId7" imgW="3315970" imgH="445770" progId="Word.Document.8">
                  <p:embed/>
                  <p:pic>
                    <p:nvPicPr>
                      <p:cNvPr id="0" name="图片 6149" descr="image24"/>
                      <p:cNvPicPr/>
                      <p:nvPr/>
                    </p:nvPicPr>
                    <p:blipFill>
                      <a:blip r:embed="rId8"/>
                      <a:stretch>
                        <a:fillRect/>
                      </a:stretch>
                    </p:blipFill>
                    <p:spPr>
                      <a:xfrm>
                        <a:off x="3342101" y="4518026"/>
                        <a:ext cx="5166110" cy="606425"/>
                      </a:xfrm>
                      <a:prstGeom prst="rect">
                        <a:avLst/>
                      </a:prstGeom>
                      <a:noFill/>
                      <a:ln w="38100">
                        <a:noFill/>
                      </a:ln>
                    </p:spPr>
                  </p:pic>
                </p:oleObj>
              </mc:Fallback>
            </mc:AlternateContent>
          </a:graphicData>
        </a:graphic>
      </p:graphicFrame>
      <p:graphicFrame>
        <p:nvGraphicFramePr>
          <p:cNvPr id="32778" name="Object 27"/>
          <p:cNvGraphicFramePr/>
          <p:nvPr/>
        </p:nvGraphicFramePr>
        <p:xfrm>
          <a:off x="4055324" y="4873625"/>
          <a:ext cx="5166111" cy="604838"/>
        </p:xfrm>
        <a:graphic>
          <a:graphicData uri="http://schemas.openxmlformats.org/presentationml/2006/ole">
            <mc:AlternateContent xmlns:mc="http://schemas.openxmlformats.org/markup-compatibility/2006">
              <mc:Choice xmlns:v="urn:schemas-microsoft-com:vml" Requires="v">
                <p:oleObj spid="_x0000_s6151" name="" r:id="rId9" imgW="3315970" imgH="445770" progId="Word.Document.8">
                  <p:embed/>
                </p:oleObj>
              </mc:Choice>
              <mc:Fallback>
                <p:oleObj name="" r:id="rId9" imgW="3315970" imgH="445770" progId="Word.Document.8">
                  <p:embed/>
                  <p:pic>
                    <p:nvPicPr>
                      <p:cNvPr id="0" name="图片 6150" descr="image25"/>
                      <p:cNvPicPr/>
                      <p:nvPr/>
                    </p:nvPicPr>
                    <p:blipFill>
                      <a:blip r:embed="rId10"/>
                      <a:stretch>
                        <a:fillRect/>
                      </a:stretch>
                    </p:blipFill>
                    <p:spPr>
                      <a:xfrm>
                        <a:off x="4055324" y="4873625"/>
                        <a:ext cx="5166111" cy="604838"/>
                      </a:xfrm>
                      <a:prstGeom prst="rect">
                        <a:avLst/>
                      </a:prstGeom>
                      <a:noFill/>
                      <a:ln w="38100">
                        <a:noFill/>
                      </a:ln>
                    </p:spPr>
                  </p:pic>
                </p:oleObj>
              </mc:Fallback>
            </mc:AlternateContent>
          </a:graphicData>
        </a:graphic>
      </p:graphicFrame>
      <p:graphicFrame>
        <p:nvGraphicFramePr>
          <p:cNvPr id="32779" name="Object 28"/>
          <p:cNvGraphicFramePr/>
          <p:nvPr/>
        </p:nvGraphicFramePr>
        <p:xfrm>
          <a:off x="4766431" y="5248276"/>
          <a:ext cx="5166111" cy="606425"/>
        </p:xfrm>
        <a:graphic>
          <a:graphicData uri="http://schemas.openxmlformats.org/presentationml/2006/ole">
            <mc:AlternateContent xmlns:mc="http://schemas.openxmlformats.org/markup-compatibility/2006">
              <mc:Choice xmlns:v="urn:schemas-microsoft-com:vml" Requires="v">
                <p:oleObj spid="_x0000_s6152" name="" r:id="rId11" imgW="3315970" imgH="445770" progId="Word.Document.8">
                  <p:embed/>
                </p:oleObj>
              </mc:Choice>
              <mc:Fallback>
                <p:oleObj name="" r:id="rId11" imgW="3315970" imgH="445770" progId="Word.Document.8">
                  <p:embed/>
                  <p:pic>
                    <p:nvPicPr>
                      <p:cNvPr id="0" name="图片 6151" descr="image25"/>
                      <p:cNvPicPr/>
                      <p:nvPr/>
                    </p:nvPicPr>
                    <p:blipFill>
                      <a:blip r:embed="rId10"/>
                      <a:stretch>
                        <a:fillRect/>
                      </a:stretch>
                    </p:blipFill>
                    <p:spPr>
                      <a:xfrm>
                        <a:off x="4766431" y="5248276"/>
                        <a:ext cx="5166111" cy="606425"/>
                      </a:xfrm>
                      <a:prstGeom prst="rect">
                        <a:avLst/>
                      </a:prstGeom>
                      <a:noFill/>
                      <a:ln w="38100">
                        <a:noFill/>
                      </a:ln>
                    </p:spPr>
                  </p:pic>
                </p:oleObj>
              </mc:Fallback>
            </mc:AlternateContent>
          </a:graphicData>
        </a:graphic>
      </p:graphicFrame>
      <p:graphicFrame>
        <p:nvGraphicFramePr>
          <p:cNvPr id="32780" name="Object 29"/>
          <p:cNvGraphicFramePr/>
          <p:nvPr/>
        </p:nvGraphicFramePr>
        <p:xfrm>
          <a:off x="6882822" y="6426201"/>
          <a:ext cx="5166111" cy="606425"/>
        </p:xfrm>
        <a:graphic>
          <a:graphicData uri="http://schemas.openxmlformats.org/presentationml/2006/ole">
            <mc:AlternateContent xmlns:mc="http://schemas.openxmlformats.org/markup-compatibility/2006">
              <mc:Choice xmlns:v="urn:schemas-microsoft-com:vml" Requires="v">
                <p:oleObj spid="_x0000_s6153" name="" r:id="rId12" imgW="3315970" imgH="445770" progId="Word.Document.8">
                  <p:embed/>
                </p:oleObj>
              </mc:Choice>
              <mc:Fallback>
                <p:oleObj name="" r:id="rId12" imgW="3315970" imgH="445770" progId="Word.Document.8">
                  <p:embed/>
                  <p:pic>
                    <p:nvPicPr>
                      <p:cNvPr id="0" name="图片 6152" descr="image25"/>
                      <p:cNvPicPr/>
                      <p:nvPr/>
                    </p:nvPicPr>
                    <p:blipFill>
                      <a:blip r:embed="rId10"/>
                      <a:stretch>
                        <a:fillRect/>
                      </a:stretch>
                    </p:blipFill>
                    <p:spPr>
                      <a:xfrm>
                        <a:off x="6882822" y="6426201"/>
                        <a:ext cx="5166111" cy="606425"/>
                      </a:xfrm>
                      <a:prstGeom prst="rect">
                        <a:avLst/>
                      </a:prstGeom>
                      <a:noFill/>
                      <a:ln w="38100">
                        <a:noFill/>
                      </a:ln>
                    </p:spPr>
                  </p:pic>
                </p:oleObj>
              </mc:Fallback>
            </mc:AlternateContent>
          </a:graphicData>
        </a:graphic>
      </p:graphicFrame>
      <p:graphicFrame>
        <p:nvGraphicFramePr>
          <p:cNvPr id="32781" name="Object 30"/>
          <p:cNvGraphicFramePr/>
          <p:nvPr/>
        </p:nvGraphicFramePr>
        <p:xfrm>
          <a:off x="5479656" y="5603875"/>
          <a:ext cx="5166110" cy="604838"/>
        </p:xfrm>
        <a:graphic>
          <a:graphicData uri="http://schemas.openxmlformats.org/presentationml/2006/ole">
            <mc:AlternateContent xmlns:mc="http://schemas.openxmlformats.org/markup-compatibility/2006">
              <mc:Choice xmlns:v="urn:schemas-microsoft-com:vml" Requires="v">
                <p:oleObj spid="_x0000_s6154" name="" r:id="rId13" imgW="3315970" imgH="445770" progId="Word.Document.8">
                  <p:embed/>
                </p:oleObj>
              </mc:Choice>
              <mc:Fallback>
                <p:oleObj name="" r:id="rId13" imgW="3315970" imgH="445770" progId="Word.Document.8">
                  <p:embed/>
                  <p:pic>
                    <p:nvPicPr>
                      <p:cNvPr id="0" name="图片 6153" descr="image26"/>
                      <p:cNvPicPr/>
                      <p:nvPr/>
                    </p:nvPicPr>
                    <p:blipFill>
                      <a:blip r:embed="rId14"/>
                      <a:stretch>
                        <a:fillRect/>
                      </a:stretch>
                    </p:blipFill>
                    <p:spPr>
                      <a:xfrm>
                        <a:off x="5479656" y="5603875"/>
                        <a:ext cx="5166110" cy="604838"/>
                      </a:xfrm>
                      <a:prstGeom prst="rect">
                        <a:avLst/>
                      </a:prstGeom>
                      <a:noFill/>
                      <a:ln w="38100">
                        <a:noFill/>
                      </a:ln>
                    </p:spPr>
                  </p:pic>
                </p:oleObj>
              </mc:Fallback>
            </mc:AlternateContent>
          </a:graphicData>
        </a:graphic>
      </p:graphicFrame>
      <p:sp>
        <p:nvSpPr>
          <p:cNvPr id="32782" name="Rectangle 31"/>
          <p:cNvSpPr/>
          <p:nvPr/>
        </p:nvSpPr>
        <p:spPr>
          <a:xfrm>
            <a:off x="3232048" y="4464051"/>
            <a:ext cx="1784117" cy="2314575"/>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buNone/>
            </a:pPr>
            <a:r>
              <a:rPr lang="en-US" altLang="zh-CN" b="1" dirty="0"/>
              <a:t>load</a:t>
            </a:r>
            <a:endParaRPr lang="en-US" altLang="zh-CN" b="1" dirty="0"/>
          </a:p>
          <a:p>
            <a:pPr marL="342900" lvl="0" indent="-342900" eaLnBrk="1" hangingPunct="1">
              <a:lnSpc>
                <a:spcPct val="110000"/>
              </a:lnSpc>
              <a:spcBef>
                <a:spcPct val="10000"/>
              </a:spcBef>
              <a:buNone/>
            </a:pPr>
            <a:r>
              <a:rPr lang="en-US" altLang="zh-CN" b="1" dirty="0"/>
              <a:t>inst1</a:t>
            </a:r>
            <a:endParaRPr lang="en-US" altLang="zh-CN" b="1" dirty="0"/>
          </a:p>
          <a:p>
            <a:pPr marL="342900" lvl="0" indent="-342900" eaLnBrk="1" hangingPunct="1">
              <a:lnSpc>
                <a:spcPct val="110000"/>
              </a:lnSpc>
              <a:spcBef>
                <a:spcPct val="10000"/>
              </a:spcBef>
              <a:buNone/>
            </a:pPr>
            <a:r>
              <a:rPr lang="en-US" altLang="zh-CN" b="1" dirty="0"/>
              <a:t>inst2</a:t>
            </a:r>
            <a:endParaRPr lang="en-US" altLang="zh-CN" b="1" dirty="0"/>
          </a:p>
          <a:p>
            <a:pPr marL="342900" lvl="0" indent="-342900" eaLnBrk="1" hangingPunct="1">
              <a:lnSpc>
                <a:spcPct val="110000"/>
              </a:lnSpc>
              <a:spcBef>
                <a:spcPct val="10000"/>
              </a:spcBef>
              <a:buNone/>
            </a:pPr>
            <a:r>
              <a:rPr lang="en-US" altLang="zh-CN" b="1" dirty="0"/>
              <a:t>inst3</a:t>
            </a:r>
            <a:endParaRPr lang="en-US" altLang="zh-CN" b="1" dirty="0"/>
          </a:p>
          <a:p>
            <a:pPr marL="342900" lvl="0" indent="-342900" eaLnBrk="1" hangingPunct="1">
              <a:lnSpc>
                <a:spcPct val="110000"/>
              </a:lnSpc>
              <a:spcBef>
                <a:spcPct val="10000"/>
              </a:spcBef>
              <a:buNone/>
            </a:pPr>
            <a:r>
              <a:rPr lang="en-US" altLang="zh-CN" b="1" dirty="0">
                <a:solidFill>
                  <a:srgbClr val="FF0000"/>
                </a:solidFill>
              </a:rPr>
              <a:t>nop</a:t>
            </a:r>
            <a:endParaRPr lang="en-US" altLang="zh-CN" b="1" dirty="0">
              <a:solidFill>
                <a:srgbClr val="FF0000"/>
              </a:solidFill>
            </a:endParaRPr>
          </a:p>
          <a:p>
            <a:pPr marL="342900" lvl="0" indent="-342900" eaLnBrk="1" hangingPunct="1">
              <a:lnSpc>
                <a:spcPct val="110000"/>
              </a:lnSpc>
              <a:spcBef>
                <a:spcPct val="10000"/>
              </a:spcBef>
              <a:buNone/>
            </a:pPr>
            <a:r>
              <a:rPr lang="en-US" altLang="zh-CN" b="1" dirty="0"/>
              <a:t>inst4</a:t>
            </a:r>
            <a:endParaRPr lang="en-US" altLang="zh-CN" b="1" dirty="0"/>
          </a:p>
        </p:txBody>
      </p:sp>
      <p:sp>
        <p:nvSpPr>
          <p:cNvPr id="32783" name="Oval 34"/>
          <p:cNvSpPr/>
          <p:nvPr/>
        </p:nvSpPr>
        <p:spPr>
          <a:xfrm>
            <a:off x="6743140" y="1906588"/>
            <a:ext cx="882536" cy="563562"/>
          </a:xfrm>
          <a:prstGeom prst="ellipse">
            <a:avLst/>
          </a:prstGeom>
          <a:noFill/>
          <a:ln w="1905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eaLnBrk="1" hangingPunct="1">
              <a:lnSpc>
                <a:spcPct val="100000"/>
              </a:lnSpc>
              <a:spcBef>
                <a:spcPct val="50000"/>
              </a:spcBef>
              <a:buNone/>
            </a:pPr>
            <a:endParaRPr lang="zh-CN" altLang="en-US" sz="2400" dirty="0">
              <a:latin typeface="Times New Roman" pitchFamily="18" charset="0"/>
            </a:endParaRPr>
          </a:p>
        </p:txBody>
      </p:sp>
      <p:sp>
        <p:nvSpPr>
          <p:cNvPr id="32784" name="Oval 35"/>
          <p:cNvSpPr/>
          <p:nvPr/>
        </p:nvSpPr>
        <p:spPr>
          <a:xfrm>
            <a:off x="6753724" y="3038476"/>
            <a:ext cx="882534" cy="563563"/>
          </a:xfrm>
          <a:prstGeom prst="ellipse">
            <a:avLst/>
          </a:prstGeom>
          <a:noFill/>
          <a:ln w="1905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eaLnBrk="1" hangingPunct="1">
              <a:lnSpc>
                <a:spcPct val="100000"/>
              </a:lnSpc>
              <a:spcBef>
                <a:spcPct val="50000"/>
              </a:spcBef>
              <a:buNone/>
            </a:pPr>
            <a:endParaRPr lang="zh-CN" altLang="en-US" sz="2400" dirty="0">
              <a:latin typeface="Times New Roman"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33795" name="Rectangle 2"/>
          <p:cNvSpPr>
            <a:spLocks noGrp="1"/>
          </p:cNvSpPr>
          <p:nvPr>
            <p:ph type="title"/>
          </p:nvPr>
        </p:nvSpPr>
        <p:spPr>
          <a:xfrm>
            <a:off x="848992" y="300038"/>
            <a:ext cx="10361851" cy="646112"/>
          </a:xfrm>
        </p:spPr>
        <p:txBody>
          <a:bodyPr vert="horz" wrap="square" lIns="91440" tIns="45720" rIns="91440" bIns="45720" anchor="ctr" anchorCtr="0"/>
          <a:lstStyle/>
          <a:p>
            <a:pPr eaLnBrk="1" hangingPunct="1"/>
            <a:r>
              <a:rPr lang="zh-CN" altLang="en-US" dirty="0"/>
              <a:t>数据相关</a:t>
            </a:r>
            <a:endParaRPr lang="zh-CN" altLang="en-US" dirty="0"/>
          </a:p>
        </p:txBody>
      </p:sp>
      <p:sp>
        <p:nvSpPr>
          <p:cNvPr id="33796" name="Rectangle 3"/>
          <p:cNvSpPr>
            <a:spLocks noGrp="1"/>
          </p:cNvSpPr>
          <p:nvPr>
            <p:ph idx="1"/>
          </p:nvPr>
        </p:nvSpPr>
        <p:spPr>
          <a:xfrm>
            <a:off x="518835" y="1387475"/>
            <a:ext cx="10740684" cy="4572000"/>
          </a:xfrm>
        </p:spPr>
        <p:txBody>
          <a:bodyPr vert="horz" wrap="square" lIns="91440" tIns="45720" rIns="91440" bIns="45720" anchor="t" anchorCtr="0"/>
          <a:lstStyle/>
          <a:p>
            <a:pPr eaLnBrk="1" hangingPunct="1"/>
            <a:r>
              <a:rPr lang="en-US" altLang="zh-CN" dirty="0"/>
              <a:t>RAW(Read After Write)</a:t>
            </a:r>
            <a:endParaRPr lang="en-US" altLang="zh-CN" dirty="0"/>
          </a:p>
          <a:p>
            <a:pPr lvl="1" eaLnBrk="1" hangingPunct="1"/>
            <a:r>
              <a:rPr lang="zh-CN" altLang="en-US" dirty="0"/>
              <a:t>后面指令用到前面指令所写的数据</a:t>
            </a:r>
            <a:endParaRPr lang="zh-CN" altLang="en-US" dirty="0"/>
          </a:p>
          <a:p>
            <a:pPr eaLnBrk="1" hangingPunct="1"/>
            <a:r>
              <a:rPr lang="en-US" altLang="zh-CN" dirty="0"/>
              <a:t>WAW(Write After Write)</a:t>
            </a:r>
            <a:endParaRPr lang="en-US" altLang="zh-CN" dirty="0"/>
          </a:p>
          <a:p>
            <a:pPr lvl="1" eaLnBrk="1" hangingPunct="1"/>
            <a:r>
              <a:rPr lang="zh-CN" altLang="en-US" dirty="0"/>
              <a:t>两条指令写同一个单元</a:t>
            </a:r>
            <a:endParaRPr lang="zh-CN" altLang="en-US" dirty="0"/>
          </a:p>
          <a:p>
            <a:pPr lvl="1" eaLnBrk="1" hangingPunct="1"/>
            <a:r>
              <a:rPr lang="zh-CN" altLang="en-US" dirty="0"/>
              <a:t>在简单流水线中没有此类相关，因为不会乱序执行</a:t>
            </a:r>
            <a:endParaRPr lang="zh-CN" altLang="en-US" sz="1800" dirty="0"/>
          </a:p>
          <a:p>
            <a:pPr eaLnBrk="1" hangingPunct="1"/>
            <a:r>
              <a:rPr lang="en-US" altLang="zh-CN" dirty="0"/>
              <a:t>WAR(Write After Read)</a:t>
            </a:r>
            <a:endParaRPr lang="en-US" altLang="zh-CN" dirty="0"/>
          </a:p>
          <a:p>
            <a:pPr lvl="1" eaLnBrk="1" hangingPunct="1"/>
            <a:r>
              <a:rPr lang="zh-CN" altLang="en-US" dirty="0"/>
              <a:t>后面指令覆盖前面指令所读的单元</a:t>
            </a:r>
            <a:endParaRPr lang="zh-CN" altLang="en-US" dirty="0"/>
          </a:p>
          <a:p>
            <a:pPr lvl="1" eaLnBrk="1" hangingPunct="1"/>
            <a:r>
              <a:rPr lang="zh-CN" altLang="en-US" dirty="0"/>
              <a:t>在简单流水线中没有此类相关</a:t>
            </a:r>
            <a:endParaRPr lang="zh-CN" altLang="en-US" sz="1800" dirty="0"/>
          </a:p>
          <a:p>
            <a:pPr eaLnBrk="1" hangingPunct="1"/>
            <a:r>
              <a:rPr lang="zh-CN" altLang="en-US" dirty="0"/>
              <a:t>在动态流水线中会有</a:t>
            </a:r>
            <a:r>
              <a:rPr lang="en-US" altLang="zh-CN" dirty="0"/>
              <a:t>WAR</a:t>
            </a:r>
            <a:r>
              <a:rPr lang="zh-CN" altLang="en-US" dirty="0"/>
              <a:t>和</a:t>
            </a:r>
            <a:r>
              <a:rPr lang="en-US" altLang="zh-CN" dirty="0"/>
              <a:t>WAW</a:t>
            </a:r>
            <a:r>
              <a:rPr lang="zh-CN" altLang="en-US" dirty="0"/>
              <a:t>相关</a:t>
            </a:r>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7"/>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34819" name="Rectangle 2"/>
          <p:cNvSpPr>
            <a:spLocks noGrp="1"/>
          </p:cNvSpPr>
          <p:nvPr>
            <p:ph type="title"/>
          </p:nvPr>
        </p:nvSpPr>
        <p:spPr/>
        <p:txBody>
          <a:bodyPr vert="horz" wrap="square" lIns="91440" tIns="45720" rIns="91440" bIns="45720" anchor="ctr" anchorCtr="0"/>
          <a:lstStyle/>
          <a:p>
            <a:pPr eaLnBrk="1" hangingPunct="1"/>
            <a:r>
              <a:rPr lang="zh-CN" altLang="en-US" dirty="0"/>
              <a:t>数据相关的例子</a:t>
            </a:r>
            <a:endParaRPr lang="zh-CN" altLang="en-US" dirty="0"/>
          </a:p>
        </p:txBody>
      </p:sp>
      <p:sp>
        <p:nvSpPr>
          <p:cNvPr id="34820" name="Rectangle 3"/>
          <p:cNvSpPr>
            <a:spLocks noGrp="1"/>
          </p:cNvSpPr>
          <p:nvPr>
            <p:ph type="body" sz="half" idx="1"/>
          </p:nvPr>
        </p:nvSpPr>
        <p:spPr>
          <a:xfrm>
            <a:off x="618304" y="2095501"/>
            <a:ext cx="3972467" cy="2817813"/>
          </a:xfrm>
        </p:spPr>
        <p:txBody>
          <a:bodyPr vert="horz" wrap="square" lIns="91440" tIns="45720" rIns="91440" bIns="45720" anchor="t" anchorCtr="0"/>
          <a:lstStyle/>
          <a:p>
            <a:pPr eaLnBrk="1" hangingPunct="1">
              <a:lnSpc>
                <a:spcPct val="125000"/>
              </a:lnSpc>
              <a:spcBef>
                <a:spcPct val="20000"/>
              </a:spcBef>
              <a:buClrTx/>
              <a:buSzTx/>
              <a:buFontTx/>
              <a:buNone/>
            </a:pPr>
            <a:r>
              <a:rPr lang="en-US" altLang="zh-CN" dirty="0"/>
              <a:t>ADD.W   </a:t>
            </a:r>
            <a:r>
              <a:rPr lang="en-US" altLang="zh-CN" dirty="0">
                <a:solidFill>
                  <a:srgbClr val="FF0000"/>
                </a:solidFill>
              </a:rPr>
              <a:t>r1</a:t>
            </a:r>
            <a:r>
              <a:rPr lang="en-US" altLang="zh-CN" dirty="0"/>
              <a:t>, r2, r3</a:t>
            </a:r>
            <a:endParaRPr lang="en-US" altLang="zh-CN" dirty="0"/>
          </a:p>
          <a:p>
            <a:pPr>
              <a:lnSpc>
                <a:spcPct val="125000"/>
              </a:lnSpc>
              <a:spcBef>
                <a:spcPct val="20000"/>
              </a:spcBef>
              <a:buClrTx/>
              <a:buSzTx/>
              <a:buFontTx/>
              <a:buNone/>
            </a:pPr>
            <a:r>
              <a:rPr lang="en-US" altLang="zh-CN" dirty="0"/>
              <a:t>SUB.W   r4, </a:t>
            </a:r>
            <a:r>
              <a:rPr lang="en-US" altLang="zh-CN" dirty="0">
                <a:solidFill>
                  <a:srgbClr val="FF0000"/>
                </a:solidFill>
              </a:rPr>
              <a:t>r1</a:t>
            </a:r>
            <a:r>
              <a:rPr lang="en-US" altLang="zh-CN" dirty="0"/>
              <a:t>, r3</a:t>
            </a:r>
            <a:endParaRPr lang="en-US" altLang="zh-CN" dirty="0"/>
          </a:p>
          <a:p>
            <a:pPr eaLnBrk="1" hangingPunct="1">
              <a:lnSpc>
                <a:spcPct val="125000"/>
              </a:lnSpc>
              <a:spcBef>
                <a:spcPct val="20000"/>
              </a:spcBef>
              <a:buClrTx/>
              <a:buSzTx/>
              <a:buFontTx/>
              <a:buNone/>
            </a:pPr>
            <a:r>
              <a:rPr lang="en-US" altLang="zh-CN" dirty="0"/>
              <a:t>AND     </a:t>
            </a:r>
            <a:r>
              <a:rPr lang="en-US" altLang="zh-CN" dirty="0" smtClean="0"/>
              <a:t>r6</a:t>
            </a:r>
            <a:r>
              <a:rPr lang="en-US" altLang="zh-CN" dirty="0"/>
              <a:t>, </a:t>
            </a:r>
            <a:r>
              <a:rPr lang="en-US" altLang="zh-CN" dirty="0">
                <a:solidFill>
                  <a:srgbClr val="FF0000"/>
                </a:solidFill>
              </a:rPr>
              <a:t>r1</a:t>
            </a:r>
            <a:r>
              <a:rPr lang="en-US" altLang="zh-CN" dirty="0"/>
              <a:t>, r7</a:t>
            </a:r>
            <a:endParaRPr lang="en-US" altLang="zh-CN" dirty="0"/>
          </a:p>
          <a:p>
            <a:pPr eaLnBrk="1" hangingPunct="1">
              <a:lnSpc>
                <a:spcPct val="125000"/>
              </a:lnSpc>
              <a:spcBef>
                <a:spcPct val="20000"/>
              </a:spcBef>
              <a:buClrTx/>
              <a:buSzTx/>
              <a:buFontTx/>
              <a:buNone/>
            </a:pPr>
            <a:r>
              <a:rPr lang="en-US" altLang="zh-CN" dirty="0"/>
              <a:t>OR      </a:t>
            </a:r>
            <a:r>
              <a:rPr lang="en-US" altLang="zh-CN" dirty="0" smtClean="0"/>
              <a:t>r8</a:t>
            </a:r>
            <a:r>
              <a:rPr lang="en-US" altLang="zh-CN" dirty="0"/>
              <a:t>, </a:t>
            </a:r>
            <a:r>
              <a:rPr lang="en-US" altLang="zh-CN" dirty="0">
                <a:solidFill>
                  <a:srgbClr val="FF0000"/>
                </a:solidFill>
              </a:rPr>
              <a:t>r1</a:t>
            </a:r>
            <a:r>
              <a:rPr lang="en-US" altLang="zh-CN" dirty="0"/>
              <a:t>, r9</a:t>
            </a:r>
            <a:endParaRPr lang="en-US" altLang="zh-CN" dirty="0"/>
          </a:p>
          <a:p>
            <a:pPr eaLnBrk="1" hangingPunct="1">
              <a:lnSpc>
                <a:spcPct val="125000"/>
              </a:lnSpc>
              <a:spcBef>
                <a:spcPct val="20000"/>
              </a:spcBef>
              <a:buClrTx/>
              <a:buSzTx/>
              <a:buFontTx/>
              <a:buNone/>
            </a:pPr>
            <a:r>
              <a:rPr lang="en-US" altLang="zh-CN" dirty="0"/>
              <a:t>XOR     </a:t>
            </a:r>
            <a:r>
              <a:rPr lang="en-US" altLang="zh-CN" dirty="0" smtClean="0"/>
              <a:t>r10, </a:t>
            </a:r>
            <a:r>
              <a:rPr lang="en-US" altLang="zh-CN" dirty="0" smtClean="0">
                <a:solidFill>
                  <a:schemeClr val="accent2"/>
                </a:solidFill>
              </a:rPr>
              <a:t>r1</a:t>
            </a:r>
            <a:r>
              <a:rPr lang="en-US" altLang="zh-CN" dirty="0" smtClean="0"/>
              <a:t>, r11</a:t>
            </a:r>
            <a:endParaRPr lang="en-US" altLang="zh-CN" dirty="0"/>
          </a:p>
        </p:txBody>
      </p:sp>
      <p:grpSp>
        <p:nvGrpSpPr>
          <p:cNvPr id="34821" name="Group 110"/>
          <p:cNvGrpSpPr/>
          <p:nvPr/>
        </p:nvGrpSpPr>
        <p:grpSpPr>
          <a:xfrm>
            <a:off x="3687072" y="2205038"/>
            <a:ext cx="8021122" cy="2438400"/>
            <a:chOff x="1742" y="1017"/>
            <a:chExt cx="3790" cy="1536"/>
          </a:xfrm>
        </p:grpSpPr>
        <p:grpSp>
          <p:nvGrpSpPr>
            <p:cNvPr id="34822" name="Group 107"/>
            <p:cNvGrpSpPr/>
            <p:nvPr/>
          </p:nvGrpSpPr>
          <p:grpSpPr>
            <a:xfrm>
              <a:off x="1742" y="1017"/>
              <a:ext cx="3790" cy="1536"/>
              <a:chOff x="1838" y="873"/>
              <a:chExt cx="3790" cy="1536"/>
            </a:xfrm>
          </p:grpSpPr>
          <p:graphicFrame>
            <p:nvGraphicFramePr>
              <p:cNvPr id="34827" name="Object 99"/>
              <p:cNvGraphicFramePr/>
              <p:nvPr/>
            </p:nvGraphicFramePr>
            <p:xfrm>
              <a:off x="1838" y="873"/>
              <a:ext cx="2441" cy="382"/>
            </p:xfrm>
            <a:graphic>
              <a:graphicData uri="http://schemas.openxmlformats.org/presentationml/2006/ole">
                <mc:AlternateContent xmlns:mc="http://schemas.openxmlformats.org/markup-compatibility/2006">
                  <mc:Choice xmlns:v="urn:schemas-microsoft-com:vml" Requires="v">
                    <p:oleObj spid="_x0000_s7169" name="" r:id="rId1" imgW="12439650" imgH="1666875" progId="Word.Document.8">
                      <p:embed/>
                    </p:oleObj>
                  </mc:Choice>
                  <mc:Fallback>
                    <p:oleObj name="" r:id="rId1" imgW="12439650" imgH="1666875" progId="Word.Document.8">
                      <p:embed/>
                      <p:pic>
                        <p:nvPicPr>
                          <p:cNvPr id="0" name="图片 7168" descr="image18"/>
                          <p:cNvPicPr/>
                          <p:nvPr/>
                        </p:nvPicPr>
                        <p:blipFill>
                          <a:blip r:embed="rId2"/>
                          <a:stretch>
                            <a:fillRect/>
                          </a:stretch>
                        </p:blipFill>
                        <p:spPr>
                          <a:xfrm>
                            <a:off x="1838" y="873"/>
                            <a:ext cx="2441" cy="382"/>
                          </a:xfrm>
                          <a:prstGeom prst="rect">
                            <a:avLst/>
                          </a:prstGeom>
                          <a:noFill/>
                          <a:ln w="38100">
                            <a:noFill/>
                          </a:ln>
                        </p:spPr>
                      </p:pic>
                    </p:oleObj>
                  </mc:Fallback>
                </mc:AlternateContent>
              </a:graphicData>
            </a:graphic>
          </p:graphicFrame>
          <p:graphicFrame>
            <p:nvGraphicFramePr>
              <p:cNvPr id="34828" name="Object 100"/>
              <p:cNvGraphicFramePr/>
              <p:nvPr/>
            </p:nvGraphicFramePr>
            <p:xfrm>
              <a:off x="2175" y="1169"/>
              <a:ext cx="2441" cy="381"/>
            </p:xfrm>
            <a:graphic>
              <a:graphicData uri="http://schemas.openxmlformats.org/presentationml/2006/ole">
                <mc:AlternateContent xmlns:mc="http://schemas.openxmlformats.org/markup-compatibility/2006">
                  <mc:Choice xmlns:v="urn:schemas-microsoft-com:vml" Requires="v">
                    <p:oleObj spid="_x0000_s7170" name="" r:id="rId3" imgW="12439650" imgH="1666875" progId="Word.Document.8">
                      <p:embed/>
                    </p:oleObj>
                  </mc:Choice>
                  <mc:Fallback>
                    <p:oleObj name="" r:id="rId3" imgW="12439650" imgH="1666875" progId="Word.Document.8">
                      <p:embed/>
                      <p:pic>
                        <p:nvPicPr>
                          <p:cNvPr id="0" name="图片 7169" descr="image19"/>
                          <p:cNvPicPr/>
                          <p:nvPr/>
                        </p:nvPicPr>
                        <p:blipFill>
                          <a:blip r:embed="rId4"/>
                          <a:stretch>
                            <a:fillRect/>
                          </a:stretch>
                        </p:blipFill>
                        <p:spPr>
                          <a:xfrm>
                            <a:off x="2175" y="1169"/>
                            <a:ext cx="2441" cy="381"/>
                          </a:xfrm>
                          <a:prstGeom prst="rect">
                            <a:avLst/>
                          </a:prstGeom>
                          <a:noFill/>
                          <a:ln w="38100">
                            <a:noFill/>
                          </a:ln>
                        </p:spPr>
                      </p:pic>
                    </p:oleObj>
                  </mc:Fallback>
                </mc:AlternateContent>
              </a:graphicData>
            </a:graphic>
          </p:graphicFrame>
          <p:graphicFrame>
            <p:nvGraphicFramePr>
              <p:cNvPr id="34829" name="Object 101"/>
              <p:cNvGraphicFramePr/>
              <p:nvPr/>
            </p:nvGraphicFramePr>
            <p:xfrm>
              <a:off x="2511" y="1453"/>
              <a:ext cx="2441" cy="382"/>
            </p:xfrm>
            <a:graphic>
              <a:graphicData uri="http://schemas.openxmlformats.org/presentationml/2006/ole">
                <mc:AlternateContent xmlns:mc="http://schemas.openxmlformats.org/markup-compatibility/2006">
                  <mc:Choice xmlns:v="urn:schemas-microsoft-com:vml" Requires="v">
                    <p:oleObj spid="_x0000_s7171" name="" r:id="rId5" imgW="12439650" imgH="1666875" progId="Word.Document.8">
                      <p:embed/>
                    </p:oleObj>
                  </mc:Choice>
                  <mc:Fallback>
                    <p:oleObj name="" r:id="rId5" imgW="12439650" imgH="1666875" progId="Word.Document.8">
                      <p:embed/>
                      <p:pic>
                        <p:nvPicPr>
                          <p:cNvPr id="0" name="图片 7170" descr="image20"/>
                          <p:cNvPicPr/>
                          <p:nvPr/>
                        </p:nvPicPr>
                        <p:blipFill>
                          <a:blip r:embed="rId6"/>
                          <a:stretch>
                            <a:fillRect/>
                          </a:stretch>
                        </p:blipFill>
                        <p:spPr>
                          <a:xfrm>
                            <a:off x="2511" y="1453"/>
                            <a:ext cx="2441" cy="382"/>
                          </a:xfrm>
                          <a:prstGeom prst="rect">
                            <a:avLst/>
                          </a:prstGeom>
                          <a:noFill/>
                          <a:ln w="38100">
                            <a:noFill/>
                          </a:ln>
                        </p:spPr>
                      </p:pic>
                    </p:oleObj>
                  </mc:Fallback>
                </mc:AlternateContent>
              </a:graphicData>
            </a:graphic>
          </p:graphicFrame>
          <p:graphicFrame>
            <p:nvGraphicFramePr>
              <p:cNvPr id="34830" name="Object 102"/>
              <p:cNvGraphicFramePr/>
              <p:nvPr/>
            </p:nvGraphicFramePr>
            <p:xfrm>
              <a:off x="3187" y="2027"/>
              <a:ext cx="2441" cy="382"/>
            </p:xfrm>
            <a:graphic>
              <a:graphicData uri="http://schemas.openxmlformats.org/presentationml/2006/ole">
                <mc:AlternateContent xmlns:mc="http://schemas.openxmlformats.org/markup-compatibility/2006">
                  <mc:Choice xmlns:v="urn:schemas-microsoft-com:vml" Requires="v">
                    <p:oleObj spid="_x0000_s7172" name="" r:id="rId7" imgW="12439650" imgH="1666875" progId="Word.Document.8">
                      <p:embed/>
                    </p:oleObj>
                  </mc:Choice>
                  <mc:Fallback>
                    <p:oleObj name="" r:id="rId7" imgW="12439650" imgH="1666875" progId="Word.Document.8">
                      <p:embed/>
                      <p:pic>
                        <p:nvPicPr>
                          <p:cNvPr id="0" name="图片 7171" descr="image21"/>
                          <p:cNvPicPr/>
                          <p:nvPr/>
                        </p:nvPicPr>
                        <p:blipFill>
                          <a:blip r:embed="rId8"/>
                          <a:stretch>
                            <a:fillRect/>
                          </a:stretch>
                        </p:blipFill>
                        <p:spPr>
                          <a:xfrm>
                            <a:off x="3187" y="2027"/>
                            <a:ext cx="2441" cy="382"/>
                          </a:xfrm>
                          <a:prstGeom prst="rect">
                            <a:avLst/>
                          </a:prstGeom>
                          <a:noFill/>
                          <a:ln w="38100">
                            <a:noFill/>
                          </a:ln>
                        </p:spPr>
                      </p:pic>
                    </p:oleObj>
                  </mc:Fallback>
                </mc:AlternateContent>
              </a:graphicData>
            </a:graphic>
          </p:graphicFrame>
          <p:graphicFrame>
            <p:nvGraphicFramePr>
              <p:cNvPr id="34831" name="Object 103"/>
              <p:cNvGraphicFramePr/>
              <p:nvPr/>
            </p:nvGraphicFramePr>
            <p:xfrm>
              <a:off x="2848" y="1749"/>
              <a:ext cx="2441" cy="381"/>
            </p:xfrm>
            <a:graphic>
              <a:graphicData uri="http://schemas.openxmlformats.org/presentationml/2006/ole">
                <mc:AlternateContent xmlns:mc="http://schemas.openxmlformats.org/markup-compatibility/2006">
                  <mc:Choice xmlns:v="urn:schemas-microsoft-com:vml" Requires="v">
                    <p:oleObj spid="_x0000_s7173" name="" r:id="rId9" imgW="12439650" imgH="1666875" progId="Word.Document.8">
                      <p:embed/>
                    </p:oleObj>
                  </mc:Choice>
                  <mc:Fallback>
                    <p:oleObj name="" r:id="rId9" imgW="12439650" imgH="1666875" progId="Word.Document.8">
                      <p:embed/>
                      <p:pic>
                        <p:nvPicPr>
                          <p:cNvPr id="0" name="图片 7172" descr="image22"/>
                          <p:cNvPicPr/>
                          <p:nvPr/>
                        </p:nvPicPr>
                        <p:blipFill>
                          <a:blip r:embed="rId10"/>
                          <a:stretch>
                            <a:fillRect/>
                          </a:stretch>
                        </p:blipFill>
                        <p:spPr>
                          <a:xfrm>
                            <a:off x="2848" y="1749"/>
                            <a:ext cx="2441" cy="381"/>
                          </a:xfrm>
                          <a:prstGeom prst="rect">
                            <a:avLst/>
                          </a:prstGeom>
                          <a:noFill/>
                          <a:ln w="38100">
                            <a:noFill/>
                          </a:ln>
                        </p:spPr>
                      </p:pic>
                    </p:oleObj>
                  </mc:Fallback>
                </mc:AlternateContent>
              </a:graphicData>
            </a:graphic>
          </p:graphicFrame>
        </p:grpSp>
        <p:sp>
          <p:nvSpPr>
            <p:cNvPr id="34823" name="Line 104"/>
            <p:cNvSpPr/>
            <p:nvPr/>
          </p:nvSpPr>
          <p:spPr>
            <a:xfrm flipH="1">
              <a:off x="3071" y="1185"/>
              <a:ext cx="1000" cy="124"/>
            </a:xfrm>
            <a:prstGeom prst="line">
              <a:avLst/>
            </a:prstGeom>
            <a:ln w="19050" cap="flat" cmpd="sng">
              <a:solidFill>
                <a:srgbClr val="FF0000"/>
              </a:solidFill>
              <a:prstDash val="solid"/>
              <a:headEnd type="none" w="med" len="med"/>
              <a:tailEnd type="triangle" w="med" len="med"/>
            </a:ln>
          </p:spPr>
        </p:sp>
        <p:sp>
          <p:nvSpPr>
            <p:cNvPr id="34824" name="Line 105"/>
            <p:cNvSpPr/>
            <p:nvPr/>
          </p:nvSpPr>
          <p:spPr>
            <a:xfrm>
              <a:off x="4071" y="1205"/>
              <a:ext cx="0" cy="967"/>
            </a:xfrm>
            <a:prstGeom prst="line">
              <a:avLst/>
            </a:prstGeom>
            <a:ln w="19050" cap="flat" cmpd="sng">
              <a:solidFill>
                <a:srgbClr val="0000FF"/>
              </a:solidFill>
              <a:prstDash val="solid"/>
              <a:headEnd type="none" w="med" len="med"/>
              <a:tailEnd type="triangle" w="med" len="med"/>
            </a:ln>
          </p:spPr>
        </p:sp>
        <p:sp>
          <p:nvSpPr>
            <p:cNvPr id="34825" name="Line 108"/>
            <p:cNvSpPr/>
            <p:nvPr/>
          </p:nvSpPr>
          <p:spPr>
            <a:xfrm flipH="1">
              <a:off x="3380" y="1189"/>
              <a:ext cx="682" cy="407"/>
            </a:xfrm>
            <a:prstGeom prst="line">
              <a:avLst/>
            </a:prstGeom>
            <a:ln w="19050" cap="flat" cmpd="sng">
              <a:solidFill>
                <a:srgbClr val="FF0000"/>
              </a:solidFill>
              <a:prstDash val="solid"/>
              <a:headEnd type="none" w="med" len="med"/>
              <a:tailEnd type="triangle" w="med" len="med"/>
            </a:ln>
          </p:spPr>
        </p:sp>
        <p:sp>
          <p:nvSpPr>
            <p:cNvPr id="34826" name="Line 109"/>
            <p:cNvSpPr/>
            <p:nvPr/>
          </p:nvSpPr>
          <p:spPr>
            <a:xfrm flipH="1">
              <a:off x="3726" y="1179"/>
              <a:ext cx="339" cy="738"/>
            </a:xfrm>
            <a:prstGeom prst="line">
              <a:avLst/>
            </a:prstGeom>
            <a:ln w="19050" cap="flat" cmpd="sng">
              <a:solidFill>
                <a:srgbClr val="FF0000"/>
              </a:solidFill>
              <a:prstDash val="solid"/>
              <a:headEnd type="none" w="med" len="med"/>
              <a:tailEnd type="triangle" w="med" len="med"/>
            </a:ln>
          </p:spPr>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35843" name="Rectangle 407"/>
          <p:cNvSpPr/>
          <p:nvPr/>
        </p:nvSpPr>
        <p:spPr>
          <a:xfrm>
            <a:off x="166688" y="144780"/>
            <a:ext cx="2472690" cy="2860040"/>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dirty="0">
                <a:latin typeface="Times New Roman" pitchFamily="18" charset="0"/>
              </a:rPr>
              <a:t>相关冲突检测</a:t>
            </a:r>
            <a:endParaRPr lang="zh-CN" altLang="en-US" dirty="0">
              <a:latin typeface="Times New Roman" pitchFamily="18" charset="0"/>
            </a:endParaRPr>
          </a:p>
          <a:p>
            <a:pPr marL="800100" lvl="1" indent="-342900" eaLnBrk="1" hangingPunct="1">
              <a:lnSpc>
                <a:spcPct val="110000"/>
              </a:lnSpc>
              <a:spcBef>
                <a:spcPct val="10000"/>
              </a:spcBef>
            </a:pP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指令寄存器中的源操作数寄存器号等于</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EX</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MEM</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WB</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阶段的目标寄存器号且寄存器号非</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0,</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则冲突（</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stall=1</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endParaRPr>
          </a:p>
        </p:txBody>
      </p:sp>
      <p:pic>
        <p:nvPicPr>
          <p:cNvPr id="35844" name="图片 2"/>
          <p:cNvPicPr>
            <a:picLocks noChangeAspect="1"/>
          </p:cNvPicPr>
          <p:nvPr/>
        </p:nvPicPr>
        <p:blipFill>
          <a:blip r:embed="rId1" cstate="print"/>
          <a:stretch>
            <a:fillRect/>
          </a:stretch>
        </p:blipFill>
        <p:spPr>
          <a:xfrm>
            <a:off x="2906123" y="241300"/>
            <a:ext cx="8268740" cy="6513513"/>
          </a:xfrm>
          <a:prstGeom prst="rect">
            <a:avLst/>
          </a:prstGeom>
          <a:noFill/>
          <a:ln w="9525">
            <a:noFill/>
          </a:ln>
        </p:spPr>
      </p:pic>
      <p:sp>
        <p:nvSpPr>
          <p:cNvPr id="5" name="Rectangle 423"/>
          <p:cNvSpPr>
            <a:spLocks noChangeArrowheads="1"/>
          </p:cNvSpPr>
          <p:nvPr/>
        </p:nvSpPr>
        <p:spPr bwMode="auto">
          <a:xfrm>
            <a:off x="456565" y="2894330"/>
            <a:ext cx="4691380" cy="703580"/>
          </a:xfrm>
          <a:prstGeom prst="rect">
            <a:avLst/>
          </a:prstGeom>
          <a:solidFill>
            <a:srgbClr val="FFFF00"/>
          </a:solidFill>
          <a:ln w="9525">
            <a:noFill/>
            <a:miter lim="800000"/>
          </a:ln>
        </p:spPr>
        <p:txBody>
          <a:bodyPr/>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stall =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destE</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0) &amp;&amp;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destE</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instD.src1) ||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destE</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instD.src2))) ||</a:t>
            </a:r>
            <a:endParaRPr kumimoji="1" lang="en-US" altLang="zh-CN" sz="1000" b="1" i="0" u="none" strike="noStrike" kern="1200" cap="none" spc="0" normalizeH="0" baseline="0" noProof="0" dirty="0">
              <a:ln>
                <a:noFill/>
              </a:ln>
              <a:solidFill>
                <a:srgbClr val="FF0000"/>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destM</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0) &amp;&amp;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destM</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instD.src1) ||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destM</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instD.src2))) ||  </a:t>
            </a:r>
            <a:endParaRPr kumimoji="1" lang="en-US" altLang="zh-CN" sz="1000" b="1" i="0" u="none" strike="noStrike" kern="1200" cap="none" spc="0" normalizeH="0" baseline="0" noProof="0" dirty="0">
              <a:ln>
                <a:noFill/>
              </a:ln>
              <a:solidFill>
                <a:srgbClr val="FF0000"/>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destW</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0) &amp;&amp;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destW</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instD.src1) ||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destW</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instD.src2)));  </a:t>
            </a:r>
            <a:endParaRPr kumimoji="1" lang="en-US" altLang="zh-CN" sz="1000" b="1" i="0" u="none" strike="noStrike" kern="1200" cap="none" spc="0" normalizeH="0" baseline="0" noProof="0" dirty="0">
              <a:ln>
                <a:noFill/>
              </a:ln>
              <a:solidFill>
                <a:srgbClr val="FF0000"/>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a:t>
            </a:r>
            <a:endParaRPr kumimoji="1" lang="en-US" altLang="zh-CN" sz="1000" b="1" i="0" u="none" strike="noStrike" kern="1200" cap="none" spc="0" normalizeH="0" baseline="0" noProof="0" dirty="0">
              <a:ln>
                <a:noFill/>
              </a:ln>
              <a:solidFill>
                <a:srgbClr val="FF0000"/>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xEl>
                                              <p:charRg st="0" end="78"/>
                                            </p:txEl>
                                          </p:spTgt>
                                        </p:tgtEl>
                                        <p:attrNameLst>
                                          <p:attrName>style.visibility</p:attrName>
                                        </p:attrNameLst>
                                      </p:cBhvr>
                                      <p:to>
                                        <p:strVal val="visible"/>
                                      </p:to>
                                    </p:set>
                                    <p:animEffect transition="in" filter="wipe(down)">
                                      <p:cBhvr>
                                        <p:cTn id="10" dur="500"/>
                                        <p:tgtEl>
                                          <p:spTgt spid="5">
                                            <p:txEl>
                                              <p:charRg st="0" end="78"/>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xEl>
                                              <p:charRg st="78" end="158"/>
                                            </p:txEl>
                                          </p:spTgt>
                                        </p:tgtEl>
                                        <p:attrNameLst>
                                          <p:attrName>style.visibility</p:attrName>
                                        </p:attrNameLst>
                                      </p:cBhvr>
                                      <p:to>
                                        <p:strVal val="visible"/>
                                      </p:to>
                                    </p:set>
                                    <p:animEffect transition="in" filter="wipe(down)">
                                      <p:cBhvr>
                                        <p:cTn id="13" dur="500"/>
                                        <p:tgtEl>
                                          <p:spTgt spid="5">
                                            <p:txEl>
                                              <p:charRg st="78" end="158"/>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xEl>
                                              <p:charRg st="158" end="236"/>
                                            </p:txEl>
                                          </p:spTgt>
                                        </p:tgtEl>
                                        <p:attrNameLst>
                                          <p:attrName>style.visibility</p:attrName>
                                        </p:attrNameLst>
                                      </p:cBhvr>
                                      <p:to>
                                        <p:strVal val="visible"/>
                                      </p:to>
                                    </p:set>
                                    <p:animEffect transition="in" filter="wipe(down)">
                                      <p:cBhvr>
                                        <p:cTn id="16" dur="500"/>
                                        <p:tgtEl>
                                          <p:spTgt spid="5">
                                            <p:txEl>
                                              <p:charRg st="158" end="236"/>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5">
                                            <p:txEl>
                                              <p:charRg st="236" end="239"/>
                                            </p:txEl>
                                          </p:spTgt>
                                        </p:tgtEl>
                                        <p:attrNameLst>
                                          <p:attrName>style.visibility</p:attrName>
                                        </p:attrNameLst>
                                      </p:cBhvr>
                                      <p:to>
                                        <p:strVal val="visible"/>
                                      </p:to>
                                    </p:set>
                                    <p:animEffect transition="in" filter="wipe(down)">
                                      <p:cBhvr>
                                        <p:cTn id="19" dur="500"/>
                                        <p:tgtEl>
                                          <p:spTgt spid="5">
                                            <p:txEl>
                                              <p:charRg st="236" end="2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build="allAtOnce"/>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图片 2"/>
          <p:cNvPicPr>
            <a:picLocks noChangeAspect="1"/>
          </p:cNvPicPr>
          <p:nvPr/>
        </p:nvPicPr>
        <p:blipFill>
          <a:blip r:embed="rId1" cstate="print"/>
          <a:stretch>
            <a:fillRect/>
          </a:stretch>
        </p:blipFill>
        <p:spPr>
          <a:xfrm>
            <a:off x="3166440" y="477838"/>
            <a:ext cx="7894139" cy="6218237"/>
          </a:xfrm>
          <a:prstGeom prst="rect">
            <a:avLst/>
          </a:prstGeom>
          <a:noFill/>
          <a:ln w="9525">
            <a:noFill/>
          </a:ln>
        </p:spPr>
      </p:pic>
      <p:sp>
        <p:nvSpPr>
          <p:cNvPr id="36867"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36868" name="Rectangle 407"/>
          <p:cNvSpPr/>
          <p:nvPr/>
        </p:nvSpPr>
        <p:spPr>
          <a:xfrm>
            <a:off x="345290" y="144463"/>
            <a:ext cx="2920620" cy="334962"/>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latin typeface="Times New Roman" pitchFamily="18" charset="0"/>
              </a:rPr>
              <a:t>例：相关控制</a:t>
            </a:r>
            <a:endParaRPr lang="zh-CN" altLang="en-US" b="1" dirty="0">
              <a:latin typeface="Times New Roman" pitchFamily="18" charset="0"/>
            </a:endParaRPr>
          </a:p>
        </p:txBody>
      </p:sp>
      <p:sp>
        <p:nvSpPr>
          <p:cNvPr id="5" name="TextBox 4"/>
          <p:cNvSpPr txBox="1"/>
          <p:nvPr/>
        </p:nvSpPr>
        <p:spPr>
          <a:xfrm>
            <a:off x="1400523" y="4527550"/>
            <a:ext cx="1634701"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ADD.W R1,R1,</a:t>
            </a:r>
            <a:r>
              <a:rPr kumimoji="0" lang="en-US" altLang="zh-CN" sz="1050" b="1" kern="1200" cap="none" spc="0" normalizeH="0" baseline="0" noProof="0" dirty="0">
                <a:solidFill>
                  <a:srgbClr val="FF0000"/>
                </a:solidFill>
                <a:latin typeface="+mn-ea"/>
                <a:ea typeface="+mn-ea"/>
                <a:cs typeface="+mn-cs"/>
              </a:rPr>
              <a:t>R2</a:t>
            </a:r>
            <a:endParaRPr kumimoji="0" lang="zh-CN" altLang="en-US" sz="1050" b="1" kern="1200" cap="none" spc="0" normalizeH="0" baseline="0" noProof="0" dirty="0">
              <a:solidFill>
                <a:srgbClr val="FF0000"/>
              </a:solidFill>
              <a:latin typeface="+mn-ea"/>
              <a:ea typeface="+mn-ea"/>
              <a:cs typeface="+mn-cs"/>
            </a:endParaRPr>
          </a:p>
        </p:txBody>
      </p:sp>
      <p:sp>
        <p:nvSpPr>
          <p:cNvPr id="6" name="TextBox 5"/>
          <p:cNvSpPr txBox="1"/>
          <p:nvPr/>
        </p:nvSpPr>
        <p:spPr>
          <a:xfrm>
            <a:off x="1400523" y="2249805"/>
            <a:ext cx="1634701"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ADD.W R4,R4,R5</a:t>
            </a:r>
            <a:endParaRPr kumimoji="0" lang="en-US" altLang="zh-CN" sz="1050" b="1" kern="1200" cap="none" spc="0" normalizeH="0" baseline="0" noProof="0" dirty="0">
              <a:solidFill>
                <a:schemeClr val="accent2"/>
              </a:solidFill>
              <a:latin typeface="+mn-ea"/>
              <a:ea typeface="+mn-ea"/>
              <a:cs typeface="+mn-cs"/>
            </a:endParaRPr>
          </a:p>
        </p:txBody>
      </p:sp>
      <p:sp>
        <p:nvSpPr>
          <p:cNvPr id="7" name="TextBox 6"/>
          <p:cNvSpPr txBox="1"/>
          <p:nvPr/>
        </p:nvSpPr>
        <p:spPr>
          <a:xfrm>
            <a:off x="1400523" y="3126105"/>
            <a:ext cx="1634701"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ADD.W </a:t>
            </a:r>
            <a:r>
              <a:rPr kumimoji="0" lang="en-US" altLang="zh-CN" sz="1050" b="1" kern="1200" cap="none" spc="0" normalizeH="0" baseline="0" noProof="0" dirty="0">
                <a:solidFill>
                  <a:srgbClr val="FF0000"/>
                </a:solidFill>
                <a:latin typeface="+mn-ea"/>
                <a:ea typeface="+mn-ea"/>
                <a:cs typeface="+mn-cs"/>
              </a:rPr>
              <a:t>R2</a:t>
            </a:r>
            <a:r>
              <a:rPr kumimoji="0" lang="en-US" altLang="zh-CN" sz="1050" b="1" kern="1200" cap="none" spc="0" normalizeH="0" baseline="0" noProof="0" dirty="0">
                <a:solidFill>
                  <a:schemeClr val="accent2"/>
                </a:solidFill>
                <a:latin typeface="+mn-ea"/>
                <a:ea typeface="+mn-ea"/>
                <a:cs typeface="+mn-cs"/>
              </a:rPr>
              <a:t>,R3,R3</a:t>
            </a:r>
            <a:endParaRPr kumimoji="0" lang="zh-CN" altLang="en-US" sz="1050" b="1" kern="1200" cap="none" spc="0" normalizeH="0" baseline="0" noProof="0" dirty="0">
              <a:solidFill>
                <a:schemeClr val="accent2"/>
              </a:solidFill>
              <a:latin typeface="+mn-ea"/>
              <a:ea typeface="+mn-ea"/>
              <a:cs typeface="+mn-cs"/>
            </a:endParaRPr>
          </a:p>
        </p:txBody>
      </p:sp>
      <p:sp>
        <p:nvSpPr>
          <p:cNvPr id="10" name="TextBox 9"/>
          <p:cNvSpPr txBox="1"/>
          <p:nvPr/>
        </p:nvSpPr>
        <p:spPr>
          <a:xfrm>
            <a:off x="1249836" y="798830"/>
            <a:ext cx="1785388"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ADD.W R6,R6,R7</a:t>
            </a:r>
            <a:endParaRPr kumimoji="0" lang="en-US" altLang="zh-CN" sz="1050" b="1" kern="1200" cap="none" spc="0" normalizeH="0" baseline="0" noProof="0" dirty="0">
              <a:solidFill>
                <a:schemeClr val="accent2"/>
              </a:solidFill>
              <a:latin typeface="+mn-ea"/>
              <a:ea typeface="+mn-ea"/>
              <a:cs typeface="+mn-cs"/>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图片 2"/>
          <p:cNvPicPr>
            <a:picLocks noChangeAspect="1"/>
          </p:cNvPicPr>
          <p:nvPr/>
        </p:nvPicPr>
        <p:blipFill>
          <a:blip r:embed="rId1" cstate="print"/>
          <a:stretch>
            <a:fillRect/>
          </a:stretch>
        </p:blipFill>
        <p:spPr>
          <a:xfrm>
            <a:off x="3166440" y="477838"/>
            <a:ext cx="7894139" cy="6218237"/>
          </a:xfrm>
          <a:prstGeom prst="rect">
            <a:avLst/>
          </a:prstGeom>
          <a:noFill/>
          <a:ln w="9525">
            <a:noFill/>
          </a:ln>
        </p:spPr>
      </p:pic>
      <p:sp>
        <p:nvSpPr>
          <p:cNvPr id="37891"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37892" name="Rectangle 407"/>
          <p:cNvSpPr/>
          <p:nvPr/>
        </p:nvSpPr>
        <p:spPr>
          <a:xfrm>
            <a:off x="345290" y="144463"/>
            <a:ext cx="2920620" cy="334962"/>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t>例：相关控制</a:t>
            </a:r>
            <a:endParaRPr lang="zh-CN" altLang="en-US" b="1" dirty="0"/>
          </a:p>
        </p:txBody>
      </p:sp>
      <p:sp>
        <p:nvSpPr>
          <p:cNvPr id="5" name="TextBox 4"/>
          <p:cNvSpPr txBox="1"/>
          <p:nvPr/>
        </p:nvSpPr>
        <p:spPr>
          <a:xfrm>
            <a:off x="1364121" y="4527550"/>
            <a:ext cx="1671102"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ADD.W R1,R1,</a:t>
            </a:r>
            <a:r>
              <a:rPr kumimoji="0" lang="en-US" altLang="zh-CN" sz="1050" b="1" kern="1200" cap="none" spc="0" normalizeH="0" baseline="0" noProof="0" dirty="0">
                <a:solidFill>
                  <a:srgbClr val="FF0000"/>
                </a:solidFill>
                <a:latin typeface="+mn-ea"/>
                <a:ea typeface="+mn-ea"/>
                <a:cs typeface="+mn-cs"/>
              </a:rPr>
              <a:t>R2</a:t>
            </a:r>
            <a:endParaRPr kumimoji="0" lang="zh-CN" altLang="en-US" sz="1050" b="1" kern="1200" cap="none" spc="0" normalizeH="0" baseline="0" noProof="0" dirty="0">
              <a:solidFill>
                <a:srgbClr val="FF0000"/>
              </a:solidFill>
              <a:latin typeface="+mn-ea"/>
              <a:ea typeface="+mn-ea"/>
              <a:cs typeface="+mn-cs"/>
            </a:endParaRPr>
          </a:p>
        </p:txBody>
      </p:sp>
      <p:sp>
        <p:nvSpPr>
          <p:cNvPr id="6" name="TextBox 5"/>
          <p:cNvSpPr txBox="1"/>
          <p:nvPr/>
        </p:nvSpPr>
        <p:spPr>
          <a:xfrm>
            <a:off x="1362427" y="798830"/>
            <a:ext cx="1672796"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ADD.W R4,R4,R5</a:t>
            </a:r>
            <a:endParaRPr kumimoji="0" lang="en-US" altLang="zh-CN" sz="1050" b="1" kern="1200" cap="none" spc="0" normalizeH="0" baseline="0" noProof="0" dirty="0">
              <a:solidFill>
                <a:schemeClr val="accent2"/>
              </a:solidFill>
              <a:latin typeface="+mn-ea"/>
              <a:ea typeface="+mn-ea"/>
              <a:cs typeface="+mn-cs"/>
            </a:endParaRPr>
          </a:p>
        </p:txBody>
      </p:sp>
      <p:sp>
        <p:nvSpPr>
          <p:cNvPr id="7" name="TextBox 6"/>
          <p:cNvSpPr txBox="1"/>
          <p:nvPr/>
        </p:nvSpPr>
        <p:spPr>
          <a:xfrm>
            <a:off x="1363275" y="2330450"/>
            <a:ext cx="1671949"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ADD.W </a:t>
            </a:r>
            <a:r>
              <a:rPr kumimoji="0" lang="en-US" altLang="zh-CN" sz="1050" b="1" kern="1200" cap="none" spc="0" normalizeH="0" baseline="0" noProof="0" dirty="0">
                <a:solidFill>
                  <a:srgbClr val="FF0000"/>
                </a:solidFill>
                <a:latin typeface="+mn-ea"/>
                <a:ea typeface="+mn-ea"/>
                <a:cs typeface="+mn-cs"/>
              </a:rPr>
              <a:t>R2</a:t>
            </a:r>
            <a:r>
              <a:rPr kumimoji="0" lang="en-US" altLang="zh-CN" sz="1050" b="1" kern="1200" cap="none" spc="0" normalizeH="0" baseline="0" noProof="0" dirty="0">
                <a:solidFill>
                  <a:schemeClr val="accent2"/>
                </a:solidFill>
                <a:latin typeface="+mn-ea"/>
                <a:ea typeface="+mn-ea"/>
                <a:cs typeface="+mn-cs"/>
              </a:rPr>
              <a:t>,R3,R3</a:t>
            </a:r>
            <a:endParaRPr kumimoji="0" lang="zh-CN" altLang="en-US" sz="1050" b="1" kern="1200" cap="none" spc="0" normalizeH="0" baseline="0" noProof="0" dirty="0">
              <a:solidFill>
                <a:schemeClr val="accent2"/>
              </a:solidFill>
              <a:latin typeface="+mn-ea"/>
              <a:ea typeface="+mn-ea"/>
              <a:cs typeface="+mn-cs"/>
            </a:endParaRPr>
          </a:p>
        </p:txBody>
      </p:sp>
      <p:sp>
        <p:nvSpPr>
          <p:cNvPr id="2" name="TextBox 6"/>
          <p:cNvSpPr txBox="1"/>
          <p:nvPr/>
        </p:nvSpPr>
        <p:spPr>
          <a:xfrm>
            <a:off x="1364121" y="3073400"/>
            <a:ext cx="1671102"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NOP</a:t>
            </a:r>
            <a:endParaRPr kumimoji="0" lang="en-US" altLang="zh-CN" sz="1050" b="1" kern="1200" cap="none" spc="0" normalizeH="0" baseline="0" noProof="0" dirty="0">
              <a:solidFill>
                <a:schemeClr val="accent2"/>
              </a:solidFill>
              <a:latin typeface="+mn-ea"/>
              <a:ea typeface="+mn-ea"/>
              <a:cs typeface="+mn-cs"/>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图片 2"/>
          <p:cNvPicPr>
            <a:picLocks noChangeAspect="1"/>
          </p:cNvPicPr>
          <p:nvPr/>
        </p:nvPicPr>
        <p:blipFill>
          <a:blip r:embed="rId1" cstate="print"/>
          <a:stretch>
            <a:fillRect/>
          </a:stretch>
        </p:blipFill>
        <p:spPr>
          <a:xfrm>
            <a:off x="3166440" y="477838"/>
            <a:ext cx="7894139" cy="6218237"/>
          </a:xfrm>
          <a:prstGeom prst="rect">
            <a:avLst/>
          </a:prstGeom>
          <a:noFill/>
          <a:ln w="9525">
            <a:noFill/>
          </a:ln>
        </p:spPr>
      </p:pic>
      <p:sp>
        <p:nvSpPr>
          <p:cNvPr id="38915"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38916" name="Rectangle 407"/>
          <p:cNvSpPr/>
          <p:nvPr/>
        </p:nvSpPr>
        <p:spPr>
          <a:xfrm>
            <a:off x="345290" y="144463"/>
            <a:ext cx="2920620" cy="334962"/>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t>例：相关控制</a:t>
            </a:r>
            <a:endParaRPr lang="zh-CN" altLang="en-US" b="1" dirty="0"/>
          </a:p>
        </p:txBody>
      </p:sp>
      <p:sp>
        <p:nvSpPr>
          <p:cNvPr id="5" name="TextBox 4"/>
          <p:cNvSpPr txBox="1"/>
          <p:nvPr/>
        </p:nvSpPr>
        <p:spPr>
          <a:xfrm>
            <a:off x="1414914" y="4527550"/>
            <a:ext cx="1620309"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ADD.W R1,R1,</a:t>
            </a:r>
            <a:r>
              <a:rPr kumimoji="0" lang="en-US" altLang="zh-CN" sz="1050" b="1" kern="1200" cap="none" spc="0" normalizeH="0" baseline="0" noProof="0" dirty="0">
                <a:solidFill>
                  <a:srgbClr val="FF0000"/>
                </a:solidFill>
                <a:latin typeface="+mn-ea"/>
                <a:ea typeface="+mn-ea"/>
                <a:cs typeface="+mn-cs"/>
              </a:rPr>
              <a:t>R2</a:t>
            </a:r>
            <a:endParaRPr kumimoji="0" lang="zh-CN" altLang="en-US" sz="1050" b="1" kern="1200" cap="none" spc="0" normalizeH="0" baseline="0" noProof="0" dirty="0">
              <a:solidFill>
                <a:srgbClr val="FF0000"/>
              </a:solidFill>
              <a:latin typeface="+mn-ea"/>
              <a:ea typeface="+mn-ea"/>
              <a:cs typeface="+mn-cs"/>
            </a:endParaRPr>
          </a:p>
        </p:txBody>
      </p:sp>
      <p:sp>
        <p:nvSpPr>
          <p:cNvPr id="7" name="TextBox 6"/>
          <p:cNvSpPr txBox="1"/>
          <p:nvPr/>
        </p:nvSpPr>
        <p:spPr>
          <a:xfrm>
            <a:off x="1414068" y="825500"/>
            <a:ext cx="1621156"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ADD.W </a:t>
            </a:r>
            <a:r>
              <a:rPr kumimoji="0" lang="en-US" altLang="zh-CN" sz="1050" b="1" kern="1200" cap="none" spc="0" normalizeH="0" baseline="0" noProof="0" dirty="0">
                <a:solidFill>
                  <a:srgbClr val="FF0000"/>
                </a:solidFill>
                <a:latin typeface="+mn-ea"/>
                <a:ea typeface="+mn-ea"/>
                <a:cs typeface="+mn-cs"/>
              </a:rPr>
              <a:t>R2</a:t>
            </a:r>
            <a:r>
              <a:rPr kumimoji="0" lang="en-US" altLang="zh-CN" sz="1050" b="1" kern="1200" cap="none" spc="0" normalizeH="0" baseline="0" noProof="0" dirty="0">
                <a:solidFill>
                  <a:schemeClr val="accent2"/>
                </a:solidFill>
                <a:latin typeface="+mn-ea"/>
                <a:ea typeface="+mn-ea"/>
                <a:cs typeface="+mn-cs"/>
              </a:rPr>
              <a:t>,R3,R3</a:t>
            </a:r>
            <a:endParaRPr kumimoji="0" lang="zh-CN" altLang="en-US" sz="1050" b="1" kern="1200" cap="none" spc="0" normalizeH="0" baseline="0" noProof="0" dirty="0">
              <a:solidFill>
                <a:schemeClr val="accent2"/>
              </a:solidFill>
              <a:latin typeface="+mn-ea"/>
              <a:ea typeface="+mn-ea"/>
              <a:cs typeface="+mn-cs"/>
            </a:endParaRPr>
          </a:p>
        </p:txBody>
      </p:sp>
      <p:sp>
        <p:nvSpPr>
          <p:cNvPr id="2" name="TextBox 6"/>
          <p:cNvSpPr txBox="1"/>
          <p:nvPr/>
        </p:nvSpPr>
        <p:spPr>
          <a:xfrm>
            <a:off x="1414068" y="3073400"/>
            <a:ext cx="1621156"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NOP</a:t>
            </a:r>
            <a:endParaRPr kumimoji="0" lang="en-US" altLang="zh-CN" sz="1050" b="1" kern="1200" cap="none" spc="0" normalizeH="0" baseline="0" noProof="0" dirty="0">
              <a:solidFill>
                <a:schemeClr val="accent2"/>
              </a:solidFill>
              <a:latin typeface="+mn-ea"/>
              <a:ea typeface="+mn-ea"/>
              <a:cs typeface="+mn-cs"/>
            </a:endParaRPr>
          </a:p>
        </p:txBody>
      </p:sp>
      <p:sp>
        <p:nvSpPr>
          <p:cNvPr id="4" name="TextBox 6"/>
          <p:cNvSpPr txBox="1"/>
          <p:nvPr/>
        </p:nvSpPr>
        <p:spPr>
          <a:xfrm>
            <a:off x="1414068" y="2326005"/>
            <a:ext cx="1621156"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NOP</a:t>
            </a:r>
            <a:endParaRPr kumimoji="0" lang="en-US" altLang="zh-CN" sz="1050" b="1" kern="1200" cap="none" spc="0" normalizeH="0" baseline="0" noProof="0" dirty="0">
              <a:solidFill>
                <a:schemeClr val="accent2"/>
              </a:solidFill>
              <a:latin typeface="+mn-ea"/>
              <a:ea typeface="+mn-ea"/>
              <a:cs typeface="+mn-cs"/>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图片 2"/>
          <p:cNvPicPr>
            <a:picLocks noChangeAspect="1"/>
          </p:cNvPicPr>
          <p:nvPr/>
        </p:nvPicPr>
        <p:blipFill>
          <a:blip r:embed="rId1" cstate="print"/>
          <a:stretch>
            <a:fillRect/>
          </a:stretch>
        </p:blipFill>
        <p:spPr>
          <a:xfrm>
            <a:off x="3166440" y="477838"/>
            <a:ext cx="7894139" cy="6218237"/>
          </a:xfrm>
          <a:prstGeom prst="rect">
            <a:avLst/>
          </a:prstGeom>
          <a:noFill/>
          <a:ln w="9525">
            <a:noFill/>
          </a:ln>
        </p:spPr>
      </p:pic>
      <p:sp>
        <p:nvSpPr>
          <p:cNvPr id="39939"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39940" name="Rectangle 407"/>
          <p:cNvSpPr/>
          <p:nvPr/>
        </p:nvSpPr>
        <p:spPr>
          <a:xfrm>
            <a:off x="345290" y="144463"/>
            <a:ext cx="2920620" cy="334962"/>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t>例：相关控制</a:t>
            </a:r>
            <a:endParaRPr lang="zh-CN" altLang="en-US" b="1" dirty="0"/>
          </a:p>
        </p:txBody>
      </p:sp>
      <p:sp>
        <p:nvSpPr>
          <p:cNvPr id="5" name="TextBox 4"/>
          <p:cNvSpPr txBox="1"/>
          <p:nvPr/>
        </p:nvSpPr>
        <p:spPr>
          <a:xfrm>
            <a:off x="1350576" y="4527550"/>
            <a:ext cx="1684647"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ADD.W R1,R1,</a:t>
            </a:r>
            <a:r>
              <a:rPr kumimoji="0" lang="en-US" altLang="zh-CN" sz="1050" b="1" kern="1200" cap="none" spc="0" normalizeH="0" baseline="0" noProof="0" dirty="0">
                <a:solidFill>
                  <a:srgbClr val="FF0000"/>
                </a:solidFill>
                <a:latin typeface="+mn-ea"/>
                <a:ea typeface="+mn-ea"/>
                <a:cs typeface="+mn-cs"/>
              </a:rPr>
              <a:t>R2</a:t>
            </a:r>
            <a:endParaRPr kumimoji="0" lang="zh-CN" altLang="en-US" sz="1050" b="1" kern="1200" cap="none" spc="0" normalizeH="0" baseline="0" noProof="0" dirty="0">
              <a:solidFill>
                <a:srgbClr val="FF0000"/>
              </a:solidFill>
              <a:latin typeface="+mn-ea"/>
              <a:ea typeface="+mn-ea"/>
              <a:cs typeface="+mn-cs"/>
            </a:endParaRPr>
          </a:p>
        </p:txBody>
      </p:sp>
      <p:sp>
        <p:nvSpPr>
          <p:cNvPr id="2" name="TextBox 6"/>
          <p:cNvSpPr txBox="1"/>
          <p:nvPr/>
        </p:nvSpPr>
        <p:spPr>
          <a:xfrm>
            <a:off x="1350576" y="3073400"/>
            <a:ext cx="1684647"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NOP</a:t>
            </a:r>
            <a:endParaRPr kumimoji="0" lang="en-US" altLang="zh-CN" sz="1050" b="1" kern="1200" cap="none" spc="0" normalizeH="0" baseline="0" noProof="0" dirty="0">
              <a:solidFill>
                <a:schemeClr val="accent2"/>
              </a:solidFill>
              <a:latin typeface="+mn-ea"/>
              <a:ea typeface="+mn-ea"/>
              <a:cs typeface="+mn-cs"/>
            </a:endParaRPr>
          </a:p>
        </p:txBody>
      </p:sp>
      <p:sp>
        <p:nvSpPr>
          <p:cNvPr id="4" name="TextBox 6"/>
          <p:cNvSpPr txBox="1"/>
          <p:nvPr/>
        </p:nvSpPr>
        <p:spPr>
          <a:xfrm>
            <a:off x="1350576" y="2326005"/>
            <a:ext cx="1684647"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NOP</a:t>
            </a:r>
            <a:endParaRPr kumimoji="0" lang="en-US" altLang="zh-CN" sz="1050" b="1" kern="1200" cap="none" spc="0" normalizeH="0" baseline="0" noProof="0" dirty="0">
              <a:solidFill>
                <a:schemeClr val="accent2"/>
              </a:solidFill>
              <a:latin typeface="+mn-ea"/>
              <a:ea typeface="+mn-ea"/>
              <a:cs typeface="+mn-cs"/>
            </a:endParaRPr>
          </a:p>
        </p:txBody>
      </p:sp>
      <p:sp>
        <p:nvSpPr>
          <p:cNvPr id="6" name="TextBox 6"/>
          <p:cNvSpPr txBox="1"/>
          <p:nvPr/>
        </p:nvSpPr>
        <p:spPr>
          <a:xfrm>
            <a:off x="1350576" y="844550"/>
            <a:ext cx="1684647"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NOP</a:t>
            </a:r>
            <a:endParaRPr kumimoji="0" lang="en-US" altLang="zh-CN" sz="1050" b="1" kern="1200" cap="none" spc="0" normalizeH="0" baseline="0" noProof="0" dirty="0">
              <a:solidFill>
                <a:schemeClr val="accent2"/>
              </a:solidFill>
              <a:latin typeface="+mn-ea"/>
              <a:ea typeface="+mn-ea"/>
              <a:cs typeface="+mn-cs"/>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图片 2"/>
          <p:cNvPicPr>
            <a:picLocks noChangeAspect="1"/>
          </p:cNvPicPr>
          <p:nvPr/>
        </p:nvPicPr>
        <p:blipFill>
          <a:blip r:embed="rId1" cstate="print"/>
          <a:stretch>
            <a:fillRect/>
          </a:stretch>
        </p:blipFill>
        <p:spPr>
          <a:xfrm>
            <a:off x="3166440" y="477838"/>
            <a:ext cx="7894139" cy="6218237"/>
          </a:xfrm>
          <a:prstGeom prst="rect">
            <a:avLst/>
          </a:prstGeom>
          <a:noFill/>
          <a:ln w="9525">
            <a:noFill/>
          </a:ln>
        </p:spPr>
      </p:pic>
      <p:sp>
        <p:nvSpPr>
          <p:cNvPr id="40963"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40964" name="Rectangle 407"/>
          <p:cNvSpPr/>
          <p:nvPr/>
        </p:nvSpPr>
        <p:spPr>
          <a:xfrm>
            <a:off x="345290" y="144463"/>
            <a:ext cx="2920620" cy="334962"/>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t>例：相关控制</a:t>
            </a:r>
            <a:endParaRPr lang="zh-CN" altLang="en-US" b="1" dirty="0"/>
          </a:p>
        </p:txBody>
      </p:sp>
      <p:sp>
        <p:nvSpPr>
          <p:cNvPr id="5" name="TextBox 4"/>
          <p:cNvSpPr txBox="1"/>
          <p:nvPr/>
        </p:nvSpPr>
        <p:spPr>
          <a:xfrm>
            <a:off x="1387824" y="4527550"/>
            <a:ext cx="1647399" cy="252730"/>
          </a:xfrm>
          <a:prstGeom prst="rect">
            <a:avLst/>
          </a:prstGeom>
          <a:solidFill>
            <a:srgbClr val="FFFF00"/>
          </a:solidFill>
        </p:spPr>
        <p:txBody>
          <a:bodyPr wrap="square">
            <a:spAutoFit/>
          </a:bodyPr>
          <a:lstStyle/>
          <a:p>
            <a:pPr marR="0" defTabSz="914400" eaLnBrk="1" hangingPunct="1">
              <a:buClrTx/>
              <a:buSzTx/>
              <a:buFontTx/>
              <a:buNone/>
              <a:defRPr/>
            </a:pPr>
            <a:r>
              <a:rPr kumimoji="0" lang="zh-CN" altLang="en-US" sz="1050" b="1" kern="1200" cap="none" spc="0" normalizeH="0" baseline="0" noProof="0" dirty="0">
                <a:solidFill>
                  <a:schemeClr val="accent2"/>
                </a:solidFill>
                <a:latin typeface="+mn-ea"/>
                <a:ea typeface="+mn-ea"/>
                <a:cs typeface="+mn-cs"/>
              </a:rPr>
              <a:t>新指令</a:t>
            </a:r>
            <a:endParaRPr kumimoji="0" lang="zh-CN" altLang="en-US" sz="1050" b="1" kern="1200" cap="none" spc="0" normalizeH="0" baseline="0" noProof="0" dirty="0">
              <a:solidFill>
                <a:schemeClr val="accent2"/>
              </a:solidFill>
              <a:latin typeface="+mn-ea"/>
              <a:ea typeface="+mn-ea"/>
              <a:cs typeface="+mn-cs"/>
            </a:endParaRPr>
          </a:p>
        </p:txBody>
      </p:sp>
      <p:sp>
        <p:nvSpPr>
          <p:cNvPr id="4" name="TextBox 6"/>
          <p:cNvSpPr txBox="1"/>
          <p:nvPr/>
        </p:nvSpPr>
        <p:spPr>
          <a:xfrm>
            <a:off x="1387824" y="2326005"/>
            <a:ext cx="1647399"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NOP</a:t>
            </a:r>
            <a:endParaRPr kumimoji="0" lang="en-US" altLang="zh-CN" sz="1050" b="1" kern="1200" cap="none" spc="0" normalizeH="0" baseline="0" noProof="0" dirty="0">
              <a:solidFill>
                <a:schemeClr val="accent2"/>
              </a:solidFill>
              <a:latin typeface="+mn-ea"/>
              <a:ea typeface="+mn-ea"/>
              <a:cs typeface="+mn-cs"/>
            </a:endParaRPr>
          </a:p>
        </p:txBody>
      </p:sp>
      <p:sp>
        <p:nvSpPr>
          <p:cNvPr id="6" name="TextBox 6"/>
          <p:cNvSpPr txBox="1"/>
          <p:nvPr/>
        </p:nvSpPr>
        <p:spPr>
          <a:xfrm>
            <a:off x="1387824" y="844550"/>
            <a:ext cx="1647399"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NOP</a:t>
            </a:r>
            <a:endParaRPr kumimoji="0" lang="en-US" altLang="zh-CN" sz="1050" b="1" kern="1200" cap="none" spc="0" normalizeH="0" baseline="0" noProof="0" dirty="0">
              <a:solidFill>
                <a:schemeClr val="accent2"/>
              </a:solidFill>
              <a:latin typeface="+mn-ea"/>
              <a:ea typeface="+mn-ea"/>
              <a:cs typeface="+mn-cs"/>
            </a:endParaRPr>
          </a:p>
        </p:txBody>
      </p:sp>
      <p:sp>
        <p:nvSpPr>
          <p:cNvPr id="7" name="TextBox 4"/>
          <p:cNvSpPr txBox="1"/>
          <p:nvPr/>
        </p:nvSpPr>
        <p:spPr>
          <a:xfrm>
            <a:off x="1387824" y="3110230"/>
            <a:ext cx="1647399" cy="252730"/>
          </a:xfrm>
          <a:prstGeom prst="rect">
            <a:avLst/>
          </a:prstGeom>
          <a:solidFill>
            <a:srgbClr val="FFFF00"/>
          </a:solidFill>
        </p:spPr>
        <p:txBody>
          <a:bodyPr wrap="square">
            <a:spAutoFit/>
          </a:bodyPr>
          <a:lstStyle/>
          <a:p>
            <a:pPr marR="0" defTabSz="914400" eaLnBrk="1" hangingPunct="1">
              <a:buClrTx/>
              <a:buSzTx/>
              <a:buFontTx/>
              <a:buNone/>
              <a:defRPr/>
            </a:pPr>
            <a:r>
              <a:rPr kumimoji="0" lang="en-US" altLang="zh-CN" sz="1050" b="1" kern="1200" cap="none" spc="0" normalizeH="0" baseline="0" noProof="0" dirty="0">
                <a:solidFill>
                  <a:schemeClr val="accent2"/>
                </a:solidFill>
                <a:latin typeface="+mn-ea"/>
                <a:ea typeface="+mn-ea"/>
                <a:cs typeface="+mn-cs"/>
              </a:rPr>
              <a:t>ADD.W R1,R1,</a:t>
            </a:r>
            <a:r>
              <a:rPr kumimoji="0" lang="en-US" altLang="zh-CN" sz="1050" b="1" kern="1200" cap="none" spc="0" normalizeH="0" baseline="0" noProof="0" dirty="0">
                <a:solidFill>
                  <a:srgbClr val="FF0000"/>
                </a:solidFill>
                <a:latin typeface="+mn-ea"/>
                <a:ea typeface="+mn-ea"/>
                <a:cs typeface="+mn-cs"/>
              </a:rPr>
              <a:t>R2</a:t>
            </a:r>
            <a:endParaRPr kumimoji="0" lang="zh-CN" altLang="en-US" sz="1050" b="1" kern="1200" cap="none" spc="0" normalizeH="0" baseline="0" noProof="0" dirty="0">
              <a:solidFill>
                <a:srgbClr val="FF0000"/>
              </a:solidFill>
              <a:latin typeface="+mn-ea"/>
              <a:ea typeface="+mn-ea"/>
              <a:cs typeface="+mn-cs"/>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41987" name="Rectangle 2"/>
          <p:cNvSpPr>
            <a:spLocks noGrp="1"/>
          </p:cNvSpPr>
          <p:nvPr>
            <p:ph type="title"/>
          </p:nvPr>
        </p:nvSpPr>
        <p:spPr>
          <a:xfrm>
            <a:off x="914599" y="266701"/>
            <a:ext cx="10361851" cy="709613"/>
          </a:xfrm>
        </p:spPr>
        <p:txBody>
          <a:bodyPr vert="horz" wrap="square" lIns="91440" tIns="45720" rIns="91440" bIns="45720" anchor="ctr" anchorCtr="0"/>
          <a:lstStyle/>
          <a:p>
            <a:pPr eaLnBrk="1" hangingPunct="1"/>
            <a:r>
              <a:rPr lang="zh-CN" altLang="en-US" dirty="0"/>
              <a:t>控制相关</a:t>
            </a:r>
            <a:endParaRPr lang="zh-CN" altLang="en-US" dirty="0"/>
          </a:p>
        </p:txBody>
      </p:sp>
      <p:sp>
        <p:nvSpPr>
          <p:cNvPr id="41988" name="Rectangle 3"/>
          <p:cNvSpPr>
            <a:spLocks noGrp="1"/>
          </p:cNvSpPr>
          <p:nvPr>
            <p:ph idx="1"/>
          </p:nvPr>
        </p:nvSpPr>
        <p:spPr>
          <a:xfrm>
            <a:off x="402433" y="1284289"/>
            <a:ext cx="11680363" cy="3044825"/>
          </a:xfrm>
        </p:spPr>
        <p:txBody>
          <a:bodyPr vert="horz" wrap="square" lIns="91440" tIns="45720" rIns="91440" bIns="45720" anchor="t" anchorCtr="0"/>
          <a:lstStyle/>
          <a:p>
            <a:pPr eaLnBrk="1" hangingPunct="1"/>
            <a:r>
              <a:rPr lang="zh-CN" altLang="en-US" dirty="0"/>
              <a:t>控制相关直接影响后续取指</a:t>
            </a:r>
            <a:endParaRPr lang="zh-CN" altLang="en-US" dirty="0"/>
          </a:p>
          <a:p>
            <a:pPr lvl="1" eaLnBrk="1" hangingPunct="1"/>
            <a:r>
              <a:rPr lang="zh-CN" altLang="en-US" dirty="0"/>
              <a:t>转移指令计算的下一条指令地址在</a:t>
            </a:r>
            <a:r>
              <a:rPr lang="en-US" altLang="zh-CN" dirty="0"/>
              <a:t>EX</a:t>
            </a:r>
            <a:r>
              <a:rPr lang="zh-CN" altLang="en-US" dirty="0"/>
              <a:t>阶段计算，下一条指令等</a:t>
            </a:r>
            <a:r>
              <a:rPr lang="en-US" altLang="zh-CN" dirty="0"/>
              <a:t>2</a:t>
            </a:r>
            <a:r>
              <a:rPr lang="zh-CN" altLang="en-US" dirty="0"/>
              <a:t>拍</a:t>
            </a:r>
            <a:endParaRPr lang="zh-CN" altLang="en-US" dirty="0"/>
          </a:p>
          <a:p>
            <a:pPr eaLnBrk="1" hangingPunct="1"/>
            <a:r>
              <a:rPr lang="zh-CN" altLang="en-US" dirty="0"/>
              <a:t>五级流水避免控制相关引起流水线阻塞的典型方法</a:t>
            </a:r>
            <a:endParaRPr lang="en-US" altLang="zh-CN" dirty="0"/>
          </a:p>
          <a:p>
            <a:pPr lvl="1" eaLnBrk="1" hangingPunct="1"/>
            <a:r>
              <a:rPr lang="zh-CN" altLang="en-US" dirty="0"/>
              <a:t>使用专门的地址运算部件把地址计算提前到译码阶段可以少等一拍</a:t>
            </a:r>
            <a:endParaRPr lang="zh-CN" altLang="en-US" dirty="0"/>
          </a:p>
          <a:p>
            <a:pPr lvl="1" eaLnBrk="1" hangingPunct="1"/>
            <a:r>
              <a:rPr lang="zh-CN" altLang="en-US" dirty="0"/>
              <a:t>当发现转移指令跳转时把正在取指阶段的指令取消掉</a:t>
            </a:r>
            <a:endParaRPr lang="en-US" altLang="zh-CN" dirty="0"/>
          </a:p>
        </p:txBody>
      </p:sp>
      <p:grpSp>
        <p:nvGrpSpPr>
          <p:cNvPr id="41989" name="Group 4"/>
          <p:cNvGrpSpPr/>
          <p:nvPr/>
        </p:nvGrpSpPr>
        <p:grpSpPr>
          <a:xfrm>
            <a:off x="87091" y="4916489"/>
            <a:ext cx="6861340" cy="1417637"/>
            <a:chOff x="1176" y="1839"/>
            <a:chExt cx="3242" cy="893"/>
          </a:xfrm>
        </p:grpSpPr>
        <p:grpSp>
          <p:nvGrpSpPr>
            <p:cNvPr id="41999" name="Group 5"/>
            <p:cNvGrpSpPr/>
            <p:nvPr/>
          </p:nvGrpSpPr>
          <p:grpSpPr>
            <a:xfrm>
              <a:off x="1176" y="1839"/>
              <a:ext cx="3242" cy="893"/>
              <a:chOff x="514" y="1745"/>
              <a:chExt cx="3242" cy="893"/>
            </a:xfrm>
          </p:grpSpPr>
          <p:graphicFrame>
            <p:nvGraphicFramePr>
              <p:cNvPr id="42003" name="Object 6"/>
              <p:cNvGraphicFramePr/>
              <p:nvPr/>
            </p:nvGraphicFramePr>
            <p:xfrm>
              <a:off x="514" y="1745"/>
              <a:ext cx="2088" cy="273"/>
            </p:xfrm>
            <a:graphic>
              <a:graphicData uri="http://schemas.openxmlformats.org/presentationml/2006/ole">
                <mc:AlternateContent xmlns:mc="http://schemas.openxmlformats.org/markup-compatibility/2006">
                  <mc:Choice xmlns:v="urn:schemas-microsoft-com:vml" Requires="v">
                    <p:oleObj spid="_x0000_s8193" name="" r:id="rId1" imgW="12439650" imgH="1666875" progId="Word.Document.8">
                      <p:embed/>
                    </p:oleObj>
                  </mc:Choice>
                  <mc:Fallback>
                    <p:oleObj name="" r:id="rId1" imgW="12439650" imgH="1666875" progId="Word.Document.8">
                      <p:embed/>
                      <p:pic>
                        <p:nvPicPr>
                          <p:cNvPr id="0" name="图片 8192" descr="image18"/>
                          <p:cNvPicPr/>
                          <p:nvPr/>
                        </p:nvPicPr>
                        <p:blipFill>
                          <a:blip r:embed="rId2"/>
                          <a:stretch>
                            <a:fillRect/>
                          </a:stretch>
                        </p:blipFill>
                        <p:spPr>
                          <a:xfrm>
                            <a:off x="514" y="1745"/>
                            <a:ext cx="2088" cy="273"/>
                          </a:xfrm>
                          <a:prstGeom prst="rect">
                            <a:avLst/>
                          </a:prstGeom>
                          <a:noFill/>
                          <a:ln w="38100">
                            <a:noFill/>
                          </a:ln>
                        </p:spPr>
                      </p:pic>
                    </p:oleObj>
                  </mc:Fallback>
                </mc:AlternateContent>
              </a:graphicData>
            </a:graphic>
          </p:graphicFrame>
          <p:graphicFrame>
            <p:nvGraphicFramePr>
              <p:cNvPr id="42004" name="Object 7"/>
              <p:cNvGraphicFramePr/>
              <p:nvPr/>
            </p:nvGraphicFramePr>
            <p:xfrm>
              <a:off x="802" y="1905"/>
              <a:ext cx="2088" cy="273"/>
            </p:xfrm>
            <a:graphic>
              <a:graphicData uri="http://schemas.openxmlformats.org/presentationml/2006/ole">
                <mc:AlternateContent xmlns:mc="http://schemas.openxmlformats.org/markup-compatibility/2006">
                  <mc:Choice xmlns:v="urn:schemas-microsoft-com:vml" Requires="v">
                    <p:oleObj spid="_x0000_s8194" name="" r:id="rId3" imgW="12439650" imgH="1666875" progId="Word.Document.8">
                      <p:embed/>
                    </p:oleObj>
                  </mc:Choice>
                  <mc:Fallback>
                    <p:oleObj name="" r:id="rId3" imgW="12439650" imgH="1666875" progId="Word.Document.8">
                      <p:embed/>
                      <p:pic>
                        <p:nvPicPr>
                          <p:cNvPr id="0" name="图片 8193" descr="image19"/>
                          <p:cNvPicPr/>
                          <p:nvPr/>
                        </p:nvPicPr>
                        <p:blipFill>
                          <a:blip r:embed="rId4"/>
                          <a:stretch>
                            <a:fillRect/>
                          </a:stretch>
                        </p:blipFill>
                        <p:spPr>
                          <a:xfrm>
                            <a:off x="802" y="1905"/>
                            <a:ext cx="2088" cy="273"/>
                          </a:xfrm>
                          <a:prstGeom prst="rect">
                            <a:avLst/>
                          </a:prstGeom>
                          <a:noFill/>
                          <a:ln w="38100">
                            <a:noFill/>
                          </a:ln>
                        </p:spPr>
                      </p:pic>
                    </p:oleObj>
                  </mc:Fallback>
                </mc:AlternateContent>
              </a:graphicData>
            </a:graphic>
          </p:graphicFrame>
          <p:graphicFrame>
            <p:nvGraphicFramePr>
              <p:cNvPr id="42005" name="Object 8"/>
              <p:cNvGraphicFramePr/>
              <p:nvPr/>
            </p:nvGraphicFramePr>
            <p:xfrm>
              <a:off x="1090" y="2057"/>
              <a:ext cx="2088" cy="273"/>
            </p:xfrm>
            <a:graphic>
              <a:graphicData uri="http://schemas.openxmlformats.org/presentationml/2006/ole">
                <mc:AlternateContent xmlns:mc="http://schemas.openxmlformats.org/markup-compatibility/2006">
                  <mc:Choice xmlns:v="urn:schemas-microsoft-com:vml" Requires="v">
                    <p:oleObj spid="_x0000_s8195" name="" r:id="rId5" imgW="12439650" imgH="1666875" progId="Word.Document.8">
                      <p:embed/>
                    </p:oleObj>
                  </mc:Choice>
                  <mc:Fallback>
                    <p:oleObj name="" r:id="rId5" imgW="12439650" imgH="1666875" progId="Word.Document.8">
                      <p:embed/>
                      <p:pic>
                        <p:nvPicPr>
                          <p:cNvPr id="0" name="图片 8194" descr="image20"/>
                          <p:cNvPicPr/>
                          <p:nvPr/>
                        </p:nvPicPr>
                        <p:blipFill>
                          <a:blip r:embed="rId6"/>
                          <a:stretch>
                            <a:fillRect/>
                          </a:stretch>
                        </p:blipFill>
                        <p:spPr>
                          <a:xfrm>
                            <a:off x="1090" y="2057"/>
                            <a:ext cx="2088" cy="273"/>
                          </a:xfrm>
                          <a:prstGeom prst="rect">
                            <a:avLst/>
                          </a:prstGeom>
                          <a:noFill/>
                          <a:ln w="38100">
                            <a:noFill/>
                          </a:ln>
                        </p:spPr>
                      </p:pic>
                    </p:oleObj>
                  </mc:Fallback>
                </mc:AlternateContent>
              </a:graphicData>
            </a:graphic>
          </p:graphicFrame>
          <p:graphicFrame>
            <p:nvGraphicFramePr>
              <p:cNvPr id="42006" name="Object 9"/>
              <p:cNvGraphicFramePr/>
              <p:nvPr/>
            </p:nvGraphicFramePr>
            <p:xfrm>
              <a:off x="1668" y="2365"/>
              <a:ext cx="2088" cy="273"/>
            </p:xfrm>
            <a:graphic>
              <a:graphicData uri="http://schemas.openxmlformats.org/presentationml/2006/ole">
                <mc:AlternateContent xmlns:mc="http://schemas.openxmlformats.org/markup-compatibility/2006">
                  <mc:Choice xmlns:v="urn:schemas-microsoft-com:vml" Requires="v">
                    <p:oleObj spid="_x0000_s8196" name="" r:id="rId7" imgW="12439650" imgH="1666875" progId="Word.Document.8">
                      <p:embed/>
                    </p:oleObj>
                  </mc:Choice>
                  <mc:Fallback>
                    <p:oleObj name="" r:id="rId7" imgW="12439650" imgH="1666875" progId="Word.Document.8">
                      <p:embed/>
                      <p:pic>
                        <p:nvPicPr>
                          <p:cNvPr id="0" name="图片 8195" descr="image21"/>
                          <p:cNvPicPr/>
                          <p:nvPr/>
                        </p:nvPicPr>
                        <p:blipFill>
                          <a:blip r:embed="rId8"/>
                          <a:stretch>
                            <a:fillRect/>
                          </a:stretch>
                        </p:blipFill>
                        <p:spPr>
                          <a:xfrm>
                            <a:off x="1668" y="2365"/>
                            <a:ext cx="2088" cy="273"/>
                          </a:xfrm>
                          <a:prstGeom prst="rect">
                            <a:avLst/>
                          </a:prstGeom>
                          <a:noFill/>
                          <a:ln w="38100">
                            <a:noFill/>
                          </a:ln>
                        </p:spPr>
                      </p:pic>
                    </p:oleObj>
                  </mc:Fallback>
                </mc:AlternateContent>
              </a:graphicData>
            </a:graphic>
          </p:graphicFrame>
          <p:graphicFrame>
            <p:nvGraphicFramePr>
              <p:cNvPr id="42007" name="Object 10"/>
              <p:cNvGraphicFramePr/>
              <p:nvPr/>
            </p:nvGraphicFramePr>
            <p:xfrm>
              <a:off x="1378" y="2217"/>
              <a:ext cx="2088" cy="273"/>
            </p:xfrm>
            <a:graphic>
              <a:graphicData uri="http://schemas.openxmlformats.org/presentationml/2006/ole">
                <mc:AlternateContent xmlns:mc="http://schemas.openxmlformats.org/markup-compatibility/2006">
                  <mc:Choice xmlns:v="urn:schemas-microsoft-com:vml" Requires="v">
                    <p:oleObj spid="_x0000_s8197" name="" r:id="rId9" imgW="12439650" imgH="1666875" progId="Word.Document.8">
                      <p:embed/>
                    </p:oleObj>
                  </mc:Choice>
                  <mc:Fallback>
                    <p:oleObj name="" r:id="rId9" imgW="12439650" imgH="1666875" progId="Word.Document.8">
                      <p:embed/>
                      <p:pic>
                        <p:nvPicPr>
                          <p:cNvPr id="0" name="图片 8196" descr="image22"/>
                          <p:cNvPicPr/>
                          <p:nvPr/>
                        </p:nvPicPr>
                        <p:blipFill>
                          <a:blip r:embed="rId10"/>
                          <a:stretch>
                            <a:fillRect/>
                          </a:stretch>
                        </p:blipFill>
                        <p:spPr>
                          <a:xfrm>
                            <a:off x="1378" y="2217"/>
                            <a:ext cx="2088" cy="273"/>
                          </a:xfrm>
                          <a:prstGeom prst="rect">
                            <a:avLst/>
                          </a:prstGeom>
                          <a:noFill/>
                          <a:ln w="38100">
                            <a:noFill/>
                          </a:ln>
                        </p:spPr>
                      </p:pic>
                    </p:oleObj>
                  </mc:Fallback>
                </mc:AlternateContent>
              </a:graphicData>
            </a:graphic>
          </p:graphicFrame>
        </p:grpSp>
        <p:sp>
          <p:nvSpPr>
            <p:cNvPr id="42000" name="Line 11"/>
            <p:cNvSpPr/>
            <p:nvPr/>
          </p:nvSpPr>
          <p:spPr>
            <a:xfrm>
              <a:off x="2595" y="1909"/>
              <a:ext cx="0" cy="460"/>
            </a:xfrm>
            <a:prstGeom prst="line">
              <a:avLst/>
            </a:prstGeom>
            <a:ln w="19050" cap="flat" cmpd="sng">
              <a:solidFill>
                <a:srgbClr val="FF0000"/>
              </a:solidFill>
              <a:prstDash val="solid"/>
              <a:headEnd type="none" w="med" len="med"/>
              <a:tailEnd type="triangle" w="med" len="med"/>
            </a:ln>
          </p:spPr>
        </p:sp>
        <p:sp>
          <p:nvSpPr>
            <p:cNvPr id="42001" name="Line 12"/>
            <p:cNvSpPr/>
            <p:nvPr/>
          </p:nvSpPr>
          <p:spPr>
            <a:xfrm flipH="1">
              <a:off x="2021" y="1919"/>
              <a:ext cx="577" cy="148"/>
            </a:xfrm>
            <a:prstGeom prst="line">
              <a:avLst/>
            </a:prstGeom>
            <a:ln w="19050" cap="flat" cmpd="sng">
              <a:solidFill>
                <a:srgbClr val="FF0000"/>
              </a:solidFill>
              <a:prstDash val="solid"/>
              <a:headEnd type="none" w="med" len="med"/>
              <a:tailEnd type="triangle" w="med" len="med"/>
            </a:ln>
          </p:spPr>
        </p:sp>
        <p:sp>
          <p:nvSpPr>
            <p:cNvPr id="42002" name="Line 13"/>
            <p:cNvSpPr/>
            <p:nvPr/>
          </p:nvSpPr>
          <p:spPr>
            <a:xfrm flipH="1">
              <a:off x="2309" y="1912"/>
              <a:ext cx="280" cy="320"/>
            </a:xfrm>
            <a:prstGeom prst="line">
              <a:avLst/>
            </a:prstGeom>
            <a:ln w="19050" cap="flat" cmpd="sng">
              <a:solidFill>
                <a:srgbClr val="FF0000"/>
              </a:solidFill>
              <a:prstDash val="solid"/>
              <a:headEnd type="none" w="med" len="med"/>
              <a:tailEnd type="triangle" w="med" len="med"/>
            </a:ln>
          </p:spPr>
        </p:sp>
      </p:grpSp>
      <p:grpSp>
        <p:nvGrpSpPr>
          <p:cNvPr id="41990" name="Group 14"/>
          <p:cNvGrpSpPr/>
          <p:nvPr/>
        </p:nvGrpSpPr>
        <p:grpSpPr>
          <a:xfrm>
            <a:off x="5024631" y="4846639"/>
            <a:ext cx="6861340" cy="1417637"/>
            <a:chOff x="2518" y="2909"/>
            <a:chExt cx="3242" cy="893"/>
          </a:xfrm>
        </p:grpSpPr>
        <p:grpSp>
          <p:nvGrpSpPr>
            <p:cNvPr id="41991" name="Group 15"/>
            <p:cNvGrpSpPr/>
            <p:nvPr/>
          </p:nvGrpSpPr>
          <p:grpSpPr>
            <a:xfrm>
              <a:off x="2518" y="2909"/>
              <a:ext cx="3242" cy="893"/>
              <a:chOff x="514" y="1745"/>
              <a:chExt cx="3242" cy="893"/>
            </a:xfrm>
          </p:grpSpPr>
          <p:graphicFrame>
            <p:nvGraphicFramePr>
              <p:cNvPr id="41994" name="Object 16"/>
              <p:cNvGraphicFramePr/>
              <p:nvPr/>
            </p:nvGraphicFramePr>
            <p:xfrm>
              <a:off x="514" y="1745"/>
              <a:ext cx="2088" cy="273"/>
            </p:xfrm>
            <a:graphic>
              <a:graphicData uri="http://schemas.openxmlformats.org/presentationml/2006/ole">
                <mc:AlternateContent xmlns:mc="http://schemas.openxmlformats.org/markup-compatibility/2006">
                  <mc:Choice xmlns:v="urn:schemas-microsoft-com:vml" Requires="v">
                    <p:oleObj spid="_x0000_s8198" name="" r:id="rId11" imgW="12439650" imgH="1666875" progId="Word.Document.8">
                      <p:embed/>
                    </p:oleObj>
                  </mc:Choice>
                  <mc:Fallback>
                    <p:oleObj name="" r:id="rId11" imgW="12439650" imgH="1666875" progId="Word.Document.8">
                      <p:embed/>
                      <p:pic>
                        <p:nvPicPr>
                          <p:cNvPr id="0" name="图片 8197" descr="image18"/>
                          <p:cNvPicPr/>
                          <p:nvPr/>
                        </p:nvPicPr>
                        <p:blipFill>
                          <a:blip r:embed="rId2"/>
                          <a:stretch>
                            <a:fillRect/>
                          </a:stretch>
                        </p:blipFill>
                        <p:spPr>
                          <a:xfrm>
                            <a:off x="514" y="1745"/>
                            <a:ext cx="2088" cy="273"/>
                          </a:xfrm>
                          <a:prstGeom prst="rect">
                            <a:avLst/>
                          </a:prstGeom>
                          <a:noFill/>
                          <a:ln w="38100">
                            <a:noFill/>
                          </a:ln>
                        </p:spPr>
                      </p:pic>
                    </p:oleObj>
                  </mc:Fallback>
                </mc:AlternateContent>
              </a:graphicData>
            </a:graphic>
          </p:graphicFrame>
          <p:graphicFrame>
            <p:nvGraphicFramePr>
              <p:cNvPr id="41995" name="Object 17"/>
              <p:cNvGraphicFramePr/>
              <p:nvPr/>
            </p:nvGraphicFramePr>
            <p:xfrm>
              <a:off x="802" y="1905"/>
              <a:ext cx="2088" cy="273"/>
            </p:xfrm>
            <a:graphic>
              <a:graphicData uri="http://schemas.openxmlformats.org/presentationml/2006/ole">
                <mc:AlternateContent xmlns:mc="http://schemas.openxmlformats.org/markup-compatibility/2006">
                  <mc:Choice xmlns:v="urn:schemas-microsoft-com:vml" Requires="v">
                    <p:oleObj spid="_x0000_s8199" name="" r:id="rId12" imgW="12439650" imgH="1666875" progId="Word.Document.8">
                      <p:embed/>
                    </p:oleObj>
                  </mc:Choice>
                  <mc:Fallback>
                    <p:oleObj name="" r:id="rId12" imgW="12439650" imgH="1666875" progId="Word.Document.8">
                      <p:embed/>
                      <p:pic>
                        <p:nvPicPr>
                          <p:cNvPr id="0" name="图片 8198" descr="image19"/>
                          <p:cNvPicPr/>
                          <p:nvPr/>
                        </p:nvPicPr>
                        <p:blipFill>
                          <a:blip r:embed="rId4"/>
                          <a:stretch>
                            <a:fillRect/>
                          </a:stretch>
                        </p:blipFill>
                        <p:spPr>
                          <a:xfrm>
                            <a:off x="802" y="1905"/>
                            <a:ext cx="2088" cy="273"/>
                          </a:xfrm>
                          <a:prstGeom prst="rect">
                            <a:avLst/>
                          </a:prstGeom>
                          <a:noFill/>
                          <a:ln w="38100">
                            <a:noFill/>
                          </a:ln>
                        </p:spPr>
                      </p:pic>
                    </p:oleObj>
                  </mc:Fallback>
                </mc:AlternateContent>
              </a:graphicData>
            </a:graphic>
          </p:graphicFrame>
          <p:graphicFrame>
            <p:nvGraphicFramePr>
              <p:cNvPr id="41996" name="Object 18"/>
              <p:cNvGraphicFramePr/>
              <p:nvPr/>
            </p:nvGraphicFramePr>
            <p:xfrm>
              <a:off x="1090" y="2057"/>
              <a:ext cx="2088" cy="273"/>
            </p:xfrm>
            <a:graphic>
              <a:graphicData uri="http://schemas.openxmlformats.org/presentationml/2006/ole">
                <mc:AlternateContent xmlns:mc="http://schemas.openxmlformats.org/markup-compatibility/2006">
                  <mc:Choice xmlns:v="urn:schemas-microsoft-com:vml" Requires="v">
                    <p:oleObj spid="_x0000_s8200" name="" r:id="rId13" imgW="12439650" imgH="1666875" progId="Word.Document.8">
                      <p:embed/>
                    </p:oleObj>
                  </mc:Choice>
                  <mc:Fallback>
                    <p:oleObj name="" r:id="rId13" imgW="12439650" imgH="1666875" progId="Word.Document.8">
                      <p:embed/>
                      <p:pic>
                        <p:nvPicPr>
                          <p:cNvPr id="0" name="图片 8199" descr="image20"/>
                          <p:cNvPicPr/>
                          <p:nvPr/>
                        </p:nvPicPr>
                        <p:blipFill>
                          <a:blip r:embed="rId6"/>
                          <a:stretch>
                            <a:fillRect/>
                          </a:stretch>
                        </p:blipFill>
                        <p:spPr>
                          <a:xfrm>
                            <a:off x="1090" y="2057"/>
                            <a:ext cx="2088" cy="273"/>
                          </a:xfrm>
                          <a:prstGeom prst="rect">
                            <a:avLst/>
                          </a:prstGeom>
                          <a:noFill/>
                          <a:ln w="38100">
                            <a:noFill/>
                          </a:ln>
                        </p:spPr>
                      </p:pic>
                    </p:oleObj>
                  </mc:Fallback>
                </mc:AlternateContent>
              </a:graphicData>
            </a:graphic>
          </p:graphicFrame>
          <p:graphicFrame>
            <p:nvGraphicFramePr>
              <p:cNvPr id="41997" name="Object 19"/>
              <p:cNvGraphicFramePr/>
              <p:nvPr/>
            </p:nvGraphicFramePr>
            <p:xfrm>
              <a:off x="1668" y="2365"/>
              <a:ext cx="2088" cy="273"/>
            </p:xfrm>
            <a:graphic>
              <a:graphicData uri="http://schemas.openxmlformats.org/presentationml/2006/ole">
                <mc:AlternateContent xmlns:mc="http://schemas.openxmlformats.org/markup-compatibility/2006">
                  <mc:Choice xmlns:v="urn:schemas-microsoft-com:vml" Requires="v">
                    <p:oleObj spid="_x0000_s8201" name="" r:id="rId14" imgW="12439650" imgH="1666875" progId="Word.Document.8">
                      <p:embed/>
                    </p:oleObj>
                  </mc:Choice>
                  <mc:Fallback>
                    <p:oleObj name="" r:id="rId14" imgW="12439650" imgH="1666875" progId="Word.Document.8">
                      <p:embed/>
                      <p:pic>
                        <p:nvPicPr>
                          <p:cNvPr id="0" name="图片 8200" descr="image21"/>
                          <p:cNvPicPr/>
                          <p:nvPr/>
                        </p:nvPicPr>
                        <p:blipFill>
                          <a:blip r:embed="rId8"/>
                          <a:stretch>
                            <a:fillRect/>
                          </a:stretch>
                        </p:blipFill>
                        <p:spPr>
                          <a:xfrm>
                            <a:off x="1668" y="2365"/>
                            <a:ext cx="2088" cy="273"/>
                          </a:xfrm>
                          <a:prstGeom prst="rect">
                            <a:avLst/>
                          </a:prstGeom>
                          <a:noFill/>
                          <a:ln w="38100">
                            <a:noFill/>
                          </a:ln>
                        </p:spPr>
                      </p:pic>
                    </p:oleObj>
                  </mc:Fallback>
                </mc:AlternateContent>
              </a:graphicData>
            </a:graphic>
          </p:graphicFrame>
          <p:graphicFrame>
            <p:nvGraphicFramePr>
              <p:cNvPr id="41998" name="Object 20"/>
              <p:cNvGraphicFramePr/>
              <p:nvPr/>
            </p:nvGraphicFramePr>
            <p:xfrm>
              <a:off x="1378" y="2217"/>
              <a:ext cx="2088" cy="273"/>
            </p:xfrm>
            <a:graphic>
              <a:graphicData uri="http://schemas.openxmlformats.org/presentationml/2006/ole">
                <mc:AlternateContent xmlns:mc="http://schemas.openxmlformats.org/markup-compatibility/2006">
                  <mc:Choice xmlns:v="urn:schemas-microsoft-com:vml" Requires="v">
                    <p:oleObj spid="_x0000_s8202" name="" r:id="rId15" imgW="12439650" imgH="1666875" progId="Word.Document.8">
                      <p:embed/>
                    </p:oleObj>
                  </mc:Choice>
                  <mc:Fallback>
                    <p:oleObj name="" r:id="rId15" imgW="12439650" imgH="1666875" progId="Word.Document.8">
                      <p:embed/>
                      <p:pic>
                        <p:nvPicPr>
                          <p:cNvPr id="0" name="图片 8201" descr="image22"/>
                          <p:cNvPicPr/>
                          <p:nvPr/>
                        </p:nvPicPr>
                        <p:blipFill>
                          <a:blip r:embed="rId10"/>
                          <a:stretch>
                            <a:fillRect/>
                          </a:stretch>
                        </p:blipFill>
                        <p:spPr>
                          <a:xfrm>
                            <a:off x="1378" y="2217"/>
                            <a:ext cx="2088" cy="273"/>
                          </a:xfrm>
                          <a:prstGeom prst="rect">
                            <a:avLst/>
                          </a:prstGeom>
                          <a:noFill/>
                          <a:ln w="38100">
                            <a:noFill/>
                          </a:ln>
                        </p:spPr>
                      </p:pic>
                    </p:oleObj>
                  </mc:Fallback>
                </mc:AlternateContent>
              </a:graphicData>
            </a:graphic>
          </p:graphicFrame>
        </p:grpSp>
        <p:sp>
          <p:nvSpPr>
            <p:cNvPr id="41992" name="Line 21"/>
            <p:cNvSpPr/>
            <p:nvPr/>
          </p:nvSpPr>
          <p:spPr>
            <a:xfrm flipH="1">
              <a:off x="3363" y="2989"/>
              <a:ext cx="289" cy="148"/>
            </a:xfrm>
            <a:prstGeom prst="line">
              <a:avLst/>
            </a:prstGeom>
            <a:ln w="19050" cap="flat" cmpd="sng">
              <a:solidFill>
                <a:srgbClr val="FF0000"/>
              </a:solidFill>
              <a:prstDash val="solid"/>
              <a:headEnd type="none" w="med" len="med"/>
              <a:tailEnd type="triangle" w="med" len="med"/>
            </a:ln>
          </p:spPr>
        </p:sp>
        <p:sp>
          <p:nvSpPr>
            <p:cNvPr id="41993" name="Line 22"/>
            <p:cNvSpPr/>
            <p:nvPr/>
          </p:nvSpPr>
          <p:spPr>
            <a:xfrm flipH="1">
              <a:off x="3651" y="2997"/>
              <a:ext cx="0" cy="305"/>
            </a:xfrm>
            <a:prstGeom prst="line">
              <a:avLst/>
            </a:prstGeom>
            <a:ln w="19050" cap="flat" cmpd="sng">
              <a:solidFill>
                <a:srgbClr val="FF0000"/>
              </a:solidFill>
              <a:prstDash val="solid"/>
              <a:headEnd type="none" w="med" len="med"/>
              <a:tailEnd type="triangle" w="med" len="med"/>
            </a:ln>
          </p:spPr>
        </p:sp>
      </p:gr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椭圆 1"/>
          <p:cNvSpPr/>
          <p:nvPr/>
        </p:nvSpPr>
        <p:spPr>
          <a:xfrm>
            <a:off x="6015102" y="5026026"/>
            <a:ext cx="1519569" cy="709613"/>
          </a:xfrm>
          <a:prstGeom prst="ellipse">
            <a:avLst/>
          </a:prstGeom>
          <a:solidFill>
            <a:srgbClr val="FFFF00"/>
          </a:solidFill>
          <a:ln w="9525" cap="flat" cmpd="sng">
            <a:solidFill>
              <a:srgbClr val="FFFF00"/>
            </a:solidFill>
            <a:prstDash val="solid"/>
            <a:headEnd type="none" w="med" len="med"/>
            <a:tailEnd type="none" w="med" len="med"/>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eaLnBrk="1" hangingPunct="1">
              <a:lnSpc>
                <a:spcPct val="100000"/>
              </a:lnSpc>
              <a:spcBef>
                <a:spcPct val="50000"/>
              </a:spcBef>
              <a:buNone/>
            </a:pPr>
            <a:endParaRPr lang="zh-CN" altLang="en-US" sz="2400" dirty="0">
              <a:latin typeface="Times New Roman" pitchFamily="18" charset="0"/>
            </a:endParaRPr>
          </a:p>
        </p:txBody>
      </p:sp>
      <p:sp>
        <p:nvSpPr>
          <p:cNvPr id="43011" name="椭圆 418"/>
          <p:cNvSpPr/>
          <p:nvPr/>
        </p:nvSpPr>
        <p:spPr>
          <a:xfrm>
            <a:off x="4808759" y="5807076"/>
            <a:ext cx="1864541" cy="938213"/>
          </a:xfrm>
          <a:prstGeom prst="ellipse">
            <a:avLst/>
          </a:prstGeom>
          <a:solidFill>
            <a:srgbClr val="FFFF00"/>
          </a:solidFill>
          <a:ln w="9525" cap="flat" cmpd="sng">
            <a:solidFill>
              <a:srgbClr val="FFFF00"/>
            </a:solidFill>
            <a:prstDash val="solid"/>
            <a:headEnd type="none" w="med" len="med"/>
            <a:tailEnd type="none" w="med" len="med"/>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eaLnBrk="1" hangingPunct="1">
              <a:lnSpc>
                <a:spcPct val="100000"/>
              </a:lnSpc>
              <a:spcBef>
                <a:spcPct val="50000"/>
              </a:spcBef>
              <a:buNone/>
            </a:pPr>
            <a:endParaRPr lang="zh-CN" altLang="en-US" sz="2400" dirty="0">
              <a:latin typeface="Times New Roman" pitchFamily="18" charset="0"/>
            </a:endParaRPr>
          </a:p>
        </p:txBody>
      </p:sp>
      <p:pic>
        <p:nvPicPr>
          <p:cNvPr id="43012" name="图片 1"/>
          <p:cNvPicPr>
            <a:picLocks noChangeAspect="1"/>
          </p:cNvPicPr>
          <p:nvPr/>
        </p:nvPicPr>
        <p:blipFill>
          <a:blip r:embed="rId1" cstate="print"/>
          <a:stretch>
            <a:fillRect/>
          </a:stretch>
        </p:blipFill>
        <p:spPr>
          <a:xfrm>
            <a:off x="3132578" y="338139"/>
            <a:ext cx="8122709" cy="6397625"/>
          </a:xfrm>
          <a:prstGeom prst="rect">
            <a:avLst/>
          </a:prstGeom>
          <a:noFill/>
          <a:ln w="9525">
            <a:noFill/>
          </a:ln>
        </p:spPr>
      </p:pic>
      <p:sp>
        <p:nvSpPr>
          <p:cNvPr id="43013"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43014" name="Rectangle 407"/>
          <p:cNvSpPr/>
          <p:nvPr/>
        </p:nvSpPr>
        <p:spPr>
          <a:xfrm>
            <a:off x="345290" y="144463"/>
            <a:ext cx="2920620" cy="334962"/>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latin typeface="Times New Roman" pitchFamily="18" charset="0"/>
              </a:rPr>
              <a:t>转移相关控制</a:t>
            </a:r>
            <a:endParaRPr lang="zh-CN" altLang="en-US" b="1" dirty="0">
              <a:latin typeface="Times New Roman"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44035" name="Rectangle 2"/>
          <p:cNvSpPr>
            <a:spLocks noGrp="1"/>
          </p:cNvSpPr>
          <p:nvPr>
            <p:ph type="title"/>
          </p:nvPr>
        </p:nvSpPr>
        <p:spPr>
          <a:xfrm>
            <a:off x="914599" y="188913"/>
            <a:ext cx="10361851" cy="1143000"/>
          </a:xfrm>
        </p:spPr>
        <p:txBody>
          <a:bodyPr vert="horz" wrap="square" lIns="91440" tIns="45720" rIns="91440" bIns="45720" anchor="ctr" anchorCtr="0"/>
          <a:lstStyle/>
          <a:p>
            <a:pPr eaLnBrk="1" hangingPunct="1"/>
            <a:r>
              <a:rPr lang="zh-CN" altLang="en-US" sz="3200" dirty="0"/>
              <a:t>解决</a:t>
            </a:r>
            <a:r>
              <a:rPr lang="en-US" altLang="zh-CN" sz="3200" dirty="0"/>
              <a:t>RAW</a:t>
            </a:r>
            <a:r>
              <a:rPr lang="zh-CN" altLang="en-US" sz="3200" dirty="0"/>
              <a:t>相关的前递（</a:t>
            </a:r>
            <a:r>
              <a:rPr lang="en-US" altLang="zh-CN" sz="3200" dirty="0"/>
              <a:t>Forwarding</a:t>
            </a:r>
            <a:r>
              <a:rPr lang="zh-CN" altLang="en-US" sz="3200" dirty="0"/>
              <a:t>）技术</a:t>
            </a:r>
            <a:endParaRPr lang="zh-CN" altLang="en-US" sz="3200" dirty="0"/>
          </a:p>
        </p:txBody>
      </p:sp>
      <p:sp>
        <p:nvSpPr>
          <p:cNvPr id="44036" name="Rectangle 3"/>
          <p:cNvSpPr>
            <a:spLocks noGrp="1"/>
          </p:cNvSpPr>
          <p:nvPr>
            <p:ph idx="1"/>
          </p:nvPr>
        </p:nvSpPr>
        <p:spPr>
          <a:xfrm>
            <a:off x="571744" y="1349375"/>
            <a:ext cx="10704706" cy="1428750"/>
          </a:xfrm>
        </p:spPr>
        <p:txBody>
          <a:bodyPr vert="horz" wrap="square" lIns="91440" tIns="45720" rIns="91440" bIns="45720" anchor="t" anchorCtr="0"/>
          <a:lstStyle/>
          <a:p>
            <a:pPr eaLnBrk="1" hangingPunct="1">
              <a:spcBef>
                <a:spcPct val="0"/>
              </a:spcBef>
            </a:pPr>
            <a:r>
              <a:rPr lang="zh-CN" altLang="en-US" dirty="0"/>
              <a:t>在执行（</a:t>
            </a:r>
            <a:r>
              <a:rPr lang="en-US" altLang="zh-CN" dirty="0"/>
              <a:t>EX</a:t>
            </a:r>
            <a:r>
              <a:rPr lang="zh-CN" altLang="en-US" dirty="0"/>
              <a:t>）阶段的运算结果出来后直接送到后续指令的</a:t>
            </a:r>
            <a:r>
              <a:rPr lang="en-US" altLang="zh-CN" dirty="0"/>
              <a:t>EX</a:t>
            </a:r>
            <a:r>
              <a:rPr lang="zh-CN" altLang="en-US" dirty="0"/>
              <a:t>阶段</a:t>
            </a:r>
            <a:endParaRPr lang="zh-CN" altLang="en-US" dirty="0"/>
          </a:p>
        </p:txBody>
      </p:sp>
      <p:sp>
        <p:nvSpPr>
          <p:cNvPr id="44037" name="Rectangle 5"/>
          <p:cNvSpPr/>
          <p:nvPr/>
        </p:nvSpPr>
        <p:spPr>
          <a:xfrm>
            <a:off x="1060450" y="3086100"/>
            <a:ext cx="3529965" cy="2587625"/>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20000"/>
              </a:spcBef>
              <a:buNone/>
            </a:pPr>
            <a:r>
              <a:rPr lang="en-US" altLang="zh-CN" sz="2400" b="1" dirty="0"/>
              <a:t>ADD.W  </a:t>
            </a:r>
            <a:r>
              <a:rPr lang="en-US" altLang="zh-CN" sz="2400" b="1" dirty="0">
                <a:solidFill>
                  <a:srgbClr val="FF0000"/>
                </a:solidFill>
              </a:rPr>
              <a:t>r1</a:t>
            </a:r>
            <a:r>
              <a:rPr lang="en-US" altLang="zh-CN" sz="2400" b="1" dirty="0"/>
              <a:t>, r2,r3</a:t>
            </a:r>
            <a:endParaRPr lang="en-US" altLang="zh-CN" sz="2400" b="1" dirty="0"/>
          </a:p>
          <a:p>
            <a:pPr marL="342900" lvl="0" indent="-342900" eaLnBrk="1" hangingPunct="1">
              <a:lnSpc>
                <a:spcPct val="110000"/>
              </a:lnSpc>
              <a:spcBef>
                <a:spcPct val="20000"/>
              </a:spcBef>
              <a:buNone/>
            </a:pPr>
            <a:r>
              <a:rPr lang="en-US" altLang="zh-CN" sz="2400" b="1" dirty="0"/>
              <a:t>SUB.W  r4, </a:t>
            </a:r>
            <a:r>
              <a:rPr lang="en-US" altLang="zh-CN" sz="2400" b="1" dirty="0">
                <a:solidFill>
                  <a:srgbClr val="FF0000"/>
                </a:solidFill>
              </a:rPr>
              <a:t>r1</a:t>
            </a:r>
            <a:r>
              <a:rPr lang="en-US" altLang="zh-CN" sz="2400" b="1" dirty="0"/>
              <a:t>,r3</a:t>
            </a:r>
            <a:endParaRPr lang="en-US" altLang="zh-CN" sz="2400" b="1" dirty="0"/>
          </a:p>
          <a:p>
            <a:pPr marL="342900" lvl="0" indent="-342900" eaLnBrk="1" hangingPunct="1">
              <a:lnSpc>
                <a:spcPct val="110000"/>
              </a:lnSpc>
              <a:spcBef>
                <a:spcPct val="20000"/>
              </a:spcBef>
              <a:buNone/>
            </a:pPr>
            <a:r>
              <a:rPr lang="en-US" altLang="zh-CN" sz="2400" b="1" dirty="0"/>
              <a:t>AND    r6, </a:t>
            </a:r>
            <a:r>
              <a:rPr lang="en-US" altLang="zh-CN" sz="2400" b="1" dirty="0">
                <a:solidFill>
                  <a:srgbClr val="FF0000"/>
                </a:solidFill>
              </a:rPr>
              <a:t>r1</a:t>
            </a:r>
            <a:r>
              <a:rPr lang="en-US" altLang="zh-CN" sz="2400" b="1" dirty="0"/>
              <a:t>,r7</a:t>
            </a:r>
            <a:endParaRPr lang="en-US" altLang="zh-CN" sz="2400" b="1" dirty="0"/>
          </a:p>
          <a:p>
            <a:pPr marL="342900" lvl="0" indent="-342900" eaLnBrk="1" hangingPunct="1">
              <a:lnSpc>
                <a:spcPct val="110000"/>
              </a:lnSpc>
              <a:spcBef>
                <a:spcPct val="20000"/>
              </a:spcBef>
              <a:buNone/>
            </a:pPr>
            <a:r>
              <a:rPr lang="en-US" altLang="zh-CN" sz="2400" b="1" dirty="0"/>
              <a:t>OR     r8, </a:t>
            </a:r>
            <a:r>
              <a:rPr lang="en-US" altLang="zh-CN" sz="2400" b="1" dirty="0">
                <a:solidFill>
                  <a:srgbClr val="FF0000"/>
                </a:solidFill>
              </a:rPr>
              <a:t>r1</a:t>
            </a:r>
            <a:r>
              <a:rPr lang="en-US" altLang="zh-CN" sz="2400" b="1" dirty="0"/>
              <a:t>,r9</a:t>
            </a:r>
            <a:endParaRPr lang="en-US" altLang="zh-CN" sz="2400" b="1" dirty="0"/>
          </a:p>
          <a:p>
            <a:pPr marL="342900" lvl="0" indent="-342900" eaLnBrk="1" hangingPunct="1">
              <a:lnSpc>
                <a:spcPct val="110000"/>
              </a:lnSpc>
              <a:spcBef>
                <a:spcPct val="20000"/>
              </a:spcBef>
              <a:buNone/>
            </a:pPr>
            <a:r>
              <a:rPr lang="en-US" altLang="zh-CN" sz="2400" b="1" dirty="0"/>
              <a:t>XOR    r10,</a:t>
            </a:r>
            <a:r>
              <a:rPr lang="en-US" altLang="zh-CN" sz="2400" b="1" dirty="0">
                <a:solidFill>
                  <a:schemeClr val="accent2"/>
                </a:solidFill>
              </a:rPr>
              <a:t>r1</a:t>
            </a:r>
            <a:r>
              <a:rPr lang="en-US" altLang="zh-CN" sz="2400" b="1" dirty="0"/>
              <a:t>,r11</a:t>
            </a:r>
            <a:endParaRPr lang="en-US" altLang="zh-CN" sz="2400" b="1" dirty="0"/>
          </a:p>
        </p:txBody>
      </p:sp>
      <p:grpSp>
        <p:nvGrpSpPr>
          <p:cNvPr id="44038" name="Group 7"/>
          <p:cNvGrpSpPr/>
          <p:nvPr/>
        </p:nvGrpSpPr>
        <p:grpSpPr>
          <a:xfrm>
            <a:off x="3687072" y="3195638"/>
            <a:ext cx="8021122" cy="2438400"/>
            <a:chOff x="1838" y="873"/>
            <a:chExt cx="3790" cy="1536"/>
          </a:xfrm>
        </p:grpSpPr>
        <p:graphicFrame>
          <p:nvGraphicFramePr>
            <p:cNvPr id="44042" name="Object 8"/>
            <p:cNvGraphicFramePr/>
            <p:nvPr/>
          </p:nvGraphicFramePr>
          <p:xfrm>
            <a:off x="1838" y="873"/>
            <a:ext cx="2441" cy="382"/>
          </p:xfrm>
          <a:graphic>
            <a:graphicData uri="http://schemas.openxmlformats.org/presentationml/2006/ole">
              <mc:AlternateContent xmlns:mc="http://schemas.openxmlformats.org/markup-compatibility/2006">
                <mc:Choice xmlns:v="urn:schemas-microsoft-com:vml" Requires="v">
                  <p:oleObj spid="_x0000_s9217" name="" r:id="rId1" imgW="12439650" imgH="1666875" progId="Word.Document.8">
                    <p:embed/>
                  </p:oleObj>
                </mc:Choice>
                <mc:Fallback>
                  <p:oleObj name="" r:id="rId1" imgW="12439650" imgH="1666875" progId="Word.Document.8">
                    <p:embed/>
                    <p:pic>
                      <p:nvPicPr>
                        <p:cNvPr id="0" name="图片 9216" descr="image18"/>
                        <p:cNvPicPr/>
                        <p:nvPr/>
                      </p:nvPicPr>
                      <p:blipFill>
                        <a:blip r:embed="rId2"/>
                        <a:stretch>
                          <a:fillRect/>
                        </a:stretch>
                      </p:blipFill>
                      <p:spPr>
                        <a:xfrm>
                          <a:off x="1838" y="873"/>
                          <a:ext cx="2441" cy="382"/>
                        </a:xfrm>
                        <a:prstGeom prst="rect">
                          <a:avLst/>
                        </a:prstGeom>
                        <a:noFill/>
                        <a:ln w="38100">
                          <a:noFill/>
                        </a:ln>
                      </p:spPr>
                    </p:pic>
                  </p:oleObj>
                </mc:Fallback>
              </mc:AlternateContent>
            </a:graphicData>
          </a:graphic>
        </p:graphicFrame>
        <p:graphicFrame>
          <p:nvGraphicFramePr>
            <p:cNvPr id="44043" name="Object 9"/>
            <p:cNvGraphicFramePr/>
            <p:nvPr/>
          </p:nvGraphicFramePr>
          <p:xfrm>
            <a:off x="2175" y="1169"/>
            <a:ext cx="2441" cy="381"/>
          </p:xfrm>
          <a:graphic>
            <a:graphicData uri="http://schemas.openxmlformats.org/presentationml/2006/ole">
              <mc:AlternateContent xmlns:mc="http://schemas.openxmlformats.org/markup-compatibility/2006">
                <mc:Choice xmlns:v="urn:schemas-microsoft-com:vml" Requires="v">
                  <p:oleObj spid="_x0000_s9218" name="" r:id="rId3" imgW="12439650" imgH="1666875" progId="Word.Document.8">
                    <p:embed/>
                  </p:oleObj>
                </mc:Choice>
                <mc:Fallback>
                  <p:oleObj name="" r:id="rId3" imgW="12439650" imgH="1666875" progId="Word.Document.8">
                    <p:embed/>
                    <p:pic>
                      <p:nvPicPr>
                        <p:cNvPr id="0" name="图片 9217" descr="image19"/>
                        <p:cNvPicPr/>
                        <p:nvPr/>
                      </p:nvPicPr>
                      <p:blipFill>
                        <a:blip r:embed="rId4"/>
                        <a:stretch>
                          <a:fillRect/>
                        </a:stretch>
                      </p:blipFill>
                      <p:spPr>
                        <a:xfrm>
                          <a:off x="2175" y="1169"/>
                          <a:ext cx="2441" cy="381"/>
                        </a:xfrm>
                        <a:prstGeom prst="rect">
                          <a:avLst/>
                        </a:prstGeom>
                        <a:noFill/>
                        <a:ln w="38100">
                          <a:noFill/>
                        </a:ln>
                      </p:spPr>
                    </p:pic>
                  </p:oleObj>
                </mc:Fallback>
              </mc:AlternateContent>
            </a:graphicData>
          </a:graphic>
        </p:graphicFrame>
        <p:graphicFrame>
          <p:nvGraphicFramePr>
            <p:cNvPr id="44044" name="Object 10"/>
            <p:cNvGraphicFramePr/>
            <p:nvPr/>
          </p:nvGraphicFramePr>
          <p:xfrm>
            <a:off x="2511" y="1453"/>
            <a:ext cx="2441" cy="382"/>
          </p:xfrm>
          <a:graphic>
            <a:graphicData uri="http://schemas.openxmlformats.org/presentationml/2006/ole">
              <mc:AlternateContent xmlns:mc="http://schemas.openxmlformats.org/markup-compatibility/2006">
                <mc:Choice xmlns:v="urn:schemas-microsoft-com:vml" Requires="v">
                  <p:oleObj spid="_x0000_s9219" name="" r:id="rId5" imgW="12439650" imgH="1666875" progId="Word.Document.8">
                    <p:embed/>
                  </p:oleObj>
                </mc:Choice>
                <mc:Fallback>
                  <p:oleObj name="" r:id="rId5" imgW="12439650" imgH="1666875" progId="Word.Document.8">
                    <p:embed/>
                    <p:pic>
                      <p:nvPicPr>
                        <p:cNvPr id="0" name="图片 9218" descr="image20"/>
                        <p:cNvPicPr/>
                        <p:nvPr/>
                      </p:nvPicPr>
                      <p:blipFill>
                        <a:blip r:embed="rId6"/>
                        <a:stretch>
                          <a:fillRect/>
                        </a:stretch>
                      </p:blipFill>
                      <p:spPr>
                        <a:xfrm>
                          <a:off x="2511" y="1453"/>
                          <a:ext cx="2441" cy="382"/>
                        </a:xfrm>
                        <a:prstGeom prst="rect">
                          <a:avLst/>
                        </a:prstGeom>
                        <a:noFill/>
                        <a:ln w="38100">
                          <a:noFill/>
                        </a:ln>
                      </p:spPr>
                    </p:pic>
                  </p:oleObj>
                </mc:Fallback>
              </mc:AlternateContent>
            </a:graphicData>
          </a:graphic>
        </p:graphicFrame>
        <p:graphicFrame>
          <p:nvGraphicFramePr>
            <p:cNvPr id="44045" name="Object 11"/>
            <p:cNvGraphicFramePr/>
            <p:nvPr/>
          </p:nvGraphicFramePr>
          <p:xfrm>
            <a:off x="3187" y="2027"/>
            <a:ext cx="2441" cy="382"/>
          </p:xfrm>
          <a:graphic>
            <a:graphicData uri="http://schemas.openxmlformats.org/presentationml/2006/ole">
              <mc:AlternateContent xmlns:mc="http://schemas.openxmlformats.org/markup-compatibility/2006">
                <mc:Choice xmlns:v="urn:schemas-microsoft-com:vml" Requires="v">
                  <p:oleObj spid="_x0000_s9220" name="" r:id="rId7" imgW="12439650" imgH="1666875" progId="Word.Document.8">
                    <p:embed/>
                  </p:oleObj>
                </mc:Choice>
                <mc:Fallback>
                  <p:oleObj name="" r:id="rId7" imgW="12439650" imgH="1666875" progId="Word.Document.8">
                    <p:embed/>
                    <p:pic>
                      <p:nvPicPr>
                        <p:cNvPr id="0" name="图片 9219" descr="image21"/>
                        <p:cNvPicPr/>
                        <p:nvPr/>
                      </p:nvPicPr>
                      <p:blipFill>
                        <a:blip r:embed="rId8"/>
                        <a:stretch>
                          <a:fillRect/>
                        </a:stretch>
                      </p:blipFill>
                      <p:spPr>
                        <a:xfrm>
                          <a:off x="3187" y="2027"/>
                          <a:ext cx="2441" cy="382"/>
                        </a:xfrm>
                        <a:prstGeom prst="rect">
                          <a:avLst/>
                        </a:prstGeom>
                        <a:noFill/>
                        <a:ln w="38100">
                          <a:noFill/>
                        </a:ln>
                      </p:spPr>
                    </p:pic>
                  </p:oleObj>
                </mc:Fallback>
              </mc:AlternateContent>
            </a:graphicData>
          </a:graphic>
        </p:graphicFrame>
        <p:graphicFrame>
          <p:nvGraphicFramePr>
            <p:cNvPr id="44046" name="Object 12"/>
            <p:cNvGraphicFramePr/>
            <p:nvPr/>
          </p:nvGraphicFramePr>
          <p:xfrm>
            <a:off x="2848" y="1749"/>
            <a:ext cx="2441" cy="381"/>
          </p:xfrm>
          <a:graphic>
            <a:graphicData uri="http://schemas.openxmlformats.org/presentationml/2006/ole">
              <mc:AlternateContent xmlns:mc="http://schemas.openxmlformats.org/markup-compatibility/2006">
                <mc:Choice xmlns:v="urn:schemas-microsoft-com:vml" Requires="v">
                  <p:oleObj spid="_x0000_s9221" name="" r:id="rId9" imgW="12439650" imgH="1666875" progId="Word.Document.8">
                    <p:embed/>
                  </p:oleObj>
                </mc:Choice>
                <mc:Fallback>
                  <p:oleObj name="" r:id="rId9" imgW="12439650" imgH="1666875" progId="Word.Document.8">
                    <p:embed/>
                    <p:pic>
                      <p:nvPicPr>
                        <p:cNvPr id="0" name="图片 9220" descr="image22"/>
                        <p:cNvPicPr/>
                        <p:nvPr/>
                      </p:nvPicPr>
                      <p:blipFill>
                        <a:blip r:embed="rId10"/>
                        <a:stretch>
                          <a:fillRect/>
                        </a:stretch>
                      </p:blipFill>
                      <p:spPr>
                        <a:xfrm>
                          <a:off x="2848" y="1749"/>
                          <a:ext cx="2441" cy="381"/>
                        </a:xfrm>
                        <a:prstGeom prst="rect">
                          <a:avLst/>
                        </a:prstGeom>
                        <a:noFill/>
                        <a:ln w="38100">
                          <a:noFill/>
                        </a:ln>
                      </p:spPr>
                    </p:pic>
                  </p:oleObj>
                </mc:Fallback>
              </mc:AlternateContent>
            </a:graphicData>
          </a:graphic>
        </p:graphicFrame>
      </p:grpSp>
      <p:sp>
        <p:nvSpPr>
          <p:cNvPr id="44039" name="Line 13"/>
          <p:cNvSpPr/>
          <p:nvPr/>
        </p:nvSpPr>
        <p:spPr>
          <a:xfrm>
            <a:off x="7162186" y="3443289"/>
            <a:ext cx="12698" cy="274637"/>
          </a:xfrm>
          <a:prstGeom prst="line">
            <a:avLst/>
          </a:prstGeom>
          <a:ln w="19050" cap="flat" cmpd="sng">
            <a:solidFill>
              <a:srgbClr val="FF0000"/>
            </a:solidFill>
            <a:prstDash val="solid"/>
            <a:headEnd type="none" w="med" len="med"/>
            <a:tailEnd type="triangle" w="med" len="med"/>
          </a:ln>
        </p:spPr>
      </p:sp>
      <p:sp>
        <p:nvSpPr>
          <p:cNvPr id="44040" name="Line 15"/>
          <p:cNvSpPr/>
          <p:nvPr/>
        </p:nvSpPr>
        <p:spPr>
          <a:xfrm>
            <a:off x="7896574" y="3487738"/>
            <a:ext cx="6349" cy="647700"/>
          </a:xfrm>
          <a:prstGeom prst="line">
            <a:avLst/>
          </a:prstGeom>
          <a:ln w="19050" cap="flat" cmpd="sng">
            <a:solidFill>
              <a:srgbClr val="FF0000"/>
            </a:solidFill>
            <a:prstDash val="solid"/>
            <a:headEnd type="none" w="med" len="med"/>
            <a:tailEnd type="triangle" w="med" len="med"/>
          </a:ln>
        </p:spPr>
      </p:sp>
      <p:sp>
        <p:nvSpPr>
          <p:cNvPr id="44041" name="Line 16"/>
          <p:cNvSpPr/>
          <p:nvPr/>
        </p:nvSpPr>
        <p:spPr>
          <a:xfrm>
            <a:off x="8628845" y="3452814"/>
            <a:ext cx="8466" cy="1152525"/>
          </a:xfrm>
          <a:prstGeom prst="line">
            <a:avLst/>
          </a:prstGeom>
          <a:ln w="19050" cap="flat" cmpd="sng">
            <a:solidFill>
              <a:srgbClr val="FF0000"/>
            </a:solidFill>
            <a:prstDash val="solid"/>
            <a:headEnd type="none" w="med" len="med"/>
            <a:tailEnd type="triangle" w="med" len="med"/>
          </a:ln>
        </p:spPr>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45059" name="Rectangle 2"/>
          <p:cNvSpPr>
            <a:spLocks noGrp="1"/>
          </p:cNvSpPr>
          <p:nvPr>
            <p:ph type="title"/>
          </p:nvPr>
        </p:nvSpPr>
        <p:spPr>
          <a:xfrm>
            <a:off x="914599" y="155575"/>
            <a:ext cx="10361851" cy="1143000"/>
          </a:xfrm>
        </p:spPr>
        <p:txBody>
          <a:bodyPr vert="horz" wrap="square" lIns="91440" tIns="45720" rIns="91440" bIns="45720" anchor="ctr" anchorCtr="0"/>
          <a:lstStyle/>
          <a:p>
            <a:pPr eaLnBrk="1" hangingPunct="1"/>
            <a:r>
              <a:rPr lang="zh-CN" altLang="en-US" dirty="0"/>
              <a:t>前递情况下的数据相关</a:t>
            </a:r>
            <a:endParaRPr lang="zh-CN" altLang="en-US" dirty="0"/>
          </a:p>
        </p:txBody>
      </p:sp>
      <p:sp>
        <p:nvSpPr>
          <p:cNvPr id="45060" name="Rectangle 3"/>
          <p:cNvSpPr>
            <a:spLocks noGrp="1"/>
          </p:cNvSpPr>
          <p:nvPr>
            <p:ph idx="1"/>
          </p:nvPr>
        </p:nvSpPr>
        <p:spPr>
          <a:xfrm>
            <a:off x="914599" y="1146175"/>
            <a:ext cx="10361851" cy="1292225"/>
          </a:xfrm>
        </p:spPr>
        <p:txBody>
          <a:bodyPr vert="horz" wrap="square" lIns="91440" tIns="45720" rIns="91440" bIns="45720" anchor="t" anchorCtr="0"/>
          <a:lstStyle/>
          <a:p>
            <a:pPr eaLnBrk="1" hangingPunct="1">
              <a:spcBef>
                <a:spcPct val="0"/>
              </a:spcBef>
            </a:pPr>
            <a:r>
              <a:rPr lang="zh-CN" altLang="en-US" dirty="0"/>
              <a:t>取数指令的结果在</a:t>
            </a:r>
            <a:r>
              <a:rPr lang="en-US" altLang="zh-CN" dirty="0"/>
              <a:t>MEM</a:t>
            </a:r>
            <a:r>
              <a:rPr lang="zh-CN" altLang="en-US" dirty="0"/>
              <a:t>阶段才有效，后续相关指令需要阻塞一拍</a:t>
            </a:r>
            <a:endParaRPr lang="zh-CN" altLang="en-US" dirty="0"/>
          </a:p>
        </p:txBody>
      </p:sp>
      <p:sp>
        <p:nvSpPr>
          <p:cNvPr id="45061" name="Rectangle 4"/>
          <p:cNvSpPr/>
          <p:nvPr/>
        </p:nvSpPr>
        <p:spPr>
          <a:xfrm>
            <a:off x="1613535" y="3086100"/>
            <a:ext cx="2976880" cy="2587625"/>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algn="l" eaLnBrk="1" hangingPunct="1">
              <a:lnSpc>
                <a:spcPct val="110000"/>
              </a:lnSpc>
              <a:spcBef>
                <a:spcPct val="20000"/>
              </a:spcBef>
              <a:buClrTx/>
              <a:buSzTx/>
              <a:buNone/>
            </a:pPr>
            <a:r>
              <a:rPr lang="en-US" altLang="zh-CN" sz="2400" b="1" dirty="0"/>
              <a:t>LD.W  r1,r2,</a:t>
            </a:r>
            <a:r>
              <a:rPr lang="en-US" altLang="zh-CN" sz="2400" b="1" dirty="0">
                <a:sym typeface="+mn-ea"/>
              </a:rPr>
              <a:t>100</a:t>
            </a:r>
            <a:endParaRPr lang="en-US" altLang="zh-CN" sz="2400" b="1" dirty="0"/>
          </a:p>
          <a:p>
            <a:pPr marL="342900" lvl="0" indent="-342900" algn="l" eaLnBrk="1" hangingPunct="1">
              <a:lnSpc>
                <a:spcPct val="110000"/>
              </a:lnSpc>
              <a:spcBef>
                <a:spcPct val="20000"/>
              </a:spcBef>
              <a:buClrTx/>
              <a:buSzTx/>
              <a:buNone/>
            </a:pPr>
            <a:r>
              <a:rPr lang="en-US" altLang="zh-CN" sz="2400" b="1" dirty="0"/>
              <a:t>SUB.W r4,r1,r3</a:t>
            </a:r>
            <a:endParaRPr lang="en-US" altLang="zh-CN" sz="2400" b="1" dirty="0"/>
          </a:p>
          <a:p>
            <a:pPr marL="342900" lvl="0" indent="-342900" algn="l" eaLnBrk="1" hangingPunct="1">
              <a:lnSpc>
                <a:spcPct val="110000"/>
              </a:lnSpc>
              <a:spcBef>
                <a:spcPct val="20000"/>
              </a:spcBef>
              <a:buClrTx/>
              <a:buSzTx/>
              <a:buNone/>
            </a:pPr>
            <a:r>
              <a:rPr lang="en-US" altLang="zh-CN" sz="2400" b="1" dirty="0"/>
              <a:t>AND   r6,r1,r7</a:t>
            </a:r>
            <a:endParaRPr lang="en-US" altLang="zh-CN" sz="2400" b="1" dirty="0"/>
          </a:p>
          <a:p>
            <a:pPr marL="342900" lvl="0" indent="-342900" algn="l" eaLnBrk="1" hangingPunct="1">
              <a:lnSpc>
                <a:spcPct val="110000"/>
              </a:lnSpc>
              <a:spcBef>
                <a:spcPct val="20000"/>
              </a:spcBef>
              <a:buClrTx/>
              <a:buSzTx/>
              <a:buNone/>
            </a:pPr>
            <a:r>
              <a:rPr lang="en-US" altLang="zh-CN" sz="2400" b="1" dirty="0"/>
              <a:t>OR    r8,r1,r9</a:t>
            </a:r>
            <a:endParaRPr lang="en-US" altLang="zh-CN" sz="2400" b="1" dirty="0"/>
          </a:p>
          <a:p>
            <a:pPr marL="342900" lvl="0" indent="-342900" algn="l" eaLnBrk="1" hangingPunct="1">
              <a:lnSpc>
                <a:spcPct val="110000"/>
              </a:lnSpc>
              <a:spcBef>
                <a:spcPct val="20000"/>
              </a:spcBef>
              <a:buClrTx/>
              <a:buSzTx/>
              <a:buNone/>
            </a:pPr>
            <a:r>
              <a:rPr lang="en-US" altLang="zh-CN" sz="2400" b="1" dirty="0"/>
              <a:t>XOR   r10,r1,r11</a:t>
            </a:r>
            <a:endParaRPr lang="en-US" altLang="zh-CN" sz="2400" b="1" dirty="0"/>
          </a:p>
        </p:txBody>
      </p:sp>
      <p:grpSp>
        <p:nvGrpSpPr>
          <p:cNvPr id="45062" name="Group 5"/>
          <p:cNvGrpSpPr/>
          <p:nvPr/>
        </p:nvGrpSpPr>
        <p:grpSpPr>
          <a:xfrm>
            <a:off x="3797125" y="3195638"/>
            <a:ext cx="8021122" cy="2438400"/>
            <a:chOff x="1838" y="873"/>
            <a:chExt cx="3790" cy="1536"/>
          </a:xfrm>
        </p:grpSpPr>
        <p:graphicFrame>
          <p:nvGraphicFramePr>
            <p:cNvPr id="45066" name="Object 6"/>
            <p:cNvGraphicFramePr/>
            <p:nvPr/>
          </p:nvGraphicFramePr>
          <p:xfrm>
            <a:off x="1838" y="873"/>
            <a:ext cx="2441" cy="382"/>
          </p:xfrm>
          <a:graphic>
            <a:graphicData uri="http://schemas.openxmlformats.org/presentationml/2006/ole">
              <mc:AlternateContent xmlns:mc="http://schemas.openxmlformats.org/markup-compatibility/2006">
                <mc:Choice xmlns:v="urn:schemas-microsoft-com:vml" Requires="v">
                  <p:oleObj spid="_x0000_s10241" name="" r:id="rId1" imgW="12439650" imgH="1666875" progId="Word.Document.8">
                    <p:embed/>
                  </p:oleObj>
                </mc:Choice>
                <mc:Fallback>
                  <p:oleObj name="" r:id="rId1" imgW="12439650" imgH="1666875" progId="Word.Document.8">
                    <p:embed/>
                    <p:pic>
                      <p:nvPicPr>
                        <p:cNvPr id="0" name="图片 10240" descr="image18"/>
                        <p:cNvPicPr/>
                        <p:nvPr/>
                      </p:nvPicPr>
                      <p:blipFill>
                        <a:blip r:embed="rId2"/>
                        <a:stretch>
                          <a:fillRect/>
                        </a:stretch>
                      </p:blipFill>
                      <p:spPr>
                        <a:xfrm>
                          <a:off x="1838" y="873"/>
                          <a:ext cx="2441" cy="382"/>
                        </a:xfrm>
                        <a:prstGeom prst="rect">
                          <a:avLst/>
                        </a:prstGeom>
                        <a:noFill/>
                        <a:ln w="38100">
                          <a:noFill/>
                        </a:ln>
                      </p:spPr>
                    </p:pic>
                  </p:oleObj>
                </mc:Fallback>
              </mc:AlternateContent>
            </a:graphicData>
          </a:graphic>
        </p:graphicFrame>
        <p:graphicFrame>
          <p:nvGraphicFramePr>
            <p:cNvPr id="45067" name="Object 7"/>
            <p:cNvGraphicFramePr/>
            <p:nvPr/>
          </p:nvGraphicFramePr>
          <p:xfrm>
            <a:off x="2175" y="1169"/>
            <a:ext cx="2441" cy="381"/>
          </p:xfrm>
          <a:graphic>
            <a:graphicData uri="http://schemas.openxmlformats.org/presentationml/2006/ole">
              <mc:AlternateContent xmlns:mc="http://schemas.openxmlformats.org/markup-compatibility/2006">
                <mc:Choice xmlns:v="urn:schemas-microsoft-com:vml" Requires="v">
                  <p:oleObj spid="_x0000_s10242" name="" r:id="rId3" imgW="12439650" imgH="1666875" progId="Word.Document.8">
                    <p:embed/>
                  </p:oleObj>
                </mc:Choice>
                <mc:Fallback>
                  <p:oleObj name="" r:id="rId3" imgW="12439650" imgH="1666875" progId="Word.Document.8">
                    <p:embed/>
                    <p:pic>
                      <p:nvPicPr>
                        <p:cNvPr id="0" name="图片 10241" descr="image19"/>
                        <p:cNvPicPr/>
                        <p:nvPr/>
                      </p:nvPicPr>
                      <p:blipFill>
                        <a:blip r:embed="rId4"/>
                        <a:stretch>
                          <a:fillRect/>
                        </a:stretch>
                      </p:blipFill>
                      <p:spPr>
                        <a:xfrm>
                          <a:off x="2175" y="1169"/>
                          <a:ext cx="2441" cy="381"/>
                        </a:xfrm>
                        <a:prstGeom prst="rect">
                          <a:avLst/>
                        </a:prstGeom>
                        <a:noFill/>
                        <a:ln w="38100">
                          <a:noFill/>
                        </a:ln>
                      </p:spPr>
                    </p:pic>
                  </p:oleObj>
                </mc:Fallback>
              </mc:AlternateContent>
            </a:graphicData>
          </a:graphic>
        </p:graphicFrame>
        <p:graphicFrame>
          <p:nvGraphicFramePr>
            <p:cNvPr id="45068" name="Object 8"/>
            <p:cNvGraphicFramePr/>
            <p:nvPr/>
          </p:nvGraphicFramePr>
          <p:xfrm>
            <a:off x="2511" y="1453"/>
            <a:ext cx="2441" cy="382"/>
          </p:xfrm>
          <a:graphic>
            <a:graphicData uri="http://schemas.openxmlformats.org/presentationml/2006/ole">
              <mc:AlternateContent xmlns:mc="http://schemas.openxmlformats.org/markup-compatibility/2006">
                <mc:Choice xmlns:v="urn:schemas-microsoft-com:vml" Requires="v">
                  <p:oleObj spid="_x0000_s10243" name="" r:id="rId5" imgW="12439650" imgH="1666875" progId="Word.Document.8">
                    <p:embed/>
                  </p:oleObj>
                </mc:Choice>
                <mc:Fallback>
                  <p:oleObj name="" r:id="rId5" imgW="12439650" imgH="1666875" progId="Word.Document.8">
                    <p:embed/>
                    <p:pic>
                      <p:nvPicPr>
                        <p:cNvPr id="0" name="图片 10242" descr="image20"/>
                        <p:cNvPicPr/>
                        <p:nvPr/>
                      </p:nvPicPr>
                      <p:blipFill>
                        <a:blip r:embed="rId6"/>
                        <a:stretch>
                          <a:fillRect/>
                        </a:stretch>
                      </p:blipFill>
                      <p:spPr>
                        <a:xfrm>
                          <a:off x="2511" y="1453"/>
                          <a:ext cx="2441" cy="382"/>
                        </a:xfrm>
                        <a:prstGeom prst="rect">
                          <a:avLst/>
                        </a:prstGeom>
                        <a:noFill/>
                        <a:ln w="38100">
                          <a:noFill/>
                        </a:ln>
                      </p:spPr>
                    </p:pic>
                  </p:oleObj>
                </mc:Fallback>
              </mc:AlternateContent>
            </a:graphicData>
          </a:graphic>
        </p:graphicFrame>
        <p:graphicFrame>
          <p:nvGraphicFramePr>
            <p:cNvPr id="45069" name="Object 9"/>
            <p:cNvGraphicFramePr/>
            <p:nvPr/>
          </p:nvGraphicFramePr>
          <p:xfrm>
            <a:off x="3187" y="2027"/>
            <a:ext cx="2441" cy="382"/>
          </p:xfrm>
          <a:graphic>
            <a:graphicData uri="http://schemas.openxmlformats.org/presentationml/2006/ole">
              <mc:AlternateContent xmlns:mc="http://schemas.openxmlformats.org/markup-compatibility/2006">
                <mc:Choice xmlns:v="urn:schemas-microsoft-com:vml" Requires="v">
                  <p:oleObj spid="_x0000_s10244" name="" r:id="rId7" imgW="12439650" imgH="1666875" progId="Word.Document.8">
                    <p:embed/>
                  </p:oleObj>
                </mc:Choice>
                <mc:Fallback>
                  <p:oleObj name="" r:id="rId7" imgW="12439650" imgH="1666875" progId="Word.Document.8">
                    <p:embed/>
                    <p:pic>
                      <p:nvPicPr>
                        <p:cNvPr id="0" name="图片 10243" descr="image21"/>
                        <p:cNvPicPr/>
                        <p:nvPr/>
                      </p:nvPicPr>
                      <p:blipFill>
                        <a:blip r:embed="rId8"/>
                        <a:stretch>
                          <a:fillRect/>
                        </a:stretch>
                      </p:blipFill>
                      <p:spPr>
                        <a:xfrm>
                          <a:off x="3187" y="2027"/>
                          <a:ext cx="2441" cy="382"/>
                        </a:xfrm>
                        <a:prstGeom prst="rect">
                          <a:avLst/>
                        </a:prstGeom>
                        <a:noFill/>
                        <a:ln w="38100">
                          <a:noFill/>
                        </a:ln>
                      </p:spPr>
                    </p:pic>
                  </p:oleObj>
                </mc:Fallback>
              </mc:AlternateContent>
            </a:graphicData>
          </a:graphic>
        </p:graphicFrame>
        <p:graphicFrame>
          <p:nvGraphicFramePr>
            <p:cNvPr id="45070" name="Object 10"/>
            <p:cNvGraphicFramePr/>
            <p:nvPr/>
          </p:nvGraphicFramePr>
          <p:xfrm>
            <a:off x="2848" y="1749"/>
            <a:ext cx="2441" cy="381"/>
          </p:xfrm>
          <a:graphic>
            <a:graphicData uri="http://schemas.openxmlformats.org/presentationml/2006/ole">
              <mc:AlternateContent xmlns:mc="http://schemas.openxmlformats.org/markup-compatibility/2006">
                <mc:Choice xmlns:v="urn:schemas-microsoft-com:vml" Requires="v">
                  <p:oleObj spid="_x0000_s10245" name="" r:id="rId9" imgW="12439650" imgH="1666875" progId="Word.Document.8">
                    <p:embed/>
                  </p:oleObj>
                </mc:Choice>
                <mc:Fallback>
                  <p:oleObj name="" r:id="rId9" imgW="12439650" imgH="1666875" progId="Word.Document.8">
                    <p:embed/>
                    <p:pic>
                      <p:nvPicPr>
                        <p:cNvPr id="0" name="图片 10244" descr="image22"/>
                        <p:cNvPicPr/>
                        <p:nvPr/>
                      </p:nvPicPr>
                      <p:blipFill>
                        <a:blip r:embed="rId10"/>
                        <a:stretch>
                          <a:fillRect/>
                        </a:stretch>
                      </p:blipFill>
                      <p:spPr>
                        <a:xfrm>
                          <a:off x="2848" y="1749"/>
                          <a:ext cx="2441" cy="381"/>
                        </a:xfrm>
                        <a:prstGeom prst="rect">
                          <a:avLst/>
                        </a:prstGeom>
                        <a:noFill/>
                        <a:ln w="38100">
                          <a:noFill/>
                        </a:ln>
                      </p:spPr>
                    </p:pic>
                  </p:oleObj>
                </mc:Fallback>
              </mc:AlternateContent>
            </a:graphicData>
          </a:graphic>
        </p:graphicFrame>
      </p:grpSp>
      <p:sp>
        <p:nvSpPr>
          <p:cNvPr id="45063" name="Line 11"/>
          <p:cNvSpPr/>
          <p:nvPr/>
        </p:nvSpPr>
        <p:spPr>
          <a:xfrm flipH="1">
            <a:off x="7174885" y="3481388"/>
            <a:ext cx="715340" cy="215900"/>
          </a:xfrm>
          <a:prstGeom prst="line">
            <a:avLst/>
          </a:prstGeom>
          <a:ln w="19050" cap="flat" cmpd="sng">
            <a:solidFill>
              <a:srgbClr val="FF0000"/>
            </a:solidFill>
            <a:prstDash val="solid"/>
            <a:headEnd type="none" w="med" len="med"/>
            <a:tailEnd type="triangle" w="med" len="med"/>
          </a:ln>
        </p:spPr>
      </p:sp>
      <p:sp>
        <p:nvSpPr>
          <p:cNvPr id="45064" name="Line 12"/>
          <p:cNvSpPr/>
          <p:nvPr/>
        </p:nvSpPr>
        <p:spPr>
          <a:xfrm flipH="1">
            <a:off x="7879643" y="3487738"/>
            <a:ext cx="16931" cy="647700"/>
          </a:xfrm>
          <a:prstGeom prst="line">
            <a:avLst/>
          </a:prstGeom>
          <a:ln w="19050" cap="flat" cmpd="sng">
            <a:solidFill>
              <a:srgbClr val="0000FF"/>
            </a:solidFill>
            <a:prstDash val="solid"/>
            <a:headEnd type="none" w="med" len="med"/>
            <a:tailEnd type="triangle" w="med" len="med"/>
          </a:ln>
        </p:spPr>
      </p:sp>
      <p:sp>
        <p:nvSpPr>
          <p:cNvPr id="45065" name="Line 13"/>
          <p:cNvSpPr/>
          <p:nvPr/>
        </p:nvSpPr>
        <p:spPr>
          <a:xfrm>
            <a:off x="8628845" y="3433764"/>
            <a:ext cx="8466" cy="1152525"/>
          </a:xfrm>
          <a:prstGeom prst="line">
            <a:avLst/>
          </a:prstGeom>
          <a:ln w="19050" cap="flat" cmpd="sng">
            <a:solidFill>
              <a:srgbClr val="0000FF"/>
            </a:solidFill>
            <a:prstDash val="solid"/>
            <a:headEnd type="none" w="med" len="med"/>
            <a:tailEnd type="triangle" w="med" len="med"/>
          </a:ln>
        </p:spPr>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21508" name="Rectangle 423"/>
          <p:cNvSpPr>
            <a:spLocks noChangeArrowheads="1"/>
          </p:cNvSpPr>
          <p:nvPr/>
        </p:nvSpPr>
        <p:spPr bwMode="auto">
          <a:xfrm>
            <a:off x="635" y="144780"/>
            <a:ext cx="2863215" cy="2168525"/>
          </a:xfrm>
          <a:prstGeom prst="rect">
            <a:avLst/>
          </a:prstGeom>
          <a:noFill/>
          <a:ln w="9525">
            <a:noFill/>
            <a:miter lim="800000"/>
          </a:ln>
        </p:spPr>
        <p:txBody>
          <a:bodyPr/>
          <a:lstStyle/>
          <a:p>
            <a:pPr marL="342900" marR="0" lvl="0" indent="-342900" algn="l" defTabSz="914400" rtl="0" eaLnBrk="1" fontAlgn="base" hangingPunct="1">
              <a:lnSpc>
                <a:spcPct val="150000"/>
              </a:lnSpc>
              <a:spcBef>
                <a:spcPts val="0"/>
              </a:spcBef>
              <a:spcAft>
                <a:spcPct val="0"/>
              </a:spcAft>
              <a:buClrTx/>
              <a:buSzTx/>
              <a:buFontTx/>
              <a:buChar char="•"/>
              <a:defRPr/>
            </a:pPr>
            <a:r>
              <a:rPr kumimoji="1" lang="en-US" altLang="zh-CN" sz="2000" b="1" i="0" u="none" strike="noStrike" kern="1200" cap="none" spc="0" normalizeH="0" baseline="0" noProof="0" dirty="0">
                <a:ln>
                  <a:noFill/>
                </a:ln>
                <a:solidFill>
                  <a:schemeClr val="tx1"/>
                </a:solidFill>
                <a:effectLst/>
                <a:uLnTx/>
                <a:uFillTx/>
                <a:latin typeface="+mn-ea"/>
                <a:ea typeface="+mn-ea"/>
                <a:cs typeface="+mn-cs"/>
              </a:rPr>
              <a:t>ALU Forward</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控制</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800100" marR="0" lvl="1" indent="-342900" algn="l" defTabSz="914400" rtl="0" eaLnBrk="1" fontAlgn="base" hangingPunct="1">
              <a:lnSpc>
                <a:spcPct val="150000"/>
              </a:lnSpc>
              <a:spcBef>
                <a:spcPts val="0"/>
              </a:spcBef>
              <a:spcAft>
                <a:spcPct val="0"/>
              </a:spcAft>
              <a:buClrTx/>
              <a:buSzTx/>
              <a:buFontTx/>
              <a:buChar char="•"/>
              <a:defRPr/>
            </a:pPr>
            <a:r>
              <a:rPr lang="en-US" altLang="zh-CN" sz="1400" b="1" dirty="0">
                <a:solidFill>
                  <a:srgbClr val="FF0000"/>
                </a:solidFill>
                <a:latin typeface="宋体" panose="02000500000000000000" pitchFamily="2" charset="-122"/>
                <a:cs typeface="宋体" panose="02000500000000000000" pitchFamily="2" charset="-122"/>
                <a:sym typeface="+mn-ea"/>
              </a:rPr>
              <a:t>EX</a:t>
            </a:r>
            <a:r>
              <a:rPr lang="zh-CN" altLang="en-US" sz="1400" b="1" dirty="0">
                <a:solidFill>
                  <a:srgbClr val="FF0000"/>
                </a:solidFill>
                <a:latin typeface="宋体" panose="02000500000000000000" pitchFamily="2" charset="-122"/>
                <a:cs typeface="宋体" panose="02000500000000000000" pitchFamily="2" charset="-122"/>
                <a:sym typeface="+mn-ea"/>
              </a:rPr>
              <a:t>阶段的指令为</a:t>
            </a:r>
            <a:r>
              <a:rPr lang="en-US" altLang="zh-CN" sz="1400" b="1" dirty="0">
                <a:solidFill>
                  <a:srgbClr val="FF0000"/>
                </a:solidFill>
                <a:latin typeface="宋体" panose="02000500000000000000" pitchFamily="2" charset="-122"/>
                <a:cs typeface="宋体" panose="02000500000000000000" pitchFamily="2" charset="-122"/>
                <a:sym typeface="+mn-ea"/>
              </a:rPr>
              <a:t>LD</a:t>
            </a:r>
            <a:r>
              <a:rPr lang="zh-CN" altLang="en-US" sz="1400" b="1" dirty="0">
                <a:solidFill>
                  <a:srgbClr val="FF0000"/>
                </a:solidFill>
                <a:latin typeface="宋体" panose="02000500000000000000" pitchFamily="2" charset="-122"/>
                <a:cs typeface="宋体" panose="02000500000000000000" pitchFamily="2" charset="-122"/>
                <a:sym typeface="+mn-ea"/>
              </a:rPr>
              <a:t>指令、指令寄存器中的源操作数寄存器号等于</a:t>
            </a:r>
            <a:r>
              <a:rPr lang="en-US" altLang="zh-CN" sz="1400" b="1" dirty="0">
                <a:solidFill>
                  <a:srgbClr val="FF0000"/>
                </a:solidFill>
                <a:latin typeface="宋体" panose="02000500000000000000" pitchFamily="2" charset="-122"/>
                <a:cs typeface="宋体" panose="02000500000000000000" pitchFamily="2" charset="-122"/>
                <a:sym typeface="+mn-ea"/>
              </a:rPr>
              <a:t>EX</a:t>
            </a:r>
            <a:r>
              <a:rPr lang="zh-CN" altLang="en-US" sz="1400" b="1" dirty="0">
                <a:solidFill>
                  <a:srgbClr val="FF0000"/>
                </a:solidFill>
                <a:latin typeface="宋体" panose="02000500000000000000" pitchFamily="2" charset="-122"/>
                <a:cs typeface="宋体" panose="02000500000000000000" pitchFamily="2" charset="-122"/>
                <a:sym typeface="+mn-ea"/>
              </a:rPr>
              <a:t>阶段的目标寄存器号且寄存器号非</a:t>
            </a:r>
            <a:r>
              <a:rPr lang="en-US" altLang="zh-CN" sz="1400" b="1" dirty="0">
                <a:solidFill>
                  <a:srgbClr val="FF0000"/>
                </a:solidFill>
                <a:latin typeface="宋体" panose="02000500000000000000" pitchFamily="2" charset="-122"/>
                <a:cs typeface="宋体" panose="02000500000000000000" pitchFamily="2" charset="-122"/>
                <a:sym typeface="+mn-ea"/>
              </a:rPr>
              <a:t>0,</a:t>
            </a:r>
            <a:r>
              <a:rPr lang="zh-CN" altLang="en-US" sz="1400" b="1" dirty="0">
                <a:solidFill>
                  <a:srgbClr val="FF0000"/>
                </a:solidFill>
                <a:latin typeface="宋体" panose="02000500000000000000" pitchFamily="2" charset="-122"/>
                <a:cs typeface="宋体" panose="02000500000000000000" pitchFamily="2" charset="-122"/>
                <a:sym typeface="+mn-ea"/>
              </a:rPr>
              <a:t>则冲突（</a:t>
            </a:r>
            <a:r>
              <a:rPr lang="en-US" altLang="zh-CN" sz="1400" b="1" dirty="0">
                <a:solidFill>
                  <a:srgbClr val="FF0000"/>
                </a:solidFill>
                <a:latin typeface="宋体" panose="02000500000000000000" pitchFamily="2" charset="-122"/>
                <a:cs typeface="宋体" panose="02000500000000000000" pitchFamily="2" charset="-122"/>
                <a:sym typeface="+mn-ea"/>
              </a:rPr>
              <a:t>stall=1</a:t>
            </a:r>
            <a:r>
              <a:rPr lang="zh-CN" altLang="en-US" sz="1400" b="1" dirty="0">
                <a:solidFill>
                  <a:srgbClr val="FF0000"/>
                </a:solidFill>
                <a:latin typeface="宋体" panose="02000500000000000000" pitchFamily="2" charset="-122"/>
                <a:cs typeface="宋体" panose="02000500000000000000" pitchFamily="2" charset="-122"/>
                <a:sym typeface="+mn-ea"/>
              </a:rPr>
              <a:t>）</a:t>
            </a:r>
            <a:endParaRPr lang="zh-CN" altLang="en-US" sz="1400" b="1"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10000"/>
              </a:lnSpc>
              <a:spcBef>
                <a:spcPct val="10000"/>
              </a:spcBef>
              <a:spcAft>
                <a:spcPct val="0"/>
              </a:spcAft>
              <a:buClrTx/>
              <a:buSzTx/>
              <a:buFontTx/>
              <a:buChar char="•"/>
              <a:defRPr/>
            </a:pPr>
            <a:endParaRPr kumimoji="1" lang="zh-CN" altLang="en-US" sz="1400" b="1" i="0" u="none" strike="noStrike" kern="1200" cap="none" spc="0" normalizeH="0" baseline="0" noProof="0" dirty="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endParaRPr>
          </a:p>
        </p:txBody>
      </p:sp>
      <p:pic>
        <p:nvPicPr>
          <p:cNvPr id="46085" name="图片 2"/>
          <p:cNvPicPr>
            <a:picLocks noChangeAspect="1"/>
          </p:cNvPicPr>
          <p:nvPr/>
        </p:nvPicPr>
        <p:blipFill>
          <a:blip r:embed="rId1" cstate="print"/>
          <a:stretch>
            <a:fillRect/>
          </a:stretch>
        </p:blipFill>
        <p:spPr>
          <a:xfrm>
            <a:off x="2863796" y="152400"/>
            <a:ext cx="8753394" cy="6572250"/>
          </a:xfrm>
          <a:prstGeom prst="rect">
            <a:avLst/>
          </a:prstGeom>
          <a:noFill/>
          <a:ln w="9525">
            <a:noFill/>
          </a:ln>
        </p:spPr>
      </p:pic>
      <p:sp>
        <p:nvSpPr>
          <p:cNvPr id="6" name="Rectangle 423"/>
          <p:cNvSpPr>
            <a:spLocks noChangeArrowheads="1"/>
          </p:cNvSpPr>
          <p:nvPr/>
        </p:nvSpPr>
        <p:spPr bwMode="auto">
          <a:xfrm>
            <a:off x="252095" y="3720465"/>
            <a:ext cx="2932430" cy="911860"/>
          </a:xfrm>
          <a:prstGeom prst="rect">
            <a:avLst/>
          </a:prstGeom>
          <a:solidFill>
            <a:srgbClr val="FFFF00"/>
          </a:solidFill>
          <a:ln w="9525">
            <a:noFill/>
            <a:miter lim="800000"/>
          </a:ln>
        </p:spPr>
        <p:txBody>
          <a:bodyPr/>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0000FF"/>
                </a:solidFill>
                <a:effectLst/>
                <a:uLnTx/>
                <a:uFillTx/>
                <a:latin typeface="+mn-ea"/>
                <a:ea typeface="+mn-ea"/>
                <a:cs typeface="+mn-cs"/>
              </a:rPr>
              <a:t>v1E = (instD.src1==</a:t>
            </a:r>
            <a:r>
              <a:rPr kumimoji="1" lang="en-US" altLang="zh-CN" sz="1000" b="1" i="0" u="none" strike="noStrike" kern="1200" cap="none" spc="0" normalizeH="0" baseline="0" noProof="0" dirty="0" err="1">
                <a:ln>
                  <a:noFill/>
                </a:ln>
                <a:solidFill>
                  <a:srgbClr val="0000FF"/>
                </a:solidFill>
                <a:effectLst/>
                <a:uLnTx/>
                <a:uFillTx/>
                <a:latin typeface="+mn-ea"/>
                <a:ea typeface="+mn-ea"/>
                <a:cs typeface="+mn-cs"/>
              </a:rPr>
              <a:t>destE</a:t>
            </a:r>
            <a:r>
              <a:rPr kumimoji="1" lang="en-US" altLang="zh-CN" sz="1000" b="1" i="0" u="none" strike="noStrike" kern="1200" cap="none" spc="0" normalizeH="0" baseline="0" noProof="0" dirty="0">
                <a:ln>
                  <a:noFill/>
                </a:ln>
                <a:solidFill>
                  <a:srgbClr val="0000FF"/>
                </a:solidFill>
                <a:effectLst/>
                <a:uLnTx/>
                <a:uFillTx/>
                <a:latin typeface="+mn-ea"/>
                <a:ea typeface="+mn-ea"/>
                <a:cs typeface="+mn-cs"/>
              </a:rPr>
              <a:t>) ? </a:t>
            </a:r>
            <a:r>
              <a:rPr kumimoji="1" lang="en-US" altLang="zh-CN" sz="1000" b="1" i="0" u="none" strike="noStrike" kern="1200" cap="none" spc="0" normalizeH="0" baseline="0" noProof="0" dirty="0" err="1">
                <a:ln>
                  <a:noFill/>
                </a:ln>
                <a:solidFill>
                  <a:srgbClr val="0000FF"/>
                </a:solidFill>
                <a:effectLst/>
                <a:uLnTx/>
                <a:uFillTx/>
                <a:latin typeface="+mn-ea"/>
                <a:ea typeface="+mn-ea"/>
                <a:cs typeface="+mn-cs"/>
              </a:rPr>
              <a:t>EXEres</a:t>
            </a:r>
            <a:r>
              <a:rPr kumimoji="1" lang="zh-CN" altLang="en-US" sz="1000" b="1" i="0" u="none" strike="noStrike" kern="1200" cap="none" spc="0" normalizeH="0" baseline="0" noProof="0" dirty="0">
                <a:ln>
                  <a:noFill/>
                </a:ln>
                <a:solidFill>
                  <a:srgbClr val="0000FF"/>
                </a:solidFill>
                <a:effectLst/>
                <a:uLnTx/>
                <a:uFillTx/>
                <a:latin typeface="+mn-ea"/>
                <a:ea typeface="+mn-ea"/>
                <a:cs typeface="+mn-cs"/>
              </a:rPr>
              <a:t> </a:t>
            </a:r>
            <a:r>
              <a:rPr kumimoji="1" lang="en-US" altLang="zh-CN" sz="1000" b="1" i="0" u="none" strike="noStrike" kern="1200" cap="none" spc="0" normalizeH="0" baseline="0" noProof="0" dirty="0">
                <a:ln>
                  <a:noFill/>
                </a:ln>
                <a:solidFill>
                  <a:srgbClr val="0000FF"/>
                </a:solidFill>
                <a:effectLst/>
                <a:uLnTx/>
                <a:uFillTx/>
                <a:latin typeface="+mn-ea"/>
                <a:ea typeface="+mn-ea"/>
                <a:cs typeface="+mn-cs"/>
              </a:rPr>
              <a:t>:</a:t>
            </a:r>
            <a:endParaRPr kumimoji="1" lang="en-US" altLang="zh-CN" sz="1000" b="1" i="0" u="none" strike="noStrike" kern="1200" cap="none" spc="0" normalizeH="0" baseline="0" noProof="0" dirty="0">
              <a:ln>
                <a:noFill/>
              </a:ln>
              <a:solidFill>
                <a:srgbClr val="0000FF"/>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      (instD.src1==</a:t>
            </a:r>
            <a:r>
              <a:rPr kumimoji="1" lang="en-US" altLang="zh-CN" sz="1000" b="1" i="0" u="none" strike="noStrike" kern="1200" cap="none" spc="0" normalizeH="0" baseline="0" noProof="0" dirty="0" err="1">
                <a:ln>
                  <a:noFill/>
                </a:ln>
                <a:solidFill>
                  <a:srgbClr val="0000FF"/>
                </a:solidFill>
                <a:effectLst/>
                <a:uLnTx/>
                <a:uFillTx/>
                <a:latin typeface="+mn-ea"/>
                <a:ea typeface="宋体" panose="02000500000000000000" pitchFamily="2" charset="-122"/>
                <a:cs typeface="+mn-cs"/>
              </a:rPr>
              <a:t>destM</a:t>
            </a:r>
            <a:r>
              <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 ? </a:t>
            </a:r>
            <a:r>
              <a:rPr kumimoji="1" lang="en-US" altLang="zh-CN" sz="1000" b="1" i="0" u="none" strike="noStrike" kern="1200" cap="none" spc="0" normalizeH="0" baseline="0" noProof="0" dirty="0" err="1">
                <a:ln>
                  <a:noFill/>
                </a:ln>
                <a:solidFill>
                  <a:srgbClr val="0000FF"/>
                </a:solidFill>
                <a:effectLst/>
                <a:uLnTx/>
                <a:uFillTx/>
                <a:latin typeface="+mn-ea"/>
                <a:ea typeface="宋体" panose="02000500000000000000" pitchFamily="2" charset="-122"/>
                <a:cs typeface="+mn-cs"/>
              </a:rPr>
              <a:t>MEMres</a:t>
            </a:r>
            <a:r>
              <a:rPr kumimoji="1" lang="zh-CN" altLang="en-US"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 </a:t>
            </a:r>
            <a:r>
              <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a:t>
            </a:r>
            <a:endParaRPr kumimoji="1" lang="en-US" altLang="zh-CN" sz="1000" b="1" i="0" u="none" strike="noStrike" kern="1200" cap="none" spc="0" normalizeH="0" baseline="0" noProof="0" dirty="0">
              <a:ln>
                <a:noFill/>
              </a:ln>
              <a:solidFill>
                <a:srgbClr val="0000FF"/>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      (instD.src1==</a:t>
            </a:r>
            <a:r>
              <a:rPr kumimoji="1" lang="en-US" altLang="zh-CN" sz="1000" b="1" i="0" u="none" strike="noStrike" kern="1200" cap="none" spc="0" normalizeH="0" baseline="0" noProof="0" dirty="0" err="1">
                <a:ln>
                  <a:noFill/>
                </a:ln>
                <a:solidFill>
                  <a:srgbClr val="0000FF"/>
                </a:solidFill>
                <a:effectLst/>
                <a:uLnTx/>
                <a:uFillTx/>
                <a:latin typeface="+mn-ea"/>
                <a:ea typeface="宋体" panose="02000500000000000000" pitchFamily="2" charset="-122"/>
                <a:cs typeface="+mn-cs"/>
              </a:rPr>
              <a:t>destW</a:t>
            </a:r>
            <a:r>
              <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 ? </a:t>
            </a:r>
            <a:r>
              <a:rPr kumimoji="1" lang="en-US" altLang="zh-CN" sz="1000" b="1" i="0" u="none" strike="noStrike" kern="1200" cap="none" spc="0" normalizeH="0" baseline="0" noProof="0" dirty="0" err="1">
                <a:ln>
                  <a:noFill/>
                </a:ln>
                <a:solidFill>
                  <a:srgbClr val="0000FF"/>
                </a:solidFill>
                <a:effectLst/>
                <a:uLnTx/>
                <a:uFillTx/>
                <a:latin typeface="+mn-ea"/>
                <a:ea typeface="宋体" panose="02000500000000000000" pitchFamily="2" charset="-122"/>
                <a:cs typeface="+mn-cs"/>
              </a:rPr>
              <a:t>WBres</a:t>
            </a:r>
            <a:r>
              <a:rPr kumimoji="1" lang="zh-CN" altLang="en-US"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  </a:t>
            </a:r>
            <a:r>
              <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a:t>
            </a:r>
            <a:endPar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0000FF"/>
                </a:solidFill>
                <a:effectLst/>
                <a:uLnTx/>
                <a:uFillTx/>
                <a:latin typeface="+mn-ea"/>
                <a:ea typeface="+mn-ea"/>
                <a:cs typeface="+mn-cs"/>
              </a:rPr>
              <a:t>                        </a:t>
            </a:r>
            <a:r>
              <a:rPr kumimoji="1" lang="en-US" altLang="zh-CN" sz="1000" b="1" i="0" u="none" strike="noStrike" kern="1200" cap="none" spc="0" normalizeH="0" baseline="0" noProof="0" dirty="0" err="1">
                <a:ln>
                  <a:noFill/>
                </a:ln>
                <a:solidFill>
                  <a:srgbClr val="0000FF"/>
                </a:solidFill>
                <a:effectLst/>
                <a:uLnTx/>
                <a:uFillTx/>
                <a:latin typeface="+mn-ea"/>
                <a:ea typeface="+mn-ea"/>
                <a:cs typeface="+mn-cs"/>
              </a:rPr>
              <a:t>IDvalue</a:t>
            </a:r>
            <a:r>
              <a:rPr kumimoji="1" lang="en-US" altLang="zh-CN" sz="1000" b="1" i="0" u="none" strike="noStrike" kern="1200" cap="none" spc="0" normalizeH="0" baseline="0" noProof="0" dirty="0">
                <a:ln>
                  <a:noFill/>
                </a:ln>
                <a:solidFill>
                  <a:srgbClr val="0000FF"/>
                </a:solidFill>
                <a:effectLst/>
                <a:uLnTx/>
                <a:uFillTx/>
                <a:latin typeface="+mn-ea"/>
                <a:ea typeface="+mn-ea"/>
                <a:cs typeface="+mn-cs"/>
              </a:rPr>
              <a:t>;       </a:t>
            </a:r>
            <a:endParaRPr kumimoji="1" lang="en-US" altLang="zh-CN" sz="1000" b="1" i="0" u="none" strike="noStrike" kern="1200" cap="none" spc="0" normalizeH="0" baseline="0" noProof="0" dirty="0">
              <a:ln>
                <a:noFill/>
              </a:ln>
              <a:solidFill>
                <a:srgbClr val="0000FF"/>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0000FF"/>
                </a:solidFill>
                <a:effectLst/>
                <a:uLnTx/>
                <a:uFillTx/>
                <a:latin typeface="+mn-ea"/>
                <a:ea typeface="+mn-ea"/>
                <a:cs typeface="+mn-cs"/>
              </a:rPr>
              <a:t> </a:t>
            </a:r>
            <a:endParaRPr kumimoji="1" lang="zh-CN" altLang="en-US" sz="1000" b="1" i="0" u="none" strike="noStrike" kern="1200" cap="none" spc="0" normalizeH="0" baseline="0" noProof="0" dirty="0">
              <a:ln>
                <a:noFill/>
              </a:ln>
              <a:solidFill>
                <a:srgbClr val="0000FF"/>
              </a:solidFill>
              <a:effectLst/>
              <a:uLnTx/>
              <a:uFillTx/>
              <a:latin typeface="+mn-ea"/>
              <a:ea typeface="+mn-ea"/>
              <a:cs typeface="+mn-cs"/>
            </a:endParaRPr>
          </a:p>
        </p:txBody>
      </p:sp>
      <p:sp>
        <p:nvSpPr>
          <p:cNvPr id="7" name="Rectangle 423"/>
          <p:cNvSpPr>
            <a:spLocks noChangeArrowheads="1"/>
          </p:cNvSpPr>
          <p:nvPr/>
        </p:nvSpPr>
        <p:spPr bwMode="auto">
          <a:xfrm>
            <a:off x="182245" y="2691765"/>
            <a:ext cx="3103245" cy="495300"/>
          </a:xfrm>
          <a:prstGeom prst="rect">
            <a:avLst/>
          </a:prstGeom>
          <a:solidFill>
            <a:srgbClr val="FFFF00"/>
          </a:solidFill>
          <a:ln w="9525">
            <a:noFill/>
            <a:miter lim="800000"/>
          </a:ln>
        </p:spPr>
        <p:txBody>
          <a:bodyPr/>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stall =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ALUopE</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OP_LW) &amp;&amp;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destE</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0) &amp;&amp; </a:t>
            </a:r>
            <a:endParaRPr kumimoji="1" lang="en-US" altLang="zh-CN" sz="1000" b="1" i="0" u="none" strike="noStrike" kern="1200" cap="none" spc="0" normalizeH="0" baseline="0" noProof="0" dirty="0">
              <a:ln>
                <a:noFill/>
              </a:ln>
              <a:solidFill>
                <a:srgbClr val="FF0000"/>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FF0000"/>
                </a:solidFill>
                <a:effectLst/>
                <a:uLnTx/>
                <a:uFillTx/>
                <a:latin typeface="+mn-ea"/>
                <a:ea typeface="宋体" panose="02000500000000000000" pitchFamily="2" charset="-122"/>
                <a:cs typeface="+mn-cs"/>
              </a:rPr>
              <a:t>      ((</a:t>
            </a:r>
            <a:r>
              <a:rPr kumimoji="1" lang="en-US" altLang="zh-CN" sz="1000" b="1" i="0" u="none" strike="noStrike" kern="1200" cap="none" spc="0" normalizeH="0" baseline="0" noProof="0" dirty="0" err="1">
                <a:ln>
                  <a:noFill/>
                </a:ln>
                <a:solidFill>
                  <a:srgbClr val="FF0000"/>
                </a:solidFill>
                <a:effectLst/>
                <a:uLnTx/>
                <a:uFillTx/>
                <a:latin typeface="+mn-ea"/>
                <a:ea typeface="宋体" panose="02000500000000000000" pitchFamily="2" charset="-122"/>
                <a:cs typeface="+mn-cs"/>
              </a:rPr>
              <a:t>destE</a:t>
            </a:r>
            <a:r>
              <a:rPr kumimoji="1" lang="en-US" altLang="zh-CN" sz="1000" b="1" i="0" u="none" strike="noStrike" kern="1200" cap="none" spc="0" normalizeH="0" baseline="0" noProof="0" dirty="0">
                <a:ln>
                  <a:noFill/>
                </a:ln>
                <a:solidFill>
                  <a:srgbClr val="FF0000"/>
                </a:solidFill>
                <a:effectLst/>
                <a:uLnTx/>
                <a:uFillTx/>
                <a:latin typeface="+mn-ea"/>
                <a:ea typeface="宋体" panose="02000500000000000000" pitchFamily="2" charset="-122"/>
                <a:cs typeface="+mn-cs"/>
              </a:rPr>
              <a:t>==instD.src1) || (</a:t>
            </a:r>
            <a:r>
              <a:rPr kumimoji="1" lang="en-US" altLang="zh-CN" sz="1000" b="1" i="0" u="none" strike="noStrike" kern="1200" cap="none" spc="0" normalizeH="0" baseline="0" noProof="0" dirty="0" err="1">
                <a:ln>
                  <a:noFill/>
                </a:ln>
                <a:solidFill>
                  <a:srgbClr val="FF0000"/>
                </a:solidFill>
                <a:effectLst/>
                <a:uLnTx/>
                <a:uFillTx/>
                <a:latin typeface="+mn-ea"/>
                <a:ea typeface="宋体" panose="02000500000000000000" pitchFamily="2" charset="-122"/>
                <a:cs typeface="+mn-cs"/>
              </a:rPr>
              <a:t>destE</a:t>
            </a:r>
            <a:r>
              <a:rPr kumimoji="1" lang="en-US" altLang="zh-CN" sz="1000" b="1" i="0" u="none" strike="noStrike" kern="1200" cap="none" spc="0" normalizeH="0" baseline="0" noProof="0" dirty="0">
                <a:ln>
                  <a:noFill/>
                </a:ln>
                <a:solidFill>
                  <a:srgbClr val="FF0000"/>
                </a:solidFill>
                <a:effectLst/>
                <a:uLnTx/>
                <a:uFillTx/>
                <a:latin typeface="+mn-ea"/>
                <a:ea typeface="宋体" panose="02000500000000000000" pitchFamily="2" charset="-122"/>
                <a:cs typeface="+mn-cs"/>
              </a:rPr>
              <a:t>==instD.src2));</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a:t>
            </a:r>
            <a:endParaRPr kumimoji="1" lang="en-US" altLang="zh-CN" sz="1000" b="1" i="0" u="none" strike="noStrike" kern="1200" cap="none" spc="0" normalizeH="0" baseline="0" noProof="0" dirty="0">
              <a:ln>
                <a:noFill/>
              </a:ln>
              <a:solidFill>
                <a:srgbClr val="FF0000"/>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xEl>
                                              <p:charRg st="0" end="37"/>
                                            </p:txEl>
                                          </p:spTgt>
                                        </p:tgtEl>
                                        <p:attrNameLst>
                                          <p:attrName>style.visibility</p:attrName>
                                        </p:attrNameLst>
                                      </p:cBhvr>
                                      <p:to>
                                        <p:strVal val="visible"/>
                                      </p:to>
                                    </p:set>
                                    <p:animEffect transition="in" filter="wipe(down)">
                                      <p:cBhvr>
                                        <p:cTn id="10" dur="500"/>
                                        <p:tgtEl>
                                          <p:spTgt spid="6">
                                            <p:txEl>
                                              <p:charRg st="0" end="37"/>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xEl>
                                              <p:charRg st="37" end="74"/>
                                            </p:txEl>
                                          </p:spTgt>
                                        </p:tgtEl>
                                        <p:attrNameLst>
                                          <p:attrName>style.visibility</p:attrName>
                                        </p:attrNameLst>
                                      </p:cBhvr>
                                      <p:to>
                                        <p:strVal val="visible"/>
                                      </p:to>
                                    </p:set>
                                    <p:animEffect transition="in" filter="wipe(down)">
                                      <p:cBhvr>
                                        <p:cTn id="13" dur="500"/>
                                        <p:tgtEl>
                                          <p:spTgt spid="6">
                                            <p:txEl>
                                              <p:charRg st="37" end="74"/>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xEl>
                                              <p:charRg st="74" end="111"/>
                                            </p:txEl>
                                          </p:spTgt>
                                        </p:tgtEl>
                                        <p:attrNameLst>
                                          <p:attrName>style.visibility</p:attrName>
                                        </p:attrNameLst>
                                      </p:cBhvr>
                                      <p:to>
                                        <p:strVal val="visible"/>
                                      </p:to>
                                    </p:set>
                                    <p:animEffect transition="in" filter="wipe(down)">
                                      <p:cBhvr>
                                        <p:cTn id="16" dur="500"/>
                                        <p:tgtEl>
                                          <p:spTgt spid="6">
                                            <p:txEl>
                                              <p:charRg st="74" end="111"/>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
                                            <p:txEl>
                                              <p:charRg st="111" end="155"/>
                                            </p:txEl>
                                          </p:spTgt>
                                        </p:tgtEl>
                                        <p:attrNameLst>
                                          <p:attrName>style.visibility</p:attrName>
                                        </p:attrNameLst>
                                      </p:cBhvr>
                                      <p:to>
                                        <p:strVal val="visible"/>
                                      </p:to>
                                    </p:set>
                                    <p:animEffect transition="in" filter="wipe(down)">
                                      <p:cBhvr>
                                        <p:cTn id="19" dur="500"/>
                                        <p:tgtEl>
                                          <p:spTgt spid="6">
                                            <p:txEl>
                                              <p:charRg st="111" end="155"/>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6">
                                            <p:txEl>
                                              <p:charRg st="155" end="157"/>
                                            </p:txEl>
                                          </p:spTgt>
                                        </p:tgtEl>
                                        <p:attrNameLst>
                                          <p:attrName>style.visibility</p:attrName>
                                        </p:attrNameLst>
                                      </p:cBhvr>
                                      <p:to>
                                        <p:strVal val="visible"/>
                                      </p:to>
                                    </p:set>
                                    <p:animEffect transition="in" filter="wipe(down)">
                                      <p:cBhvr>
                                        <p:cTn id="22" dur="500"/>
                                        <p:tgtEl>
                                          <p:spTgt spid="6">
                                            <p:txEl>
                                              <p:charRg st="155" end="15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7">
                                            <p:txEl>
                                              <p:charRg st="0" end="30"/>
                                            </p:txEl>
                                          </p:spTgt>
                                        </p:tgtEl>
                                        <p:attrNameLst>
                                          <p:attrName>style.visibility</p:attrName>
                                        </p:attrNameLst>
                                      </p:cBhvr>
                                      <p:to>
                                        <p:strVal val="visible"/>
                                      </p:to>
                                    </p:set>
                                    <p:animEffect transition="in" filter="wipe(down)">
                                      <p:cBhvr>
                                        <p:cTn id="30" dur="500"/>
                                        <p:tgtEl>
                                          <p:spTgt spid="7">
                                            <p:txEl>
                                              <p:charRg st="0" end="30"/>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7">
                                            <p:txEl>
                                              <p:charRg st="61" end="115"/>
                                            </p:txEl>
                                          </p:spTgt>
                                        </p:tgtEl>
                                        <p:attrNameLst>
                                          <p:attrName>style.visibility</p:attrName>
                                        </p:attrNameLst>
                                      </p:cBhvr>
                                      <p:to>
                                        <p:strVal val="visible"/>
                                      </p:to>
                                    </p:set>
                                    <p:animEffect transition="in" filter="wipe(down)">
                                      <p:cBhvr>
                                        <p:cTn id="33" dur="500"/>
                                        <p:tgtEl>
                                          <p:spTgt spid="7">
                                            <p:txEl>
                                              <p:charRg st="61" end="1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build="allAtOnce"/>
      <p:bldP spid="7" grpId="0" animBg="1" build="allAtOnce"/>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47107" name="Rectangle 2"/>
          <p:cNvSpPr>
            <a:spLocks noGrp="1"/>
          </p:cNvSpPr>
          <p:nvPr>
            <p:ph type="title"/>
          </p:nvPr>
        </p:nvSpPr>
        <p:spPr/>
        <p:txBody>
          <a:bodyPr vert="horz" wrap="square" lIns="91440" tIns="45720" rIns="91440" bIns="45720" anchor="ctr" anchorCtr="0"/>
          <a:lstStyle/>
          <a:p>
            <a:pPr eaLnBrk="1" hangingPunct="1"/>
            <a:r>
              <a:rPr lang="en-US" altLang="zh-CN" dirty="0"/>
              <a:t>Forwarding</a:t>
            </a:r>
            <a:r>
              <a:rPr lang="zh-CN" altLang="zh-CN" dirty="0"/>
              <a:t>的相关处理逻辑</a:t>
            </a:r>
            <a:endParaRPr lang="zh-CN" altLang="en-US" dirty="0"/>
          </a:p>
        </p:txBody>
      </p:sp>
      <p:sp>
        <p:nvSpPr>
          <p:cNvPr id="47108" name="Rectangle 3"/>
          <p:cNvSpPr>
            <a:spLocks noGrp="1"/>
          </p:cNvSpPr>
          <p:nvPr>
            <p:ph idx="1"/>
          </p:nvPr>
        </p:nvSpPr>
        <p:spPr>
          <a:xfrm>
            <a:off x="525184" y="1670050"/>
            <a:ext cx="10924811" cy="4552950"/>
          </a:xfrm>
        </p:spPr>
        <p:txBody>
          <a:bodyPr vert="horz" wrap="square" lIns="91440" tIns="45720" rIns="91440" bIns="45720" anchor="t" anchorCtr="0"/>
          <a:lstStyle/>
          <a:p>
            <a:pPr eaLnBrk="1" hangingPunct="1"/>
            <a:r>
              <a:rPr lang="zh-CN" altLang="en-US" dirty="0"/>
              <a:t>以</a:t>
            </a:r>
            <a:r>
              <a:rPr lang="en-US" altLang="zh-CN" dirty="0"/>
              <a:t>ALU</a:t>
            </a:r>
            <a:r>
              <a:rPr lang="zh-CN" altLang="en-US" dirty="0"/>
              <a:t>左端的输入为例（优先级由高到低）</a:t>
            </a:r>
            <a:endParaRPr lang="zh-CN" altLang="en-US" dirty="0"/>
          </a:p>
          <a:p>
            <a:pPr lvl="1" eaLnBrk="1" hangingPunct="1"/>
            <a:r>
              <a:rPr lang="zh-CN" altLang="en-US" dirty="0"/>
              <a:t>当</a:t>
            </a:r>
            <a:r>
              <a:rPr lang="en-US" altLang="zh-CN" dirty="0"/>
              <a:t>src1D==destE</a:t>
            </a:r>
            <a:r>
              <a:rPr lang="zh-CN" altLang="zh-CN" dirty="0"/>
              <a:t>且</a:t>
            </a:r>
            <a:r>
              <a:rPr lang="zh-CN" altLang="en-US" dirty="0"/>
              <a:t>执行级</a:t>
            </a:r>
            <a:r>
              <a:rPr lang="zh-CN" altLang="zh-CN" dirty="0"/>
              <a:t>操作是</a:t>
            </a:r>
            <a:r>
              <a:rPr lang="en-US" altLang="zh-CN" dirty="0"/>
              <a:t>load</a:t>
            </a:r>
            <a:r>
              <a:rPr lang="zh-CN" altLang="zh-CN" dirty="0"/>
              <a:t>时，后面流水线暂停，往前面流水线送空操作</a:t>
            </a:r>
            <a:endParaRPr lang="zh-CN" altLang="en-US" dirty="0"/>
          </a:p>
          <a:p>
            <a:pPr lvl="1" eaLnBrk="1" hangingPunct="1"/>
            <a:r>
              <a:rPr lang="zh-CN" altLang="en-US" dirty="0"/>
              <a:t>当</a:t>
            </a:r>
            <a:r>
              <a:rPr lang="en-US" altLang="zh-CN" dirty="0"/>
              <a:t>src1D==destE</a:t>
            </a:r>
            <a:r>
              <a:rPr lang="zh-CN" altLang="en-US" dirty="0"/>
              <a:t>且执行级操作不是</a:t>
            </a:r>
            <a:r>
              <a:rPr lang="en-US" altLang="zh-CN" dirty="0"/>
              <a:t>load</a:t>
            </a:r>
            <a:r>
              <a:rPr lang="zh-CN" altLang="en-US" dirty="0"/>
              <a:t>时，选择</a:t>
            </a:r>
            <a:r>
              <a:rPr lang="en-US" altLang="zh-CN" dirty="0"/>
              <a:t>ALU</a:t>
            </a:r>
            <a:r>
              <a:rPr lang="zh-CN" altLang="en-US" dirty="0"/>
              <a:t>输出通路</a:t>
            </a:r>
            <a:endParaRPr lang="zh-CN" altLang="en-US" dirty="0"/>
          </a:p>
          <a:p>
            <a:pPr lvl="1" eaLnBrk="1" hangingPunct="1"/>
            <a:r>
              <a:rPr lang="zh-CN" altLang="en-US" dirty="0"/>
              <a:t>当</a:t>
            </a:r>
            <a:r>
              <a:rPr lang="en-US" altLang="zh-CN" dirty="0"/>
              <a:t>src1D==destM</a:t>
            </a:r>
            <a:r>
              <a:rPr lang="zh-CN" altLang="en-US" dirty="0"/>
              <a:t>时，选择</a:t>
            </a:r>
            <a:r>
              <a:rPr lang="en-US" altLang="zh-CN" dirty="0"/>
              <a:t>MEM</a:t>
            </a:r>
            <a:r>
              <a:rPr lang="zh-CN" altLang="en-US" dirty="0"/>
              <a:t>阶段输出通路</a:t>
            </a:r>
            <a:endParaRPr lang="zh-CN" altLang="en-US" dirty="0"/>
          </a:p>
          <a:p>
            <a:pPr lvl="1" eaLnBrk="1" hangingPunct="1"/>
            <a:r>
              <a:rPr lang="zh-CN" altLang="en-US" dirty="0">
                <a:sym typeface="+mn-ea"/>
              </a:rPr>
              <a:t>当</a:t>
            </a:r>
            <a:r>
              <a:rPr lang="en-US" altLang="zh-CN" dirty="0">
                <a:sym typeface="+mn-ea"/>
              </a:rPr>
              <a:t>src1D==destW</a:t>
            </a:r>
            <a:r>
              <a:rPr lang="zh-CN" altLang="en-US" dirty="0">
                <a:sym typeface="+mn-ea"/>
              </a:rPr>
              <a:t>时，选择</a:t>
            </a:r>
            <a:r>
              <a:rPr lang="en-US" altLang="zh-CN" dirty="0">
                <a:sym typeface="+mn-ea"/>
              </a:rPr>
              <a:t>WB</a:t>
            </a:r>
            <a:r>
              <a:rPr lang="zh-CN" altLang="en-US" dirty="0">
                <a:sym typeface="+mn-ea"/>
              </a:rPr>
              <a:t>阶段输出通路</a:t>
            </a:r>
            <a:endParaRPr lang="zh-CN" altLang="en-US" dirty="0"/>
          </a:p>
          <a:p>
            <a:pPr lvl="1" eaLnBrk="1" hangingPunct="1"/>
            <a:r>
              <a:rPr lang="zh-CN" altLang="en-US" dirty="0"/>
              <a:t>当</a:t>
            </a:r>
            <a:r>
              <a:rPr lang="en-US" altLang="zh-CN" dirty="0"/>
              <a:t>src1D</a:t>
            </a:r>
            <a:r>
              <a:rPr lang="zh-CN" altLang="en-US" dirty="0"/>
              <a:t>和</a:t>
            </a:r>
            <a:r>
              <a:rPr lang="en-US" altLang="zh-CN" dirty="0"/>
              <a:t>destE</a:t>
            </a:r>
            <a:r>
              <a:rPr lang="zh-CN" altLang="en-US" dirty="0"/>
              <a:t>、</a:t>
            </a:r>
            <a:r>
              <a:rPr lang="en-US" altLang="zh-CN" dirty="0"/>
              <a:t>destM</a:t>
            </a:r>
            <a:r>
              <a:rPr lang="zh-CN" altLang="en-US" dirty="0"/>
              <a:t>、</a:t>
            </a:r>
            <a:r>
              <a:rPr lang="en-US" altLang="zh-CN" dirty="0"/>
              <a:t>destW</a:t>
            </a:r>
            <a:r>
              <a:rPr lang="zh-CN" altLang="en-US" dirty="0"/>
              <a:t>都不相等时，原通路</a:t>
            </a:r>
            <a:endParaRPr lang="zh-CN" alt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48131" name="Rectangle 2"/>
          <p:cNvSpPr>
            <a:spLocks noGrp="1"/>
          </p:cNvSpPr>
          <p:nvPr>
            <p:ph type="title"/>
          </p:nvPr>
        </p:nvSpPr>
        <p:spPr>
          <a:xfrm>
            <a:off x="914599" y="263526"/>
            <a:ext cx="10361851" cy="771525"/>
          </a:xfrm>
        </p:spPr>
        <p:txBody>
          <a:bodyPr vert="horz" wrap="square" lIns="91440" tIns="45720" rIns="91440" bIns="45720" anchor="ctr" anchorCtr="0"/>
          <a:lstStyle/>
          <a:p>
            <a:pPr eaLnBrk="1" hangingPunct="1"/>
            <a:r>
              <a:rPr lang="zh-CN" altLang="en-US" dirty="0"/>
              <a:t>通过静态调度解决相关</a:t>
            </a:r>
            <a:endParaRPr lang="zh-CN" altLang="en-US" dirty="0"/>
          </a:p>
        </p:txBody>
      </p:sp>
      <p:sp>
        <p:nvSpPr>
          <p:cNvPr id="48132" name="Rectangle 3"/>
          <p:cNvSpPr/>
          <p:nvPr/>
        </p:nvSpPr>
        <p:spPr>
          <a:xfrm>
            <a:off x="1041582" y="1295400"/>
            <a:ext cx="8380909" cy="1282700"/>
          </a:xfrm>
          <a:prstGeom prst="rect">
            <a:avLst/>
          </a:prstGeom>
          <a:noFill/>
          <a:ln w="12700">
            <a:noFill/>
          </a:ln>
        </p:spPr>
        <p:txBody>
          <a:bodyPr lIns="90488" tIns="44450" rIns="90488" bIns="44450"/>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285750" lvl="0" indent="-285750" eaLnBrk="1" hangingPunct="1">
              <a:lnSpc>
                <a:spcPct val="90000"/>
              </a:lnSpc>
              <a:spcBef>
                <a:spcPct val="30000"/>
              </a:spcBef>
              <a:buNone/>
            </a:pPr>
            <a:r>
              <a:rPr lang="zh-CN" altLang="en-US" sz="2400" b="1" dirty="0">
                <a:cs typeface="+mn-ea"/>
              </a:rPr>
              <a:t>如下程序段的优化和非优化代码</a:t>
            </a:r>
            <a:endParaRPr lang="zh-CN" altLang="en-US" sz="2400" b="1" dirty="0">
              <a:cs typeface="+mn-ea"/>
            </a:endParaRPr>
          </a:p>
          <a:p>
            <a:pPr marL="285750" lvl="0" indent="-285750" eaLnBrk="1" hangingPunct="1">
              <a:lnSpc>
                <a:spcPct val="90000"/>
              </a:lnSpc>
              <a:spcBef>
                <a:spcPct val="30000"/>
              </a:spcBef>
              <a:buNone/>
            </a:pPr>
            <a:r>
              <a:rPr lang="zh-CN" altLang="en-US" sz="2400" b="1" dirty="0">
                <a:cs typeface="+mn-ea"/>
              </a:rPr>
              <a:t>		</a:t>
            </a:r>
            <a:r>
              <a:rPr lang="en-US" altLang="zh-CN" sz="2400" b="1" dirty="0">
                <a:cs typeface="+mn-ea"/>
              </a:rPr>
              <a:t>a = b + c;</a:t>
            </a:r>
            <a:endParaRPr lang="en-US" altLang="zh-CN" sz="2400" b="1" dirty="0">
              <a:cs typeface="+mn-ea"/>
            </a:endParaRPr>
          </a:p>
          <a:p>
            <a:pPr marL="285750" lvl="0" indent="-285750" eaLnBrk="1" hangingPunct="1">
              <a:lnSpc>
                <a:spcPct val="90000"/>
              </a:lnSpc>
              <a:spcBef>
                <a:spcPct val="30000"/>
              </a:spcBef>
              <a:buNone/>
            </a:pPr>
            <a:r>
              <a:rPr lang="en-US" altLang="zh-CN" sz="2400" b="1" dirty="0">
                <a:cs typeface="+mn-ea"/>
              </a:rPr>
              <a:t>		d = e -f;</a:t>
            </a:r>
            <a:endParaRPr lang="en-US" altLang="zh-CN" sz="2400" b="1" dirty="0">
              <a:cs typeface="+mn-ea"/>
            </a:endParaRPr>
          </a:p>
          <a:p>
            <a:pPr marL="285750" lvl="0" indent="-285750" eaLnBrk="1" hangingPunct="1">
              <a:lnSpc>
                <a:spcPct val="90000"/>
              </a:lnSpc>
              <a:spcBef>
                <a:spcPct val="30000"/>
              </a:spcBef>
              <a:buNone/>
            </a:pPr>
            <a:r>
              <a:rPr lang="en-US" altLang="zh-CN" sz="2400" b="1" dirty="0">
                <a:cs typeface="+mn-ea"/>
              </a:rPr>
              <a:t> </a:t>
            </a:r>
            <a:endParaRPr lang="en-US" altLang="zh-CN" sz="1800" b="1" dirty="0">
              <a:cs typeface="+mn-ea"/>
            </a:endParaRPr>
          </a:p>
        </p:txBody>
      </p:sp>
      <p:sp>
        <p:nvSpPr>
          <p:cNvPr id="48133" name="Rectangle 4"/>
          <p:cNvSpPr>
            <a:spLocks noGrp="1"/>
          </p:cNvSpPr>
          <p:nvPr>
            <p:ph idx="1"/>
          </p:nvPr>
        </p:nvSpPr>
        <p:spPr>
          <a:xfrm>
            <a:off x="5303980" y="2927350"/>
            <a:ext cx="4774578" cy="3111500"/>
          </a:xfrm>
        </p:spPr>
        <p:txBody>
          <a:bodyPr vert="horz" wrap="square" lIns="90488" tIns="44450" rIns="90488" bIns="44450" anchor="t" anchorCtr="0"/>
          <a:lstStyle/>
          <a:p>
            <a:pPr marL="285750" indent="-285750" eaLnBrk="1" hangingPunct="1">
              <a:lnSpc>
                <a:spcPct val="100000"/>
              </a:lnSpc>
              <a:spcBef>
                <a:spcPts val="300"/>
              </a:spcBef>
              <a:buNone/>
            </a:pPr>
            <a:r>
              <a:rPr lang="en-US" altLang="zh-CN" sz="1800" dirty="0">
                <a:solidFill>
                  <a:srgbClr val="FF0000"/>
                </a:solidFill>
              </a:rPr>
              <a:t>Fast code:</a:t>
            </a:r>
            <a:endParaRPr lang="en-US" altLang="zh-CN" sz="1800" dirty="0">
              <a:solidFill>
                <a:srgbClr val="FF0000"/>
              </a:solidFill>
            </a:endParaRPr>
          </a:p>
          <a:p>
            <a:pPr marL="285750" indent="-285750" eaLnBrk="1" hangingPunct="1">
              <a:lnSpc>
                <a:spcPct val="100000"/>
              </a:lnSpc>
              <a:spcBef>
                <a:spcPts val="300"/>
              </a:spcBef>
              <a:buNone/>
            </a:pPr>
            <a:r>
              <a:rPr lang="en-US" altLang="zh-CN" sz="1800" dirty="0"/>
              <a:t>		LD.W 	Rb,b</a:t>
            </a:r>
            <a:endParaRPr lang="en-US" altLang="zh-CN" sz="1800" dirty="0"/>
          </a:p>
          <a:p>
            <a:pPr marL="285750" indent="-285750" eaLnBrk="1" hangingPunct="1">
              <a:lnSpc>
                <a:spcPct val="100000"/>
              </a:lnSpc>
              <a:spcBef>
                <a:spcPts val="300"/>
              </a:spcBef>
              <a:buNone/>
            </a:pPr>
            <a:r>
              <a:rPr lang="en-US" altLang="zh-CN" sz="1800" dirty="0"/>
              <a:t>		LD.W 	Rc,c</a:t>
            </a:r>
            <a:endParaRPr lang="en-US" altLang="zh-CN" sz="1800" dirty="0"/>
          </a:p>
          <a:p>
            <a:pPr marL="285750" indent="-285750" eaLnBrk="1" hangingPunct="1">
              <a:lnSpc>
                <a:spcPct val="100000"/>
              </a:lnSpc>
              <a:spcBef>
                <a:spcPts val="300"/>
              </a:spcBef>
              <a:buNone/>
            </a:pPr>
            <a:r>
              <a:rPr lang="en-US" altLang="zh-CN" sz="1800" dirty="0">
                <a:solidFill>
                  <a:schemeClr val="hlink"/>
                </a:solidFill>
              </a:rPr>
              <a:t>		</a:t>
            </a:r>
            <a:r>
              <a:rPr lang="en-US" altLang="zh-CN" sz="1800" u="sng" dirty="0">
                <a:solidFill>
                  <a:srgbClr val="FF0000"/>
                </a:solidFill>
              </a:rPr>
              <a:t>LD.W 	Re,e </a:t>
            </a:r>
            <a:endParaRPr lang="en-US" altLang="zh-CN" sz="1800" u="sng" dirty="0">
              <a:solidFill>
                <a:srgbClr val="FF0000"/>
              </a:solidFill>
            </a:endParaRPr>
          </a:p>
          <a:p>
            <a:pPr marL="285750" indent="-285750" eaLnBrk="1" hangingPunct="1">
              <a:lnSpc>
                <a:spcPct val="100000"/>
              </a:lnSpc>
              <a:spcBef>
                <a:spcPts val="300"/>
              </a:spcBef>
              <a:buNone/>
            </a:pPr>
            <a:r>
              <a:rPr lang="en-US" altLang="zh-CN" sz="1800" dirty="0"/>
              <a:t>		ADD.W 	Ra,Rb,Rc</a:t>
            </a:r>
            <a:endParaRPr lang="en-US" altLang="zh-CN" sz="1800" dirty="0"/>
          </a:p>
          <a:p>
            <a:pPr marL="285750" indent="-285750" eaLnBrk="1" hangingPunct="1">
              <a:lnSpc>
                <a:spcPct val="100000"/>
              </a:lnSpc>
              <a:spcBef>
                <a:spcPts val="300"/>
              </a:spcBef>
              <a:buNone/>
            </a:pPr>
            <a:r>
              <a:rPr lang="en-US" altLang="zh-CN" sz="1800" dirty="0"/>
              <a:t>		LD.W 	Rf,f</a:t>
            </a:r>
            <a:endParaRPr lang="en-US" altLang="zh-CN" sz="1800" dirty="0"/>
          </a:p>
          <a:p>
            <a:pPr marL="285750" indent="-285750" eaLnBrk="1" hangingPunct="1">
              <a:lnSpc>
                <a:spcPct val="100000"/>
              </a:lnSpc>
              <a:spcBef>
                <a:spcPts val="300"/>
              </a:spcBef>
              <a:buNone/>
            </a:pPr>
            <a:r>
              <a:rPr lang="en-US" altLang="zh-CN" sz="1800" dirty="0">
                <a:solidFill>
                  <a:schemeClr val="hlink"/>
                </a:solidFill>
              </a:rPr>
              <a:t>		</a:t>
            </a:r>
            <a:r>
              <a:rPr lang="en-US" altLang="zh-CN" sz="1800" u="sng" dirty="0">
                <a:solidFill>
                  <a:srgbClr val="FF0000"/>
                </a:solidFill>
              </a:rPr>
              <a:t>ST.W  	a,Ra </a:t>
            </a:r>
            <a:endParaRPr lang="en-US" altLang="zh-CN" sz="1800" u="sng" dirty="0">
              <a:solidFill>
                <a:srgbClr val="FF0000"/>
              </a:solidFill>
            </a:endParaRPr>
          </a:p>
          <a:p>
            <a:pPr marL="285750" indent="-285750" eaLnBrk="1" hangingPunct="1">
              <a:lnSpc>
                <a:spcPct val="100000"/>
              </a:lnSpc>
              <a:spcBef>
                <a:spcPts val="300"/>
              </a:spcBef>
              <a:buNone/>
            </a:pPr>
            <a:r>
              <a:rPr lang="en-US" altLang="zh-CN" sz="1800" dirty="0"/>
              <a:t>		SUB.W 	Rd,Re,Rf</a:t>
            </a:r>
            <a:endParaRPr lang="en-US" altLang="zh-CN" sz="1800" dirty="0"/>
          </a:p>
          <a:p>
            <a:pPr marL="285750" indent="-285750" eaLnBrk="1" hangingPunct="1">
              <a:lnSpc>
                <a:spcPct val="100000"/>
              </a:lnSpc>
              <a:spcBef>
                <a:spcPts val="300"/>
              </a:spcBef>
              <a:buNone/>
            </a:pPr>
            <a:r>
              <a:rPr lang="en-US" altLang="zh-CN" sz="1800" dirty="0"/>
              <a:t>		ST.W	d,Rd</a:t>
            </a:r>
            <a:endParaRPr lang="en-US" altLang="zh-CN" sz="1800" dirty="0"/>
          </a:p>
        </p:txBody>
      </p:sp>
      <p:sp>
        <p:nvSpPr>
          <p:cNvPr id="48134" name="Line 5"/>
          <p:cNvSpPr/>
          <p:nvPr/>
        </p:nvSpPr>
        <p:spPr>
          <a:xfrm>
            <a:off x="3635058" y="4389120"/>
            <a:ext cx="2612360" cy="579121"/>
          </a:xfrm>
          <a:prstGeom prst="line">
            <a:avLst/>
          </a:prstGeom>
          <a:ln w="25400" cap="flat" cmpd="sng">
            <a:solidFill>
              <a:srgbClr val="FF0000"/>
            </a:solidFill>
            <a:prstDash val="solid"/>
            <a:headEnd type="none" w="med" len="med"/>
            <a:tailEnd type="triangle" w="med" len="med"/>
          </a:ln>
        </p:spPr>
      </p:sp>
      <p:sp>
        <p:nvSpPr>
          <p:cNvPr id="48135" name="Line 6"/>
          <p:cNvSpPr/>
          <p:nvPr/>
        </p:nvSpPr>
        <p:spPr>
          <a:xfrm flipV="1">
            <a:off x="3623628" y="4033520"/>
            <a:ext cx="2620000" cy="732790"/>
          </a:xfrm>
          <a:prstGeom prst="line">
            <a:avLst/>
          </a:prstGeom>
          <a:ln w="25400" cap="flat" cmpd="sng">
            <a:solidFill>
              <a:srgbClr val="FF0000"/>
            </a:solidFill>
            <a:prstDash val="solid"/>
            <a:headEnd type="none" w="med" len="med"/>
            <a:tailEnd type="triangle" w="med" len="med"/>
          </a:ln>
        </p:spPr>
      </p:sp>
      <p:sp>
        <p:nvSpPr>
          <p:cNvPr id="48136" name="Rectangle 7"/>
          <p:cNvSpPr/>
          <p:nvPr/>
        </p:nvSpPr>
        <p:spPr>
          <a:xfrm>
            <a:off x="1233170" y="2876550"/>
            <a:ext cx="4290060" cy="3141980"/>
          </a:xfrm>
          <a:prstGeom prst="rect">
            <a:avLst/>
          </a:prstGeom>
          <a:noFill/>
          <a:ln w="12700">
            <a:noFill/>
          </a:ln>
        </p:spPr>
        <p:txBody>
          <a:bodyPr lIns="90488" tIns="44450" rIns="90488" bIns="44450"/>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285750" lvl="0" indent="-285750" eaLnBrk="1" hangingPunct="1">
              <a:lnSpc>
                <a:spcPct val="110000"/>
              </a:lnSpc>
              <a:spcBef>
                <a:spcPct val="10000"/>
              </a:spcBef>
              <a:buNone/>
            </a:pPr>
            <a:r>
              <a:rPr lang="en-US" altLang="zh-CN" sz="1800" b="1" dirty="0"/>
              <a:t>Slow code:</a:t>
            </a:r>
            <a:endParaRPr lang="en-US" altLang="zh-CN" sz="1800" b="1" dirty="0"/>
          </a:p>
          <a:p>
            <a:pPr marL="285750" lvl="0" indent="-285750" eaLnBrk="1" hangingPunct="1">
              <a:lnSpc>
                <a:spcPct val="110000"/>
              </a:lnSpc>
              <a:spcBef>
                <a:spcPct val="10000"/>
              </a:spcBef>
              <a:buNone/>
            </a:pPr>
            <a:r>
              <a:rPr lang="en-US" altLang="zh-CN" sz="1800" b="1" dirty="0"/>
              <a:t>		LD.W 	Rb,b</a:t>
            </a:r>
            <a:endParaRPr lang="en-US" altLang="zh-CN" sz="1800" b="1" dirty="0"/>
          </a:p>
          <a:p>
            <a:pPr marL="285750" lvl="0" indent="-285750" eaLnBrk="1" hangingPunct="1">
              <a:lnSpc>
                <a:spcPct val="110000"/>
              </a:lnSpc>
              <a:spcBef>
                <a:spcPct val="10000"/>
              </a:spcBef>
              <a:buNone/>
            </a:pPr>
            <a:r>
              <a:rPr lang="en-US" altLang="zh-CN" sz="1800" b="1" dirty="0"/>
              <a:t>		LD.W 	</a:t>
            </a:r>
            <a:r>
              <a:rPr lang="en-US" altLang="zh-CN" sz="1800" b="1" dirty="0">
                <a:solidFill>
                  <a:srgbClr val="FF0000"/>
                </a:solidFill>
              </a:rPr>
              <a:t>Rc</a:t>
            </a:r>
            <a:r>
              <a:rPr lang="en-US" altLang="zh-CN" sz="1800" b="1" dirty="0"/>
              <a:t>,c</a:t>
            </a:r>
            <a:endParaRPr lang="en-US" altLang="zh-CN" sz="1800" b="1" dirty="0"/>
          </a:p>
          <a:p>
            <a:pPr marL="285750" lvl="0" indent="-285750" eaLnBrk="1" hangingPunct="1">
              <a:lnSpc>
                <a:spcPct val="110000"/>
              </a:lnSpc>
              <a:spcBef>
                <a:spcPct val="10000"/>
              </a:spcBef>
              <a:buNone/>
            </a:pPr>
            <a:r>
              <a:rPr lang="en-US" altLang="zh-CN" sz="1800" b="1" dirty="0"/>
              <a:t>		ADD.W 	Ra,Rb,</a:t>
            </a:r>
            <a:r>
              <a:rPr lang="en-US" altLang="zh-CN" sz="1800" b="1" dirty="0">
                <a:solidFill>
                  <a:srgbClr val="FF0000"/>
                </a:solidFill>
              </a:rPr>
              <a:t>Rc</a:t>
            </a:r>
            <a:endParaRPr lang="en-US" altLang="zh-CN" sz="1800" b="1" dirty="0">
              <a:solidFill>
                <a:srgbClr val="FF0000"/>
              </a:solidFill>
            </a:endParaRPr>
          </a:p>
          <a:p>
            <a:pPr marL="285750" lvl="0" indent="-285750" eaLnBrk="1" hangingPunct="1">
              <a:lnSpc>
                <a:spcPct val="110000"/>
              </a:lnSpc>
              <a:spcBef>
                <a:spcPct val="10000"/>
              </a:spcBef>
              <a:buNone/>
            </a:pPr>
            <a:r>
              <a:rPr lang="en-US" altLang="zh-CN" sz="1800" b="1" dirty="0">
                <a:solidFill>
                  <a:srgbClr val="FF0000"/>
                </a:solidFill>
              </a:rPr>
              <a:t>		</a:t>
            </a:r>
            <a:r>
              <a:rPr lang="en-US" altLang="zh-CN" sz="1800" b="1" u="sng" dirty="0"/>
              <a:t>ST.W  	a,Ra </a:t>
            </a:r>
            <a:endParaRPr lang="en-US" altLang="zh-CN" sz="1800" b="1" u="sng" dirty="0"/>
          </a:p>
          <a:p>
            <a:pPr marL="285750" lvl="0" indent="-285750" eaLnBrk="1" hangingPunct="1">
              <a:lnSpc>
                <a:spcPct val="110000"/>
              </a:lnSpc>
              <a:spcBef>
                <a:spcPct val="10000"/>
              </a:spcBef>
              <a:buNone/>
            </a:pPr>
            <a:r>
              <a:rPr lang="en-US" altLang="zh-CN" sz="1800" b="1" dirty="0"/>
              <a:t>		LD.W 	Re,e </a:t>
            </a:r>
            <a:endParaRPr lang="en-US" altLang="zh-CN" sz="1800" b="1" dirty="0"/>
          </a:p>
          <a:p>
            <a:pPr marL="285750" lvl="0" indent="-285750" eaLnBrk="1" hangingPunct="1">
              <a:lnSpc>
                <a:spcPct val="110000"/>
              </a:lnSpc>
              <a:spcBef>
                <a:spcPct val="10000"/>
              </a:spcBef>
              <a:buNone/>
            </a:pPr>
            <a:r>
              <a:rPr lang="en-US" altLang="zh-CN" sz="1800" b="1" dirty="0"/>
              <a:t>		</a:t>
            </a:r>
            <a:r>
              <a:rPr lang="en-US" altLang="zh-CN" sz="1800" b="1" u="sng" dirty="0"/>
              <a:t>LD.W 	</a:t>
            </a:r>
            <a:r>
              <a:rPr lang="en-US" altLang="zh-CN" sz="1800" b="1" u="sng" dirty="0">
                <a:solidFill>
                  <a:srgbClr val="FF0000"/>
                </a:solidFill>
              </a:rPr>
              <a:t>Rf,</a:t>
            </a:r>
            <a:r>
              <a:rPr lang="en-US" altLang="zh-CN" sz="1800" b="1" u="sng" dirty="0"/>
              <a:t>f</a:t>
            </a:r>
            <a:endParaRPr lang="en-US" altLang="zh-CN" sz="1800" b="1" u="sng" dirty="0"/>
          </a:p>
          <a:p>
            <a:pPr marL="285750" lvl="0" indent="-285750" eaLnBrk="1" hangingPunct="1">
              <a:lnSpc>
                <a:spcPct val="110000"/>
              </a:lnSpc>
              <a:spcBef>
                <a:spcPct val="10000"/>
              </a:spcBef>
              <a:buNone/>
            </a:pPr>
            <a:r>
              <a:rPr lang="en-US" altLang="zh-CN" sz="1800" b="1" dirty="0"/>
              <a:t>		SUB.W 	Rd,Re,</a:t>
            </a:r>
            <a:r>
              <a:rPr lang="en-US" altLang="zh-CN" sz="1800" b="1" dirty="0">
                <a:solidFill>
                  <a:srgbClr val="FF0000"/>
                </a:solidFill>
              </a:rPr>
              <a:t>Rf</a:t>
            </a:r>
            <a:endParaRPr lang="en-US" altLang="zh-CN" sz="1800" b="1" dirty="0">
              <a:solidFill>
                <a:srgbClr val="FF0000"/>
              </a:solidFill>
            </a:endParaRPr>
          </a:p>
          <a:p>
            <a:pPr marL="285750" lvl="0" indent="-285750" eaLnBrk="1" hangingPunct="1">
              <a:lnSpc>
                <a:spcPct val="110000"/>
              </a:lnSpc>
              <a:spcBef>
                <a:spcPct val="10000"/>
              </a:spcBef>
              <a:buNone/>
            </a:pPr>
            <a:r>
              <a:rPr lang="en-US" altLang="zh-CN" sz="1800" b="1" dirty="0"/>
              <a:t>		ST.W	d,Rd</a:t>
            </a:r>
            <a:endParaRPr lang="en-US" altLang="zh-CN" sz="1800" b="1"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49155" name="Rectangle 2"/>
          <p:cNvSpPr/>
          <p:nvPr/>
        </p:nvSpPr>
        <p:spPr>
          <a:xfrm>
            <a:off x="912483" y="166689"/>
            <a:ext cx="10361851" cy="523875"/>
          </a:xfrm>
          <a:prstGeom prst="rect">
            <a:avLst/>
          </a:prstGeom>
          <a:noFill/>
          <a:ln w="9525">
            <a:noFill/>
          </a:ln>
        </p:spPr>
        <p:txBody>
          <a:bodyPr anchor="ctr" anchorCtr="0"/>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algn="ctr" eaLnBrk="1" hangingPunct="1">
              <a:lnSpc>
                <a:spcPct val="100000"/>
              </a:lnSpc>
              <a:spcBef>
                <a:spcPct val="0"/>
              </a:spcBef>
              <a:buNone/>
            </a:pPr>
            <a:r>
              <a:rPr lang="zh-CN" altLang="en-US" sz="3200" dirty="0">
                <a:solidFill>
                  <a:srgbClr val="FF0000"/>
                </a:solidFill>
                <a:latin typeface="Arial" panose="02080604020202020204" pitchFamily="34" charset="0"/>
                <a:ea typeface="黑体" panose="02000500000000000000" pitchFamily="49" charset="-122"/>
              </a:rPr>
              <a:t>例外（</a:t>
            </a:r>
            <a:r>
              <a:rPr lang="en-US" altLang="zh-CN" sz="3200" dirty="0">
                <a:solidFill>
                  <a:srgbClr val="FF0000"/>
                </a:solidFill>
                <a:latin typeface="Arial" panose="02080604020202020204" pitchFamily="34" charset="0"/>
                <a:ea typeface="黑体" panose="02000500000000000000" pitchFamily="49" charset="-122"/>
              </a:rPr>
              <a:t>Exception</a:t>
            </a:r>
            <a:r>
              <a:rPr lang="zh-CN" altLang="en-US" sz="3200" dirty="0">
                <a:solidFill>
                  <a:srgbClr val="FF0000"/>
                </a:solidFill>
                <a:latin typeface="Arial" panose="02080604020202020204" pitchFamily="34" charset="0"/>
                <a:ea typeface="黑体" panose="02000500000000000000" pitchFamily="49" charset="-122"/>
              </a:rPr>
              <a:t>）与流水线</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58372" name="Rectangle 3"/>
          <p:cNvSpPr>
            <a:spLocks noChangeArrowheads="1"/>
          </p:cNvSpPr>
          <p:nvPr/>
        </p:nvSpPr>
        <p:spPr bwMode="auto">
          <a:xfrm>
            <a:off x="533649" y="1076326"/>
            <a:ext cx="11119519" cy="5381625"/>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例外原因</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I/O</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请求：外部中断</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指令例外：用户请求例外</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1143000" marR="0" lvl="2" indent="-228600" algn="l" defTabSz="914400" rtl="0" eaLnBrk="1" fontAlgn="base" latinLnBrk="0" hangingPunct="1">
              <a:lnSpc>
                <a:spcPct val="150000"/>
              </a:lnSpc>
              <a:spcBef>
                <a:spcPts val="600"/>
              </a:spcBef>
              <a:spcAft>
                <a:spcPct val="0"/>
              </a:spcAft>
              <a:buClrTx/>
              <a:buSzTx/>
              <a:buFontTx/>
              <a:buChar char="•"/>
              <a:defRPr/>
            </a:pPr>
            <a:r>
              <a:rPr kumimoji="1" lang="zh-CN" altLang="en-US" sz="1400" b="1" i="0" u="none" strike="noStrike" kern="1200" cap="none" spc="0" normalizeH="0" baseline="0" noProof="0" dirty="0">
                <a:ln>
                  <a:noFill/>
                </a:ln>
                <a:solidFill>
                  <a:schemeClr val="tx1"/>
                </a:solidFill>
                <a:effectLst/>
                <a:uLnTx/>
                <a:uFillTx/>
                <a:latin typeface="+mn-ea"/>
                <a:ea typeface="+mn-ea"/>
                <a:cs typeface="+mn-cs"/>
              </a:rPr>
              <a:t>系统调用、断点、跟踪调试指令</a:t>
            </a:r>
            <a:endParaRPr kumimoji="1" lang="zh-CN" altLang="en-US" sz="14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运算部件</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1143000" marR="0" lvl="2" indent="-228600" algn="l" defTabSz="914400" rtl="0" eaLnBrk="1" fontAlgn="base" latinLnBrk="0" hangingPunct="1">
              <a:lnSpc>
                <a:spcPct val="150000"/>
              </a:lnSpc>
              <a:spcBef>
                <a:spcPts val="600"/>
              </a:spcBef>
              <a:spcAft>
                <a:spcPct val="0"/>
              </a:spcAft>
              <a:buClrTx/>
              <a:buSzTx/>
              <a:buFontTx/>
              <a:buChar char="•"/>
              <a:defRPr/>
            </a:pPr>
            <a:r>
              <a:rPr kumimoji="1" lang="zh-CN" altLang="en-US" sz="1400" b="1" i="0" u="none" strike="noStrike" kern="1200" cap="none" spc="0" normalizeH="0" baseline="0" noProof="0" dirty="0">
                <a:ln>
                  <a:noFill/>
                </a:ln>
                <a:solidFill>
                  <a:schemeClr val="tx1"/>
                </a:solidFill>
                <a:effectLst/>
                <a:uLnTx/>
                <a:uFillTx/>
                <a:latin typeface="+mn-ea"/>
                <a:ea typeface="+mn-ea"/>
                <a:cs typeface="+mn-cs"/>
              </a:rPr>
              <a:t>整数运算溢出、浮点异常</a:t>
            </a:r>
            <a:endParaRPr kumimoji="1" lang="zh-CN" altLang="en-US" sz="14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存储管理部件</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1143000" marR="0" lvl="2" indent="-228600" algn="l" defTabSz="914400" rtl="0" eaLnBrk="1" fontAlgn="base" latinLnBrk="0" hangingPunct="1">
              <a:lnSpc>
                <a:spcPct val="150000"/>
              </a:lnSpc>
              <a:spcBef>
                <a:spcPts val="600"/>
              </a:spcBef>
              <a:spcAft>
                <a:spcPct val="0"/>
              </a:spcAft>
              <a:buClrTx/>
              <a:buSzTx/>
              <a:buFontTx/>
              <a:buChar char="•"/>
              <a:defRPr/>
            </a:pPr>
            <a:r>
              <a:rPr kumimoji="1" lang="zh-CN" altLang="en-US" sz="1400" b="1" i="0" u="none" strike="noStrike" kern="1200" cap="none" spc="0" normalizeH="0" baseline="0" noProof="0" dirty="0">
                <a:ln>
                  <a:noFill/>
                </a:ln>
                <a:solidFill>
                  <a:schemeClr val="tx1"/>
                </a:solidFill>
                <a:effectLst/>
                <a:uLnTx/>
                <a:uFillTx/>
                <a:latin typeface="+mn-ea"/>
                <a:ea typeface="+mn-ea"/>
                <a:cs typeface="+mn-cs"/>
              </a:rPr>
              <a:t>访存地址不对齐、用户访问系统空间、</a:t>
            </a:r>
            <a:r>
              <a:rPr kumimoji="1" lang="en-US" altLang="zh-CN" sz="1400" b="1" i="0" u="none" strike="noStrike" kern="1200" cap="none" spc="0" normalizeH="0" baseline="0" noProof="0" dirty="0">
                <a:ln>
                  <a:noFill/>
                </a:ln>
                <a:solidFill>
                  <a:schemeClr val="tx1"/>
                </a:solidFill>
                <a:effectLst/>
                <a:uLnTx/>
                <a:uFillTx/>
                <a:latin typeface="+mn-ea"/>
                <a:ea typeface="+mn-ea"/>
                <a:cs typeface="+mn-cs"/>
              </a:rPr>
              <a:t>TLB</a:t>
            </a:r>
            <a:r>
              <a:rPr kumimoji="1" lang="zh-CN" altLang="en-US" sz="1400" b="1" i="0" u="none" strike="noStrike" kern="1200" cap="none" spc="0" normalizeH="0" baseline="0" noProof="0" dirty="0">
                <a:ln>
                  <a:noFill/>
                </a:ln>
                <a:solidFill>
                  <a:schemeClr val="tx1"/>
                </a:solidFill>
                <a:effectLst/>
                <a:uLnTx/>
                <a:uFillTx/>
                <a:latin typeface="+mn-ea"/>
                <a:ea typeface="+mn-ea"/>
                <a:cs typeface="+mn-cs"/>
              </a:rPr>
              <a:t>失效、缺页、存储保护错（写只读页）</a:t>
            </a:r>
            <a:endParaRPr kumimoji="1" lang="zh-CN" altLang="en-US" sz="14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保留指令错：未实现指令</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硬件错</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等等</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ChangeArrowheads="1"/>
          </p:cNvSpPr>
          <p:nvPr/>
        </p:nvSpPr>
        <p:spPr bwMode="auto">
          <a:xfrm>
            <a:off x="673735" y="1081405"/>
            <a:ext cx="10702290" cy="5450205"/>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例外发生的流水阶段</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取指：访存例外</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译码：保留指令、中断指令如</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Trap</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a:t>
            </a:r>
            <a:r>
              <a:rPr kumimoji="1" lang="en-US" altLang="zh-CN" sz="1600" b="1" i="0" u="none" strike="noStrike" kern="1200" cap="none" spc="0" normalizeH="0" baseline="0" noProof="0" dirty="0" err="1">
                <a:ln>
                  <a:noFill/>
                </a:ln>
                <a:solidFill>
                  <a:schemeClr val="tx1"/>
                </a:solidFill>
                <a:effectLst/>
                <a:uLnTx/>
                <a:uFillTx/>
                <a:latin typeface="+mn-ea"/>
                <a:ea typeface="+mn-ea"/>
                <a:cs typeface="+mn-cs"/>
              </a:rPr>
              <a:t>Syscall</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执行：整数溢出、浮点异常（如除零）等</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访存：访存例外</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其它：外部中断，可能在任何时候发生</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例外特征</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同步与异步</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用户请求与系统强制</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可屏蔽与不可屏蔽</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指令内与指令间</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可恢复与结束</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p:txBody>
      </p:sp>
      <p:graphicFrame>
        <p:nvGraphicFramePr>
          <p:cNvPr id="2" name="表格 1"/>
          <p:cNvGraphicFramePr/>
          <p:nvPr/>
        </p:nvGraphicFramePr>
        <p:xfrm>
          <a:off x="5626735" y="3124200"/>
          <a:ext cx="6252845" cy="3589655"/>
        </p:xfrm>
        <a:graphic>
          <a:graphicData uri="http://schemas.openxmlformats.org/drawingml/2006/table">
            <a:tbl>
              <a:tblPr firstRow="1" bandRow="1">
                <a:tableStyleId>{5C22544A-7EE6-4342-B048-85BDC9FD1C3A}</a:tableStyleId>
              </a:tblPr>
              <a:tblGrid>
                <a:gridCol w="1196975"/>
                <a:gridCol w="951230"/>
                <a:gridCol w="951230"/>
                <a:gridCol w="1170940"/>
                <a:gridCol w="911860"/>
                <a:gridCol w="1070610"/>
              </a:tblGrid>
              <a:tr h="297815">
                <a:tc>
                  <a:txBody>
                    <a:bodyPr/>
                    <a:p>
                      <a:pPr>
                        <a:buNone/>
                      </a:pPr>
                      <a:endParaRPr lang="zh-CN" altLang="en-US" sz="1200" b="1">
                        <a:solidFill>
                          <a:srgbClr val="FF0000"/>
                        </a:solidFill>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buNone/>
                      </a:pPr>
                      <a:r>
                        <a:rPr lang="zh-CN" altLang="en-US" sz="1200" b="1">
                          <a:solidFill>
                            <a:srgbClr val="FF0000"/>
                          </a:solidFill>
                          <a:latin typeface="+mn-ea"/>
                          <a:cs typeface="+mn-ea"/>
                        </a:rPr>
                        <a:t>同步</a:t>
                      </a:r>
                      <a:r>
                        <a:rPr lang="en-US" altLang="zh-CN" sz="1200" b="1">
                          <a:solidFill>
                            <a:srgbClr val="FF0000"/>
                          </a:solidFill>
                          <a:latin typeface="+mn-ea"/>
                          <a:cs typeface="+mn-ea"/>
                        </a:rPr>
                        <a:t>/</a:t>
                      </a:r>
                      <a:r>
                        <a:rPr lang="zh-CN" altLang="en-US" sz="1200" b="1">
                          <a:solidFill>
                            <a:srgbClr val="FF0000"/>
                          </a:solidFill>
                          <a:latin typeface="+mn-ea"/>
                          <a:cs typeface="+mn-ea"/>
                        </a:rPr>
                        <a:t>异步</a:t>
                      </a:r>
                      <a:endParaRPr lang="zh-CN" altLang="en-US" sz="1200" b="1">
                        <a:solidFill>
                          <a:srgbClr val="FF0000"/>
                        </a:solidFill>
                        <a:latin typeface="+mn-ea"/>
                        <a:cs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buNone/>
                      </a:pPr>
                      <a:r>
                        <a:rPr lang="zh-CN" altLang="en-US" sz="1200" b="1">
                          <a:solidFill>
                            <a:srgbClr val="FF0000"/>
                          </a:solidFill>
                          <a:latin typeface="+mn-ea"/>
                          <a:cs typeface="+mn-ea"/>
                        </a:rPr>
                        <a:t>用户</a:t>
                      </a:r>
                      <a:r>
                        <a:rPr lang="en-US" altLang="zh-CN" sz="1200" b="1">
                          <a:solidFill>
                            <a:srgbClr val="FF0000"/>
                          </a:solidFill>
                          <a:latin typeface="+mn-ea"/>
                          <a:cs typeface="+mn-ea"/>
                        </a:rPr>
                        <a:t>/</a:t>
                      </a:r>
                      <a:r>
                        <a:rPr lang="zh-CN" altLang="en-US" sz="1200" b="1">
                          <a:solidFill>
                            <a:srgbClr val="FF0000"/>
                          </a:solidFill>
                          <a:latin typeface="+mn-ea"/>
                          <a:cs typeface="+mn-ea"/>
                        </a:rPr>
                        <a:t>强制</a:t>
                      </a:r>
                      <a:endParaRPr lang="zh-CN" altLang="en-US" sz="1200" b="1">
                        <a:solidFill>
                          <a:srgbClr val="FF0000"/>
                        </a:solidFill>
                        <a:latin typeface="+mn-ea"/>
                        <a:cs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buNone/>
                      </a:pPr>
                      <a:r>
                        <a:rPr lang="zh-CN" altLang="en-US" sz="1200" b="1">
                          <a:solidFill>
                            <a:srgbClr val="FF0000"/>
                          </a:solidFill>
                          <a:latin typeface="+mn-ea"/>
                          <a:cs typeface="+mn-ea"/>
                        </a:rPr>
                        <a:t>可</a:t>
                      </a:r>
                      <a:r>
                        <a:rPr lang="en-US" altLang="zh-CN" sz="1200" b="1">
                          <a:solidFill>
                            <a:srgbClr val="FF0000"/>
                          </a:solidFill>
                          <a:latin typeface="+mn-ea"/>
                          <a:cs typeface="+mn-ea"/>
                        </a:rPr>
                        <a:t>/</a:t>
                      </a:r>
                      <a:r>
                        <a:rPr lang="zh-CN" altLang="en-US" sz="1200" b="1">
                          <a:solidFill>
                            <a:srgbClr val="FF0000"/>
                          </a:solidFill>
                          <a:latin typeface="+mn-ea"/>
                          <a:cs typeface="+mn-ea"/>
                        </a:rPr>
                        <a:t>不可屏蔽</a:t>
                      </a:r>
                      <a:endParaRPr lang="zh-CN" altLang="en-US" sz="1200" b="1">
                        <a:solidFill>
                          <a:srgbClr val="FF0000"/>
                        </a:solidFill>
                        <a:latin typeface="+mn-ea"/>
                        <a:cs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buNone/>
                      </a:pPr>
                      <a:r>
                        <a:rPr lang="zh-CN" altLang="en-US" sz="1200" b="1">
                          <a:solidFill>
                            <a:srgbClr val="FF0000"/>
                          </a:solidFill>
                          <a:latin typeface="+mn-ea"/>
                          <a:cs typeface="+mn-ea"/>
                        </a:rPr>
                        <a:t>指令内</a:t>
                      </a:r>
                      <a:r>
                        <a:rPr lang="en-US" altLang="zh-CN" sz="1200" b="1">
                          <a:solidFill>
                            <a:srgbClr val="FF0000"/>
                          </a:solidFill>
                          <a:latin typeface="+mn-ea"/>
                          <a:cs typeface="+mn-ea"/>
                        </a:rPr>
                        <a:t>/</a:t>
                      </a:r>
                      <a:r>
                        <a:rPr lang="zh-CN" altLang="en-US" sz="1200" b="1">
                          <a:solidFill>
                            <a:srgbClr val="FF0000"/>
                          </a:solidFill>
                          <a:latin typeface="+mn-ea"/>
                          <a:cs typeface="+mn-ea"/>
                        </a:rPr>
                        <a:t>间</a:t>
                      </a:r>
                      <a:endParaRPr lang="zh-CN" altLang="en-US" sz="1200" b="1">
                        <a:solidFill>
                          <a:srgbClr val="FF0000"/>
                        </a:solidFill>
                        <a:latin typeface="+mn-ea"/>
                        <a:cs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buNone/>
                      </a:pPr>
                      <a:r>
                        <a:rPr lang="zh-CN" altLang="en-US" sz="1200" b="1">
                          <a:solidFill>
                            <a:srgbClr val="FF0000"/>
                          </a:solidFill>
                          <a:latin typeface="+mn-ea"/>
                          <a:cs typeface="+mn-ea"/>
                        </a:rPr>
                        <a:t>可恢复</a:t>
                      </a:r>
                      <a:r>
                        <a:rPr lang="en-US" altLang="zh-CN" sz="1200" b="1">
                          <a:solidFill>
                            <a:srgbClr val="FF0000"/>
                          </a:solidFill>
                          <a:latin typeface="+mn-ea"/>
                          <a:cs typeface="+mn-ea"/>
                        </a:rPr>
                        <a:t>/</a:t>
                      </a:r>
                      <a:r>
                        <a:rPr lang="zh-CN" altLang="en-US" sz="1200" b="1">
                          <a:solidFill>
                            <a:srgbClr val="FF0000"/>
                          </a:solidFill>
                          <a:latin typeface="+mn-ea"/>
                          <a:cs typeface="+mn-ea"/>
                        </a:rPr>
                        <a:t>结束</a:t>
                      </a:r>
                      <a:endParaRPr lang="zh-CN" altLang="en-US" sz="1200" b="1">
                        <a:solidFill>
                          <a:srgbClr val="FF0000"/>
                        </a:solidFill>
                        <a:latin typeface="+mn-ea"/>
                        <a:cs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r>
              <a:tr h="274320">
                <a:tc>
                  <a:txBody>
                    <a:bodyPr/>
                    <a:p>
                      <a:pPr>
                        <a:buNone/>
                      </a:pPr>
                      <a:r>
                        <a:rPr lang="en-US" altLang="en-US" sz="1200" b="1">
                          <a:latin typeface="+mn-ea"/>
                          <a:cs typeface="+mn-ea"/>
                        </a:rPr>
                        <a:t>I/O</a:t>
                      </a:r>
                      <a:r>
                        <a:rPr lang="zh-CN" altLang="en-US" sz="1200" b="1">
                          <a:latin typeface="+mn-ea"/>
                          <a:cs typeface="+mn-ea"/>
                        </a:rPr>
                        <a:t>请求</a:t>
                      </a:r>
                      <a:endParaRPr lang="zh-CN" altLang="en-US" sz="1200" b="1">
                        <a:latin typeface="+mn-ea"/>
                        <a:cs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异步</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强制</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不可屏蔽</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指令间</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可恢复</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r>
              <a:tr h="274320">
                <a:tc>
                  <a:txBody>
                    <a:bodyPr/>
                    <a:p>
                      <a:pPr>
                        <a:buNone/>
                      </a:pPr>
                      <a:r>
                        <a:rPr lang="zh-CN" altLang="en-US" sz="1200" b="1">
                          <a:latin typeface="+mn-ea"/>
                        </a:rPr>
                        <a:t>系统调用</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同步</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用户</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不可屏蔽</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指令间</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可恢复</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r>
              <a:tr h="274320">
                <a:tc>
                  <a:txBody>
                    <a:bodyPr/>
                    <a:p>
                      <a:pPr>
                        <a:buNone/>
                      </a:pPr>
                      <a:r>
                        <a:rPr lang="zh-CN" altLang="en-US" sz="1200" b="1">
                          <a:latin typeface="+mn-ea"/>
                        </a:rPr>
                        <a:t>跟踪调试</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同步</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用户</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可屏蔽</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指令间</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可恢复</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r>
              <a:tr h="274320">
                <a:tc>
                  <a:txBody>
                    <a:bodyPr/>
                    <a:p>
                      <a:pPr>
                        <a:buNone/>
                      </a:pPr>
                      <a:r>
                        <a:rPr lang="zh-CN" altLang="en-US" sz="1200" b="1">
                          <a:latin typeface="+mn-ea"/>
                        </a:rPr>
                        <a:t>断点</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同步</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用户</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可屏蔽</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指令间</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可恢复</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r>
              <a:tr h="274320">
                <a:tc>
                  <a:txBody>
                    <a:bodyPr/>
                    <a:p>
                      <a:pPr>
                        <a:buNone/>
                      </a:pPr>
                      <a:r>
                        <a:rPr lang="zh-CN" altLang="en-US" sz="1200" b="1">
                          <a:latin typeface="+mn-ea"/>
                        </a:rPr>
                        <a:t>整数溢出</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同步</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强制</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可屏蔽</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指令内</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可恢复</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r>
              <a:tr h="274320">
                <a:tc>
                  <a:txBody>
                    <a:bodyPr/>
                    <a:p>
                      <a:pPr>
                        <a:buNone/>
                      </a:pPr>
                      <a:r>
                        <a:rPr lang="zh-CN" altLang="en-US" sz="1200" b="1">
                          <a:latin typeface="+mn-ea"/>
                        </a:rPr>
                        <a:t>浮点异常</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同步</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强制</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可屏蔽</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指令内</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可恢复</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r>
              <a:tr h="274320">
                <a:tc>
                  <a:txBody>
                    <a:bodyPr/>
                    <a:p>
                      <a:pPr>
                        <a:buNone/>
                      </a:pPr>
                      <a:r>
                        <a:rPr lang="zh-CN" altLang="en-US" sz="1200" b="1">
                          <a:latin typeface="+mn-ea"/>
                        </a:rPr>
                        <a:t>缺页</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同步</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强制</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不可屏蔽</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指令内</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可恢复</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r>
              <a:tr h="196215">
                <a:tc>
                  <a:txBody>
                    <a:bodyPr/>
                    <a:p>
                      <a:pPr>
                        <a:buNone/>
                      </a:pPr>
                      <a:r>
                        <a:rPr lang="zh-CN" altLang="en-US" sz="1200" b="1">
                          <a:latin typeface="+mn-ea"/>
                        </a:rPr>
                        <a:t>访存地址不齐</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同步</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强制</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可屏蔽</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指令内</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可恢复</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r>
              <a:tr h="274320">
                <a:tc>
                  <a:txBody>
                    <a:bodyPr/>
                    <a:p>
                      <a:pPr>
                        <a:buNone/>
                      </a:pPr>
                      <a:r>
                        <a:rPr lang="zh-CN" altLang="en-US" sz="1200" b="1">
                          <a:latin typeface="+mn-ea"/>
                        </a:rPr>
                        <a:t>存储保护错</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同步</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强制</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不可屏蔽</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指令内</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可恢复</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r>
              <a:tr h="274320">
                <a:tc>
                  <a:txBody>
                    <a:bodyPr/>
                    <a:p>
                      <a:pPr>
                        <a:buNone/>
                      </a:pPr>
                      <a:r>
                        <a:rPr lang="zh-CN" altLang="en-US" sz="1200" b="1">
                          <a:latin typeface="+mn-ea"/>
                        </a:rPr>
                        <a:t>非法指令</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同步</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强制</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不可屏蔽</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指令内</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结束</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r>
              <a:tr h="274320">
                <a:tc>
                  <a:txBody>
                    <a:bodyPr/>
                    <a:p>
                      <a:pPr>
                        <a:buNone/>
                      </a:pPr>
                      <a:r>
                        <a:rPr lang="zh-CN" altLang="en-US" sz="1200" b="1">
                          <a:latin typeface="+mn-ea"/>
                        </a:rPr>
                        <a:t>硬件错</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异步</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强制</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不可屏蔽</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指令内</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结束</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r>
              <a:tr h="274320">
                <a:tc>
                  <a:txBody>
                    <a:bodyPr/>
                    <a:p>
                      <a:pPr>
                        <a:buNone/>
                      </a:pPr>
                      <a:r>
                        <a:rPr lang="zh-CN" altLang="en-US" sz="1200" b="1">
                          <a:latin typeface="+mn-ea"/>
                        </a:rPr>
                        <a:t>电源错</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异步</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强制</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不可屏蔽</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指令内</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c>
                  <a:txBody>
                    <a:bodyPr/>
                    <a:p>
                      <a:pPr algn="ctr">
                        <a:buNone/>
                      </a:pPr>
                      <a:r>
                        <a:rPr lang="zh-CN" altLang="en-US" sz="1200" b="1">
                          <a:latin typeface="+mn-ea"/>
                        </a:rPr>
                        <a:t>结束</a:t>
                      </a:r>
                      <a:endParaRPr lang="zh-CN" altLang="en-US" sz="1200" b="1">
                        <a:latin typeface="+mn-ea"/>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lumMod val="20000"/>
                        <a:lumOff val="80000"/>
                      </a:schemeClr>
                    </a:solidFill>
                  </a:tcPr>
                </a:tc>
              </a:tr>
            </a:tbl>
          </a:graphicData>
        </a:graphic>
      </p:graphicFrame>
      <p:sp>
        <p:nvSpPr>
          <p:cNvPr id="49155" name="Rectangle 2"/>
          <p:cNvSpPr/>
          <p:nvPr/>
        </p:nvSpPr>
        <p:spPr>
          <a:xfrm>
            <a:off x="912483" y="166689"/>
            <a:ext cx="10361851" cy="523875"/>
          </a:xfrm>
          <a:prstGeom prst="rect">
            <a:avLst/>
          </a:prstGeom>
          <a:noFill/>
          <a:ln w="9525">
            <a:noFill/>
          </a:ln>
        </p:spPr>
        <p:txBody>
          <a:bodyPr anchor="ctr" anchorCtr="0"/>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algn="ctr" eaLnBrk="1" hangingPunct="1">
              <a:lnSpc>
                <a:spcPct val="100000"/>
              </a:lnSpc>
              <a:spcBef>
                <a:spcPct val="0"/>
              </a:spcBef>
              <a:buNone/>
            </a:pPr>
            <a:r>
              <a:rPr lang="zh-CN" altLang="en-US" sz="3200" dirty="0">
                <a:solidFill>
                  <a:srgbClr val="FF0000"/>
                </a:solidFill>
                <a:latin typeface="Arial" panose="02080604020202020204" pitchFamily="34" charset="0"/>
                <a:ea typeface="黑体" panose="02000500000000000000" pitchFamily="49" charset="-122"/>
              </a:rPr>
              <a:t>例外发生的流水阶段与类型</a:t>
            </a:r>
            <a:endParaRPr lang="zh-CN" altLang="en-US" sz="3200" dirty="0">
              <a:solidFill>
                <a:srgbClr val="FF0000"/>
              </a:solidFill>
              <a:latin typeface="Arial" panose="02080604020202020204" pitchFamily="34" charset="0"/>
              <a:ea typeface="黑体" panose="02000500000000000000" pitchFamily="49"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60419" name="Rectangle 2"/>
          <p:cNvSpPr>
            <a:spLocks noChangeArrowheads="1"/>
          </p:cNvSpPr>
          <p:nvPr/>
        </p:nvSpPr>
        <p:spPr bwMode="auto">
          <a:xfrm>
            <a:off x="573405" y="1009650"/>
            <a:ext cx="10944225" cy="5553075"/>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在前述例外中，</a:t>
            </a:r>
            <a:r>
              <a:rPr kumimoji="1" lang="zh-CN" altLang="en-US" sz="2000" b="1" i="0" u="none" strike="noStrike" kern="1200" cap="none" spc="0" normalizeH="0" baseline="0" noProof="0" dirty="0">
                <a:ln>
                  <a:noFill/>
                </a:ln>
                <a:solidFill>
                  <a:srgbClr val="FF0000"/>
                </a:solidFill>
                <a:effectLst/>
                <a:uLnTx/>
                <a:uFillTx/>
                <a:latin typeface="+mn-ea"/>
                <a:ea typeface="+mn-ea"/>
                <a:cs typeface="+mn-cs"/>
              </a:rPr>
              <a:t>指令内</a:t>
            </a:r>
            <a:r>
              <a:rPr kumimoji="1" lang="zh-CN" altLang="en-US" sz="2000" b="1" i="0" u="none" strike="noStrike" kern="1200" cap="none" spc="0" normalizeH="0" baseline="0" noProof="0" dirty="0">
                <a:ln>
                  <a:noFill/>
                </a:ln>
                <a:solidFill>
                  <a:srgbClr val="0000FF"/>
                </a:solidFill>
                <a:effectLst/>
                <a:uLnTx/>
                <a:uFillTx/>
                <a:latin typeface="+mn-ea"/>
                <a:ea typeface="+mn-ea"/>
                <a:cs typeface="+mn-cs"/>
              </a:rPr>
              <a:t>可恢复</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例外的处理比较困难，条件转移指令的</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delay slot</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又增加了例外处理的难度</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精确例外：在处理例外时，发生例外指令前面的所有指令都执行完，例外指令后面的所有指令还未执行。精确例外是存储管理和</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IEEE</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运算规范的要求</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发生例外指令前面的指令继续执行完</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后面的指令不能修改机器状态，对运算状态字的修改可能在</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EX</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阶段进行</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多条指令发生例外</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23559" name="Rectangle 2"/>
          <p:cNvSpPr>
            <a:spLocks noChangeArrowheads="1"/>
          </p:cNvSpPr>
          <p:nvPr/>
        </p:nvSpPr>
        <p:spPr bwMode="auto">
          <a:xfrm>
            <a:off x="929414" y="520700"/>
            <a:ext cx="10361851" cy="172720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可以把每条指令的例外延迟到</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WB</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时再处理</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对机器状态的修改也在</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WB</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阶段进行</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对状态寄存器的修改从</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EX</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阶段延迟到</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WB</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阶段</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p:txBody>
      </p:sp>
      <p:graphicFrame>
        <p:nvGraphicFramePr>
          <p:cNvPr id="53252" name="Object 3"/>
          <p:cNvGraphicFramePr/>
          <p:nvPr/>
        </p:nvGraphicFramePr>
        <p:xfrm>
          <a:off x="2807970" y="4655820"/>
          <a:ext cx="5774055" cy="504190"/>
        </p:xfrm>
        <a:graphic>
          <a:graphicData uri="http://schemas.openxmlformats.org/presentationml/2006/ole">
            <mc:AlternateContent xmlns:mc="http://schemas.openxmlformats.org/markup-compatibility/2006">
              <mc:Choice xmlns:v="urn:schemas-microsoft-com:vml" Requires="v">
                <p:oleObj spid="_x0000_s12289" name="" r:id="rId1" imgW="4324350" imgH="619125" progId="Word.Document.8">
                  <p:embed/>
                </p:oleObj>
              </mc:Choice>
              <mc:Fallback>
                <p:oleObj name="" r:id="rId1" imgW="4324350" imgH="619125" progId="Word.Document.8">
                  <p:embed/>
                  <p:pic>
                    <p:nvPicPr>
                      <p:cNvPr id="0" name="图片 12288" descr="image31"/>
                      <p:cNvPicPr/>
                      <p:nvPr/>
                    </p:nvPicPr>
                    <p:blipFill>
                      <a:blip r:embed="rId2"/>
                      <a:stretch>
                        <a:fillRect/>
                      </a:stretch>
                    </p:blipFill>
                    <p:spPr>
                      <a:xfrm>
                        <a:off x="2807970" y="4655820"/>
                        <a:ext cx="5774055" cy="504190"/>
                      </a:xfrm>
                      <a:prstGeom prst="rect">
                        <a:avLst/>
                      </a:prstGeom>
                      <a:noFill/>
                      <a:ln w="38100">
                        <a:noFill/>
                      </a:ln>
                    </p:spPr>
                  </p:pic>
                </p:oleObj>
              </mc:Fallback>
            </mc:AlternateContent>
          </a:graphicData>
        </a:graphic>
      </p:graphicFrame>
      <p:graphicFrame>
        <p:nvGraphicFramePr>
          <p:cNvPr id="53253" name="Object 4"/>
          <p:cNvGraphicFramePr/>
          <p:nvPr/>
        </p:nvGraphicFramePr>
        <p:xfrm>
          <a:off x="2789511" y="2914174"/>
          <a:ext cx="5759124" cy="612140"/>
        </p:xfrm>
        <a:graphic>
          <a:graphicData uri="http://schemas.openxmlformats.org/presentationml/2006/ole">
            <mc:AlternateContent xmlns:mc="http://schemas.openxmlformats.org/markup-compatibility/2006">
              <mc:Choice xmlns:v="urn:schemas-microsoft-com:vml" Requires="v">
                <p:oleObj spid="_x0000_s12290" name="" r:id="rId3" imgW="4324350" imgH="619125" progId="Word.Document.8">
                  <p:embed/>
                </p:oleObj>
              </mc:Choice>
              <mc:Fallback>
                <p:oleObj name="" r:id="rId3" imgW="4324350" imgH="619125" progId="Word.Document.8">
                  <p:embed/>
                  <p:pic>
                    <p:nvPicPr>
                      <p:cNvPr id="0" name="图片 12289" descr="olewpsimg_1753022303128501_4917991488"/>
                      <p:cNvPicPr/>
                      <p:nvPr/>
                    </p:nvPicPr>
                    <p:blipFill>
                      <a:blip r:embed="rId4"/>
                      <a:stretch>
                        <a:fillRect/>
                      </a:stretch>
                    </p:blipFill>
                    <p:spPr>
                      <a:xfrm>
                        <a:off x="2789511" y="2914174"/>
                        <a:ext cx="5759124" cy="612140"/>
                      </a:xfrm>
                      <a:prstGeom prst="rect">
                        <a:avLst/>
                      </a:prstGeom>
                      <a:noFill/>
                      <a:ln w="38100">
                        <a:noFill/>
                      </a:ln>
                    </p:spPr>
                  </p:pic>
                </p:oleObj>
              </mc:Fallback>
            </mc:AlternateContent>
          </a:graphicData>
        </a:graphic>
      </p:graphicFrame>
      <p:graphicFrame>
        <p:nvGraphicFramePr>
          <p:cNvPr id="53254" name="Object 5"/>
          <p:cNvGraphicFramePr/>
          <p:nvPr/>
        </p:nvGraphicFramePr>
        <p:xfrm>
          <a:off x="2780030" y="5479415"/>
          <a:ext cx="5862320" cy="642620"/>
        </p:xfrm>
        <a:graphic>
          <a:graphicData uri="http://schemas.openxmlformats.org/presentationml/2006/ole">
            <mc:AlternateContent xmlns:mc="http://schemas.openxmlformats.org/markup-compatibility/2006">
              <mc:Choice xmlns:v="urn:schemas-microsoft-com:vml" Requires="v">
                <p:oleObj spid="_x0000_s12291" name="" r:id="rId5" imgW="4324350" imgH="619125" progId="Word.Document.8">
                  <p:embed/>
                </p:oleObj>
              </mc:Choice>
              <mc:Fallback>
                <p:oleObj name="" r:id="rId5" imgW="4324350" imgH="619125" progId="Word.Document.8">
                  <p:embed/>
                  <p:pic>
                    <p:nvPicPr>
                      <p:cNvPr id="0" name="图片 12290" descr="image33"/>
                      <p:cNvPicPr/>
                      <p:nvPr/>
                    </p:nvPicPr>
                    <p:blipFill>
                      <a:blip r:embed="rId6"/>
                      <a:stretch>
                        <a:fillRect/>
                      </a:stretch>
                    </p:blipFill>
                    <p:spPr>
                      <a:xfrm>
                        <a:off x="2780030" y="5479415"/>
                        <a:ext cx="5862320" cy="642620"/>
                      </a:xfrm>
                      <a:prstGeom prst="rect">
                        <a:avLst/>
                      </a:prstGeom>
                      <a:noFill/>
                      <a:ln w="38100">
                        <a:noFill/>
                      </a:ln>
                    </p:spPr>
                  </p:pic>
                </p:oleObj>
              </mc:Fallback>
            </mc:AlternateContent>
          </a:graphicData>
        </a:graphic>
      </p:graphicFrame>
      <p:graphicFrame>
        <p:nvGraphicFramePr>
          <p:cNvPr id="53255" name="Object 6"/>
          <p:cNvGraphicFramePr/>
          <p:nvPr/>
        </p:nvGraphicFramePr>
        <p:xfrm>
          <a:off x="2808605" y="3733165"/>
          <a:ext cx="5773420" cy="483870"/>
        </p:xfrm>
        <a:graphic>
          <a:graphicData uri="http://schemas.openxmlformats.org/presentationml/2006/ole">
            <mc:AlternateContent xmlns:mc="http://schemas.openxmlformats.org/markup-compatibility/2006">
              <mc:Choice xmlns:v="urn:schemas-microsoft-com:vml" Requires="v">
                <p:oleObj spid="_x0000_s12292" name="" r:id="rId7" imgW="4324350" imgH="619125" progId="Word.Document.8">
                  <p:embed/>
                </p:oleObj>
              </mc:Choice>
              <mc:Fallback>
                <p:oleObj name="" r:id="rId7" imgW="4324350" imgH="619125" progId="Word.Document.8">
                  <p:embed/>
                  <p:pic>
                    <p:nvPicPr>
                      <p:cNvPr id="0" name="图片 12291" descr="image34"/>
                      <p:cNvPicPr/>
                      <p:nvPr/>
                    </p:nvPicPr>
                    <p:blipFill>
                      <a:blip r:embed="rId8"/>
                      <a:stretch>
                        <a:fillRect/>
                      </a:stretch>
                    </p:blipFill>
                    <p:spPr>
                      <a:xfrm>
                        <a:off x="2808605" y="3733165"/>
                        <a:ext cx="5773420" cy="483870"/>
                      </a:xfrm>
                      <a:prstGeom prst="rect">
                        <a:avLst/>
                      </a:prstGeom>
                      <a:noFill/>
                      <a:ln w="38100">
                        <a:noFill/>
                      </a:ln>
                    </p:spPr>
                  </p:pic>
                </p:oleObj>
              </mc:Fallback>
            </mc:AlternateContent>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61443" name="Rectangle 2"/>
          <p:cNvSpPr>
            <a:spLocks noChangeArrowheads="1"/>
          </p:cNvSpPr>
          <p:nvPr/>
        </p:nvSpPr>
        <p:spPr bwMode="auto">
          <a:xfrm>
            <a:off x="501650" y="1089660"/>
            <a:ext cx="11303635" cy="5006340"/>
          </a:xfrm>
          <a:prstGeom prst="rect">
            <a:avLst/>
          </a:prstGeom>
          <a:noFill/>
          <a:ln w="9525">
            <a:noFill/>
            <a:miter lim="800000"/>
          </a:ln>
        </p:spPr>
        <p:txBody>
          <a:bodyPr/>
          <a:lstStyle/>
          <a:p>
            <a:pPr marL="285750" marR="0" lvl="0"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任何一级流水发生例外时，在流水线中记录下发生例外的事件，直到</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WB</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阶段再处理</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285750" marR="0" lvl="0"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如果在</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EX</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阶段要修改机器状态（如状态寄存器），保存下来直到</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WB</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阶段再修改。</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285750" marR="0" lvl="0"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指令的</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PC</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值随指令流水前进到</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WB</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阶段例外处理专用</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285750" marR="0" lvl="0"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外部中断作为</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IF</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的例外处理</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285750" marR="0" lvl="0"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指定一个通用寄存器中（如最后一个）为例外处理时保存</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PC</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值专用。</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285750" marR="0" lvl="0" indent="-285750" algn="l" defTabSz="914400" rtl="0" eaLnBrk="1" fontAlgn="base" latinLnBrk="0" hangingPunct="1">
              <a:lnSpc>
                <a:spcPct val="150000"/>
              </a:lnSpc>
              <a:spcBef>
                <a:spcPts val="60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mn-ea"/>
                <a:ea typeface="+mn-ea"/>
                <a:cs typeface="+mn-cs"/>
              </a:rPr>
              <a:t>当发生例外的指令在</a:t>
            </a:r>
            <a:r>
              <a:rPr kumimoji="1" lang="en-US" altLang="zh-CN" sz="1800" b="1" i="0" u="none" strike="noStrike" kern="1200" cap="none" spc="0" normalizeH="0" baseline="0" noProof="0" dirty="0">
                <a:ln>
                  <a:noFill/>
                </a:ln>
                <a:solidFill>
                  <a:schemeClr val="tx1"/>
                </a:solidFill>
                <a:effectLst/>
                <a:uLnTx/>
                <a:uFillTx/>
                <a:latin typeface="+mn-ea"/>
                <a:ea typeface="+mn-ea"/>
                <a:cs typeface="+mn-cs"/>
              </a:rPr>
              <a:t>WB</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阶段时：</a:t>
            </a:r>
            <a:endParaRPr kumimoji="1"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685800" marR="0" lvl="1" indent="-22860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保存该指令的</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PC</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（也在</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WB</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阶段），有些机器还保存其它状态</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685800" marR="0" lvl="1" indent="-22860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置</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PC</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值为例外处理程序入口地址</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p:txBody>
      </p:sp>
      <p:sp>
        <p:nvSpPr>
          <p:cNvPr id="49155" name="Rectangle 2"/>
          <p:cNvSpPr/>
          <p:nvPr/>
        </p:nvSpPr>
        <p:spPr>
          <a:xfrm>
            <a:off x="912483" y="166689"/>
            <a:ext cx="10361851" cy="523875"/>
          </a:xfrm>
          <a:prstGeom prst="rect">
            <a:avLst/>
          </a:prstGeom>
          <a:noFill/>
          <a:ln w="9525">
            <a:noFill/>
          </a:ln>
        </p:spPr>
        <p:txBody>
          <a:bodyPr anchor="ctr" anchorCtr="0"/>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0" lvl="0" indent="0" algn="ctr" eaLnBrk="1" hangingPunct="1">
              <a:lnSpc>
                <a:spcPct val="100000"/>
              </a:lnSpc>
              <a:spcBef>
                <a:spcPct val="0"/>
              </a:spcBef>
              <a:buNone/>
            </a:pPr>
            <a:r>
              <a:rPr kumimoji="1" lang="zh-CN" altLang="en-US" sz="3200" noProof="0" dirty="0">
                <a:ln>
                  <a:noFill/>
                </a:ln>
                <a:solidFill>
                  <a:srgbClr val="FF0000"/>
                </a:solidFill>
                <a:effectLst/>
                <a:uLnTx/>
                <a:uFillTx/>
                <a:latin typeface="+mj-ea"/>
                <a:ea typeface="+mj-ea"/>
                <a:sym typeface="+mn-ea"/>
              </a:rPr>
              <a:t>简单流水线的例外处理</a:t>
            </a:r>
            <a:endParaRPr kumimoji="1" lang="zh-CN" altLang="en-US" sz="3200" noProof="0" dirty="0">
              <a:ln>
                <a:noFill/>
              </a:ln>
              <a:solidFill>
                <a:srgbClr val="FF0000"/>
              </a:solidFill>
              <a:effectLst/>
              <a:uLnTx/>
              <a:uFillTx/>
              <a:latin typeface="+mj-ea"/>
              <a:ea typeface="+mj-ea"/>
              <a:sym typeface="+mn-ea"/>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55299" name="Rectangle 489"/>
          <p:cNvSpPr/>
          <p:nvPr/>
        </p:nvSpPr>
        <p:spPr>
          <a:xfrm>
            <a:off x="267019" y="165100"/>
            <a:ext cx="3655008" cy="495300"/>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latin typeface="Times New Roman" pitchFamily="18" charset="0"/>
              </a:rPr>
              <a:t>例外处理通路</a:t>
            </a:r>
            <a:endParaRPr lang="zh-CN" altLang="en-US" b="1" dirty="0">
              <a:latin typeface="Times New Roman" pitchFamily="18" charset="0"/>
            </a:endParaRPr>
          </a:p>
        </p:txBody>
      </p:sp>
      <p:pic>
        <p:nvPicPr>
          <p:cNvPr id="55300" name="图片 2"/>
          <p:cNvPicPr>
            <a:picLocks noChangeAspect="1"/>
          </p:cNvPicPr>
          <p:nvPr/>
        </p:nvPicPr>
        <p:blipFill>
          <a:blip r:embed="rId1" cstate="print"/>
          <a:stretch>
            <a:fillRect/>
          </a:stretch>
        </p:blipFill>
        <p:spPr>
          <a:xfrm>
            <a:off x="2290253" y="571500"/>
            <a:ext cx="8230646" cy="6180138"/>
          </a:xfrm>
          <a:prstGeom prst="rect">
            <a:avLst/>
          </a:prstGeom>
          <a:noFill/>
          <a:ln w="9525">
            <a:noFill/>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56323" name="Rectangle 2"/>
          <p:cNvSpPr>
            <a:spLocks noGrp="1"/>
          </p:cNvSpPr>
          <p:nvPr>
            <p:ph type="title"/>
          </p:nvPr>
        </p:nvSpPr>
        <p:spPr/>
        <p:txBody>
          <a:bodyPr vert="horz" wrap="square" lIns="91440" tIns="45720" rIns="91440" bIns="45720" anchor="ctr" anchorCtr="0"/>
          <a:lstStyle/>
          <a:p>
            <a:pPr eaLnBrk="1" hangingPunct="1"/>
            <a:r>
              <a:rPr lang="zh-CN" altLang="en-US" dirty="0"/>
              <a:t>回顾</a:t>
            </a:r>
            <a:endParaRPr lang="zh-CN" altLang="en-US" dirty="0"/>
          </a:p>
        </p:txBody>
      </p:sp>
      <p:sp>
        <p:nvSpPr>
          <p:cNvPr id="56324" name="Rectangle 3"/>
          <p:cNvSpPr>
            <a:spLocks noGrp="1"/>
          </p:cNvSpPr>
          <p:nvPr>
            <p:ph idx="1"/>
          </p:nvPr>
        </p:nvSpPr>
        <p:spPr/>
        <p:txBody>
          <a:bodyPr vert="horz" wrap="square" lIns="91440" tIns="45720" rIns="91440" bIns="45720" anchor="t" anchorCtr="0"/>
          <a:lstStyle/>
          <a:p>
            <a:pPr eaLnBrk="1" hangingPunct="1"/>
            <a:endParaRPr lang="zh-CN" altLang="zh-CN"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25604" name="Rectangle 289"/>
          <p:cNvSpPr>
            <a:spLocks noChangeArrowheads="1"/>
          </p:cNvSpPr>
          <p:nvPr/>
        </p:nvSpPr>
        <p:spPr bwMode="auto">
          <a:xfrm>
            <a:off x="504020" y="284164"/>
            <a:ext cx="5314259" cy="2366963"/>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0"/>
              </a:spcBef>
              <a:spcAft>
                <a:spcPct val="0"/>
              </a:spcAft>
              <a:buClrTx/>
              <a:buSzTx/>
              <a:buFontTx/>
              <a:buChar char="•"/>
              <a:defRPr/>
            </a:pPr>
            <a:r>
              <a:rPr kumimoji="1" lang="zh-CN" altLang="en-US" sz="2400" b="1" i="0" u="none" strike="noStrike" kern="1200" cap="none" spc="0" normalizeH="0" baseline="0" noProof="0" dirty="0">
                <a:ln>
                  <a:noFill/>
                </a:ln>
                <a:solidFill>
                  <a:schemeClr val="tx1"/>
                </a:solidFill>
                <a:effectLst/>
                <a:uLnTx/>
                <a:uFillTx/>
                <a:latin typeface="+mn-ea"/>
                <a:ea typeface="+mn-ea"/>
                <a:cs typeface="+mn-cs"/>
              </a:rPr>
              <a:t>主要数据通路</a:t>
            </a:r>
            <a:endParaRPr kumimoji="1" lang="en-US" altLang="zh-CN" sz="24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指令存储器</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数据存储器</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寄存器堆</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程序计数器（</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PC</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p:txBody>
      </p:sp>
      <p:pic>
        <p:nvPicPr>
          <p:cNvPr id="57348" name="图片 1"/>
          <p:cNvPicPr>
            <a:picLocks noChangeAspect="1"/>
          </p:cNvPicPr>
          <p:nvPr/>
        </p:nvPicPr>
        <p:blipFill>
          <a:blip r:embed="rId1" cstate="print"/>
          <a:stretch>
            <a:fillRect/>
          </a:stretch>
        </p:blipFill>
        <p:spPr>
          <a:xfrm>
            <a:off x="3881779" y="401639"/>
            <a:ext cx="7925886" cy="6251575"/>
          </a:xfrm>
          <a:prstGeom prst="rect">
            <a:avLst/>
          </a:prstGeom>
          <a:noFill/>
          <a:ln w="9525">
            <a:noFill/>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58371" name="Rectangle 311"/>
          <p:cNvSpPr/>
          <p:nvPr/>
        </p:nvSpPr>
        <p:spPr>
          <a:xfrm>
            <a:off x="472274" y="565150"/>
            <a:ext cx="6533299" cy="527050"/>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latin typeface="Times New Roman" pitchFamily="18" charset="0"/>
              </a:rPr>
              <a:t>主要控制逻辑</a:t>
            </a:r>
            <a:endParaRPr lang="zh-CN" altLang="en-US" b="1" dirty="0">
              <a:latin typeface="Times New Roman" pitchFamily="18" charset="0"/>
            </a:endParaRPr>
          </a:p>
        </p:txBody>
      </p:sp>
      <p:pic>
        <p:nvPicPr>
          <p:cNvPr id="58372" name="图片 1"/>
          <p:cNvPicPr>
            <a:picLocks noChangeAspect="1"/>
          </p:cNvPicPr>
          <p:nvPr/>
        </p:nvPicPr>
        <p:blipFill>
          <a:blip r:embed="rId1" cstate="print"/>
          <a:stretch>
            <a:fillRect/>
          </a:stretch>
        </p:blipFill>
        <p:spPr>
          <a:xfrm>
            <a:off x="3837336" y="558801"/>
            <a:ext cx="7669802" cy="6043613"/>
          </a:xfrm>
          <a:prstGeom prst="rect">
            <a:avLst/>
          </a:prstGeom>
          <a:noFill/>
          <a:ln w="9525">
            <a:noFill/>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59395" name="Rectangle 368"/>
          <p:cNvSpPr/>
          <p:nvPr/>
        </p:nvSpPr>
        <p:spPr>
          <a:xfrm>
            <a:off x="436294" y="169863"/>
            <a:ext cx="5775632" cy="577850"/>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latin typeface="Times New Roman" pitchFamily="18" charset="0"/>
              </a:rPr>
              <a:t>时序：指令内、指令间</a:t>
            </a:r>
            <a:endParaRPr lang="zh-CN" altLang="en-US" b="1" dirty="0">
              <a:latin typeface="Times New Roman" pitchFamily="18" charset="0"/>
            </a:endParaRPr>
          </a:p>
        </p:txBody>
      </p:sp>
      <p:pic>
        <p:nvPicPr>
          <p:cNvPr id="59396" name="图片 4"/>
          <p:cNvPicPr>
            <a:picLocks noChangeAspect="1"/>
          </p:cNvPicPr>
          <p:nvPr/>
        </p:nvPicPr>
        <p:blipFill>
          <a:blip r:embed="rId1" cstate="print"/>
          <a:stretch>
            <a:fillRect/>
          </a:stretch>
        </p:blipFill>
        <p:spPr>
          <a:xfrm>
            <a:off x="2844748" y="769938"/>
            <a:ext cx="7966096" cy="5835650"/>
          </a:xfrm>
          <a:prstGeom prst="rect">
            <a:avLst/>
          </a:prstGeom>
          <a:noFill/>
          <a:ln w="9525">
            <a:noFill/>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6148" name="Rectangle 359"/>
          <p:cNvSpPr>
            <a:spLocks noChangeArrowheads="1"/>
          </p:cNvSpPr>
          <p:nvPr/>
        </p:nvSpPr>
        <p:spPr bwMode="auto">
          <a:xfrm>
            <a:off x="584442" y="273050"/>
            <a:ext cx="5775632" cy="527050"/>
          </a:xfrm>
          <a:prstGeom prst="rect">
            <a:avLst/>
          </a:prstGeom>
          <a:noFill/>
          <a:ln w="9525">
            <a:noFill/>
            <a:miter lim="800000"/>
          </a:ln>
        </p:spPr>
        <p:txBody>
          <a:bodyPr/>
          <a:lstStyle/>
          <a:p>
            <a:pPr marL="342900" marR="0" lvl="0" indent="-342900" algn="l" defTabSz="914400" rtl="0" eaLnBrk="1" fontAlgn="base" latinLnBrk="0" hangingPunct="1">
              <a:lnSpc>
                <a:spcPct val="110000"/>
              </a:lnSpc>
              <a:spcBef>
                <a:spcPct val="100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改进后的时序</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p:txBody>
      </p:sp>
      <p:pic>
        <p:nvPicPr>
          <p:cNvPr id="60420" name="图片 2"/>
          <p:cNvPicPr>
            <a:picLocks noChangeAspect="1"/>
          </p:cNvPicPr>
          <p:nvPr/>
        </p:nvPicPr>
        <p:blipFill>
          <a:blip r:embed="rId1" cstate="print"/>
          <a:stretch>
            <a:fillRect/>
          </a:stretch>
        </p:blipFill>
        <p:spPr>
          <a:xfrm>
            <a:off x="2694485" y="657225"/>
            <a:ext cx="8342814" cy="5984875"/>
          </a:xfrm>
          <a:prstGeom prst="rect">
            <a:avLst/>
          </a:prstGeom>
          <a:noFill/>
          <a:ln w="9525">
            <a:noFill/>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61443" name="Rectangle 339"/>
          <p:cNvSpPr/>
          <p:nvPr/>
        </p:nvSpPr>
        <p:spPr>
          <a:xfrm>
            <a:off x="310324" y="9526"/>
            <a:ext cx="5775631" cy="995363"/>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r>
              <a:rPr lang="zh-CN" altLang="en-US" b="1" dirty="0">
                <a:latin typeface="Times New Roman" pitchFamily="18" charset="0"/>
              </a:rPr>
              <a:t>再次改进后的时序</a:t>
            </a:r>
            <a:endParaRPr lang="zh-CN" altLang="en-US" b="1" dirty="0">
              <a:latin typeface="Times New Roman" pitchFamily="18" charset="0"/>
            </a:endParaRPr>
          </a:p>
        </p:txBody>
      </p:sp>
      <p:pic>
        <p:nvPicPr>
          <p:cNvPr id="61444" name="图片 2"/>
          <p:cNvPicPr>
            <a:picLocks noChangeAspect="1"/>
          </p:cNvPicPr>
          <p:nvPr/>
        </p:nvPicPr>
        <p:blipFill>
          <a:blip r:embed="rId1" cstate="print"/>
          <a:stretch>
            <a:fillRect/>
          </a:stretch>
        </p:blipFill>
        <p:spPr>
          <a:xfrm>
            <a:off x="2698717" y="536576"/>
            <a:ext cx="7830647" cy="6169025"/>
          </a:xfrm>
          <a:prstGeom prst="rect">
            <a:avLst/>
          </a:prstGeom>
          <a:noFill/>
          <a:ln w="9525">
            <a:noFill/>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9220" name="Rectangle 119"/>
          <p:cNvSpPr>
            <a:spLocks noChangeArrowheads="1"/>
          </p:cNvSpPr>
          <p:nvPr/>
        </p:nvSpPr>
        <p:spPr bwMode="auto">
          <a:xfrm>
            <a:off x="584442" y="273051"/>
            <a:ext cx="5775632" cy="2054225"/>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Times New Roman" pitchFamily="18" charset="0"/>
                <a:ea typeface="宋体" panose="02000500000000000000" pitchFamily="2" charset="-122"/>
                <a:cs typeface="+mn-cs"/>
              </a:rPr>
              <a:t>指令流水线阶段划分</a:t>
            </a:r>
            <a:endParaRPr kumimoji="1" lang="zh-CN" altLang="en-US" sz="2000" b="1" i="0" u="none" strike="noStrike" kern="1200" cap="none" spc="0" normalizeH="0" baseline="0" noProof="0" dirty="0">
              <a:ln>
                <a:noFill/>
              </a:ln>
              <a:solidFill>
                <a:schemeClr val="tx1"/>
              </a:solidFill>
              <a:effectLst/>
              <a:uLnTx/>
              <a:uFillTx/>
              <a:latin typeface="Times New Roman" pitchFamily="18" charset="0"/>
              <a:ea typeface="宋体" panose="02000500000000000000" pitchFamily="2" charset="-122"/>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IF, ID, EX, MEM, WB</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计算</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PC</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在</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ID</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阶段</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p:txBody>
      </p:sp>
      <p:pic>
        <p:nvPicPr>
          <p:cNvPr id="62468" name="图片 4"/>
          <p:cNvPicPr>
            <a:picLocks noChangeAspect="1"/>
          </p:cNvPicPr>
          <p:nvPr/>
        </p:nvPicPr>
        <p:blipFill>
          <a:blip r:embed="rId1" cstate="print"/>
          <a:stretch>
            <a:fillRect/>
          </a:stretch>
        </p:blipFill>
        <p:spPr>
          <a:xfrm>
            <a:off x="4332572" y="563563"/>
            <a:ext cx="7858160" cy="6189662"/>
          </a:xfrm>
          <a:prstGeom prst="rect">
            <a:avLst/>
          </a:prstGeom>
          <a:noFill/>
          <a:ln w="9525">
            <a:noFill/>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
        <p:nvSpPr>
          <p:cNvPr id="63491" name="Rectangle 383"/>
          <p:cNvSpPr/>
          <p:nvPr/>
        </p:nvSpPr>
        <p:spPr>
          <a:xfrm>
            <a:off x="404549" y="157163"/>
            <a:ext cx="5204205" cy="1135062"/>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latin typeface="Times New Roman" pitchFamily="18" charset="0"/>
              </a:rPr>
              <a:t>指令流水线控制及时序</a:t>
            </a:r>
            <a:endParaRPr lang="zh-CN" altLang="en-US" b="1" dirty="0">
              <a:latin typeface="Times New Roman" pitchFamily="18" charset="0"/>
            </a:endParaRPr>
          </a:p>
        </p:txBody>
      </p:sp>
      <p:pic>
        <p:nvPicPr>
          <p:cNvPr id="63492" name="图片 4"/>
          <p:cNvPicPr>
            <a:picLocks noChangeAspect="1"/>
          </p:cNvPicPr>
          <p:nvPr/>
        </p:nvPicPr>
        <p:blipFill>
          <a:blip r:embed="rId1" cstate="print"/>
          <a:stretch>
            <a:fillRect/>
          </a:stretch>
        </p:blipFill>
        <p:spPr>
          <a:xfrm>
            <a:off x="3236281" y="604838"/>
            <a:ext cx="7849694" cy="6183312"/>
          </a:xfrm>
          <a:prstGeom prst="rect">
            <a:avLst/>
          </a:prstGeom>
          <a:noFill/>
          <a:ln w="9525">
            <a:noFill/>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pic>
        <p:nvPicPr>
          <p:cNvPr id="64516" name="图片 2"/>
          <p:cNvPicPr>
            <a:picLocks noChangeAspect="1"/>
          </p:cNvPicPr>
          <p:nvPr/>
        </p:nvPicPr>
        <p:blipFill>
          <a:blip r:embed="rId1" cstate="print"/>
          <a:stretch>
            <a:fillRect/>
          </a:stretch>
        </p:blipFill>
        <p:spPr>
          <a:xfrm>
            <a:off x="2906123" y="241300"/>
            <a:ext cx="8268740" cy="6513513"/>
          </a:xfrm>
          <a:prstGeom prst="rect">
            <a:avLst/>
          </a:prstGeom>
          <a:noFill/>
          <a:ln w="9525">
            <a:noFill/>
          </a:ln>
        </p:spPr>
      </p:pic>
      <p:sp>
        <p:nvSpPr>
          <p:cNvPr id="35843" name="Rectangle 407"/>
          <p:cNvSpPr/>
          <p:nvPr/>
        </p:nvSpPr>
        <p:spPr>
          <a:xfrm>
            <a:off x="166688" y="144780"/>
            <a:ext cx="2472690" cy="2860040"/>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latin typeface="Times New Roman" pitchFamily="18" charset="0"/>
              </a:rPr>
              <a:t>相关冲突检测</a:t>
            </a:r>
            <a:endParaRPr lang="zh-CN" altLang="en-US" b="1" dirty="0">
              <a:latin typeface="Times New Roman" pitchFamily="18" charset="0"/>
            </a:endParaRPr>
          </a:p>
          <a:p>
            <a:pPr marL="800100" lvl="1" indent="-342900" eaLnBrk="1" hangingPunct="1">
              <a:lnSpc>
                <a:spcPct val="110000"/>
              </a:lnSpc>
              <a:spcBef>
                <a:spcPct val="10000"/>
              </a:spcBef>
            </a:pP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指令寄存器中的源操作数寄存器号等于</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EX</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MEM</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WB</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阶段的目标寄存器号且寄存器号非</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0,</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则冲突（</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stall=1</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endParaRPr>
          </a:p>
        </p:txBody>
      </p:sp>
      <p:sp>
        <p:nvSpPr>
          <p:cNvPr id="5" name="Rectangle 423"/>
          <p:cNvSpPr>
            <a:spLocks noChangeArrowheads="1"/>
          </p:cNvSpPr>
          <p:nvPr/>
        </p:nvSpPr>
        <p:spPr bwMode="auto">
          <a:xfrm>
            <a:off x="456565" y="2894330"/>
            <a:ext cx="4691380" cy="703580"/>
          </a:xfrm>
          <a:prstGeom prst="rect">
            <a:avLst/>
          </a:prstGeom>
          <a:solidFill>
            <a:srgbClr val="FFFF00"/>
          </a:solidFill>
          <a:ln w="9525">
            <a:noFill/>
            <a:miter lim="800000"/>
          </a:ln>
        </p:spPr>
        <p:txBody>
          <a:bodyPr/>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stall =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destE</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0) &amp;&amp;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destE</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instD.src1) ||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destE</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instD.src2))) ||</a:t>
            </a:r>
            <a:endParaRPr kumimoji="1" lang="en-US" altLang="zh-CN" sz="1000" b="1" i="0" u="none" strike="noStrike" kern="1200" cap="none" spc="0" normalizeH="0" baseline="0" noProof="0" dirty="0">
              <a:ln>
                <a:noFill/>
              </a:ln>
              <a:solidFill>
                <a:srgbClr val="FF0000"/>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destM</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0) &amp;&amp;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destM</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instD.src1) ||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destM</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instD.src2))) ||  </a:t>
            </a:r>
            <a:endParaRPr kumimoji="1" lang="en-US" altLang="zh-CN" sz="1000" b="1" i="0" u="none" strike="noStrike" kern="1200" cap="none" spc="0" normalizeH="0" baseline="0" noProof="0" dirty="0">
              <a:ln>
                <a:noFill/>
              </a:ln>
              <a:solidFill>
                <a:srgbClr val="FF0000"/>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destW</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0) &amp;&amp;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destW</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instD.src1) ||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destW</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instD.src2)));  </a:t>
            </a:r>
            <a:endParaRPr kumimoji="1" lang="en-US" altLang="zh-CN" sz="1000" b="1" i="0" u="none" strike="noStrike" kern="1200" cap="none" spc="0" normalizeH="0" baseline="0" noProof="0" dirty="0">
              <a:ln>
                <a:noFill/>
              </a:ln>
              <a:solidFill>
                <a:srgbClr val="FF0000"/>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a:t>
            </a:r>
            <a:endParaRPr kumimoji="1" lang="en-US" altLang="zh-CN" sz="1000" b="1" i="0" u="none" strike="noStrike" kern="1200" cap="none" spc="0" normalizeH="0" baseline="0" noProof="0" dirty="0">
              <a:ln>
                <a:noFill/>
              </a:ln>
              <a:solidFill>
                <a:srgbClr val="FF0000"/>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xEl>
                                              <p:charRg st="0" end="78"/>
                                            </p:txEl>
                                          </p:spTgt>
                                        </p:tgtEl>
                                        <p:attrNameLst>
                                          <p:attrName>style.visibility</p:attrName>
                                        </p:attrNameLst>
                                      </p:cBhvr>
                                      <p:to>
                                        <p:strVal val="visible"/>
                                      </p:to>
                                    </p:set>
                                    <p:animEffect transition="in" filter="wipe(down)">
                                      <p:cBhvr>
                                        <p:cTn id="10" dur="500"/>
                                        <p:tgtEl>
                                          <p:spTgt spid="5">
                                            <p:txEl>
                                              <p:charRg st="0" end="78"/>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xEl>
                                              <p:charRg st="78" end="158"/>
                                            </p:txEl>
                                          </p:spTgt>
                                        </p:tgtEl>
                                        <p:attrNameLst>
                                          <p:attrName>style.visibility</p:attrName>
                                        </p:attrNameLst>
                                      </p:cBhvr>
                                      <p:to>
                                        <p:strVal val="visible"/>
                                      </p:to>
                                    </p:set>
                                    <p:animEffect transition="in" filter="wipe(down)">
                                      <p:cBhvr>
                                        <p:cTn id="13" dur="500"/>
                                        <p:tgtEl>
                                          <p:spTgt spid="5">
                                            <p:txEl>
                                              <p:charRg st="78" end="158"/>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xEl>
                                              <p:charRg st="158" end="236"/>
                                            </p:txEl>
                                          </p:spTgt>
                                        </p:tgtEl>
                                        <p:attrNameLst>
                                          <p:attrName>style.visibility</p:attrName>
                                        </p:attrNameLst>
                                      </p:cBhvr>
                                      <p:to>
                                        <p:strVal val="visible"/>
                                      </p:to>
                                    </p:set>
                                    <p:animEffect transition="in" filter="wipe(down)">
                                      <p:cBhvr>
                                        <p:cTn id="16" dur="500"/>
                                        <p:tgtEl>
                                          <p:spTgt spid="5">
                                            <p:txEl>
                                              <p:charRg st="158" end="236"/>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5">
                                            <p:txEl>
                                              <p:charRg st="236" end="239"/>
                                            </p:txEl>
                                          </p:spTgt>
                                        </p:tgtEl>
                                        <p:attrNameLst>
                                          <p:attrName>style.visibility</p:attrName>
                                        </p:attrNameLst>
                                      </p:cBhvr>
                                      <p:to>
                                        <p:strVal val="visible"/>
                                      </p:to>
                                    </p:set>
                                    <p:animEffect transition="in" filter="wipe(down)">
                                      <p:cBhvr>
                                        <p:cTn id="19" dur="500"/>
                                        <p:tgtEl>
                                          <p:spTgt spid="5">
                                            <p:txEl>
                                              <p:charRg st="236" end="2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build="allAtOnce"/>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pic>
        <p:nvPicPr>
          <p:cNvPr id="65541" name="图片 2"/>
          <p:cNvPicPr>
            <a:picLocks noChangeAspect="1"/>
          </p:cNvPicPr>
          <p:nvPr/>
        </p:nvPicPr>
        <p:blipFill>
          <a:blip r:embed="rId1" cstate="print"/>
          <a:stretch>
            <a:fillRect/>
          </a:stretch>
        </p:blipFill>
        <p:spPr>
          <a:xfrm>
            <a:off x="2863796" y="152400"/>
            <a:ext cx="8753394" cy="6572250"/>
          </a:xfrm>
          <a:prstGeom prst="rect">
            <a:avLst/>
          </a:prstGeom>
          <a:noFill/>
          <a:ln w="9525">
            <a:noFill/>
          </a:ln>
        </p:spPr>
      </p:pic>
      <p:sp>
        <p:nvSpPr>
          <p:cNvPr id="2" name="Rectangle 423"/>
          <p:cNvSpPr>
            <a:spLocks noChangeArrowheads="1"/>
          </p:cNvSpPr>
          <p:nvPr/>
        </p:nvSpPr>
        <p:spPr bwMode="auto">
          <a:xfrm>
            <a:off x="635" y="144780"/>
            <a:ext cx="2863215" cy="2227580"/>
          </a:xfrm>
          <a:prstGeom prst="rect">
            <a:avLst/>
          </a:prstGeom>
          <a:noFill/>
          <a:ln w="9525">
            <a:noFill/>
            <a:miter lim="800000"/>
          </a:ln>
        </p:spPr>
        <p:txBody>
          <a:bodyPr/>
          <a:p>
            <a:pPr marL="342900" marR="0" lvl="0" indent="-342900" algn="l" defTabSz="914400" rtl="0" eaLnBrk="1" fontAlgn="base" hangingPunct="1">
              <a:lnSpc>
                <a:spcPct val="150000"/>
              </a:lnSpc>
              <a:spcBef>
                <a:spcPts val="0"/>
              </a:spcBef>
              <a:spcAft>
                <a:spcPct val="0"/>
              </a:spcAft>
              <a:buClrTx/>
              <a:buSzTx/>
              <a:buFontTx/>
              <a:buChar char="•"/>
              <a:defRPr/>
            </a:pPr>
            <a:r>
              <a:rPr kumimoji="1" lang="en-US" altLang="zh-CN" sz="2000" b="1" i="0" u="none" strike="noStrike" kern="1200" cap="none" spc="0" normalizeH="0" baseline="0" noProof="0" dirty="0">
                <a:ln>
                  <a:noFill/>
                </a:ln>
                <a:solidFill>
                  <a:schemeClr val="tx1"/>
                </a:solidFill>
                <a:effectLst/>
                <a:uLnTx/>
                <a:uFillTx/>
                <a:latin typeface="+mn-ea"/>
                <a:ea typeface="+mn-ea"/>
                <a:cs typeface="+mn-cs"/>
              </a:rPr>
              <a:t>ALU Forward</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控制</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800100" marR="0" lvl="1" indent="-342900" algn="l" defTabSz="914400" rtl="0" eaLnBrk="1" fontAlgn="base" hangingPunct="1">
              <a:lnSpc>
                <a:spcPct val="150000"/>
              </a:lnSpc>
              <a:spcBef>
                <a:spcPts val="0"/>
              </a:spcBef>
              <a:spcAft>
                <a:spcPct val="0"/>
              </a:spcAft>
              <a:buClrTx/>
              <a:buSzTx/>
              <a:buFontTx/>
              <a:buChar char="•"/>
              <a:defRPr/>
            </a:pPr>
            <a:r>
              <a:rPr lang="en-US" altLang="zh-CN" sz="1400" b="1" dirty="0">
                <a:solidFill>
                  <a:srgbClr val="FF0000"/>
                </a:solidFill>
                <a:latin typeface="宋体" panose="02000500000000000000" pitchFamily="2" charset="-122"/>
                <a:cs typeface="宋体" panose="02000500000000000000" pitchFamily="2" charset="-122"/>
                <a:sym typeface="+mn-ea"/>
              </a:rPr>
              <a:t>EX</a:t>
            </a:r>
            <a:r>
              <a:rPr lang="zh-CN" altLang="en-US" sz="1400" b="1" dirty="0">
                <a:solidFill>
                  <a:srgbClr val="FF0000"/>
                </a:solidFill>
                <a:latin typeface="宋体" panose="02000500000000000000" pitchFamily="2" charset="-122"/>
                <a:cs typeface="宋体" panose="02000500000000000000" pitchFamily="2" charset="-122"/>
                <a:sym typeface="+mn-ea"/>
              </a:rPr>
              <a:t>阶段的指令为</a:t>
            </a:r>
            <a:r>
              <a:rPr lang="en-US" altLang="zh-CN" sz="1400" b="1" dirty="0">
                <a:solidFill>
                  <a:srgbClr val="FF0000"/>
                </a:solidFill>
                <a:latin typeface="宋体" panose="02000500000000000000" pitchFamily="2" charset="-122"/>
                <a:cs typeface="宋体" panose="02000500000000000000" pitchFamily="2" charset="-122"/>
                <a:sym typeface="+mn-ea"/>
              </a:rPr>
              <a:t>LD</a:t>
            </a:r>
            <a:r>
              <a:rPr lang="zh-CN" altLang="en-US" sz="1400" b="1" dirty="0">
                <a:solidFill>
                  <a:srgbClr val="FF0000"/>
                </a:solidFill>
                <a:latin typeface="宋体" panose="02000500000000000000" pitchFamily="2" charset="-122"/>
                <a:cs typeface="宋体" panose="02000500000000000000" pitchFamily="2" charset="-122"/>
                <a:sym typeface="+mn-ea"/>
              </a:rPr>
              <a:t>指令、指令寄存器中的源操作数寄存器号等于</a:t>
            </a:r>
            <a:r>
              <a:rPr lang="en-US" altLang="zh-CN" sz="1400" b="1" dirty="0">
                <a:solidFill>
                  <a:srgbClr val="FF0000"/>
                </a:solidFill>
                <a:latin typeface="宋体" panose="02000500000000000000" pitchFamily="2" charset="-122"/>
                <a:cs typeface="宋体" panose="02000500000000000000" pitchFamily="2" charset="-122"/>
                <a:sym typeface="+mn-ea"/>
              </a:rPr>
              <a:t>EX</a:t>
            </a:r>
            <a:r>
              <a:rPr lang="zh-CN" altLang="en-US" sz="1400" b="1" dirty="0">
                <a:solidFill>
                  <a:srgbClr val="FF0000"/>
                </a:solidFill>
                <a:latin typeface="宋体" panose="02000500000000000000" pitchFamily="2" charset="-122"/>
                <a:cs typeface="宋体" panose="02000500000000000000" pitchFamily="2" charset="-122"/>
                <a:sym typeface="+mn-ea"/>
              </a:rPr>
              <a:t>阶段的目标寄存器号且寄存器号非</a:t>
            </a:r>
            <a:r>
              <a:rPr lang="en-US" altLang="zh-CN" sz="1400" b="1" dirty="0">
                <a:solidFill>
                  <a:srgbClr val="FF0000"/>
                </a:solidFill>
                <a:latin typeface="宋体" panose="02000500000000000000" pitchFamily="2" charset="-122"/>
                <a:cs typeface="宋体" panose="02000500000000000000" pitchFamily="2" charset="-122"/>
                <a:sym typeface="+mn-ea"/>
              </a:rPr>
              <a:t>0,</a:t>
            </a:r>
            <a:r>
              <a:rPr lang="zh-CN" altLang="en-US" sz="1400" b="1" dirty="0">
                <a:solidFill>
                  <a:srgbClr val="FF0000"/>
                </a:solidFill>
                <a:latin typeface="宋体" panose="02000500000000000000" pitchFamily="2" charset="-122"/>
                <a:cs typeface="宋体" panose="02000500000000000000" pitchFamily="2" charset="-122"/>
                <a:sym typeface="+mn-ea"/>
              </a:rPr>
              <a:t>则冲突（</a:t>
            </a:r>
            <a:r>
              <a:rPr lang="en-US" altLang="zh-CN" sz="1400" b="1" dirty="0">
                <a:solidFill>
                  <a:srgbClr val="FF0000"/>
                </a:solidFill>
                <a:latin typeface="宋体" panose="02000500000000000000" pitchFamily="2" charset="-122"/>
                <a:cs typeface="宋体" panose="02000500000000000000" pitchFamily="2" charset="-122"/>
                <a:sym typeface="+mn-ea"/>
              </a:rPr>
              <a:t>stall=1</a:t>
            </a:r>
            <a:r>
              <a:rPr lang="zh-CN" altLang="en-US" sz="1400" b="1" dirty="0">
                <a:solidFill>
                  <a:srgbClr val="FF0000"/>
                </a:solidFill>
                <a:latin typeface="宋体" panose="02000500000000000000" pitchFamily="2" charset="-122"/>
                <a:cs typeface="宋体" panose="02000500000000000000" pitchFamily="2" charset="-122"/>
                <a:sym typeface="+mn-ea"/>
              </a:rPr>
              <a:t>）</a:t>
            </a:r>
            <a:endParaRPr lang="zh-CN" altLang="en-US" sz="1400" b="1"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10000"/>
              </a:lnSpc>
              <a:spcBef>
                <a:spcPct val="10000"/>
              </a:spcBef>
              <a:spcAft>
                <a:spcPct val="0"/>
              </a:spcAft>
              <a:buClrTx/>
              <a:buSzTx/>
              <a:buFontTx/>
              <a:buChar char="•"/>
              <a:defRPr/>
            </a:pPr>
            <a:endParaRPr kumimoji="1" lang="zh-CN" altLang="en-US" sz="1400" b="1" i="0" u="none" strike="noStrike" kern="1200" cap="none" spc="0" normalizeH="0" baseline="0" noProof="0" dirty="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endParaRPr>
          </a:p>
        </p:txBody>
      </p:sp>
      <p:sp>
        <p:nvSpPr>
          <p:cNvPr id="7" name="Rectangle 423"/>
          <p:cNvSpPr>
            <a:spLocks noChangeArrowheads="1"/>
          </p:cNvSpPr>
          <p:nvPr/>
        </p:nvSpPr>
        <p:spPr bwMode="auto">
          <a:xfrm>
            <a:off x="182245" y="2691765"/>
            <a:ext cx="3103245" cy="495300"/>
          </a:xfrm>
          <a:prstGeom prst="rect">
            <a:avLst/>
          </a:prstGeom>
          <a:solidFill>
            <a:srgbClr val="FFFF00"/>
          </a:solidFill>
          <a:ln w="9525">
            <a:noFill/>
            <a:miter lim="800000"/>
          </a:ln>
        </p:spPr>
        <p:txBody>
          <a:bodyPr/>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stall =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ALUopE</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OP_LW) &amp;&amp; (</a:t>
            </a:r>
            <a:r>
              <a:rPr kumimoji="1" lang="en-US" altLang="zh-CN" sz="1000" b="1" i="0" u="none" strike="noStrike" kern="1200" cap="none" spc="0" normalizeH="0" baseline="0" noProof="0" dirty="0" err="1">
                <a:ln>
                  <a:noFill/>
                </a:ln>
                <a:solidFill>
                  <a:srgbClr val="FF0000"/>
                </a:solidFill>
                <a:effectLst/>
                <a:uLnTx/>
                <a:uFillTx/>
                <a:latin typeface="+mn-ea"/>
                <a:ea typeface="+mn-ea"/>
                <a:cs typeface="+mn-cs"/>
              </a:rPr>
              <a:t>destE</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 0) &amp;&amp; </a:t>
            </a:r>
            <a:endParaRPr kumimoji="1" lang="en-US" altLang="zh-CN" sz="1000" b="1" i="0" u="none" strike="noStrike" kern="1200" cap="none" spc="0" normalizeH="0" baseline="0" noProof="0" dirty="0">
              <a:ln>
                <a:noFill/>
              </a:ln>
              <a:solidFill>
                <a:srgbClr val="FF0000"/>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FF0000"/>
                </a:solidFill>
                <a:effectLst/>
                <a:uLnTx/>
                <a:uFillTx/>
                <a:latin typeface="+mn-ea"/>
                <a:ea typeface="宋体" panose="02000500000000000000" pitchFamily="2" charset="-122"/>
                <a:cs typeface="+mn-cs"/>
              </a:rPr>
              <a:t>      ((</a:t>
            </a:r>
            <a:r>
              <a:rPr kumimoji="1" lang="en-US" altLang="zh-CN" sz="1000" b="1" i="0" u="none" strike="noStrike" kern="1200" cap="none" spc="0" normalizeH="0" baseline="0" noProof="0" dirty="0" err="1">
                <a:ln>
                  <a:noFill/>
                </a:ln>
                <a:solidFill>
                  <a:srgbClr val="FF0000"/>
                </a:solidFill>
                <a:effectLst/>
                <a:uLnTx/>
                <a:uFillTx/>
                <a:latin typeface="+mn-ea"/>
                <a:ea typeface="宋体" panose="02000500000000000000" pitchFamily="2" charset="-122"/>
                <a:cs typeface="+mn-cs"/>
              </a:rPr>
              <a:t>destE</a:t>
            </a:r>
            <a:r>
              <a:rPr kumimoji="1" lang="en-US" altLang="zh-CN" sz="1000" b="1" i="0" u="none" strike="noStrike" kern="1200" cap="none" spc="0" normalizeH="0" baseline="0" noProof="0" dirty="0">
                <a:ln>
                  <a:noFill/>
                </a:ln>
                <a:solidFill>
                  <a:srgbClr val="FF0000"/>
                </a:solidFill>
                <a:effectLst/>
                <a:uLnTx/>
                <a:uFillTx/>
                <a:latin typeface="+mn-ea"/>
                <a:ea typeface="宋体" panose="02000500000000000000" pitchFamily="2" charset="-122"/>
                <a:cs typeface="+mn-cs"/>
              </a:rPr>
              <a:t>==instD.src1) || (</a:t>
            </a:r>
            <a:r>
              <a:rPr kumimoji="1" lang="en-US" altLang="zh-CN" sz="1000" b="1" i="0" u="none" strike="noStrike" kern="1200" cap="none" spc="0" normalizeH="0" baseline="0" noProof="0" dirty="0" err="1">
                <a:ln>
                  <a:noFill/>
                </a:ln>
                <a:solidFill>
                  <a:srgbClr val="FF0000"/>
                </a:solidFill>
                <a:effectLst/>
                <a:uLnTx/>
                <a:uFillTx/>
                <a:latin typeface="+mn-ea"/>
                <a:ea typeface="宋体" panose="02000500000000000000" pitchFamily="2" charset="-122"/>
                <a:cs typeface="+mn-cs"/>
              </a:rPr>
              <a:t>destE</a:t>
            </a:r>
            <a:r>
              <a:rPr kumimoji="1" lang="en-US" altLang="zh-CN" sz="1000" b="1" i="0" u="none" strike="noStrike" kern="1200" cap="none" spc="0" normalizeH="0" baseline="0" noProof="0" dirty="0">
                <a:ln>
                  <a:noFill/>
                </a:ln>
                <a:solidFill>
                  <a:srgbClr val="FF0000"/>
                </a:solidFill>
                <a:effectLst/>
                <a:uLnTx/>
                <a:uFillTx/>
                <a:latin typeface="+mn-ea"/>
                <a:ea typeface="宋体" panose="02000500000000000000" pitchFamily="2" charset="-122"/>
                <a:cs typeface="+mn-cs"/>
              </a:rPr>
              <a:t>==instD.src2));</a:t>
            </a:r>
            <a:r>
              <a:rPr kumimoji="1" lang="en-US" altLang="zh-CN" sz="1000" b="1" i="0" u="none" strike="noStrike" kern="1200" cap="none" spc="0" normalizeH="0" baseline="0" noProof="0" dirty="0">
                <a:ln>
                  <a:noFill/>
                </a:ln>
                <a:solidFill>
                  <a:srgbClr val="FF0000"/>
                </a:solidFill>
                <a:effectLst/>
                <a:uLnTx/>
                <a:uFillTx/>
                <a:latin typeface="+mn-ea"/>
                <a:ea typeface="+mn-ea"/>
                <a:cs typeface="+mn-cs"/>
              </a:rPr>
              <a:t> </a:t>
            </a:r>
            <a:endParaRPr kumimoji="1" lang="en-US" altLang="zh-CN" sz="1000" b="1" i="0" u="none" strike="noStrike" kern="1200" cap="none" spc="0" normalizeH="0" baseline="0" noProof="0" dirty="0">
              <a:ln>
                <a:noFill/>
              </a:ln>
              <a:solidFill>
                <a:srgbClr val="FF0000"/>
              </a:solidFill>
              <a:effectLst/>
              <a:uLnTx/>
              <a:uFillTx/>
              <a:latin typeface="+mn-ea"/>
              <a:ea typeface="+mn-ea"/>
              <a:cs typeface="+mn-cs"/>
            </a:endParaRPr>
          </a:p>
        </p:txBody>
      </p:sp>
      <p:sp>
        <p:nvSpPr>
          <p:cNvPr id="6" name="Rectangle 423"/>
          <p:cNvSpPr>
            <a:spLocks noChangeArrowheads="1"/>
          </p:cNvSpPr>
          <p:nvPr/>
        </p:nvSpPr>
        <p:spPr bwMode="auto">
          <a:xfrm>
            <a:off x="252095" y="3720465"/>
            <a:ext cx="2932430" cy="911860"/>
          </a:xfrm>
          <a:prstGeom prst="rect">
            <a:avLst/>
          </a:prstGeom>
          <a:solidFill>
            <a:srgbClr val="FFFF00"/>
          </a:solidFill>
          <a:ln w="9525">
            <a:noFill/>
            <a:miter lim="800000"/>
          </a:ln>
        </p:spPr>
        <p:txBody>
          <a:bodyPr/>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0000FF"/>
                </a:solidFill>
                <a:effectLst/>
                <a:uLnTx/>
                <a:uFillTx/>
                <a:latin typeface="+mn-ea"/>
                <a:ea typeface="+mn-ea"/>
                <a:cs typeface="+mn-cs"/>
              </a:rPr>
              <a:t>v1E = (instD.src1==</a:t>
            </a:r>
            <a:r>
              <a:rPr kumimoji="1" lang="en-US" altLang="zh-CN" sz="1000" b="1" i="0" u="none" strike="noStrike" kern="1200" cap="none" spc="0" normalizeH="0" baseline="0" noProof="0" dirty="0" err="1">
                <a:ln>
                  <a:noFill/>
                </a:ln>
                <a:solidFill>
                  <a:srgbClr val="0000FF"/>
                </a:solidFill>
                <a:effectLst/>
                <a:uLnTx/>
                <a:uFillTx/>
                <a:latin typeface="+mn-ea"/>
                <a:ea typeface="+mn-ea"/>
                <a:cs typeface="+mn-cs"/>
              </a:rPr>
              <a:t>destE</a:t>
            </a:r>
            <a:r>
              <a:rPr kumimoji="1" lang="en-US" altLang="zh-CN" sz="1000" b="1" i="0" u="none" strike="noStrike" kern="1200" cap="none" spc="0" normalizeH="0" baseline="0" noProof="0" dirty="0">
                <a:ln>
                  <a:noFill/>
                </a:ln>
                <a:solidFill>
                  <a:srgbClr val="0000FF"/>
                </a:solidFill>
                <a:effectLst/>
                <a:uLnTx/>
                <a:uFillTx/>
                <a:latin typeface="+mn-ea"/>
                <a:ea typeface="+mn-ea"/>
                <a:cs typeface="+mn-cs"/>
              </a:rPr>
              <a:t>) ? </a:t>
            </a:r>
            <a:r>
              <a:rPr kumimoji="1" lang="en-US" altLang="zh-CN" sz="1000" b="1" i="0" u="none" strike="noStrike" kern="1200" cap="none" spc="0" normalizeH="0" baseline="0" noProof="0" dirty="0" err="1">
                <a:ln>
                  <a:noFill/>
                </a:ln>
                <a:solidFill>
                  <a:srgbClr val="0000FF"/>
                </a:solidFill>
                <a:effectLst/>
                <a:uLnTx/>
                <a:uFillTx/>
                <a:latin typeface="+mn-ea"/>
                <a:ea typeface="+mn-ea"/>
                <a:cs typeface="+mn-cs"/>
              </a:rPr>
              <a:t>EXEres</a:t>
            </a:r>
            <a:r>
              <a:rPr kumimoji="1" lang="zh-CN" altLang="en-US" sz="1000" b="1" i="0" u="none" strike="noStrike" kern="1200" cap="none" spc="0" normalizeH="0" baseline="0" noProof="0" dirty="0">
                <a:ln>
                  <a:noFill/>
                </a:ln>
                <a:solidFill>
                  <a:srgbClr val="0000FF"/>
                </a:solidFill>
                <a:effectLst/>
                <a:uLnTx/>
                <a:uFillTx/>
                <a:latin typeface="+mn-ea"/>
                <a:ea typeface="+mn-ea"/>
                <a:cs typeface="+mn-cs"/>
              </a:rPr>
              <a:t> </a:t>
            </a:r>
            <a:r>
              <a:rPr kumimoji="1" lang="en-US" altLang="zh-CN" sz="1000" b="1" i="0" u="none" strike="noStrike" kern="1200" cap="none" spc="0" normalizeH="0" baseline="0" noProof="0" dirty="0">
                <a:ln>
                  <a:noFill/>
                </a:ln>
                <a:solidFill>
                  <a:srgbClr val="0000FF"/>
                </a:solidFill>
                <a:effectLst/>
                <a:uLnTx/>
                <a:uFillTx/>
                <a:latin typeface="+mn-ea"/>
                <a:ea typeface="+mn-ea"/>
                <a:cs typeface="+mn-cs"/>
              </a:rPr>
              <a:t>:</a:t>
            </a:r>
            <a:endParaRPr kumimoji="1" lang="en-US" altLang="zh-CN" sz="1000" b="1" i="0" u="none" strike="noStrike" kern="1200" cap="none" spc="0" normalizeH="0" baseline="0" noProof="0" dirty="0">
              <a:ln>
                <a:noFill/>
              </a:ln>
              <a:solidFill>
                <a:srgbClr val="0000FF"/>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      (instD.src1==</a:t>
            </a:r>
            <a:r>
              <a:rPr kumimoji="1" lang="en-US" altLang="zh-CN" sz="1000" b="1" i="0" u="none" strike="noStrike" kern="1200" cap="none" spc="0" normalizeH="0" baseline="0" noProof="0" dirty="0" err="1">
                <a:ln>
                  <a:noFill/>
                </a:ln>
                <a:solidFill>
                  <a:srgbClr val="0000FF"/>
                </a:solidFill>
                <a:effectLst/>
                <a:uLnTx/>
                <a:uFillTx/>
                <a:latin typeface="+mn-ea"/>
                <a:ea typeface="宋体" panose="02000500000000000000" pitchFamily="2" charset="-122"/>
                <a:cs typeface="+mn-cs"/>
              </a:rPr>
              <a:t>destM</a:t>
            </a:r>
            <a:r>
              <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 ? </a:t>
            </a:r>
            <a:r>
              <a:rPr kumimoji="1" lang="en-US" altLang="zh-CN" sz="1000" b="1" i="0" u="none" strike="noStrike" kern="1200" cap="none" spc="0" normalizeH="0" baseline="0" noProof="0" dirty="0" err="1">
                <a:ln>
                  <a:noFill/>
                </a:ln>
                <a:solidFill>
                  <a:srgbClr val="0000FF"/>
                </a:solidFill>
                <a:effectLst/>
                <a:uLnTx/>
                <a:uFillTx/>
                <a:latin typeface="+mn-ea"/>
                <a:ea typeface="宋体" panose="02000500000000000000" pitchFamily="2" charset="-122"/>
                <a:cs typeface="+mn-cs"/>
              </a:rPr>
              <a:t>MEMres</a:t>
            </a:r>
            <a:r>
              <a:rPr kumimoji="1" lang="zh-CN" altLang="en-US"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 </a:t>
            </a:r>
            <a:r>
              <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a:t>
            </a:r>
            <a:endParaRPr kumimoji="1" lang="en-US" altLang="zh-CN" sz="1000" b="1" i="0" u="none" strike="noStrike" kern="1200" cap="none" spc="0" normalizeH="0" baseline="0" noProof="0" dirty="0">
              <a:ln>
                <a:noFill/>
              </a:ln>
              <a:solidFill>
                <a:srgbClr val="0000FF"/>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      (instD.src1==</a:t>
            </a:r>
            <a:r>
              <a:rPr kumimoji="1" lang="en-US" altLang="zh-CN" sz="1000" b="1" i="0" u="none" strike="noStrike" kern="1200" cap="none" spc="0" normalizeH="0" baseline="0" noProof="0" dirty="0" err="1">
                <a:ln>
                  <a:noFill/>
                </a:ln>
                <a:solidFill>
                  <a:srgbClr val="0000FF"/>
                </a:solidFill>
                <a:effectLst/>
                <a:uLnTx/>
                <a:uFillTx/>
                <a:latin typeface="+mn-ea"/>
                <a:ea typeface="宋体" panose="02000500000000000000" pitchFamily="2" charset="-122"/>
                <a:cs typeface="+mn-cs"/>
              </a:rPr>
              <a:t>destW</a:t>
            </a:r>
            <a:r>
              <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 ? </a:t>
            </a:r>
            <a:r>
              <a:rPr kumimoji="1" lang="en-US" altLang="zh-CN" sz="1000" b="1" i="0" u="none" strike="noStrike" kern="1200" cap="none" spc="0" normalizeH="0" baseline="0" noProof="0" dirty="0" err="1">
                <a:ln>
                  <a:noFill/>
                </a:ln>
                <a:solidFill>
                  <a:srgbClr val="0000FF"/>
                </a:solidFill>
                <a:effectLst/>
                <a:uLnTx/>
                <a:uFillTx/>
                <a:latin typeface="+mn-ea"/>
                <a:ea typeface="宋体" panose="02000500000000000000" pitchFamily="2" charset="-122"/>
                <a:cs typeface="+mn-cs"/>
              </a:rPr>
              <a:t>WBres</a:t>
            </a:r>
            <a:r>
              <a:rPr kumimoji="1" lang="zh-CN" altLang="en-US"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  </a:t>
            </a:r>
            <a:r>
              <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rPr>
              <a:t>:</a:t>
            </a:r>
            <a:endParaRPr kumimoji="1" lang="en-US" altLang="zh-CN" sz="1000" b="1" i="0" u="none" strike="noStrike" kern="1200" cap="none" spc="0" normalizeH="0" baseline="0" noProof="0" dirty="0">
              <a:ln>
                <a:noFill/>
              </a:ln>
              <a:solidFill>
                <a:srgbClr val="0000FF"/>
              </a:solidFill>
              <a:effectLst/>
              <a:uLnTx/>
              <a:uFillTx/>
              <a:latin typeface="+mn-ea"/>
              <a:ea typeface="宋体" panose="02000500000000000000" pitchFamily="2" charset="-122"/>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0000FF"/>
                </a:solidFill>
                <a:effectLst/>
                <a:uLnTx/>
                <a:uFillTx/>
                <a:latin typeface="+mn-ea"/>
                <a:ea typeface="+mn-ea"/>
                <a:cs typeface="+mn-cs"/>
              </a:rPr>
              <a:t>                        </a:t>
            </a:r>
            <a:r>
              <a:rPr kumimoji="1" lang="en-US" altLang="zh-CN" sz="1000" b="1" i="0" u="none" strike="noStrike" kern="1200" cap="none" spc="0" normalizeH="0" baseline="0" noProof="0" dirty="0" err="1">
                <a:ln>
                  <a:noFill/>
                </a:ln>
                <a:solidFill>
                  <a:srgbClr val="0000FF"/>
                </a:solidFill>
                <a:effectLst/>
                <a:uLnTx/>
                <a:uFillTx/>
                <a:latin typeface="+mn-ea"/>
                <a:ea typeface="+mn-ea"/>
                <a:cs typeface="+mn-cs"/>
              </a:rPr>
              <a:t>IDvalue</a:t>
            </a:r>
            <a:r>
              <a:rPr kumimoji="1" lang="en-US" altLang="zh-CN" sz="1000" b="1" i="0" u="none" strike="noStrike" kern="1200" cap="none" spc="0" normalizeH="0" baseline="0" noProof="0" dirty="0">
                <a:ln>
                  <a:noFill/>
                </a:ln>
                <a:solidFill>
                  <a:srgbClr val="0000FF"/>
                </a:solidFill>
                <a:effectLst/>
                <a:uLnTx/>
                <a:uFillTx/>
                <a:latin typeface="+mn-ea"/>
                <a:ea typeface="+mn-ea"/>
                <a:cs typeface="+mn-cs"/>
              </a:rPr>
              <a:t>;       </a:t>
            </a:r>
            <a:endParaRPr kumimoji="1" lang="en-US" altLang="zh-CN" sz="1000" b="1" i="0" u="none" strike="noStrike" kern="1200" cap="none" spc="0" normalizeH="0" baseline="0" noProof="0" dirty="0">
              <a:ln>
                <a:noFill/>
              </a:ln>
              <a:solidFill>
                <a:srgbClr val="0000FF"/>
              </a:solidFill>
              <a:effectLst/>
              <a:uLnTx/>
              <a:uFillTx/>
              <a:latin typeface="+mn-ea"/>
              <a:ea typeface="+mn-ea"/>
              <a:cs typeface="+mn-cs"/>
            </a:endParaRPr>
          </a:p>
          <a:p>
            <a:pPr marL="342900" marR="0" lvl="0" indent="-342900" algn="l" defTabSz="914400" rtl="0" eaLnBrk="1" fontAlgn="base" latinLnBrk="0" hangingPunct="1">
              <a:lnSpc>
                <a:spcPct val="110000"/>
              </a:lnSpc>
              <a:spcBef>
                <a:spcPct val="10000"/>
              </a:spcBef>
              <a:spcAft>
                <a:spcPct val="0"/>
              </a:spcAft>
              <a:buClrTx/>
              <a:buSzTx/>
              <a:buFontTx/>
              <a:buNone/>
              <a:defRPr/>
            </a:pPr>
            <a:r>
              <a:rPr kumimoji="1" lang="en-US" altLang="zh-CN" sz="1000" b="1" i="0" u="none" strike="noStrike" kern="1200" cap="none" spc="0" normalizeH="0" baseline="0" noProof="0" dirty="0">
                <a:ln>
                  <a:noFill/>
                </a:ln>
                <a:solidFill>
                  <a:srgbClr val="0000FF"/>
                </a:solidFill>
                <a:effectLst/>
                <a:uLnTx/>
                <a:uFillTx/>
                <a:latin typeface="+mn-ea"/>
                <a:ea typeface="+mn-ea"/>
                <a:cs typeface="+mn-cs"/>
              </a:rPr>
              <a:t> </a:t>
            </a:r>
            <a:endParaRPr kumimoji="1" lang="zh-CN" altLang="en-US" sz="1000" b="1" i="0" u="none" strike="noStrike" kern="1200" cap="none" spc="0" normalizeH="0" baseline="0" noProof="0" dirty="0">
              <a:ln>
                <a:noFill/>
              </a:ln>
              <a:solidFill>
                <a:srgbClr val="0000FF"/>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xEl>
                                              <p:charRg st="0" end="30"/>
                                            </p:txEl>
                                          </p:spTgt>
                                        </p:tgtEl>
                                        <p:attrNameLst>
                                          <p:attrName>style.visibility</p:attrName>
                                        </p:attrNameLst>
                                      </p:cBhvr>
                                      <p:to>
                                        <p:strVal val="visible"/>
                                      </p:to>
                                    </p:set>
                                    <p:animEffect transition="in" filter="wipe(down)">
                                      <p:cBhvr>
                                        <p:cTn id="7" dur="500"/>
                                        <p:tgtEl>
                                          <p:spTgt spid="7">
                                            <p:txEl>
                                              <p:charRg st="0" end="3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xEl>
                                              <p:charRg st="61" end="115"/>
                                            </p:txEl>
                                          </p:spTgt>
                                        </p:tgtEl>
                                        <p:attrNameLst>
                                          <p:attrName>style.visibility</p:attrName>
                                        </p:attrNameLst>
                                      </p:cBhvr>
                                      <p:to>
                                        <p:strVal val="visible"/>
                                      </p:to>
                                    </p:set>
                                    <p:animEffect transition="in" filter="wipe(down)">
                                      <p:cBhvr>
                                        <p:cTn id="10" dur="500"/>
                                        <p:tgtEl>
                                          <p:spTgt spid="7">
                                            <p:txEl>
                                              <p:charRg st="61" end="11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6">
                                            <p:txEl>
                                              <p:charRg st="0" end="37"/>
                                            </p:txEl>
                                          </p:spTgt>
                                        </p:tgtEl>
                                        <p:attrNameLst>
                                          <p:attrName>style.visibility</p:attrName>
                                        </p:attrNameLst>
                                      </p:cBhvr>
                                      <p:to>
                                        <p:strVal val="visible"/>
                                      </p:to>
                                    </p:set>
                                    <p:animEffect transition="in" filter="wipe(down)">
                                      <p:cBhvr>
                                        <p:cTn id="18" dur="500"/>
                                        <p:tgtEl>
                                          <p:spTgt spid="6">
                                            <p:txEl>
                                              <p:charRg st="0" end="37"/>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6">
                                            <p:txEl>
                                              <p:charRg st="37" end="74"/>
                                            </p:txEl>
                                          </p:spTgt>
                                        </p:tgtEl>
                                        <p:attrNameLst>
                                          <p:attrName>style.visibility</p:attrName>
                                        </p:attrNameLst>
                                      </p:cBhvr>
                                      <p:to>
                                        <p:strVal val="visible"/>
                                      </p:to>
                                    </p:set>
                                    <p:animEffect transition="in" filter="wipe(down)">
                                      <p:cBhvr>
                                        <p:cTn id="21" dur="500"/>
                                        <p:tgtEl>
                                          <p:spTgt spid="6">
                                            <p:txEl>
                                              <p:charRg st="37" end="7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6">
                                            <p:txEl>
                                              <p:charRg st="74" end="111"/>
                                            </p:txEl>
                                          </p:spTgt>
                                        </p:tgtEl>
                                        <p:attrNameLst>
                                          <p:attrName>style.visibility</p:attrName>
                                        </p:attrNameLst>
                                      </p:cBhvr>
                                      <p:to>
                                        <p:strVal val="visible"/>
                                      </p:to>
                                    </p:set>
                                    <p:animEffect transition="in" filter="wipe(down)">
                                      <p:cBhvr>
                                        <p:cTn id="24" dur="500"/>
                                        <p:tgtEl>
                                          <p:spTgt spid="6">
                                            <p:txEl>
                                              <p:charRg st="74" end="111"/>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6">
                                            <p:txEl>
                                              <p:charRg st="111" end="155"/>
                                            </p:txEl>
                                          </p:spTgt>
                                        </p:tgtEl>
                                        <p:attrNameLst>
                                          <p:attrName>style.visibility</p:attrName>
                                        </p:attrNameLst>
                                      </p:cBhvr>
                                      <p:to>
                                        <p:strVal val="visible"/>
                                      </p:to>
                                    </p:set>
                                    <p:animEffect transition="in" filter="wipe(down)">
                                      <p:cBhvr>
                                        <p:cTn id="27" dur="500"/>
                                        <p:tgtEl>
                                          <p:spTgt spid="6">
                                            <p:txEl>
                                              <p:charRg st="111" end="155"/>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6">
                                            <p:txEl>
                                              <p:charRg st="155" end="157"/>
                                            </p:txEl>
                                          </p:spTgt>
                                        </p:tgtEl>
                                        <p:attrNameLst>
                                          <p:attrName>style.visibility</p:attrName>
                                        </p:attrNameLst>
                                      </p:cBhvr>
                                      <p:to>
                                        <p:strVal val="visible"/>
                                      </p:to>
                                    </p:set>
                                    <p:animEffect transition="in" filter="wipe(down)">
                                      <p:cBhvr>
                                        <p:cTn id="30" dur="500"/>
                                        <p:tgtEl>
                                          <p:spTgt spid="6">
                                            <p:txEl>
                                              <p:charRg st="155" end="1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build="allAtOnce"/>
      <p:bldP spid="6" grpId="0" animBg="1" build="allAtOnce"/>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pic>
        <p:nvPicPr>
          <p:cNvPr id="66563" name="图片 2"/>
          <p:cNvPicPr>
            <a:picLocks noChangeAspect="1"/>
          </p:cNvPicPr>
          <p:nvPr/>
        </p:nvPicPr>
        <p:blipFill>
          <a:blip r:embed="rId1" cstate="print"/>
          <a:stretch>
            <a:fillRect/>
          </a:stretch>
        </p:blipFill>
        <p:spPr>
          <a:xfrm>
            <a:off x="2290253" y="571500"/>
            <a:ext cx="8230646" cy="6180138"/>
          </a:xfrm>
          <a:prstGeom prst="rect">
            <a:avLst/>
          </a:prstGeom>
          <a:noFill/>
          <a:ln w="9525">
            <a:noFill/>
          </a:ln>
        </p:spPr>
      </p:pic>
      <p:sp>
        <p:nvSpPr>
          <p:cNvPr id="66564" name="Rectangle 489"/>
          <p:cNvSpPr/>
          <p:nvPr/>
        </p:nvSpPr>
        <p:spPr>
          <a:xfrm>
            <a:off x="319" y="165100"/>
            <a:ext cx="3655008" cy="495300"/>
          </a:xfrm>
          <a:prstGeom prst="rect">
            <a:avLst/>
          </a:prstGeom>
          <a:noFill/>
          <a:ln w="9525">
            <a:noFill/>
          </a:ln>
        </p:spPr>
        <p:txBody>
          <a:bodyPr/>
          <a:lstStyle>
            <a:lvl1pPr marL="342900" indent="-342900" algn="l" rtl="0" eaLnBrk="0" fontAlgn="base" hangingPunct="0">
              <a:lnSpc>
                <a:spcPct val="150000"/>
              </a:lnSpc>
              <a:spcBef>
                <a:spcPts val="600"/>
              </a:spcBef>
              <a:spcAft>
                <a:spcPct val="0"/>
              </a:spcAft>
              <a:buChar char="•"/>
              <a:defRPr sz="2000">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stStyle>
          <a:p>
            <a:pPr marL="342900" lvl="0" indent="-342900" eaLnBrk="1" hangingPunct="1">
              <a:lnSpc>
                <a:spcPct val="110000"/>
              </a:lnSpc>
              <a:spcBef>
                <a:spcPct val="10000"/>
              </a:spcBef>
            </a:pPr>
            <a:r>
              <a:rPr lang="zh-CN" altLang="en-US" b="1" dirty="0">
                <a:latin typeface="Times New Roman" pitchFamily="18" charset="0"/>
              </a:rPr>
              <a:t>例外处理通路</a:t>
            </a:r>
            <a:endParaRPr lang="zh-CN" altLang="en-US" b="1" dirty="0">
              <a:latin typeface="Times New Roman" pitchFamily="18"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灯片编号占位符 4"/>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72707" name="Rectangle 2"/>
          <p:cNvSpPr>
            <a:spLocks noGrp="1"/>
          </p:cNvSpPr>
          <p:nvPr>
            <p:ph type="title"/>
          </p:nvPr>
        </p:nvSpPr>
        <p:spPr>
          <a:xfrm>
            <a:off x="1042988" y="2938463"/>
            <a:ext cx="10361612" cy="1143000"/>
          </a:xfrm>
        </p:spPr>
        <p:txBody>
          <a:bodyPr vert="horz" wrap="square" lIns="91440" tIns="45720" rIns="91440" bIns="45720" anchor="ctr" anchorCtr="0"/>
          <a:p>
            <a:pPr eaLnBrk="1" hangingPunct="1"/>
            <a:r>
              <a:rPr lang="zh-CN" altLang="en-US" dirty="0"/>
              <a:t>多功能部件与多拍操作</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73731" name="Rectangle 2"/>
          <p:cNvSpPr/>
          <p:nvPr/>
        </p:nvSpPr>
        <p:spPr>
          <a:xfrm>
            <a:off x="914400" y="0"/>
            <a:ext cx="10361613" cy="1168400"/>
          </a:xfrm>
          <a:prstGeom prst="rect">
            <a:avLst/>
          </a:prstGeom>
          <a:noFill/>
          <a:ln w="9525">
            <a:noFill/>
          </a:ln>
        </p:spPr>
        <p:txBody>
          <a:bodyPr anchor="ctr" anchorCtr="0"/>
          <a:p>
            <a:pPr algn="ctr" eaLnBrk="1" hangingPunct="1"/>
            <a:r>
              <a:rPr lang="zh-CN" altLang="en-US" sz="3200" dirty="0">
                <a:solidFill>
                  <a:srgbClr val="FF0000"/>
                </a:solidFill>
                <a:latin typeface="Arial" panose="02080604020202020204" pitchFamily="34" charset="0"/>
                <a:ea typeface="黑体" panose="02000500000000000000" pitchFamily="49" charset="-122"/>
              </a:rPr>
              <a:t>多功能部件与多拍操作</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64516" name="Rectangle 3"/>
          <p:cNvSpPr>
            <a:spLocks noChangeArrowheads="1"/>
          </p:cNvSpPr>
          <p:nvPr/>
        </p:nvSpPr>
        <p:spPr bwMode="auto">
          <a:xfrm>
            <a:off x="617538" y="1111250"/>
            <a:ext cx="10658475" cy="5300663"/>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多功能部件</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定点</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ALU</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、定点乘法、浮点</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ALU</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、浮点乘法、访存</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不同功能部件有不同延迟</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定点</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ALU 1</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拍，定点乘法</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2</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拍，浮点</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ALU 4</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拍，浮点乘法</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7</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拍</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访存部件延迟不确定（</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CACHE</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不命中、访存总线竞争、动态存储器刷新等原因），每次只能一个操作（内部不流水）</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74755" name="Rectangle 2"/>
          <p:cNvSpPr/>
          <p:nvPr/>
        </p:nvSpPr>
        <p:spPr>
          <a:xfrm>
            <a:off x="284163" y="152400"/>
            <a:ext cx="4772025" cy="495300"/>
          </a:xfrm>
          <a:prstGeom prst="rect">
            <a:avLst/>
          </a:prstGeom>
          <a:noFill/>
          <a:ln w="9525">
            <a:noFill/>
          </a:ln>
        </p:spPr>
        <p:txBody>
          <a:bodyPr/>
          <a:p>
            <a:pPr marL="342900" indent="-342900" eaLnBrk="1" hangingPunct="1">
              <a:lnSpc>
                <a:spcPct val="110000"/>
              </a:lnSpc>
              <a:spcBef>
                <a:spcPct val="10000"/>
              </a:spcBef>
              <a:buChar char="•"/>
            </a:pPr>
            <a:r>
              <a:rPr lang="zh-CN" altLang="en-US" sz="2400" b="1" dirty="0">
                <a:latin typeface="Times New Roman" pitchFamily="18" charset="0"/>
              </a:rPr>
              <a:t>主要数据通路</a:t>
            </a:r>
            <a:endParaRPr lang="zh-CN" altLang="en-US" sz="2400" b="1" dirty="0">
              <a:latin typeface="Times New Roman" pitchFamily="18" charset="0"/>
            </a:endParaRPr>
          </a:p>
        </p:txBody>
      </p:sp>
      <p:sp>
        <p:nvSpPr>
          <p:cNvPr id="74756" name="Line 5"/>
          <p:cNvSpPr/>
          <p:nvPr/>
        </p:nvSpPr>
        <p:spPr>
          <a:xfrm flipV="1">
            <a:off x="1436688" y="3798888"/>
            <a:ext cx="4962525" cy="0"/>
          </a:xfrm>
          <a:prstGeom prst="line">
            <a:avLst/>
          </a:prstGeom>
          <a:ln w="9525" cap="flat" cmpd="sng">
            <a:solidFill>
              <a:schemeClr val="tx1"/>
            </a:solidFill>
            <a:prstDash val="solid"/>
            <a:headEnd type="none" w="med" len="med"/>
            <a:tailEnd type="none" w="med" len="med"/>
          </a:ln>
        </p:spPr>
      </p:sp>
      <p:sp>
        <p:nvSpPr>
          <p:cNvPr id="74757" name="Line 6"/>
          <p:cNvSpPr/>
          <p:nvPr/>
        </p:nvSpPr>
        <p:spPr>
          <a:xfrm>
            <a:off x="1784350" y="3736975"/>
            <a:ext cx="3971925" cy="0"/>
          </a:xfrm>
          <a:prstGeom prst="line">
            <a:avLst/>
          </a:prstGeom>
          <a:ln w="9525" cap="flat" cmpd="sng">
            <a:solidFill>
              <a:schemeClr val="tx1"/>
            </a:solidFill>
            <a:prstDash val="solid"/>
            <a:headEnd type="none" w="med" len="med"/>
            <a:tailEnd type="none" w="med" len="med"/>
          </a:ln>
        </p:spPr>
      </p:sp>
      <p:sp>
        <p:nvSpPr>
          <p:cNvPr id="74758" name="Line 7"/>
          <p:cNvSpPr/>
          <p:nvPr/>
        </p:nvSpPr>
        <p:spPr>
          <a:xfrm>
            <a:off x="8493125" y="3649663"/>
            <a:ext cx="2193925" cy="0"/>
          </a:xfrm>
          <a:prstGeom prst="line">
            <a:avLst/>
          </a:prstGeom>
          <a:ln w="9525" cap="flat" cmpd="sng">
            <a:solidFill>
              <a:schemeClr val="tx1"/>
            </a:solidFill>
            <a:prstDash val="solid"/>
            <a:headEnd type="none" w="med" len="med"/>
            <a:tailEnd type="none" w="med" len="med"/>
          </a:ln>
        </p:spPr>
      </p:sp>
      <p:sp>
        <p:nvSpPr>
          <p:cNvPr id="74759" name="Rectangle 9"/>
          <p:cNvSpPr/>
          <p:nvPr/>
        </p:nvSpPr>
        <p:spPr>
          <a:xfrm>
            <a:off x="1017588" y="1401763"/>
            <a:ext cx="1524000" cy="193198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60" name="Line 10"/>
          <p:cNvSpPr/>
          <p:nvPr/>
        </p:nvSpPr>
        <p:spPr>
          <a:xfrm flipH="1" flipV="1">
            <a:off x="1441450" y="3381375"/>
            <a:ext cx="0" cy="409575"/>
          </a:xfrm>
          <a:prstGeom prst="line">
            <a:avLst/>
          </a:prstGeom>
          <a:ln w="9525" cap="flat" cmpd="sng">
            <a:solidFill>
              <a:schemeClr val="tx1"/>
            </a:solidFill>
            <a:prstDash val="solid"/>
            <a:headEnd type="none" w="med" len="med"/>
            <a:tailEnd type="triangle" w="med" len="med"/>
          </a:ln>
        </p:spPr>
      </p:sp>
      <p:sp>
        <p:nvSpPr>
          <p:cNvPr id="74761" name="Line 11"/>
          <p:cNvSpPr/>
          <p:nvPr/>
        </p:nvSpPr>
        <p:spPr>
          <a:xfrm flipV="1">
            <a:off x="2101850" y="3381375"/>
            <a:ext cx="0" cy="195263"/>
          </a:xfrm>
          <a:prstGeom prst="line">
            <a:avLst/>
          </a:prstGeom>
          <a:ln w="9525" cap="flat" cmpd="sng">
            <a:solidFill>
              <a:schemeClr val="tx1"/>
            </a:solidFill>
            <a:prstDash val="solid"/>
            <a:headEnd type="none" w="med" len="med"/>
            <a:tailEnd type="triangle" w="med" len="med"/>
          </a:ln>
        </p:spPr>
      </p:sp>
      <p:sp>
        <p:nvSpPr>
          <p:cNvPr id="74762" name="Line 13"/>
          <p:cNvSpPr/>
          <p:nvPr/>
        </p:nvSpPr>
        <p:spPr>
          <a:xfrm flipV="1">
            <a:off x="1789113" y="1066800"/>
            <a:ext cx="0" cy="346075"/>
          </a:xfrm>
          <a:prstGeom prst="line">
            <a:avLst/>
          </a:prstGeom>
          <a:ln w="9525" cap="flat" cmpd="sng">
            <a:solidFill>
              <a:schemeClr val="tx1"/>
            </a:solidFill>
            <a:prstDash val="solid"/>
            <a:headEnd type="none" w="med" len="med"/>
            <a:tailEnd type="triangle" w="med" len="med"/>
          </a:ln>
        </p:spPr>
      </p:sp>
      <p:sp>
        <p:nvSpPr>
          <p:cNvPr id="74763" name="Line 14"/>
          <p:cNvSpPr/>
          <p:nvPr/>
        </p:nvSpPr>
        <p:spPr>
          <a:xfrm flipH="1" flipV="1">
            <a:off x="1782763" y="3387725"/>
            <a:ext cx="0" cy="346075"/>
          </a:xfrm>
          <a:prstGeom prst="line">
            <a:avLst/>
          </a:prstGeom>
          <a:ln w="9525" cap="flat" cmpd="sng">
            <a:solidFill>
              <a:schemeClr val="tx1"/>
            </a:solidFill>
            <a:prstDash val="solid"/>
            <a:headEnd type="none" w="med" len="med"/>
            <a:tailEnd type="triangle" w="med" len="med"/>
          </a:ln>
        </p:spPr>
      </p:sp>
      <p:sp>
        <p:nvSpPr>
          <p:cNvPr id="74764" name="Rectangle 15"/>
          <p:cNvSpPr/>
          <p:nvPr/>
        </p:nvSpPr>
        <p:spPr>
          <a:xfrm>
            <a:off x="3194050" y="3230563"/>
            <a:ext cx="1524000"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65" name="Rectangle 16"/>
          <p:cNvSpPr/>
          <p:nvPr/>
        </p:nvSpPr>
        <p:spPr>
          <a:xfrm>
            <a:off x="7459663" y="2316163"/>
            <a:ext cx="1524000"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66" name="Rectangle 17"/>
          <p:cNvSpPr/>
          <p:nvPr/>
        </p:nvSpPr>
        <p:spPr>
          <a:xfrm>
            <a:off x="5327650" y="2925763"/>
            <a:ext cx="1522413"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67" name="Rectangle 18"/>
          <p:cNvSpPr/>
          <p:nvPr/>
        </p:nvSpPr>
        <p:spPr>
          <a:xfrm>
            <a:off x="5327650" y="3230563"/>
            <a:ext cx="1522413"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68" name="Rectangle 19"/>
          <p:cNvSpPr/>
          <p:nvPr/>
        </p:nvSpPr>
        <p:spPr>
          <a:xfrm>
            <a:off x="7459663" y="2620963"/>
            <a:ext cx="1524000"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69" name="Rectangle 20"/>
          <p:cNvSpPr/>
          <p:nvPr/>
        </p:nvSpPr>
        <p:spPr>
          <a:xfrm>
            <a:off x="7459663" y="2925763"/>
            <a:ext cx="1524000"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70" name="Rectangle 21"/>
          <p:cNvSpPr/>
          <p:nvPr/>
        </p:nvSpPr>
        <p:spPr>
          <a:xfrm>
            <a:off x="7459663" y="3230563"/>
            <a:ext cx="1524000"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71" name="Rectangle 22"/>
          <p:cNvSpPr/>
          <p:nvPr/>
        </p:nvSpPr>
        <p:spPr>
          <a:xfrm>
            <a:off x="9593263" y="2316163"/>
            <a:ext cx="1524000"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72" name="Rectangle 23"/>
          <p:cNvSpPr/>
          <p:nvPr/>
        </p:nvSpPr>
        <p:spPr>
          <a:xfrm>
            <a:off x="9593263" y="2620963"/>
            <a:ext cx="1524000"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73" name="Rectangle 24"/>
          <p:cNvSpPr/>
          <p:nvPr/>
        </p:nvSpPr>
        <p:spPr>
          <a:xfrm>
            <a:off x="9593263" y="2925763"/>
            <a:ext cx="1524000"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74" name="Rectangle 25"/>
          <p:cNvSpPr/>
          <p:nvPr/>
        </p:nvSpPr>
        <p:spPr>
          <a:xfrm>
            <a:off x="9593263" y="3230563"/>
            <a:ext cx="1524000"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75" name="Rectangle 26"/>
          <p:cNvSpPr/>
          <p:nvPr/>
        </p:nvSpPr>
        <p:spPr>
          <a:xfrm>
            <a:off x="9593263" y="1401763"/>
            <a:ext cx="1524000"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76" name="Rectangle 27"/>
          <p:cNvSpPr/>
          <p:nvPr/>
        </p:nvSpPr>
        <p:spPr>
          <a:xfrm>
            <a:off x="9593263" y="1706563"/>
            <a:ext cx="1524000"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77" name="Rectangle 28"/>
          <p:cNvSpPr/>
          <p:nvPr/>
        </p:nvSpPr>
        <p:spPr>
          <a:xfrm>
            <a:off x="9593263" y="2011363"/>
            <a:ext cx="1524000" cy="152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778" name="Line 29"/>
          <p:cNvSpPr/>
          <p:nvPr/>
        </p:nvSpPr>
        <p:spPr>
          <a:xfrm flipV="1">
            <a:off x="3563938" y="3387725"/>
            <a:ext cx="0" cy="519113"/>
          </a:xfrm>
          <a:prstGeom prst="line">
            <a:avLst/>
          </a:prstGeom>
          <a:ln w="9525" cap="flat" cmpd="sng">
            <a:solidFill>
              <a:schemeClr val="tx1"/>
            </a:solidFill>
            <a:prstDash val="solid"/>
            <a:headEnd type="none" w="med" len="med"/>
            <a:tailEnd type="triangle" w="med" len="med"/>
          </a:ln>
        </p:spPr>
      </p:sp>
      <p:sp>
        <p:nvSpPr>
          <p:cNvPr id="74779" name="Line 30"/>
          <p:cNvSpPr/>
          <p:nvPr/>
        </p:nvSpPr>
        <p:spPr>
          <a:xfrm flipV="1">
            <a:off x="4224338" y="3387725"/>
            <a:ext cx="0" cy="519113"/>
          </a:xfrm>
          <a:prstGeom prst="line">
            <a:avLst/>
          </a:prstGeom>
          <a:ln w="9525" cap="flat" cmpd="sng">
            <a:solidFill>
              <a:schemeClr val="tx1"/>
            </a:solidFill>
            <a:prstDash val="solid"/>
            <a:headEnd type="none" w="med" len="med"/>
            <a:tailEnd type="triangle" w="med" len="med"/>
          </a:ln>
        </p:spPr>
      </p:sp>
      <p:sp>
        <p:nvSpPr>
          <p:cNvPr id="74780" name="Line 31"/>
          <p:cNvSpPr/>
          <p:nvPr/>
        </p:nvSpPr>
        <p:spPr>
          <a:xfrm flipH="1" flipV="1">
            <a:off x="5734050" y="3392488"/>
            <a:ext cx="0" cy="333375"/>
          </a:xfrm>
          <a:prstGeom prst="line">
            <a:avLst/>
          </a:prstGeom>
          <a:ln w="9525" cap="flat" cmpd="sng">
            <a:solidFill>
              <a:schemeClr val="tx1"/>
            </a:solidFill>
            <a:prstDash val="solid"/>
            <a:headEnd type="none" w="med" len="med"/>
            <a:tailEnd type="triangle" w="med" len="med"/>
          </a:ln>
        </p:spPr>
      </p:sp>
      <p:sp>
        <p:nvSpPr>
          <p:cNvPr id="74781" name="Line 32"/>
          <p:cNvSpPr/>
          <p:nvPr/>
        </p:nvSpPr>
        <p:spPr>
          <a:xfrm flipV="1">
            <a:off x="6392863" y="3392488"/>
            <a:ext cx="0" cy="407987"/>
          </a:xfrm>
          <a:prstGeom prst="line">
            <a:avLst/>
          </a:prstGeom>
          <a:ln w="9525" cap="flat" cmpd="sng">
            <a:solidFill>
              <a:schemeClr val="tx1"/>
            </a:solidFill>
            <a:prstDash val="solid"/>
            <a:headEnd type="none" w="med" len="med"/>
            <a:tailEnd type="triangle" w="med" len="med"/>
          </a:ln>
        </p:spPr>
      </p:sp>
      <p:sp>
        <p:nvSpPr>
          <p:cNvPr id="74782" name="Line 33"/>
          <p:cNvSpPr/>
          <p:nvPr/>
        </p:nvSpPr>
        <p:spPr>
          <a:xfrm flipV="1">
            <a:off x="7832725" y="3371850"/>
            <a:ext cx="0" cy="519113"/>
          </a:xfrm>
          <a:prstGeom prst="line">
            <a:avLst/>
          </a:prstGeom>
          <a:ln w="9525" cap="flat" cmpd="sng">
            <a:solidFill>
              <a:schemeClr val="tx1"/>
            </a:solidFill>
            <a:prstDash val="solid"/>
            <a:headEnd type="none" w="med" len="med"/>
            <a:tailEnd type="triangle" w="med" len="med"/>
          </a:ln>
        </p:spPr>
      </p:sp>
      <p:sp>
        <p:nvSpPr>
          <p:cNvPr id="74783" name="Line 34"/>
          <p:cNvSpPr/>
          <p:nvPr/>
        </p:nvSpPr>
        <p:spPr>
          <a:xfrm flipV="1">
            <a:off x="8493125" y="3371850"/>
            <a:ext cx="0" cy="506413"/>
          </a:xfrm>
          <a:prstGeom prst="line">
            <a:avLst/>
          </a:prstGeom>
          <a:ln w="9525" cap="flat" cmpd="sng">
            <a:solidFill>
              <a:schemeClr val="tx1"/>
            </a:solidFill>
            <a:prstDash val="solid"/>
            <a:headEnd type="none" w="med" len="med"/>
            <a:tailEnd type="triangle" w="med" len="med"/>
          </a:ln>
        </p:spPr>
      </p:sp>
      <p:sp>
        <p:nvSpPr>
          <p:cNvPr id="74784" name="Line 35"/>
          <p:cNvSpPr/>
          <p:nvPr/>
        </p:nvSpPr>
        <p:spPr>
          <a:xfrm flipH="1" flipV="1">
            <a:off x="9980613" y="3378200"/>
            <a:ext cx="0" cy="193675"/>
          </a:xfrm>
          <a:prstGeom prst="line">
            <a:avLst/>
          </a:prstGeom>
          <a:ln w="9525" cap="flat" cmpd="sng">
            <a:solidFill>
              <a:schemeClr val="tx1"/>
            </a:solidFill>
            <a:prstDash val="solid"/>
            <a:headEnd type="none" w="med" len="med"/>
            <a:tailEnd type="triangle" w="med" len="med"/>
          </a:ln>
        </p:spPr>
      </p:sp>
      <p:sp>
        <p:nvSpPr>
          <p:cNvPr id="74785" name="Line 36"/>
          <p:cNvSpPr/>
          <p:nvPr/>
        </p:nvSpPr>
        <p:spPr>
          <a:xfrm flipV="1">
            <a:off x="10691813" y="3389313"/>
            <a:ext cx="0" cy="258762"/>
          </a:xfrm>
          <a:prstGeom prst="line">
            <a:avLst/>
          </a:prstGeom>
          <a:ln w="9525" cap="flat" cmpd="sng">
            <a:solidFill>
              <a:schemeClr val="tx1"/>
            </a:solidFill>
            <a:prstDash val="solid"/>
            <a:headEnd type="none" w="med" len="med"/>
            <a:tailEnd type="triangle" w="med" len="med"/>
          </a:ln>
        </p:spPr>
      </p:sp>
      <p:sp>
        <p:nvSpPr>
          <p:cNvPr id="74786" name="Line 41"/>
          <p:cNvSpPr/>
          <p:nvPr/>
        </p:nvSpPr>
        <p:spPr>
          <a:xfrm flipV="1">
            <a:off x="6091238" y="3078163"/>
            <a:ext cx="0" cy="147637"/>
          </a:xfrm>
          <a:prstGeom prst="line">
            <a:avLst/>
          </a:prstGeom>
          <a:ln w="9525" cap="flat" cmpd="sng">
            <a:solidFill>
              <a:schemeClr val="tx1"/>
            </a:solidFill>
            <a:prstDash val="solid"/>
            <a:headEnd type="none" w="med" len="med"/>
            <a:tailEnd type="triangle" w="med" len="med"/>
          </a:ln>
        </p:spPr>
      </p:sp>
      <p:sp>
        <p:nvSpPr>
          <p:cNvPr id="74787" name="Line 42"/>
          <p:cNvSpPr/>
          <p:nvPr/>
        </p:nvSpPr>
        <p:spPr>
          <a:xfrm flipV="1">
            <a:off x="8189913" y="3081338"/>
            <a:ext cx="0" cy="147637"/>
          </a:xfrm>
          <a:prstGeom prst="line">
            <a:avLst/>
          </a:prstGeom>
          <a:ln w="9525" cap="flat" cmpd="sng">
            <a:solidFill>
              <a:schemeClr val="tx1"/>
            </a:solidFill>
            <a:prstDash val="solid"/>
            <a:headEnd type="none" w="med" len="med"/>
            <a:tailEnd type="triangle" w="med" len="med"/>
          </a:ln>
        </p:spPr>
      </p:sp>
      <p:sp>
        <p:nvSpPr>
          <p:cNvPr id="74788" name="Line 43"/>
          <p:cNvSpPr/>
          <p:nvPr/>
        </p:nvSpPr>
        <p:spPr>
          <a:xfrm flipV="1">
            <a:off x="10393363" y="3078163"/>
            <a:ext cx="0" cy="147637"/>
          </a:xfrm>
          <a:prstGeom prst="line">
            <a:avLst/>
          </a:prstGeom>
          <a:ln w="9525" cap="flat" cmpd="sng">
            <a:solidFill>
              <a:schemeClr val="tx1"/>
            </a:solidFill>
            <a:prstDash val="solid"/>
            <a:headEnd type="none" w="med" len="med"/>
            <a:tailEnd type="triangle" w="med" len="med"/>
          </a:ln>
        </p:spPr>
      </p:sp>
      <p:sp>
        <p:nvSpPr>
          <p:cNvPr id="74789" name="Line 44"/>
          <p:cNvSpPr/>
          <p:nvPr/>
        </p:nvSpPr>
        <p:spPr>
          <a:xfrm flipV="1">
            <a:off x="8180388" y="2763838"/>
            <a:ext cx="0" cy="147637"/>
          </a:xfrm>
          <a:prstGeom prst="line">
            <a:avLst/>
          </a:prstGeom>
          <a:ln w="9525" cap="flat" cmpd="sng">
            <a:solidFill>
              <a:schemeClr val="tx1"/>
            </a:solidFill>
            <a:prstDash val="solid"/>
            <a:headEnd type="none" w="med" len="med"/>
            <a:tailEnd type="triangle" w="med" len="med"/>
          </a:ln>
        </p:spPr>
      </p:sp>
      <p:sp>
        <p:nvSpPr>
          <p:cNvPr id="74790" name="Line 45"/>
          <p:cNvSpPr/>
          <p:nvPr/>
        </p:nvSpPr>
        <p:spPr>
          <a:xfrm flipV="1">
            <a:off x="8180388" y="2454275"/>
            <a:ext cx="0" cy="147638"/>
          </a:xfrm>
          <a:prstGeom prst="line">
            <a:avLst/>
          </a:prstGeom>
          <a:ln w="9525" cap="flat" cmpd="sng">
            <a:solidFill>
              <a:schemeClr val="tx1"/>
            </a:solidFill>
            <a:prstDash val="solid"/>
            <a:headEnd type="none" w="med" len="med"/>
            <a:tailEnd type="triangle" w="med" len="med"/>
          </a:ln>
        </p:spPr>
      </p:sp>
      <p:sp>
        <p:nvSpPr>
          <p:cNvPr id="74791" name="Line 46"/>
          <p:cNvSpPr/>
          <p:nvPr/>
        </p:nvSpPr>
        <p:spPr>
          <a:xfrm flipV="1">
            <a:off x="10344150" y="1554163"/>
            <a:ext cx="0" cy="147637"/>
          </a:xfrm>
          <a:prstGeom prst="line">
            <a:avLst/>
          </a:prstGeom>
          <a:ln w="9525" cap="flat" cmpd="sng">
            <a:solidFill>
              <a:schemeClr val="tx1"/>
            </a:solidFill>
            <a:prstDash val="solid"/>
            <a:headEnd type="none" w="med" len="med"/>
            <a:tailEnd type="triangle" w="med" len="med"/>
          </a:ln>
        </p:spPr>
      </p:sp>
      <p:sp>
        <p:nvSpPr>
          <p:cNvPr id="74792" name="Line 47"/>
          <p:cNvSpPr/>
          <p:nvPr/>
        </p:nvSpPr>
        <p:spPr>
          <a:xfrm flipV="1">
            <a:off x="10388600" y="2776538"/>
            <a:ext cx="0" cy="147637"/>
          </a:xfrm>
          <a:prstGeom prst="line">
            <a:avLst/>
          </a:prstGeom>
          <a:ln w="9525" cap="flat" cmpd="sng">
            <a:solidFill>
              <a:schemeClr val="tx1"/>
            </a:solidFill>
            <a:prstDash val="solid"/>
            <a:headEnd type="none" w="med" len="med"/>
            <a:tailEnd type="triangle" w="med" len="med"/>
          </a:ln>
        </p:spPr>
      </p:sp>
      <p:sp>
        <p:nvSpPr>
          <p:cNvPr id="74793" name="Line 48"/>
          <p:cNvSpPr/>
          <p:nvPr/>
        </p:nvSpPr>
        <p:spPr>
          <a:xfrm flipV="1">
            <a:off x="10379075" y="2459038"/>
            <a:ext cx="0" cy="147637"/>
          </a:xfrm>
          <a:prstGeom prst="line">
            <a:avLst/>
          </a:prstGeom>
          <a:ln w="9525" cap="flat" cmpd="sng">
            <a:solidFill>
              <a:schemeClr val="tx1"/>
            </a:solidFill>
            <a:prstDash val="solid"/>
            <a:headEnd type="none" w="med" len="med"/>
            <a:tailEnd type="triangle" w="med" len="med"/>
          </a:ln>
        </p:spPr>
      </p:sp>
      <p:sp>
        <p:nvSpPr>
          <p:cNvPr id="74794" name="Line 49"/>
          <p:cNvSpPr/>
          <p:nvPr/>
        </p:nvSpPr>
        <p:spPr>
          <a:xfrm flipV="1">
            <a:off x="10379075" y="2149475"/>
            <a:ext cx="0" cy="147638"/>
          </a:xfrm>
          <a:prstGeom prst="line">
            <a:avLst/>
          </a:prstGeom>
          <a:ln w="9525" cap="flat" cmpd="sng">
            <a:solidFill>
              <a:schemeClr val="tx1"/>
            </a:solidFill>
            <a:prstDash val="solid"/>
            <a:headEnd type="none" w="med" len="med"/>
            <a:tailEnd type="triangle" w="med" len="med"/>
          </a:ln>
        </p:spPr>
      </p:sp>
      <p:sp>
        <p:nvSpPr>
          <p:cNvPr id="74795" name="Line 50"/>
          <p:cNvSpPr/>
          <p:nvPr/>
        </p:nvSpPr>
        <p:spPr>
          <a:xfrm flipV="1">
            <a:off x="10361613" y="1858963"/>
            <a:ext cx="0" cy="147637"/>
          </a:xfrm>
          <a:prstGeom prst="line">
            <a:avLst/>
          </a:prstGeom>
          <a:ln w="9525" cap="flat" cmpd="sng">
            <a:solidFill>
              <a:schemeClr val="tx1"/>
            </a:solidFill>
            <a:prstDash val="solid"/>
            <a:headEnd type="none" w="med" len="med"/>
            <a:tailEnd type="triangle" w="med" len="med"/>
          </a:ln>
        </p:spPr>
      </p:sp>
      <p:sp>
        <p:nvSpPr>
          <p:cNvPr id="74796" name="Line 51"/>
          <p:cNvSpPr/>
          <p:nvPr/>
        </p:nvSpPr>
        <p:spPr>
          <a:xfrm flipV="1">
            <a:off x="3927475" y="1060450"/>
            <a:ext cx="0" cy="2162175"/>
          </a:xfrm>
          <a:prstGeom prst="line">
            <a:avLst/>
          </a:prstGeom>
          <a:ln w="9525" cap="flat" cmpd="sng">
            <a:solidFill>
              <a:schemeClr val="tx1"/>
            </a:solidFill>
            <a:prstDash val="solid"/>
            <a:headEnd type="none" w="med" len="med"/>
            <a:tailEnd type="triangle" w="med" len="med"/>
          </a:ln>
        </p:spPr>
      </p:sp>
      <p:sp>
        <p:nvSpPr>
          <p:cNvPr id="74797" name="Line 52"/>
          <p:cNvSpPr/>
          <p:nvPr/>
        </p:nvSpPr>
        <p:spPr>
          <a:xfrm flipV="1">
            <a:off x="6091238" y="1062038"/>
            <a:ext cx="0" cy="1866900"/>
          </a:xfrm>
          <a:prstGeom prst="line">
            <a:avLst/>
          </a:prstGeom>
          <a:ln w="9525" cap="flat" cmpd="sng">
            <a:solidFill>
              <a:schemeClr val="tx1"/>
            </a:solidFill>
            <a:prstDash val="solid"/>
            <a:headEnd type="none" w="med" len="med"/>
            <a:tailEnd type="triangle" w="med" len="med"/>
          </a:ln>
        </p:spPr>
      </p:sp>
      <p:sp>
        <p:nvSpPr>
          <p:cNvPr id="74798" name="Line 53"/>
          <p:cNvSpPr/>
          <p:nvPr/>
        </p:nvSpPr>
        <p:spPr>
          <a:xfrm flipV="1">
            <a:off x="8186738" y="1062038"/>
            <a:ext cx="0" cy="1249362"/>
          </a:xfrm>
          <a:prstGeom prst="line">
            <a:avLst/>
          </a:prstGeom>
          <a:ln w="9525" cap="flat" cmpd="sng">
            <a:solidFill>
              <a:schemeClr val="tx1"/>
            </a:solidFill>
            <a:prstDash val="solid"/>
            <a:headEnd type="none" w="med" len="med"/>
            <a:tailEnd type="triangle" w="med" len="med"/>
          </a:ln>
        </p:spPr>
      </p:sp>
      <p:sp>
        <p:nvSpPr>
          <p:cNvPr id="74799" name="Line 54"/>
          <p:cNvSpPr/>
          <p:nvPr/>
        </p:nvSpPr>
        <p:spPr>
          <a:xfrm flipV="1">
            <a:off x="10347325" y="1062038"/>
            <a:ext cx="0" cy="346075"/>
          </a:xfrm>
          <a:prstGeom prst="line">
            <a:avLst/>
          </a:prstGeom>
          <a:ln w="9525" cap="flat" cmpd="sng">
            <a:solidFill>
              <a:schemeClr val="tx1"/>
            </a:solidFill>
            <a:prstDash val="solid"/>
            <a:headEnd type="none" w="med" len="med"/>
            <a:tailEnd type="triangle" w="med" len="med"/>
          </a:ln>
        </p:spPr>
      </p:sp>
      <p:sp>
        <p:nvSpPr>
          <p:cNvPr id="74800" name="Line 55"/>
          <p:cNvSpPr/>
          <p:nvPr/>
        </p:nvSpPr>
        <p:spPr>
          <a:xfrm>
            <a:off x="2085975" y="3586163"/>
            <a:ext cx="7913688" cy="1587"/>
          </a:xfrm>
          <a:prstGeom prst="line">
            <a:avLst/>
          </a:prstGeom>
          <a:ln w="9525" cap="flat" cmpd="sng">
            <a:solidFill>
              <a:schemeClr val="tx1"/>
            </a:solidFill>
            <a:prstDash val="solid"/>
            <a:headEnd type="none" w="med" len="med"/>
            <a:tailEnd type="none" w="med" len="med"/>
          </a:ln>
        </p:spPr>
      </p:sp>
      <p:sp>
        <p:nvSpPr>
          <p:cNvPr id="74801" name="Line 60"/>
          <p:cNvSpPr/>
          <p:nvPr/>
        </p:nvSpPr>
        <p:spPr>
          <a:xfrm flipV="1">
            <a:off x="7008813" y="566738"/>
            <a:ext cx="0" cy="147637"/>
          </a:xfrm>
          <a:prstGeom prst="line">
            <a:avLst/>
          </a:prstGeom>
          <a:ln w="9525" cap="flat" cmpd="sng">
            <a:solidFill>
              <a:schemeClr val="tx1"/>
            </a:solidFill>
            <a:prstDash val="solid"/>
            <a:headEnd type="none" w="med" len="med"/>
            <a:tailEnd type="none" w="med" len="med"/>
          </a:ln>
        </p:spPr>
      </p:sp>
      <p:sp>
        <p:nvSpPr>
          <p:cNvPr id="74802" name="Line 61"/>
          <p:cNvSpPr/>
          <p:nvPr/>
        </p:nvSpPr>
        <p:spPr>
          <a:xfrm>
            <a:off x="7008813" y="566738"/>
            <a:ext cx="4387850" cy="0"/>
          </a:xfrm>
          <a:prstGeom prst="line">
            <a:avLst/>
          </a:prstGeom>
          <a:ln w="9525" cap="flat" cmpd="sng">
            <a:solidFill>
              <a:schemeClr val="tx1"/>
            </a:solidFill>
            <a:prstDash val="solid"/>
            <a:headEnd type="none" w="med" len="med"/>
            <a:tailEnd type="none" w="med" len="med"/>
          </a:ln>
        </p:spPr>
      </p:sp>
      <p:sp>
        <p:nvSpPr>
          <p:cNvPr id="74803" name="Line 62"/>
          <p:cNvSpPr/>
          <p:nvPr/>
        </p:nvSpPr>
        <p:spPr>
          <a:xfrm>
            <a:off x="11396663" y="566738"/>
            <a:ext cx="0" cy="5343525"/>
          </a:xfrm>
          <a:prstGeom prst="line">
            <a:avLst/>
          </a:prstGeom>
          <a:ln w="9525" cap="flat" cmpd="sng">
            <a:solidFill>
              <a:schemeClr val="tx1"/>
            </a:solidFill>
            <a:prstDash val="solid"/>
            <a:headEnd type="none" w="med" len="med"/>
            <a:tailEnd type="none" w="med" len="med"/>
          </a:ln>
        </p:spPr>
      </p:sp>
      <p:sp>
        <p:nvSpPr>
          <p:cNvPr id="74804" name="Line 63"/>
          <p:cNvSpPr/>
          <p:nvPr/>
        </p:nvSpPr>
        <p:spPr>
          <a:xfrm>
            <a:off x="4238625" y="5907088"/>
            <a:ext cx="7158038" cy="0"/>
          </a:xfrm>
          <a:prstGeom prst="line">
            <a:avLst/>
          </a:prstGeom>
          <a:ln w="9525" cap="flat" cmpd="sng">
            <a:solidFill>
              <a:schemeClr val="tx1"/>
            </a:solidFill>
            <a:prstDash val="solid"/>
            <a:headEnd type="none" w="med" len="med"/>
            <a:tailEnd type="none" w="med" len="med"/>
          </a:ln>
        </p:spPr>
      </p:sp>
      <p:sp>
        <p:nvSpPr>
          <p:cNvPr id="74805" name="Line 64"/>
          <p:cNvSpPr/>
          <p:nvPr/>
        </p:nvSpPr>
        <p:spPr>
          <a:xfrm flipV="1">
            <a:off x="5210175" y="444500"/>
            <a:ext cx="0" cy="273050"/>
          </a:xfrm>
          <a:prstGeom prst="line">
            <a:avLst/>
          </a:prstGeom>
          <a:ln w="9525" cap="flat" cmpd="sng">
            <a:solidFill>
              <a:schemeClr val="tx1"/>
            </a:solidFill>
            <a:prstDash val="solid"/>
            <a:headEnd type="none" w="med" len="med"/>
            <a:tailEnd type="none" w="med" len="med"/>
          </a:ln>
        </p:spPr>
      </p:sp>
      <p:sp>
        <p:nvSpPr>
          <p:cNvPr id="74806" name="Line 65"/>
          <p:cNvSpPr/>
          <p:nvPr/>
        </p:nvSpPr>
        <p:spPr>
          <a:xfrm>
            <a:off x="5210175" y="444500"/>
            <a:ext cx="6365875" cy="0"/>
          </a:xfrm>
          <a:prstGeom prst="line">
            <a:avLst/>
          </a:prstGeom>
          <a:ln w="9525" cap="flat" cmpd="sng">
            <a:solidFill>
              <a:schemeClr val="tx1"/>
            </a:solidFill>
            <a:prstDash val="solid"/>
            <a:headEnd type="none" w="med" len="med"/>
            <a:tailEnd type="none" w="med" len="med"/>
          </a:ln>
        </p:spPr>
      </p:sp>
      <p:sp>
        <p:nvSpPr>
          <p:cNvPr id="74807" name="Line 66"/>
          <p:cNvSpPr/>
          <p:nvPr/>
        </p:nvSpPr>
        <p:spPr>
          <a:xfrm>
            <a:off x="11561763" y="444500"/>
            <a:ext cx="0" cy="5567363"/>
          </a:xfrm>
          <a:prstGeom prst="line">
            <a:avLst/>
          </a:prstGeom>
          <a:ln w="9525" cap="flat" cmpd="sng">
            <a:solidFill>
              <a:schemeClr val="tx1"/>
            </a:solidFill>
            <a:prstDash val="solid"/>
            <a:headEnd type="none" w="med" len="med"/>
            <a:tailEnd type="none" w="med" len="med"/>
          </a:ln>
        </p:spPr>
      </p:sp>
      <p:sp>
        <p:nvSpPr>
          <p:cNvPr id="74808" name="Line 67"/>
          <p:cNvSpPr/>
          <p:nvPr/>
        </p:nvSpPr>
        <p:spPr>
          <a:xfrm flipH="1">
            <a:off x="3644900" y="6008688"/>
            <a:ext cx="7899400" cy="0"/>
          </a:xfrm>
          <a:prstGeom prst="line">
            <a:avLst/>
          </a:prstGeom>
          <a:ln w="9525" cap="flat" cmpd="sng">
            <a:solidFill>
              <a:schemeClr val="tx1"/>
            </a:solidFill>
            <a:prstDash val="solid"/>
            <a:headEnd type="none" w="med" len="med"/>
            <a:tailEnd type="none" w="med" len="med"/>
          </a:ln>
        </p:spPr>
      </p:sp>
      <p:sp>
        <p:nvSpPr>
          <p:cNvPr id="74809" name="Line 68"/>
          <p:cNvSpPr/>
          <p:nvPr/>
        </p:nvSpPr>
        <p:spPr>
          <a:xfrm flipH="1" flipV="1">
            <a:off x="3644900" y="5664200"/>
            <a:ext cx="0" cy="344488"/>
          </a:xfrm>
          <a:prstGeom prst="line">
            <a:avLst/>
          </a:prstGeom>
          <a:ln w="9525" cap="flat" cmpd="sng">
            <a:solidFill>
              <a:schemeClr val="tx1"/>
            </a:solidFill>
            <a:prstDash val="solid"/>
            <a:headEnd type="none" w="med" len="med"/>
            <a:tailEnd type="triangle" w="med" len="med"/>
          </a:ln>
        </p:spPr>
      </p:sp>
      <p:sp>
        <p:nvSpPr>
          <p:cNvPr id="74810" name="Line 69"/>
          <p:cNvSpPr/>
          <p:nvPr/>
        </p:nvSpPr>
        <p:spPr>
          <a:xfrm flipH="1" flipV="1">
            <a:off x="7789863" y="5641975"/>
            <a:ext cx="0" cy="366713"/>
          </a:xfrm>
          <a:prstGeom prst="line">
            <a:avLst/>
          </a:prstGeom>
          <a:ln w="9525" cap="flat" cmpd="sng">
            <a:solidFill>
              <a:schemeClr val="tx1"/>
            </a:solidFill>
            <a:prstDash val="solid"/>
            <a:headEnd type="none" w="med" len="med"/>
            <a:tailEnd type="triangle" w="med" len="med"/>
          </a:ln>
        </p:spPr>
      </p:sp>
      <p:sp>
        <p:nvSpPr>
          <p:cNvPr id="74811" name="Line 70"/>
          <p:cNvSpPr/>
          <p:nvPr/>
        </p:nvSpPr>
        <p:spPr>
          <a:xfrm flipV="1">
            <a:off x="4237038" y="5675313"/>
            <a:ext cx="0" cy="209550"/>
          </a:xfrm>
          <a:prstGeom prst="line">
            <a:avLst/>
          </a:prstGeom>
          <a:ln w="9525" cap="flat" cmpd="sng">
            <a:solidFill>
              <a:schemeClr val="tx1"/>
            </a:solidFill>
            <a:prstDash val="solid"/>
            <a:headEnd type="none" w="med" len="med"/>
            <a:tailEnd type="triangle" w="med" len="med"/>
          </a:ln>
        </p:spPr>
      </p:sp>
      <p:sp>
        <p:nvSpPr>
          <p:cNvPr id="74812" name="Line 71"/>
          <p:cNvSpPr/>
          <p:nvPr/>
        </p:nvSpPr>
        <p:spPr>
          <a:xfrm flipV="1">
            <a:off x="8448675" y="5640388"/>
            <a:ext cx="0" cy="258762"/>
          </a:xfrm>
          <a:prstGeom prst="line">
            <a:avLst/>
          </a:prstGeom>
          <a:ln w="9525" cap="flat" cmpd="sng">
            <a:solidFill>
              <a:schemeClr val="tx1"/>
            </a:solidFill>
            <a:prstDash val="solid"/>
            <a:headEnd type="none" w="med" len="med"/>
            <a:tailEnd type="triangle" w="med" len="med"/>
          </a:ln>
        </p:spPr>
      </p:sp>
      <p:sp>
        <p:nvSpPr>
          <p:cNvPr id="74813" name="Line 72"/>
          <p:cNvSpPr/>
          <p:nvPr/>
        </p:nvSpPr>
        <p:spPr>
          <a:xfrm>
            <a:off x="4787900" y="6142038"/>
            <a:ext cx="2424113" cy="0"/>
          </a:xfrm>
          <a:prstGeom prst="line">
            <a:avLst/>
          </a:prstGeom>
          <a:ln w="9525" cap="flat" cmpd="sng">
            <a:solidFill>
              <a:srgbClr val="FF0000"/>
            </a:solidFill>
            <a:prstDash val="solid"/>
            <a:headEnd type="none" w="med" len="med"/>
            <a:tailEnd type="none" w="med" len="med"/>
          </a:ln>
        </p:spPr>
      </p:sp>
      <p:sp>
        <p:nvSpPr>
          <p:cNvPr id="74814" name="Line 73"/>
          <p:cNvSpPr/>
          <p:nvPr/>
        </p:nvSpPr>
        <p:spPr>
          <a:xfrm flipV="1">
            <a:off x="4787900" y="5673725"/>
            <a:ext cx="0" cy="458788"/>
          </a:xfrm>
          <a:prstGeom prst="line">
            <a:avLst/>
          </a:prstGeom>
          <a:ln w="9525" cap="flat" cmpd="sng">
            <a:solidFill>
              <a:srgbClr val="FF0000"/>
            </a:solidFill>
            <a:prstDash val="solid"/>
            <a:headEnd type="none" w="med" len="med"/>
            <a:tailEnd type="triangle" w="med" len="med"/>
          </a:ln>
        </p:spPr>
      </p:sp>
      <p:sp>
        <p:nvSpPr>
          <p:cNvPr id="74815" name="Line 74"/>
          <p:cNvSpPr/>
          <p:nvPr/>
        </p:nvSpPr>
        <p:spPr>
          <a:xfrm flipV="1">
            <a:off x="7202488" y="5640388"/>
            <a:ext cx="0" cy="508000"/>
          </a:xfrm>
          <a:prstGeom prst="line">
            <a:avLst/>
          </a:prstGeom>
          <a:ln w="9525" cap="flat" cmpd="sng">
            <a:solidFill>
              <a:srgbClr val="FF0000"/>
            </a:solidFill>
            <a:prstDash val="solid"/>
            <a:headEnd type="none" w="med" len="med"/>
            <a:tailEnd type="triangle" w="med" len="med"/>
          </a:ln>
        </p:spPr>
      </p:sp>
      <p:sp>
        <p:nvSpPr>
          <p:cNvPr id="74816" name="Line 75"/>
          <p:cNvSpPr/>
          <p:nvPr/>
        </p:nvSpPr>
        <p:spPr>
          <a:xfrm flipV="1">
            <a:off x="5988050" y="6132513"/>
            <a:ext cx="0" cy="309562"/>
          </a:xfrm>
          <a:prstGeom prst="line">
            <a:avLst/>
          </a:prstGeom>
          <a:ln w="9525" cap="flat" cmpd="sng">
            <a:solidFill>
              <a:srgbClr val="FF0000"/>
            </a:solidFill>
            <a:prstDash val="solid"/>
            <a:headEnd type="none" w="med" len="med"/>
            <a:tailEnd type="none" w="med" len="med"/>
          </a:ln>
        </p:spPr>
      </p:sp>
      <p:sp>
        <p:nvSpPr>
          <p:cNvPr id="74817" name="Text Box 78"/>
          <p:cNvSpPr txBox="1"/>
          <p:nvPr/>
        </p:nvSpPr>
        <p:spPr>
          <a:xfrm>
            <a:off x="1325563" y="2070100"/>
            <a:ext cx="903287" cy="184150"/>
          </a:xfrm>
          <a:prstGeom prst="rect">
            <a:avLst/>
          </a:prstGeom>
          <a:solidFill>
            <a:schemeClr val="bg1"/>
          </a:solidFill>
          <a:ln w="9525">
            <a:noFill/>
          </a:ln>
        </p:spPr>
        <p:txBody>
          <a:bodyPr lIns="0" tIns="0" rIns="0" bIns="0">
            <a:spAutoFit/>
          </a:bodyPr>
          <a:p>
            <a:pPr algn="ctr" eaLnBrk="1" hangingPunct="1">
              <a:spcBef>
                <a:spcPct val="50000"/>
              </a:spcBef>
            </a:pPr>
            <a:r>
              <a:rPr lang="zh-CN" altLang="en-US" sz="1200" dirty="0">
                <a:latin typeface="Times New Roman" pitchFamily="18" charset="0"/>
              </a:rPr>
              <a:t>访存部件</a:t>
            </a:r>
            <a:endParaRPr lang="zh-CN" altLang="en-US" sz="1200" dirty="0">
              <a:latin typeface="Times New Roman" pitchFamily="18" charset="0"/>
            </a:endParaRPr>
          </a:p>
        </p:txBody>
      </p:sp>
      <p:sp>
        <p:nvSpPr>
          <p:cNvPr id="74818" name="Text Box 79"/>
          <p:cNvSpPr txBox="1"/>
          <p:nvPr/>
        </p:nvSpPr>
        <p:spPr>
          <a:xfrm>
            <a:off x="7267575" y="2100263"/>
            <a:ext cx="887413" cy="184150"/>
          </a:xfrm>
          <a:prstGeom prst="rect">
            <a:avLst/>
          </a:prstGeom>
          <a:noFill/>
          <a:ln w="9525">
            <a:noFill/>
          </a:ln>
        </p:spPr>
        <p:txBody>
          <a:bodyPr lIns="0" tIns="0" rIns="0" bIns="0">
            <a:spAutoFit/>
          </a:bodyPr>
          <a:p>
            <a:pPr algn="ctr" eaLnBrk="1" hangingPunct="1">
              <a:spcBef>
                <a:spcPct val="50000"/>
              </a:spcBef>
            </a:pPr>
            <a:r>
              <a:rPr lang="zh-CN" altLang="en-US" sz="1200" dirty="0">
                <a:latin typeface="Times New Roman" pitchFamily="18" charset="0"/>
              </a:rPr>
              <a:t>浮点</a:t>
            </a:r>
            <a:r>
              <a:rPr lang="en-US" altLang="zh-CN" sz="1200" dirty="0">
                <a:latin typeface="Times New Roman" pitchFamily="18" charset="0"/>
              </a:rPr>
              <a:t>ALU</a:t>
            </a:r>
            <a:endParaRPr lang="en-US" altLang="zh-CN" sz="1200" dirty="0">
              <a:latin typeface="Times New Roman" pitchFamily="18" charset="0"/>
            </a:endParaRPr>
          </a:p>
        </p:txBody>
      </p:sp>
      <p:sp>
        <p:nvSpPr>
          <p:cNvPr id="74819" name="Text Box 80"/>
          <p:cNvSpPr txBox="1"/>
          <p:nvPr/>
        </p:nvSpPr>
        <p:spPr>
          <a:xfrm>
            <a:off x="3049588" y="3009900"/>
            <a:ext cx="855662" cy="184150"/>
          </a:xfrm>
          <a:prstGeom prst="rect">
            <a:avLst/>
          </a:prstGeom>
          <a:noFill/>
          <a:ln w="9525">
            <a:noFill/>
          </a:ln>
        </p:spPr>
        <p:txBody>
          <a:bodyPr lIns="0" tIns="0" rIns="0" bIns="0">
            <a:spAutoFit/>
          </a:bodyPr>
          <a:p>
            <a:pPr algn="ctr" eaLnBrk="1" hangingPunct="1">
              <a:spcBef>
                <a:spcPct val="50000"/>
              </a:spcBef>
            </a:pPr>
            <a:r>
              <a:rPr lang="zh-CN" altLang="en-US" sz="1200" dirty="0">
                <a:latin typeface="Times New Roman" pitchFamily="18" charset="0"/>
              </a:rPr>
              <a:t>定点</a:t>
            </a:r>
            <a:r>
              <a:rPr lang="en-US" altLang="zh-CN" sz="1200" dirty="0">
                <a:latin typeface="Times New Roman" pitchFamily="18" charset="0"/>
              </a:rPr>
              <a:t>ALU</a:t>
            </a:r>
            <a:endParaRPr lang="en-US" altLang="zh-CN" sz="1200" dirty="0">
              <a:latin typeface="Times New Roman" pitchFamily="18" charset="0"/>
            </a:endParaRPr>
          </a:p>
        </p:txBody>
      </p:sp>
      <p:sp>
        <p:nvSpPr>
          <p:cNvPr id="74820" name="Text Box 81"/>
          <p:cNvSpPr txBox="1"/>
          <p:nvPr/>
        </p:nvSpPr>
        <p:spPr>
          <a:xfrm>
            <a:off x="5164138" y="2679700"/>
            <a:ext cx="938212" cy="184150"/>
          </a:xfrm>
          <a:prstGeom prst="rect">
            <a:avLst/>
          </a:prstGeom>
          <a:noFill/>
          <a:ln w="9525">
            <a:noFill/>
          </a:ln>
        </p:spPr>
        <p:txBody>
          <a:bodyPr lIns="0" tIns="0" rIns="0" bIns="0">
            <a:spAutoFit/>
          </a:bodyPr>
          <a:p>
            <a:pPr algn="ctr" eaLnBrk="1" hangingPunct="1">
              <a:spcBef>
                <a:spcPct val="50000"/>
              </a:spcBef>
            </a:pPr>
            <a:r>
              <a:rPr lang="zh-CN" altLang="en-US" sz="1200" dirty="0">
                <a:latin typeface="Times New Roman" pitchFamily="18" charset="0"/>
              </a:rPr>
              <a:t>定点乘法</a:t>
            </a:r>
            <a:endParaRPr lang="zh-CN" altLang="en-US" sz="1200" dirty="0">
              <a:latin typeface="Times New Roman" pitchFamily="18" charset="0"/>
            </a:endParaRPr>
          </a:p>
        </p:txBody>
      </p:sp>
      <p:sp>
        <p:nvSpPr>
          <p:cNvPr id="74821" name="Text Box 82"/>
          <p:cNvSpPr txBox="1"/>
          <p:nvPr/>
        </p:nvSpPr>
        <p:spPr>
          <a:xfrm>
            <a:off x="9445625" y="1182688"/>
            <a:ext cx="839788" cy="184150"/>
          </a:xfrm>
          <a:prstGeom prst="rect">
            <a:avLst/>
          </a:prstGeom>
          <a:noFill/>
          <a:ln w="9525">
            <a:noFill/>
          </a:ln>
        </p:spPr>
        <p:txBody>
          <a:bodyPr lIns="0" tIns="0" rIns="0" bIns="0">
            <a:spAutoFit/>
          </a:bodyPr>
          <a:p>
            <a:pPr algn="ctr" eaLnBrk="1" hangingPunct="1">
              <a:spcBef>
                <a:spcPct val="50000"/>
              </a:spcBef>
            </a:pPr>
            <a:r>
              <a:rPr lang="zh-CN" altLang="en-US" sz="1200" dirty="0">
                <a:latin typeface="Times New Roman" pitchFamily="18" charset="0"/>
              </a:rPr>
              <a:t>浮点乘法</a:t>
            </a:r>
            <a:endParaRPr lang="zh-CN" altLang="en-US" sz="1200" dirty="0">
              <a:latin typeface="Times New Roman" pitchFamily="18" charset="0"/>
            </a:endParaRPr>
          </a:p>
        </p:txBody>
      </p:sp>
      <p:grpSp>
        <p:nvGrpSpPr>
          <p:cNvPr id="74822" name="Group 83"/>
          <p:cNvGrpSpPr/>
          <p:nvPr/>
        </p:nvGrpSpPr>
        <p:grpSpPr>
          <a:xfrm>
            <a:off x="4743450" y="6429375"/>
            <a:ext cx="2479675" cy="195263"/>
            <a:chOff x="2241" y="4058"/>
            <a:chExt cx="1172" cy="123"/>
          </a:xfrm>
        </p:grpSpPr>
        <p:sp>
          <p:nvSpPr>
            <p:cNvPr id="74866" name="Rectangle 84"/>
            <p:cNvSpPr/>
            <p:nvPr/>
          </p:nvSpPr>
          <p:spPr>
            <a:xfrm>
              <a:off x="2241" y="4058"/>
              <a:ext cx="1172" cy="111"/>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endParaRPr lang="zh-CN" altLang="en-US" dirty="0">
                <a:latin typeface="Times New Roman" pitchFamily="18" charset="0"/>
              </a:endParaRPr>
            </a:p>
          </p:txBody>
        </p:sp>
        <p:sp>
          <p:nvSpPr>
            <p:cNvPr id="74867" name="Text Box 85"/>
            <p:cNvSpPr txBox="1"/>
            <p:nvPr/>
          </p:nvSpPr>
          <p:spPr>
            <a:xfrm>
              <a:off x="2623" y="4065"/>
              <a:ext cx="427" cy="116"/>
            </a:xfrm>
            <a:prstGeom prst="rect">
              <a:avLst/>
            </a:prstGeom>
            <a:noFill/>
            <a:ln w="9525">
              <a:noFill/>
            </a:ln>
          </p:spPr>
          <p:txBody>
            <a:bodyPr lIns="0" tIns="0" rIns="0" bIns="0">
              <a:spAutoFit/>
            </a:bodyPr>
            <a:p>
              <a:pPr algn="ctr" eaLnBrk="1" hangingPunct="1">
                <a:spcBef>
                  <a:spcPct val="50000"/>
                </a:spcBef>
              </a:pPr>
              <a:r>
                <a:rPr lang="en-US" altLang="zh-CN" sz="1200" dirty="0">
                  <a:latin typeface="Times New Roman" pitchFamily="18" charset="0"/>
                </a:rPr>
                <a:t>IR</a:t>
              </a:r>
              <a:endParaRPr lang="en-US" altLang="zh-CN" sz="1200" dirty="0">
                <a:latin typeface="Times New Roman" pitchFamily="18" charset="0"/>
              </a:endParaRPr>
            </a:p>
          </p:txBody>
        </p:sp>
      </p:grpSp>
      <p:sp>
        <p:nvSpPr>
          <p:cNvPr id="74823" name="Text Box 87"/>
          <p:cNvSpPr txBox="1"/>
          <p:nvPr/>
        </p:nvSpPr>
        <p:spPr>
          <a:xfrm>
            <a:off x="973138" y="731838"/>
            <a:ext cx="10142537" cy="307975"/>
          </a:xfrm>
          <a:prstGeom prst="rect">
            <a:avLst/>
          </a:prstGeom>
          <a:solidFill>
            <a:srgbClr val="FFFF00"/>
          </a:solidFill>
          <a:ln w="9525" cap="flat" cmpd="sng">
            <a:solidFill>
              <a:schemeClr val="tx1"/>
            </a:solidFill>
            <a:prstDash val="solid"/>
            <a:miter/>
            <a:headEnd type="none" w="med" len="med"/>
            <a:tailEnd type="none" w="med" len="med"/>
          </a:ln>
        </p:spPr>
        <p:txBody>
          <a:bodyPr lIns="0" tIns="0" rIns="0" bIns="0" anchor="ctr" anchorCtr="0"/>
          <a:p>
            <a:pPr algn="ctr" eaLnBrk="1" hangingPunct="1">
              <a:spcBef>
                <a:spcPct val="50000"/>
              </a:spcBef>
            </a:pPr>
            <a:r>
              <a:rPr lang="zh-CN" altLang="en-US" sz="1200" dirty="0">
                <a:latin typeface="Times New Roman" pitchFamily="18" charset="0"/>
              </a:rPr>
              <a:t>结果总线仲裁</a:t>
            </a:r>
            <a:endParaRPr lang="zh-CN" altLang="en-US" sz="1200" dirty="0">
              <a:latin typeface="Times New Roman" pitchFamily="18" charset="0"/>
            </a:endParaRPr>
          </a:p>
        </p:txBody>
      </p:sp>
      <p:graphicFrame>
        <p:nvGraphicFramePr>
          <p:cNvPr id="142449" name="Group 113"/>
          <p:cNvGraphicFramePr>
            <a:graphicFrameLocks noGrp="1"/>
          </p:cNvGraphicFramePr>
          <p:nvPr/>
        </p:nvGraphicFramePr>
        <p:xfrm>
          <a:off x="2768600" y="3906838"/>
          <a:ext cx="2188348" cy="1749426"/>
        </p:xfrm>
        <a:graphic>
          <a:graphicData uri="http://schemas.openxmlformats.org/drawingml/2006/table">
            <a:tbl>
              <a:tblPr/>
              <a:tblGrid>
                <a:gridCol w="2188348"/>
              </a:tblGrid>
              <a:tr h="217488">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20662">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17488">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20662">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17488">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17488">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20662">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17488">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graphicFrame>
        <p:nvGraphicFramePr>
          <p:cNvPr id="142450" name="Group 114"/>
          <p:cNvGraphicFramePr>
            <a:graphicFrameLocks noGrp="1"/>
          </p:cNvGraphicFramePr>
          <p:nvPr/>
        </p:nvGraphicFramePr>
        <p:xfrm>
          <a:off x="6899275" y="3892550"/>
          <a:ext cx="2189163" cy="1749426"/>
        </p:xfrm>
        <a:graphic>
          <a:graphicData uri="http://schemas.openxmlformats.org/drawingml/2006/table">
            <a:tbl>
              <a:tblPr/>
              <a:tblGrid>
                <a:gridCol w="2188348"/>
              </a:tblGrid>
              <a:tr h="217488">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dirty="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20662">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17488">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dirty="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20662">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17488">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17488">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20662">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17488">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
        <p:nvSpPr>
          <p:cNvPr id="74864" name="Text Box 77"/>
          <p:cNvSpPr txBox="1"/>
          <p:nvPr/>
        </p:nvSpPr>
        <p:spPr>
          <a:xfrm>
            <a:off x="7546975" y="4573588"/>
            <a:ext cx="1022350" cy="184150"/>
          </a:xfrm>
          <a:prstGeom prst="rect">
            <a:avLst/>
          </a:prstGeom>
          <a:solidFill>
            <a:schemeClr val="bg1"/>
          </a:solidFill>
          <a:ln w="9525">
            <a:noFill/>
          </a:ln>
        </p:spPr>
        <p:txBody>
          <a:bodyPr lIns="0" tIns="0" rIns="0" bIns="0">
            <a:spAutoFit/>
          </a:bodyPr>
          <a:p>
            <a:pPr algn="ctr" eaLnBrk="1" hangingPunct="1">
              <a:spcBef>
                <a:spcPct val="50000"/>
              </a:spcBef>
            </a:pPr>
            <a:r>
              <a:rPr lang="zh-CN" altLang="en-US" sz="1200" dirty="0">
                <a:latin typeface="Times New Roman" pitchFamily="18" charset="0"/>
              </a:rPr>
              <a:t>浮点寄存器</a:t>
            </a:r>
            <a:endParaRPr lang="zh-CN" altLang="en-US" sz="1200" dirty="0">
              <a:latin typeface="Times New Roman" pitchFamily="18" charset="0"/>
            </a:endParaRPr>
          </a:p>
        </p:txBody>
      </p:sp>
      <p:sp>
        <p:nvSpPr>
          <p:cNvPr id="74865" name="Text Box 76"/>
          <p:cNvSpPr txBox="1"/>
          <p:nvPr/>
        </p:nvSpPr>
        <p:spPr>
          <a:xfrm>
            <a:off x="3302000" y="4579938"/>
            <a:ext cx="1203325" cy="184150"/>
          </a:xfrm>
          <a:prstGeom prst="rect">
            <a:avLst/>
          </a:prstGeom>
          <a:solidFill>
            <a:schemeClr val="bg1"/>
          </a:solidFill>
          <a:ln w="9525">
            <a:noFill/>
          </a:ln>
        </p:spPr>
        <p:txBody>
          <a:bodyPr lIns="0" tIns="0" rIns="0" bIns="0">
            <a:spAutoFit/>
          </a:bodyPr>
          <a:p>
            <a:pPr algn="ctr" eaLnBrk="1" hangingPunct="1">
              <a:spcBef>
                <a:spcPct val="50000"/>
              </a:spcBef>
            </a:pPr>
            <a:r>
              <a:rPr lang="zh-CN" altLang="en-US" sz="1200" dirty="0">
                <a:latin typeface="Times New Roman" pitchFamily="18" charset="0"/>
              </a:rPr>
              <a:t>通用寄存器</a:t>
            </a:r>
            <a:endParaRPr lang="zh-CN" altLang="en-US" sz="1200" dirty="0">
              <a:latin typeface="Times New Roman"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7"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4038" name="Rectangle 2"/>
          <p:cNvSpPr/>
          <p:nvPr/>
        </p:nvSpPr>
        <p:spPr>
          <a:xfrm>
            <a:off x="869950" y="127000"/>
            <a:ext cx="10361613" cy="585788"/>
          </a:xfrm>
          <a:prstGeom prst="rect">
            <a:avLst/>
          </a:prstGeom>
          <a:noFill/>
          <a:ln w="9525">
            <a:noFill/>
          </a:ln>
        </p:spPr>
        <p:txBody>
          <a:bodyPr anchor="ctr" anchorCtr="0"/>
          <a:p>
            <a:pPr algn="ctr" eaLnBrk="1" hangingPunct="1"/>
            <a:r>
              <a:rPr lang="zh-CN" altLang="en-US" sz="3200" dirty="0">
                <a:solidFill>
                  <a:srgbClr val="FF0000"/>
                </a:solidFill>
                <a:latin typeface="Arial" panose="02080604020202020204" pitchFamily="34" charset="0"/>
                <a:ea typeface="黑体" panose="02000500000000000000" pitchFamily="49" charset="-122"/>
              </a:rPr>
              <a:t>多功能部件及多拍操作引起的问题（</a:t>
            </a:r>
            <a:r>
              <a:rPr lang="en-US" altLang="zh-CN" sz="3200" dirty="0">
                <a:solidFill>
                  <a:srgbClr val="FF0000"/>
                </a:solidFill>
                <a:latin typeface="Arial" panose="02080604020202020204" pitchFamily="34" charset="0"/>
                <a:ea typeface="黑体" panose="02000500000000000000" pitchFamily="49" charset="-122"/>
              </a:rPr>
              <a:t>1</a:t>
            </a:r>
            <a:r>
              <a:rPr lang="zh-CN" altLang="en-US" sz="3200" dirty="0">
                <a:solidFill>
                  <a:srgbClr val="FF0000"/>
                </a:solidFill>
                <a:latin typeface="Arial" panose="02080604020202020204" pitchFamily="34" charset="0"/>
                <a:ea typeface="黑体" panose="02000500000000000000" pitchFamily="49" charset="-122"/>
              </a:rPr>
              <a:t>）</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35847" name="Rectangle 3"/>
          <p:cNvSpPr>
            <a:spLocks noChangeArrowheads="1"/>
          </p:cNvSpPr>
          <p:nvPr/>
        </p:nvSpPr>
        <p:spPr bwMode="auto">
          <a:xfrm>
            <a:off x="322263" y="995363"/>
            <a:ext cx="11482388" cy="2271713"/>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结构相关</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访存部件不流水引起多个访存操作的等待</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结果总线相关：不同功能部件延迟不一致，定点</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ALU</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操作的</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MEM</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周期就是为了避免结果总线冲突的</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stall</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操作</a:t>
            </a:r>
            <a:endParaRPr kumimoji="1" lang="zh-CN" altLang="en-US" sz="1400" b="1" i="0" u="none" strike="noStrike" kern="1200" cap="none" spc="0" normalizeH="0" baseline="0" noProof="0" dirty="0">
              <a:ln>
                <a:noFill/>
              </a:ln>
              <a:solidFill>
                <a:schemeClr val="tx1"/>
              </a:solidFill>
              <a:effectLst/>
              <a:uLnTx/>
              <a:uFillTx/>
              <a:latin typeface="+mn-ea"/>
              <a:ea typeface="+mn-ea"/>
              <a:cs typeface="+mn-cs"/>
            </a:endParaRPr>
          </a:p>
        </p:txBody>
      </p:sp>
      <p:graphicFrame>
        <p:nvGraphicFramePr>
          <p:cNvPr id="44034" name="Object 1024"/>
          <p:cNvGraphicFramePr>
            <a:graphicFrameLocks noChangeAspect="1"/>
          </p:cNvGraphicFramePr>
          <p:nvPr/>
        </p:nvGraphicFramePr>
        <p:xfrm>
          <a:off x="1122998" y="3978117"/>
          <a:ext cx="8841105" cy="798830"/>
        </p:xfrm>
        <a:graphic>
          <a:graphicData uri="http://schemas.openxmlformats.org/presentationml/2006/ole">
            <mc:AlternateContent xmlns:mc="http://schemas.openxmlformats.org/markup-compatibility/2006">
              <mc:Choice xmlns:v="urn:schemas-microsoft-com:vml" Requires="v">
                <p:oleObj spid="_x0000_s3170" name="" r:id="rId1" imgW="6696075" imgH="819150" progId="Word.Document.8">
                  <p:embed/>
                </p:oleObj>
              </mc:Choice>
              <mc:Fallback>
                <p:oleObj name="" r:id="rId1" imgW="6696075" imgH="819150" progId="Word.Document.8">
                  <p:embed/>
                  <p:pic>
                    <p:nvPicPr>
                      <p:cNvPr id="0" name="图片 3169"/>
                      <p:cNvPicPr/>
                      <p:nvPr/>
                    </p:nvPicPr>
                    <p:blipFill>
                      <a:blip r:embed="rId2"/>
                      <a:stretch>
                        <a:fillRect/>
                      </a:stretch>
                    </p:blipFill>
                    <p:spPr>
                      <a:xfrm>
                        <a:off x="1122998" y="3978117"/>
                        <a:ext cx="8841105" cy="798830"/>
                      </a:xfrm>
                      <a:prstGeom prst="rect">
                        <a:avLst/>
                      </a:prstGeom>
                      <a:noFill/>
                      <a:ln w="38100">
                        <a:noFill/>
                        <a:miter/>
                      </a:ln>
                    </p:spPr>
                  </p:pic>
                </p:oleObj>
              </mc:Fallback>
            </mc:AlternateContent>
          </a:graphicData>
        </a:graphic>
      </p:graphicFrame>
      <p:graphicFrame>
        <p:nvGraphicFramePr>
          <p:cNvPr id="44035" name="Object 1025"/>
          <p:cNvGraphicFramePr>
            <a:graphicFrameLocks noChangeAspect="1"/>
          </p:cNvGraphicFramePr>
          <p:nvPr/>
        </p:nvGraphicFramePr>
        <p:xfrm>
          <a:off x="1483837" y="5742941"/>
          <a:ext cx="5768340" cy="610870"/>
        </p:xfrm>
        <a:graphic>
          <a:graphicData uri="http://schemas.openxmlformats.org/presentationml/2006/ole">
            <mc:AlternateContent xmlns:mc="http://schemas.openxmlformats.org/markup-compatibility/2006">
              <mc:Choice xmlns:v="urn:schemas-microsoft-com:vml" Requires="v">
                <p:oleObj spid="_x0000_s3171" name="" r:id="rId3" imgW="4324350" imgH="619125" progId="Word.Document.8">
                  <p:embed/>
                </p:oleObj>
              </mc:Choice>
              <mc:Fallback>
                <p:oleObj name="" r:id="rId3" imgW="4324350" imgH="619125" progId="Word.Document.8">
                  <p:embed/>
                  <p:pic>
                    <p:nvPicPr>
                      <p:cNvPr id="0" name="图片 3170"/>
                      <p:cNvPicPr/>
                      <p:nvPr/>
                    </p:nvPicPr>
                    <p:blipFill>
                      <a:blip r:embed="rId4"/>
                      <a:stretch>
                        <a:fillRect/>
                      </a:stretch>
                    </p:blipFill>
                    <p:spPr>
                      <a:xfrm>
                        <a:off x="1483837" y="5742941"/>
                        <a:ext cx="5768340" cy="610870"/>
                      </a:xfrm>
                      <a:prstGeom prst="rect">
                        <a:avLst/>
                      </a:prstGeom>
                      <a:noFill/>
                      <a:ln w="38100">
                        <a:noFill/>
                        <a:miter/>
                      </a:ln>
                    </p:spPr>
                  </p:pic>
                </p:oleObj>
              </mc:Fallback>
            </mc:AlternateContent>
          </a:graphicData>
        </a:graphic>
      </p:graphicFrame>
      <p:graphicFrame>
        <p:nvGraphicFramePr>
          <p:cNvPr id="44036" name="Object 1026"/>
          <p:cNvGraphicFramePr>
            <a:graphicFrameLocks noChangeAspect="1"/>
          </p:cNvGraphicFramePr>
          <p:nvPr/>
        </p:nvGraphicFramePr>
        <p:xfrm>
          <a:off x="1459707" y="5038091"/>
          <a:ext cx="5178425" cy="610870"/>
        </p:xfrm>
        <a:graphic>
          <a:graphicData uri="http://schemas.openxmlformats.org/presentationml/2006/ole">
            <mc:AlternateContent xmlns:mc="http://schemas.openxmlformats.org/markup-compatibility/2006">
              <mc:Choice xmlns:v="urn:schemas-microsoft-com:vml" Requires="v">
                <p:oleObj spid="_x0000_s3172" name="" r:id="rId5" imgW="3895725" imgH="619125" progId="Word.Document.8">
                  <p:embed/>
                </p:oleObj>
              </mc:Choice>
              <mc:Fallback>
                <p:oleObj name="" r:id="rId5" imgW="3895725" imgH="619125" progId="Word.Document.8">
                  <p:embed/>
                  <p:pic>
                    <p:nvPicPr>
                      <p:cNvPr id="0" name="图片 3171"/>
                      <p:cNvPicPr/>
                      <p:nvPr/>
                    </p:nvPicPr>
                    <p:blipFill>
                      <a:blip r:embed="rId6"/>
                      <a:stretch>
                        <a:fillRect/>
                      </a:stretch>
                    </p:blipFill>
                    <p:spPr>
                      <a:xfrm>
                        <a:off x="1459707" y="5038091"/>
                        <a:ext cx="5178425" cy="610870"/>
                      </a:xfrm>
                      <a:prstGeom prst="rect">
                        <a:avLst/>
                      </a:prstGeom>
                      <a:noFill/>
                      <a:ln w="38100">
                        <a:noFill/>
                        <a:miter/>
                      </a:ln>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62"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5063" name="Rectangle 2"/>
          <p:cNvSpPr/>
          <p:nvPr/>
        </p:nvSpPr>
        <p:spPr>
          <a:xfrm>
            <a:off x="849313" y="400050"/>
            <a:ext cx="10361612" cy="611188"/>
          </a:xfrm>
          <a:prstGeom prst="rect">
            <a:avLst/>
          </a:prstGeom>
          <a:noFill/>
          <a:ln w="9525">
            <a:noFill/>
          </a:ln>
        </p:spPr>
        <p:txBody>
          <a:bodyPr anchor="ctr" anchorCtr="0"/>
          <a:p>
            <a:pPr algn="ctr" eaLnBrk="1" hangingPunct="1"/>
            <a:r>
              <a:rPr lang="zh-CN" altLang="en-US" sz="3200" dirty="0">
                <a:solidFill>
                  <a:srgbClr val="FF0000"/>
                </a:solidFill>
                <a:latin typeface="Arial" panose="02080604020202020204" pitchFamily="34" charset="0"/>
                <a:ea typeface="黑体" panose="02000500000000000000" pitchFamily="49" charset="-122"/>
              </a:rPr>
              <a:t>多功能部件及多拍操作引起的问题（</a:t>
            </a:r>
            <a:r>
              <a:rPr lang="en-US" altLang="zh-CN" sz="3200" dirty="0">
                <a:solidFill>
                  <a:srgbClr val="FF0000"/>
                </a:solidFill>
                <a:latin typeface="Arial" panose="02080604020202020204" pitchFamily="34" charset="0"/>
                <a:ea typeface="黑体" panose="02000500000000000000" pitchFamily="49" charset="-122"/>
              </a:rPr>
              <a:t>2</a:t>
            </a:r>
            <a:r>
              <a:rPr lang="zh-CN" altLang="en-US" sz="3200" dirty="0">
                <a:solidFill>
                  <a:srgbClr val="FF0000"/>
                </a:solidFill>
                <a:latin typeface="Arial" panose="02080604020202020204" pitchFamily="34" charset="0"/>
                <a:ea typeface="黑体" panose="02000500000000000000" pitchFamily="49" charset="-122"/>
              </a:rPr>
              <a:t>）</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36872" name="Rectangle 3"/>
          <p:cNvSpPr>
            <a:spLocks noChangeArrowheads="1"/>
          </p:cNvSpPr>
          <p:nvPr/>
        </p:nvSpPr>
        <p:spPr bwMode="auto">
          <a:xfrm>
            <a:off x="900113" y="1252538"/>
            <a:ext cx="10361613" cy="2289175"/>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en-US" altLang="zh-CN" sz="2000" b="1" i="0" u="none" strike="noStrike" kern="1200" cap="none" spc="0" normalizeH="0" baseline="0" noProof="0" dirty="0">
                <a:ln>
                  <a:noFill/>
                </a:ln>
                <a:solidFill>
                  <a:schemeClr val="tx1"/>
                </a:solidFill>
                <a:effectLst/>
                <a:uLnTx/>
                <a:uFillTx/>
                <a:latin typeface="+mn-ea"/>
                <a:ea typeface="+mn-ea"/>
                <a:cs typeface="+mn-cs"/>
              </a:rPr>
              <a:t>WAW</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相关</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即使有多个写端口也会阻塞</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还是不会有</a:t>
            </a:r>
            <a:r>
              <a:rPr kumimoji="1" lang="en-US" altLang="zh-CN" sz="2000" b="1" i="0" u="none" strike="noStrike" kern="1200" cap="none" spc="0" normalizeH="0" baseline="0" noProof="0" dirty="0">
                <a:ln>
                  <a:noFill/>
                </a:ln>
                <a:solidFill>
                  <a:schemeClr val="tx1"/>
                </a:solidFill>
                <a:effectLst/>
                <a:uLnTx/>
                <a:uFillTx/>
                <a:latin typeface="+mn-ea"/>
                <a:ea typeface="+mn-ea"/>
                <a:cs typeface="+mn-cs"/>
              </a:rPr>
              <a:t>WAR</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相关</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读数总是在较早的</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ID</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阶段</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p:txBody>
      </p:sp>
      <p:grpSp>
        <p:nvGrpSpPr>
          <p:cNvPr id="45065" name="Group 4"/>
          <p:cNvGrpSpPr/>
          <p:nvPr/>
        </p:nvGrpSpPr>
        <p:grpSpPr>
          <a:xfrm>
            <a:off x="1461028" y="3768726"/>
            <a:ext cx="8653465" cy="2820988"/>
            <a:chOff x="690" y="2374"/>
            <a:chExt cx="4089" cy="1777"/>
          </a:xfrm>
        </p:grpSpPr>
        <p:grpSp>
          <p:nvGrpSpPr>
            <p:cNvPr id="45066" name="Group 5"/>
            <p:cNvGrpSpPr/>
            <p:nvPr/>
          </p:nvGrpSpPr>
          <p:grpSpPr>
            <a:xfrm>
              <a:off x="690" y="3359"/>
              <a:ext cx="4089" cy="385"/>
              <a:chOff x="690" y="3231"/>
              <a:chExt cx="4089" cy="385"/>
            </a:xfrm>
          </p:grpSpPr>
          <p:graphicFrame>
            <p:nvGraphicFramePr>
              <p:cNvPr id="45061" name="Object 1027"/>
              <p:cNvGraphicFramePr>
                <a:graphicFrameLocks noChangeAspect="1"/>
              </p:cNvGraphicFramePr>
              <p:nvPr/>
            </p:nvGraphicFramePr>
            <p:xfrm>
              <a:off x="690" y="3231"/>
              <a:ext cx="4089" cy="385"/>
            </p:xfrm>
            <a:graphic>
              <a:graphicData uri="http://schemas.openxmlformats.org/presentationml/2006/ole">
                <mc:AlternateContent xmlns:mc="http://schemas.openxmlformats.org/markup-compatibility/2006">
                  <mc:Choice xmlns:v="urn:schemas-microsoft-com:vml" Requires="v">
                    <p:oleObj spid="_x0000_s3175" name="" r:id="rId1" imgW="6486525" imgH="619125" progId="Word.Document.8">
                      <p:embed/>
                    </p:oleObj>
                  </mc:Choice>
                  <mc:Fallback>
                    <p:oleObj name="" r:id="rId1" imgW="6486525" imgH="619125" progId="Word.Document.8">
                      <p:embed/>
                      <p:pic>
                        <p:nvPicPr>
                          <p:cNvPr id="0" name="图片 3174"/>
                          <p:cNvPicPr/>
                          <p:nvPr/>
                        </p:nvPicPr>
                        <p:blipFill>
                          <a:blip r:embed="rId2"/>
                          <a:stretch>
                            <a:fillRect/>
                          </a:stretch>
                        </p:blipFill>
                        <p:spPr>
                          <a:xfrm>
                            <a:off x="690" y="3231"/>
                            <a:ext cx="4089" cy="385"/>
                          </a:xfrm>
                          <a:prstGeom prst="rect">
                            <a:avLst/>
                          </a:prstGeom>
                          <a:noFill/>
                          <a:ln w="38100">
                            <a:noFill/>
                            <a:miter/>
                          </a:ln>
                        </p:spPr>
                      </p:pic>
                    </p:oleObj>
                  </mc:Fallback>
                </mc:AlternateContent>
              </a:graphicData>
            </a:graphic>
          </p:graphicFrame>
          <p:sp>
            <p:nvSpPr>
              <p:cNvPr id="45067" name="Line 7"/>
              <p:cNvSpPr/>
              <p:nvPr/>
            </p:nvSpPr>
            <p:spPr>
              <a:xfrm flipH="1">
                <a:off x="2999" y="3306"/>
                <a:ext cx="1199" cy="140"/>
              </a:xfrm>
              <a:prstGeom prst="line">
                <a:avLst/>
              </a:prstGeom>
              <a:ln w="19050" cap="flat" cmpd="sng">
                <a:solidFill>
                  <a:srgbClr val="FF0000"/>
                </a:solidFill>
                <a:prstDash val="solid"/>
                <a:headEnd type="none" w="med" len="med"/>
                <a:tailEnd type="triangle" w="med" len="med"/>
              </a:ln>
            </p:spPr>
          </p:sp>
        </p:grpSp>
        <p:graphicFrame>
          <p:nvGraphicFramePr>
            <p:cNvPr id="45058" name="Object 1024"/>
            <p:cNvGraphicFramePr>
              <a:graphicFrameLocks noChangeAspect="1"/>
            </p:cNvGraphicFramePr>
            <p:nvPr/>
          </p:nvGraphicFramePr>
          <p:xfrm>
            <a:off x="690" y="3766"/>
            <a:ext cx="4083" cy="385"/>
          </p:xfrm>
          <a:graphic>
            <a:graphicData uri="http://schemas.openxmlformats.org/presentationml/2006/ole">
              <mc:AlternateContent xmlns:mc="http://schemas.openxmlformats.org/markup-compatibility/2006">
                <mc:Choice xmlns:v="urn:schemas-microsoft-com:vml" Requires="v">
                  <p:oleObj spid="_x0000_s3173" name="" r:id="rId3" imgW="6486525" imgH="619125" progId="Word.Document.8">
                    <p:embed/>
                  </p:oleObj>
                </mc:Choice>
                <mc:Fallback>
                  <p:oleObj name="" r:id="rId3" imgW="6486525" imgH="619125" progId="Word.Document.8">
                    <p:embed/>
                    <p:pic>
                      <p:nvPicPr>
                        <p:cNvPr id="0" name="图片 3172"/>
                        <p:cNvPicPr/>
                        <p:nvPr/>
                      </p:nvPicPr>
                      <p:blipFill>
                        <a:blip r:embed="rId4"/>
                        <a:stretch>
                          <a:fillRect/>
                        </a:stretch>
                      </p:blipFill>
                      <p:spPr>
                        <a:xfrm>
                          <a:off x="690" y="3766"/>
                          <a:ext cx="4083" cy="385"/>
                        </a:xfrm>
                        <a:prstGeom prst="rect">
                          <a:avLst/>
                        </a:prstGeom>
                        <a:noFill/>
                        <a:ln w="38100">
                          <a:noFill/>
                          <a:miter/>
                        </a:ln>
                      </p:spPr>
                    </p:pic>
                  </p:oleObj>
                </mc:Fallback>
              </mc:AlternateContent>
            </a:graphicData>
          </a:graphic>
        </p:graphicFrame>
        <p:graphicFrame>
          <p:nvGraphicFramePr>
            <p:cNvPr id="45059" name="Object 1025"/>
            <p:cNvGraphicFramePr>
              <a:graphicFrameLocks noChangeAspect="1"/>
            </p:cNvGraphicFramePr>
            <p:nvPr/>
          </p:nvGraphicFramePr>
          <p:xfrm>
            <a:off x="897" y="2810"/>
            <a:ext cx="2726" cy="385"/>
          </p:xfrm>
          <a:graphic>
            <a:graphicData uri="http://schemas.openxmlformats.org/presentationml/2006/ole">
              <mc:AlternateContent xmlns:mc="http://schemas.openxmlformats.org/markup-compatibility/2006">
                <mc:Choice xmlns:v="urn:schemas-microsoft-com:vml" Requires="v">
                  <p:oleObj spid="_x0000_s3174" name="" r:id="rId5" imgW="4324350" imgH="619125" progId="Word.Document.8">
                    <p:embed/>
                  </p:oleObj>
                </mc:Choice>
                <mc:Fallback>
                  <p:oleObj name="" r:id="rId5" imgW="4324350" imgH="619125" progId="Word.Document.8">
                    <p:embed/>
                    <p:pic>
                      <p:nvPicPr>
                        <p:cNvPr id="0" name="图片 3173"/>
                        <p:cNvPicPr/>
                        <p:nvPr/>
                      </p:nvPicPr>
                      <p:blipFill>
                        <a:blip r:embed="rId6"/>
                        <a:stretch>
                          <a:fillRect/>
                        </a:stretch>
                      </p:blipFill>
                      <p:spPr>
                        <a:xfrm>
                          <a:off x="897" y="2810"/>
                          <a:ext cx="2726" cy="385"/>
                        </a:xfrm>
                        <a:prstGeom prst="rect">
                          <a:avLst/>
                        </a:prstGeom>
                        <a:noFill/>
                        <a:ln w="38100">
                          <a:noFill/>
                          <a:miter/>
                        </a:ln>
                      </p:spPr>
                    </p:pic>
                  </p:oleObj>
                </mc:Fallback>
              </mc:AlternateContent>
            </a:graphicData>
          </a:graphic>
        </p:graphicFrame>
        <p:graphicFrame>
          <p:nvGraphicFramePr>
            <p:cNvPr id="45060" name="Object 1026"/>
            <p:cNvGraphicFramePr>
              <a:graphicFrameLocks noChangeAspect="1"/>
            </p:cNvGraphicFramePr>
            <p:nvPr/>
          </p:nvGraphicFramePr>
          <p:xfrm>
            <a:off x="880" y="2374"/>
            <a:ext cx="2455" cy="385"/>
          </p:xfrm>
          <a:graphic>
            <a:graphicData uri="http://schemas.openxmlformats.org/presentationml/2006/ole">
              <mc:AlternateContent xmlns:mc="http://schemas.openxmlformats.org/markup-compatibility/2006">
                <mc:Choice xmlns:v="urn:schemas-microsoft-com:vml" Requires="v">
                  <p:oleObj spid="_x0000_s3176" name="" r:id="rId7" imgW="3895725" imgH="619125" progId="Word.Document.8">
                    <p:embed/>
                  </p:oleObj>
                </mc:Choice>
                <mc:Fallback>
                  <p:oleObj name="" r:id="rId7" imgW="3895725" imgH="619125" progId="Word.Document.8">
                    <p:embed/>
                    <p:pic>
                      <p:nvPicPr>
                        <p:cNvPr id="0" name="图片 3175"/>
                        <p:cNvPicPr/>
                        <p:nvPr/>
                      </p:nvPicPr>
                      <p:blipFill>
                        <a:blip r:embed="rId8"/>
                        <a:stretch>
                          <a:fillRect/>
                        </a:stretch>
                      </p:blipFill>
                      <p:spPr>
                        <a:xfrm>
                          <a:off x="880" y="2374"/>
                          <a:ext cx="2455" cy="385"/>
                        </a:xfrm>
                        <a:prstGeom prst="rect">
                          <a:avLst/>
                        </a:prstGeom>
                        <a:noFill/>
                        <a:ln w="38100">
                          <a:noFill/>
                          <a:miter/>
                        </a:ln>
                      </p:spPr>
                    </p:pic>
                  </p:oleObj>
                </mc:Fallback>
              </mc:AlternateContent>
            </a:graphicData>
          </a:graphic>
        </p:graphicFrame>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5" name="Rectangle 2"/>
          <p:cNvSpPr/>
          <p:nvPr/>
        </p:nvSpPr>
        <p:spPr>
          <a:xfrm>
            <a:off x="868363" y="296863"/>
            <a:ext cx="10361612" cy="647700"/>
          </a:xfrm>
          <a:prstGeom prst="rect">
            <a:avLst/>
          </a:prstGeom>
          <a:noFill/>
          <a:ln w="9525">
            <a:noFill/>
          </a:ln>
        </p:spPr>
        <p:txBody>
          <a:bodyPr anchor="ctr" anchorCtr="0"/>
          <a:p>
            <a:pPr algn="ctr" eaLnBrk="1" hangingPunct="1"/>
            <a:r>
              <a:rPr lang="zh-CN" altLang="en-US" sz="3200" dirty="0">
                <a:solidFill>
                  <a:srgbClr val="FF0000"/>
                </a:solidFill>
                <a:latin typeface="Arial" panose="02080604020202020204" pitchFamily="34" charset="0"/>
                <a:ea typeface="黑体" panose="02000500000000000000" pitchFamily="49" charset="-122"/>
              </a:rPr>
              <a:t>多功能部件及多拍操作引起的问题（</a:t>
            </a:r>
            <a:r>
              <a:rPr lang="en-US" altLang="zh-CN" sz="3200" dirty="0">
                <a:solidFill>
                  <a:srgbClr val="FF0000"/>
                </a:solidFill>
                <a:latin typeface="Arial" panose="02080604020202020204" pitchFamily="34" charset="0"/>
                <a:ea typeface="黑体" panose="02000500000000000000" pitchFamily="49" charset="-122"/>
              </a:rPr>
              <a:t>3</a:t>
            </a:r>
            <a:r>
              <a:rPr lang="zh-CN" altLang="en-US" sz="3200" dirty="0">
                <a:solidFill>
                  <a:srgbClr val="FF0000"/>
                </a:solidFill>
                <a:latin typeface="Arial" panose="02080604020202020204" pitchFamily="34" charset="0"/>
                <a:ea typeface="黑体" panose="02000500000000000000" pitchFamily="49" charset="-122"/>
              </a:rPr>
              <a:t>）</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37894" name="Rectangle 3"/>
          <p:cNvSpPr>
            <a:spLocks noChangeArrowheads="1"/>
          </p:cNvSpPr>
          <p:nvPr/>
        </p:nvSpPr>
        <p:spPr bwMode="auto">
          <a:xfrm>
            <a:off x="852488" y="1425575"/>
            <a:ext cx="10361613" cy="1443038"/>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en-US" altLang="zh-CN" sz="2000" b="1" i="0" u="none" strike="noStrike" kern="1200" cap="none" spc="0" normalizeH="0" baseline="0" noProof="0" dirty="0">
                <a:ln>
                  <a:noFill/>
                </a:ln>
                <a:solidFill>
                  <a:schemeClr val="tx1"/>
                </a:solidFill>
                <a:effectLst/>
                <a:uLnTx/>
                <a:uFillTx/>
                <a:latin typeface="+mn-ea"/>
                <a:ea typeface="+mn-ea"/>
                <a:cs typeface="+mn-cs"/>
              </a:rPr>
              <a:t>RAW</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相关更多</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有些操作需要多拍产生结果</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Forwarding</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技术的作用也很有限</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p:txBody>
      </p:sp>
      <p:graphicFrame>
        <p:nvGraphicFramePr>
          <p:cNvPr id="46083" name="Object 1025"/>
          <p:cNvGraphicFramePr>
            <a:graphicFrameLocks noChangeAspect="1"/>
          </p:cNvGraphicFramePr>
          <p:nvPr/>
        </p:nvGraphicFramePr>
        <p:xfrm>
          <a:off x="1666875" y="4876800"/>
          <a:ext cx="8592820" cy="1628775"/>
        </p:xfrm>
        <a:graphic>
          <a:graphicData uri="http://schemas.openxmlformats.org/presentationml/2006/ole">
            <mc:AlternateContent xmlns:mc="http://schemas.openxmlformats.org/markup-compatibility/2006">
              <mc:Choice xmlns:v="urn:schemas-microsoft-com:vml" Requires="v">
                <p:oleObj spid="_x0000_s3178" name="" r:id="rId1" imgW="6448425" imgH="1638300" progId="Word.Document.8">
                  <p:embed/>
                </p:oleObj>
              </mc:Choice>
              <mc:Fallback>
                <p:oleObj name="" r:id="rId1" imgW="6448425" imgH="1638300" progId="Word.Document.8">
                  <p:embed/>
                  <p:pic>
                    <p:nvPicPr>
                      <p:cNvPr id="0" name="图片 3177"/>
                      <p:cNvPicPr/>
                      <p:nvPr/>
                    </p:nvPicPr>
                    <p:blipFill>
                      <a:blip r:embed="rId2"/>
                      <a:stretch>
                        <a:fillRect/>
                      </a:stretch>
                    </p:blipFill>
                    <p:spPr>
                      <a:xfrm>
                        <a:off x="1666875" y="4876800"/>
                        <a:ext cx="8592820" cy="1628775"/>
                      </a:xfrm>
                      <a:prstGeom prst="rect">
                        <a:avLst/>
                      </a:prstGeom>
                      <a:noFill/>
                      <a:ln w="38100">
                        <a:noFill/>
                        <a:miter/>
                      </a:ln>
                    </p:spPr>
                  </p:pic>
                </p:oleObj>
              </mc:Fallback>
            </mc:AlternateContent>
          </a:graphicData>
        </a:graphic>
      </p:graphicFrame>
      <p:grpSp>
        <p:nvGrpSpPr>
          <p:cNvPr id="3" name="组合 2"/>
          <p:cNvGrpSpPr/>
          <p:nvPr/>
        </p:nvGrpSpPr>
        <p:grpSpPr>
          <a:xfrm>
            <a:off x="5596255" y="5013325"/>
            <a:ext cx="3048635" cy="1175385"/>
            <a:chOff x="8648" y="7895"/>
            <a:chExt cx="4801" cy="1851"/>
          </a:xfrm>
        </p:grpSpPr>
        <p:sp>
          <p:nvSpPr>
            <p:cNvPr id="46088" name="Line 6"/>
            <p:cNvSpPr/>
            <p:nvPr/>
          </p:nvSpPr>
          <p:spPr>
            <a:xfrm flipH="1">
              <a:off x="8648" y="7895"/>
              <a:ext cx="3923" cy="333"/>
            </a:xfrm>
            <a:prstGeom prst="line">
              <a:avLst/>
            </a:prstGeom>
            <a:ln w="19050" cap="flat" cmpd="sng">
              <a:solidFill>
                <a:srgbClr val="FF0000"/>
              </a:solidFill>
              <a:prstDash val="solid"/>
              <a:headEnd type="none" w="med" len="med"/>
              <a:tailEnd type="triangle" w="med" len="med"/>
            </a:ln>
          </p:spPr>
        </p:sp>
        <p:sp>
          <p:nvSpPr>
            <p:cNvPr id="46089" name="Line 7"/>
            <p:cNvSpPr/>
            <p:nvPr/>
          </p:nvSpPr>
          <p:spPr>
            <a:xfrm flipH="1">
              <a:off x="9697" y="7903"/>
              <a:ext cx="2856" cy="643"/>
            </a:xfrm>
            <a:prstGeom prst="line">
              <a:avLst/>
            </a:prstGeom>
            <a:ln w="19050" cap="flat" cmpd="sng">
              <a:solidFill>
                <a:srgbClr val="FF0000"/>
              </a:solidFill>
              <a:prstDash val="solid"/>
              <a:headEnd type="none" w="med" len="med"/>
              <a:tailEnd type="triangle" w="med" len="med"/>
            </a:ln>
          </p:spPr>
        </p:sp>
        <p:sp>
          <p:nvSpPr>
            <p:cNvPr id="46090" name="Line 8"/>
            <p:cNvSpPr/>
            <p:nvPr/>
          </p:nvSpPr>
          <p:spPr>
            <a:xfrm flipH="1">
              <a:off x="10604" y="7903"/>
              <a:ext cx="1976" cy="915"/>
            </a:xfrm>
            <a:prstGeom prst="line">
              <a:avLst/>
            </a:prstGeom>
            <a:ln w="19050" cap="flat" cmpd="sng">
              <a:solidFill>
                <a:srgbClr val="FF0000"/>
              </a:solidFill>
              <a:prstDash val="solid"/>
              <a:headEnd type="none" w="med" len="med"/>
              <a:tailEnd type="triangle" w="med" len="med"/>
            </a:ln>
          </p:spPr>
        </p:sp>
        <p:sp>
          <p:nvSpPr>
            <p:cNvPr id="46091" name="Line 9"/>
            <p:cNvSpPr/>
            <p:nvPr/>
          </p:nvSpPr>
          <p:spPr>
            <a:xfrm flipH="1">
              <a:off x="11601" y="7910"/>
              <a:ext cx="990" cy="1225"/>
            </a:xfrm>
            <a:prstGeom prst="line">
              <a:avLst/>
            </a:prstGeom>
            <a:ln w="19050" cap="flat" cmpd="sng">
              <a:solidFill>
                <a:srgbClr val="FF0000"/>
              </a:solidFill>
              <a:prstDash val="solid"/>
              <a:headEnd type="none" w="med" len="med"/>
              <a:tailEnd type="triangle" w="med" len="med"/>
            </a:ln>
          </p:spPr>
        </p:sp>
        <p:sp>
          <p:nvSpPr>
            <p:cNvPr id="46092" name="Line 10"/>
            <p:cNvSpPr/>
            <p:nvPr/>
          </p:nvSpPr>
          <p:spPr>
            <a:xfrm>
              <a:off x="12547" y="7898"/>
              <a:ext cx="903" cy="1848"/>
            </a:xfrm>
            <a:prstGeom prst="line">
              <a:avLst/>
            </a:prstGeom>
            <a:ln w="19050" cap="flat" cmpd="sng">
              <a:solidFill>
                <a:schemeClr val="accent1"/>
              </a:solidFill>
              <a:prstDash val="solid"/>
              <a:headEnd type="none" w="med" len="med"/>
              <a:tailEnd type="triangle" w="med" len="med"/>
            </a:ln>
          </p:spPr>
        </p:sp>
        <p:sp>
          <p:nvSpPr>
            <p:cNvPr id="46093" name="Line 11"/>
            <p:cNvSpPr/>
            <p:nvPr/>
          </p:nvSpPr>
          <p:spPr>
            <a:xfrm flipH="1">
              <a:off x="12550" y="7903"/>
              <a:ext cx="7" cy="1555"/>
            </a:xfrm>
            <a:prstGeom prst="line">
              <a:avLst/>
            </a:prstGeom>
            <a:ln w="19050" cap="flat" cmpd="sng">
              <a:solidFill>
                <a:schemeClr val="accent1"/>
              </a:solidFill>
              <a:prstDash val="solid"/>
              <a:headEnd type="none" w="med" len="med"/>
              <a:tailEnd type="triangle" w="med" len="med"/>
            </a:ln>
          </p:spPr>
        </p:sp>
      </p:grpSp>
      <p:graphicFrame>
        <p:nvGraphicFramePr>
          <p:cNvPr id="46082" name="Object 1024"/>
          <p:cNvGraphicFramePr>
            <a:graphicFrameLocks noChangeAspect="1"/>
          </p:cNvGraphicFramePr>
          <p:nvPr/>
        </p:nvGraphicFramePr>
        <p:xfrm>
          <a:off x="1890237" y="3703003"/>
          <a:ext cx="5752465" cy="610870"/>
        </p:xfrm>
        <a:graphic>
          <a:graphicData uri="http://schemas.openxmlformats.org/presentationml/2006/ole">
            <mc:AlternateContent xmlns:mc="http://schemas.openxmlformats.org/markup-compatibility/2006">
              <mc:Choice xmlns:v="urn:schemas-microsoft-com:vml" Requires="v">
                <p:oleObj spid="_x0000_s3177" name="" r:id="rId3" imgW="4324350" imgH="619125" progId="Word.Document.8">
                  <p:embed/>
                </p:oleObj>
              </mc:Choice>
              <mc:Fallback>
                <p:oleObj name="" r:id="rId3" imgW="4324350" imgH="619125" progId="Word.Document.8">
                  <p:embed/>
                  <p:pic>
                    <p:nvPicPr>
                      <p:cNvPr id="0" name="图片 3176"/>
                      <p:cNvPicPr/>
                      <p:nvPr/>
                    </p:nvPicPr>
                    <p:blipFill>
                      <a:blip r:embed="rId4"/>
                      <a:stretch>
                        <a:fillRect/>
                      </a:stretch>
                    </p:blipFill>
                    <p:spPr>
                      <a:xfrm>
                        <a:off x="1890237" y="3703003"/>
                        <a:ext cx="5752465" cy="610870"/>
                      </a:xfrm>
                      <a:prstGeom prst="rect">
                        <a:avLst/>
                      </a:prstGeom>
                      <a:noFill/>
                      <a:ln w="38100">
                        <a:noFill/>
                        <a:miter/>
                      </a:ln>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75779" name="Rectangle 2"/>
          <p:cNvSpPr/>
          <p:nvPr/>
        </p:nvSpPr>
        <p:spPr>
          <a:xfrm>
            <a:off x="914400" y="487363"/>
            <a:ext cx="10361613" cy="647700"/>
          </a:xfrm>
          <a:prstGeom prst="rect">
            <a:avLst/>
          </a:prstGeom>
          <a:noFill/>
          <a:ln w="9525">
            <a:noFill/>
          </a:ln>
        </p:spPr>
        <p:txBody>
          <a:bodyPr anchor="ctr" anchorCtr="0"/>
          <a:p>
            <a:pPr algn="ctr" eaLnBrk="1" hangingPunct="1"/>
            <a:r>
              <a:rPr lang="zh-CN" altLang="en-US" sz="3200" dirty="0">
                <a:solidFill>
                  <a:srgbClr val="FF0000"/>
                </a:solidFill>
                <a:latin typeface="Arial" panose="02080604020202020204" pitchFamily="34" charset="0"/>
                <a:ea typeface="黑体" panose="02000500000000000000" pitchFamily="49" charset="-122"/>
              </a:rPr>
              <a:t>多功能部件及多拍操作引起的问题（</a:t>
            </a:r>
            <a:r>
              <a:rPr lang="en-US" altLang="zh-CN" sz="3200" dirty="0">
                <a:solidFill>
                  <a:srgbClr val="FF0000"/>
                </a:solidFill>
                <a:latin typeface="Arial" panose="02080604020202020204" pitchFamily="34" charset="0"/>
                <a:ea typeface="黑体" panose="02000500000000000000" pitchFamily="49" charset="-122"/>
              </a:rPr>
              <a:t>4</a:t>
            </a:r>
            <a:r>
              <a:rPr lang="zh-CN" altLang="en-US" sz="3200" dirty="0">
                <a:solidFill>
                  <a:srgbClr val="FF0000"/>
                </a:solidFill>
                <a:latin typeface="Arial" panose="02080604020202020204" pitchFamily="34" charset="0"/>
                <a:ea typeface="黑体" panose="02000500000000000000" pitchFamily="49" charset="-122"/>
              </a:rPr>
              <a:t>）</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66564" name="Rectangle 3"/>
          <p:cNvSpPr>
            <a:spLocks noChangeArrowheads="1"/>
          </p:cNvSpPr>
          <p:nvPr/>
        </p:nvSpPr>
        <p:spPr bwMode="auto">
          <a:xfrm>
            <a:off x="863600" y="1393825"/>
            <a:ext cx="10361613" cy="2468563"/>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指令乱序结束</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例外处理更加困难，例外的发生难以预料</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在下面的例子中，没有任何相关，因此，</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ADD.D</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和</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SUB.D</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指令可以比</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DIV.D</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先结束。如果在</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ADD.D</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结束后</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DIV.D</a:t>
            </a:r>
            <a:r>
              <a:rPr kumimoji="1" lang="zh-CN" altLang="en-US" sz="1600" b="1" i="0" u="none" strike="noStrike" kern="1200" cap="none" spc="0" normalizeH="0" baseline="0" noProof="0" dirty="0">
                <a:ln>
                  <a:noFill/>
                </a:ln>
                <a:solidFill>
                  <a:schemeClr val="tx1"/>
                </a:solidFill>
                <a:effectLst/>
                <a:uLnTx/>
                <a:uFillTx/>
                <a:latin typeface="+mn-ea"/>
                <a:ea typeface="+mn-ea"/>
                <a:cs typeface="+mn-cs"/>
              </a:rPr>
              <a:t>发生例外，此时无法恢复例外现场。</a:t>
            </a:r>
            <a:endParaRPr kumimoji="1" lang="zh-CN" altLang="en-US" sz="1600" b="1" i="0" u="none" strike="noStrike" kern="1200" cap="none" spc="0" normalizeH="0" baseline="0" noProof="0" dirty="0">
              <a:ln>
                <a:noFill/>
              </a:ln>
              <a:solidFill>
                <a:schemeClr val="tx1"/>
              </a:solidFill>
              <a:effectLst/>
              <a:uLnTx/>
              <a:uFillTx/>
              <a:latin typeface="+mn-ea"/>
              <a:ea typeface="+mn-ea"/>
              <a:cs typeface="+mn-cs"/>
            </a:endParaRPr>
          </a:p>
        </p:txBody>
      </p:sp>
      <p:sp>
        <p:nvSpPr>
          <p:cNvPr id="75781" name="Text Box 4"/>
          <p:cNvSpPr txBox="1"/>
          <p:nvPr/>
        </p:nvSpPr>
        <p:spPr>
          <a:xfrm>
            <a:off x="3740150" y="4043363"/>
            <a:ext cx="4500563" cy="1568450"/>
          </a:xfrm>
          <a:prstGeom prst="rect">
            <a:avLst/>
          </a:prstGeom>
          <a:noFill/>
          <a:ln w="9525">
            <a:noFill/>
          </a:ln>
        </p:spPr>
        <p:txBody>
          <a:bodyPr anchor="ctr" anchorCtr="0">
            <a:spAutoFit/>
          </a:bodyPr>
          <a:p>
            <a:pPr eaLnBrk="1" hangingPunct="1">
              <a:spcBef>
                <a:spcPct val="50000"/>
              </a:spcBef>
            </a:pPr>
            <a:r>
              <a:rPr lang="en-US" altLang="zh-CN" sz="2400" b="1" dirty="0">
                <a:solidFill>
                  <a:srgbClr val="FF0000"/>
                </a:solidFill>
                <a:latin typeface="+mn-ea"/>
                <a:ea typeface="+mn-ea"/>
                <a:cs typeface="Courier New" pitchFamily="49" charset="0"/>
              </a:rPr>
              <a:t>FDIV.D f0, f2, f4</a:t>
            </a:r>
            <a:endParaRPr lang="en-US" altLang="zh-CN" sz="2400" b="1" dirty="0">
              <a:solidFill>
                <a:srgbClr val="FF0000"/>
              </a:solidFill>
              <a:latin typeface="+mn-ea"/>
              <a:ea typeface="+mn-ea"/>
              <a:cs typeface="Courier New" pitchFamily="49" charset="0"/>
            </a:endParaRPr>
          </a:p>
          <a:p>
            <a:pPr eaLnBrk="1" hangingPunct="1">
              <a:spcBef>
                <a:spcPct val="50000"/>
              </a:spcBef>
            </a:pPr>
            <a:r>
              <a:rPr lang="en-US" altLang="zh-CN" sz="2400" b="1" dirty="0">
                <a:latin typeface="+mn-ea"/>
                <a:ea typeface="+mn-ea"/>
                <a:cs typeface="Courier New" pitchFamily="49" charset="0"/>
              </a:rPr>
              <a:t>FADD.D f10,f10,f8</a:t>
            </a:r>
            <a:endParaRPr lang="en-US" altLang="zh-CN" sz="2400" b="1" dirty="0">
              <a:latin typeface="+mn-ea"/>
              <a:ea typeface="+mn-ea"/>
              <a:cs typeface="Courier New" pitchFamily="49" charset="0"/>
            </a:endParaRPr>
          </a:p>
          <a:p>
            <a:pPr eaLnBrk="1" hangingPunct="1">
              <a:spcBef>
                <a:spcPct val="50000"/>
              </a:spcBef>
            </a:pPr>
            <a:r>
              <a:rPr lang="en-US" altLang="zh-CN" sz="2400" b="1" dirty="0">
                <a:latin typeface="+mn-ea"/>
                <a:ea typeface="+mn-ea"/>
                <a:cs typeface="Courier New" pitchFamily="49" charset="0"/>
              </a:rPr>
              <a:t>FSUB.D f12,f12,f14</a:t>
            </a:r>
            <a:endParaRPr lang="en-US" altLang="zh-CN" sz="2400" b="1" dirty="0">
              <a:latin typeface="+mn-ea"/>
              <a:ea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71683" name="Rectangle 2"/>
          <p:cNvSpPr>
            <a:spLocks noGrp="1"/>
          </p:cNvSpPr>
          <p:nvPr>
            <p:ph type="title"/>
          </p:nvPr>
        </p:nvSpPr>
        <p:spPr/>
        <p:txBody>
          <a:bodyPr vert="horz" wrap="square" lIns="91440" tIns="45720" rIns="91440" bIns="45720" anchor="ctr" anchorCtr="0"/>
          <a:p>
            <a:pPr eaLnBrk="1" hangingPunct="1"/>
            <a:r>
              <a:rPr lang="zh-CN" altLang="en-US" dirty="0"/>
              <a:t>多功能部件及多拍操作流水线</a:t>
            </a:r>
            <a:endParaRPr lang="zh-CN" altLang="en-US" dirty="0"/>
          </a:p>
        </p:txBody>
      </p:sp>
      <p:sp>
        <p:nvSpPr>
          <p:cNvPr id="71684" name="Rectangle 3"/>
          <p:cNvSpPr>
            <a:spLocks noGrp="1"/>
          </p:cNvSpPr>
          <p:nvPr>
            <p:ph idx="1"/>
          </p:nvPr>
        </p:nvSpPr>
        <p:spPr>
          <a:xfrm>
            <a:off x="577850" y="1193800"/>
            <a:ext cx="10698163" cy="5362575"/>
          </a:xfrm>
        </p:spPr>
        <p:txBody>
          <a:bodyPr vert="horz" wrap="square" lIns="91440" tIns="45720" rIns="91440" bIns="45720" anchor="t" anchorCtr="0"/>
          <a:p>
            <a:pPr eaLnBrk="1" hangingPunct="1"/>
            <a:r>
              <a:rPr lang="zh-CN" altLang="en-US" dirty="0"/>
              <a:t>通过流水线堵塞来保证避免数据冲突</a:t>
            </a:r>
            <a:endParaRPr lang="zh-CN" altLang="en-US" dirty="0"/>
          </a:p>
          <a:p>
            <a:pPr lvl="1" eaLnBrk="1" hangingPunct="1"/>
            <a:r>
              <a:rPr lang="zh-CN" altLang="en-US" dirty="0"/>
              <a:t>把所有流水线执行阶段指令的目标寄存器号和译码阶段的源寄存器号以及目标寄存器号进行比较，如果发现有寄存器号相等的情况就阻塞译码阶段的指令，这样就可以避免由于数据相关引起冲突</a:t>
            </a:r>
            <a:endParaRPr lang="zh-CN" altLang="en-US" dirty="0"/>
          </a:p>
          <a:p>
            <a:pPr lvl="1" eaLnBrk="1" hangingPunct="1"/>
            <a:r>
              <a:rPr lang="zh-CN" altLang="en-US" dirty="0"/>
              <a:t>要把译码阶段指令的目标寄存器号也跟前面指令的目标寄存器号进行比较以避免</a:t>
            </a:r>
            <a:r>
              <a:rPr lang="en-US" altLang="zh-CN" dirty="0"/>
              <a:t>WAW</a:t>
            </a:r>
            <a:r>
              <a:rPr lang="zh-CN" altLang="en-US" dirty="0"/>
              <a:t>相关导致冲突</a:t>
            </a:r>
            <a:endParaRPr lang="zh-CN" altLang="en-US" dirty="0"/>
          </a:p>
          <a:p>
            <a:pPr eaLnBrk="1" hangingPunct="1"/>
            <a:r>
              <a:rPr lang="zh-CN" altLang="en-US" dirty="0"/>
              <a:t>结构相关</a:t>
            </a:r>
            <a:endParaRPr lang="zh-CN" altLang="en-US" dirty="0"/>
          </a:p>
          <a:p>
            <a:pPr lvl="1" eaLnBrk="1" hangingPunct="1"/>
            <a:r>
              <a:rPr lang="zh-CN" altLang="en-US" dirty="0"/>
              <a:t>通过请求和仲裁允许流水线前进。</a:t>
            </a:r>
            <a:endParaRPr lang="zh-CN" altLang="en-US" dirty="0"/>
          </a:p>
          <a:p>
            <a:pPr eaLnBrk="1" hangingPunct="1"/>
            <a:r>
              <a:rPr lang="zh-CN" altLang="en-US" dirty="0"/>
              <a:t>例外处理</a:t>
            </a:r>
            <a:endParaRPr lang="zh-CN" altLang="en-US" dirty="0"/>
          </a:p>
          <a:p>
            <a:pPr lvl="1" eaLnBrk="1" hangingPunct="1"/>
            <a:r>
              <a:rPr lang="zh-CN" altLang="en-US" dirty="0"/>
              <a:t>不管指令要执行多少拍，都可以要求所有指令顺序写回，而且所有例外在写回阶段进行统一处理。</a:t>
            </a:r>
            <a:endParaRPr lang="zh-CN" altLang="en-US" dirty="0"/>
          </a:p>
          <a:p>
            <a:pPr lvl="1" eaLnBrk="1" hangingPunct="1"/>
            <a:r>
              <a:rPr lang="zh-CN" altLang="en-US" dirty="0"/>
              <a:t>有的早期机器不保证精确例外。 </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xfrm>
            <a:off x="884970" y="244475"/>
            <a:ext cx="10361851" cy="1143000"/>
          </a:xfrm>
        </p:spPr>
        <p:txBody>
          <a:bodyPr vert="horz" wrap="square" lIns="91440" tIns="45720" rIns="91440" bIns="45720" anchor="ctr" anchorCtr="0"/>
          <a:lstStyle/>
          <a:p>
            <a:r>
              <a:rPr lang="zh-CN" altLang="en-US" dirty="0"/>
              <a:t>静态流水线小结</a:t>
            </a:r>
            <a:endParaRPr lang="zh-CN" altLang="en-US" dirty="0"/>
          </a:p>
        </p:txBody>
      </p:sp>
      <p:sp>
        <p:nvSpPr>
          <p:cNvPr id="67587" name="内容占位符 2"/>
          <p:cNvSpPr>
            <a:spLocks noGrp="1"/>
          </p:cNvSpPr>
          <p:nvPr>
            <p:ph idx="1"/>
          </p:nvPr>
        </p:nvSpPr>
        <p:spPr>
          <a:xfrm>
            <a:off x="914599" y="1646238"/>
            <a:ext cx="10361851" cy="4711700"/>
          </a:xfrm>
        </p:spPr>
        <p:txBody>
          <a:bodyPr vert="horz" wrap="square" lIns="91440" tIns="45720" rIns="91440" bIns="45720" anchor="t" anchorCtr="0"/>
          <a:lstStyle/>
          <a:p>
            <a:r>
              <a:rPr lang="zh-CN" altLang="en-US" dirty="0"/>
              <a:t>五级流水：取指、译码、执行、访存、写回</a:t>
            </a:r>
            <a:endParaRPr lang="en-US" altLang="zh-CN" dirty="0"/>
          </a:p>
          <a:p>
            <a:r>
              <a:rPr lang="zh-CN" altLang="en-US" dirty="0"/>
              <a:t>消除控制相关</a:t>
            </a:r>
            <a:endParaRPr lang="en-US" altLang="zh-CN" dirty="0"/>
          </a:p>
          <a:p>
            <a:pPr lvl="1"/>
            <a:r>
              <a:rPr lang="zh-CN" altLang="en-US" dirty="0"/>
              <a:t>在译码阶段执行转移指令</a:t>
            </a:r>
            <a:endParaRPr lang="zh-CN" altLang="en-US" dirty="0"/>
          </a:p>
          <a:p>
            <a:pPr lvl="1"/>
            <a:r>
              <a:rPr lang="zh-CN" altLang="en-US" dirty="0"/>
              <a:t>转移指令延迟槽</a:t>
            </a:r>
            <a:endParaRPr lang="en-US" altLang="zh-CN" dirty="0"/>
          </a:p>
          <a:p>
            <a:r>
              <a:rPr lang="zh-CN" altLang="en-US" dirty="0"/>
              <a:t>消除数据相关</a:t>
            </a:r>
            <a:endParaRPr lang="en-US" altLang="zh-CN" dirty="0"/>
          </a:p>
          <a:p>
            <a:pPr lvl="1"/>
            <a:r>
              <a:rPr lang="zh-CN" altLang="en-US" dirty="0"/>
              <a:t>数据前递：从执行输出到执行输入</a:t>
            </a:r>
            <a:endParaRPr lang="en-US" altLang="zh-CN" dirty="0"/>
          </a:p>
          <a:p>
            <a:pPr lvl="1"/>
            <a:r>
              <a:rPr lang="zh-CN" altLang="en-US" dirty="0"/>
              <a:t>可以消除单拍运算的数据相关</a:t>
            </a:r>
            <a:endParaRPr lang="en-US" altLang="zh-CN" dirty="0"/>
          </a:p>
          <a:p>
            <a:r>
              <a:rPr lang="zh-CN" altLang="en-US" dirty="0"/>
              <a:t>只有取数操作有一拍延迟</a:t>
            </a:r>
            <a:endParaRPr lang="en-US" altLang="zh-CN" dirty="0"/>
          </a:p>
          <a:p>
            <a:pPr lvl="1"/>
            <a:endParaRPr lang="zh-CN" altLang="en-US" dirty="0"/>
          </a:p>
        </p:txBody>
      </p:sp>
      <p:sp>
        <p:nvSpPr>
          <p:cNvPr id="67588" name="灯片编号占位符 3"/>
          <p:cNvSpPr txBox="1">
            <a:spLocks noGrp="1"/>
          </p:cNvSpPr>
          <p:nvPr>
            <p:ph type="sldNum" sz="quarter" idx="12"/>
          </p:nvPr>
        </p:nvSpPr>
        <p:spPr/>
        <p:txBody>
          <a:bodyPr/>
          <a:lstStyle/>
          <a:p>
            <a:pPr marL="0" indent="0" algn="r" eaLnBrk="1" hangingPunct="1">
              <a:lnSpc>
                <a:spcPct val="100000"/>
              </a:lnSpc>
              <a:spcBef>
                <a:spcPct val="0"/>
              </a:spcBef>
              <a:buNone/>
            </a:pPr>
            <a:fld id="{9A0DB2DC-4C9A-4742-B13C-FB6460FD3503}" type="slidenum">
              <a:rPr lang="en-US" altLang="zh-CN" sz="1400" b="0" dirty="0">
                <a:latin typeface="Times New Roman" pitchFamily="18" charset="0"/>
              </a:rPr>
            </a:fld>
            <a:endParaRPr lang="en-US" altLang="zh-CN" sz="1400" b="0" dirty="0">
              <a:latin typeface="Times New Roman" pitchFamily="18"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p:nvPr/>
        </p:nvSpPr>
        <p:spPr>
          <a:xfrm>
            <a:off x="914400" y="0"/>
            <a:ext cx="10361613" cy="652463"/>
          </a:xfrm>
          <a:prstGeom prst="rect">
            <a:avLst/>
          </a:prstGeom>
          <a:noFill/>
          <a:ln w="9525">
            <a:noFill/>
          </a:ln>
        </p:spPr>
        <p:txBody>
          <a:bodyPr anchor="ctr" anchorCtr="0"/>
          <a:p>
            <a:pPr algn="ctr"/>
            <a:r>
              <a:rPr lang="zh-CN" altLang="en-US" sz="3600" dirty="0">
                <a:solidFill>
                  <a:srgbClr val="FF0000"/>
                </a:solidFill>
                <a:latin typeface="Arial" panose="02080604020202020204" pitchFamily="34" charset="0"/>
                <a:ea typeface="黑体" panose="02000500000000000000" pitchFamily="49" charset="-122"/>
              </a:rPr>
              <a:t>静态流水线小结</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7171" name="Rectangle 3"/>
          <p:cNvSpPr/>
          <p:nvPr/>
        </p:nvSpPr>
        <p:spPr>
          <a:xfrm>
            <a:off x="247650" y="652780"/>
            <a:ext cx="11731625" cy="6205220"/>
          </a:xfrm>
          <a:prstGeom prst="rect">
            <a:avLst/>
          </a:prstGeom>
          <a:noFill/>
          <a:ln w="9525">
            <a:noFill/>
          </a:ln>
        </p:spPr>
        <p:txBody>
          <a:bodyPr/>
          <a:p>
            <a:pPr marL="342900" indent="-342900">
              <a:lnSpc>
                <a:spcPct val="150000"/>
              </a:lnSpc>
              <a:buChar char="•"/>
            </a:pPr>
            <a:r>
              <a:rPr lang="zh-CN" altLang="en-US" sz="2000" b="1" dirty="0">
                <a:latin typeface="宋体" panose="02000500000000000000" pitchFamily="2" charset="-122"/>
                <a:cs typeface="宋体" panose="02000500000000000000" pitchFamily="2" charset="-122"/>
              </a:rPr>
              <a:t>一个简单的</a:t>
            </a:r>
            <a:r>
              <a:rPr lang="en-US" altLang="zh-CN" sz="2000" b="1" dirty="0">
                <a:latin typeface="宋体" panose="02000500000000000000" pitchFamily="2" charset="-122"/>
                <a:cs typeface="宋体" panose="02000500000000000000" pitchFamily="2" charset="-122"/>
              </a:rPr>
              <a:t>RISC CPU</a:t>
            </a:r>
            <a:endParaRPr lang="en-US" altLang="zh-CN" sz="2000" b="1" dirty="0">
              <a:latin typeface="宋体" panose="02000500000000000000" pitchFamily="2" charset="-122"/>
              <a:cs typeface="宋体" panose="02000500000000000000" pitchFamily="2" charset="-122"/>
            </a:endParaRPr>
          </a:p>
          <a:p>
            <a:pPr marL="742950" lvl="1" indent="-285750">
              <a:lnSpc>
                <a:spcPct val="150000"/>
              </a:lnSpc>
              <a:buChar char="•"/>
            </a:pPr>
            <a:r>
              <a:rPr lang="zh-CN" altLang="en-US" b="1" dirty="0">
                <a:latin typeface="宋体" panose="02000500000000000000" pitchFamily="2" charset="-122"/>
                <a:cs typeface="宋体" panose="02000500000000000000" pitchFamily="2" charset="-122"/>
              </a:rPr>
              <a:t>指令系统、数据通路、控制逻辑、时序、时序优化</a:t>
            </a:r>
            <a:r>
              <a:rPr lang="en-US" altLang="zh-CN" b="1" dirty="0">
                <a:latin typeface="宋体" panose="02000500000000000000" pitchFamily="2" charset="-122"/>
                <a:cs typeface="宋体" panose="02000500000000000000" pitchFamily="2" charset="-122"/>
              </a:rPr>
              <a:t>==&gt;</a:t>
            </a:r>
            <a:r>
              <a:rPr lang="zh-CN" altLang="en-US" b="1" dirty="0">
                <a:latin typeface="宋体" panose="02000500000000000000" pitchFamily="2" charset="-122"/>
                <a:cs typeface="宋体" panose="02000500000000000000" pitchFamily="2" charset="-122"/>
              </a:rPr>
              <a:t>流水线</a:t>
            </a:r>
            <a:endParaRPr lang="zh-CN" altLang="en-US" b="1" dirty="0">
              <a:latin typeface="宋体" panose="02000500000000000000" pitchFamily="2" charset="-122"/>
              <a:cs typeface="宋体" panose="02000500000000000000" pitchFamily="2" charset="-122"/>
            </a:endParaRPr>
          </a:p>
          <a:p>
            <a:pPr marL="342900" indent="-342900">
              <a:lnSpc>
                <a:spcPct val="150000"/>
              </a:lnSpc>
              <a:buChar char="•"/>
            </a:pPr>
            <a:r>
              <a:rPr lang="zh-CN" altLang="en-US" sz="2000" b="1" dirty="0">
                <a:latin typeface="宋体" panose="02000500000000000000" pitchFamily="2" charset="-122"/>
                <a:cs typeface="宋体" panose="02000500000000000000" pitchFamily="2" charset="-122"/>
              </a:rPr>
              <a:t>指令流水线</a:t>
            </a:r>
            <a:endParaRPr lang="zh-CN" altLang="en-US" sz="2000" b="1" dirty="0">
              <a:latin typeface="宋体" panose="02000500000000000000" pitchFamily="2" charset="-122"/>
              <a:cs typeface="宋体" panose="02000500000000000000" pitchFamily="2" charset="-122"/>
            </a:endParaRPr>
          </a:p>
          <a:p>
            <a:pPr marL="742950" lvl="1" indent="-285750">
              <a:lnSpc>
                <a:spcPct val="150000"/>
              </a:lnSpc>
              <a:buChar char="•"/>
            </a:pPr>
            <a:r>
              <a:rPr lang="zh-CN" altLang="en-US" b="1" dirty="0">
                <a:latin typeface="宋体" panose="02000500000000000000" pitchFamily="2" charset="-122"/>
                <a:cs typeface="宋体" panose="02000500000000000000" pitchFamily="2" charset="-122"/>
              </a:rPr>
              <a:t>标准五级流水线：</a:t>
            </a:r>
            <a:r>
              <a:rPr lang="en-US" altLang="zh-CN" b="1" dirty="0">
                <a:latin typeface="宋体" panose="02000500000000000000" pitchFamily="2" charset="-122"/>
                <a:cs typeface="宋体" panose="02000500000000000000" pitchFamily="2" charset="-122"/>
              </a:rPr>
              <a:t>IF, ID, EX, MEM, WB</a:t>
            </a:r>
            <a:r>
              <a:rPr lang="zh-CN" altLang="en-US" b="1" dirty="0">
                <a:latin typeface="宋体" panose="02000500000000000000" pitchFamily="2" charset="-122"/>
                <a:cs typeface="宋体" panose="02000500000000000000" pitchFamily="2" charset="-122"/>
              </a:rPr>
              <a:t>；</a:t>
            </a:r>
            <a:r>
              <a:rPr lang="zh-CN" altLang="en-US" b="1" dirty="0">
                <a:solidFill>
                  <a:srgbClr val="FF0000"/>
                </a:solidFill>
                <a:latin typeface="宋体" panose="02000500000000000000" pitchFamily="2" charset="-122"/>
                <a:cs typeface="宋体" panose="02000500000000000000" pitchFamily="2" charset="-122"/>
              </a:rPr>
              <a:t>时空图</a:t>
            </a:r>
            <a:endParaRPr lang="en-US" altLang="zh-CN" b="1" dirty="0">
              <a:solidFill>
                <a:srgbClr val="FF0000"/>
              </a:solidFill>
              <a:latin typeface="宋体" panose="02000500000000000000" pitchFamily="2" charset="-122"/>
              <a:cs typeface="宋体" panose="02000500000000000000" pitchFamily="2" charset="-122"/>
            </a:endParaRPr>
          </a:p>
          <a:p>
            <a:pPr marL="342900" indent="-342900">
              <a:lnSpc>
                <a:spcPct val="150000"/>
              </a:lnSpc>
              <a:buChar char="•"/>
            </a:pPr>
            <a:r>
              <a:rPr lang="zh-CN" altLang="en-US" sz="2000" b="1" dirty="0">
                <a:latin typeface="宋体" panose="02000500000000000000" pitchFamily="2" charset="-122"/>
                <a:cs typeface="宋体" panose="02000500000000000000" pitchFamily="2" charset="-122"/>
              </a:rPr>
              <a:t>指令相关与流水冲突：</a:t>
            </a:r>
            <a:r>
              <a:rPr lang="zh-CN" altLang="en-US" sz="2000" b="1" dirty="0">
                <a:solidFill>
                  <a:srgbClr val="FF0000"/>
                </a:solidFill>
                <a:latin typeface="宋体" panose="02000500000000000000" pitchFamily="2" charset="-122"/>
                <a:cs typeface="宋体" panose="02000500000000000000" pitchFamily="2" charset="-122"/>
              </a:rPr>
              <a:t>译码阶段判断是否要阻塞</a:t>
            </a:r>
            <a:endParaRPr lang="zh-CN" altLang="en-US" sz="2000" b="1" dirty="0">
              <a:latin typeface="宋体" panose="02000500000000000000" pitchFamily="2" charset="-122"/>
              <a:cs typeface="宋体" panose="02000500000000000000" pitchFamily="2" charset="-122"/>
            </a:endParaRPr>
          </a:p>
          <a:p>
            <a:pPr marL="742950" lvl="1" indent="-285750">
              <a:lnSpc>
                <a:spcPct val="150000"/>
              </a:lnSpc>
              <a:buChar char="•"/>
            </a:pPr>
            <a:r>
              <a:rPr lang="zh-CN" altLang="en-US" b="1" dirty="0">
                <a:latin typeface="宋体" panose="02000500000000000000" pitchFamily="2" charset="-122"/>
                <a:cs typeface="宋体" panose="02000500000000000000" pitchFamily="2" charset="-122"/>
              </a:rPr>
              <a:t>数据相关：</a:t>
            </a:r>
            <a:r>
              <a:rPr lang="en-US" altLang="zh-CN" b="1" dirty="0">
                <a:latin typeface="宋体" panose="02000500000000000000" pitchFamily="2" charset="-122"/>
                <a:cs typeface="宋体" panose="02000500000000000000" pitchFamily="2" charset="-122"/>
              </a:rPr>
              <a:t>RAW</a:t>
            </a:r>
            <a:r>
              <a:rPr lang="zh-CN" altLang="en-US" b="1" dirty="0">
                <a:latin typeface="宋体" panose="02000500000000000000" pitchFamily="2" charset="-122"/>
                <a:cs typeface="宋体" panose="02000500000000000000" pitchFamily="2" charset="-122"/>
              </a:rPr>
              <a:t>、</a:t>
            </a:r>
            <a:r>
              <a:rPr lang="en-US" altLang="zh-CN" b="1" dirty="0">
                <a:latin typeface="宋体" panose="02000500000000000000" pitchFamily="2" charset="-122"/>
                <a:cs typeface="宋体" panose="02000500000000000000" pitchFamily="2" charset="-122"/>
              </a:rPr>
              <a:t>WAW</a:t>
            </a:r>
            <a:r>
              <a:rPr lang="zh-CN" altLang="en-US" b="1" dirty="0">
                <a:latin typeface="宋体" panose="02000500000000000000" pitchFamily="2" charset="-122"/>
                <a:cs typeface="宋体" panose="02000500000000000000" pitchFamily="2" charset="-122"/>
              </a:rPr>
              <a:t>、</a:t>
            </a:r>
            <a:r>
              <a:rPr lang="en-US" altLang="zh-CN" b="1" dirty="0">
                <a:latin typeface="宋体" panose="02000500000000000000" pitchFamily="2" charset="-122"/>
                <a:cs typeface="宋体" panose="02000500000000000000" pitchFamily="2" charset="-122"/>
              </a:rPr>
              <a:t>WAR</a:t>
            </a:r>
            <a:r>
              <a:rPr lang="zh-CN" altLang="en-US" b="1" dirty="0">
                <a:latin typeface="宋体" panose="02000500000000000000" pitchFamily="2" charset="-122"/>
                <a:cs typeface="宋体" panose="02000500000000000000" pitchFamily="2" charset="-122"/>
              </a:rPr>
              <a:t>，五级流水线中只有</a:t>
            </a:r>
            <a:r>
              <a:rPr lang="en-US" altLang="zh-CN" b="1" dirty="0">
                <a:latin typeface="宋体" panose="02000500000000000000" pitchFamily="2" charset="-122"/>
                <a:cs typeface="宋体" panose="02000500000000000000" pitchFamily="2" charset="-122"/>
              </a:rPr>
              <a:t>RAW</a:t>
            </a:r>
            <a:r>
              <a:rPr lang="zh-CN" altLang="en-US" b="1" dirty="0">
                <a:latin typeface="宋体" panose="02000500000000000000" pitchFamily="2" charset="-122"/>
                <a:cs typeface="宋体" panose="02000500000000000000" pitchFamily="2" charset="-122"/>
              </a:rPr>
              <a:t>相关，通过前递技术缓解阻塞</a:t>
            </a:r>
            <a:endParaRPr lang="en-US" altLang="zh-CN" b="1" dirty="0">
              <a:latin typeface="宋体" panose="02000500000000000000" pitchFamily="2" charset="-122"/>
              <a:cs typeface="宋体" panose="02000500000000000000" pitchFamily="2" charset="-122"/>
            </a:endParaRPr>
          </a:p>
          <a:p>
            <a:pPr marL="742950" lvl="1" indent="-285750">
              <a:lnSpc>
                <a:spcPct val="150000"/>
              </a:lnSpc>
              <a:buChar char="•"/>
            </a:pPr>
            <a:r>
              <a:rPr lang="zh-CN" altLang="en-US" b="1" dirty="0">
                <a:latin typeface="宋体" panose="02000500000000000000" pitchFamily="2" charset="-122"/>
                <a:cs typeface="宋体" panose="02000500000000000000" pitchFamily="2" charset="-122"/>
              </a:rPr>
              <a:t>控制相关：与</a:t>
            </a:r>
            <a:r>
              <a:rPr lang="en-US" altLang="zh-CN" b="1" dirty="0">
                <a:latin typeface="宋体" panose="02000500000000000000" pitchFamily="2" charset="-122"/>
                <a:cs typeface="宋体" panose="02000500000000000000" pitchFamily="2" charset="-122"/>
              </a:rPr>
              <a:t>PC</a:t>
            </a:r>
            <a:r>
              <a:rPr lang="zh-CN" altLang="en-US" b="1" dirty="0">
                <a:latin typeface="宋体" panose="02000500000000000000" pitchFamily="2" charset="-122"/>
                <a:cs typeface="宋体" panose="02000500000000000000" pitchFamily="2" charset="-122"/>
              </a:rPr>
              <a:t>有关的相关，五级流水线中通过延迟槽、在译码阶段执行转移指令消除阻塞</a:t>
            </a:r>
            <a:endParaRPr lang="zh-CN" altLang="en-US" b="1" dirty="0">
              <a:latin typeface="宋体" panose="02000500000000000000" pitchFamily="2" charset="-122"/>
              <a:cs typeface="宋体" panose="02000500000000000000" pitchFamily="2" charset="-122"/>
            </a:endParaRPr>
          </a:p>
          <a:p>
            <a:pPr marL="742950" lvl="1" indent="-285750">
              <a:lnSpc>
                <a:spcPct val="150000"/>
              </a:lnSpc>
              <a:buChar char="•"/>
            </a:pPr>
            <a:r>
              <a:rPr lang="zh-CN" altLang="en-US" b="1" dirty="0">
                <a:latin typeface="宋体" panose="02000500000000000000" pitchFamily="2" charset="-122"/>
                <a:cs typeface="宋体" panose="02000500000000000000" pitchFamily="2" charset="-122"/>
              </a:rPr>
              <a:t>结构相关：资源冲突，五级流水线中通过增加</a:t>
            </a:r>
            <a:r>
              <a:rPr lang="en-US" altLang="zh-CN" b="1" dirty="0">
                <a:latin typeface="宋体" panose="02000500000000000000" pitchFamily="2" charset="-122"/>
                <a:cs typeface="宋体" panose="02000500000000000000" pitchFamily="2" charset="-122"/>
              </a:rPr>
              <a:t>MEM</a:t>
            </a:r>
            <a:r>
              <a:rPr lang="zh-CN" altLang="en-US" b="1" dirty="0">
                <a:latin typeface="宋体" panose="02000500000000000000" pitchFamily="2" charset="-122"/>
                <a:cs typeface="宋体" panose="02000500000000000000" pitchFamily="2" charset="-122"/>
              </a:rPr>
              <a:t>流水级、取指和访存使用不同存储消除阻塞</a:t>
            </a:r>
            <a:endParaRPr lang="zh-CN" altLang="en-US" b="1" dirty="0">
              <a:latin typeface="宋体" panose="02000500000000000000" pitchFamily="2" charset="-122"/>
              <a:cs typeface="宋体" panose="02000500000000000000" pitchFamily="2" charset="-122"/>
            </a:endParaRPr>
          </a:p>
          <a:p>
            <a:pPr marL="342900" indent="-342900">
              <a:lnSpc>
                <a:spcPct val="150000"/>
              </a:lnSpc>
              <a:buChar char="•"/>
            </a:pPr>
            <a:r>
              <a:rPr lang="zh-CN" altLang="en-US" sz="2000" b="1" dirty="0">
                <a:latin typeface="宋体" panose="02000500000000000000" pitchFamily="2" charset="-122"/>
                <a:cs typeface="宋体" panose="02000500000000000000" pitchFamily="2" charset="-122"/>
              </a:rPr>
              <a:t>流水线的前递技术</a:t>
            </a:r>
            <a:endParaRPr lang="zh-CN" altLang="en-US" sz="2000" b="1" dirty="0">
              <a:latin typeface="宋体" panose="02000500000000000000" pitchFamily="2" charset="-122"/>
              <a:cs typeface="宋体" panose="02000500000000000000" pitchFamily="2" charset="-122"/>
            </a:endParaRPr>
          </a:p>
          <a:p>
            <a:pPr marL="742950" lvl="1" indent="-285750">
              <a:lnSpc>
                <a:spcPct val="150000"/>
              </a:lnSpc>
              <a:buFont typeface="Arial" panose="02080604020202020204" pitchFamily="34" charset="0"/>
              <a:buChar char="•"/>
            </a:pPr>
            <a:r>
              <a:rPr lang="zh-CN" altLang="en-US" b="1" dirty="0">
                <a:latin typeface="宋体" panose="02000500000000000000" pitchFamily="2" charset="-122"/>
                <a:cs typeface="宋体" panose="02000500000000000000" pitchFamily="2" charset="-122"/>
                <a:sym typeface="+mn-ea"/>
              </a:rPr>
              <a:t>数据前递：从执行输出到执行输入，</a:t>
            </a:r>
            <a:endParaRPr lang="zh-CN" altLang="en-US" b="1" dirty="0">
              <a:latin typeface="宋体" panose="02000500000000000000" pitchFamily="2" charset="-122"/>
              <a:cs typeface="宋体" panose="02000500000000000000" pitchFamily="2" charset="-122"/>
              <a:sym typeface="+mn-ea"/>
            </a:endParaRPr>
          </a:p>
          <a:p>
            <a:pPr marL="742950" lvl="1" indent="-285750">
              <a:lnSpc>
                <a:spcPct val="150000"/>
              </a:lnSpc>
              <a:buFont typeface="Arial" panose="02080604020202020204" pitchFamily="34" charset="0"/>
              <a:buChar char="•"/>
            </a:pPr>
            <a:r>
              <a:rPr lang="zh-CN" altLang="en-US" b="1" dirty="0">
                <a:latin typeface="宋体" panose="02000500000000000000" pitchFamily="2" charset="-122"/>
                <a:cs typeface="宋体" panose="02000500000000000000" pitchFamily="2" charset="-122"/>
                <a:sym typeface="+mn-ea"/>
              </a:rPr>
              <a:t>可以消除单拍运算的</a:t>
            </a:r>
            <a:r>
              <a:rPr lang="en-US" altLang="zh-CN" b="1" dirty="0">
                <a:latin typeface="宋体" panose="02000500000000000000" pitchFamily="2" charset="-122"/>
                <a:cs typeface="宋体" panose="02000500000000000000" pitchFamily="2" charset="-122"/>
                <a:sym typeface="+mn-ea"/>
              </a:rPr>
              <a:t>RAW</a:t>
            </a:r>
            <a:r>
              <a:rPr lang="zh-CN" altLang="en-US" b="1" dirty="0">
                <a:latin typeface="宋体" panose="02000500000000000000" pitchFamily="2" charset="-122"/>
                <a:cs typeface="宋体" panose="02000500000000000000" pitchFamily="2" charset="-122"/>
                <a:sym typeface="+mn-ea"/>
              </a:rPr>
              <a:t>数据相关，五级流水线中只有取数操作有一拍延迟</a:t>
            </a:r>
            <a:endParaRPr lang="en-US" altLang="zh-CN" b="1" dirty="0">
              <a:latin typeface="宋体" panose="02000500000000000000" pitchFamily="2" charset="-122"/>
              <a:cs typeface="宋体" panose="02000500000000000000" pitchFamily="2" charset="-122"/>
            </a:endParaRPr>
          </a:p>
          <a:p>
            <a:pPr marL="342900" indent="-342900">
              <a:lnSpc>
                <a:spcPct val="150000"/>
              </a:lnSpc>
              <a:buChar char="•"/>
            </a:pPr>
            <a:r>
              <a:rPr lang="zh-CN" altLang="en-US" sz="2000" b="1" dirty="0">
                <a:latin typeface="宋体" panose="02000500000000000000" pitchFamily="2" charset="-122"/>
                <a:cs typeface="宋体" panose="02000500000000000000" pitchFamily="2" charset="-122"/>
              </a:rPr>
              <a:t>例外与流水线</a:t>
            </a:r>
            <a:endParaRPr lang="zh-CN" altLang="en-US" sz="2000" b="1" dirty="0">
              <a:latin typeface="宋体" panose="02000500000000000000" pitchFamily="2" charset="-122"/>
              <a:cs typeface="宋体" panose="02000500000000000000" pitchFamily="2" charset="-122"/>
            </a:endParaRPr>
          </a:p>
          <a:p>
            <a:pPr marL="742950" lvl="1" indent="-285750">
              <a:lnSpc>
                <a:spcPct val="150000"/>
              </a:lnSpc>
              <a:buChar char="•"/>
            </a:pPr>
            <a:r>
              <a:rPr lang="zh-CN" altLang="en-US" b="1" dirty="0">
                <a:latin typeface="宋体" panose="02000500000000000000" pitchFamily="2" charset="-122"/>
                <a:cs typeface="宋体" panose="02000500000000000000" pitchFamily="2" charset="-122"/>
              </a:rPr>
              <a:t>把例外信息保存下来到</a:t>
            </a:r>
            <a:r>
              <a:rPr lang="en-US" altLang="zh-CN" b="1" dirty="0">
                <a:latin typeface="宋体" panose="02000500000000000000" pitchFamily="2" charset="-122"/>
                <a:cs typeface="宋体" panose="02000500000000000000" pitchFamily="2" charset="-122"/>
              </a:rPr>
              <a:t>WB</a:t>
            </a:r>
            <a:r>
              <a:rPr lang="zh-CN" altLang="en-US" b="1" dirty="0">
                <a:latin typeface="宋体" panose="02000500000000000000" pitchFamily="2" charset="-122"/>
                <a:cs typeface="宋体" panose="02000500000000000000" pitchFamily="2" charset="-122"/>
              </a:rPr>
              <a:t>阶段再处理</a:t>
            </a:r>
            <a:endParaRPr lang="zh-CN" altLang="en-US" b="1" dirty="0">
              <a:latin typeface="宋体" panose="02000500000000000000" pitchFamily="2" charset="-122"/>
              <a:cs typeface="宋体" panose="02000500000000000000" pitchFamily="2" charset="-122"/>
            </a:endParaRPr>
          </a:p>
          <a:p>
            <a:pPr marL="342900" indent="-342900">
              <a:lnSpc>
                <a:spcPct val="150000"/>
              </a:lnSpc>
              <a:buChar char="•"/>
            </a:pPr>
            <a:r>
              <a:rPr lang="zh-CN" altLang="en-US" sz="2000" b="1" dirty="0">
                <a:latin typeface="宋体" panose="02000500000000000000" pitchFamily="2" charset="-122"/>
                <a:cs typeface="宋体" panose="02000500000000000000" pitchFamily="2" charset="-122"/>
              </a:rPr>
              <a:t>多功能部件及多拍操作</a:t>
            </a:r>
            <a:endParaRPr lang="zh-CN" altLang="en-US" sz="2000" b="1" dirty="0">
              <a:latin typeface="宋体" panose="02000500000000000000" pitchFamily="2" charset="-122"/>
              <a:cs typeface="宋体" panose="02000500000000000000" pitchFamily="2" charset="-122"/>
            </a:endParaRPr>
          </a:p>
          <a:p>
            <a:pPr marL="742950" lvl="1" indent="-285750">
              <a:lnSpc>
                <a:spcPct val="150000"/>
              </a:lnSpc>
              <a:buChar char="•"/>
            </a:pPr>
            <a:r>
              <a:rPr lang="zh-CN" altLang="en-US" b="1" dirty="0">
                <a:latin typeface="宋体" panose="02000500000000000000" pitchFamily="2" charset="-122"/>
                <a:cs typeface="宋体" panose="02000500000000000000" pitchFamily="2" charset="-122"/>
              </a:rPr>
              <a:t>有</a:t>
            </a:r>
            <a:r>
              <a:rPr lang="en-US" altLang="zh-CN" b="1" dirty="0">
                <a:latin typeface="宋体" panose="02000500000000000000" pitchFamily="2" charset="-122"/>
                <a:cs typeface="宋体" panose="02000500000000000000" pitchFamily="2" charset="-122"/>
              </a:rPr>
              <a:t>WAW</a:t>
            </a:r>
            <a:r>
              <a:rPr lang="zh-CN" altLang="en-US" b="1" dirty="0">
                <a:latin typeface="宋体" panose="02000500000000000000" pitchFamily="2" charset="-122"/>
                <a:cs typeface="宋体" panose="02000500000000000000" pitchFamily="2" charset="-122"/>
              </a:rPr>
              <a:t>相关，</a:t>
            </a:r>
            <a:r>
              <a:rPr lang="en-US" altLang="zh-CN" b="1" dirty="0">
                <a:latin typeface="宋体" panose="02000500000000000000" pitchFamily="2" charset="-122"/>
                <a:cs typeface="宋体" panose="02000500000000000000" pitchFamily="2" charset="-122"/>
              </a:rPr>
              <a:t>RAW</a:t>
            </a:r>
            <a:r>
              <a:rPr lang="zh-CN" altLang="en-US" b="1" dirty="0">
                <a:latin typeface="宋体" panose="02000500000000000000" pitchFamily="2" charset="-122"/>
                <a:cs typeface="宋体" panose="02000500000000000000" pitchFamily="2" charset="-122"/>
              </a:rPr>
              <a:t>相关更突出，没有</a:t>
            </a:r>
            <a:r>
              <a:rPr lang="en-US" altLang="zh-CN" b="1" dirty="0">
                <a:latin typeface="宋体" panose="02000500000000000000" pitchFamily="2" charset="-122"/>
                <a:cs typeface="宋体" panose="02000500000000000000" pitchFamily="2" charset="-122"/>
              </a:rPr>
              <a:t>WAR</a:t>
            </a:r>
            <a:r>
              <a:rPr lang="zh-CN" altLang="en-US" b="1" dirty="0">
                <a:latin typeface="宋体" panose="02000500000000000000" pitchFamily="2" charset="-122"/>
                <a:cs typeface="宋体" panose="02000500000000000000" pitchFamily="2" charset="-122"/>
              </a:rPr>
              <a:t>相关</a:t>
            </a:r>
            <a:endParaRPr lang="zh-CN" altLang="en-US" b="1" dirty="0">
              <a:latin typeface="宋体" panose="02000500000000000000" pitchFamily="2" charset="-122"/>
              <a:cs typeface="宋体" panose="02000500000000000000"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标题 1"/>
          <p:cNvSpPr>
            <a:spLocks noGrp="1"/>
          </p:cNvSpPr>
          <p:nvPr>
            <p:ph type="title"/>
          </p:nvPr>
        </p:nvSpPr>
        <p:spPr>
          <a:xfrm>
            <a:off x="884238" y="244475"/>
            <a:ext cx="10361612" cy="1143000"/>
          </a:xfrm>
        </p:spPr>
        <p:txBody>
          <a:bodyPr vert="horz" wrap="square" lIns="91440" tIns="45720" rIns="91440" bIns="45720" anchor="ctr" anchorCtr="0"/>
          <a:p>
            <a:r>
              <a:rPr lang="zh-CN" altLang="en-US" dirty="0"/>
              <a:t>静态流水线小结</a:t>
            </a:r>
            <a:endParaRPr lang="zh-CN" altLang="en-US" dirty="0"/>
          </a:p>
        </p:txBody>
      </p:sp>
      <p:sp>
        <p:nvSpPr>
          <p:cNvPr id="76803" name="内容占位符 2"/>
          <p:cNvSpPr>
            <a:spLocks noGrp="1"/>
          </p:cNvSpPr>
          <p:nvPr>
            <p:ph idx="1"/>
          </p:nvPr>
        </p:nvSpPr>
        <p:spPr>
          <a:xfrm>
            <a:off x="914400" y="1646238"/>
            <a:ext cx="10361613" cy="4711700"/>
          </a:xfrm>
        </p:spPr>
        <p:txBody>
          <a:bodyPr vert="horz" wrap="square" lIns="91440" tIns="45720" rIns="91440" bIns="45720" anchor="t" anchorCtr="0"/>
          <a:p>
            <a:r>
              <a:rPr lang="zh-CN" altLang="en-US" dirty="0"/>
              <a:t>五级流水：取指、译码、执行、访存、写回</a:t>
            </a:r>
            <a:endParaRPr lang="en-US" altLang="zh-CN" dirty="0"/>
          </a:p>
          <a:p>
            <a:r>
              <a:rPr lang="zh-CN" altLang="en-US" dirty="0"/>
              <a:t>消除控制相关</a:t>
            </a:r>
            <a:endParaRPr lang="en-US" altLang="zh-CN" dirty="0"/>
          </a:p>
          <a:p>
            <a:pPr lvl="1"/>
            <a:r>
              <a:rPr lang="zh-CN" altLang="en-US" dirty="0"/>
              <a:t>在译码阶段执行转移指令</a:t>
            </a:r>
            <a:endParaRPr lang="zh-CN" altLang="en-US" dirty="0"/>
          </a:p>
          <a:p>
            <a:pPr lvl="1"/>
            <a:r>
              <a:rPr lang="zh-CN" altLang="en-US" dirty="0"/>
              <a:t>转移指令延迟槽</a:t>
            </a:r>
            <a:endParaRPr lang="en-US" altLang="zh-CN" dirty="0"/>
          </a:p>
          <a:p>
            <a:r>
              <a:rPr lang="zh-CN" altLang="en-US" dirty="0"/>
              <a:t>消除数据相关</a:t>
            </a:r>
            <a:endParaRPr lang="en-US" altLang="zh-CN" dirty="0"/>
          </a:p>
          <a:p>
            <a:pPr lvl="1"/>
            <a:r>
              <a:rPr lang="zh-CN" altLang="en-US" dirty="0"/>
              <a:t>数据前递：从执行输出到执行输入</a:t>
            </a:r>
            <a:endParaRPr lang="en-US" altLang="zh-CN" dirty="0"/>
          </a:p>
          <a:p>
            <a:pPr lvl="1"/>
            <a:r>
              <a:rPr lang="zh-CN" altLang="en-US" dirty="0"/>
              <a:t>可以消除单拍运算的数据相关</a:t>
            </a:r>
            <a:endParaRPr lang="en-US" altLang="zh-CN" dirty="0"/>
          </a:p>
          <a:p>
            <a:r>
              <a:rPr lang="zh-CN" altLang="en-US" dirty="0"/>
              <a:t>只有取数操作有一拍延迟</a:t>
            </a:r>
            <a:endParaRPr lang="en-US" altLang="zh-CN" dirty="0"/>
          </a:p>
          <a:p>
            <a:pPr lvl="1"/>
            <a:endParaRPr lang="zh-CN" altLang="en-US" dirty="0"/>
          </a:p>
        </p:txBody>
      </p:sp>
      <p:sp>
        <p:nvSpPr>
          <p:cNvPr id="76804"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77827" name="Rectangle 2"/>
          <p:cNvSpPr>
            <a:spLocks noGrp="1"/>
          </p:cNvSpPr>
          <p:nvPr>
            <p:ph type="title"/>
          </p:nvPr>
        </p:nvSpPr>
        <p:spPr/>
        <p:txBody>
          <a:bodyPr vert="horz" wrap="square" lIns="91440" tIns="45720" rIns="91440" bIns="45720" anchor="ctr" anchorCtr="0"/>
          <a:p>
            <a:pPr eaLnBrk="1" hangingPunct="1"/>
            <a:r>
              <a:rPr lang="zh-CN" altLang="en-US" sz="3600" dirty="0"/>
              <a:t>作  业</a:t>
            </a:r>
            <a:endParaRPr lang="zh-CN" altLang="en-US" sz="3600" dirty="0"/>
          </a:p>
        </p:txBody>
      </p:sp>
      <p:sp>
        <p:nvSpPr>
          <p:cNvPr id="77828" name="Rectangle 3"/>
          <p:cNvSpPr>
            <a:spLocks noGrp="1"/>
          </p:cNvSpPr>
          <p:nvPr>
            <p:ph idx="1"/>
          </p:nvPr>
        </p:nvSpPr>
        <p:spPr>
          <a:xfrm>
            <a:off x="385763" y="1981200"/>
            <a:ext cx="11317287" cy="4114800"/>
          </a:xfrm>
        </p:spPr>
        <p:txBody>
          <a:bodyPr vert="horz" wrap="square" lIns="91440" tIns="45720" rIns="91440" bIns="45720" anchor="t" anchorCtr="0"/>
          <a:p>
            <a:pPr eaLnBrk="1" hangingPunct="1"/>
            <a:endParaRPr lang="zh-CN" altLang="zh-CN" dirty="0"/>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16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16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20083</Words>
  <Application>WPS 演示</Application>
  <PresentationFormat>自定义</PresentationFormat>
  <Paragraphs>3741</Paragraphs>
  <Slides>73</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73</vt:i4>
      </vt:variant>
      <vt:variant>
        <vt:lpstr>幻灯片标题</vt:lpstr>
      </vt:variant>
      <vt:variant>
        <vt:i4>73</vt:i4>
      </vt:variant>
    </vt:vector>
  </HeadingPairs>
  <TitlesOfParts>
    <vt:vector size="161" baseType="lpstr">
      <vt:lpstr>Arial</vt:lpstr>
      <vt:lpstr>宋体</vt:lpstr>
      <vt:lpstr>Wingdings</vt:lpstr>
      <vt:lpstr>Times New Roman</vt:lpstr>
      <vt:lpstr>Nimbus Roman No9 L</vt:lpstr>
      <vt:lpstr>黑体</vt:lpstr>
      <vt:lpstr>Lucida Sans</vt:lpstr>
      <vt:lpstr>永中宋体</vt:lpstr>
      <vt:lpstr>微软雅黑</vt:lpstr>
      <vt:lpstr>Arial Unicode MS</vt:lpstr>
      <vt:lpstr>Courier New</vt:lpstr>
      <vt:lpstr>DejaVu Sans</vt:lpstr>
      <vt:lpstr>Quicksand Light</vt:lpstr>
      <vt:lpstr>MathJax_Vector</vt:lpstr>
      <vt:lpstr>默认设计模板</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PowerPoint 演示文稿</vt:lpstr>
      <vt:lpstr>PowerPoint 演示文稿</vt:lpstr>
      <vt:lpstr>指令流水线</vt:lpstr>
      <vt:lpstr>简单的处理器数据通路</vt:lpstr>
      <vt:lpstr>一个简单的LoongArch CPU</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指令流水线</vt:lpstr>
      <vt:lpstr>时序的改进</vt:lpstr>
      <vt:lpstr>PowerPoint 演示文稿</vt:lpstr>
      <vt:lpstr> 能否把取指和运算也重叠？</vt:lpstr>
      <vt:lpstr>转移指令的延迟槽</vt:lpstr>
      <vt:lpstr>PowerPoint 演示文稿</vt:lpstr>
      <vt:lpstr>上述流水线的进一步改进</vt:lpstr>
      <vt:lpstr>PowerPoint 演示文稿</vt:lpstr>
      <vt:lpstr>PowerPoint 演示文稿</vt:lpstr>
      <vt:lpstr>PowerPoint 演示文稿</vt:lpstr>
      <vt:lpstr>指令相关和流水线冲突</vt:lpstr>
      <vt:lpstr>流水线的相关问题</vt:lpstr>
      <vt:lpstr>指令流水线的相关</vt:lpstr>
      <vt:lpstr>由访存引起的结构相关</vt:lpstr>
      <vt:lpstr>数据相关</vt:lpstr>
      <vt:lpstr>数据相关的例子</vt:lpstr>
      <vt:lpstr>PowerPoint 演示文稿</vt:lpstr>
      <vt:lpstr>PowerPoint 演示文稿</vt:lpstr>
      <vt:lpstr>PowerPoint 演示文稿</vt:lpstr>
      <vt:lpstr>PowerPoint 演示文稿</vt:lpstr>
      <vt:lpstr>PowerPoint 演示文稿</vt:lpstr>
      <vt:lpstr>PowerPoint 演示文稿</vt:lpstr>
      <vt:lpstr>控制相关</vt:lpstr>
      <vt:lpstr>PowerPoint 演示文稿</vt:lpstr>
      <vt:lpstr>解决RAW相关的前递（Forwarding）技术</vt:lpstr>
      <vt:lpstr>前递情况下的数据相关</vt:lpstr>
      <vt:lpstr>PowerPoint 演示文稿</vt:lpstr>
      <vt:lpstr>Forwarding的相关处理逻辑</vt:lpstr>
      <vt:lpstr>通过静态调度解决相关</vt:lpstr>
      <vt:lpstr>PowerPoint 演示文稿</vt:lpstr>
      <vt:lpstr>PowerPoint 演示文稿</vt:lpstr>
      <vt:lpstr>PowerPoint 演示文稿</vt:lpstr>
      <vt:lpstr>PowerPoint 演示文稿</vt:lpstr>
      <vt:lpstr>PowerPoint 演示文稿</vt:lpstr>
      <vt:lpstr>PowerPoint 演示文稿</vt:lpstr>
      <vt:lpstr>回顾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多功能部件与多拍操作</vt:lpstr>
      <vt:lpstr>PowerPoint 演示文稿</vt:lpstr>
      <vt:lpstr>PowerPoint 演示文稿</vt:lpstr>
      <vt:lpstr>PowerPoint 演示文稿</vt:lpstr>
      <vt:lpstr>PowerPoint 演示文稿</vt:lpstr>
      <vt:lpstr>PowerPoint 演示文稿</vt:lpstr>
      <vt:lpstr>PowerPoint 演示文稿</vt:lpstr>
      <vt:lpstr>多功能部件及多拍操作流水线</vt:lpstr>
      <vt:lpstr>静态流水线小结</vt:lpstr>
      <vt:lpstr>PowerPoint 演示文稿</vt:lpstr>
      <vt:lpstr>静态流水线小结</vt:lpstr>
      <vt:lpstr>作  业</vt:lpstr>
    </vt:vector>
  </TitlesOfParts>
  <Company>chpc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RISC处理器设计</dc:title>
  <dc:creator>Weiwu Hu</dc:creator>
  <cp:lastModifiedBy>loongson</cp:lastModifiedBy>
  <cp:revision>526</cp:revision>
  <cp:lastPrinted>2025-10-03T02:58:13Z</cp:lastPrinted>
  <dcterms:created xsi:type="dcterms:W3CDTF">2025-10-03T02:58:13Z</dcterms:created>
  <dcterms:modified xsi:type="dcterms:W3CDTF">2025-10-03T02:58:13Z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A980568DEA8958FFBA8CDC681A24CE2E_43</vt:lpwstr>
  </property>
  <property fmtid="{D5CDD505-2E9C-101B-9397-08002B2CF9AE}" pid="3" name="KSOProductBuildVer">
    <vt:lpwstr>2052-11.1.0.11719</vt:lpwstr>
  </property>
</Properties>
</file>